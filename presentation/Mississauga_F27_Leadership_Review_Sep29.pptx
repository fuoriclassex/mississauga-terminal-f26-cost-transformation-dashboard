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827"/>
                </a:solidFill>
                <a:latin typeface="Calibri"/>
              </a:defRPr>
            </a:pPr>
            <a:r>
              <a:rPr sz="1100" b="0" i="0" u="none" strike="noStrike">
                <a:solidFill>
                  <a:srgbClr val="111827"/>
                </a:solidFill>
                <a:latin typeface="Calibri"/>
              </a:rPr>
              <a:t>Monthly LF score &amp; load %</a:t>
            </a:r>
          </a:p>
        </c:rich>
      </c:tx>
      <c:layout/>
      <c:overlay val="0"/>
    </c:title>
    <c:autoTitleDeleted val="0"/>
    <c:plotArea>
      <c:layout/>
      <c:barChart>
        <c:barDir val="col"/>
        <c:grouping val="clustered"/>
        <c:varyColors val="0"/>
        <c:ser>
          <c:idx val="0"/>
          <c:order val="0"/>
          <c:tx>
            <c:strRef>
              <c:f>Sheet1!$B$1</c:f>
              <c:strCache>
                <c:ptCount val="1"/>
                <c:pt idx="0">
                  <c:v>LF score</c:v>
                </c:pt>
              </c:strCache>
            </c:strRef>
          </c:tx>
          <c:spPr>
            <a:solidFill>
              <a:srgbClr val="7C3AED"/>
            </a:solidFill>
            <a:effectLst/>
          </c:spPr>
          <c:invertIfNegative val="0"/>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 (316 loads)</c:v>
                  </c:pt>
                  <c:pt idx="1">
                    <c:v>Aug (293)</c:v>
                  </c:pt>
                  <c:pt idx="2">
                    <c:v>Sep (245)</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Load %</c:v>
                </c:pt>
              </c:strCache>
            </c:strRef>
          </c:tx>
          <c:spPr>
            <a:solidFill>
              <a:srgbClr val="C4B5FD"/>
            </a:solidFill>
            <a:effectLst/>
          </c:spPr>
          <c:invertIfNegative val="0"/>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 (316 loads)</c:v>
                  </c:pt>
                  <c:pt idx="1">
                    <c:v>Aug (293)</c:v>
                  </c:pt>
                  <c:pt idx="2">
                    <c:v>Sep (245)</c:v>
                  </c:pt>
                </c:lvl>
              </c:multiLvlStrCache>
            </c:multiLvlStrRef>
          </c:cat>
          <c:val>
            <c:numRef>
              <c:f>Sheet1!$C$2:$C$4</c:f>
              <c:numCache>
                <c:formatCode>General</c:formatCode>
                <c:ptCount val="3"/>
                <c:pt idx="0">
                  <c:v>79.6</c:v>
                </c:pt>
                <c:pt idx="1">
                  <c:v>71.5</c:v>
                </c:pt>
                <c:pt idx="2">
                  <c:v>72.8</c:v>
                </c:pt>
              </c:numCache>
            </c:numRef>
          </c:val>
        </c:ser>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827"/>
                </a:solidFill>
                <a:latin typeface="Calibri"/>
              </a:defRPr>
            </a:pPr>
            <a:r>
              <a:rPr sz="1100" b="0" i="0" u="none" strike="noStrike">
                <a:solidFill>
                  <a:srgbClr val="111827"/>
                </a:solidFill>
                <a:latin typeface="Calibri"/>
              </a:rPr>
              <a:t>By distance band (report bands) · F27</a:t>
            </a:r>
          </a:p>
        </c:rich>
      </c:tx>
      <c:layout/>
      <c:overlay val="0"/>
    </c:title>
    <c:autoTitleDeleted val="0"/>
    <c:plotArea>
      <c:layout/>
      <c:barChart>
        <c:barDir val="col"/>
        <c:grouping val="clustered"/>
        <c:varyColors val="0"/>
        <c:ser>
          <c:idx val="0"/>
          <c:order val="0"/>
          <c:tx>
            <c:strRef>
              <c:f>Sheet1!$B$1</c:f>
              <c:strCache>
                <c:ptCount val="1"/>
                <c:pt idx="0">
                  <c:v>LF score</c:v>
                </c:pt>
              </c:strCache>
            </c:strRef>
          </c:tx>
          <c:spPr>
            <a:solidFill>
              <a:srgbClr val="7C3AED"/>
            </a:solidFill>
            <a:effectLst/>
          </c:spPr>
          <c:invertIfNegative val="0"/>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&lt;500 (343 loads)</c:v>
                  </c:pt>
                  <c:pt idx="1">
                    <c:v>&lt;1,000 (212)</c:v>
                  </c:pt>
                  <c:pt idx="2">
                    <c:v>&gt;1,000 (299)</c:v>
                  </c:pt>
                </c:lvl>
              </c:multiLvlStrCache>
            </c:multiLvlStrRef>
          </c:cat>
          <c:val>
            <c:numRef>
              <c:f>Sheet1!$B$2:$B$4</c:f>
              <c:numCache>
                <c:formatCode>General</c:formatCode>
                <c:ptCount val="3"/>
                <c:pt idx="0">
                  <c:v>32.1</c:v>
                </c:pt>
                <c:pt idx="1">
                  <c:v>18.9</c:v>
                </c:pt>
                <c:pt idx="2">
                  <c:v>53.8</c:v>
                </c:pt>
              </c:numCache>
            </c:numRef>
          </c:val>
        </c:ser>
        <c:ser>
          <c:idx val="1"/>
          <c:order val="1"/>
          <c:tx>
            <c:strRef>
              <c:f>Sheet1!$C$1</c:f>
              <c:strCache>
                <c:ptCount val="1"/>
                <c:pt idx="0">
                  <c:v>Load %</c:v>
                </c:pt>
              </c:strCache>
            </c:strRef>
          </c:tx>
          <c:spPr>
            <a:solidFill>
              <a:srgbClr val="C4B5FD"/>
            </a:solidFill>
            <a:effectLst/>
          </c:spPr>
          <c:invertIfNegative val="0"/>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&lt;500 (343 loads)</c:v>
                  </c:pt>
                  <c:pt idx="1">
                    <c:v>&lt;1,000 (212)</c:v>
                  </c:pt>
                  <c:pt idx="2">
                    <c:v>&gt;1,000 (299)</c:v>
                  </c:pt>
                </c:lvl>
              </c:multiLvlStrCache>
            </c:multiLvlStrRef>
          </c:cat>
          <c:val>
            <c:numRef>
              <c:f>Sheet1!$C$2:$C$4</c:f>
              <c:numCache>
                <c:formatCode>General</c:formatCode>
                <c:ptCount val="3"/>
                <c:pt idx="0">
                  <c:v>71.2</c:v>
                </c:pt>
                <c:pt idx="1">
                  <c:v>65.1</c:v>
                </c:pt>
                <c:pt idx="2">
                  <c:v>86</c:v>
                </c:pt>
              </c:numCache>
            </c:numRef>
          </c:val>
        </c:ser>
        <c:dLbls>
          <c:numFmt formatCode="0.0&quot;%&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Cargo claims on the claims report for our terminal, T-0502, total 13,432.53 dollars; the period for that figure is being confirmed.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Only 36.4 percent of outbound loads so far in F27 are above 80 percent full, with an average load of 74.9 percent. Western lanes like Burnaby, Winnipeg and Calgary load well, while Windsor, Quebec City and Dartmouth run consistently light and need a consolidation and frequency review. Moncton also has most of our bills with no cube, 1,771 of 3,166, so fixing cube capture there will raise that lane's measured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Moncton out, our LF score moves from 36.4 to 39.5 percent and bills with no cube drop from 5.7 to 3.0 percent. That matters because Toyota loads our trailer at Bowmanville and we top it off here, and the Toyota footage is not being captured correctly; on Moncton, 20.5 percent of bills have no cube, often the same 24 to 27 bills per load, so measured load factor is understated and that fix is under way. By distance band, the long lanes over 1,000 are strongest at 53.8 percent LF score, while the under-1,000 band of Moncton and Quebec City is lightest at 18.9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TBC.</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6" name="Shape 3"/>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7" name="Text 4"/>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9" name="Text 6"/>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0" name="Shape 7"/>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1" name="Text 8"/>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3" name="Text 10"/>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14" name="Shape 11"/>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15" name="Text 12"/>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7" name="Text 14"/>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18" name="Shape 15"/>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19" name="Text 16"/>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0" name="Text 17"/>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1" name="Text 18"/>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Period: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23</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LF score = % of loads with load factor &gt;80% · Load % = average load percentage</a:t>
            </a:r>
            <a:endParaRPr lang="en-US" sz="1250" dirty="0"/>
          </a:p>
        </p:txBody>
      </p:sp>
      <p:sp>
        <p:nvSpPr>
          <p:cNvPr id="5" name="Shape 3"/>
          <p:cNvSpPr/>
          <p:nvPr/>
        </p:nvSpPr>
        <p:spPr>
          <a:xfrm>
            <a:off x="548640" y="1572768"/>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 F27 to date</a:t>
            </a:r>
            <a:endParaRPr lang="en-US" sz="1100" dirty="0"/>
          </a:p>
        </p:txBody>
      </p:sp>
      <p:sp>
        <p:nvSpPr>
          <p:cNvPr id="7" name="Text 5"/>
          <p:cNvSpPr txBox="1"/>
          <p:nvPr/>
        </p:nvSpPr>
        <p:spPr>
          <a:xfrm>
            <a:off x="731520"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36.4%</a:t>
            </a:r>
            <a:endParaRPr lang="en-US" sz="2400" dirty="0"/>
          </a:p>
        </p:txBody>
      </p:sp>
      <p:sp>
        <p:nvSpPr>
          <p:cNvPr id="8" name="Text 6"/>
          <p:cNvSpPr txBox="1"/>
          <p:nvPr/>
        </p:nvSpPr>
        <p:spPr>
          <a:xfrm>
            <a:off x="731520"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of 854 loads &gt;80%</a:t>
            </a:r>
            <a:endParaRPr lang="en-US" sz="1000" dirty="0"/>
          </a:p>
        </p:txBody>
      </p:sp>
      <p:sp>
        <p:nvSpPr>
          <p:cNvPr id="9" name="Shape 7"/>
          <p:cNvSpPr/>
          <p:nvPr/>
        </p:nvSpPr>
        <p:spPr>
          <a:xfrm>
            <a:off x="3367278" y="1572768"/>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74.9%</a:t>
            </a:r>
            <a:endParaRPr lang="en-US" sz="2400" dirty="0"/>
          </a:p>
        </p:txBody>
      </p:sp>
      <p:sp>
        <p:nvSpPr>
          <p:cNvPr id="12" name="Text 10"/>
          <p:cNvSpPr txBox="1"/>
          <p:nvPr/>
        </p:nvSpPr>
        <p:spPr>
          <a:xfrm>
            <a:off x="3550158"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F27 Jul–Sep</a:t>
            </a:r>
            <a:endParaRPr lang="en-US" sz="1000" dirty="0"/>
          </a:p>
        </p:txBody>
      </p:sp>
      <p:sp>
        <p:nvSpPr>
          <p:cNvPr id="13" name="Shape 11"/>
          <p:cNvSpPr/>
          <p:nvPr/>
        </p:nvSpPr>
        <p:spPr>
          <a:xfrm>
            <a:off x="6185916" y="1572768"/>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5" name="Text 13"/>
          <p:cNvSpPr txBox="1"/>
          <p:nvPr/>
        </p:nvSpPr>
        <p:spPr>
          <a:xfrm>
            <a:off x="6368796"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16" name="Text 14"/>
          <p:cNvSpPr txBox="1"/>
          <p:nvPr/>
        </p:nvSpPr>
        <p:spPr>
          <a:xfrm>
            <a:off x="6368796"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100 loads &gt;100%</a:t>
            </a:r>
            <a:endParaRPr lang="en-US" sz="1000" dirty="0"/>
          </a:p>
        </p:txBody>
      </p:sp>
      <p:sp>
        <p:nvSpPr>
          <p:cNvPr id="17" name="Shape 15"/>
          <p:cNvSpPr/>
          <p:nvPr/>
        </p:nvSpPr>
        <p:spPr>
          <a:xfrm>
            <a:off x="9004554" y="1572768"/>
            <a:ext cx="2635758" cy="987552"/>
          </a:xfrm>
          <a:prstGeom prst="roundRect">
            <a:avLst>
              <a:gd name="adj" fmla="val 7407"/>
            </a:avLst>
          </a:prstGeom>
          <a:solidFill>
            <a:srgbClr val="F3F4F6"/>
          </a:solidFill>
          <a:ln w="12700">
            <a:solidFill>
              <a:srgbClr val="F3F4F6"/>
            </a:solidFill>
            <a:prstDash val="solid"/>
          </a:ln>
        </p:spPr>
      </p:sp>
      <p:sp>
        <p:nvSpPr>
          <p:cNvPr id="18" name="Text 16"/>
          <p:cNvSpPr txBox="1"/>
          <p:nvPr/>
        </p:nvSpPr>
        <p:spPr>
          <a:xfrm>
            <a:off x="9187434" y="1664208"/>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Bills with no cube</a:t>
            </a:r>
            <a:endParaRPr lang="en-US" sz="1100" dirty="0"/>
          </a:p>
        </p:txBody>
      </p:sp>
      <p:sp>
        <p:nvSpPr>
          <p:cNvPr id="19" name="Text 17"/>
          <p:cNvSpPr txBox="1"/>
          <p:nvPr/>
        </p:nvSpPr>
        <p:spPr>
          <a:xfrm>
            <a:off x="9187434" y="1901952"/>
            <a:ext cx="2269998" cy="402336"/>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3,166</a:t>
            </a:r>
            <a:endParaRPr lang="en-US" sz="2400" dirty="0"/>
          </a:p>
        </p:txBody>
      </p:sp>
      <p:sp>
        <p:nvSpPr>
          <p:cNvPr id="20" name="Text 18"/>
          <p:cNvSpPr txBox="1"/>
          <p:nvPr/>
        </p:nvSpPr>
        <p:spPr>
          <a:xfrm>
            <a:off x="9187434" y="2304288"/>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5.7% of 55,862 bills</a:t>
            </a:r>
            <a:endParaRPr lang="en-US" sz="1000" dirty="0"/>
          </a:p>
        </p:txBody>
      </p:sp>
      <p:graphicFrame>
        <p:nvGraphicFramePr>
          <p:cNvPr id="21" name="Chart 0" descr=""/>
          <p:cNvGraphicFramePr/>
          <p:nvPr/>
        </p:nvGraphicFramePr>
        <p:xfrm>
          <a:off x="548640" y="2697480"/>
          <a:ext cx="4297680" cy="224028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48640" y="4956048"/>
            <a:ext cx="4297680" cy="237744"/>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LF buckets (loads): ≤60% 237 · 61–79% 306 · 80–90% 150 · ≥91% 161</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74920" y="2697480"/>
          <a:ext cx="6565392" cy="914400"/>
        </p:xfrm>
        <a:graphic>
          <a:graphicData uri="http://schemas.openxmlformats.org/drawingml/2006/table">
            <a:tbl>
              <a:tblPr/>
              <a:tblGrid>
                <a:gridCol w="2176272"/>
                <a:gridCol w="1463040"/>
                <a:gridCol w="1463040"/>
                <a:gridCol w="14630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Lane · LF score / load %</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Jul</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Aug</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Sep</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Burnaby</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69.6 / 91.4</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81.8 / 93.8</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89.5 / 95.6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Winnipeg</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61.3 / 94.7</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57.7 / 103.0</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76.5 / 86.6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Calgary</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59.1 / 83.4</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57.9 / 94.9</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54.5 / 82.1</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CFDF5"/>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Moncton</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26.2 / 81.3</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13.6 / 54.7</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33.3 / 79.2</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Dartmouth</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7.1 / 67.3</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14.3 / 69.1</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8.3 / 63.5</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Quebec City</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12.5 / 60.6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0.0 / 45.1</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0.0 / 42.4</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r>
              <a:tr h="274320">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Windsor</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6.7 / 38.5</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dirty="0">
                          <a:solidFill>
                            <a:srgbClr val="111827"/>
                          </a:solidFill>
                          <a:latin typeface="Calibri" pitchFamily="34" charset="0"/>
                          <a:ea typeface="Calibri" pitchFamily="34" charset="-122"/>
                          <a:cs typeface="Calibri" pitchFamily="34" charset="-120"/>
                        </a:rPr>
                        <a:t>0.0 / 36.6</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11827"/>
                          </a:solidFill>
                          <a:latin typeface="Calibri" pitchFamily="34" charset="0"/>
                          <a:ea typeface="Calibri" pitchFamily="34" charset="-122"/>
                          <a:cs typeface="Calibri" pitchFamily="34" charset="-120"/>
                        </a:rPr>
                        <a:t>0.0 / 33.5</a:t>
                      </a:r>
                      <a:endParaRPr lang="en-US" sz="10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2F2"/>
                    </a:solidFill>
                  </a:tcPr>
                </a:tc>
              </a:tr>
            </a:tbl>
          </a:graphicData>
        </a:graphic>
      </p:graphicFrame>
      <p:sp>
        <p:nvSpPr>
          <p:cNvPr id="24" name="Text 20"/>
          <p:cNvSpPr txBox="1"/>
          <p:nvPr/>
        </p:nvSpPr>
        <p:spPr>
          <a:xfrm>
            <a:off x="5074920" y="4956048"/>
            <a:ext cx="6565392" cy="23774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Green = strongest · red = lightest · Edmonton, Montreal, Woodstock, Ottawa in full report</a:t>
            </a:r>
            <a:endParaRPr lang="en-US" sz="950" dirty="0"/>
          </a:p>
        </p:txBody>
      </p:sp>
      <p:sp>
        <p:nvSpPr>
          <p:cNvPr id="25" name="Shape 21"/>
          <p:cNvSpPr/>
          <p:nvPr/>
        </p:nvSpPr>
        <p:spPr>
          <a:xfrm>
            <a:off x="548640" y="5285232"/>
            <a:ext cx="11091672" cy="804672"/>
          </a:xfrm>
          <a:prstGeom prst="roundRect">
            <a:avLst>
              <a:gd name="adj" fmla="val 9091"/>
            </a:avLst>
          </a:prstGeom>
          <a:solidFill>
            <a:srgbClr val="F5F3FF"/>
          </a:solidFill>
          <a:ln w="12700">
            <a:solidFill>
              <a:srgbClr val="F5F3FF"/>
            </a:solidFill>
            <a:prstDash val="solid"/>
          </a:ln>
        </p:spPr>
      </p:sp>
      <p:sp>
        <p:nvSpPr>
          <p:cNvPr id="26" name="Text 22"/>
          <p:cNvSpPr txBox="1"/>
          <p:nvPr/>
        </p:nvSpPr>
        <p:spPr>
          <a:xfrm>
            <a:off x="731520" y="5303520"/>
            <a:ext cx="10744200" cy="768096"/>
          </a:xfrm>
          <a:prstGeom prst="rect">
            <a:avLst/>
          </a:prstGeom>
          <a:noFill/>
          <a:ln/>
        </p:spPr>
        <p:txBody>
          <a:bodyPr wrap="square" lIns="0" tIns="0" rIns="0" bIns="0" rtlCol="0" anchor="ctr"/>
          <a:lstStyle/>
          <a:p>
            <a:pPr indent="0" marL="0">
              <a:buNone/>
            </a:pPr>
            <a:r>
              <a:rPr lang="en-US" sz="1100" b="1" dirty="0">
                <a:solidFill>
                  <a:srgbClr val="111827"/>
                </a:solidFill>
                <a:latin typeface="Calibri" pitchFamily="34" charset="0"/>
                <a:ea typeface="Calibri" pitchFamily="34" charset="-122"/>
                <a:cs typeface="Calibri" pitchFamily="34" charset="-120"/>
              </a:rPr>
              <a:t>Load factor is the biggest open opportunity: LF score 36.4% F27 to date. Western lanes are strong (Burnaby 89.5% in Sept); Windsor, Quebec City and Dartmouth run consistently light — consolidation / frequency review. Moncton accounts for 1,771 of 3,166 bills with no cube (56%, calculated) — fixing cube capture will lift that lane's measured LF.</a:t>
            </a:r>
            <a:endParaRPr lang="en-US" sz="1100" dirty="0"/>
          </a:p>
        </p:txBody>
      </p:sp>
      <p:sp>
        <p:nvSpPr>
          <p:cNvPr id="27" name="Text 23"/>
          <p:cNvSpPr txBox="1"/>
          <p:nvPr/>
        </p:nvSpPr>
        <p:spPr>
          <a:xfrm>
            <a:off x="548640" y="6163056"/>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a:t>
            </a:r>
            <a:endParaRPr lang="en-US" sz="90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ex-Moncton &amp; distance bands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Mississauga outbound · F27 Jul–Sep · ex-Moncton and band figures calculated from the load factor report</a:t>
            </a:r>
            <a:endParaRPr lang="en-US" sz="1250" dirty="0"/>
          </a:p>
        </p:txBody>
      </p:sp>
      <p:sp>
        <p:nvSpPr>
          <p:cNvPr id="5" name="Shape 3"/>
          <p:cNvSpPr/>
          <p:nvPr/>
        </p:nvSpPr>
        <p:spPr>
          <a:xfrm>
            <a:off x="548640" y="1600200"/>
            <a:ext cx="2651760" cy="896112"/>
          </a:xfrm>
          <a:prstGeom prst="roundRect">
            <a:avLst>
              <a:gd name="adj" fmla="val 8163"/>
            </a:avLst>
          </a:prstGeom>
          <a:solidFill>
            <a:srgbClr val="F3F4F6"/>
          </a:solidFill>
          <a:ln w="12700">
            <a:solidFill>
              <a:srgbClr val="F3F4F6"/>
            </a:solidFill>
            <a:prstDash val="solid"/>
          </a:ln>
        </p:spPr>
      </p:sp>
      <p:sp>
        <p:nvSpPr>
          <p:cNvPr id="6" name="Text 4"/>
          <p:cNvSpPr txBox="1"/>
          <p:nvPr/>
        </p:nvSpPr>
        <p:spPr>
          <a:xfrm>
            <a:off x="713232" y="1673352"/>
            <a:ext cx="23317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13232" y="1911096"/>
            <a:ext cx="2377440" cy="384048"/>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2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13232" y="2276856"/>
            <a:ext cx="2331720" cy="182880"/>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all lanes → ex-Moncton</a:t>
            </a:r>
            <a:endParaRPr lang="en-US" sz="850" dirty="0"/>
          </a:p>
        </p:txBody>
      </p:sp>
      <p:sp>
        <p:nvSpPr>
          <p:cNvPr id="9" name="Shape 7"/>
          <p:cNvSpPr/>
          <p:nvPr/>
        </p:nvSpPr>
        <p:spPr>
          <a:xfrm>
            <a:off x="3337560" y="1600200"/>
            <a:ext cx="2651760" cy="896112"/>
          </a:xfrm>
          <a:prstGeom prst="roundRect">
            <a:avLst>
              <a:gd name="adj" fmla="val 8163"/>
            </a:avLst>
          </a:prstGeom>
          <a:solidFill>
            <a:srgbClr val="F3F4F6"/>
          </a:solidFill>
          <a:ln w="12700">
            <a:solidFill>
              <a:srgbClr val="F3F4F6"/>
            </a:solidFill>
            <a:prstDash val="solid"/>
          </a:ln>
        </p:spPr>
      </p:sp>
      <p:sp>
        <p:nvSpPr>
          <p:cNvPr id="10" name="Text 8"/>
          <p:cNvSpPr txBox="1"/>
          <p:nvPr/>
        </p:nvSpPr>
        <p:spPr>
          <a:xfrm>
            <a:off x="3502152" y="1673352"/>
            <a:ext cx="23317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02152" y="1911096"/>
            <a:ext cx="2377440" cy="384048"/>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2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02152" y="2276856"/>
            <a:ext cx="2331720" cy="182880"/>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all lanes → ex-Moncton</a:t>
            </a:r>
            <a:endParaRPr lang="en-US" sz="850" dirty="0"/>
          </a:p>
        </p:txBody>
      </p:sp>
      <p:sp>
        <p:nvSpPr>
          <p:cNvPr id="13" name="Shape 11"/>
          <p:cNvSpPr/>
          <p:nvPr/>
        </p:nvSpPr>
        <p:spPr>
          <a:xfrm>
            <a:off x="548640" y="2587752"/>
            <a:ext cx="2651760" cy="896112"/>
          </a:xfrm>
          <a:prstGeom prst="roundRect">
            <a:avLst>
              <a:gd name="adj" fmla="val 8163"/>
            </a:avLst>
          </a:prstGeom>
          <a:solidFill>
            <a:srgbClr val="F3F4F6"/>
          </a:solidFill>
          <a:ln w="12700">
            <a:solidFill>
              <a:srgbClr val="F3F4F6"/>
            </a:solidFill>
            <a:prstDash val="solid"/>
          </a:ln>
        </p:spPr>
      </p:sp>
      <p:sp>
        <p:nvSpPr>
          <p:cNvPr id="14" name="Text 12"/>
          <p:cNvSpPr txBox="1"/>
          <p:nvPr/>
        </p:nvSpPr>
        <p:spPr>
          <a:xfrm>
            <a:off x="713232" y="2660904"/>
            <a:ext cx="23317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Loads</a:t>
            </a:r>
            <a:endParaRPr lang="en-US" sz="1100" dirty="0"/>
          </a:p>
        </p:txBody>
      </p:sp>
      <p:sp>
        <p:nvSpPr>
          <p:cNvPr id="15" name="Text 13"/>
          <p:cNvSpPr txBox="1"/>
          <p:nvPr/>
        </p:nvSpPr>
        <p:spPr>
          <a:xfrm>
            <a:off x="713232" y="2898648"/>
            <a:ext cx="2377440" cy="384048"/>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854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200" b="1" dirty="0">
                <a:solidFill>
                  <a:srgbClr val="111827"/>
                </a:solidFill>
                <a:latin typeface="Calibri" pitchFamily="34" charset="0"/>
                <a:ea typeface="Calibri" pitchFamily="34" charset="-122"/>
                <a:cs typeface="Calibri" pitchFamily="34" charset="-120"/>
              </a:rPr>
              <a:t>686</a:t>
            </a:r>
            <a:endParaRPr lang="en-US" sz="1600" dirty="0"/>
          </a:p>
        </p:txBody>
      </p:sp>
      <p:sp>
        <p:nvSpPr>
          <p:cNvPr id="16" name="Text 14"/>
          <p:cNvSpPr txBox="1"/>
          <p:nvPr/>
        </p:nvSpPr>
        <p:spPr>
          <a:xfrm>
            <a:off x="713232" y="3264408"/>
            <a:ext cx="2331720" cy="182880"/>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all lanes → ex-Moncton</a:t>
            </a:r>
            <a:endParaRPr lang="en-US" sz="850" dirty="0"/>
          </a:p>
        </p:txBody>
      </p:sp>
      <p:sp>
        <p:nvSpPr>
          <p:cNvPr id="17" name="Shape 15"/>
          <p:cNvSpPr/>
          <p:nvPr/>
        </p:nvSpPr>
        <p:spPr>
          <a:xfrm>
            <a:off x="3337560" y="2587752"/>
            <a:ext cx="2651760" cy="896112"/>
          </a:xfrm>
          <a:prstGeom prst="roundRect">
            <a:avLst>
              <a:gd name="adj" fmla="val 8163"/>
            </a:avLst>
          </a:prstGeom>
          <a:solidFill>
            <a:srgbClr val="F3F4F6"/>
          </a:solidFill>
          <a:ln w="12700">
            <a:solidFill>
              <a:srgbClr val="F3F4F6"/>
            </a:solidFill>
            <a:prstDash val="solid"/>
          </a:ln>
        </p:spPr>
      </p:sp>
      <p:sp>
        <p:nvSpPr>
          <p:cNvPr id="18" name="Text 16"/>
          <p:cNvSpPr txBox="1"/>
          <p:nvPr/>
        </p:nvSpPr>
        <p:spPr>
          <a:xfrm>
            <a:off x="3502152" y="2660904"/>
            <a:ext cx="23317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Bills with no cube</a:t>
            </a:r>
            <a:endParaRPr lang="en-US" sz="1100" dirty="0"/>
          </a:p>
        </p:txBody>
      </p:sp>
      <p:sp>
        <p:nvSpPr>
          <p:cNvPr id="19" name="Text 17"/>
          <p:cNvSpPr txBox="1"/>
          <p:nvPr/>
        </p:nvSpPr>
        <p:spPr>
          <a:xfrm>
            <a:off x="3502152" y="2898648"/>
            <a:ext cx="2377440" cy="384048"/>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5.7%</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200" b="1" dirty="0">
                <a:solidFill>
                  <a:srgbClr val="111827"/>
                </a:solidFill>
                <a:latin typeface="Calibri" pitchFamily="34" charset="0"/>
                <a:ea typeface="Calibri" pitchFamily="34" charset="-122"/>
                <a:cs typeface="Calibri" pitchFamily="34" charset="-120"/>
              </a:rPr>
              <a:t>3.0%</a:t>
            </a:r>
            <a:endParaRPr lang="en-US" sz="1600" dirty="0"/>
          </a:p>
        </p:txBody>
      </p:sp>
      <p:sp>
        <p:nvSpPr>
          <p:cNvPr id="20" name="Text 18"/>
          <p:cNvSpPr txBox="1"/>
          <p:nvPr/>
        </p:nvSpPr>
        <p:spPr>
          <a:xfrm>
            <a:off x="3502152" y="3264408"/>
            <a:ext cx="2331720" cy="182880"/>
          </a:xfrm>
          <a:prstGeom prst="rect">
            <a:avLst/>
          </a:prstGeom>
          <a:noFill/>
          <a:ln/>
        </p:spPr>
        <p:txBody>
          <a:bodyPr wrap="square" lIns="0" tIns="0" rIns="0" bIns="0" rtlCol="0" anchor="ctr"/>
          <a:lstStyle/>
          <a:p>
            <a:pPr indent="0" marL="0">
              <a:buNone/>
            </a:pPr>
            <a:r>
              <a:rPr lang="en-US" sz="850" dirty="0">
                <a:solidFill>
                  <a:srgbClr val="9CA3AF"/>
                </a:solidFill>
                <a:latin typeface="Calibri" pitchFamily="34" charset="0"/>
                <a:ea typeface="Calibri" pitchFamily="34" charset="-122"/>
                <a:cs typeface="Calibri" pitchFamily="34" charset="-120"/>
              </a:rPr>
              <a:t>all lanes → ex-Moncton</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5440680" cy="914400"/>
        </p:xfrm>
        <a:graphic>
          <a:graphicData uri="http://schemas.openxmlformats.org/drawingml/2006/table">
            <a:tbl>
              <a:tblPr/>
              <a:tblGrid>
                <a:gridCol w="731520"/>
                <a:gridCol w="960120"/>
                <a:gridCol w="1234440"/>
                <a:gridCol w="960120"/>
                <a:gridCol w="15544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Month</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LF all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LF ex-Moncton</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Load all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Load ex-Moncton</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Jul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38.9%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79.6%</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Aug</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38.5%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71.5%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Sep</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36.7%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37.6%</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72.8%</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2" name="Shape 19"/>
          <p:cNvSpPr/>
          <p:nvPr/>
        </p:nvSpPr>
        <p:spPr>
          <a:xfrm>
            <a:off x="548640" y="4800600"/>
            <a:ext cx="5440680" cy="1234440"/>
          </a:xfrm>
          <a:prstGeom prst="roundRect">
            <a:avLst>
              <a:gd name="adj" fmla="val 5926"/>
            </a:avLst>
          </a:prstGeom>
          <a:solidFill>
            <a:srgbClr val="F5F3FF"/>
          </a:solidFill>
          <a:ln w="12700">
            <a:solidFill>
              <a:srgbClr val="F5F3FF"/>
            </a:solidFill>
            <a:prstDash val="solid"/>
          </a:ln>
        </p:spPr>
      </p:sp>
      <p:sp>
        <p:nvSpPr>
          <p:cNvPr id="23" name="Text 20"/>
          <p:cNvSpPr txBox="1"/>
          <p:nvPr/>
        </p:nvSpPr>
        <p:spPr>
          <a:xfrm>
            <a:off x="731520" y="4873752"/>
            <a:ext cx="50292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Moncton lane alone · F27</a:t>
            </a:r>
            <a:endParaRPr lang="en-US" sz="1200" dirty="0"/>
          </a:p>
        </p:txBody>
      </p:sp>
      <p:sp>
        <p:nvSpPr>
          <p:cNvPr id="24" name="Text 21"/>
          <p:cNvSpPr txBox="1"/>
          <p:nvPr/>
        </p:nvSpPr>
        <p:spPr>
          <a:xfrm>
            <a:off x="731520" y="5175504"/>
            <a:ext cx="1143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Loads</a:t>
            </a:r>
            <a:endParaRPr lang="en-US" sz="1000" dirty="0"/>
          </a:p>
        </p:txBody>
      </p:sp>
      <p:sp>
        <p:nvSpPr>
          <p:cNvPr id="25" name="Text 22"/>
          <p:cNvSpPr txBox="1"/>
          <p:nvPr/>
        </p:nvSpPr>
        <p:spPr>
          <a:xfrm>
            <a:off x="731520" y="5394960"/>
            <a:ext cx="114300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a:t>
            </a:r>
            <a:endParaRPr lang="en-US" sz="1800" dirty="0"/>
          </a:p>
        </p:txBody>
      </p:sp>
      <p:sp>
        <p:nvSpPr>
          <p:cNvPr id="26" name="Text 23"/>
          <p:cNvSpPr txBox="1"/>
          <p:nvPr/>
        </p:nvSpPr>
        <p:spPr>
          <a:xfrm>
            <a:off x="1920240" y="5175504"/>
            <a:ext cx="1143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LF score</a:t>
            </a:r>
            <a:endParaRPr lang="en-US" sz="1000" dirty="0"/>
          </a:p>
        </p:txBody>
      </p:sp>
      <p:sp>
        <p:nvSpPr>
          <p:cNvPr id="27" name="Text 24"/>
          <p:cNvSpPr txBox="1"/>
          <p:nvPr/>
        </p:nvSpPr>
        <p:spPr>
          <a:xfrm>
            <a:off x="1920240" y="5394960"/>
            <a:ext cx="114300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23.8%</a:t>
            </a:r>
            <a:endParaRPr lang="en-US" sz="1800" dirty="0"/>
          </a:p>
        </p:txBody>
      </p:sp>
      <p:sp>
        <p:nvSpPr>
          <p:cNvPr id="28" name="Text 25"/>
          <p:cNvSpPr txBox="1"/>
          <p:nvPr/>
        </p:nvSpPr>
        <p:spPr>
          <a:xfrm>
            <a:off x="3108960" y="5175504"/>
            <a:ext cx="1143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Bills</a:t>
            </a:r>
            <a:endParaRPr lang="en-US" sz="1000" dirty="0"/>
          </a:p>
        </p:txBody>
      </p:sp>
      <p:sp>
        <p:nvSpPr>
          <p:cNvPr id="29" name="Text 26"/>
          <p:cNvSpPr txBox="1"/>
          <p:nvPr/>
        </p:nvSpPr>
        <p:spPr>
          <a:xfrm>
            <a:off x="3108960" y="5394960"/>
            <a:ext cx="114300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8,629</a:t>
            </a:r>
            <a:endParaRPr lang="en-US" sz="1800" dirty="0"/>
          </a:p>
        </p:txBody>
      </p:sp>
      <p:sp>
        <p:nvSpPr>
          <p:cNvPr id="30" name="Text 27"/>
          <p:cNvSpPr txBox="1"/>
          <p:nvPr/>
        </p:nvSpPr>
        <p:spPr>
          <a:xfrm>
            <a:off x="4297680" y="5175504"/>
            <a:ext cx="1143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No cube</a:t>
            </a:r>
            <a:endParaRPr lang="en-US" sz="1000" dirty="0"/>
          </a:p>
        </p:txBody>
      </p:sp>
      <p:sp>
        <p:nvSpPr>
          <p:cNvPr id="31" name="Text 28"/>
          <p:cNvSpPr txBox="1"/>
          <p:nvPr/>
        </p:nvSpPr>
        <p:spPr>
          <a:xfrm>
            <a:off x="4297680" y="5394960"/>
            <a:ext cx="1554480" cy="411480"/>
          </a:xfrm>
          <a:prstGeom prst="rect">
            <a:avLst/>
          </a:prstGeom>
          <a:noFill/>
          <a:ln/>
        </p:spPr>
        <p:txBody>
          <a:bodyPr wrap="square" lIns="0" tIns="0" rIns="0" bIns="0" rtlCol="0" anchor="ctr"/>
          <a:lstStyle/>
          <a:p>
            <a:pPr indent="0" marL="0">
              <a:buNone/>
            </a:pPr>
            <a:r>
              <a:rPr lang="en-US" sz="1300" b="1" dirty="0">
                <a:solidFill>
                  <a:srgbClr val="DC2626"/>
                </a:solidFill>
                <a:latin typeface="Calibri" pitchFamily="34" charset="0"/>
                <a:ea typeface="Calibri" pitchFamily="34" charset="-122"/>
                <a:cs typeface="Calibri" pitchFamily="34" charset="-120"/>
              </a:rPr>
              <a:t>1,771 (20.5%)</a:t>
            </a:r>
            <a:endParaRPr lang="en-US" sz="1300" dirty="0"/>
          </a:p>
        </p:txBody>
      </p:sp>
      <p:graphicFrame>
        <p:nvGraphicFramePr>
          <p:cNvPr id="32" name="Chart 0" descr=""/>
          <p:cNvGraphicFramePr/>
          <p:nvPr/>
        </p:nvGraphicFramePr>
        <p:xfrm>
          <a:off x="6263640" y="1554480"/>
          <a:ext cx="5376672" cy="2194560"/>
        </p:xfrm>
        <a:graphic xmlns:a="http://schemas.openxmlformats.org/drawingml/2006/main">
          <a:graphicData uri="http://schemas.openxmlformats.org/drawingml/2006/chart">
            <c:chart xmlns:c="http://schemas.openxmlformats.org/drawingml/2006/chart" r:id="rId1"/>
          </a:graphicData>
        </a:graphic>
      </p:graphicFrame>
      <p:sp>
        <p:nvSpPr>
          <p:cNvPr id="33" name="Text 29"/>
          <p:cNvSpPr txBox="1"/>
          <p:nvPr/>
        </p:nvSpPr>
        <p:spPr>
          <a:xfrm>
            <a:off x="6355080" y="3749040"/>
            <a:ext cx="5257800" cy="658368"/>
          </a:xfrm>
          <a:prstGeom prst="rect">
            <a:avLst/>
          </a:prstGeom>
          <a:noFill/>
          <a:ln/>
        </p:spPr>
        <p:txBody>
          <a:bodyPr wrap="square" lIns="0" tIns="0" rIns="0" bIns="0" rtlCol="0" anchor="t"/>
          <a:lstStyle/>
          <a:p>
            <a:pPr indent="0" marL="0">
              <a:buNone/>
            </a:pPr>
            <a:r>
              <a:rPr lang="en-US" sz="950" b="1" dirty="0">
                <a:solidFill>
                  <a:srgbClr val="1F2937"/>
                </a:solidFill>
                <a:latin typeface="Calibri" pitchFamily="34" charset="0"/>
                <a:ea typeface="Calibri" pitchFamily="34" charset="-122"/>
                <a:cs typeface="Calibri" pitchFamily="34" charset="-120"/>
              </a:rPr>
              <a:t>&lt;500: </a:t>
            </a:r>
            <a:pPr indent="0" marL="0">
              <a:buNone/>
            </a:pPr>
            <a:r>
              <a:rPr lang="en-US" sz="950" dirty="0">
                <a:solidFill>
                  <a:srgbClr val="6B7280"/>
                </a:solidFill>
                <a:latin typeface="Calibri" pitchFamily="34" charset="0"/>
                <a:ea typeface="Calibri" pitchFamily="34" charset="-122"/>
                <a:cs typeface="Calibri" pitchFamily="34" charset="-120"/>
              </a:rPr>
              <a:t>Montreal, Ottawa, Windsor, Woodstock</a:t>
            </a:r>
            <a:endParaRPr lang="en-US" sz="950" dirty="0"/>
          </a:p>
          <a:p>
            <a:pPr indent="0" marL="0">
              <a:buNone/>
            </a:pPr>
            <a:r>
              <a:rPr lang="en-US" sz="950" b="1" dirty="0">
                <a:solidFill>
                  <a:srgbClr val="1F2937"/>
                </a:solidFill>
                <a:latin typeface="Calibri" pitchFamily="34" charset="0"/>
                <a:ea typeface="Calibri" pitchFamily="34" charset="-122"/>
                <a:cs typeface="Calibri" pitchFamily="34" charset="-120"/>
              </a:rPr>
              <a:t>&lt;1,000: </a:t>
            </a:r>
            <a:pPr indent="0" marL="0">
              <a:buNone/>
            </a:pPr>
            <a:r>
              <a:rPr lang="en-US" sz="950" dirty="0">
                <a:solidFill>
                  <a:srgbClr val="6B7280"/>
                </a:solidFill>
                <a:latin typeface="Calibri" pitchFamily="34" charset="0"/>
                <a:ea typeface="Calibri" pitchFamily="34" charset="-122"/>
                <a:cs typeface="Calibri" pitchFamily="34" charset="-120"/>
              </a:rPr>
              <a:t>Moncton, Quebec City</a:t>
            </a:r>
            <a:endParaRPr lang="en-US" sz="950" dirty="0"/>
          </a:p>
          <a:p>
            <a:pPr indent="0" marL="0">
              <a:buNone/>
            </a:pPr>
            <a:r>
              <a:rPr lang="en-US" sz="950" b="1" dirty="0">
                <a:solidFill>
                  <a:srgbClr val="1F2937"/>
                </a:solidFill>
                <a:latin typeface="Calibri" pitchFamily="34" charset="0"/>
                <a:ea typeface="Calibri" pitchFamily="34" charset="-122"/>
                <a:cs typeface="Calibri" pitchFamily="34" charset="-120"/>
              </a:rPr>
              <a:t>&gt;1,000: </a:t>
            </a:r>
            <a:pPr indent="0" marL="0">
              <a:buNone/>
            </a:pPr>
            <a:r>
              <a:rPr lang="en-US" sz="950" dirty="0">
                <a:solidFill>
                  <a:srgbClr val="6B7280"/>
                </a:solidFill>
                <a:latin typeface="Calibri" pitchFamily="34" charset="0"/>
                <a:ea typeface="Calibri" pitchFamily="34" charset="-122"/>
                <a:cs typeface="Calibri" pitchFamily="34" charset="-120"/>
              </a:rPr>
              <a:t>Burnaby, Calgary, Winnipeg, Edmonton, Dartmouth, Saskatoon</a:t>
            </a:r>
            <a:endParaRPr lang="en-US" sz="950" dirty="0"/>
          </a:p>
        </p:txBody>
      </p:sp>
      <p:sp>
        <p:nvSpPr>
          <p:cNvPr id="34" name="Shape 30"/>
          <p:cNvSpPr/>
          <p:nvPr/>
        </p:nvSpPr>
        <p:spPr>
          <a:xfrm>
            <a:off x="6263640" y="4480560"/>
            <a:ext cx="5376672" cy="1554480"/>
          </a:xfrm>
          <a:prstGeom prst="roundRect">
            <a:avLst>
              <a:gd name="adj" fmla="val 4706"/>
            </a:avLst>
          </a:prstGeom>
          <a:solidFill>
            <a:srgbClr val="FFFBEB"/>
          </a:solidFill>
          <a:ln w="12700">
            <a:solidFill>
              <a:srgbClr val="FFFBEB"/>
            </a:solidFill>
            <a:prstDash val="solid"/>
          </a:ln>
        </p:spPr>
      </p:sp>
      <p:sp>
        <p:nvSpPr>
          <p:cNvPr id="35" name="Text 31"/>
          <p:cNvSpPr txBox="1"/>
          <p:nvPr/>
        </p:nvSpPr>
        <p:spPr>
          <a:xfrm>
            <a:off x="6419088" y="4526280"/>
            <a:ext cx="5102352" cy="146304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footage</a:t>
            </a:r>
            <a:endParaRPr lang="en-US" sz="1000" dirty="0"/>
          </a:p>
          <a:p>
            <a:pPr indent="0" marL="0">
              <a:buNone/>
            </a:pPr>
            <a:r>
              <a:rPr lang="en-US" sz="1000" dirty="0">
                <a:solidFill>
                  <a:srgbClr val="1F2937"/>
                </a:solidFill>
                <a:latin typeface="Calibri" pitchFamily="34" charset="0"/>
                <a:ea typeface="Calibri" pitchFamily="34" charset="-122"/>
                <a:cs typeface="Calibri" pitchFamily="34" charset="-120"/>
              </a:rPr>
              <a:t>Toyota loads our trailer at Bowmanville; we top it off in Mississauga before linehaul. Toyota footage is not being captured correctly — being fixed now. Moncton: 20.5% of bills have no cube vs 3.0% on all other lanes, with many loads carrying the same 24–27 no-cube bills — the pattern of an uncaptured baseload. Measured LF on affected loads is understated.</a:t>
            </a:r>
            <a:endParaRPr lang="en-US" sz="1000" dirty="0"/>
          </a:p>
        </p:txBody>
      </p:sp>
      <p:sp>
        <p:nvSpPr>
          <p:cNvPr id="36" name="Text 32"/>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Lane type is "Not Defined" for all loads, so no headhaul/backhaul split — grouped by the report's distance bands.</a:t>
            </a:r>
            <a:endParaRPr lang="en-US" sz="900" dirty="0"/>
          </a:p>
        </p:txBody>
      </p:sp>
      <p:sp>
        <p:nvSpPr>
          <p:cNvPr id="37"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8"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23</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 / 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2026-09-29T14:05:02Z</dcterms:created>
  <dcterms:modified xsi:type="dcterms:W3CDTF">2026-09-29T14:05:02Z</dcterms:modified>
</cp:coreProperties>
</file>