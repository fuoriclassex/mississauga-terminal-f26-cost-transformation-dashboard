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TRIR figures for F27 year to date are being confirmed with OHS and will be filled in before distribution.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investigated with OHS for root cause, with corrective actions followed up so controls prevent a repeat; forklift and TDG training is completed before it expires. Specific to our site, roofing work over the dock is barricaded so no one works under overhead activity, and N95 masks are available on the dock for airborne debris. After every incident we hold a safety moment so the whole team learns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with a target band of dock hours for each shift. The bands are being finalized and will be filled in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initiatives in the F27 savings plan, carrying forward three that were sustained from F26 and adding accessorial recovery and load factor consolidation. Cargo claims on the claims report for our terminal, T-0502, total 13,432.53 dollars; the period for that figure is being confirmed. Dollar amounts and the F27 take-out target are being confirmed with Finance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September weeks for load factor score and load percentage against the 80 and 98 percent targets; the weekly figures are being confirmed. Consolidating large-customer freight into fewer trailers is the main lever here and is part of the F27 savings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state of the building: how many dock doors we have, how many are out of service, and the repairs we need, by priority. The list and cost estimates are being finalized with facilities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SEPT MTD · AS OF SEP 26</a:t>
            </a:r>
            <a:endParaRPr lang="en-US" sz="1100" dirty="0"/>
          </a:p>
        </p:txBody>
      </p:sp>
      <p:sp>
        <p:nvSpPr>
          <p:cNvPr id="9" name="Text 7"/>
          <p:cNvSpPr txBox="1"/>
          <p:nvPr/>
        </p:nvSpPr>
        <p:spPr>
          <a:xfrm>
            <a:off x="8641080" y="178308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93.7%</a:t>
            </a:r>
            <a:endParaRPr lang="en-US" sz="2200" dirty="0"/>
          </a:p>
        </p:txBody>
      </p:sp>
      <p:sp>
        <p:nvSpPr>
          <p:cNvPr id="10" name="Text 8"/>
          <p:cNvSpPr txBox="1"/>
          <p:nvPr/>
        </p:nvSpPr>
        <p:spPr>
          <a:xfrm>
            <a:off x="10012680" y="178308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OTS Sept (adj., incl. partners)</a:t>
            </a:r>
            <a:endParaRPr lang="en-US" sz="1150" dirty="0"/>
          </a:p>
        </p:txBody>
      </p:sp>
      <p:sp>
        <p:nvSpPr>
          <p:cNvPr id="11" name="Text 9"/>
          <p:cNvSpPr txBox="1"/>
          <p:nvPr/>
        </p:nvSpPr>
        <p:spPr>
          <a:xfrm>
            <a:off x="8641080" y="228600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91.1%</a:t>
            </a:r>
            <a:endParaRPr lang="en-US" sz="2200" dirty="0"/>
          </a:p>
        </p:txBody>
      </p:sp>
      <p:sp>
        <p:nvSpPr>
          <p:cNvPr id="12" name="Text 10"/>
          <p:cNvSpPr txBox="1"/>
          <p:nvPr/>
        </p:nvSpPr>
        <p:spPr>
          <a:xfrm>
            <a:off x="10012680" y="228600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of SCA hour allowance</a:t>
            </a:r>
            <a:endParaRPr lang="en-US" sz="1150" dirty="0"/>
          </a:p>
        </p:txBody>
      </p:sp>
      <p:sp>
        <p:nvSpPr>
          <p:cNvPr id="13" name="Text 11"/>
          <p:cNvSpPr txBox="1"/>
          <p:nvPr/>
        </p:nvSpPr>
        <p:spPr>
          <a:xfrm>
            <a:off x="8641080" y="278892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−16.7%</a:t>
            </a:r>
            <a:endParaRPr lang="en-US" sz="2200" dirty="0"/>
          </a:p>
        </p:txBody>
      </p:sp>
      <p:sp>
        <p:nvSpPr>
          <p:cNvPr id="14" name="Text 12"/>
          <p:cNvSpPr txBox="1"/>
          <p:nvPr/>
        </p:nvSpPr>
        <p:spPr>
          <a:xfrm>
            <a:off x="10012680" y="278892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cost per unit vs F26</a:t>
            </a:r>
            <a:endParaRPr lang="en-US" sz="1150" dirty="0"/>
          </a:p>
        </p:txBody>
      </p:sp>
      <p:sp>
        <p:nvSpPr>
          <p:cNvPr id="15" name="Text 13"/>
          <p:cNvSpPr txBox="1"/>
          <p:nvPr/>
        </p:nvSpPr>
        <p:spPr>
          <a:xfrm>
            <a:off x="8641080" y="329184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+26.7%</a:t>
            </a:r>
            <a:endParaRPr lang="en-US" sz="2200" dirty="0"/>
          </a:p>
        </p:txBody>
      </p:sp>
      <p:sp>
        <p:nvSpPr>
          <p:cNvPr id="16" name="Text 14"/>
          <p:cNvSpPr txBox="1"/>
          <p:nvPr/>
        </p:nvSpPr>
        <p:spPr>
          <a:xfrm>
            <a:off x="10012680" y="329184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units per hour vs F26</a:t>
            </a:r>
            <a:endParaRPr lang="en-US" sz="1150" dirty="0"/>
          </a:p>
        </p:txBody>
      </p:sp>
      <p:sp>
        <p:nvSpPr>
          <p:cNvPr id="17" name="Text 15"/>
          <p:cNvSpPr txBox="1"/>
          <p:nvPr/>
        </p:nvSpPr>
        <p:spPr>
          <a:xfrm>
            <a:off x="8641080" y="379476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 hrs</a:t>
            </a:r>
            <a:endParaRPr lang="en-US" sz="2200" dirty="0"/>
          </a:p>
        </p:txBody>
      </p:sp>
      <p:sp>
        <p:nvSpPr>
          <p:cNvPr id="18" name="Text 16"/>
          <p:cNvSpPr txBox="1"/>
          <p:nvPr/>
        </p:nvSpPr>
        <p:spPr>
          <a:xfrm>
            <a:off x="10012680" y="379476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overtime MTD</a:t>
            </a:r>
            <a:endParaRPr lang="en-US" sz="1150" dirty="0"/>
          </a:p>
        </p:txBody>
      </p:sp>
      <p:sp>
        <p:nvSpPr>
          <p:cNvPr id="19" name="Text 17"/>
          <p:cNvSpPr txBox="1"/>
          <p:nvPr/>
        </p:nvSpPr>
        <p:spPr>
          <a:xfrm>
            <a:off x="8641080" y="437083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0" name="Text 18"/>
          <p:cNvSpPr txBox="1"/>
          <p:nvPr/>
        </p:nvSpPr>
        <p:spPr>
          <a:xfrm>
            <a:off x="8641080" y="4626864"/>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1" name="Text 19"/>
          <p:cNvSpPr txBox="1"/>
          <p:nvPr/>
        </p:nvSpPr>
        <p:spPr>
          <a:xfrm>
            <a:off x="8641080" y="5084064"/>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incident reporting, site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Dock doors and urgent repairs</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71600"/>
            <a:ext cx="2072030" cy="1280160"/>
          </a:xfrm>
          <a:prstGeom prst="roundRect">
            <a:avLst>
              <a:gd name="adj" fmla="val 5714"/>
            </a:avLst>
          </a:prstGeom>
          <a:solidFill>
            <a:srgbClr val="F3F4F6"/>
          </a:solidFill>
          <a:ln w="12700">
            <a:solidFill>
              <a:srgbClr val="F3F4F6"/>
            </a:solidFill>
            <a:prstDash val="solid"/>
          </a:ln>
        </p:spPr>
      </p:sp>
      <p:sp>
        <p:nvSpPr>
          <p:cNvPr id="5" name="Text 3"/>
          <p:cNvSpPr txBox="1"/>
          <p:nvPr/>
        </p:nvSpPr>
        <p:spPr>
          <a:xfrm>
            <a:off x="73152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7" name="Text 5"/>
          <p:cNvSpPr txBox="1"/>
          <p:nvPr/>
        </p:nvSpPr>
        <p:spPr>
          <a:xfrm>
            <a:off x="73152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 Sep 29, 2026</a:t>
            </a:r>
            <a:endParaRPr lang="en-US" sz="1050" dirty="0"/>
          </a:p>
        </p:txBody>
      </p:sp>
      <p:sp>
        <p:nvSpPr>
          <p:cNvPr id="8" name="Shape 6"/>
          <p:cNvSpPr/>
          <p:nvPr/>
        </p:nvSpPr>
        <p:spPr>
          <a:xfrm>
            <a:off x="2803550" y="1371600"/>
            <a:ext cx="2072030" cy="1280160"/>
          </a:xfrm>
          <a:prstGeom prst="roundRect">
            <a:avLst>
              <a:gd name="adj" fmla="val 5714"/>
            </a:avLst>
          </a:prstGeom>
          <a:solidFill>
            <a:srgbClr val="F3F4F6"/>
          </a:solidFill>
          <a:ln w="12700">
            <a:solidFill>
              <a:srgbClr val="F3F4F6"/>
            </a:solidFill>
            <a:prstDash val="solid"/>
          </a:ln>
        </p:spPr>
      </p:sp>
      <p:sp>
        <p:nvSpPr>
          <p:cNvPr id="9" name="Text 7"/>
          <p:cNvSpPr txBox="1"/>
          <p:nvPr/>
        </p:nvSpPr>
        <p:spPr>
          <a:xfrm>
            <a:off x="298643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1" name="Text 9"/>
          <p:cNvSpPr txBox="1"/>
          <p:nvPr/>
        </p:nvSpPr>
        <p:spPr>
          <a:xfrm>
            <a:off x="298643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71600"/>
            <a:ext cx="2072030" cy="1280160"/>
          </a:xfrm>
          <a:prstGeom prst="roundRect">
            <a:avLst>
              <a:gd name="adj" fmla="val 5714"/>
            </a:avLst>
          </a:prstGeom>
          <a:solidFill>
            <a:srgbClr val="F3F4F6"/>
          </a:solidFill>
          <a:ln w="12700">
            <a:solidFill>
              <a:srgbClr val="F3F4F6"/>
            </a:solidFill>
            <a:prstDash val="solid"/>
          </a:ln>
        </p:spPr>
      </p:sp>
      <p:sp>
        <p:nvSpPr>
          <p:cNvPr id="13" name="Text 11"/>
          <p:cNvSpPr txBox="1"/>
          <p:nvPr/>
        </p:nvSpPr>
        <p:spPr>
          <a:xfrm>
            <a:off x="524134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target</a:t>
            </a:r>
            <a:endParaRPr lang="en-US" sz="950" dirty="0"/>
          </a:p>
        </p:txBody>
      </p:sp>
      <p:sp>
        <p:nvSpPr>
          <p:cNvPr id="14" name="Text 12"/>
          <p:cNvSpPr txBox="1"/>
          <p:nvPr/>
        </p:nvSpPr>
        <p:spPr>
          <a:xfrm>
            <a:off x="524134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5" name="Text 13"/>
          <p:cNvSpPr txBox="1"/>
          <p:nvPr/>
        </p:nvSpPr>
        <p:spPr>
          <a:xfrm>
            <a:off x="524134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F27 target</a:t>
            </a:r>
            <a:endParaRPr lang="en-US" sz="1050" dirty="0"/>
          </a:p>
        </p:txBody>
      </p:sp>
      <p:sp>
        <p:nvSpPr>
          <p:cNvPr id="16" name="Shape 14"/>
          <p:cNvSpPr/>
          <p:nvPr/>
        </p:nvSpPr>
        <p:spPr>
          <a:xfrm>
            <a:off x="7313371" y="1371600"/>
            <a:ext cx="2072030" cy="1280160"/>
          </a:xfrm>
          <a:prstGeom prst="roundRect">
            <a:avLst>
              <a:gd name="adj" fmla="val 5714"/>
            </a:avLst>
          </a:prstGeom>
          <a:solidFill>
            <a:srgbClr val="F3F4F6"/>
          </a:solidFill>
          <a:ln w="12700">
            <a:solidFill>
              <a:srgbClr val="F3F4F6"/>
            </a:solidFill>
            <a:prstDash val="solid"/>
          </a:ln>
        </p:spPr>
      </p:sp>
      <p:sp>
        <p:nvSpPr>
          <p:cNvPr id="17" name="Text 15"/>
          <p:cNvSpPr txBox="1"/>
          <p:nvPr/>
        </p:nvSpPr>
        <p:spPr>
          <a:xfrm>
            <a:off x="749625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YTD</a:t>
            </a:r>
            <a:endParaRPr lang="en-US" sz="950" dirty="0"/>
          </a:p>
        </p:txBody>
      </p:sp>
      <p:sp>
        <p:nvSpPr>
          <p:cNvPr id="18" name="Text 16"/>
          <p:cNvSpPr txBox="1"/>
          <p:nvPr/>
        </p:nvSpPr>
        <p:spPr>
          <a:xfrm>
            <a:off x="749625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9" name="Text 17"/>
          <p:cNvSpPr txBox="1"/>
          <p:nvPr/>
        </p:nvSpPr>
        <p:spPr>
          <a:xfrm>
            <a:off x="749625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to date</a:t>
            </a:r>
            <a:endParaRPr lang="en-US" sz="1050" dirty="0"/>
          </a:p>
        </p:txBody>
      </p:sp>
      <p:sp>
        <p:nvSpPr>
          <p:cNvPr id="20" name="Shape 18"/>
          <p:cNvSpPr/>
          <p:nvPr/>
        </p:nvSpPr>
        <p:spPr>
          <a:xfrm>
            <a:off x="9568282" y="1371600"/>
            <a:ext cx="2072030" cy="1280160"/>
          </a:xfrm>
          <a:prstGeom prst="roundRect">
            <a:avLst>
              <a:gd name="adj" fmla="val 5714"/>
            </a:avLst>
          </a:prstGeom>
          <a:solidFill>
            <a:srgbClr val="F3F4F6"/>
          </a:solidFill>
          <a:ln w="12700">
            <a:solidFill>
              <a:srgbClr val="F3F4F6"/>
            </a:solidFill>
            <a:prstDash val="solid"/>
          </a:ln>
        </p:spPr>
      </p:sp>
      <p:sp>
        <p:nvSpPr>
          <p:cNvPr id="21" name="Text 19"/>
          <p:cNvSpPr txBox="1"/>
          <p:nvPr/>
        </p:nvSpPr>
        <p:spPr>
          <a:xfrm>
            <a:off x="9751162"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23" name="Text 21"/>
          <p:cNvSpPr txBox="1"/>
          <p:nvPr/>
        </p:nvSpPr>
        <p:spPr>
          <a:xfrm>
            <a:off x="9751162"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As of Sep 29, 2026</a:t>
            </a:r>
            <a:endParaRPr lang="en-US" sz="1050" dirty="0"/>
          </a:p>
        </p:txBody>
      </p:sp>
      <p:sp>
        <p:nvSpPr>
          <p:cNvPr id="24" name="Text 22"/>
          <p:cNvSpPr txBox="1"/>
          <p:nvPr/>
        </p:nvSpPr>
        <p:spPr>
          <a:xfrm>
            <a:off x="548640" y="2907792"/>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5" name="Shape 23"/>
          <p:cNvSpPr/>
          <p:nvPr/>
        </p:nvSpPr>
        <p:spPr>
          <a:xfrm>
            <a:off x="548640" y="3429000"/>
            <a:ext cx="420624" cy="420624"/>
          </a:xfrm>
          <a:prstGeom prst="ellipse">
            <a:avLst/>
          </a:prstGeom>
          <a:solidFill>
            <a:srgbClr val="EDE9FE"/>
          </a:solidFill>
          <a:ln w="12700">
            <a:solidFill>
              <a:srgbClr val="EDE9FE"/>
            </a:solidFill>
            <a:prstDash val="solid"/>
          </a:ln>
        </p:spPr>
      </p:sp>
      <p:pic>
        <p:nvPicPr>
          <p:cNvPr id="26" name="Image 0" descr="preencoded.png">    </p:cNvPr>
          <p:cNvPicPr>
            <a:picLocks noChangeAspect="1"/>
          </p:cNvPicPr>
          <p:nvPr/>
        </p:nvPicPr>
        <p:blipFill>
          <a:blip r:embed="rId1"/>
          <a:stretch>
            <a:fillRect/>
          </a:stretch>
        </p:blipFill>
        <p:spPr>
          <a:xfrm>
            <a:off x="653796" y="3534156"/>
            <a:ext cx="210312" cy="210312"/>
          </a:xfrm>
          <a:prstGeom prst="rect">
            <a:avLst/>
          </a:prstGeom>
        </p:spPr>
      </p:pic>
      <p:sp>
        <p:nvSpPr>
          <p:cNvPr id="27" name="Text 24"/>
          <p:cNvSpPr txBox="1"/>
          <p:nvPr/>
        </p:nvSpPr>
        <p:spPr>
          <a:xfrm>
            <a:off x="1170432" y="3364992"/>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400" dirty="0"/>
          </a:p>
        </p:txBody>
      </p:sp>
      <p:sp>
        <p:nvSpPr>
          <p:cNvPr id="28" name="Shape 25"/>
          <p:cNvSpPr/>
          <p:nvPr/>
        </p:nvSpPr>
        <p:spPr>
          <a:xfrm>
            <a:off x="548640" y="4032504"/>
            <a:ext cx="420624" cy="420624"/>
          </a:xfrm>
          <a:prstGeom prst="ellipse">
            <a:avLst/>
          </a:prstGeom>
          <a:solidFill>
            <a:srgbClr val="EDE9FE"/>
          </a:solidFill>
          <a:ln w="12700">
            <a:solidFill>
              <a:srgbClr val="EDE9FE"/>
            </a:solidFill>
            <a:prstDash val="solid"/>
          </a:ln>
        </p:spPr>
      </p:sp>
      <p:pic>
        <p:nvPicPr>
          <p:cNvPr id="29" name="Image 1" descr="preencoded.png">    </p:cNvPr>
          <p:cNvPicPr>
            <a:picLocks noChangeAspect="1"/>
          </p:cNvPicPr>
          <p:nvPr/>
        </p:nvPicPr>
        <p:blipFill>
          <a:blip r:embed="rId2"/>
          <a:stretch>
            <a:fillRect/>
          </a:stretch>
        </p:blipFill>
        <p:spPr>
          <a:xfrm>
            <a:off x="653796" y="4137660"/>
            <a:ext cx="210312" cy="210312"/>
          </a:xfrm>
          <a:prstGeom prst="rect">
            <a:avLst/>
          </a:prstGeom>
        </p:spPr>
      </p:pic>
      <p:sp>
        <p:nvSpPr>
          <p:cNvPr id="30" name="Text 26"/>
          <p:cNvSpPr txBox="1"/>
          <p:nvPr/>
        </p:nvSpPr>
        <p:spPr>
          <a:xfrm>
            <a:off x="1170432" y="3968496"/>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400" dirty="0"/>
          </a:p>
        </p:txBody>
      </p:sp>
      <p:sp>
        <p:nvSpPr>
          <p:cNvPr id="31" name="Shape 27"/>
          <p:cNvSpPr/>
          <p:nvPr/>
        </p:nvSpPr>
        <p:spPr>
          <a:xfrm>
            <a:off x="548640" y="4636008"/>
            <a:ext cx="420624" cy="420624"/>
          </a:xfrm>
          <a:prstGeom prst="ellipse">
            <a:avLst/>
          </a:prstGeom>
          <a:solidFill>
            <a:srgbClr val="EDE9FE"/>
          </a:solidFill>
          <a:ln w="12700">
            <a:solidFill>
              <a:srgbClr val="EDE9FE"/>
            </a:solidFill>
            <a:prstDash val="solid"/>
          </a:ln>
        </p:spPr>
      </p:sp>
      <p:pic>
        <p:nvPicPr>
          <p:cNvPr id="32" name="Image 2" descr="preencoded.png">    </p:cNvPr>
          <p:cNvPicPr>
            <a:picLocks noChangeAspect="1"/>
          </p:cNvPicPr>
          <p:nvPr/>
        </p:nvPicPr>
        <p:blipFill>
          <a:blip r:embed="rId3"/>
          <a:stretch>
            <a:fillRect/>
          </a:stretch>
        </p:blipFill>
        <p:spPr>
          <a:xfrm>
            <a:off x="653796" y="4741164"/>
            <a:ext cx="210312" cy="210312"/>
          </a:xfrm>
          <a:prstGeom prst="rect">
            <a:avLst/>
          </a:prstGeom>
        </p:spPr>
      </p:pic>
      <p:sp>
        <p:nvSpPr>
          <p:cNvPr id="33" name="Text 28"/>
          <p:cNvSpPr txBox="1"/>
          <p:nvPr/>
        </p:nvSpPr>
        <p:spPr>
          <a:xfrm>
            <a:off x="1170432" y="4572000"/>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400" dirty="0"/>
          </a:p>
        </p:txBody>
      </p:sp>
      <p:sp>
        <p:nvSpPr>
          <p:cNvPr id="34" name="Shape 29"/>
          <p:cNvSpPr/>
          <p:nvPr/>
        </p:nvSpPr>
        <p:spPr>
          <a:xfrm>
            <a:off x="548640" y="5239512"/>
            <a:ext cx="420624" cy="420624"/>
          </a:xfrm>
          <a:prstGeom prst="ellipse">
            <a:avLst/>
          </a:prstGeom>
          <a:solidFill>
            <a:srgbClr val="EDE9FE"/>
          </a:solidFill>
          <a:ln w="12700">
            <a:solidFill>
              <a:srgbClr val="EDE9FE"/>
            </a:solidFill>
            <a:prstDash val="solid"/>
          </a:ln>
        </p:spPr>
      </p:sp>
      <p:pic>
        <p:nvPicPr>
          <p:cNvPr id="35" name="Image 3" descr="preencoded.png">    </p:cNvPr>
          <p:cNvPicPr>
            <a:picLocks noChangeAspect="1"/>
          </p:cNvPicPr>
          <p:nvPr/>
        </p:nvPicPr>
        <p:blipFill>
          <a:blip r:embed="rId4"/>
          <a:stretch>
            <a:fillRect/>
          </a:stretch>
        </p:blipFill>
        <p:spPr>
          <a:xfrm>
            <a:off x="653796" y="5344668"/>
            <a:ext cx="210312" cy="210312"/>
          </a:xfrm>
          <a:prstGeom prst="rect">
            <a:avLst/>
          </a:prstGeom>
        </p:spPr>
      </p:pic>
      <p:sp>
        <p:nvSpPr>
          <p:cNvPr id="36" name="Text 30"/>
          <p:cNvSpPr txBox="1"/>
          <p:nvPr/>
        </p:nvSpPr>
        <p:spPr>
          <a:xfrm>
            <a:off x="1170432" y="5175504"/>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400" dirty="0"/>
          </a:p>
        </p:txBody>
      </p:sp>
      <p:sp>
        <p:nvSpPr>
          <p:cNvPr id="37" name="Shape 31"/>
          <p:cNvSpPr/>
          <p:nvPr/>
        </p:nvSpPr>
        <p:spPr>
          <a:xfrm>
            <a:off x="548640" y="5843016"/>
            <a:ext cx="420624" cy="420624"/>
          </a:xfrm>
          <a:prstGeom prst="ellipse">
            <a:avLst/>
          </a:prstGeom>
          <a:solidFill>
            <a:srgbClr val="EDE9FE"/>
          </a:solidFill>
          <a:ln w="12700">
            <a:solidFill>
              <a:srgbClr val="EDE9FE"/>
            </a:solidFill>
            <a:prstDash val="solid"/>
          </a:ln>
        </p:spPr>
      </p:sp>
      <p:pic>
        <p:nvPicPr>
          <p:cNvPr id="38" name="Image 4" descr="preencoded.png">    </p:cNvPr>
          <p:cNvPicPr>
            <a:picLocks noChangeAspect="1"/>
          </p:cNvPicPr>
          <p:nvPr/>
        </p:nvPicPr>
        <p:blipFill>
          <a:blip r:embed="rId5"/>
          <a:stretch>
            <a:fillRect/>
          </a:stretch>
        </p:blipFill>
        <p:spPr>
          <a:xfrm>
            <a:off x="653796" y="5948172"/>
            <a:ext cx="210312" cy="210312"/>
          </a:xfrm>
          <a:prstGeom prst="rect">
            <a:avLst/>
          </a:prstGeom>
        </p:spPr>
      </p:pic>
      <p:sp>
        <p:nvSpPr>
          <p:cNvPr id="39" name="Text 32"/>
          <p:cNvSpPr txBox="1"/>
          <p:nvPr/>
        </p:nvSpPr>
        <p:spPr>
          <a:xfrm>
            <a:off x="1170432" y="5779008"/>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400" dirty="0"/>
          </a:p>
        </p:txBody>
      </p:sp>
      <p:sp>
        <p:nvSpPr>
          <p:cNvPr id="40"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1"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reporting &amp; site-specific initiatives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Incident reporting &amp; training</a:t>
            </a:r>
            <a:endParaRPr lang="en-US" sz="2000" dirty="0"/>
          </a:p>
        </p:txBody>
      </p:sp>
      <p:sp>
        <p:nvSpPr>
          <p:cNvPr id="8" name="Text 5"/>
          <p:cNvSpPr txBox="1"/>
          <p:nvPr/>
        </p:nvSpPr>
        <p:spPr>
          <a:xfrm>
            <a:off x="868680" y="2423160"/>
            <a:ext cx="4892040" cy="361188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Incidents reported promptly — supervisors and managers work directly with OHS on WSIB forms and a safe return to work.</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Detailed incident descriptions; root cause identified with OHS; corrective action plans implemented and follow-up prioritized so controls prevent recurrence.</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Monthly safety e-learning for managers and supervisors on topics tied to our operation.</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Forklift and TDG training completed before expiry.</a:t>
            </a:r>
            <a:endParaRPr lang="en-US" sz="14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Site-specific initiatives</a:t>
            </a:r>
            <a:endParaRPr lang="en-US" sz="2000" dirty="0"/>
          </a:p>
        </p:txBody>
      </p:sp>
      <p:sp>
        <p:nvSpPr>
          <p:cNvPr id="13" name="Shape 9"/>
          <p:cNvSpPr/>
          <p:nvPr/>
        </p:nvSpPr>
        <p:spPr>
          <a:xfrm>
            <a:off x="6611112" y="2450592"/>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450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23160"/>
            <a:ext cx="4206240" cy="16916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Roofing work over the dock: work areas identified and barricaded so no one enters zones under overhead work (falling-debris risk); N95 masks readily available on the dock to minimize airborne debris exposure.</a:t>
            </a:r>
            <a:endParaRPr lang="en-US" sz="1400" dirty="0"/>
          </a:p>
        </p:txBody>
      </p:sp>
      <p:sp>
        <p:nvSpPr>
          <p:cNvPr id="16" name="Shape 12"/>
          <p:cNvSpPr/>
          <p:nvPr/>
        </p:nvSpPr>
        <p:spPr>
          <a:xfrm>
            <a:off x="6611112" y="4233672"/>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4233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4206240"/>
            <a:ext cx="4206240" cy="7772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Safety moments after every incident to share the specific learning with the whole team.</a:t>
            </a:r>
            <a:endParaRPr lang="en-US" sz="1400" dirty="0"/>
          </a:p>
        </p:txBody>
      </p:sp>
      <p:sp>
        <p:nvSpPr>
          <p:cNvPr id="19" name="Shape 15"/>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0" name="Text 16"/>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1" name="Text 17"/>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2" name="Text 18"/>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19"/>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2103120"/>
          </a:xfrm>
          <a:prstGeom prst="roundRect">
            <a:avLst>
              <a:gd name="adj" fmla="val 347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48256"/>
            <a:ext cx="3310128" cy="1627632"/>
          </a:xfrm>
          <a:prstGeom prst="rect">
            <a:avLst/>
          </a:prstGeom>
          <a:noFill/>
          <a:ln/>
        </p:spPr>
        <p:txBody>
          <a:bodyPr wrap="square" lIns="0" tIns="0" rIns="0" bIns="0" rtlCol="0" anchor="t"/>
          <a:lstStyle/>
          <a:p>
            <a:pPr indent="0" marL="0">
              <a:spcAft>
                <a:spcPts val="600"/>
              </a:spcAft>
              <a:buNone/>
            </a:pPr>
            <a:r>
              <a:rPr lang="en-US" sz="11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Excluding false positives, missed PU % would be ≈2.6%.</a:t>
            </a:r>
            <a:endParaRPr lang="en-US" sz="11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3886200"/>
          <a:ext cx="3685032" cy="914400"/>
        </p:xfrm>
        <a:graphic>
          <a:graphicData uri="http://schemas.openxmlformats.org/drawingml/2006/table">
            <a:tbl>
              <a:tblPr/>
              <a:tblGrid>
                <a:gridCol w="2130552"/>
                <a:gridCol w="731520"/>
                <a:gridCol w="822960"/>
              </a:tblGrid>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Text 18"/>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 Mississauga, all dates through Sep 26, 2026. Sep 7 spike (85.7%) = Labour Day, low volume. *wk 39 partial.</a:t>
            </a:r>
            <a:endParaRPr lang="en-US" sz="950" dirty="0"/>
          </a:p>
        </p:txBody>
      </p:sp>
      <p:sp>
        <p:nvSpPr>
          <p:cNvPr id="24"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Target dock hours per shift</a:t>
            </a:r>
            <a:endParaRPr lang="en-US" sz="1600" dirty="0"/>
          </a:p>
        </p:txBody>
      </p:sp>
      <p:sp>
        <p:nvSpPr>
          <p:cNvPr id="26" name="Text 17"/>
          <p:cNvSpPr txBox="1"/>
          <p:nvPr/>
        </p:nvSpPr>
        <p:spPr>
          <a:xfrm>
            <a:off x="8001000" y="2286000"/>
            <a:ext cx="347472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Per day · aligned to P&amp;D activity</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743200"/>
          <a:ext cx="3429000" cy="914400"/>
        </p:xfrm>
        <a:graphic>
          <a:graphicData uri="http://schemas.openxmlformats.org/drawingml/2006/table">
            <a:tbl>
              <a:tblPr/>
              <a:tblGrid>
                <a:gridCol w="1417320"/>
                <a:gridCol w="1005840"/>
                <a:gridCol w="100584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Shift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Days</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Afternoon</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Midnight</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937760"/>
            <a:ext cx="3429000" cy="731520"/>
          </a:xfrm>
          <a:prstGeom prst="rect">
            <a:avLst/>
          </a:prstGeom>
          <a:noFill/>
          <a:ln/>
        </p:spPr>
        <p:txBody>
          <a:bodyPr wrap="square" lIns="0" tIns="0" rIns="0" bIns="0"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Dock hours reviewed against these bands in the weekly SCA meeting.</a:t>
            </a:r>
            <a:endParaRPr lang="en-US" sz="1200" dirty="0"/>
          </a:p>
        </p:txBody>
      </p:sp>
      <p:sp>
        <p:nvSpPr>
          <p:cNvPr id="29"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234440"/>
                <a:gridCol w="1325880"/>
                <a:gridCol w="1645920"/>
              </a:tblGrid>
              <a:tr h="41148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Dock labour — shift hours aligned to P&amp;D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Agency / contract labour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CICO hours saved (late / lunch / early-off)</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Accessorial billing recovery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Load factor &amp; trailer consolidation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Shunting optimization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Forklift rentals returned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Cargo claims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5806440"/>
            <a:ext cx="11091672"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F27 plan = full-year $; realized = Jul 1, 2026 to date. Cargo claims: Claims report — terminal T-0502 (Mississauga).</a:t>
            </a:r>
            <a:endParaRPr lang="en-US" sz="1000" dirty="0"/>
          </a:p>
        </p:txBody>
      </p:sp>
      <p:sp>
        <p:nvSpPr>
          <p:cNvPr id="6" name="Shape 3"/>
          <p:cNvSpPr/>
          <p:nvPr/>
        </p:nvSpPr>
        <p:spPr>
          <a:xfrm>
            <a:off x="9052560" y="1371600"/>
            <a:ext cx="2587752" cy="1005840"/>
          </a:xfrm>
          <a:prstGeom prst="roundRect">
            <a:avLst>
              <a:gd name="adj" fmla="val 7273"/>
            </a:avLst>
          </a:prstGeom>
          <a:solidFill>
            <a:srgbClr val="F5F3FF"/>
          </a:solidFill>
          <a:ln w="12700">
            <a:solidFill>
              <a:srgbClr val="F5F3FF"/>
            </a:solidFill>
            <a:prstDash val="solid"/>
          </a:ln>
        </p:spPr>
      </p:sp>
      <p:sp>
        <p:nvSpPr>
          <p:cNvPr id="7" name="Text 4"/>
          <p:cNvSpPr txBox="1"/>
          <p:nvPr/>
        </p:nvSpPr>
        <p:spPr>
          <a:xfrm>
            <a:off x="9217152" y="1463040"/>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8" name="Text 5"/>
          <p:cNvSpPr txBox="1"/>
          <p:nvPr/>
        </p:nvSpPr>
        <p:spPr>
          <a:xfrm>
            <a:off x="9217152" y="1700784"/>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9" name="Text 6"/>
          <p:cNvSpPr txBox="1"/>
          <p:nvPr/>
        </p:nvSpPr>
        <p:spPr>
          <a:xfrm>
            <a:off x="9217152" y="2103120"/>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10" name="Shape 7"/>
          <p:cNvSpPr/>
          <p:nvPr/>
        </p:nvSpPr>
        <p:spPr>
          <a:xfrm>
            <a:off x="9052560" y="2487168"/>
            <a:ext cx="2587752" cy="1005840"/>
          </a:xfrm>
          <a:prstGeom prst="roundRect">
            <a:avLst>
              <a:gd name="adj" fmla="val 7273"/>
            </a:avLst>
          </a:prstGeom>
          <a:solidFill>
            <a:srgbClr val="F3F4F6"/>
          </a:solidFill>
          <a:ln w="12700">
            <a:solidFill>
              <a:srgbClr val="F3F4F6"/>
            </a:solidFill>
            <a:prstDash val="solid"/>
          </a:ln>
        </p:spPr>
      </p:sp>
      <p:sp>
        <p:nvSpPr>
          <p:cNvPr id="11" name="Text 8"/>
          <p:cNvSpPr txBox="1"/>
          <p:nvPr/>
        </p:nvSpPr>
        <p:spPr>
          <a:xfrm>
            <a:off x="9217152" y="2578608"/>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(plan total)</a:t>
            </a:r>
            <a:endParaRPr lang="en-US" sz="1100" dirty="0"/>
          </a:p>
        </p:txBody>
      </p:sp>
      <p:sp>
        <p:nvSpPr>
          <p:cNvPr id="12" name="Text 9"/>
          <p:cNvSpPr txBox="1"/>
          <p:nvPr/>
        </p:nvSpPr>
        <p:spPr>
          <a:xfrm>
            <a:off x="9217152" y="2816352"/>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3" name="Text 10"/>
          <p:cNvSpPr txBox="1"/>
          <p:nvPr/>
        </p:nvSpPr>
        <p:spPr>
          <a:xfrm>
            <a:off x="9217152" y="3218688"/>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of target: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14" name="Shape 11"/>
          <p:cNvSpPr/>
          <p:nvPr/>
        </p:nvSpPr>
        <p:spPr>
          <a:xfrm>
            <a:off x="9052560" y="3602736"/>
            <a:ext cx="2587752" cy="1005840"/>
          </a:xfrm>
          <a:prstGeom prst="roundRect">
            <a:avLst>
              <a:gd name="adj" fmla="val 7273"/>
            </a:avLst>
          </a:prstGeom>
          <a:solidFill>
            <a:srgbClr val="F3F4F6"/>
          </a:solidFill>
          <a:ln w="12700">
            <a:solidFill>
              <a:srgbClr val="F3F4F6"/>
            </a:solidFill>
            <a:prstDash val="solid"/>
          </a:ln>
        </p:spPr>
      </p:sp>
      <p:sp>
        <p:nvSpPr>
          <p:cNvPr id="15" name="Text 12"/>
          <p:cNvSpPr txBox="1"/>
          <p:nvPr/>
        </p:nvSpPr>
        <p:spPr>
          <a:xfrm>
            <a:off x="9217152" y="3694176"/>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6" name="Text 13"/>
          <p:cNvSpPr txBox="1"/>
          <p:nvPr/>
        </p:nvSpPr>
        <p:spPr>
          <a:xfrm>
            <a:off x="9217152" y="3931920"/>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7" name="Text 14"/>
          <p:cNvSpPr txBox="1"/>
          <p:nvPr/>
        </p:nvSpPr>
        <p:spPr>
          <a:xfrm>
            <a:off x="9217152" y="4334256"/>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sp>
        <p:nvSpPr>
          <p:cNvPr id="18" name="Shape 15"/>
          <p:cNvSpPr/>
          <p:nvPr/>
        </p:nvSpPr>
        <p:spPr>
          <a:xfrm>
            <a:off x="9052560" y="4718304"/>
            <a:ext cx="2587752" cy="1005840"/>
          </a:xfrm>
          <a:prstGeom prst="roundRect">
            <a:avLst>
              <a:gd name="adj" fmla="val 7273"/>
            </a:avLst>
          </a:prstGeom>
          <a:solidFill>
            <a:srgbClr val="F3F4F6"/>
          </a:solidFill>
          <a:ln w="12700">
            <a:solidFill>
              <a:srgbClr val="F3F4F6"/>
            </a:solidFill>
            <a:prstDash val="solid"/>
          </a:ln>
        </p:spPr>
      </p:sp>
      <p:sp>
        <p:nvSpPr>
          <p:cNvPr id="19" name="Text 16"/>
          <p:cNvSpPr txBox="1"/>
          <p:nvPr/>
        </p:nvSpPr>
        <p:spPr>
          <a:xfrm>
            <a:off x="9217152" y="4809744"/>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Cargo claims · T-0502</a:t>
            </a:r>
            <a:endParaRPr lang="en-US" sz="1100" dirty="0"/>
          </a:p>
        </p:txBody>
      </p:sp>
      <p:sp>
        <p:nvSpPr>
          <p:cNvPr id="20" name="Text 17"/>
          <p:cNvSpPr txBox="1"/>
          <p:nvPr/>
        </p:nvSpPr>
        <p:spPr>
          <a:xfrm>
            <a:off x="9217152" y="5047488"/>
            <a:ext cx="2286000" cy="384048"/>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$13,432.53</a:t>
            </a:r>
            <a:endParaRPr lang="en-US" sz="2000" dirty="0"/>
          </a:p>
        </p:txBody>
      </p:sp>
      <p:sp>
        <p:nvSpPr>
          <p:cNvPr id="21" name="Text 18"/>
          <p:cNvSpPr txBox="1"/>
          <p:nvPr/>
        </p:nvSpPr>
        <p:spPr>
          <a:xfrm>
            <a:off x="9217152" y="5449824"/>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Period: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September</a:t>
            </a:r>
            <a:endParaRPr lang="en-US" sz="3000" dirty="0"/>
          </a:p>
        </p:txBody>
      </p:sp>
      <p:sp>
        <p:nvSpPr>
          <p:cNvPr id="4" name="Text 2"/>
          <p:cNvSpPr txBox="1"/>
          <p:nvPr/>
        </p:nvSpPr>
        <p:spPr>
          <a:xfrm>
            <a:off x="548640" y="1261872"/>
            <a:ext cx="10972800" cy="32004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Weekly LF score vs </a:t>
            </a:r>
            <a:pPr indent="0" marL="0">
              <a:buNone/>
            </a:pPr>
            <a:r>
              <a:rPr lang="en-US" sz="1500" b="1" dirty="0">
                <a:solidFill>
                  <a:srgbClr val="111827"/>
                </a:solidFill>
                <a:latin typeface="Calibri" pitchFamily="34" charset="0"/>
                <a:ea typeface="Calibri" pitchFamily="34" charset="-122"/>
                <a:cs typeface="Calibri" pitchFamily="34" charset="-120"/>
              </a:rPr>
              <a:t>80%</a:t>
            </a:r>
            <a:pPr indent="0" marL="0">
              <a:buNone/>
            </a:pPr>
            <a:r>
              <a:rPr lang="en-US" sz="1500" dirty="0">
                <a:solidFill>
                  <a:srgbClr val="6B7280"/>
                </a:solidFill>
                <a:latin typeface="Calibri" pitchFamily="34" charset="0"/>
                <a:ea typeface="Calibri" pitchFamily="34" charset="-122"/>
                <a:cs typeface="Calibri" pitchFamily="34" charset="-120"/>
              </a:rPr>
              <a:t> target  ·  load % vs </a:t>
            </a:r>
            <a:pPr indent="0" marL="0">
              <a:buNone/>
            </a:pPr>
            <a:r>
              <a:rPr lang="en-US" sz="1500" b="1" dirty="0">
                <a:solidFill>
                  <a:srgbClr val="111827"/>
                </a:solidFill>
                <a:latin typeface="Calibri" pitchFamily="34" charset="0"/>
                <a:ea typeface="Calibri" pitchFamily="34" charset="-122"/>
                <a:cs typeface="Calibri" pitchFamily="34" charset="-120"/>
              </a:rPr>
              <a:t>98%</a:t>
            </a:r>
            <a:pPr indent="0" marL="0">
              <a:buNone/>
            </a:pPr>
            <a:r>
              <a:rPr lang="en-US" sz="1500" dirty="0">
                <a:solidFill>
                  <a:srgbClr val="6B7280"/>
                </a:solidFill>
                <a:latin typeface="Calibri" pitchFamily="34" charset="0"/>
                <a:ea typeface="Calibri" pitchFamily="34" charset="-122"/>
                <a:cs typeface="Calibri" pitchFamily="34" charset="-120"/>
              </a:rPr>
              <a:t> target</a:t>
            </a:r>
            <a:endParaRPr lang="en-US" sz="1500" dirty="0"/>
          </a:p>
        </p:txBody>
      </p:sp>
      <p:sp>
        <p:nvSpPr>
          <p:cNvPr id="5" name="Shape 3"/>
          <p:cNvSpPr/>
          <p:nvPr/>
        </p:nvSpPr>
        <p:spPr>
          <a:xfrm>
            <a:off x="548640" y="1783080"/>
            <a:ext cx="2567178" cy="3291840"/>
          </a:xfrm>
          <a:prstGeom prst="roundRect">
            <a:avLst>
              <a:gd name="adj" fmla="val 2850"/>
            </a:avLst>
          </a:prstGeom>
          <a:solidFill>
            <a:srgbClr val="F3F4F6"/>
          </a:solidFill>
          <a:ln w="12700">
            <a:solidFill>
              <a:srgbClr val="F3F4F6"/>
            </a:solidFill>
            <a:prstDash val="solid"/>
          </a:ln>
        </p:spPr>
      </p:sp>
      <p:sp>
        <p:nvSpPr>
          <p:cNvPr id="6" name="Shape 4"/>
          <p:cNvSpPr/>
          <p:nvPr/>
        </p:nvSpPr>
        <p:spPr>
          <a:xfrm>
            <a:off x="777240" y="2011680"/>
            <a:ext cx="457200" cy="457200"/>
          </a:xfrm>
          <a:prstGeom prst="ellipse">
            <a:avLst/>
          </a:prstGeom>
          <a:solidFill>
            <a:srgbClr val="7C3AED"/>
          </a:solidFill>
          <a:ln w="12700">
            <a:solidFill>
              <a:srgbClr val="7C3AED"/>
            </a:solidFill>
            <a:prstDash val="solid"/>
          </a:ln>
        </p:spPr>
      </p:sp>
      <p:sp>
        <p:nvSpPr>
          <p:cNvPr id="7"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71600"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1–5</a:t>
            </a:r>
            <a:endParaRPr lang="en-US" sz="1600" dirty="0"/>
          </a:p>
        </p:txBody>
      </p:sp>
      <p:sp>
        <p:nvSpPr>
          <p:cNvPr id="9" name="Text 7"/>
          <p:cNvSpPr txBox="1"/>
          <p:nvPr/>
        </p:nvSpPr>
        <p:spPr>
          <a:xfrm>
            <a:off x="777240"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10" name="Text 8"/>
          <p:cNvSpPr txBox="1"/>
          <p:nvPr/>
        </p:nvSpPr>
        <p:spPr>
          <a:xfrm>
            <a:off x="777240"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1" name="Text 9"/>
          <p:cNvSpPr txBox="1"/>
          <p:nvPr/>
        </p:nvSpPr>
        <p:spPr>
          <a:xfrm>
            <a:off x="777240"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12" name="Text 10"/>
          <p:cNvSpPr txBox="1"/>
          <p:nvPr/>
        </p:nvSpPr>
        <p:spPr>
          <a:xfrm>
            <a:off x="777240"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13" name="Text 11"/>
          <p:cNvSpPr txBox="1"/>
          <p:nvPr/>
        </p:nvSpPr>
        <p:spPr>
          <a:xfrm>
            <a:off x="777240"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Text 12"/>
          <p:cNvSpPr txBox="1"/>
          <p:nvPr/>
        </p:nvSpPr>
        <p:spPr>
          <a:xfrm>
            <a:off x="777240"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15" name="Shape 13"/>
          <p:cNvSpPr/>
          <p:nvPr/>
        </p:nvSpPr>
        <p:spPr>
          <a:xfrm>
            <a:off x="3390138" y="1783080"/>
            <a:ext cx="2567178" cy="3291840"/>
          </a:xfrm>
          <a:prstGeom prst="roundRect">
            <a:avLst>
              <a:gd name="adj" fmla="val 2850"/>
            </a:avLst>
          </a:prstGeom>
          <a:solidFill>
            <a:srgbClr val="F3F4F6"/>
          </a:solidFill>
          <a:ln w="12700">
            <a:solidFill>
              <a:srgbClr val="F3F4F6"/>
            </a:solidFill>
            <a:prstDash val="solid"/>
          </a:ln>
        </p:spPr>
      </p:sp>
      <p:sp>
        <p:nvSpPr>
          <p:cNvPr id="16" name="Shape 14"/>
          <p:cNvSpPr/>
          <p:nvPr/>
        </p:nvSpPr>
        <p:spPr>
          <a:xfrm>
            <a:off x="3618738" y="2011680"/>
            <a:ext cx="457200" cy="457200"/>
          </a:xfrm>
          <a:prstGeom prst="ellipse">
            <a:avLst/>
          </a:prstGeom>
          <a:solidFill>
            <a:srgbClr val="7C3AED"/>
          </a:solidFill>
          <a:ln w="12700">
            <a:solidFill>
              <a:srgbClr val="7C3AED"/>
            </a:solidFill>
            <a:prstDash val="solid"/>
          </a:ln>
        </p:spPr>
      </p:sp>
      <p:sp>
        <p:nvSpPr>
          <p:cNvPr id="17" name="Text 15"/>
          <p:cNvSpPr txBox="1"/>
          <p:nvPr/>
        </p:nvSpPr>
        <p:spPr>
          <a:xfrm>
            <a:off x="3618738"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4213098"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6–12</a:t>
            </a:r>
            <a:endParaRPr lang="en-US" sz="1600" dirty="0"/>
          </a:p>
        </p:txBody>
      </p:sp>
      <p:sp>
        <p:nvSpPr>
          <p:cNvPr id="19" name="Text 17"/>
          <p:cNvSpPr txBox="1"/>
          <p:nvPr/>
        </p:nvSpPr>
        <p:spPr>
          <a:xfrm>
            <a:off x="3618738"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20" name="Text 18"/>
          <p:cNvSpPr txBox="1"/>
          <p:nvPr/>
        </p:nvSpPr>
        <p:spPr>
          <a:xfrm>
            <a:off x="3618738"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1" name="Text 19"/>
          <p:cNvSpPr txBox="1"/>
          <p:nvPr/>
        </p:nvSpPr>
        <p:spPr>
          <a:xfrm>
            <a:off x="3618738"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22" name="Text 20"/>
          <p:cNvSpPr txBox="1"/>
          <p:nvPr/>
        </p:nvSpPr>
        <p:spPr>
          <a:xfrm>
            <a:off x="3618738"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23" name="Text 21"/>
          <p:cNvSpPr txBox="1"/>
          <p:nvPr/>
        </p:nvSpPr>
        <p:spPr>
          <a:xfrm>
            <a:off x="3618738"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4" name="Text 22"/>
          <p:cNvSpPr txBox="1"/>
          <p:nvPr/>
        </p:nvSpPr>
        <p:spPr>
          <a:xfrm>
            <a:off x="3618738"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25" name="Shape 23"/>
          <p:cNvSpPr/>
          <p:nvPr/>
        </p:nvSpPr>
        <p:spPr>
          <a:xfrm>
            <a:off x="6231636" y="1783080"/>
            <a:ext cx="2567178" cy="3291840"/>
          </a:xfrm>
          <a:prstGeom prst="roundRect">
            <a:avLst>
              <a:gd name="adj" fmla="val 2850"/>
            </a:avLst>
          </a:prstGeom>
          <a:solidFill>
            <a:srgbClr val="F3F4F6"/>
          </a:solidFill>
          <a:ln w="12700">
            <a:solidFill>
              <a:srgbClr val="F3F4F6"/>
            </a:solidFill>
            <a:prstDash val="solid"/>
          </a:ln>
        </p:spPr>
      </p:sp>
      <p:sp>
        <p:nvSpPr>
          <p:cNvPr id="26" name="Shape 24"/>
          <p:cNvSpPr/>
          <p:nvPr/>
        </p:nvSpPr>
        <p:spPr>
          <a:xfrm>
            <a:off x="6460236" y="2011680"/>
            <a:ext cx="457200" cy="457200"/>
          </a:xfrm>
          <a:prstGeom prst="ellipse">
            <a:avLst/>
          </a:prstGeom>
          <a:solidFill>
            <a:srgbClr val="7C3AED"/>
          </a:solidFill>
          <a:ln w="12700">
            <a:solidFill>
              <a:srgbClr val="7C3AED"/>
            </a:solidFill>
            <a:prstDash val="solid"/>
          </a:ln>
        </p:spPr>
      </p:sp>
      <p:sp>
        <p:nvSpPr>
          <p:cNvPr id="27" name="Text 25"/>
          <p:cNvSpPr txBox="1"/>
          <p:nvPr/>
        </p:nvSpPr>
        <p:spPr>
          <a:xfrm>
            <a:off x="6460236"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7054596"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13–19</a:t>
            </a:r>
            <a:endParaRPr lang="en-US" sz="1600" dirty="0"/>
          </a:p>
        </p:txBody>
      </p:sp>
      <p:sp>
        <p:nvSpPr>
          <p:cNvPr id="29" name="Text 27"/>
          <p:cNvSpPr txBox="1"/>
          <p:nvPr/>
        </p:nvSpPr>
        <p:spPr>
          <a:xfrm>
            <a:off x="6460236"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30" name="Text 28"/>
          <p:cNvSpPr txBox="1"/>
          <p:nvPr/>
        </p:nvSpPr>
        <p:spPr>
          <a:xfrm>
            <a:off x="6460236"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1" name="Text 29"/>
          <p:cNvSpPr txBox="1"/>
          <p:nvPr/>
        </p:nvSpPr>
        <p:spPr>
          <a:xfrm>
            <a:off x="6460236"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32" name="Text 30"/>
          <p:cNvSpPr txBox="1"/>
          <p:nvPr/>
        </p:nvSpPr>
        <p:spPr>
          <a:xfrm>
            <a:off x="6460236"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33" name="Text 31"/>
          <p:cNvSpPr txBox="1"/>
          <p:nvPr/>
        </p:nvSpPr>
        <p:spPr>
          <a:xfrm>
            <a:off x="6460236"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4" name="Text 32"/>
          <p:cNvSpPr txBox="1"/>
          <p:nvPr/>
        </p:nvSpPr>
        <p:spPr>
          <a:xfrm>
            <a:off x="6460236"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35" name="Shape 33"/>
          <p:cNvSpPr/>
          <p:nvPr/>
        </p:nvSpPr>
        <p:spPr>
          <a:xfrm>
            <a:off x="9073134" y="1783080"/>
            <a:ext cx="2567178" cy="3291840"/>
          </a:xfrm>
          <a:prstGeom prst="roundRect">
            <a:avLst>
              <a:gd name="adj" fmla="val 2850"/>
            </a:avLst>
          </a:prstGeom>
          <a:solidFill>
            <a:srgbClr val="F3F4F6"/>
          </a:solidFill>
          <a:ln w="12700">
            <a:solidFill>
              <a:srgbClr val="F3F4F6"/>
            </a:solidFill>
            <a:prstDash val="solid"/>
          </a:ln>
        </p:spPr>
      </p:sp>
      <p:sp>
        <p:nvSpPr>
          <p:cNvPr id="36" name="Shape 34"/>
          <p:cNvSpPr/>
          <p:nvPr/>
        </p:nvSpPr>
        <p:spPr>
          <a:xfrm>
            <a:off x="9301734" y="2011680"/>
            <a:ext cx="457200" cy="457200"/>
          </a:xfrm>
          <a:prstGeom prst="ellipse">
            <a:avLst/>
          </a:prstGeom>
          <a:solidFill>
            <a:srgbClr val="7C3AED"/>
          </a:solidFill>
          <a:ln w="12700">
            <a:solidFill>
              <a:srgbClr val="7C3AED"/>
            </a:solidFill>
            <a:prstDash val="solid"/>
          </a:ln>
        </p:spPr>
      </p:sp>
      <p:sp>
        <p:nvSpPr>
          <p:cNvPr id="37" name="Text 35"/>
          <p:cNvSpPr txBox="1"/>
          <p:nvPr/>
        </p:nvSpPr>
        <p:spPr>
          <a:xfrm>
            <a:off x="9301734"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8" name="Text 36"/>
          <p:cNvSpPr txBox="1"/>
          <p:nvPr/>
        </p:nvSpPr>
        <p:spPr>
          <a:xfrm>
            <a:off x="9896094"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20–26</a:t>
            </a:r>
            <a:endParaRPr lang="en-US" sz="1600" dirty="0"/>
          </a:p>
        </p:txBody>
      </p:sp>
      <p:sp>
        <p:nvSpPr>
          <p:cNvPr id="39" name="Text 37"/>
          <p:cNvSpPr txBox="1"/>
          <p:nvPr/>
        </p:nvSpPr>
        <p:spPr>
          <a:xfrm>
            <a:off x="9301734"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40" name="Text 38"/>
          <p:cNvSpPr txBox="1"/>
          <p:nvPr/>
        </p:nvSpPr>
        <p:spPr>
          <a:xfrm>
            <a:off x="9301734"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1" name="Text 39"/>
          <p:cNvSpPr txBox="1"/>
          <p:nvPr/>
        </p:nvSpPr>
        <p:spPr>
          <a:xfrm>
            <a:off x="9301734"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42" name="Text 40"/>
          <p:cNvSpPr txBox="1"/>
          <p:nvPr/>
        </p:nvSpPr>
        <p:spPr>
          <a:xfrm>
            <a:off x="9301734"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43" name="Text 41"/>
          <p:cNvSpPr txBox="1"/>
          <p:nvPr/>
        </p:nvSpPr>
        <p:spPr>
          <a:xfrm>
            <a:off x="9301734"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4" name="Text 42"/>
          <p:cNvSpPr txBox="1"/>
          <p:nvPr/>
        </p:nvSpPr>
        <p:spPr>
          <a:xfrm>
            <a:off x="9301734"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45" name="Shape 43"/>
          <p:cNvSpPr/>
          <p:nvPr/>
        </p:nvSpPr>
        <p:spPr>
          <a:xfrm>
            <a:off x="548640" y="5303520"/>
            <a:ext cx="11091672" cy="868680"/>
          </a:xfrm>
          <a:prstGeom prst="roundRect">
            <a:avLst>
              <a:gd name="adj" fmla="val 8421"/>
            </a:avLst>
          </a:prstGeom>
          <a:solidFill>
            <a:srgbClr val="F5F3FF"/>
          </a:solidFill>
          <a:ln w="12700">
            <a:solidFill>
              <a:srgbClr val="F5F3FF"/>
            </a:solidFill>
            <a:prstDash val="solid"/>
          </a:ln>
        </p:spPr>
      </p:sp>
      <p:sp>
        <p:nvSpPr>
          <p:cNvPr id="46" name="Shape 44"/>
          <p:cNvSpPr/>
          <p:nvPr/>
        </p:nvSpPr>
        <p:spPr>
          <a:xfrm>
            <a:off x="777240" y="5477256"/>
            <a:ext cx="512064" cy="512064"/>
          </a:xfrm>
          <a:prstGeom prst="ellipse">
            <a:avLst/>
          </a:prstGeom>
          <a:solidFill>
            <a:srgbClr val="7C3AED"/>
          </a:solidFill>
          <a:ln w="12700">
            <a:solidFill>
              <a:srgbClr val="7C3AED"/>
            </a:solidFill>
            <a:prstDash val="solid"/>
          </a:ln>
        </p:spPr>
      </p:sp>
      <p:pic>
        <p:nvPicPr>
          <p:cNvPr id="47" name="Image 0" descr="preencoded.png">    </p:cNvPr>
          <p:cNvPicPr>
            <a:picLocks noChangeAspect="1"/>
          </p:cNvPicPr>
          <p:nvPr/>
        </p:nvPicPr>
        <p:blipFill>
          <a:blip r:embed="rId1"/>
          <a:stretch>
            <a:fillRect/>
          </a:stretch>
        </p:blipFill>
        <p:spPr>
          <a:xfrm>
            <a:off x="905256" y="5605272"/>
            <a:ext cx="256032" cy="256032"/>
          </a:xfrm>
          <a:prstGeom prst="rect">
            <a:avLst/>
          </a:prstGeom>
        </p:spPr>
      </p:pic>
      <p:sp>
        <p:nvSpPr>
          <p:cNvPr id="48" name="Text 45"/>
          <p:cNvSpPr txBox="1"/>
          <p:nvPr/>
        </p:nvSpPr>
        <p:spPr>
          <a:xfrm>
            <a:off x="1508760" y="5303520"/>
            <a:ext cx="9966960" cy="86868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Load factor &amp; trailer consolidation  ·  </a:t>
            </a:r>
            <a:pPr indent="0" marL="0">
              <a:buNone/>
            </a:pPr>
            <a:r>
              <a:rPr lang="en-US" sz="1500" dirty="0">
                <a:solidFill>
                  <a:srgbClr val="1F2937"/>
                </a:solidFill>
                <a:latin typeface="Calibri" pitchFamily="34" charset="0"/>
                <a:ea typeface="Calibri" pitchFamily="34" charset="-122"/>
                <a:cs typeface="Calibri" pitchFamily="34" charset="-120"/>
              </a:rPr>
              <a:t>Consolidating large-customer freight into fewer trailers.</a:t>
            </a:r>
            <a:endParaRPr lang="en-US" sz="1500" dirty="0"/>
          </a:p>
        </p:txBody>
      </p:sp>
      <p:sp>
        <p:nvSpPr>
          <p:cNvPr id="49" name="Text 4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0" name="Text 4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Status of the physical terminal</a:t>
            </a:r>
            <a:endParaRPr lang="en-US" sz="3000" dirty="0"/>
          </a:p>
        </p:txBody>
      </p:sp>
      <p:sp>
        <p:nvSpPr>
          <p:cNvPr id="4" name="Shape 2"/>
          <p:cNvSpPr/>
          <p:nvPr/>
        </p:nvSpPr>
        <p:spPr>
          <a:xfrm>
            <a:off x="548640" y="1371600"/>
            <a:ext cx="3514344" cy="1234440"/>
          </a:xfrm>
          <a:prstGeom prst="roundRect">
            <a:avLst>
              <a:gd name="adj" fmla="val 5926"/>
            </a:avLst>
          </a:prstGeom>
          <a:solidFill>
            <a:srgbClr val="F3F4F6"/>
          </a:solidFill>
          <a:ln w="12700">
            <a:solidFill>
              <a:srgbClr val="F3F4F6"/>
            </a:solidFill>
            <a:prstDash val="solid"/>
          </a:ln>
        </p:spPr>
      </p:sp>
      <p:sp>
        <p:nvSpPr>
          <p:cNvPr id="5" name="Shape 3"/>
          <p:cNvSpPr/>
          <p:nvPr/>
        </p:nvSpPr>
        <p:spPr>
          <a:xfrm>
            <a:off x="777240" y="1709928"/>
            <a:ext cx="566928" cy="566928"/>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18972" y="1851660"/>
            <a:ext cx="283464" cy="283464"/>
          </a:xfrm>
          <a:prstGeom prst="rect">
            <a:avLst/>
          </a:prstGeom>
        </p:spPr>
      </p:pic>
      <p:sp>
        <p:nvSpPr>
          <p:cNvPr id="7" name="Text 4"/>
          <p:cNvSpPr txBox="1"/>
          <p:nvPr/>
        </p:nvSpPr>
        <p:spPr>
          <a:xfrm>
            <a:off x="1554480"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Total dock doors</a:t>
            </a:r>
            <a:endParaRPr lang="en-US" sz="1200" dirty="0"/>
          </a:p>
        </p:txBody>
      </p:sp>
      <p:sp>
        <p:nvSpPr>
          <p:cNvPr id="8" name="Text 5"/>
          <p:cNvSpPr txBox="1"/>
          <p:nvPr/>
        </p:nvSpPr>
        <p:spPr>
          <a:xfrm>
            <a:off x="1554480"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9" name="Shape 6"/>
          <p:cNvSpPr/>
          <p:nvPr/>
        </p:nvSpPr>
        <p:spPr>
          <a:xfrm>
            <a:off x="4337304" y="1371600"/>
            <a:ext cx="3514344" cy="1234440"/>
          </a:xfrm>
          <a:prstGeom prst="roundRect">
            <a:avLst>
              <a:gd name="adj" fmla="val 5926"/>
            </a:avLst>
          </a:prstGeom>
          <a:solidFill>
            <a:srgbClr val="F3F4F6"/>
          </a:solidFill>
          <a:ln w="12700">
            <a:solidFill>
              <a:srgbClr val="F3F4F6"/>
            </a:solidFill>
            <a:prstDash val="solid"/>
          </a:ln>
        </p:spPr>
      </p:sp>
      <p:sp>
        <p:nvSpPr>
          <p:cNvPr id="10" name="Shape 7"/>
          <p:cNvSpPr/>
          <p:nvPr/>
        </p:nvSpPr>
        <p:spPr>
          <a:xfrm>
            <a:off x="4565904" y="1709928"/>
            <a:ext cx="566928" cy="566928"/>
          </a:xfrm>
          <a:prstGeom prst="ellipse">
            <a:avLst/>
          </a:prstGeom>
          <a:solidFill>
            <a:srgbClr val="EDE9FE"/>
          </a:solidFill>
          <a:ln w="12700">
            <a:solidFill>
              <a:srgbClr val="EDE9FE"/>
            </a:solidFill>
            <a:prstDash val="solid"/>
          </a:ln>
        </p:spPr>
      </p:sp>
      <p:pic>
        <p:nvPicPr>
          <p:cNvPr id="11" name="Image 1" descr="preencoded.png">    </p:cNvPr>
          <p:cNvPicPr>
            <a:picLocks noChangeAspect="1"/>
          </p:cNvPicPr>
          <p:nvPr/>
        </p:nvPicPr>
        <p:blipFill>
          <a:blip r:embed="rId2"/>
          <a:stretch>
            <a:fillRect/>
          </a:stretch>
        </p:blipFill>
        <p:spPr>
          <a:xfrm>
            <a:off x="4707636" y="1851660"/>
            <a:ext cx="283464" cy="283464"/>
          </a:xfrm>
          <a:prstGeom prst="rect">
            <a:avLst/>
          </a:prstGeom>
        </p:spPr>
      </p:pic>
      <p:sp>
        <p:nvSpPr>
          <p:cNvPr id="12" name="Text 8"/>
          <p:cNvSpPr txBox="1"/>
          <p:nvPr/>
        </p:nvSpPr>
        <p:spPr>
          <a:xfrm>
            <a:off x="5343144"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out of service</a:t>
            </a:r>
            <a:endParaRPr lang="en-US" sz="1200" dirty="0"/>
          </a:p>
        </p:txBody>
      </p:sp>
      <p:sp>
        <p:nvSpPr>
          <p:cNvPr id="13" name="Text 9"/>
          <p:cNvSpPr txBox="1"/>
          <p:nvPr/>
        </p:nvSpPr>
        <p:spPr>
          <a:xfrm>
            <a:off x="5343144"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Shape 10"/>
          <p:cNvSpPr/>
          <p:nvPr/>
        </p:nvSpPr>
        <p:spPr>
          <a:xfrm>
            <a:off x="8125968" y="1371600"/>
            <a:ext cx="3514344" cy="1234440"/>
          </a:xfrm>
          <a:prstGeom prst="roundRect">
            <a:avLst>
              <a:gd name="adj" fmla="val 5926"/>
            </a:avLst>
          </a:prstGeom>
          <a:solidFill>
            <a:srgbClr val="F3F4F6"/>
          </a:solidFill>
          <a:ln w="12700">
            <a:solidFill>
              <a:srgbClr val="F3F4F6"/>
            </a:solidFill>
            <a:prstDash val="solid"/>
          </a:ln>
        </p:spPr>
      </p:sp>
      <p:sp>
        <p:nvSpPr>
          <p:cNvPr id="15" name="Shape 11"/>
          <p:cNvSpPr/>
          <p:nvPr/>
        </p:nvSpPr>
        <p:spPr>
          <a:xfrm>
            <a:off x="8354568" y="1709928"/>
            <a:ext cx="566928" cy="566928"/>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8496300" y="1851660"/>
            <a:ext cx="283464" cy="283464"/>
          </a:xfrm>
          <a:prstGeom prst="rect">
            <a:avLst/>
          </a:prstGeom>
        </p:spPr>
      </p:pic>
      <p:sp>
        <p:nvSpPr>
          <p:cNvPr id="17" name="Text 12"/>
          <p:cNvSpPr txBox="1"/>
          <p:nvPr/>
        </p:nvSpPr>
        <p:spPr>
          <a:xfrm>
            <a:off x="9131808"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in service</a:t>
            </a:r>
            <a:endParaRPr lang="en-US" sz="1200" dirty="0"/>
          </a:p>
        </p:txBody>
      </p:sp>
      <p:sp>
        <p:nvSpPr>
          <p:cNvPr id="18" name="Text 13"/>
          <p:cNvSpPr txBox="1"/>
          <p:nvPr/>
        </p:nvSpPr>
        <p:spPr>
          <a:xfrm>
            <a:off x="9131808"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9" name="Text 14"/>
          <p:cNvSpPr txBox="1"/>
          <p:nvPr/>
        </p:nvSpPr>
        <p:spPr>
          <a:xfrm>
            <a:off x="548640" y="2880360"/>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Urgent repairs &amp; needs</a:t>
            </a:r>
            <a:endParaRPr lang="en-US" sz="1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1672" cy="914400"/>
        </p:xfrm>
        <a:graphic>
          <a:graphicData uri="http://schemas.openxmlformats.org/drawingml/2006/table">
            <a:tbl>
              <a:tblPr/>
              <a:tblGrid>
                <a:gridCol w="1463040"/>
                <a:gridCol w="5120640"/>
                <a:gridCol w="1737360"/>
                <a:gridCol w="2770632"/>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Est. cost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300" b="1" dirty="0">
                          <a:solidFill>
                            <a:srgbClr val="DC2626"/>
                          </a:solidFill>
                          <a:latin typeface="Calibri" pitchFamily="34" charset="0"/>
                          <a:ea typeface="Calibri" pitchFamily="34" charset="-122"/>
                          <a:cs typeface="Calibri" pitchFamily="34" charset="-120"/>
                        </a:rPr>
                        <a:t>Urgent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Planned</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Total estimated cost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423160"/>
            <a:ext cx="3291840" cy="34747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91.1% of SCA hour allowance — 391 hrs under (≈$13.1K).</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PRO $6.60 vs $6.85 target (96.3%, watch).</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unit −16.7%; units/hr +26.7%; OT 9 hrs.</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Focus: PPH 3,327 vs 4,258 goal (−21.9%).</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F27 take-out target: </a:t>
            </a:r>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 / 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2026-09-29T13:49:21Z</dcterms:created>
  <dcterms:modified xsi:type="dcterms:W3CDTF">2026-09-29T13:49:21Z</dcterms:modified>
</cp:coreProperties>
</file>