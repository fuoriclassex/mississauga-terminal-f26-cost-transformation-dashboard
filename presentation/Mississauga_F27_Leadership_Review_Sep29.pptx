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D&amp;R</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units per hour are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then a recap: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people-led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For the November and spring/summer e-commerce peaks we add 10 to 20 percent more temp staff on every shift, and the Safety team has agreed to be part of phasing them in: safe work practices, lifting technique, truck and trailer pull safety, forklift safety and seat belts, and the right to refuse unsafe work, with short check-ins such as whether they wear the seat belt getting on and off the forklift and what to do if there is a spill. People who feel cared for, care. If we prioritize safety, then service, productivity and cost all fall into place. The ideas list is where we go next, including near-miss reporting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people-led safety initiatives for F27. First, driver safety reps: our top safety-score drivers join the monthly safety meeting and speak for drivers — peers carry more weight than policy and drivers raise concerns with a peer they would not raise with a manager. Second, manager and supervisor route ride-alongs with a quarterly quota that ramps from 8 to 11 to 13, so leaders see road challenges first-hand. Third, peak onboarding with the Safety team, which Safety supports: for the November and spring/summer e-commerce peaks we add 10 to 20 percent more temp staff on every shift, and Safety will help phase them in — safe work practices, lifting technique, truck and trailer pull safety, forklift safety and the seat belt, and the right to refuse unsafe work — with short check-ins. People who feel cared for, care. If we prioritize safety, then service, productivity and cost all fall into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563 thousand dollars for the year — roughly 47 thousand dollars a month against the same months of F26. Labour is the engine: Admin agency labour is down about 25 percent and Dock labour about 4 percent, and every extra 1 percent we take out of labour is worth roughly 50 thousand dollars a year. The 61 thousand dollar dispatcher saving is confirmed, and the next levers — load securement, freight-handling equipment, accessorial capture and Toyota footage capture — are being sized and come on top. To be clear, these are estimates based on the current run-rate, not booked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Because the goal is weight-based, lighter freight holds PPH down even as units per hour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image" Target="../media/image-16-5.jp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mississauga-terminal-f26-cost-transformation-dashboard/6b011158-ae27-5f52-8fca-d7600eb7a2cd/scratchpad/deck/dr_titl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service failures, missed pickups</a:t>
            </a:r>
            <a:endParaRPr lang="en-US" sz="1300" dirty="0"/>
          </a:p>
        </p:txBody>
      </p:sp>
      <p:sp>
        <p:nvSpPr>
          <p:cNvPr id="16" name="Shape 12"/>
          <p:cNvSpPr/>
          <p:nvPr/>
        </p:nvSpPr>
        <p:spPr>
          <a:xfrm>
            <a:off x="548640" y="2816352"/>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cost per PRO, hours, staffing by shift</a:t>
            </a:r>
            <a:endParaRPr lang="en-US" sz="1300" dirty="0"/>
          </a:p>
        </p:txBody>
      </p:sp>
      <p:sp>
        <p:nvSpPr>
          <p:cNvPr id="22" name="Shape 17"/>
          <p:cNvSpPr/>
          <p:nvPr/>
        </p:nvSpPr>
        <p:spPr>
          <a:xfrm>
            <a:off x="548640" y="3493008"/>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a:t>
            </a:r>
            <a:endParaRPr lang="en-US" sz="1300" dirty="0"/>
          </a:p>
        </p:txBody>
      </p:sp>
      <p:sp>
        <p:nvSpPr>
          <p:cNvPr id="28" name="Shape 22"/>
          <p:cNvSpPr/>
          <p:nvPr/>
        </p:nvSpPr>
        <p:spPr>
          <a:xfrm>
            <a:off x="548640" y="4169664"/>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7C3AED"/>
          </a:solidFill>
          <a:ln w="12700">
            <a:solidFill>
              <a:srgbClr val="7C3AED"/>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EDE9FE"/>
          </a:solidFill>
          <a:ln w="12700">
            <a:solidFill>
              <a:srgbClr val="EDE9FE"/>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7C3AED"/>
          </a:solidFill>
          <a:ln w="12700">
            <a:solidFill>
              <a:srgbClr val="7C3AED"/>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EDE9FE"/>
          </a:solidFill>
          <a:ln w="12700">
            <a:solidFill>
              <a:srgbClr val="EDE9FE"/>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Recap &amp; questions</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F27 so far — full detail is on the website</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EDE9FE"/>
          </a:solidFill>
          <a:ln w="12700">
            <a:solidFill>
              <a:srgbClr val="EDE9FE"/>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19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0 recordables Jul–Aug; TRIR 0.00 vs 1.21 F26.   </a:t>
            </a:r>
            <a:pPr indent="0" marL="0">
              <a:buNone/>
            </a:pPr>
            <a:r>
              <a:rPr lang="en-US" sz="1300" i="1" dirty="0">
                <a:solidFill>
                  <a:srgbClr val="065F46"/>
                </a:solidFill>
                <a:latin typeface="Calibri" pitchFamily="34" charset="0"/>
                <a:ea typeface="Calibri" pitchFamily="34" charset="-122"/>
                <a:cs typeface="Calibri" pitchFamily="34" charset="-120"/>
              </a:rPr>
              <a:t>“If we prioritize safety, then service, productivity and cost all fall into place.”</a:t>
            </a:r>
            <a:endParaRPr lang="en-US" sz="13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day</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19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supported by Safety — safe work practices, lifting, forklift &amp; seat belt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19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People-led safety — F27 proposals with Safety</a:t>
            </a:r>
            <a:endParaRPr lang="en-US" sz="3000" dirty="0"/>
          </a:p>
        </p:txBody>
      </p:sp>
      <p:sp>
        <p:nvSpPr>
          <p:cNvPr id="4" name="Shape 2"/>
          <p:cNvSpPr/>
          <p:nvPr/>
        </p:nvSpPr>
        <p:spPr>
          <a:xfrm>
            <a:off x="548640" y="1325880"/>
            <a:ext cx="3544824" cy="3977640"/>
          </a:xfrm>
          <a:prstGeom prst="roundRect">
            <a:avLst>
              <a:gd name="adj" fmla="val 2064"/>
            </a:avLst>
          </a:prstGeom>
          <a:solidFill>
            <a:srgbClr val="F3F4F6"/>
          </a:solidFill>
          <a:ln w="12700">
            <a:solidFill>
              <a:srgbClr val="F3F4F6"/>
            </a:solidFill>
            <a:prstDash val="solid"/>
          </a:ln>
        </p:spPr>
      </p:sp>
      <p:sp>
        <p:nvSpPr>
          <p:cNvPr id="5" name="Shape 3"/>
          <p:cNvSpPr/>
          <p:nvPr/>
        </p:nvSpPr>
        <p:spPr>
          <a:xfrm>
            <a:off x="777240" y="1508760"/>
            <a:ext cx="502920" cy="50292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902970" y="1634490"/>
            <a:ext cx="251460" cy="251460"/>
          </a:xfrm>
          <a:prstGeom prst="rect">
            <a:avLst/>
          </a:prstGeom>
        </p:spPr>
      </p:pic>
      <p:sp>
        <p:nvSpPr>
          <p:cNvPr id="7" name="Text 4"/>
          <p:cNvSpPr txBox="1"/>
          <p:nvPr/>
        </p:nvSpPr>
        <p:spPr>
          <a:xfrm>
            <a:off x="1417320"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Driver safety reps</a:t>
            </a:r>
            <a:endParaRPr lang="en-US" sz="1500" dirty="0"/>
          </a:p>
        </p:txBody>
      </p:sp>
      <p:sp>
        <p:nvSpPr>
          <p:cNvPr id="8" name="Shape 5"/>
          <p:cNvSpPr/>
          <p:nvPr/>
        </p:nvSpPr>
        <p:spPr>
          <a:xfrm>
            <a:off x="777240" y="2148840"/>
            <a:ext cx="3087624" cy="292608"/>
          </a:xfrm>
          <a:prstGeom prst="roundRect">
            <a:avLst>
              <a:gd name="adj" fmla="val 25000"/>
            </a:avLst>
          </a:prstGeom>
          <a:solidFill>
            <a:srgbClr val="FEF3C7"/>
          </a:solidFill>
          <a:ln w="12700">
            <a:solidFill>
              <a:srgbClr val="FEF3C7"/>
            </a:solidFill>
            <a:prstDash val="solid"/>
          </a:ln>
        </p:spPr>
      </p:sp>
      <p:sp>
        <p:nvSpPr>
          <p:cNvPr id="9" name="Text 6"/>
          <p:cNvSpPr txBox="1"/>
          <p:nvPr/>
        </p:nvSpPr>
        <p:spPr>
          <a:xfrm>
            <a:off x="777240"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0" name="Text 7"/>
          <p:cNvSpPr txBox="1"/>
          <p:nvPr/>
        </p:nvSpPr>
        <p:spPr>
          <a:xfrm>
            <a:off x="777240"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Top safety-score drivers join the monthly safety meeting</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Speak for drivers on road and yard concerns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Bring ideas that help leadership fix issues sooner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Peers carry more weight than policy; being chosen creates ownership</a:t>
            </a:r>
            <a:endParaRPr lang="en-US" sz="1200" dirty="0"/>
          </a:p>
        </p:txBody>
      </p:sp>
      <p:sp>
        <p:nvSpPr>
          <p:cNvPr id="11" name="Shape 8"/>
          <p:cNvSpPr/>
          <p:nvPr/>
        </p:nvSpPr>
        <p:spPr>
          <a:xfrm>
            <a:off x="4322064" y="1325880"/>
            <a:ext cx="3544824" cy="3977640"/>
          </a:xfrm>
          <a:prstGeom prst="roundRect">
            <a:avLst>
              <a:gd name="adj" fmla="val 2064"/>
            </a:avLst>
          </a:prstGeom>
          <a:solidFill>
            <a:srgbClr val="F3F4F6"/>
          </a:solidFill>
          <a:ln w="12700">
            <a:solidFill>
              <a:srgbClr val="F3F4F6"/>
            </a:solidFill>
            <a:prstDash val="solid"/>
          </a:ln>
        </p:spPr>
      </p:sp>
      <p:sp>
        <p:nvSpPr>
          <p:cNvPr id="12" name="Shape 9"/>
          <p:cNvSpPr/>
          <p:nvPr/>
        </p:nvSpPr>
        <p:spPr>
          <a:xfrm>
            <a:off x="4550664" y="1508760"/>
            <a:ext cx="502920" cy="502920"/>
          </a:xfrm>
          <a:prstGeom prst="ellipse">
            <a:avLst/>
          </a:prstGeom>
          <a:solidFill>
            <a:srgbClr val="7C3AED"/>
          </a:solidFill>
          <a:ln w="12700">
            <a:solidFill>
              <a:srgbClr val="7C3AED"/>
            </a:solidFill>
            <a:prstDash val="solid"/>
          </a:ln>
        </p:spPr>
      </p:sp>
      <p:pic>
        <p:nvPicPr>
          <p:cNvPr id="13" name="Image 1" descr="preencoded.png">    </p:cNvPr>
          <p:cNvPicPr>
            <a:picLocks noChangeAspect="1"/>
          </p:cNvPicPr>
          <p:nvPr/>
        </p:nvPicPr>
        <p:blipFill>
          <a:blip r:embed="rId2"/>
          <a:stretch>
            <a:fillRect/>
          </a:stretch>
        </p:blipFill>
        <p:spPr>
          <a:xfrm>
            <a:off x="4676394" y="1634490"/>
            <a:ext cx="251460" cy="251460"/>
          </a:xfrm>
          <a:prstGeom prst="rect">
            <a:avLst/>
          </a:prstGeom>
        </p:spPr>
      </p:pic>
      <p:sp>
        <p:nvSpPr>
          <p:cNvPr id="14" name="Text 10"/>
          <p:cNvSpPr txBox="1"/>
          <p:nvPr/>
        </p:nvSpPr>
        <p:spPr>
          <a:xfrm>
            <a:off x="5190744"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Manager &amp; supervisor ride-alongs</a:t>
            </a:r>
            <a:endParaRPr lang="en-US" sz="1500" dirty="0"/>
          </a:p>
        </p:txBody>
      </p:sp>
      <p:sp>
        <p:nvSpPr>
          <p:cNvPr id="15" name="Shape 11"/>
          <p:cNvSpPr/>
          <p:nvPr/>
        </p:nvSpPr>
        <p:spPr>
          <a:xfrm>
            <a:off x="4550664" y="2148840"/>
            <a:ext cx="3087624" cy="292608"/>
          </a:xfrm>
          <a:prstGeom prst="roundRect">
            <a:avLst>
              <a:gd name="adj" fmla="val 25000"/>
            </a:avLst>
          </a:prstGeom>
          <a:solidFill>
            <a:srgbClr val="FEF3C7"/>
          </a:solidFill>
          <a:ln w="12700">
            <a:solidFill>
              <a:srgbClr val="FEF3C7"/>
            </a:solidFill>
            <a:prstDash val="solid"/>
          </a:ln>
        </p:spPr>
      </p:sp>
      <p:sp>
        <p:nvSpPr>
          <p:cNvPr id="16" name="Text 12"/>
          <p:cNvSpPr txBox="1"/>
          <p:nvPr/>
        </p:nvSpPr>
        <p:spPr>
          <a:xfrm>
            <a:off x="4550664"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7" name="Text 13"/>
          <p:cNvSpPr txBox="1"/>
          <p:nvPr/>
        </p:nvSpPr>
        <p:spPr>
          <a:xfrm>
            <a:off x="4550664"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See driver challenges on the road first-hand</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Ride-alongs per quarter ramp up: 8 → 11 → 13 (of 50 drivers)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F28: ride with every driver once a year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with new drivers and lower safety scores</a:t>
            </a:r>
            <a:endParaRPr lang="en-US" sz="1200" dirty="0"/>
          </a:p>
        </p:txBody>
      </p:sp>
      <p:sp>
        <p:nvSpPr>
          <p:cNvPr id="18" name="Shape 14"/>
          <p:cNvSpPr/>
          <p:nvPr/>
        </p:nvSpPr>
        <p:spPr>
          <a:xfrm>
            <a:off x="8095488" y="1325880"/>
            <a:ext cx="3544824" cy="3977640"/>
          </a:xfrm>
          <a:prstGeom prst="roundRect">
            <a:avLst>
              <a:gd name="adj" fmla="val 2064"/>
            </a:avLst>
          </a:prstGeom>
          <a:solidFill>
            <a:srgbClr val="F3F4F6"/>
          </a:solidFill>
          <a:ln w="12700">
            <a:solidFill>
              <a:srgbClr val="F3F4F6"/>
            </a:solidFill>
            <a:prstDash val="solid"/>
          </a:ln>
        </p:spPr>
      </p:sp>
      <p:sp>
        <p:nvSpPr>
          <p:cNvPr id="19" name="Shape 15"/>
          <p:cNvSpPr/>
          <p:nvPr/>
        </p:nvSpPr>
        <p:spPr>
          <a:xfrm>
            <a:off x="8324088" y="1508760"/>
            <a:ext cx="502920" cy="502920"/>
          </a:xfrm>
          <a:prstGeom prst="ellipse">
            <a:avLst/>
          </a:prstGeom>
          <a:solidFill>
            <a:srgbClr val="7C3AED"/>
          </a:solidFill>
          <a:ln w="12700">
            <a:solidFill>
              <a:srgbClr val="7C3AED"/>
            </a:solidFill>
            <a:prstDash val="solid"/>
          </a:ln>
        </p:spPr>
      </p:sp>
      <p:pic>
        <p:nvPicPr>
          <p:cNvPr id="20" name="Image 2" descr="preencoded.png">    </p:cNvPr>
          <p:cNvPicPr>
            <a:picLocks noChangeAspect="1"/>
          </p:cNvPicPr>
          <p:nvPr/>
        </p:nvPicPr>
        <p:blipFill>
          <a:blip r:embed="rId3"/>
          <a:stretch>
            <a:fillRect/>
          </a:stretch>
        </p:blipFill>
        <p:spPr>
          <a:xfrm>
            <a:off x="8449818" y="1634490"/>
            <a:ext cx="251460" cy="251460"/>
          </a:xfrm>
          <a:prstGeom prst="rect">
            <a:avLst/>
          </a:prstGeom>
        </p:spPr>
      </p:pic>
      <p:sp>
        <p:nvSpPr>
          <p:cNvPr id="21" name="Text 16"/>
          <p:cNvSpPr txBox="1"/>
          <p:nvPr/>
        </p:nvSpPr>
        <p:spPr>
          <a:xfrm>
            <a:off x="8964168"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Peak onboarding with Safety</a:t>
            </a:r>
            <a:endParaRPr lang="en-US" sz="1500" dirty="0"/>
          </a:p>
        </p:txBody>
      </p:sp>
      <p:sp>
        <p:nvSpPr>
          <p:cNvPr id="22" name="Shape 17"/>
          <p:cNvSpPr/>
          <p:nvPr/>
        </p:nvSpPr>
        <p:spPr>
          <a:xfrm>
            <a:off x="8324088" y="2148840"/>
            <a:ext cx="3087624" cy="292608"/>
          </a:xfrm>
          <a:prstGeom prst="roundRect">
            <a:avLst>
              <a:gd name="adj" fmla="val 25000"/>
            </a:avLst>
          </a:prstGeom>
          <a:solidFill>
            <a:srgbClr val="D1FAE5"/>
          </a:solidFill>
          <a:ln w="12700">
            <a:solidFill>
              <a:srgbClr val="D1FAE5"/>
            </a:solidFill>
            <a:prstDash val="solid"/>
          </a:ln>
        </p:spPr>
      </p:sp>
      <p:sp>
        <p:nvSpPr>
          <p:cNvPr id="23" name="Text 18"/>
          <p:cNvSpPr txBox="1"/>
          <p:nvPr/>
        </p:nvSpPr>
        <p:spPr>
          <a:xfrm>
            <a:off x="8324088"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SUPPORTED BY SAFETY</a:t>
            </a:r>
            <a:endParaRPr lang="en-US" sz="1000" dirty="0"/>
          </a:p>
        </p:txBody>
      </p:sp>
      <p:sp>
        <p:nvSpPr>
          <p:cNvPr id="24" name="Text 19"/>
          <p:cNvSpPr txBox="1"/>
          <p:nvPr/>
        </p:nvSpPr>
        <p:spPr>
          <a:xfrm>
            <a:off x="8324088"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Nov and spring/summer e-commerce peaks: +10–20% temp staff, all shifts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Safety covers safe work practices, lifting technique, truck &amp; trailer pull, forklift safety &amp; seat belt, right to refuse</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Short check-ins: seat belt on the forklift; what to do if there is a spill</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Added layer on top of operations checks</a:t>
            </a:r>
            <a:endParaRPr lang="en-US" sz="1200" dirty="0"/>
          </a:p>
        </p:txBody>
      </p:sp>
      <p:sp>
        <p:nvSpPr>
          <p:cNvPr id="25" name="Shape 20"/>
          <p:cNvSpPr/>
          <p:nvPr/>
        </p:nvSpPr>
        <p:spPr>
          <a:xfrm>
            <a:off x="548640" y="5440680"/>
            <a:ext cx="11091672" cy="685800"/>
          </a:xfrm>
          <a:prstGeom prst="roundRect">
            <a:avLst>
              <a:gd name="adj" fmla="val 10667"/>
            </a:avLst>
          </a:prstGeom>
          <a:solidFill>
            <a:srgbClr val="F5F3FF"/>
          </a:solidFill>
          <a:ln w="12700">
            <a:solidFill>
              <a:srgbClr val="F5F3FF"/>
            </a:solidFill>
            <a:prstDash val="solid"/>
          </a:ln>
        </p:spPr>
      </p:sp>
      <p:sp>
        <p:nvSpPr>
          <p:cNvPr id="26" name="Text 21"/>
          <p:cNvSpPr txBox="1"/>
          <p:nvPr/>
        </p:nvSpPr>
        <p:spPr>
          <a:xfrm>
            <a:off x="777240" y="5440680"/>
            <a:ext cx="10698480" cy="68580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Why it works: </a:t>
            </a:r>
            <a:pPr indent="0" marL="0">
              <a:buNone/>
            </a:pPr>
            <a:r>
              <a:rPr lang="en-US" sz="1300" dirty="0">
                <a:solidFill>
                  <a:srgbClr val="1F2937"/>
                </a:solidFill>
                <a:latin typeface="Calibri" pitchFamily="34" charset="0"/>
                <a:ea typeface="Calibri" pitchFamily="34" charset="-122"/>
                <a:cs typeface="Calibri" pitchFamily="34" charset="-120"/>
              </a:rPr>
              <a:t>people who feel cared for, care. When the workplace is safe and people feel heard and respected, service, productivity and cost follow.</a:t>
            </a:r>
            <a:endParaRPr lang="en-US" sz="1300" dirty="0"/>
          </a:p>
        </p:txBody>
      </p:sp>
      <p:sp>
        <p:nvSpPr>
          <p:cNvPr id="27"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19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Week 39 adj 94.8% · week 40 (Sun–Mon) 96.6%</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Terminal and P&amp;D teams working together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 — largely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failures (AS code excluded — not a service failure): week 39 = 66 (top: TF 22); week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19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*Week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19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$211.0K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≈$17.6K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$125.9K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≈$10.5K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Other lines (net of claims)</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$164.9K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≈$13.7K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 + dispatcher</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$562.9K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≈$46.9K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+12.7%</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($7.3K)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($87.0K)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Admin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$211.0K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$33.8K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Dock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$10.5K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$125.9K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Dock owner-operator base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−97.4%</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$14.1K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$169.5K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Rentals (dock + building)</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−96.9%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$4.3K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$52.0K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Cargo claims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($4.7K)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($56.7K)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Other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$13.7K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$164.9K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$46.9K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$562.9K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5F3FF"/>
          </a:solidFill>
          <a:ln w="12700">
            <a:solidFill>
              <a:srgbClr val="F5F3FF"/>
            </a:solidFill>
            <a:prstDash val="solid"/>
          </a:ln>
        </p:spPr>
      </p:sp>
      <p:sp>
        <p:nvSpPr>
          <p:cNvPr id="23" name="Shape 20"/>
          <p:cNvSpPr/>
          <p:nvPr/>
        </p:nvSpPr>
        <p:spPr>
          <a:xfrm>
            <a:off x="8046720" y="2971800"/>
            <a:ext cx="502920" cy="502920"/>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hold and grow the outlook</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the Jul–Aug rates: Admin agency −25%, Dock labour −4%.</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 $18.6K/yr Admin, ≈ $31.7K/yr Dock.</a:t>
            </a:r>
            <a:endParaRPr lang="en-US" sz="1250" dirty="0"/>
          </a:p>
          <a:p>
            <a:pPr indent="0" marL="0">
              <a:buNone/>
            </a:pPr>
            <a:r>
              <a:rPr lang="en-US" sz="1250" b="1" dirty="0">
                <a:solidFill>
                  <a:srgbClr val="7C3AED"/>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each line's Jul–Aug % change vs the same months of F26, applied to the remaining F26 months if the rate holds. Estimates, not booked savings. Source: net-amount P&amp;L pivot; claims use the claims report for August ($13,432.53).</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19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Only the dispatcher saving is confirmed; other values TBC.</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19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95–100% OF TARGET</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Dock salaries &amp; benefits (month)</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19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19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Accessorials checked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tracked every shift.</a:t>
            </a:r>
            <a:endParaRPr lang="en-US" sz="1400" dirty="0"/>
          </a:p>
        </p:txBody>
      </p:sp>
      <p:sp>
        <p:nvSpPr>
          <p:cNvPr id="16" name="Shape 10"/>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17" name="Shape 11"/>
          <p:cNvSpPr/>
          <p:nvPr/>
        </p:nvSpPr>
        <p:spPr>
          <a:xfrm>
            <a:off x="8001000" y="1645920"/>
            <a:ext cx="502920" cy="502920"/>
          </a:xfrm>
          <a:prstGeom prst="ellipse">
            <a:avLst/>
          </a:prstGeom>
          <a:solidFill>
            <a:srgbClr val="7C3AED"/>
          </a:solidFill>
          <a:ln w="12700">
            <a:solidFill>
              <a:srgbClr val="7C3AED"/>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example (Wed Sep 9) in the table below.</a:t>
            </a:r>
            <a:endParaRPr lang="en-US" sz="11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19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The goal is weight-based, so lighter freight holds PPH down even as units per hour rise.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19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outbound loads more than 80% full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 band</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500–1,000: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trailer floor footage loaded at Bowmanville not captured correctly — fix under way; 20.5% of Moncton bills have no cube recorded vs 3.0% on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19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EDE9FE"/>
          </a:solidFill>
          <a:ln w="12700">
            <a:solidFill>
              <a:srgbClr val="EDE9FE"/>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19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today and the plan</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Glass doors on makeshift 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Glass doors on makeshift 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carts &amp; reconfigurable racks for windows, doors, panels, car parts</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19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EDE9FE"/>
          </a:solidFill>
          <a:ln w="12700">
            <a:solidFill>
              <a:srgbClr val="EDE9FE"/>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EDE9FE"/>
          </a:solidFill>
          <a:ln w="12700">
            <a:solidFill>
              <a:srgbClr val="EDE9FE"/>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EDE9FE"/>
          </a:solidFill>
          <a:ln w="12700">
            <a:solidFill>
              <a:srgbClr val="EDE9FE"/>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STACKABLE</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and smaller terminals have no room to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7C3AED"/>
          </a:solidFill>
          <a:ln w="12700">
            <a:solidFill>
              <a:srgbClr val="7C3AED"/>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19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Estimated ≈$562.9K below F26 if current rates hold (≈$46.9K/mo; estimate, not booked), incl. $61K dispatcher.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Sept MTD: 91.1% of SCA hour allowance — 391 hrs under.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 / 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2026-09-29T16:41:22Z</dcterms:created>
  <dcterms:modified xsi:type="dcterms:W3CDTF">2026-09-29T16:41:22Z</dcterms:modified>
</cp:coreProperties>
</file>