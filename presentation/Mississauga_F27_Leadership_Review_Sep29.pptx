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EA58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FDBA7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27–39)</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EA580C"/>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3.75</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827"/>
                </a:solidFill>
                <a:latin typeface="Calibri"/>
              </a:defRPr>
            </a:pPr>
            <a:r>
              <a:rPr sz="1100" b="0" i="0" u="none" strike="noStrike">
                <a:solidFill>
                  <a:srgbClr val="111827"/>
                </a:solidFill>
                <a:latin typeface="Calibri"/>
              </a:rPr>
              <a:t>Accessorial revenue by month ($K)</a:t>
            </a:r>
          </a:p>
        </c:rich>
      </c:tx>
      <c:layout/>
      <c:overlay val="0"/>
    </c:title>
    <c:autoTitleDeleted val="0"/>
    <c:plotArea>
      <c:layout/>
      <c:barChart>
        <c:barDir val="col"/>
        <c:grouping val="clustered"/>
        <c:varyColors val="0"/>
        <c:ser>
          <c:idx val="0"/>
          <c:order val="0"/>
          <c:tx>
            <c:strRef>
              <c:f>Sheet1!$B$1</c:f>
              <c:strCache>
                <c:ptCount val="1"/>
                <c:pt idx="0">
                  <c:v>$K</c:v>
                </c:pt>
              </c:strCache>
            </c:strRef>
          </c:tx>
          <c:spPr>
            <a:solidFill>
              <a:srgbClr val="EA580C"/>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Apr</c:v>
                  </c:pt>
                  <c:pt idx="1">
                    <c:v>May</c:v>
                  </c:pt>
                  <c:pt idx="2">
                    <c:v>Jun</c:v>
                  </c:pt>
                  <c:pt idx="3">
                    <c:v>Jul</c:v>
                  </c:pt>
                  <c:pt idx="4">
                    <c:v>Aug</c:v>
                  </c:pt>
                  <c:pt idx="5">
                    <c:v>Sep*</c:v>
                  </c:pt>
                </c:lvl>
              </c:multiLvlStrCache>
            </c:multiLvlStrRef>
          </c:cat>
          <c:val>
            <c:numRef>
              <c:f>Sheet1!$B$2:$B$7</c:f>
              <c:numCache>
                <c:formatCode>General</c:formatCode>
                <c:ptCount val="6"/>
                <c:pt idx="0">
                  <c:v>329</c:v>
                </c:pt>
                <c:pt idx="1">
                  <c:v>283</c:v>
                </c:pt>
                <c:pt idx="2">
                  <c:v>255</c:v>
                </c:pt>
                <c:pt idx="3">
                  <c:v>267</c:v>
                </c:pt>
                <c:pt idx="4">
                  <c:v>253</c:v>
                </c:pt>
                <c:pt idx="5">
                  <c:v>238</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D&amp;R</c:v>
                </c:pt>
              </c:strCache>
            </c:strRef>
          </c:tx>
          <c:spPr>
            <a:solidFill>
              <a:srgbClr val="EA580C"/>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EA580C"/>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FDBA74"/>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EA580C"/>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units per hour are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topics today, then a recap: safety, service, the F27 savings outlook and SCA, productivity, load quality and equipment, and the physical terminal.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two people-led initiatives we will take to Safety: driver safety reps — our top safety-score drivers join the monthly safety meeting and speak for drivers, because drivers follow respected peers, people protect standards they help set, and drivers raise concerns with a peer they would not raise with a manager — and manager and supervisor route ride-alongs with a quarterly quota that ramps up to every driver once a year, so leaders see road challenges first-hand. For the November and spring/summer e-commerce peaks we add 10 percent or more new temp staff on every shift, and the Safety team has agreed to be part of phasing them in: safe work practices, lifting technique, truck and trailer pull safety, forklift safety and seat belts, and the right to refuse unsafe work, with short check-ins such as whether they wear the seat belt getting on and off the forklift and what to do if there is a spill. People who feel cared for, care. If we prioritize safety, then service, productivity and cost all fall into place. The ideas list is where we go next, including near-miss reporting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people-led safety initiatives for F27. First, driver safety reps: our top safety-score drivers join the monthly safety meeting and speak for drivers — peers carry more weight than policy and drivers raise concerns with a peer they would not raise with a manager. Second, manager and supervisor route ride-alongs with a quarterly quota that ramps from 8 to 11 to 13, so leaders see road challenges first-hand. Third, peak onboarding with the Safety team, which Safety supports: for the November and spring/summer e-commerce peaks we add 10 percent or more new temp staff on every shift, and Safety will help phase them in — safe work practices, lifting technique, truck and trailer pull safety, forklift safety and the seat belt, and the right to refuse unsafe work — with short check-ins. People who feel cared for, care. If we prioritize safety, then service, productivity and cost all fall into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company F27 KPI goals and where Mississauga stands. On-time service is 93.7 percent in September, in the Exceeded band, and has improved every month since July. Missed pickups are the gap at 5.23 percent against a 1 percent goal, but about 45 percent of those are OPS false positives, so the close-out fix and daily pickup review close most of it. Headhaul load factor is at goal at 74.9 percent for F27 so far, 75.7 percent excluding Moncton. Damages, reweighs and cubing are on the plan and we are confirming the matching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today's rates hold, our F27 savings outlook is about 451 thousand dollars for the year — roughly 38 thousand dollars a month against the same months of F26. It is built on our two contract labour buckets: Admin contract labour is down about 25 percent, worth about 298 thousand a year, and Dock contract labour is down about 6 percent, worth about 92 thousand, plus the confirmed 61 thousand dollar dispatcher saving. Every extra 1 percent off contract labour is worth about 28 thousand a year. These are estimates if the current rate holds, not booked savings; load securement, handling equipment, accessorials and Toyota footage capture come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 capture protects revenue. F27 to date we have billed about 759 thousand dollars in accessorials, and about 238 thousand in September to the 29th. Against the report target per unit, 7 of 13 codes are at or above target in September and 6 are below, about 9 thousand dollars under target. Tailgate and residential delivery are three quarters of accessorial dollars and both are slightly under target, so the focus is making sure every one is rated before invoicing, getting detention billed, and reviewing after-hours deliveries.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On our example day, Wednesday September 9, dock headcount was 22 agency to 11 D&amp;R, a 2 to 1 ratio — 3 to 1 on AM, 1.4 to 1 on days, 2.3 to 1 on PM — and dock hours were 207.33 against a 208-hour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Because the goal is weight-based, lighter freight holds PPH down even as units per hour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CICO, the SCA team has reviewed us and CICO is currently OK for our freight-bill volume, building size and operation. I completed the form for all admin roles and their duties. It is still under review, and any changes will come out of that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collapsible load tables. Extended, they build a second tier in the trailer; folded, a forklift lifts them; when empty they stack in a small footprint. Today our load tables are big fixed metal tables that take up dock space, and most terminals are much smaller than ours and could not store them. The benefit goes beyond Mississauga: we send outbound trailers to terminals across the country, and well-loaded trailers with collapsible tables and bin carts are faster and safer for them to unload and stage for final mile or transfer, and the same applies to inbound trailers to us. Less handling, fewer damages and claims, and safer unloading.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1.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mississauga-terminal-f26-cost-transformation-dashboard/6b011158-ae27-5f52-8fca-d7600eb7a2cd/scratchpad/deck/dr_titl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463040"/>
            <a:ext cx="566928" cy="566928"/>
          </a:xfrm>
          <a:prstGeom prst="ellipse">
            <a:avLst/>
          </a:prstGeom>
          <a:solidFill>
            <a:srgbClr val="EA580C"/>
          </a:solidFill>
          <a:ln w="12700">
            <a:solidFill>
              <a:srgbClr val="EA580C"/>
            </a:solidFill>
            <a:prstDash val="solid"/>
          </a:ln>
        </p:spPr>
      </p:sp>
      <p:sp>
        <p:nvSpPr>
          <p:cNvPr id="5" name="Text 3"/>
          <p:cNvSpPr txBox="1"/>
          <p:nvPr/>
        </p:nvSpPr>
        <p:spPr>
          <a:xfrm>
            <a:off x="548640" y="14630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463040"/>
            <a:ext cx="566928" cy="566928"/>
          </a:xfrm>
          <a:prstGeom prst="ellipse">
            <a:avLst/>
          </a:prstGeom>
          <a:solidFill>
            <a:srgbClr val="FFEDD5"/>
          </a:solidFill>
          <a:ln w="12700">
            <a:solidFill>
              <a:srgbClr val="FFEDD5"/>
            </a:solidFill>
            <a:prstDash val="solid"/>
          </a:ln>
        </p:spPr>
      </p:sp>
      <p:pic>
        <p:nvPicPr>
          <p:cNvPr id="7" name="Image 0" descr="preencoded.png">    </p:cNvPr>
          <p:cNvPicPr>
            <a:picLocks noChangeAspect="1"/>
          </p:cNvPicPr>
          <p:nvPr/>
        </p:nvPicPr>
        <p:blipFill>
          <a:blip r:embed="rId1"/>
          <a:stretch>
            <a:fillRect/>
          </a:stretch>
        </p:blipFill>
        <p:spPr>
          <a:xfrm>
            <a:off x="1421892" y="1604772"/>
            <a:ext cx="283464" cy="283464"/>
          </a:xfrm>
          <a:prstGeom prst="rect">
            <a:avLst/>
          </a:prstGeom>
        </p:spPr>
      </p:pic>
      <p:sp>
        <p:nvSpPr>
          <p:cNvPr id="8" name="Text 5"/>
          <p:cNvSpPr txBox="1"/>
          <p:nvPr/>
        </p:nvSpPr>
        <p:spPr>
          <a:xfrm>
            <a:off x="2103120" y="142646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77393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139696"/>
            <a:ext cx="566928" cy="566928"/>
          </a:xfrm>
          <a:prstGeom prst="ellipse">
            <a:avLst/>
          </a:prstGeom>
          <a:solidFill>
            <a:srgbClr val="EA580C"/>
          </a:solidFill>
          <a:ln w="12700">
            <a:solidFill>
              <a:srgbClr val="EA580C"/>
            </a:solidFill>
            <a:prstDash val="solid"/>
          </a:ln>
        </p:spPr>
      </p:sp>
      <p:sp>
        <p:nvSpPr>
          <p:cNvPr id="11" name="Text 8"/>
          <p:cNvSpPr txBox="1"/>
          <p:nvPr/>
        </p:nvSpPr>
        <p:spPr>
          <a:xfrm>
            <a:off x="548640" y="213969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139696"/>
            <a:ext cx="566928" cy="566928"/>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1421892" y="2281428"/>
            <a:ext cx="283464" cy="283464"/>
          </a:xfrm>
          <a:prstGeom prst="rect">
            <a:avLst/>
          </a:prstGeom>
        </p:spPr>
      </p:pic>
      <p:sp>
        <p:nvSpPr>
          <p:cNvPr id="14" name="Text 10"/>
          <p:cNvSpPr txBox="1"/>
          <p:nvPr/>
        </p:nvSpPr>
        <p:spPr>
          <a:xfrm>
            <a:off x="2103120" y="210312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45059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service failures, missed pickups</a:t>
            </a:r>
            <a:endParaRPr lang="en-US" sz="1300" dirty="0"/>
          </a:p>
        </p:txBody>
      </p:sp>
      <p:sp>
        <p:nvSpPr>
          <p:cNvPr id="16" name="Shape 12"/>
          <p:cNvSpPr/>
          <p:nvPr/>
        </p:nvSpPr>
        <p:spPr>
          <a:xfrm>
            <a:off x="548640" y="2816352"/>
            <a:ext cx="566928" cy="566928"/>
          </a:xfrm>
          <a:prstGeom prst="ellipse">
            <a:avLst/>
          </a:prstGeom>
          <a:solidFill>
            <a:srgbClr val="EA580C"/>
          </a:solidFill>
          <a:ln w="12700">
            <a:solidFill>
              <a:srgbClr val="EA580C"/>
            </a:solidFill>
            <a:prstDash val="solid"/>
          </a:ln>
        </p:spPr>
      </p:sp>
      <p:sp>
        <p:nvSpPr>
          <p:cNvPr id="17" name="Text 13"/>
          <p:cNvSpPr txBox="1"/>
          <p:nvPr/>
        </p:nvSpPr>
        <p:spPr>
          <a:xfrm>
            <a:off x="548640" y="281635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2816352"/>
            <a:ext cx="566928" cy="566928"/>
          </a:xfrm>
          <a:prstGeom prst="ellipse">
            <a:avLst/>
          </a:prstGeom>
          <a:solidFill>
            <a:srgbClr val="FFEDD5"/>
          </a:solidFill>
          <a:ln w="12700">
            <a:solidFill>
              <a:srgbClr val="FFEDD5"/>
            </a:solidFill>
            <a:prstDash val="solid"/>
          </a:ln>
        </p:spPr>
      </p:sp>
      <p:pic>
        <p:nvPicPr>
          <p:cNvPr id="19" name="Image 2" descr="preencoded.png">    </p:cNvPr>
          <p:cNvPicPr>
            <a:picLocks noChangeAspect="1"/>
          </p:cNvPicPr>
          <p:nvPr/>
        </p:nvPicPr>
        <p:blipFill>
          <a:blip r:embed="rId3"/>
          <a:stretch>
            <a:fillRect/>
          </a:stretch>
        </p:blipFill>
        <p:spPr>
          <a:xfrm>
            <a:off x="1421892" y="2958084"/>
            <a:ext cx="283464" cy="283464"/>
          </a:xfrm>
          <a:prstGeom prst="rect">
            <a:avLst/>
          </a:prstGeom>
        </p:spPr>
      </p:pic>
      <p:sp>
        <p:nvSpPr>
          <p:cNvPr id="20" name="Text 15"/>
          <p:cNvSpPr txBox="1"/>
          <p:nvPr/>
        </p:nvSpPr>
        <p:spPr>
          <a:xfrm>
            <a:off x="2103120" y="2779776"/>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F27 savings outlook &amp; SCA</a:t>
            </a:r>
            <a:endParaRPr lang="en-US" sz="1900" dirty="0"/>
          </a:p>
        </p:txBody>
      </p:sp>
      <p:sp>
        <p:nvSpPr>
          <p:cNvPr id="21" name="Text 16"/>
          <p:cNvSpPr txBox="1"/>
          <p:nvPr/>
        </p:nvSpPr>
        <p:spPr>
          <a:xfrm>
            <a:off x="2103120" y="3127248"/>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Savings outlook &amp; tracker, accessorials, cost per PRO, hours, shifts</a:t>
            </a:r>
            <a:endParaRPr lang="en-US" sz="1300" dirty="0"/>
          </a:p>
        </p:txBody>
      </p:sp>
      <p:sp>
        <p:nvSpPr>
          <p:cNvPr id="22" name="Shape 17"/>
          <p:cNvSpPr/>
          <p:nvPr/>
        </p:nvSpPr>
        <p:spPr>
          <a:xfrm>
            <a:off x="548640" y="3493008"/>
            <a:ext cx="566928" cy="566928"/>
          </a:xfrm>
          <a:prstGeom prst="ellipse">
            <a:avLst/>
          </a:prstGeom>
          <a:solidFill>
            <a:srgbClr val="EA580C"/>
          </a:solidFill>
          <a:ln w="12700">
            <a:solidFill>
              <a:srgbClr val="EA580C"/>
            </a:solidFill>
            <a:prstDash val="solid"/>
          </a:ln>
        </p:spPr>
      </p:sp>
      <p:sp>
        <p:nvSpPr>
          <p:cNvPr id="23" name="Text 18"/>
          <p:cNvSpPr txBox="1"/>
          <p:nvPr/>
        </p:nvSpPr>
        <p:spPr>
          <a:xfrm>
            <a:off x="548640" y="349300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3493008"/>
            <a:ext cx="566928" cy="566928"/>
          </a:xfrm>
          <a:prstGeom prst="ellipse">
            <a:avLst/>
          </a:prstGeom>
          <a:solidFill>
            <a:srgbClr val="FFEDD5"/>
          </a:solidFill>
          <a:ln w="12700">
            <a:solidFill>
              <a:srgbClr val="FFEDD5"/>
            </a:solidFill>
            <a:prstDash val="solid"/>
          </a:ln>
        </p:spPr>
      </p:sp>
      <p:pic>
        <p:nvPicPr>
          <p:cNvPr id="25" name="Image 3" descr="preencoded.png">    </p:cNvPr>
          <p:cNvPicPr>
            <a:picLocks noChangeAspect="1"/>
          </p:cNvPicPr>
          <p:nvPr/>
        </p:nvPicPr>
        <p:blipFill>
          <a:blip r:embed="rId4"/>
          <a:stretch>
            <a:fillRect/>
          </a:stretch>
        </p:blipFill>
        <p:spPr>
          <a:xfrm>
            <a:off x="1421892" y="3634740"/>
            <a:ext cx="283464" cy="283464"/>
          </a:xfrm>
          <a:prstGeom prst="rect">
            <a:avLst/>
          </a:prstGeom>
        </p:spPr>
      </p:pic>
      <p:sp>
        <p:nvSpPr>
          <p:cNvPr id="26" name="Text 20"/>
          <p:cNvSpPr txBox="1"/>
          <p:nvPr/>
        </p:nvSpPr>
        <p:spPr>
          <a:xfrm>
            <a:off x="2103120" y="3456432"/>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 (PPH, load factor, CICO)</a:t>
            </a:r>
            <a:endParaRPr lang="en-US" sz="1900" dirty="0"/>
          </a:p>
        </p:txBody>
      </p:sp>
      <p:sp>
        <p:nvSpPr>
          <p:cNvPr id="27" name="Text 21"/>
          <p:cNvSpPr txBox="1"/>
          <p:nvPr/>
        </p:nvSpPr>
        <p:spPr>
          <a:xfrm>
            <a:off x="2103120" y="3803904"/>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&amp; units/hr, load factor, CICO</a:t>
            </a:r>
            <a:endParaRPr lang="en-US" sz="1300" dirty="0"/>
          </a:p>
        </p:txBody>
      </p:sp>
      <p:sp>
        <p:nvSpPr>
          <p:cNvPr id="28" name="Shape 22"/>
          <p:cNvSpPr/>
          <p:nvPr/>
        </p:nvSpPr>
        <p:spPr>
          <a:xfrm>
            <a:off x="548640" y="4169664"/>
            <a:ext cx="566928" cy="566928"/>
          </a:xfrm>
          <a:prstGeom prst="ellipse">
            <a:avLst/>
          </a:prstGeom>
          <a:solidFill>
            <a:srgbClr val="EA580C"/>
          </a:solidFill>
          <a:ln w="12700">
            <a:solidFill>
              <a:srgbClr val="EA580C"/>
            </a:solidFill>
            <a:prstDash val="solid"/>
          </a:ln>
        </p:spPr>
      </p:sp>
      <p:sp>
        <p:nvSpPr>
          <p:cNvPr id="29" name="Text 23"/>
          <p:cNvSpPr txBox="1"/>
          <p:nvPr/>
        </p:nvSpPr>
        <p:spPr>
          <a:xfrm>
            <a:off x="548640" y="416966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4169664"/>
            <a:ext cx="566928" cy="566928"/>
          </a:xfrm>
          <a:prstGeom prst="ellipse">
            <a:avLst/>
          </a:prstGeom>
          <a:solidFill>
            <a:srgbClr val="FFEDD5"/>
          </a:solidFill>
          <a:ln w="12700">
            <a:solidFill>
              <a:srgbClr val="FFEDD5"/>
            </a:solidFill>
            <a:prstDash val="solid"/>
          </a:ln>
        </p:spPr>
      </p:sp>
      <p:pic>
        <p:nvPicPr>
          <p:cNvPr id="31" name="Image 4" descr="preencoded.png">    </p:cNvPr>
          <p:cNvPicPr>
            <a:picLocks noChangeAspect="1"/>
          </p:cNvPicPr>
          <p:nvPr/>
        </p:nvPicPr>
        <p:blipFill>
          <a:blip r:embed="rId5"/>
          <a:stretch>
            <a:fillRect/>
          </a:stretch>
        </p:blipFill>
        <p:spPr>
          <a:xfrm>
            <a:off x="1421892" y="4311396"/>
            <a:ext cx="283464" cy="283464"/>
          </a:xfrm>
          <a:prstGeom prst="rect">
            <a:avLst/>
          </a:prstGeom>
        </p:spPr>
      </p:pic>
      <p:sp>
        <p:nvSpPr>
          <p:cNvPr id="32" name="Text 25"/>
          <p:cNvSpPr txBox="1"/>
          <p:nvPr/>
        </p:nvSpPr>
        <p:spPr>
          <a:xfrm>
            <a:off x="2103120" y="4133088"/>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Load quality &amp; equipment</a:t>
            </a:r>
            <a:endParaRPr lang="en-US" sz="1900" dirty="0"/>
          </a:p>
        </p:txBody>
      </p:sp>
      <p:sp>
        <p:nvSpPr>
          <p:cNvPr id="33" name="Text 26"/>
          <p:cNvSpPr txBox="1"/>
          <p:nvPr/>
        </p:nvSpPr>
        <p:spPr>
          <a:xfrm>
            <a:off x="2103120" y="4480560"/>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Load securement &amp; decking, collapsible load tables</a:t>
            </a:r>
            <a:endParaRPr lang="en-US" sz="1300" dirty="0"/>
          </a:p>
        </p:txBody>
      </p:sp>
      <p:sp>
        <p:nvSpPr>
          <p:cNvPr id="34" name="Shape 27"/>
          <p:cNvSpPr/>
          <p:nvPr/>
        </p:nvSpPr>
        <p:spPr>
          <a:xfrm>
            <a:off x="548640" y="4846320"/>
            <a:ext cx="566928" cy="566928"/>
          </a:xfrm>
          <a:prstGeom prst="ellipse">
            <a:avLst/>
          </a:prstGeom>
          <a:solidFill>
            <a:srgbClr val="EA580C"/>
          </a:solidFill>
          <a:ln w="12700">
            <a:solidFill>
              <a:srgbClr val="EA580C"/>
            </a:solidFill>
            <a:prstDash val="solid"/>
          </a:ln>
        </p:spPr>
      </p:sp>
      <p:sp>
        <p:nvSpPr>
          <p:cNvPr id="35" name="Text 28"/>
          <p:cNvSpPr txBox="1"/>
          <p:nvPr/>
        </p:nvSpPr>
        <p:spPr>
          <a:xfrm>
            <a:off x="548640" y="4846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6" name="Shape 29"/>
          <p:cNvSpPr/>
          <p:nvPr/>
        </p:nvSpPr>
        <p:spPr>
          <a:xfrm>
            <a:off x="1280160" y="4846320"/>
            <a:ext cx="566928" cy="566928"/>
          </a:xfrm>
          <a:prstGeom prst="ellipse">
            <a:avLst/>
          </a:prstGeom>
          <a:solidFill>
            <a:srgbClr val="FFEDD5"/>
          </a:solidFill>
          <a:ln w="12700">
            <a:solidFill>
              <a:srgbClr val="FFEDD5"/>
            </a:solidFill>
            <a:prstDash val="solid"/>
          </a:ln>
        </p:spPr>
      </p:sp>
      <p:pic>
        <p:nvPicPr>
          <p:cNvPr id="37" name="Image 5" descr="preencoded.png">    </p:cNvPr>
          <p:cNvPicPr>
            <a:picLocks noChangeAspect="1"/>
          </p:cNvPicPr>
          <p:nvPr/>
        </p:nvPicPr>
        <p:blipFill>
          <a:blip r:embed="rId6"/>
          <a:stretch>
            <a:fillRect/>
          </a:stretch>
        </p:blipFill>
        <p:spPr>
          <a:xfrm>
            <a:off x="1421892" y="4988052"/>
            <a:ext cx="283464" cy="283464"/>
          </a:xfrm>
          <a:prstGeom prst="rect">
            <a:avLst/>
          </a:prstGeom>
        </p:spPr>
      </p:pic>
      <p:sp>
        <p:nvSpPr>
          <p:cNvPr id="38" name="Text 30"/>
          <p:cNvSpPr txBox="1"/>
          <p:nvPr/>
        </p:nvSpPr>
        <p:spPr>
          <a:xfrm>
            <a:off x="2103120" y="480974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Physical terminal</a:t>
            </a:r>
            <a:endParaRPr lang="en-US" sz="1900" dirty="0"/>
          </a:p>
        </p:txBody>
      </p:sp>
      <p:sp>
        <p:nvSpPr>
          <p:cNvPr id="39" name="Text 31"/>
          <p:cNvSpPr txBox="1"/>
          <p:nvPr/>
        </p:nvSpPr>
        <p:spPr>
          <a:xfrm>
            <a:off x="2103120" y="5157216"/>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New building — expected before end of calendar 2026</a:t>
            </a:r>
            <a:endParaRPr lang="en-US" sz="1300" dirty="0"/>
          </a:p>
        </p:txBody>
      </p:sp>
      <p:sp>
        <p:nvSpPr>
          <p:cNvPr id="40" name="Shape 32"/>
          <p:cNvSpPr/>
          <p:nvPr/>
        </p:nvSpPr>
        <p:spPr>
          <a:xfrm>
            <a:off x="548640" y="5522976"/>
            <a:ext cx="566928" cy="566928"/>
          </a:xfrm>
          <a:prstGeom prst="ellipse">
            <a:avLst/>
          </a:prstGeom>
          <a:solidFill>
            <a:srgbClr val="EA580C"/>
          </a:solidFill>
          <a:ln w="12700">
            <a:solidFill>
              <a:srgbClr val="EA580C"/>
            </a:solidFill>
            <a:prstDash val="solid"/>
          </a:ln>
        </p:spPr>
      </p:sp>
      <p:sp>
        <p:nvSpPr>
          <p:cNvPr id="41" name="Text 33"/>
          <p:cNvSpPr txBox="1"/>
          <p:nvPr/>
        </p:nvSpPr>
        <p:spPr>
          <a:xfrm>
            <a:off x="548640" y="552297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7</a:t>
            </a:r>
            <a:endParaRPr lang="en-US" sz="1800" dirty="0"/>
          </a:p>
        </p:txBody>
      </p:sp>
      <p:sp>
        <p:nvSpPr>
          <p:cNvPr id="42" name="Shape 34"/>
          <p:cNvSpPr/>
          <p:nvPr/>
        </p:nvSpPr>
        <p:spPr>
          <a:xfrm>
            <a:off x="1280160" y="5522976"/>
            <a:ext cx="566928" cy="566928"/>
          </a:xfrm>
          <a:prstGeom prst="ellipse">
            <a:avLst/>
          </a:prstGeom>
          <a:solidFill>
            <a:srgbClr val="FFEDD5"/>
          </a:solidFill>
          <a:ln w="12700">
            <a:solidFill>
              <a:srgbClr val="FFEDD5"/>
            </a:solidFill>
            <a:prstDash val="solid"/>
          </a:ln>
        </p:spPr>
      </p:sp>
      <p:pic>
        <p:nvPicPr>
          <p:cNvPr id="43" name="Image 6" descr="preencoded.png">    </p:cNvPr>
          <p:cNvPicPr>
            <a:picLocks noChangeAspect="1"/>
          </p:cNvPicPr>
          <p:nvPr/>
        </p:nvPicPr>
        <p:blipFill>
          <a:blip r:embed="rId7"/>
          <a:stretch>
            <a:fillRect/>
          </a:stretch>
        </p:blipFill>
        <p:spPr>
          <a:xfrm>
            <a:off x="1421892" y="5664708"/>
            <a:ext cx="283464" cy="283464"/>
          </a:xfrm>
          <a:prstGeom prst="rect">
            <a:avLst/>
          </a:prstGeom>
        </p:spPr>
      </p:pic>
      <p:sp>
        <p:nvSpPr>
          <p:cNvPr id="44" name="Text 35"/>
          <p:cNvSpPr txBox="1"/>
          <p:nvPr/>
        </p:nvSpPr>
        <p:spPr>
          <a:xfrm>
            <a:off x="2103120" y="5486400"/>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Recap &amp; questions</a:t>
            </a:r>
            <a:endParaRPr lang="en-US" sz="1900" dirty="0"/>
          </a:p>
        </p:txBody>
      </p:sp>
      <p:sp>
        <p:nvSpPr>
          <p:cNvPr id="45" name="Text 36"/>
          <p:cNvSpPr txBox="1"/>
          <p:nvPr/>
        </p:nvSpPr>
        <p:spPr>
          <a:xfrm>
            <a:off x="2103120" y="5833872"/>
            <a:ext cx="571500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F27 so far — full detail is on the website</a:t>
            </a:r>
            <a:endParaRPr lang="en-US" sz="1300" dirty="0"/>
          </a:p>
        </p:txBody>
      </p:sp>
      <p:sp>
        <p:nvSpPr>
          <p:cNvPr id="46" name="Shape 3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47" name="Shape 38"/>
          <p:cNvSpPr/>
          <p:nvPr/>
        </p:nvSpPr>
        <p:spPr>
          <a:xfrm>
            <a:off x="8275320" y="1783080"/>
            <a:ext cx="502920" cy="502920"/>
          </a:xfrm>
          <a:prstGeom prst="ellipse">
            <a:avLst/>
          </a:prstGeom>
          <a:solidFill>
            <a:srgbClr val="FFEDD5"/>
          </a:solidFill>
          <a:ln w="12700">
            <a:solidFill>
              <a:srgbClr val="FFEDD5"/>
            </a:solidFill>
            <a:prstDash val="solid"/>
          </a:ln>
        </p:spPr>
      </p:sp>
      <p:pic>
        <p:nvPicPr>
          <p:cNvPr id="48" name="Image 7" descr="preencoded.png">    </p:cNvPr>
          <p:cNvPicPr>
            <a:picLocks noChangeAspect="1"/>
          </p:cNvPicPr>
          <p:nvPr/>
        </p:nvPicPr>
        <p:blipFill>
          <a:blip r:embed="rId8"/>
          <a:stretch>
            <a:fillRect/>
          </a:stretch>
        </p:blipFill>
        <p:spPr>
          <a:xfrm>
            <a:off x="8401050" y="1908810"/>
            <a:ext cx="251460" cy="251460"/>
          </a:xfrm>
          <a:prstGeom prst="rect">
            <a:avLst/>
          </a:prstGeom>
        </p:spPr>
      </p:pic>
      <p:sp>
        <p:nvSpPr>
          <p:cNvPr id="49" name="Text 3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50" name="Text 4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51" name="Text 4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52" name="Text 4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0 recordables Jul–Aug; TRIR 0.00 vs 1.21 F26.   </a:t>
            </a:r>
            <a:pPr indent="0" marL="0">
              <a:buNone/>
            </a:pPr>
            <a:r>
              <a:rPr lang="en-US" sz="1300" i="1" dirty="0">
                <a:solidFill>
                  <a:srgbClr val="065F46"/>
                </a:solidFill>
                <a:latin typeface="Calibri" pitchFamily="34" charset="0"/>
                <a:ea typeface="Calibri" pitchFamily="34" charset="-122"/>
                <a:cs typeface="Calibri" pitchFamily="34" charset="-120"/>
              </a:rPr>
              <a:t>“If we prioritize safety, then service, productivity and cost all fall into place.”</a:t>
            </a:r>
            <a:endParaRPr lang="en-US" sz="13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day</a:t>
            </a:r>
            <a:endParaRPr lang="en-US" sz="1800" dirty="0"/>
          </a:p>
        </p:txBody>
      </p:sp>
      <p:sp>
        <p:nvSpPr>
          <p:cNvPr id="27" name="Shape 25"/>
          <p:cNvSpPr/>
          <p:nvPr/>
        </p:nvSpPr>
        <p:spPr>
          <a:xfrm>
            <a:off x="548640" y="3575304"/>
            <a:ext cx="384048" cy="384048"/>
          </a:xfrm>
          <a:prstGeom prst="ellipse">
            <a:avLst/>
          </a:prstGeom>
          <a:solidFill>
            <a:srgbClr val="FFEDD5"/>
          </a:solidFill>
          <a:ln w="12700">
            <a:solidFill>
              <a:srgbClr val="FFEDD5"/>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FFEDD5"/>
          </a:solidFill>
          <a:ln w="12700">
            <a:solidFill>
              <a:srgbClr val="FFEDD5"/>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FFEDD5"/>
          </a:solidFill>
          <a:ln w="12700">
            <a:solidFill>
              <a:srgbClr val="FFEDD5"/>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FFEDD5"/>
          </a:solidFill>
          <a:ln w="12700">
            <a:solidFill>
              <a:srgbClr val="FFEDD5"/>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FFEDD5"/>
          </a:solidFill>
          <a:ln w="12700">
            <a:solidFill>
              <a:srgbClr val="FFEDD5"/>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5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 safety reps — top safety-score drivers at the monthly safety meeting</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Manager &amp; supervisor route ride-alongs — quarterly quota</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Peak onboarding supported by Safety — safe work practices, lifting, forklift &amp; seat belt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Load securement &amp; decking (ANCRA, collapsible tables)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Freight-handling equipment — panel trucks &amp; racks</a:t>
            </a:r>
            <a:endParaRPr lang="en-US" sz="1050" dirty="0"/>
          </a:p>
        </p:txBody>
      </p:sp>
      <p:sp>
        <p:nvSpPr>
          <p:cNvPr id="19" name="Shape 17"/>
          <p:cNvSpPr/>
          <p:nvPr/>
        </p:nvSpPr>
        <p:spPr>
          <a:xfrm>
            <a:off x="6208776" y="3749040"/>
            <a:ext cx="5431536" cy="2240280"/>
          </a:xfrm>
          <a:prstGeom prst="roundRect">
            <a:avLst>
              <a:gd name="adj" fmla="val 3265"/>
            </a:avLst>
          </a:prstGeom>
          <a:solidFill>
            <a:srgbClr val="FFF7ED"/>
          </a:solidFill>
          <a:ln w="12700">
            <a:solidFill>
              <a:srgbClr val="FFF7ED"/>
            </a:solidFill>
            <a:prstDash val="solid"/>
          </a:ln>
        </p:spPr>
      </p:sp>
      <p:sp>
        <p:nvSpPr>
          <p:cNvPr id="20" name="Shape 18"/>
          <p:cNvSpPr/>
          <p:nvPr/>
        </p:nvSpPr>
        <p:spPr>
          <a:xfrm>
            <a:off x="6391656" y="3913632"/>
            <a:ext cx="1920240" cy="329184"/>
          </a:xfrm>
          <a:prstGeom prst="roundRect">
            <a:avLst>
              <a:gd name="adj" fmla="val 22222"/>
            </a:avLst>
          </a:prstGeom>
          <a:solidFill>
            <a:srgbClr val="FFEDD5"/>
          </a:solidFill>
          <a:ln w="12700">
            <a:solidFill>
              <a:srgbClr val="FFEDD5"/>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EA580C"/>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People-led safety — F27 proposals with Safety</a:t>
            </a:r>
            <a:endParaRPr lang="en-US" sz="3000" dirty="0"/>
          </a:p>
        </p:txBody>
      </p:sp>
      <p:sp>
        <p:nvSpPr>
          <p:cNvPr id="4" name="Shape 2"/>
          <p:cNvSpPr/>
          <p:nvPr/>
        </p:nvSpPr>
        <p:spPr>
          <a:xfrm>
            <a:off x="548640" y="1325880"/>
            <a:ext cx="3544824" cy="3977640"/>
          </a:xfrm>
          <a:prstGeom prst="roundRect">
            <a:avLst>
              <a:gd name="adj" fmla="val 2064"/>
            </a:avLst>
          </a:prstGeom>
          <a:solidFill>
            <a:srgbClr val="F3F4F6"/>
          </a:solidFill>
          <a:ln w="12700">
            <a:solidFill>
              <a:srgbClr val="F3F4F6"/>
            </a:solidFill>
            <a:prstDash val="solid"/>
          </a:ln>
        </p:spPr>
      </p:sp>
      <p:sp>
        <p:nvSpPr>
          <p:cNvPr id="5" name="Shape 3"/>
          <p:cNvSpPr/>
          <p:nvPr/>
        </p:nvSpPr>
        <p:spPr>
          <a:xfrm>
            <a:off x="777240" y="1508760"/>
            <a:ext cx="502920" cy="50292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902970" y="1634490"/>
            <a:ext cx="251460" cy="251460"/>
          </a:xfrm>
          <a:prstGeom prst="rect">
            <a:avLst/>
          </a:prstGeom>
        </p:spPr>
      </p:pic>
      <p:sp>
        <p:nvSpPr>
          <p:cNvPr id="7" name="Text 4"/>
          <p:cNvSpPr txBox="1"/>
          <p:nvPr/>
        </p:nvSpPr>
        <p:spPr>
          <a:xfrm>
            <a:off x="1417320"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Driver safety reps</a:t>
            </a:r>
            <a:endParaRPr lang="en-US" sz="1500" dirty="0"/>
          </a:p>
        </p:txBody>
      </p:sp>
      <p:sp>
        <p:nvSpPr>
          <p:cNvPr id="8" name="Shape 5"/>
          <p:cNvSpPr/>
          <p:nvPr/>
        </p:nvSpPr>
        <p:spPr>
          <a:xfrm>
            <a:off x="777240" y="2148840"/>
            <a:ext cx="3087624" cy="292608"/>
          </a:xfrm>
          <a:prstGeom prst="roundRect">
            <a:avLst>
              <a:gd name="adj" fmla="val 25000"/>
            </a:avLst>
          </a:prstGeom>
          <a:solidFill>
            <a:srgbClr val="FEF3C7"/>
          </a:solidFill>
          <a:ln w="12700">
            <a:solidFill>
              <a:srgbClr val="FEF3C7"/>
            </a:solidFill>
            <a:prstDash val="solid"/>
          </a:ln>
        </p:spPr>
      </p:sp>
      <p:sp>
        <p:nvSpPr>
          <p:cNvPr id="9" name="Text 6"/>
          <p:cNvSpPr txBox="1"/>
          <p:nvPr/>
        </p:nvSpPr>
        <p:spPr>
          <a:xfrm>
            <a:off x="777240"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0" name="Text 7"/>
          <p:cNvSpPr txBox="1"/>
          <p:nvPr/>
        </p:nvSpPr>
        <p:spPr>
          <a:xfrm>
            <a:off x="777240"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Top safety-score drivers join the monthly safety meeting</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Speak for drivers on road and yard concerns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Bring ideas that help leadership fix issues sooner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Peers carry more weight than policy; being chosen creates ownership</a:t>
            </a:r>
            <a:endParaRPr lang="en-US" sz="1200" dirty="0"/>
          </a:p>
        </p:txBody>
      </p:sp>
      <p:sp>
        <p:nvSpPr>
          <p:cNvPr id="11" name="Shape 8"/>
          <p:cNvSpPr/>
          <p:nvPr/>
        </p:nvSpPr>
        <p:spPr>
          <a:xfrm>
            <a:off x="4322064" y="1325880"/>
            <a:ext cx="3544824" cy="3977640"/>
          </a:xfrm>
          <a:prstGeom prst="roundRect">
            <a:avLst>
              <a:gd name="adj" fmla="val 2064"/>
            </a:avLst>
          </a:prstGeom>
          <a:solidFill>
            <a:srgbClr val="F3F4F6"/>
          </a:solidFill>
          <a:ln w="12700">
            <a:solidFill>
              <a:srgbClr val="F3F4F6"/>
            </a:solidFill>
            <a:prstDash val="solid"/>
          </a:ln>
        </p:spPr>
      </p:sp>
      <p:sp>
        <p:nvSpPr>
          <p:cNvPr id="12" name="Shape 9"/>
          <p:cNvSpPr/>
          <p:nvPr/>
        </p:nvSpPr>
        <p:spPr>
          <a:xfrm>
            <a:off x="4550664" y="1508760"/>
            <a:ext cx="502920" cy="502920"/>
          </a:xfrm>
          <a:prstGeom prst="ellipse">
            <a:avLst/>
          </a:prstGeom>
          <a:solidFill>
            <a:srgbClr val="EA580C"/>
          </a:solidFill>
          <a:ln w="12700">
            <a:solidFill>
              <a:srgbClr val="EA580C"/>
            </a:solidFill>
            <a:prstDash val="solid"/>
          </a:ln>
        </p:spPr>
      </p:sp>
      <p:pic>
        <p:nvPicPr>
          <p:cNvPr id="13" name="Image 1" descr="preencoded.png">    </p:cNvPr>
          <p:cNvPicPr>
            <a:picLocks noChangeAspect="1"/>
          </p:cNvPicPr>
          <p:nvPr/>
        </p:nvPicPr>
        <p:blipFill>
          <a:blip r:embed="rId2"/>
          <a:stretch>
            <a:fillRect/>
          </a:stretch>
        </p:blipFill>
        <p:spPr>
          <a:xfrm>
            <a:off x="4676394" y="1634490"/>
            <a:ext cx="251460" cy="251460"/>
          </a:xfrm>
          <a:prstGeom prst="rect">
            <a:avLst/>
          </a:prstGeom>
        </p:spPr>
      </p:pic>
      <p:sp>
        <p:nvSpPr>
          <p:cNvPr id="14" name="Text 10"/>
          <p:cNvSpPr txBox="1"/>
          <p:nvPr/>
        </p:nvSpPr>
        <p:spPr>
          <a:xfrm>
            <a:off x="5190744"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Manager &amp; supervisor ride-alongs</a:t>
            </a:r>
            <a:endParaRPr lang="en-US" sz="1500" dirty="0"/>
          </a:p>
        </p:txBody>
      </p:sp>
      <p:sp>
        <p:nvSpPr>
          <p:cNvPr id="15" name="Shape 11"/>
          <p:cNvSpPr/>
          <p:nvPr/>
        </p:nvSpPr>
        <p:spPr>
          <a:xfrm>
            <a:off x="4550664" y="2148840"/>
            <a:ext cx="3087624" cy="292608"/>
          </a:xfrm>
          <a:prstGeom prst="roundRect">
            <a:avLst>
              <a:gd name="adj" fmla="val 25000"/>
            </a:avLst>
          </a:prstGeom>
          <a:solidFill>
            <a:srgbClr val="FEF3C7"/>
          </a:solidFill>
          <a:ln w="12700">
            <a:solidFill>
              <a:srgbClr val="FEF3C7"/>
            </a:solidFill>
            <a:prstDash val="solid"/>
          </a:ln>
        </p:spPr>
      </p:sp>
      <p:sp>
        <p:nvSpPr>
          <p:cNvPr id="16" name="Text 12"/>
          <p:cNvSpPr txBox="1"/>
          <p:nvPr/>
        </p:nvSpPr>
        <p:spPr>
          <a:xfrm>
            <a:off x="4550664"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B45309"/>
                </a:solidFill>
                <a:latin typeface="Calibri" pitchFamily="34" charset="0"/>
                <a:ea typeface="Calibri" pitchFamily="34" charset="-122"/>
                <a:cs typeface="Calibri" pitchFamily="34" charset="-120"/>
              </a:rPr>
              <a:t>PLANNED</a:t>
            </a:r>
            <a:endParaRPr lang="en-US" sz="1000" dirty="0"/>
          </a:p>
        </p:txBody>
      </p:sp>
      <p:sp>
        <p:nvSpPr>
          <p:cNvPr id="17" name="Text 13"/>
          <p:cNvSpPr txBox="1"/>
          <p:nvPr/>
        </p:nvSpPr>
        <p:spPr>
          <a:xfrm>
            <a:off x="4550664"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See driver challenges on the road first-hand</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Ride-alongs per quarter ramp up: 8 → 11 → 13 (of 50 drivers)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F28: ride with every driver once a year</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Start with new drivers and lower safety scores</a:t>
            </a:r>
            <a:endParaRPr lang="en-US" sz="1200" dirty="0"/>
          </a:p>
        </p:txBody>
      </p:sp>
      <p:sp>
        <p:nvSpPr>
          <p:cNvPr id="18" name="Shape 14"/>
          <p:cNvSpPr/>
          <p:nvPr/>
        </p:nvSpPr>
        <p:spPr>
          <a:xfrm>
            <a:off x="8095488" y="1325880"/>
            <a:ext cx="3544824" cy="3977640"/>
          </a:xfrm>
          <a:prstGeom prst="roundRect">
            <a:avLst>
              <a:gd name="adj" fmla="val 2064"/>
            </a:avLst>
          </a:prstGeom>
          <a:solidFill>
            <a:srgbClr val="F3F4F6"/>
          </a:solidFill>
          <a:ln w="12700">
            <a:solidFill>
              <a:srgbClr val="F3F4F6"/>
            </a:solidFill>
            <a:prstDash val="solid"/>
          </a:ln>
        </p:spPr>
      </p:sp>
      <p:sp>
        <p:nvSpPr>
          <p:cNvPr id="19" name="Shape 15"/>
          <p:cNvSpPr/>
          <p:nvPr/>
        </p:nvSpPr>
        <p:spPr>
          <a:xfrm>
            <a:off x="8324088" y="1508760"/>
            <a:ext cx="502920" cy="502920"/>
          </a:xfrm>
          <a:prstGeom prst="ellipse">
            <a:avLst/>
          </a:prstGeom>
          <a:solidFill>
            <a:srgbClr val="EA580C"/>
          </a:solidFill>
          <a:ln w="12700">
            <a:solidFill>
              <a:srgbClr val="EA580C"/>
            </a:solidFill>
            <a:prstDash val="solid"/>
          </a:ln>
        </p:spPr>
      </p:sp>
      <p:pic>
        <p:nvPicPr>
          <p:cNvPr id="20" name="Image 2" descr="preencoded.png">    </p:cNvPr>
          <p:cNvPicPr>
            <a:picLocks noChangeAspect="1"/>
          </p:cNvPicPr>
          <p:nvPr/>
        </p:nvPicPr>
        <p:blipFill>
          <a:blip r:embed="rId3"/>
          <a:stretch>
            <a:fillRect/>
          </a:stretch>
        </p:blipFill>
        <p:spPr>
          <a:xfrm>
            <a:off x="8449818" y="1634490"/>
            <a:ext cx="251460" cy="251460"/>
          </a:xfrm>
          <a:prstGeom prst="rect">
            <a:avLst/>
          </a:prstGeom>
        </p:spPr>
      </p:pic>
      <p:sp>
        <p:nvSpPr>
          <p:cNvPr id="21" name="Text 16"/>
          <p:cNvSpPr txBox="1"/>
          <p:nvPr/>
        </p:nvSpPr>
        <p:spPr>
          <a:xfrm>
            <a:off x="8964168" y="1508760"/>
            <a:ext cx="25389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Peak onboarding with Safety</a:t>
            </a:r>
            <a:endParaRPr lang="en-US" sz="1500" dirty="0"/>
          </a:p>
        </p:txBody>
      </p:sp>
      <p:sp>
        <p:nvSpPr>
          <p:cNvPr id="22" name="Shape 17"/>
          <p:cNvSpPr/>
          <p:nvPr/>
        </p:nvSpPr>
        <p:spPr>
          <a:xfrm>
            <a:off x="8324088" y="2148840"/>
            <a:ext cx="3087624" cy="292608"/>
          </a:xfrm>
          <a:prstGeom prst="roundRect">
            <a:avLst>
              <a:gd name="adj" fmla="val 25000"/>
            </a:avLst>
          </a:prstGeom>
          <a:solidFill>
            <a:srgbClr val="D1FAE5"/>
          </a:solidFill>
          <a:ln w="12700">
            <a:solidFill>
              <a:srgbClr val="D1FAE5"/>
            </a:solidFill>
            <a:prstDash val="solid"/>
          </a:ln>
        </p:spPr>
      </p:sp>
      <p:sp>
        <p:nvSpPr>
          <p:cNvPr id="23" name="Text 18"/>
          <p:cNvSpPr txBox="1"/>
          <p:nvPr/>
        </p:nvSpPr>
        <p:spPr>
          <a:xfrm>
            <a:off x="8324088" y="2148840"/>
            <a:ext cx="3087624"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SUPPORTED BY SAFETY</a:t>
            </a:r>
            <a:endParaRPr lang="en-US" sz="1000" dirty="0"/>
          </a:p>
        </p:txBody>
      </p:sp>
      <p:sp>
        <p:nvSpPr>
          <p:cNvPr id="24" name="Text 19"/>
          <p:cNvSpPr txBox="1"/>
          <p:nvPr/>
        </p:nvSpPr>
        <p:spPr>
          <a:xfrm>
            <a:off x="8324088" y="2560320"/>
            <a:ext cx="3087624" cy="265176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Nov and spring/summer e-commerce peaks: 10%+ new temp (agency) staff, all shifts</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Safety covers safe work practices, lifting technique, truck &amp; trailer pull, forklift safety &amp; seat belt, right to refuse</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Short check-ins: seat belt on the forklift; what to do if there is a spill</a:t>
            </a:r>
            <a:endParaRPr lang="en-US" sz="1200" dirty="0"/>
          </a:p>
          <a:p>
            <a:pPr marL="203200" indent="-203200">
              <a:spcAft>
                <a:spcPts val="600"/>
              </a:spcAft>
              <a:buSzPct val="100000"/>
              <a:buChar char="•"/>
            </a:pPr>
            <a:r>
              <a:rPr lang="en-US" sz="1200" dirty="0">
                <a:solidFill>
                  <a:srgbClr val="1F2937"/>
                </a:solidFill>
                <a:latin typeface="Calibri" pitchFamily="34" charset="0"/>
                <a:ea typeface="Calibri" pitchFamily="34" charset="-122"/>
                <a:cs typeface="Calibri" pitchFamily="34" charset="-120"/>
              </a:rPr>
              <a:t>Added layer on top of operations checks</a:t>
            </a:r>
            <a:endParaRPr lang="en-US" sz="1200" dirty="0"/>
          </a:p>
        </p:txBody>
      </p:sp>
      <p:sp>
        <p:nvSpPr>
          <p:cNvPr id="25" name="Shape 20"/>
          <p:cNvSpPr/>
          <p:nvPr/>
        </p:nvSpPr>
        <p:spPr>
          <a:xfrm>
            <a:off x="548640" y="5440680"/>
            <a:ext cx="11091672" cy="685800"/>
          </a:xfrm>
          <a:prstGeom prst="roundRect">
            <a:avLst>
              <a:gd name="adj" fmla="val 10667"/>
            </a:avLst>
          </a:prstGeom>
          <a:solidFill>
            <a:srgbClr val="FFF7ED"/>
          </a:solidFill>
          <a:ln w="12700">
            <a:solidFill>
              <a:srgbClr val="FFF7ED"/>
            </a:solidFill>
            <a:prstDash val="solid"/>
          </a:ln>
        </p:spPr>
      </p:sp>
      <p:sp>
        <p:nvSpPr>
          <p:cNvPr id="26" name="Text 21"/>
          <p:cNvSpPr txBox="1"/>
          <p:nvPr/>
        </p:nvSpPr>
        <p:spPr>
          <a:xfrm>
            <a:off x="777240" y="5440680"/>
            <a:ext cx="10698480" cy="68580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Why it works: </a:t>
            </a:r>
            <a:pPr indent="0" marL="0">
              <a:buNone/>
            </a:pPr>
            <a:r>
              <a:rPr lang="en-US" sz="1300" dirty="0">
                <a:solidFill>
                  <a:srgbClr val="1F2937"/>
                </a:solidFill>
                <a:latin typeface="Calibri" pitchFamily="34" charset="0"/>
                <a:ea typeface="Calibri" pitchFamily="34" charset="-122"/>
                <a:cs typeface="Calibri" pitchFamily="34" charset="-120"/>
              </a:rPr>
              <a:t>people who feel cared for, care. When the workplace is safe and people feel heard and respected, service, productivity and cost follow.</a:t>
            </a:r>
            <a:endParaRPr lang="en-US" sz="1300" dirty="0"/>
          </a:p>
        </p:txBody>
      </p:sp>
      <p:sp>
        <p:nvSpPr>
          <p:cNvPr id="27" name="Text 22"/>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3"/>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Week 39 adj 94.8% · week 40 (Sun–Mon) 96.6%</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FF7ED"/>
          </a:solidFill>
          <a:ln w="12700">
            <a:solidFill>
              <a:srgbClr val="FFF7ED"/>
            </a:solidFill>
            <a:prstDash val="solid"/>
          </a:ln>
        </p:spPr>
      </p:sp>
      <p:sp>
        <p:nvSpPr>
          <p:cNvPr id="23" name="Shape 20"/>
          <p:cNvSpPr/>
          <p:nvPr/>
        </p:nvSpPr>
        <p:spPr>
          <a:xfrm>
            <a:off x="731520" y="5404104"/>
            <a:ext cx="475488" cy="475488"/>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Terminal and P&amp;D teams working together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Partner-carrier (beyond interliner) lates reviewed weekly with the interline team.</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b="1" i="1" dirty="0">
                <a:solidFill>
                  <a:srgbClr val="1F2937"/>
                </a:solidFill>
                <a:latin typeface="Calibri" pitchFamily="34" charset="0"/>
                <a:ea typeface="Calibri" pitchFamily="34" charset="-122"/>
                <a:cs typeface="Calibri" pitchFamily="34" charset="-120"/>
              </a:rPr>
              <a:t>Service failures (AS code excluded — not a service failure): week 39 = 66 (top: TF 22); week 40 (Sun–Mon) = 8. </a:t>
            </a:r>
            <a:pPr indent="0" marL="0">
              <a:buNone/>
            </a:pPr>
            <a:r>
              <a:rPr lang="en-US" sz="950" i="1" dirty="0">
                <a:solidFill>
                  <a:srgbClr val="6B7280"/>
                </a:solidFill>
                <a:latin typeface="Calibri" pitchFamily="34" charset="0"/>
                <a:ea typeface="Calibri" pitchFamily="34" charset="-122"/>
                <a:cs typeface="Calibri" pitchFamily="34" charset="-120"/>
              </a:rPr>
              <a:t>Source: Adj On Time dashboard and Terminal OTS report — Mississauga, through Sep 28. Partner carriers = "beyond interliner" freight.</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FF7ED"/>
          </a:solidFill>
          <a:ln w="12700">
            <a:solidFill>
              <a:srgbClr val="FFF7ED"/>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EA580C"/>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 – other</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KPI goals — where we are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Company F27 goal plan · Mississauga latest</a:t>
            </a:r>
            <a:endParaRPr lang="en-US" sz="1300" dirty="0"/>
          </a:p>
        </p:txBody>
      </p:sp>
      <p:sp>
        <p:nvSpPr>
          <p:cNvPr id="5" name="Shape 3"/>
          <p:cNvSpPr/>
          <p:nvPr/>
        </p:nvSpPr>
        <p:spPr>
          <a:xfrm>
            <a:off x="548640" y="1645920"/>
            <a:ext cx="3544824" cy="3108960"/>
          </a:xfrm>
          <a:prstGeom prst="roundRect">
            <a:avLst>
              <a:gd name="adj" fmla="val 2353"/>
            </a:avLst>
          </a:prstGeom>
          <a:solidFill>
            <a:srgbClr val="F3F4F6"/>
          </a:solidFill>
          <a:ln w="12700">
            <a:solidFill>
              <a:srgbClr val="F3F4F6"/>
            </a:solidFill>
            <a:prstDash val="solid"/>
          </a:ln>
        </p:spPr>
      </p:sp>
      <p:sp>
        <p:nvSpPr>
          <p:cNvPr id="6" name="Text 4"/>
          <p:cNvSpPr txBox="1"/>
          <p:nvPr/>
        </p:nvSpPr>
        <p:spPr>
          <a:xfrm>
            <a:off x="777240"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On-time service</a:t>
            </a:r>
            <a:endParaRPr lang="en-US" sz="1600" dirty="0"/>
          </a:p>
        </p:txBody>
      </p:sp>
      <p:sp>
        <p:nvSpPr>
          <p:cNvPr id="7" name="Text 5"/>
          <p:cNvSpPr txBox="1"/>
          <p:nvPr/>
        </p:nvSpPr>
        <p:spPr>
          <a:xfrm>
            <a:off x="777240"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incl. interliners</a:t>
            </a:r>
            <a:endParaRPr lang="en-US" sz="1050" dirty="0"/>
          </a:p>
        </p:txBody>
      </p:sp>
      <p:sp>
        <p:nvSpPr>
          <p:cNvPr id="8" name="Shape 6"/>
          <p:cNvSpPr/>
          <p:nvPr/>
        </p:nvSpPr>
        <p:spPr>
          <a:xfrm>
            <a:off x="777240" y="2395728"/>
            <a:ext cx="2011680" cy="292608"/>
          </a:xfrm>
          <a:prstGeom prst="roundRect">
            <a:avLst>
              <a:gd name="adj" fmla="val 25000"/>
            </a:avLst>
          </a:prstGeom>
          <a:solidFill>
            <a:srgbClr val="D1FAE5"/>
          </a:solidFill>
          <a:ln w="12700">
            <a:solidFill>
              <a:srgbClr val="D1FAE5"/>
            </a:solidFill>
            <a:prstDash val="solid"/>
          </a:ln>
        </p:spPr>
      </p:sp>
      <p:sp>
        <p:nvSpPr>
          <p:cNvPr id="9" name="Text 7"/>
          <p:cNvSpPr txBox="1"/>
          <p:nvPr/>
        </p:nvSpPr>
        <p:spPr>
          <a:xfrm>
            <a:off x="777240"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EXCEEDED</a:t>
            </a:r>
            <a:endParaRPr lang="en-US" sz="1000" dirty="0"/>
          </a:p>
        </p:txBody>
      </p:sp>
      <p:sp>
        <p:nvSpPr>
          <p:cNvPr id="10" name="Text 8"/>
          <p:cNvSpPr txBox="1"/>
          <p:nvPr/>
        </p:nvSpPr>
        <p:spPr>
          <a:xfrm>
            <a:off x="777240"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93.7%</a:t>
            </a:r>
            <a:endParaRPr lang="en-US" sz="4000" dirty="0"/>
          </a:p>
        </p:txBody>
      </p:sp>
      <p:sp>
        <p:nvSpPr>
          <p:cNvPr id="11" name="Text 9"/>
          <p:cNvSpPr txBox="1"/>
          <p:nvPr/>
        </p:nvSpPr>
        <p:spPr>
          <a:xfrm>
            <a:off x="777240"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 goal ≥ 91%</a:t>
            </a:r>
            <a:endParaRPr lang="en-US" sz="1100" dirty="0"/>
          </a:p>
        </p:txBody>
      </p:sp>
      <p:sp>
        <p:nvSpPr>
          <p:cNvPr id="12" name="Text 10"/>
          <p:cNvSpPr txBox="1"/>
          <p:nvPr/>
        </p:nvSpPr>
        <p:spPr>
          <a:xfrm>
            <a:off x="777240"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Up every month since July (89.3 → 91.7 → 93.7). Hold 92%+ through peak.</a:t>
            </a:r>
            <a:endParaRPr lang="en-US" sz="1200" dirty="0"/>
          </a:p>
        </p:txBody>
      </p:sp>
      <p:sp>
        <p:nvSpPr>
          <p:cNvPr id="13" name="Shape 11"/>
          <p:cNvSpPr/>
          <p:nvPr/>
        </p:nvSpPr>
        <p:spPr>
          <a:xfrm>
            <a:off x="4322064" y="1645920"/>
            <a:ext cx="3544824" cy="3108960"/>
          </a:xfrm>
          <a:prstGeom prst="roundRect">
            <a:avLst>
              <a:gd name="adj" fmla="val 2353"/>
            </a:avLst>
          </a:prstGeom>
          <a:solidFill>
            <a:srgbClr val="F3F4F6"/>
          </a:solidFill>
          <a:ln w="12700">
            <a:solidFill>
              <a:srgbClr val="F3F4F6"/>
            </a:solidFill>
            <a:prstDash val="solid"/>
          </a:ln>
        </p:spPr>
      </p:sp>
      <p:sp>
        <p:nvSpPr>
          <p:cNvPr id="14" name="Text 12"/>
          <p:cNvSpPr txBox="1"/>
          <p:nvPr/>
        </p:nvSpPr>
        <p:spPr>
          <a:xfrm>
            <a:off x="4550664"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Missed pickups</a:t>
            </a:r>
            <a:endParaRPr lang="en-US" sz="1600" dirty="0"/>
          </a:p>
        </p:txBody>
      </p:sp>
      <p:sp>
        <p:nvSpPr>
          <p:cNvPr id="15" name="Text 13"/>
          <p:cNvSpPr txBox="1"/>
          <p:nvPr/>
        </p:nvSpPr>
        <p:spPr>
          <a:xfrm>
            <a:off x="4550664"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 of pickups</a:t>
            </a:r>
            <a:endParaRPr lang="en-US" sz="1050" dirty="0"/>
          </a:p>
        </p:txBody>
      </p:sp>
      <p:sp>
        <p:nvSpPr>
          <p:cNvPr id="16" name="Shape 14"/>
          <p:cNvSpPr/>
          <p:nvPr/>
        </p:nvSpPr>
        <p:spPr>
          <a:xfrm>
            <a:off x="4550664" y="2395728"/>
            <a:ext cx="2011680" cy="292608"/>
          </a:xfrm>
          <a:prstGeom prst="roundRect">
            <a:avLst>
              <a:gd name="adj" fmla="val 25000"/>
            </a:avLst>
          </a:prstGeom>
          <a:solidFill>
            <a:srgbClr val="FEE2E2"/>
          </a:solidFill>
          <a:ln w="12700">
            <a:solidFill>
              <a:srgbClr val="FEE2E2"/>
            </a:solidFill>
            <a:prstDash val="solid"/>
          </a:ln>
        </p:spPr>
      </p:sp>
      <p:sp>
        <p:nvSpPr>
          <p:cNvPr id="17" name="Text 15"/>
          <p:cNvSpPr txBox="1"/>
          <p:nvPr/>
        </p:nvSpPr>
        <p:spPr>
          <a:xfrm>
            <a:off x="4550664"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NEEDS IMPROVEMENT</a:t>
            </a:r>
            <a:endParaRPr lang="en-US" sz="1000" dirty="0"/>
          </a:p>
        </p:txBody>
      </p:sp>
      <p:sp>
        <p:nvSpPr>
          <p:cNvPr id="18" name="Text 16"/>
          <p:cNvSpPr txBox="1"/>
          <p:nvPr/>
        </p:nvSpPr>
        <p:spPr>
          <a:xfrm>
            <a:off x="4550664" y="2761488"/>
            <a:ext cx="3087624" cy="64008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 5.23%</a:t>
            </a:r>
            <a:endParaRPr lang="en-US" sz="4000" dirty="0"/>
          </a:p>
        </p:txBody>
      </p:sp>
      <p:sp>
        <p:nvSpPr>
          <p:cNvPr id="19" name="Text 17"/>
          <p:cNvSpPr txBox="1"/>
          <p:nvPr/>
        </p:nvSpPr>
        <p:spPr>
          <a:xfrm>
            <a:off x="4550664"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Sep MTD · goal ≤ 1%</a:t>
            </a:r>
            <a:endParaRPr lang="en-US" sz="1100" dirty="0"/>
          </a:p>
        </p:txBody>
      </p:sp>
      <p:sp>
        <p:nvSpPr>
          <p:cNvPr id="20" name="Text 18"/>
          <p:cNvSpPr txBox="1"/>
          <p:nvPr/>
        </p:nvSpPr>
        <p:spPr>
          <a:xfrm>
            <a:off x="4550664"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≈45% are OPS false positives — close-out fix and daily PU review close most of the gap.</a:t>
            </a:r>
            <a:endParaRPr lang="en-US" sz="1200" dirty="0"/>
          </a:p>
        </p:txBody>
      </p:sp>
      <p:sp>
        <p:nvSpPr>
          <p:cNvPr id="21" name="Shape 19"/>
          <p:cNvSpPr/>
          <p:nvPr/>
        </p:nvSpPr>
        <p:spPr>
          <a:xfrm>
            <a:off x="8095488" y="1645920"/>
            <a:ext cx="3544824" cy="3108960"/>
          </a:xfrm>
          <a:prstGeom prst="roundRect">
            <a:avLst>
              <a:gd name="adj" fmla="val 2353"/>
            </a:avLst>
          </a:prstGeom>
          <a:solidFill>
            <a:srgbClr val="F3F4F6"/>
          </a:solidFill>
          <a:ln w="12700">
            <a:solidFill>
              <a:srgbClr val="F3F4F6"/>
            </a:solidFill>
            <a:prstDash val="solid"/>
          </a:ln>
        </p:spPr>
      </p:sp>
      <p:sp>
        <p:nvSpPr>
          <p:cNvPr id="22" name="Text 20"/>
          <p:cNvSpPr txBox="1"/>
          <p:nvPr/>
        </p:nvSpPr>
        <p:spPr>
          <a:xfrm>
            <a:off x="8324088" y="1783080"/>
            <a:ext cx="3087624" cy="32004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Load factor — headhaul</a:t>
            </a:r>
            <a:endParaRPr lang="en-US" sz="1600" dirty="0"/>
          </a:p>
        </p:txBody>
      </p:sp>
      <p:sp>
        <p:nvSpPr>
          <p:cNvPr id="23" name="Text 21"/>
          <p:cNvSpPr txBox="1"/>
          <p:nvPr/>
        </p:nvSpPr>
        <p:spPr>
          <a:xfrm>
            <a:off x="8324088" y="2084832"/>
            <a:ext cx="3087624"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average load %</a:t>
            </a:r>
            <a:endParaRPr lang="en-US" sz="1050" dirty="0"/>
          </a:p>
        </p:txBody>
      </p:sp>
      <p:sp>
        <p:nvSpPr>
          <p:cNvPr id="24" name="Shape 22"/>
          <p:cNvSpPr/>
          <p:nvPr/>
        </p:nvSpPr>
        <p:spPr>
          <a:xfrm>
            <a:off x="8324088" y="2395728"/>
            <a:ext cx="2011680" cy="292608"/>
          </a:xfrm>
          <a:prstGeom prst="roundRect">
            <a:avLst>
              <a:gd name="adj" fmla="val 25000"/>
            </a:avLst>
          </a:prstGeom>
          <a:solidFill>
            <a:srgbClr val="DBEAFE"/>
          </a:solidFill>
          <a:ln w="12700">
            <a:solidFill>
              <a:srgbClr val="DBEAFE"/>
            </a:solidFill>
            <a:prstDash val="solid"/>
          </a:ln>
        </p:spPr>
      </p:sp>
      <p:sp>
        <p:nvSpPr>
          <p:cNvPr id="25" name="Text 23"/>
          <p:cNvSpPr txBox="1"/>
          <p:nvPr/>
        </p:nvSpPr>
        <p:spPr>
          <a:xfrm>
            <a:off x="8324088" y="2395728"/>
            <a:ext cx="2011680" cy="292608"/>
          </a:xfrm>
          <a:prstGeom prst="rect">
            <a:avLst/>
          </a:prstGeom>
          <a:noFill/>
          <a:ln/>
        </p:spPr>
        <p:txBody>
          <a:bodyPr wrap="square" lIns="0" tIns="0" rIns="0" bIns="0" rtlCol="0" anchor="ctr"/>
          <a:lstStyle/>
          <a:p>
            <a:pPr algn="ctr" indent="0" marL="0">
              <a:buNone/>
            </a:pPr>
            <a:r>
              <a:rPr lang="en-US" sz="1000" b="1" spc="100" kern="0" dirty="0">
                <a:solidFill>
                  <a:srgbClr val="2563EB"/>
                </a:solidFill>
                <a:latin typeface="Calibri" pitchFamily="34" charset="0"/>
                <a:ea typeface="Calibri" pitchFamily="34" charset="-122"/>
                <a:cs typeface="Calibri" pitchFamily="34" charset="-120"/>
              </a:rPr>
              <a:t>ACHIEVED</a:t>
            </a:r>
            <a:endParaRPr lang="en-US" sz="1000" dirty="0"/>
          </a:p>
        </p:txBody>
      </p:sp>
      <p:sp>
        <p:nvSpPr>
          <p:cNvPr id="26" name="Text 24"/>
          <p:cNvSpPr txBox="1"/>
          <p:nvPr/>
        </p:nvSpPr>
        <p:spPr>
          <a:xfrm>
            <a:off x="8324088" y="2761488"/>
            <a:ext cx="3087624" cy="640080"/>
          </a:xfrm>
          <a:prstGeom prst="rect">
            <a:avLst/>
          </a:prstGeom>
          <a:noFill/>
          <a:ln/>
        </p:spPr>
        <p:txBody>
          <a:bodyPr wrap="square" lIns="0" tIns="0" rIns="0" bIns="0" rtlCol="0" anchor="ctr"/>
          <a:lstStyle/>
          <a:p>
            <a:pPr indent="0" marL="0">
              <a:buNone/>
            </a:pPr>
            <a:r>
              <a:rPr lang="en-US" sz="4000" b="1" dirty="0">
                <a:solidFill>
                  <a:srgbClr val="059669"/>
                </a:solidFill>
                <a:latin typeface="Calibri" pitchFamily="34" charset="0"/>
                <a:ea typeface="Calibri" pitchFamily="34" charset="-122"/>
                <a:cs typeface="Calibri" pitchFamily="34" charset="-120"/>
              </a:rPr>
              <a:t>▲ 74.9%</a:t>
            </a:r>
            <a:endParaRPr lang="en-US" sz="4000" dirty="0"/>
          </a:p>
        </p:txBody>
      </p:sp>
      <p:sp>
        <p:nvSpPr>
          <p:cNvPr id="27" name="Text 25"/>
          <p:cNvSpPr txBox="1"/>
          <p:nvPr/>
        </p:nvSpPr>
        <p:spPr>
          <a:xfrm>
            <a:off x="8324088" y="3401568"/>
            <a:ext cx="3087624"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Jul–Sep · goal ≥ 74%</a:t>
            </a:r>
            <a:endParaRPr lang="en-US" sz="1100" dirty="0"/>
          </a:p>
        </p:txBody>
      </p:sp>
      <p:sp>
        <p:nvSpPr>
          <p:cNvPr id="28" name="Text 26"/>
          <p:cNvSpPr txBox="1"/>
          <p:nvPr/>
        </p:nvSpPr>
        <p:spPr>
          <a:xfrm>
            <a:off x="8324088" y="3703320"/>
            <a:ext cx="3087624" cy="9601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At goal (75.7% excl. Moncton). Toyota footage fix and decking lift it further.</a:t>
            </a:r>
            <a:endParaRPr lang="en-US" sz="1200" dirty="0"/>
          </a:p>
        </p:txBody>
      </p:sp>
      <p:sp>
        <p:nvSpPr>
          <p:cNvPr id="29" name="Shape 27"/>
          <p:cNvSpPr/>
          <p:nvPr/>
        </p:nvSpPr>
        <p:spPr>
          <a:xfrm>
            <a:off x="548640" y="4937760"/>
            <a:ext cx="11091672" cy="1051560"/>
          </a:xfrm>
          <a:prstGeom prst="roundRect">
            <a:avLst>
              <a:gd name="adj" fmla="val 6957"/>
            </a:avLst>
          </a:prstGeom>
          <a:solidFill>
            <a:srgbClr val="FFFFFF"/>
          </a:solidFill>
          <a:ln w="12700">
            <a:solidFill>
              <a:srgbClr val="FFFFFF"/>
            </a:solidFill>
            <a:prstDash val="solid"/>
          </a:ln>
        </p:spPr>
      </p:sp>
      <p:sp>
        <p:nvSpPr>
          <p:cNvPr id="30" name="Text 28"/>
          <p:cNvSpPr txBox="1"/>
          <p:nvPr/>
        </p:nvSpPr>
        <p:spPr>
          <a:xfrm>
            <a:off x="731520" y="4983480"/>
            <a:ext cx="10698480" cy="96012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Also on the F27 plan — measure to confirm: </a:t>
            </a:r>
            <a:pPr indent="0" marL="0">
              <a:buNone/>
            </a:pPr>
            <a:r>
              <a:rPr lang="en-US" sz="1200" dirty="0">
                <a:solidFill>
                  <a:srgbClr val="1F2937"/>
                </a:solidFill>
                <a:latin typeface="Calibri" pitchFamily="34" charset="0"/>
                <a:ea typeface="Calibri" pitchFamily="34" charset="-122"/>
                <a:cs typeface="Calibri" pitchFamily="34" charset="-120"/>
              </a:rPr>
              <a:t>Damages (claims per 1,000 FBs; goal 3.5) · Reweighs (national goal 4,760–5,236; terminal at 131.8% of its target in Sep) · Cubing (goal 0.45–0.5%).</a:t>
            </a:r>
            <a:endParaRPr lang="en-US" sz="1200" dirty="0"/>
          </a:p>
        </p:txBody>
      </p:sp>
      <p:sp>
        <p:nvSpPr>
          <p:cNvPr id="31"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2"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outlook — monthly and yearly roll-up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Jul–Aug actual · Sep–Jun outlook at the current rate · savings vs the same month in F26</a:t>
            </a:r>
            <a:endParaRPr lang="en-US" sz="1300" dirty="0"/>
          </a:p>
        </p:txBody>
      </p:sp>
      <p:sp>
        <p:nvSpPr>
          <p:cNvPr id="5" name="Shape 3"/>
          <p:cNvSpPr/>
          <p:nvPr/>
        </p:nvSpPr>
        <p:spPr>
          <a:xfrm>
            <a:off x="548640" y="1627632"/>
            <a:ext cx="2635758"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Admin contract labour</a:t>
            </a:r>
            <a:endParaRPr lang="en-US" sz="1100" dirty="0"/>
          </a:p>
        </p:txBody>
      </p:sp>
      <p:sp>
        <p:nvSpPr>
          <p:cNvPr id="7" name="Text 5"/>
          <p:cNvSpPr txBox="1"/>
          <p:nvPr/>
        </p:nvSpPr>
        <p:spPr>
          <a:xfrm>
            <a:off x="731520"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$298.1K</a:t>
            </a:r>
            <a:endParaRPr lang="en-US" sz="2400" dirty="0"/>
          </a:p>
        </p:txBody>
      </p:sp>
      <p:sp>
        <p:nvSpPr>
          <p:cNvPr id="8" name="Text 6"/>
          <p:cNvSpPr txBox="1"/>
          <p:nvPr/>
        </p:nvSpPr>
        <p:spPr>
          <a:xfrm>
            <a:off x="731520"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≈$24.8K per month</a:t>
            </a:r>
            <a:endParaRPr lang="en-US" sz="1050" dirty="0"/>
          </a:p>
        </p:txBody>
      </p:sp>
      <p:sp>
        <p:nvSpPr>
          <p:cNvPr id="9" name="Shape 7"/>
          <p:cNvSpPr/>
          <p:nvPr/>
        </p:nvSpPr>
        <p:spPr>
          <a:xfrm>
            <a:off x="3367278" y="1627632"/>
            <a:ext cx="2635758"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3550158"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contract labour</a:t>
            </a:r>
            <a:endParaRPr lang="en-US" sz="1100" dirty="0"/>
          </a:p>
        </p:txBody>
      </p:sp>
      <p:sp>
        <p:nvSpPr>
          <p:cNvPr id="11" name="Text 9"/>
          <p:cNvSpPr txBox="1"/>
          <p:nvPr/>
        </p:nvSpPr>
        <p:spPr>
          <a:xfrm>
            <a:off x="3550158"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$92.2K</a:t>
            </a:r>
            <a:endParaRPr lang="en-US" sz="2400" dirty="0"/>
          </a:p>
        </p:txBody>
      </p:sp>
      <p:sp>
        <p:nvSpPr>
          <p:cNvPr id="12" name="Text 10"/>
          <p:cNvSpPr txBox="1"/>
          <p:nvPr/>
        </p:nvSpPr>
        <p:spPr>
          <a:xfrm>
            <a:off x="3550158"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≈$7.7K per month</a:t>
            </a:r>
            <a:endParaRPr lang="en-US" sz="1050" dirty="0"/>
          </a:p>
        </p:txBody>
      </p:sp>
      <p:sp>
        <p:nvSpPr>
          <p:cNvPr id="13" name="Shape 11"/>
          <p:cNvSpPr/>
          <p:nvPr/>
        </p:nvSpPr>
        <p:spPr>
          <a:xfrm>
            <a:off x="6185916" y="1627632"/>
            <a:ext cx="2635758"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6368796" y="1719072"/>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Dispatcher role (confirmed)</a:t>
            </a:r>
            <a:endParaRPr lang="en-US" sz="1100" dirty="0"/>
          </a:p>
        </p:txBody>
      </p:sp>
      <p:sp>
        <p:nvSpPr>
          <p:cNvPr id="15" name="Text 13"/>
          <p:cNvSpPr txBox="1"/>
          <p:nvPr/>
        </p:nvSpPr>
        <p:spPr>
          <a:xfrm>
            <a:off x="6368796" y="1956816"/>
            <a:ext cx="2269998"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$61.0K</a:t>
            </a:r>
            <a:endParaRPr lang="en-US" sz="2400" dirty="0"/>
          </a:p>
        </p:txBody>
      </p:sp>
      <p:sp>
        <p:nvSpPr>
          <p:cNvPr id="16" name="Text 14"/>
          <p:cNvSpPr txBox="1"/>
          <p:nvPr/>
        </p:nvSpPr>
        <p:spPr>
          <a:xfrm>
            <a:off x="6368796" y="2340864"/>
            <a:ext cx="2269998"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≈$5.1K per month</a:t>
            </a:r>
            <a:endParaRPr lang="en-US" sz="1050" dirty="0"/>
          </a:p>
        </p:txBody>
      </p:sp>
      <p:sp>
        <p:nvSpPr>
          <p:cNvPr id="17" name="Shape 15"/>
          <p:cNvSpPr/>
          <p:nvPr/>
        </p:nvSpPr>
        <p:spPr>
          <a:xfrm>
            <a:off x="9004554" y="1627632"/>
            <a:ext cx="2635758" cy="987552"/>
          </a:xfrm>
          <a:prstGeom prst="roundRect">
            <a:avLst>
              <a:gd name="adj" fmla="val 7407"/>
            </a:avLst>
          </a:prstGeom>
          <a:solidFill>
            <a:srgbClr val="111827"/>
          </a:solidFill>
          <a:ln w="12700">
            <a:solidFill>
              <a:srgbClr val="111827"/>
            </a:solidFill>
            <a:prstDash val="solid"/>
          </a:ln>
        </p:spPr>
      </p:sp>
      <p:sp>
        <p:nvSpPr>
          <p:cNvPr id="18" name="Text 16"/>
          <p:cNvSpPr txBox="1"/>
          <p:nvPr/>
        </p:nvSpPr>
        <p:spPr>
          <a:xfrm>
            <a:off x="9187434" y="1719072"/>
            <a:ext cx="2269998" cy="237744"/>
          </a:xfrm>
          <a:prstGeom prst="rect">
            <a:avLst/>
          </a:prstGeom>
          <a:noFill/>
          <a:ln/>
        </p:spPr>
        <p:txBody>
          <a:bodyPr wrap="square" lIns="0" tIns="0" rIns="0" bIns="0" rtlCol="0" anchor="ctr"/>
          <a:lstStyle/>
          <a:p>
            <a:pPr indent="0" marL="0">
              <a:buNone/>
            </a:pPr>
            <a:r>
              <a:rPr lang="en-US" sz="1000" b="1" dirty="0">
                <a:solidFill>
                  <a:srgbClr val="9CA3AF"/>
                </a:solidFill>
                <a:latin typeface="Calibri" pitchFamily="34" charset="0"/>
                <a:ea typeface="Calibri" pitchFamily="34" charset="-122"/>
                <a:cs typeface="Calibri" pitchFamily="34" charset="-120"/>
              </a:rPr>
              <a:t>F27 total outlook</a:t>
            </a:r>
            <a:endParaRPr lang="en-US" sz="1000" dirty="0"/>
          </a:p>
        </p:txBody>
      </p:sp>
      <p:sp>
        <p:nvSpPr>
          <p:cNvPr id="19" name="Text 17"/>
          <p:cNvSpPr txBox="1"/>
          <p:nvPr/>
        </p:nvSpPr>
        <p:spPr>
          <a:xfrm>
            <a:off x="9187434" y="1956816"/>
            <a:ext cx="2269998" cy="384048"/>
          </a:xfrm>
          <a:prstGeom prst="rect">
            <a:avLst/>
          </a:prstGeom>
          <a:noFill/>
          <a:ln/>
        </p:spPr>
        <p:txBody>
          <a:bodyPr wrap="square" lIns="0" tIns="0" rIns="0" bIns="0" rtlCol="0" anchor="ctr"/>
          <a:lstStyle/>
          <a:p>
            <a:pPr indent="0" marL="0">
              <a:buNone/>
            </a:pPr>
            <a:r>
              <a:rPr lang="en-US" sz="2400" b="1" dirty="0">
                <a:solidFill>
                  <a:srgbClr val="FACC15"/>
                </a:solidFill>
                <a:latin typeface="Calibri" pitchFamily="34" charset="0"/>
                <a:ea typeface="Calibri" pitchFamily="34" charset="-122"/>
                <a:cs typeface="Calibri" pitchFamily="34" charset="-120"/>
              </a:rPr>
              <a:t>$451.2K</a:t>
            </a:r>
            <a:endParaRPr lang="en-US" sz="2400" dirty="0"/>
          </a:p>
        </p:txBody>
      </p:sp>
      <p:sp>
        <p:nvSpPr>
          <p:cNvPr id="20" name="Text 18"/>
          <p:cNvSpPr txBox="1"/>
          <p:nvPr/>
        </p:nvSpPr>
        <p:spPr>
          <a:xfrm>
            <a:off x="9187434" y="2340864"/>
            <a:ext cx="2269998" cy="219456"/>
          </a:xfrm>
          <a:prstGeom prst="rect">
            <a:avLst/>
          </a:prstGeom>
          <a:noFill/>
          <a:ln/>
        </p:spPr>
        <p:txBody>
          <a:bodyPr wrap="square" lIns="0" tIns="0" rIns="0" bIns="0" rtlCol="0" anchor="ctr"/>
          <a:lstStyle/>
          <a:p>
            <a:pPr indent="0" marL="0">
              <a:buNone/>
            </a:pPr>
            <a:r>
              <a:rPr lang="en-US" sz="1050" dirty="0">
                <a:solidFill>
                  <a:srgbClr val="D1D5DB"/>
                </a:solidFill>
                <a:latin typeface="Calibri" pitchFamily="34" charset="0"/>
                <a:ea typeface="Calibri" pitchFamily="34" charset="-122"/>
                <a:cs typeface="Calibri" pitchFamily="34" charset="-120"/>
              </a:rPr>
              <a:t>≈$37.6K per month · target </a:t>
            </a:r>
            <a:pPr indent="0" marL="0">
              <a:buNone/>
            </a:pPr>
            <a:r>
              <a:rPr lang="en-US" sz="1050" b="1" dirty="0">
                <a:solidFill>
                  <a:srgbClr val="FBBF24"/>
                </a:solidFill>
                <a:latin typeface="Calibri" pitchFamily="34" charset="0"/>
                <a:ea typeface="Calibri" pitchFamily="34" charset="-122"/>
                <a:cs typeface="Calibri" pitchFamily="34" charset="-120"/>
              </a:rPr>
              <a:t>TBC</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761488"/>
          <a:ext cx="7040880" cy="914400"/>
        </p:xfrm>
        <a:graphic>
          <a:graphicData uri="http://schemas.openxmlformats.org/drawingml/2006/table">
            <a:tbl>
              <a:tblPr/>
              <a:tblGrid>
                <a:gridCol w="3520440"/>
                <a:gridCol w="1188720"/>
                <a:gridCol w="1097280"/>
                <a:gridCol w="123444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Line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Jul–Aug rate</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month</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F27 year</a:t>
                      </a:r>
                      <a:endParaRPr lang="en-US" sz="110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Admin (agency)</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−25.3%</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$24.8K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$298.1K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Contract labour — Dock (agency temps)</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−5.6%</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$7.7K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$92.2K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Contract labour subtotal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$32.5K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$390.2K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r h="237744">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Dispatcher role (confirmed, annual value)</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059669"/>
                          </a:solidFill>
                          <a:latin typeface="Calibri" pitchFamily="34" charset="0"/>
                          <a:ea typeface="Calibri" pitchFamily="34" charset="-122"/>
                          <a:cs typeface="Calibri" pitchFamily="34" charset="-120"/>
                        </a:rPr>
                        <a:t>$5.1K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$61.0K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37744">
                <a:tc>
                  <a:txBody>
                    <a:bodyPr/>
                    <a:lstStyle/>
                    <a:p>
                      <a:pPr indent="0" marL="0">
                        <a:buNone/>
                      </a:pPr>
                      <a:r>
                        <a:rPr lang="en-US" sz="1050" b="1" dirty="0">
                          <a:solidFill>
                            <a:srgbClr val="111827"/>
                          </a:solidFill>
                          <a:latin typeface="Calibri" pitchFamily="34" charset="0"/>
                          <a:ea typeface="Calibri" pitchFamily="34" charset="-122"/>
                          <a:cs typeface="Calibri" pitchFamily="34" charset="-120"/>
                        </a:rPr>
                        <a:t>F27 total</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$37.6K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$451.2K</a:t>
                      </a:r>
                      <a:endParaRPr lang="en-US" sz="1050" dirty="0">
                        <a:latin typeface="Calibri" charset="0"/>
                        <a:ea typeface="Calibri" charset="0"/>
                        <a:cs typeface="Calibri" charset="0"/>
                      </a:endParaRPr>
                    </a:p>
                  </a:txBody>
                  <a:tcPr marL="91440" marR="91440"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2" name="Shape 19"/>
          <p:cNvSpPr/>
          <p:nvPr/>
        </p:nvSpPr>
        <p:spPr>
          <a:xfrm>
            <a:off x="7818120" y="2761488"/>
            <a:ext cx="3822192" cy="3145536"/>
          </a:xfrm>
          <a:prstGeom prst="roundRect">
            <a:avLst>
              <a:gd name="adj" fmla="val 2326"/>
            </a:avLst>
          </a:prstGeom>
          <a:solidFill>
            <a:srgbClr val="FFF7ED"/>
          </a:solidFill>
          <a:ln w="12700">
            <a:solidFill>
              <a:srgbClr val="FFF7ED"/>
            </a:solidFill>
            <a:prstDash val="solid"/>
          </a:ln>
        </p:spPr>
      </p:sp>
      <p:sp>
        <p:nvSpPr>
          <p:cNvPr id="23" name="Shape 20"/>
          <p:cNvSpPr/>
          <p:nvPr/>
        </p:nvSpPr>
        <p:spPr>
          <a:xfrm>
            <a:off x="8046720" y="2971800"/>
            <a:ext cx="502920" cy="502920"/>
          </a:xfrm>
          <a:prstGeom prst="ellipse">
            <a:avLst/>
          </a:prstGeom>
          <a:solidFill>
            <a:srgbClr val="EA580C"/>
          </a:solidFill>
          <a:ln w="12700">
            <a:solidFill>
              <a:srgbClr val="EA580C"/>
            </a:solidFill>
            <a:prstDash val="solid"/>
          </a:ln>
        </p:spPr>
      </p:sp>
      <p:pic>
        <p:nvPicPr>
          <p:cNvPr id="24" name="Image 0" descr="preencoded.png">    </p:cNvPr>
          <p:cNvPicPr>
            <a:picLocks noChangeAspect="1"/>
          </p:cNvPicPr>
          <p:nvPr/>
        </p:nvPicPr>
        <p:blipFill>
          <a:blip r:embed="rId1"/>
          <a:stretch>
            <a:fillRect/>
          </a:stretch>
        </p:blipFill>
        <p:spPr>
          <a:xfrm>
            <a:off x="8172450" y="3097530"/>
            <a:ext cx="251460" cy="251460"/>
          </a:xfrm>
          <a:prstGeom prst="rect">
            <a:avLst/>
          </a:prstGeom>
        </p:spPr>
      </p:pic>
      <p:sp>
        <p:nvSpPr>
          <p:cNvPr id="25" name="Text 21"/>
          <p:cNvSpPr txBox="1"/>
          <p:nvPr/>
        </p:nvSpPr>
        <p:spPr>
          <a:xfrm>
            <a:off x="8686800" y="3017520"/>
            <a:ext cx="2834640" cy="41148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How we hold and grow the outlook</a:t>
            </a:r>
            <a:endParaRPr lang="en-US" sz="1600" dirty="0"/>
          </a:p>
        </p:txBody>
      </p:sp>
      <p:sp>
        <p:nvSpPr>
          <p:cNvPr id="26" name="Text 22"/>
          <p:cNvSpPr txBox="1"/>
          <p:nvPr/>
        </p:nvSpPr>
        <p:spPr>
          <a:xfrm>
            <a:off x="8046720" y="3611880"/>
            <a:ext cx="3383280" cy="2148840"/>
          </a:xfrm>
          <a:prstGeom prst="rect">
            <a:avLst/>
          </a:prstGeom>
          <a:noFill/>
          <a:ln/>
        </p:spPr>
        <p:txBody>
          <a:bodyPr wrap="square" lIns="0" tIns="0" rIns="0" bIns="0" rtlCol="0" anchor="t"/>
          <a:lstStyle/>
          <a:p>
            <a:pPr indent="0" marL="0">
              <a:spcAft>
                <a:spcPts val="800"/>
              </a:spcAft>
              <a:buNone/>
            </a:pPr>
            <a:r>
              <a:rPr lang="en-US" sz="1250" b="1" dirty="0">
                <a:solidFill>
                  <a:srgbClr val="111827"/>
                </a:solidFill>
                <a:latin typeface="Calibri" pitchFamily="34" charset="0"/>
                <a:ea typeface="Calibri" pitchFamily="34" charset="-122"/>
                <a:cs typeface="Calibri" pitchFamily="34" charset="-120"/>
              </a:rPr>
              <a:t>Hold the Jul–Aug rates: Admin contract labour −25%, Dock contract labour −6%.</a:t>
            </a:r>
            <a:endParaRPr lang="en-US" sz="1250" dirty="0"/>
          </a:p>
          <a:p>
            <a:pPr indent="0" marL="0">
              <a:spcAft>
                <a:spcPts val="800"/>
              </a:spcAft>
              <a:buNone/>
            </a:pPr>
            <a:r>
              <a:rPr lang="en-US" sz="1250" dirty="0">
                <a:solidFill>
                  <a:srgbClr val="1F2937"/>
                </a:solidFill>
                <a:latin typeface="Calibri" pitchFamily="34" charset="0"/>
                <a:ea typeface="Calibri" pitchFamily="34" charset="-122"/>
                <a:cs typeface="Calibri" pitchFamily="34" charset="-120"/>
              </a:rPr>
              <a:t>Every extra 1% off contract labour ≈ $28.2K/yr (Admin $11.8K, Dock $16.4K).</a:t>
            </a:r>
            <a:endParaRPr lang="en-US" sz="1250" dirty="0"/>
          </a:p>
          <a:p>
            <a:pPr indent="0" marL="0">
              <a:buNone/>
            </a:pPr>
            <a:r>
              <a:rPr lang="en-US" sz="1250" b="1" dirty="0">
                <a:solidFill>
                  <a:srgbClr val="EA580C"/>
                </a:solidFill>
                <a:latin typeface="Calibri" pitchFamily="34" charset="0"/>
                <a:ea typeface="Calibri" pitchFamily="34" charset="-122"/>
                <a:cs typeface="Calibri" pitchFamily="34" charset="-120"/>
              </a:rPr>
              <a:t>Next levers on top: </a:t>
            </a:r>
            <a:pPr indent="0" marL="0">
              <a:buNone/>
            </a:pPr>
            <a:r>
              <a:rPr lang="en-US" sz="1250" dirty="0">
                <a:solidFill>
                  <a:srgbClr val="1F2937"/>
                </a:solidFill>
                <a:latin typeface="Calibri" pitchFamily="34" charset="0"/>
                <a:ea typeface="Calibri" pitchFamily="34" charset="-122"/>
                <a:cs typeface="Calibri" pitchFamily="34" charset="-120"/>
              </a:rPr>
              <a:t>load securement &amp; decking, freight-handling equipment, accessorial capture, Toyota footage capture.</a:t>
            </a:r>
            <a:endParaRPr lang="en-US" sz="1250" dirty="0"/>
          </a:p>
        </p:txBody>
      </p:sp>
      <p:sp>
        <p:nvSpPr>
          <p:cNvPr id="27" name="Text 23"/>
          <p:cNvSpPr txBox="1"/>
          <p:nvPr/>
        </p:nvSpPr>
        <p:spPr>
          <a:xfrm>
            <a:off x="548640" y="6016752"/>
            <a:ext cx="11091672" cy="384048"/>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Outlook = the two contract labour buckets (Admin, Dock): each bucket's Jul–Aug % change vs the same months of F26, applied to the remaining F26 months if the rate holds, plus the confirmed dispatcher saving. Estimates, not booked savings. D&amp;R employee wages &amp; benefits (dock and admin) tracked separately. Source: net-amount P&amp;L pivot.</a:t>
            </a:r>
            <a:endParaRPr lang="en-US" sz="950" dirty="0"/>
          </a:p>
        </p:txBody>
      </p:sp>
      <p:sp>
        <p:nvSpPr>
          <p:cNvPr id="28"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FF7ED"/>
          </a:solidFill>
          <a:ln w="12700">
            <a:solidFill>
              <a:srgbClr val="FFF7ED"/>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(61.4% of dock hours Sept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 ($758.7K revenue F27 to date)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EDD5"/>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Only the dispatcher saving is confirmed; other values TBC.</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 &amp; SAVINGS</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accessorial capture</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report · Mississauga · Apr – Sep 2026 · Sep to the 29th</a:t>
            </a:r>
            <a:endParaRPr lang="en-US" sz="1300" dirty="0"/>
          </a:p>
        </p:txBody>
      </p:sp>
      <p:sp>
        <p:nvSpPr>
          <p:cNvPr id="5" name="Shape 3"/>
          <p:cNvSpPr/>
          <p:nvPr/>
        </p:nvSpPr>
        <p:spPr>
          <a:xfrm>
            <a:off x="548640" y="1627632"/>
            <a:ext cx="3575304" cy="987552"/>
          </a:xfrm>
          <a:prstGeom prst="roundRect">
            <a:avLst>
              <a:gd name="adj" fmla="val 7407"/>
            </a:avLst>
          </a:prstGeom>
          <a:solidFill>
            <a:srgbClr val="F3F4F6"/>
          </a:solidFill>
          <a:ln w="12700">
            <a:solidFill>
              <a:srgbClr val="F3F4F6"/>
            </a:solidFill>
            <a:prstDash val="solid"/>
          </a:ln>
        </p:spPr>
      </p:sp>
      <p:sp>
        <p:nvSpPr>
          <p:cNvPr id="6" name="Text 4"/>
          <p:cNvSpPr txBox="1"/>
          <p:nvPr/>
        </p:nvSpPr>
        <p:spPr>
          <a:xfrm>
            <a:off x="731520"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to date (Jul 1 – Sep 29)</a:t>
            </a:r>
            <a:endParaRPr lang="en-US" sz="1100" dirty="0"/>
          </a:p>
        </p:txBody>
      </p:sp>
      <p:sp>
        <p:nvSpPr>
          <p:cNvPr id="7" name="Text 5"/>
          <p:cNvSpPr txBox="1"/>
          <p:nvPr/>
        </p:nvSpPr>
        <p:spPr>
          <a:xfrm>
            <a:off x="731520"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$758.7K</a:t>
            </a:r>
            <a:endParaRPr lang="en-US" sz="2400" dirty="0"/>
          </a:p>
        </p:txBody>
      </p:sp>
      <p:sp>
        <p:nvSpPr>
          <p:cNvPr id="8" name="Text 6"/>
          <p:cNvSpPr txBox="1"/>
          <p:nvPr/>
        </p:nvSpPr>
        <p:spPr>
          <a:xfrm>
            <a:off x="731520"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118,419 accessorial units</a:t>
            </a:r>
            <a:endParaRPr lang="en-US" sz="1050" dirty="0"/>
          </a:p>
        </p:txBody>
      </p:sp>
      <p:sp>
        <p:nvSpPr>
          <p:cNvPr id="9" name="Shape 7"/>
          <p:cNvSpPr/>
          <p:nvPr/>
        </p:nvSpPr>
        <p:spPr>
          <a:xfrm>
            <a:off x="4306824" y="1627632"/>
            <a:ext cx="3575304" cy="987552"/>
          </a:xfrm>
          <a:prstGeom prst="roundRect">
            <a:avLst>
              <a:gd name="adj" fmla="val 7407"/>
            </a:avLst>
          </a:prstGeom>
          <a:solidFill>
            <a:srgbClr val="F3F4F6"/>
          </a:solidFill>
          <a:ln w="12700">
            <a:solidFill>
              <a:srgbClr val="F3F4F6"/>
            </a:solidFill>
            <a:prstDash val="solid"/>
          </a:ln>
        </p:spPr>
      </p:sp>
      <p:sp>
        <p:nvSpPr>
          <p:cNvPr id="10" name="Text 8"/>
          <p:cNvSpPr txBox="1"/>
          <p:nvPr/>
        </p:nvSpPr>
        <p:spPr>
          <a:xfrm>
            <a:off x="4489704"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(to the 29th)</a:t>
            </a:r>
            <a:endParaRPr lang="en-US" sz="1100" dirty="0"/>
          </a:p>
        </p:txBody>
      </p:sp>
      <p:sp>
        <p:nvSpPr>
          <p:cNvPr id="11" name="Text 9"/>
          <p:cNvSpPr txBox="1"/>
          <p:nvPr/>
        </p:nvSpPr>
        <p:spPr>
          <a:xfrm>
            <a:off x="4489704" y="1956816"/>
            <a:ext cx="3209544" cy="384048"/>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$238.3K</a:t>
            </a:r>
            <a:endParaRPr lang="en-US" sz="2400" dirty="0"/>
          </a:p>
        </p:txBody>
      </p:sp>
      <p:sp>
        <p:nvSpPr>
          <p:cNvPr id="12" name="Text 10"/>
          <p:cNvSpPr txBox="1"/>
          <p:nvPr/>
        </p:nvSpPr>
        <p:spPr>
          <a:xfrm>
            <a:off x="4489704"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35,052 units</a:t>
            </a:r>
            <a:endParaRPr lang="en-US" sz="1050" dirty="0"/>
          </a:p>
        </p:txBody>
      </p:sp>
      <p:sp>
        <p:nvSpPr>
          <p:cNvPr id="13" name="Shape 11"/>
          <p:cNvSpPr/>
          <p:nvPr/>
        </p:nvSpPr>
        <p:spPr>
          <a:xfrm>
            <a:off x="8065008" y="1627632"/>
            <a:ext cx="3575304" cy="987552"/>
          </a:xfrm>
          <a:prstGeom prst="roundRect">
            <a:avLst>
              <a:gd name="adj" fmla="val 7407"/>
            </a:avLst>
          </a:prstGeom>
          <a:solidFill>
            <a:srgbClr val="F3F4F6"/>
          </a:solidFill>
          <a:ln w="12700">
            <a:solidFill>
              <a:srgbClr val="F3F4F6"/>
            </a:solidFill>
            <a:prstDash val="solid"/>
          </a:ln>
        </p:spPr>
      </p:sp>
      <p:sp>
        <p:nvSpPr>
          <p:cNvPr id="14" name="Text 12"/>
          <p:cNvSpPr txBox="1"/>
          <p:nvPr/>
        </p:nvSpPr>
        <p:spPr>
          <a:xfrm>
            <a:off x="8247888" y="1719072"/>
            <a:ext cx="3209544"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vs $/unit target</a:t>
            </a:r>
            <a:endParaRPr lang="en-US" sz="1100" dirty="0"/>
          </a:p>
        </p:txBody>
      </p:sp>
      <p:sp>
        <p:nvSpPr>
          <p:cNvPr id="15" name="Text 13"/>
          <p:cNvSpPr txBox="1"/>
          <p:nvPr/>
        </p:nvSpPr>
        <p:spPr>
          <a:xfrm>
            <a:off x="8247888" y="1956816"/>
            <a:ext cx="3209544" cy="384048"/>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 7</a:t>
            </a:r>
            <a:pPr indent="0" marL="0">
              <a:buNone/>
            </a:pPr>
            <a:r>
              <a:rPr lang="en-US" sz="2400" b="1"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DC2626"/>
                </a:solidFill>
                <a:latin typeface="Calibri" pitchFamily="34" charset="0"/>
                <a:ea typeface="Calibri" pitchFamily="34" charset="-122"/>
                <a:cs typeface="Calibri" pitchFamily="34" charset="-120"/>
              </a:rPr>
              <a:t>▼ 6</a:t>
            </a:r>
            <a:endParaRPr lang="en-US" sz="2400" dirty="0"/>
          </a:p>
        </p:txBody>
      </p:sp>
      <p:sp>
        <p:nvSpPr>
          <p:cNvPr id="16" name="Text 14"/>
          <p:cNvSpPr txBox="1"/>
          <p:nvPr/>
        </p:nvSpPr>
        <p:spPr>
          <a:xfrm>
            <a:off x="8247888" y="2340864"/>
            <a:ext cx="3209544" cy="21945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codes at/above · below — ≈$9.2K under target</a:t>
            </a:r>
            <a:endParaRPr lang="en-US" sz="1050" dirty="0"/>
          </a:p>
        </p:txBody>
      </p:sp>
      <p:graphicFrame>
        <p:nvGraphicFramePr>
          <p:cNvPr id="17" name="Chart 0" descr=""/>
          <p:cNvGraphicFramePr/>
          <p:nvPr/>
        </p:nvGraphicFramePr>
        <p:xfrm>
          <a:off x="548640" y="2761488"/>
          <a:ext cx="4480560" cy="201168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48640" y="4846320"/>
            <a:ext cx="4480560" cy="1188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Tailgate + residential delivery = 74% of accessorial $ — both slightly under target in Sep. Rate every one before invoicing.</a:t>
            </a:r>
            <a:endParaRPr lang="en-US" sz="1100" dirty="0"/>
          </a:p>
          <a:p>
            <a:pPr marL="152400" indent="-152400">
              <a:spcAft>
                <a:spcPts val="500"/>
              </a:spcAft>
              <a:buSzPct val="100000"/>
              <a:buChar char="•"/>
            </a:pPr>
            <a:r>
              <a:rPr lang="en-US" sz="1100" dirty="0">
                <a:solidFill>
                  <a:srgbClr val="1F2937"/>
                </a:solidFill>
                <a:latin typeface="Calibri" pitchFamily="34" charset="0"/>
                <a:ea typeface="Calibri" pitchFamily="34" charset="-122"/>
                <a:cs typeface="Calibri" pitchFamily="34" charset="-120"/>
              </a:rPr>
              <a:t>Detention: 14 units billed $0 in Sep — record driver times so it bills.</a:t>
            </a:r>
            <a:endParaRPr lang="en-US" sz="1100" dirty="0"/>
          </a:p>
          <a:p>
            <a:pPr marL="152400" indent="-152400">
              <a:buSzPct val="100000"/>
              <a:buChar char="•"/>
            </a:pPr>
            <a:r>
              <a:rPr lang="en-US" sz="1100" dirty="0">
                <a:solidFill>
                  <a:srgbClr val="1F2937"/>
                </a:solidFill>
                <a:latin typeface="Calibri" pitchFamily="34" charset="0"/>
                <a:ea typeface="Calibri" pitchFamily="34" charset="-122"/>
                <a:cs typeface="Calibri" pitchFamily="34" charset="-120"/>
              </a:rPr>
              <a:t>After-hours: 3,130 units at $0.72 each — review which should bill.</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257800" y="2761488"/>
          <a:ext cx="6382512" cy="914400"/>
        </p:xfrm>
        <a:graphic>
          <a:graphicData uri="http://schemas.openxmlformats.org/drawingml/2006/table">
            <a:tbl>
              <a:tblPr/>
              <a:tblGrid>
                <a:gridCol w="2148840"/>
                <a:gridCol w="685800"/>
                <a:gridCol w="914400"/>
                <a:gridCol w="868680"/>
                <a:gridCol w="731520"/>
                <a:gridCol w="1033272"/>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Sep by accessorial</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Units</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Billed</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Avg $/unit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vs target</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5,775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$89,072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$15.42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$16.15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17,659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$81,174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$4.60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$4.76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5,245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$22,204</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$4.23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$3.97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Appointment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$11,935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$15.66</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$14.51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Tailgate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628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$8,911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$14.19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Storage</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269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$7,648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$28.43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$31.65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Private residence pick-up</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560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$4,263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$7.61</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$7.23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Tradeshow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77</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$5,748</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$74.65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$87.79</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 15%</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E2E2"/>
                    </a:solidFill>
                  </a:tcPr>
                </a:tc>
              </a:tr>
              <a:tr h="274320">
                <a:tc>
                  <a:txBody>
                    <a:bodyPr/>
                    <a:lstStyle/>
                    <a:p>
                      <a:pPr indent="0" marL="0">
                        <a:buNone/>
                      </a:pPr>
                      <a:r>
                        <a:rPr lang="en-US" sz="1050" dirty="0">
                          <a:solidFill>
                            <a:srgbClr val="111827"/>
                          </a:solidFill>
                          <a:latin typeface="Calibri" pitchFamily="34" charset="0"/>
                          <a:ea typeface="Calibri" pitchFamily="34" charset="-122"/>
                          <a:cs typeface="Calibri" pitchFamily="34" charset="-120"/>
                        </a:rPr>
                        <a:t>Inside delivery</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292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$1,873</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$6.42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50" dirty="0">
                          <a:solidFill>
                            <a:srgbClr val="6B7280"/>
                          </a:solidFill>
                          <a:latin typeface="Calibri" pitchFamily="34" charset="0"/>
                          <a:ea typeface="Calibri" pitchFamily="34" charset="-122"/>
                          <a:cs typeface="Calibri" pitchFamily="34" charset="-120"/>
                        </a:rPr>
                        <a:t>$5.82</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59669"/>
                          </a:solidFill>
                          <a:latin typeface="Calibri" pitchFamily="34" charset="0"/>
                          <a:ea typeface="Calibri" pitchFamily="34" charset="-122"/>
                          <a:cs typeface="Calibri" pitchFamily="34" charset="-120"/>
                        </a:rPr>
                        <a:t>▲ 10%</a:t>
                      </a:r>
                      <a:endParaRPr lang="en-US" sz="1050" dirty="0">
                        <a:latin typeface="Calibri" charset="0"/>
                        <a:ea typeface="Calibri" charset="0"/>
                        <a:cs typeface="Calibri" charset="0"/>
                      </a:endParaRPr>
                    </a:p>
                  </a:txBody>
                  <a:tcPr marL="73152" marR="73152" marT="18288" marB="18288"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r>
            </a:tbl>
          </a:graphicData>
        </a:graphic>
      </p:graphicFrame>
      <p:sp>
        <p:nvSpPr>
          <p:cNvPr id="20" name="Text 16"/>
          <p:cNvSpPr txBox="1"/>
          <p:nvPr/>
        </p:nvSpPr>
        <p:spPr>
          <a:xfrm>
            <a:off x="5257800" y="5669280"/>
            <a:ext cx="638251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Top 9 codes with a target, by F27-to-date revenue. Target = report's monthly dollar target per unit. Full list on the website.</a:t>
            </a:r>
            <a:endParaRPr lang="en-US" sz="950" dirty="0"/>
          </a:p>
        </p:txBody>
      </p:sp>
      <p:sp>
        <p:nvSpPr>
          <p:cNvPr id="21"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95–100% OF TARGET</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Dock salaries &amp; benefits (month)</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FF7ED"/>
          </a:solidFill>
          <a:ln w="12700">
            <a:solidFill>
              <a:srgbClr val="FFF7ED"/>
            </a:solidFill>
            <a:prstDash val="solid"/>
          </a:ln>
        </p:spPr>
      </p:sp>
      <p:sp>
        <p:nvSpPr>
          <p:cNvPr id="30" name="Shape 28"/>
          <p:cNvSpPr/>
          <p:nvPr/>
        </p:nvSpPr>
        <p:spPr>
          <a:xfrm>
            <a:off x="6217920" y="4965192"/>
            <a:ext cx="566928" cy="566928"/>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FFEDD5"/>
          </a:solidFill>
          <a:ln w="12700">
            <a:solidFill>
              <a:srgbClr val="FFEDD5"/>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FFEDD5"/>
          </a:solidFill>
          <a:ln w="12700">
            <a:solidFill>
              <a:srgbClr val="FFEDD5"/>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agency vs D&amp;R mix managed per shift.</a:t>
            </a:r>
            <a:endParaRPr lang="en-US" sz="1400" dirty="0"/>
          </a:p>
        </p:txBody>
      </p:sp>
      <p:sp>
        <p:nvSpPr>
          <p:cNvPr id="10" name="Shape 6"/>
          <p:cNvSpPr/>
          <p:nvPr/>
        </p:nvSpPr>
        <p:spPr>
          <a:xfrm>
            <a:off x="548640" y="3044952"/>
            <a:ext cx="475488" cy="475488"/>
          </a:xfrm>
          <a:prstGeom prst="ellipse">
            <a:avLst/>
          </a:prstGeom>
          <a:solidFill>
            <a:srgbClr val="FFEDD5"/>
          </a:solidFill>
          <a:ln w="12700">
            <a:solidFill>
              <a:srgbClr val="FFEDD5"/>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Accessorials checked on freight bills (appointment, tailgate, storage, inside delivery) before invoicing.</a:t>
            </a:r>
            <a:endParaRPr lang="en-US" sz="1400" dirty="0"/>
          </a:p>
        </p:txBody>
      </p:sp>
      <p:sp>
        <p:nvSpPr>
          <p:cNvPr id="13" name="Shape 8"/>
          <p:cNvSpPr/>
          <p:nvPr/>
        </p:nvSpPr>
        <p:spPr>
          <a:xfrm>
            <a:off x="548640" y="3813048"/>
            <a:ext cx="475488" cy="475488"/>
          </a:xfrm>
          <a:prstGeom prst="ellipse">
            <a:avLst/>
          </a:prstGeom>
          <a:solidFill>
            <a:srgbClr val="FFEDD5"/>
          </a:solidFill>
          <a:ln w="12700">
            <a:solidFill>
              <a:srgbClr val="FFEDD5"/>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tracked every shift.</a:t>
            </a:r>
            <a:endParaRPr lang="en-US" sz="1400" dirty="0"/>
          </a:p>
        </p:txBody>
      </p:sp>
      <p:sp>
        <p:nvSpPr>
          <p:cNvPr id="16" name="Shape 10"/>
          <p:cNvSpPr/>
          <p:nvPr/>
        </p:nvSpPr>
        <p:spPr>
          <a:xfrm>
            <a:off x="7772400" y="1417320"/>
            <a:ext cx="3867912" cy="4526280"/>
          </a:xfrm>
          <a:prstGeom prst="roundRect">
            <a:avLst>
              <a:gd name="adj" fmla="val 1891"/>
            </a:avLst>
          </a:prstGeom>
          <a:solidFill>
            <a:srgbClr val="FFF7ED"/>
          </a:solidFill>
          <a:ln w="12700">
            <a:solidFill>
              <a:srgbClr val="FFF7ED"/>
            </a:solidFill>
            <a:prstDash val="solid"/>
          </a:ln>
        </p:spPr>
      </p:sp>
      <p:sp>
        <p:nvSpPr>
          <p:cNvPr id="17" name="Shape 11"/>
          <p:cNvSpPr/>
          <p:nvPr/>
        </p:nvSpPr>
        <p:spPr>
          <a:xfrm>
            <a:off x="8001000" y="1645920"/>
            <a:ext cx="502920" cy="502920"/>
          </a:xfrm>
          <a:prstGeom prst="ellipse">
            <a:avLst/>
          </a:prstGeom>
          <a:solidFill>
            <a:srgbClr val="EA580C"/>
          </a:solidFill>
          <a:ln w="12700">
            <a:solidFill>
              <a:srgbClr val="EA580C"/>
            </a:solidFill>
            <a:prstDash val="solid"/>
          </a:ln>
        </p:spPr>
      </p:sp>
      <p:pic>
        <p:nvPicPr>
          <p:cNvPr id="18" name="Image 4" descr="preencoded.png">    </p:cNvPr>
          <p:cNvPicPr>
            <a:picLocks noChangeAspect="1"/>
          </p:cNvPicPr>
          <p:nvPr/>
        </p:nvPicPr>
        <p:blipFill>
          <a:blip r:embed="rId5"/>
          <a:stretch>
            <a:fillRect/>
          </a:stretch>
        </p:blipFill>
        <p:spPr>
          <a:xfrm>
            <a:off x="8126730" y="1771650"/>
            <a:ext cx="251460" cy="251460"/>
          </a:xfrm>
          <a:prstGeom prst="rect">
            <a:avLst/>
          </a:prstGeom>
        </p:spPr>
      </p:pic>
      <p:sp>
        <p:nvSpPr>
          <p:cNvPr id="19" name="Text 12"/>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0" name="Text 13"/>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2" name="Text 14"/>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3" name="Text 15"/>
          <p:cNvSpPr txBox="1"/>
          <p:nvPr/>
        </p:nvSpPr>
        <p:spPr>
          <a:xfrm>
            <a:off x="8001000" y="4800600"/>
            <a:ext cx="3429000" cy="4572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example (Wed Sep 9) in the table below.</a:t>
            </a:r>
            <a:endParaRPr lang="en-US" sz="11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8640" y="4553712"/>
          <a:ext cx="6903720" cy="914400"/>
        </p:xfrm>
        <a:graphic>
          <a:graphicData uri="http://schemas.openxmlformats.org/drawingml/2006/table">
            <a:tbl>
              <a:tblPr/>
              <a:tblGrid>
                <a:gridCol w="1508760"/>
                <a:gridCol w="914400"/>
                <a:gridCol w="914400"/>
                <a:gridCol w="1325880"/>
                <a:gridCol w="914400"/>
                <a:gridCol w="1325880"/>
              </a:tblGrid>
              <a:tr h="24688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Shift · Wed Sep 9</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Budget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Actual hrs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Dock ratio</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Admin agency / D&amp;R</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AM (Inbound)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DC2626"/>
                          </a:solidFill>
                          <a:latin typeface="Calibri" pitchFamily="34" charset="0"/>
                          <a:ea typeface="Calibri" pitchFamily="34" charset="-122"/>
                          <a:cs typeface="Calibri" pitchFamily="34" charset="-120"/>
                        </a:rPr>
                        <a:t>42.63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 / 2</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2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Day</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64.0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62.67</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5</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13 / 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PM (Outbound)</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96.0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95.03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9 / 4</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2.3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7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Driver loaders</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11827"/>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000" dirty="0">
                          <a:solidFill>
                            <a:srgbClr val="059669"/>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246888">
                <a:tc>
                  <a:txBody>
                    <a:bodyPr/>
                    <a:lstStyle/>
                    <a:p>
                      <a:pPr indent="0" marL="0">
                        <a:buNone/>
                      </a:pPr>
                      <a:r>
                        <a:rPr lang="en-US" sz="1000" b="1" dirty="0">
                          <a:solidFill>
                            <a:srgbClr val="111827"/>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208.0</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059669"/>
                          </a:solidFill>
                          <a:latin typeface="Calibri" pitchFamily="34" charset="0"/>
                          <a:ea typeface="Calibri" pitchFamily="34" charset="-122"/>
                          <a:cs typeface="Calibri" pitchFamily="34" charset="-120"/>
                        </a:rPr>
                        <a:t>207.33</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2.0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22 / 1</a:t>
                      </a:r>
                      <a:endParaRPr lang="en-US" sz="10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3F4F6"/>
                    </a:solidFill>
                  </a:tcPr>
                </a:tc>
              </a:tr>
            </a:tbl>
          </a:graphicData>
        </a:graphic>
      </p:graphicFrame>
      <p:sp>
        <p:nvSpPr>
          <p:cNvPr id="25" name="Text 1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6" name="Text 1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FF7ED"/>
          </a:solidFill>
          <a:ln w="12700">
            <a:solidFill>
              <a:srgbClr val="FFF7ED"/>
            </a:solidFill>
            <a:prstDash val="solid"/>
          </a:ln>
        </p:spPr>
      </p:sp>
      <p:sp>
        <p:nvSpPr>
          <p:cNvPr id="22" name="Shape 19"/>
          <p:cNvSpPr/>
          <p:nvPr/>
        </p:nvSpPr>
        <p:spPr>
          <a:xfrm>
            <a:off x="6217920" y="3584448"/>
            <a:ext cx="457200" cy="457200"/>
          </a:xfrm>
          <a:prstGeom prst="ellipse">
            <a:avLst/>
          </a:prstGeom>
          <a:solidFill>
            <a:srgbClr val="EA580C"/>
          </a:solidFill>
          <a:ln w="12700">
            <a:solidFill>
              <a:srgbClr val="EA580C"/>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The goal is weight-based, so lighter freight holds PPH down even as units per hour rise.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outbound loads more than 80% full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75.7%</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 band</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500–1,000: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&gt;80% · ex-Moncton 271 of 686</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trailer floor footage loaded at Bowmanville not captured correctly — fix under way; 20.5% of Moncton bills have no cube recorded vs 3.0% on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FF7ED"/>
          </a:solidFill>
          <a:ln w="12700">
            <a:solidFill>
              <a:srgbClr val="FFF7ED"/>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clock-in / clock-out</a:t>
            </a:r>
            <a:endParaRPr lang="en-US" sz="3000" dirty="0"/>
          </a:p>
        </p:txBody>
      </p:sp>
      <p:sp>
        <p:nvSpPr>
          <p:cNvPr id="4" name="Shape 2"/>
          <p:cNvSpPr/>
          <p:nvPr/>
        </p:nvSpPr>
        <p:spPr>
          <a:xfrm>
            <a:off x="548640" y="1371600"/>
            <a:ext cx="4572000" cy="4663440"/>
          </a:xfrm>
          <a:prstGeom prst="roundRect">
            <a:avLst>
              <a:gd name="adj" fmla="val 1600"/>
            </a:avLst>
          </a:prstGeom>
          <a:solidFill>
            <a:srgbClr val="D1FAE5"/>
          </a:solidFill>
          <a:ln w="12700">
            <a:solidFill>
              <a:srgbClr val="D1FAE5"/>
            </a:solidFill>
            <a:prstDash val="solid"/>
          </a:ln>
        </p:spPr>
      </p:sp>
      <p:sp>
        <p:nvSpPr>
          <p:cNvPr id="5" name="Shape 3"/>
          <p:cNvSpPr/>
          <p:nvPr/>
        </p:nvSpPr>
        <p:spPr>
          <a:xfrm>
            <a:off x="822960" y="1645920"/>
            <a:ext cx="640080" cy="640080"/>
          </a:xfrm>
          <a:prstGeom prst="ellipse">
            <a:avLst/>
          </a:prstGeom>
          <a:solidFill>
            <a:srgbClr val="059669"/>
          </a:solidFill>
          <a:ln w="12700">
            <a:solidFill>
              <a:srgbClr val="059669"/>
            </a:solidFill>
            <a:prstDash val="solid"/>
          </a:ln>
        </p:spPr>
      </p:sp>
      <p:pic>
        <p:nvPicPr>
          <p:cNvPr id="6" name="Image 0" descr="preencoded.png">    </p:cNvPr>
          <p:cNvPicPr>
            <a:picLocks noChangeAspect="1"/>
          </p:cNvPicPr>
          <p:nvPr/>
        </p:nvPicPr>
        <p:blipFill>
          <a:blip r:embed="rId1"/>
          <a:stretch>
            <a:fillRect/>
          </a:stretch>
        </p:blipFill>
        <p:spPr>
          <a:xfrm>
            <a:off x="982980" y="1805940"/>
            <a:ext cx="320040" cy="320040"/>
          </a:xfrm>
          <a:prstGeom prst="rect">
            <a:avLst/>
          </a:prstGeom>
        </p:spPr>
      </p:pic>
      <p:sp>
        <p:nvSpPr>
          <p:cNvPr id="7" name="Text 4"/>
          <p:cNvSpPr txBox="1"/>
          <p:nvPr/>
        </p:nvSpPr>
        <p:spPr>
          <a:xfrm>
            <a:off x="1645920" y="1645920"/>
            <a:ext cx="320040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Status</a:t>
            </a:r>
            <a:endParaRPr lang="en-US" sz="1400" dirty="0"/>
          </a:p>
        </p:txBody>
      </p:sp>
      <p:sp>
        <p:nvSpPr>
          <p:cNvPr id="8" name="Text 5"/>
          <p:cNvSpPr txBox="1"/>
          <p:nvPr/>
        </p:nvSpPr>
        <p:spPr>
          <a:xfrm>
            <a:off x="1645920" y="1938528"/>
            <a:ext cx="3383280" cy="457200"/>
          </a:xfrm>
          <a:prstGeom prst="rect">
            <a:avLst/>
          </a:prstGeom>
          <a:noFill/>
          <a:ln/>
        </p:spPr>
        <p:txBody>
          <a:bodyPr wrap="square" lIns="0" tIns="0" rIns="0" bIns="0" rtlCol="0" anchor="ctr"/>
          <a:lstStyle/>
          <a:p>
            <a:pPr indent="0" marL="0">
              <a:buNone/>
            </a:pPr>
            <a:r>
              <a:rPr lang="en-US" sz="2400" b="1" dirty="0">
                <a:solidFill>
                  <a:srgbClr val="059669"/>
                </a:solidFill>
                <a:latin typeface="Calibri" pitchFamily="34" charset="0"/>
                <a:ea typeface="Calibri" pitchFamily="34" charset="-122"/>
                <a:cs typeface="Calibri" pitchFamily="34" charset="-120"/>
              </a:rPr>
              <a:t>OK — under review</a:t>
            </a:r>
            <a:endParaRPr lang="en-US" sz="2400" dirty="0"/>
          </a:p>
        </p:txBody>
      </p:sp>
      <p:sp>
        <p:nvSpPr>
          <p:cNvPr id="9" name="Text 6"/>
          <p:cNvSpPr txBox="1"/>
          <p:nvPr/>
        </p:nvSpPr>
        <p:spPr>
          <a:xfrm>
            <a:off x="822960" y="2651760"/>
            <a:ext cx="4114800" cy="731520"/>
          </a:xfrm>
          <a:prstGeom prst="rect">
            <a:avLst/>
          </a:prstGeom>
          <a:noFill/>
          <a:ln/>
        </p:spPr>
        <p:txBody>
          <a:bodyPr wrap="square" lIns="0" tIns="0" rIns="0" bIns="0" rtlCol="0" anchor="t"/>
          <a:lstStyle/>
          <a:p>
            <a:pPr indent="0" marL="0">
              <a:buNone/>
            </a:pPr>
            <a:r>
              <a:rPr lang="en-US" sz="1400" dirty="0">
                <a:solidFill>
                  <a:srgbClr val="1F2937"/>
                </a:solidFill>
                <a:latin typeface="Calibri" pitchFamily="34" charset="0"/>
                <a:ea typeface="Calibri" pitchFamily="34" charset="-122"/>
                <a:cs typeface="Calibri" pitchFamily="34" charset="-120"/>
              </a:rPr>
              <a:t>SCA team review of clock-in / clock-out for Mississauga.</a:t>
            </a:r>
            <a:endParaRPr lang="en-US" sz="1400" dirty="0"/>
          </a:p>
        </p:txBody>
      </p:sp>
      <p:sp>
        <p:nvSpPr>
          <p:cNvPr id="10" name="Shape 7"/>
          <p:cNvSpPr/>
          <p:nvPr/>
        </p:nvSpPr>
        <p:spPr>
          <a:xfrm>
            <a:off x="5394960" y="1371600"/>
            <a:ext cx="6245352" cy="4663440"/>
          </a:xfrm>
          <a:prstGeom prst="roundRect">
            <a:avLst>
              <a:gd name="adj" fmla="val 1569"/>
            </a:avLst>
          </a:prstGeom>
          <a:solidFill>
            <a:srgbClr val="F3F4F6"/>
          </a:solidFill>
          <a:ln w="12700">
            <a:solidFill>
              <a:srgbClr val="F3F4F6"/>
            </a:solidFill>
            <a:prstDash val="solid"/>
          </a:ln>
        </p:spPr>
      </p:sp>
      <p:sp>
        <p:nvSpPr>
          <p:cNvPr id="11" name="Text 8"/>
          <p:cNvSpPr txBox="1"/>
          <p:nvPr/>
        </p:nvSpPr>
        <p:spPr>
          <a:xfrm>
            <a:off x="5669280" y="1600200"/>
            <a:ext cx="566928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Where it stands</a:t>
            </a:r>
            <a:endParaRPr lang="en-US" sz="1800" dirty="0"/>
          </a:p>
        </p:txBody>
      </p:sp>
      <p:sp>
        <p:nvSpPr>
          <p:cNvPr id="12" name="Shape 9"/>
          <p:cNvSpPr/>
          <p:nvPr/>
        </p:nvSpPr>
        <p:spPr>
          <a:xfrm>
            <a:off x="5669280" y="2286000"/>
            <a:ext cx="548640" cy="548640"/>
          </a:xfrm>
          <a:prstGeom prst="ellipse">
            <a:avLst/>
          </a:prstGeom>
          <a:solidFill>
            <a:srgbClr val="FFEDD5"/>
          </a:solidFill>
          <a:ln w="12700">
            <a:solidFill>
              <a:srgbClr val="FFEDD5"/>
            </a:solidFill>
            <a:prstDash val="solid"/>
          </a:ln>
        </p:spPr>
      </p:sp>
      <p:pic>
        <p:nvPicPr>
          <p:cNvPr id="13" name="Image 1" descr="preencoded.png">    </p:cNvPr>
          <p:cNvPicPr>
            <a:picLocks noChangeAspect="1"/>
          </p:cNvPicPr>
          <p:nvPr/>
        </p:nvPicPr>
        <p:blipFill>
          <a:blip r:embed="rId2"/>
          <a:stretch>
            <a:fillRect/>
          </a:stretch>
        </p:blipFill>
        <p:spPr>
          <a:xfrm>
            <a:off x="5806440" y="2423160"/>
            <a:ext cx="274320" cy="274320"/>
          </a:xfrm>
          <a:prstGeom prst="rect">
            <a:avLst/>
          </a:prstGeom>
        </p:spPr>
      </p:pic>
      <p:sp>
        <p:nvSpPr>
          <p:cNvPr id="14" name="Text 10"/>
          <p:cNvSpPr txBox="1"/>
          <p:nvPr/>
        </p:nvSpPr>
        <p:spPr>
          <a:xfrm>
            <a:off x="6400800" y="2194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SCA team: CICO is currently OK for our freight-bill volume, building size and operation.</a:t>
            </a:r>
            <a:endParaRPr lang="en-US" sz="1500" dirty="0"/>
          </a:p>
        </p:txBody>
      </p:sp>
      <p:sp>
        <p:nvSpPr>
          <p:cNvPr id="15" name="Shape 11"/>
          <p:cNvSpPr/>
          <p:nvPr/>
        </p:nvSpPr>
        <p:spPr>
          <a:xfrm>
            <a:off x="5669280" y="3429000"/>
            <a:ext cx="548640" cy="548640"/>
          </a:xfrm>
          <a:prstGeom prst="ellipse">
            <a:avLst/>
          </a:prstGeom>
          <a:solidFill>
            <a:srgbClr val="FFEDD5"/>
          </a:solidFill>
          <a:ln w="12700">
            <a:solidFill>
              <a:srgbClr val="FFEDD5"/>
            </a:solidFill>
            <a:prstDash val="solid"/>
          </a:ln>
        </p:spPr>
      </p:sp>
      <p:pic>
        <p:nvPicPr>
          <p:cNvPr id="16" name="Image 2" descr="preencoded.png">    </p:cNvPr>
          <p:cNvPicPr>
            <a:picLocks noChangeAspect="1"/>
          </p:cNvPicPr>
          <p:nvPr/>
        </p:nvPicPr>
        <p:blipFill>
          <a:blip r:embed="rId3"/>
          <a:stretch>
            <a:fillRect/>
          </a:stretch>
        </p:blipFill>
        <p:spPr>
          <a:xfrm>
            <a:off x="5806440" y="3566160"/>
            <a:ext cx="274320" cy="274320"/>
          </a:xfrm>
          <a:prstGeom prst="rect">
            <a:avLst/>
          </a:prstGeom>
        </p:spPr>
      </p:pic>
      <p:sp>
        <p:nvSpPr>
          <p:cNvPr id="17" name="Text 12"/>
          <p:cNvSpPr txBox="1"/>
          <p:nvPr/>
        </p:nvSpPr>
        <p:spPr>
          <a:xfrm>
            <a:off x="6400800" y="3337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Admin roles form completed for the SCA team — every admin role and its duties documented.</a:t>
            </a:r>
            <a:endParaRPr lang="en-US" sz="1500" dirty="0"/>
          </a:p>
        </p:txBody>
      </p:sp>
      <p:sp>
        <p:nvSpPr>
          <p:cNvPr id="18" name="Shape 13"/>
          <p:cNvSpPr/>
          <p:nvPr/>
        </p:nvSpPr>
        <p:spPr>
          <a:xfrm>
            <a:off x="5669280" y="4572000"/>
            <a:ext cx="548640" cy="548640"/>
          </a:xfrm>
          <a:prstGeom prst="ellipse">
            <a:avLst/>
          </a:prstGeom>
          <a:solidFill>
            <a:srgbClr val="FFEDD5"/>
          </a:solidFill>
          <a:ln w="12700">
            <a:solidFill>
              <a:srgbClr val="FFEDD5"/>
            </a:solidFill>
            <a:prstDash val="solid"/>
          </a:ln>
        </p:spPr>
      </p:sp>
      <p:pic>
        <p:nvPicPr>
          <p:cNvPr id="19" name="Image 3" descr="preencoded.png">    </p:cNvPr>
          <p:cNvPicPr>
            <a:picLocks noChangeAspect="1"/>
          </p:cNvPicPr>
          <p:nvPr/>
        </p:nvPicPr>
        <p:blipFill>
          <a:blip r:embed="rId4"/>
          <a:stretch>
            <a:fillRect/>
          </a:stretch>
        </p:blipFill>
        <p:spPr>
          <a:xfrm>
            <a:off x="5806440" y="4709160"/>
            <a:ext cx="274320" cy="274320"/>
          </a:xfrm>
          <a:prstGeom prst="rect">
            <a:avLst/>
          </a:prstGeom>
        </p:spPr>
      </p:pic>
      <p:sp>
        <p:nvSpPr>
          <p:cNvPr id="20" name="Text 14"/>
          <p:cNvSpPr txBox="1"/>
          <p:nvPr/>
        </p:nvSpPr>
        <p:spPr>
          <a:xfrm>
            <a:off x="6400800" y="4480560"/>
            <a:ext cx="502920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Still under review — any changes will come out of that review.</a:t>
            </a:r>
            <a:endParaRPr lang="en-US" sz="1500" dirty="0"/>
          </a:p>
        </p:txBody>
      </p:sp>
      <p:sp>
        <p:nvSpPr>
          <p:cNvPr id="21"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2"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today and the plan</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Glass doors on makeshift 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Glass doors on makeshift 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FF7ED"/>
          </a:solidFill>
          <a:ln w="12700">
            <a:solidFill>
              <a:srgbClr val="FFF7ED"/>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EA580C"/>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EA580C"/>
          </a:solidFill>
          <a:ln w="12700">
            <a:solidFill>
              <a:srgbClr val="EA580C"/>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carts &amp; reconfigurable racks for windows, doors, panels, car parts</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LOAD QUALITY &amp; EQUIPMENT</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Collapsible load tables — network benefit</a:t>
            </a:r>
            <a:endParaRPr lang="en-US" sz="3000" dirty="0"/>
          </a:p>
        </p:txBody>
      </p:sp>
      <p:sp>
        <p:nvSpPr>
          <p:cNvPr id="4" name="Shape 2"/>
          <p:cNvSpPr/>
          <p:nvPr/>
        </p:nvSpPr>
        <p:spPr>
          <a:xfrm>
            <a:off x="548640" y="1371600"/>
            <a:ext cx="2194560" cy="292608"/>
          </a:xfrm>
          <a:prstGeom prst="roundRect">
            <a:avLst>
              <a:gd name="adj" fmla="val 25000"/>
            </a:avLst>
          </a:prstGeom>
          <a:solidFill>
            <a:srgbClr val="FFEDD5"/>
          </a:solidFill>
          <a:ln w="12700">
            <a:solidFill>
              <a:srgbClr val="FFEDD5"/>
            </a:solidFill>
            <a:prstDash val="solid"/>
          </a:ln>
        </p:spPr>
      </p:sp>
      <p:sp>
        <p:nvSpPr>
          <p:cNvPr id="5" name="Text 3"/>
          <p:cNvSpPr txBox="1"/>
          <p:nvPr/>
        </p:nvSpPr>
        <p:spPr>
          <a:xfrm>
            <a:off x="54864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EXTENDED</a:t>
            </a:r>
            <a:endParaRPr lang="en-US" sz="1100" dirty="0"/>
          </a:p>
        </p:txBody>
      </p:sp>
      <p:pic>
        <p:nvPicPr>
          <p:cNvPr id="6" name="Image 0" descr="Second tier in the trailer">    </p:cNvPr>
          <p:cNvPicPr>
            <a:picLocks noChangeAspect="1"/>
          </p:cNvPicPr>
          <p:nvPr/>
        </p:nvPicPr>
        <p:blipFill>
          <a:blip r:embed="rId1"/>
          <a:srcRect l="0" r="0" t="0" b="0"/>
          <a:stretch/>
        </p:blipFill>
        <p:spPr>
          <a:xfrm>
            <a:off x="548640" y="1737360"/>
            <a:ext cx="2194560" cy="2392070"/>
          </a:xfrm>
          <a:prstGeom prst="rect">
            <a:avLst/>
          </a:prstGeom>
        </p:spPr>
      </p:pic>
      <p:sp>
        <p:nvSpPr>
          <p:cNvPr id="7" name="Text 4"/>
          <p:cNvSpPr txBox="1"/>
          <p:nvPr/>
        </p:nvSpPr>
        <p:spPr>
          <a:xfrm>
            <a:off x="54864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Second tier in the trailer</a:t>
            </a:r>
            <a:endParaRPr lang="en-US" sz="1100" dirty="0"/>
          </a:p>
        </p:txBody>
      </p:sp>
      <p:sp>
        <p:nvSpPr>
          <p:cNvPr id="8" name="Shape 5"/>
          <p:cNvSpPr/>
          <p:nvPr/>
        </p:nvSpPr>
        <p:spPr>
          <a:xfrm>
            <a:off x="2926080" y="1371600"/>
            <a:ext cx="2194560" cy="292608"/>
          </a:xfrm>
          <a:prstGeom prst="roundRect">
            <a:avLst>
              <a:gd name="adj" fmla="val 25000"/>
            </a:avLst>
          </a:prstGeom>
          <a:solidFill>
            <a:srgbClr val="FFEDD5"/>
          </a:solidFill>
          <a:ln w="12700">
            <a:solidFill>
              <a:srgbClr val="FFEDD5"/>
            </a:solidFill>
            <a:prstDash val="solid"/>
          </a:ln>
        </p:spPr>
      </p:sp>
      <p:sp>
        <p:nvSpPr>
          <p:cNvPr id="9" name="Text 6"/>
          <p:cNvSpPr txBox="1"/>
          <p:nvPr/>
        </p:nvSpPr>
        <p:spPr>
          <a:xfrm>
            <a:off x="292608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FOLDED</a:t>
            </a:r>
            <a:endParaRPr lang="en-US" sz="1100" dirty="0"/>
          </a:p>
        </p:txBody>
      </p:sp>
      <p:pic>
        <p:nvPicPr>
          <p:cNvPr id="10" name="Image 1" descr="Lifted by forklift">    </p:cNvPr>
          <p:cNvPicPr>
            <a:picLocks noChangeAspect="1"/>
          </p:cNvPicPr>
          <p:nvPr/>
        </p:nvPicPr>
        <p:blipFill>
          <a:blip r:embed="rId2"/>
          <a:srcRect l="0" r="0" t="0" b="0"/>
          <a:stretch/>
        </p:blipFill>
        <p:spPr>
          <a:xfrm>
            <a:off x="2926080" y="1737360"/>
            <a:ext cx="2194560" cy="2392070"/>
          </a:xfrm>
          <a:prstGeom prst="rect">
            <a:avLst/>
          </a:prstGeom>
        </p:spPr>
      </p:pic>
      <p:sp>
        <p:nvSpPr>
          <p:cNvPr id="11" name="Text 7"/>
          <p:cNvSpPr txBox="1"/>
          <p:nvPr/>
        </p:nvSpPr>
        <p:spPr>
          <a:xfrm>
            <a:off x="292608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Lifted by forklift</a:t>
            </a:r>
            <a:endParaRPr lang="en-US" sz="1100" dirty="0"/>
          </a:p>
        </p:txBody>
      </p:sp>
      <p:sp>
        <p:nvSpPr>
          <p:cNvPr id="12" name="Shape 8"/>
          <p:cNvSpPr/>
          <p:nvPr/>
        </p:nvSpPr>
        <p:spPr>
          <a:xfrm>
            <a:off x="5303520" y="1371600"/>
            <a:ext cx="2194560" cy="292608"/>
          </a:xfrm>
          <a:prstGeom prst="roundRect">
            <a:avLst>
              <a:gd name="adj" fmla="val 25000"/>
            </a:avLst>
          </a:prstGeom>
          <a:solidFill>
            <a:srgbClr val="FFEDD5"/>
          </a:solidFill>
          <a:ln w="12700">
            <a:solidFill>
              <a:srgbClr val="FFEDD5"/>
            </a:solidFill>
            <a:prstDash val="solid"/>
          </a:ln>
        </p:spPr>
      </p:sp>
      <p:sp>
        <p:nvSpPr>
          <p:cNvPr id="13" name="Text 9"/>
          <p:cNvSpPr txBox="1"/>
          <p:nvPr/>
        </p:nvSpPr>
        <p:spPr>
          <a:xfrm>
            <a:off x="5303520" y="1371600"/>
            <a:ext cx="2194560" cy="292608"/>
          </a:xfrm>
          <a:prstGeom prst="rect">
            <a:avLst/>
          </a:prstGeom>
          <a:noFill/>
          <a:ln/>
        </p:spPr>
        <p:txBody>
          <a:bodyPr wrap="square" lIns="0" tIns="0" rIns="0" bIns="0" rtlCol="0" anchor="ctr"/>
          <a:lstStyle/>
          <a:p>
            <a:pPr algn="ctr" indent="0" marL="0">
              <a:buNone/>
            </a:pPr>
            <a:r>
              <a:rPr lang="en-US" sz="1100" b="1" spc="100" kern="0" dirty="0">
                <a:solidFill>
                  <a:srgbClr val="EA580C"/>
                </a:solidFill>
                <a:latin typeface="Calibri" pitchFamily="34" charset="0"/>
                <a:ea typeface="Calibri" pitchFamily="34" charset="-122"/>
                <a:cs typeface="Calibri" pitchFamily="34" charset="-120"/>
              </a:rPr>
              <a:t>STACKABLE</a:t>
            </a:r>
            <a:endParaRPr lang="en-US" sz="1100" dirty="0"/>
          </a:p>
        </p:txBody>
      </p:sp>
      <p:pic>
        <p:nvPicPr>
          <p:cNvPr id="14" name="Image 2" descr="Small footprint when not in use">    </p:cNvPr>
          <p:cNvPicPr>
            <a:picLocks noChangeAspect="1"/>
          </p:cNvPicPr>
          <p:nvPr/>
        </p:nvPicPr>
        <p:blipFill>
          <a:blip r:embed="rId3"/>
          <a:srcRect l="0" r="0" t="0" b="0"/>
          <a:stretch/>
        </p:blipFill>
        <p:spPr>
          <a:xfrm>
            <a:off x="5303520" y="1737360"/>
            <a:ext cx="2194560" cy="2392070"/>
          </a:xfrm>
          <a:prstGeom prst="rect">
            <a:avLst/>
          </a:prstGeom>
        </p:spPr>
      </p:pic>
      <p:sp>
        <p:nvSpPr>
          <p:cNvPr id="15" name="Text 10"/>
          <p:cNvSpPr txBox="1"/>
          <p:nvPr/>
        </p:nvSpPr>
        <p:spPr>
          <a:xfrm>
            <a:off x="5303520" y="4175150"/>
            <a:ext cx="2194560" cy="32004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Small footprint when not in use</a:t>
            </a:r>
            <a:endParaRPr lang="en-US" sz="1100" dirty="0"/>
          </a:p>
        </p:txBody>
      </p:sp>
      <p:sp>
        <p:nvSpPr>
          <p:cNvPr id="16" name="Shape 11"/>
          <p:cNvSpPr/>
          <p:nvPr/>
        </p:nvSpPr>
        <p:spPr>
          <a:xfrm>
            <a:off x="548640" y="4754880"/>
            <a:ext cx="6949440" cy="1280160"/>
          </a:xfrm>
          <a:prstGeom prst="roundRect">
            <a:avLst>
              <a:gd name="adj" fmla="val 5714"/>
            </a:avLst>
          </a:prstGeom>
          <a:solidFill>
            <a:srgbClr val="FFFBEB"/>
          </a:solidFill>
          <a:ln w="12700">
            <a:solidFill>
              <a:srgbClr val="FFFBEB"/>
            </a:solidFill>
            <a:prstDash val="solid"/>
          </a:ln>
        </p:spPr>
      </p:sp>
      <p:sp>
        <p:nvSpPr>
          <p:cNvPr id="17" name="Text 12"/>
          <p:cNvSpPr txBox="1"/>
          <p:nvPr/>
        </p:nvSpPr>
        <p:spPr>
          <a:xfrm>
            <a:off x="731520" y="4800600"/>
            <a:ext cx="6583680" cy="1188720"/>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Today: </a:t>
            </a:r>
            <a:pPr indent="0" marL="0">
              <a:buNone/>
            </a:pPr>
            <a:r>
              <a:rPr lang="en-US" sz="1250" dirty="0">
                <a:solidFill>
                  <a:srgbClr val="1F2937"/>
                </a:solidFill>
                <a:latin typeface="Calibri" pitchFamily="34" charset="0"/>
                <a:ea typeface="Calibri" pitchFamily="34" charset="-122"/>
                <a:cs typeface="Calibri" pitchFamily="34" charset="-120"/>
              </a:rPr>
              <a:t>large fixed metal load tables take up dock space when not in use, and smaller terminals have no room to store them.</a:t>
            </a:r>
            <a:endParaRPr lang="en-US" sz="1250" dirty="0"/>
          </a:p>
        </p:txBody>
      </p:sp>
      <p:sp>
        <p:nvSpPr>
          <p:cNvPr id="18" name="Shape 13"/>
          <p:cNvSpPr/>
          <p:nvPr/>
        </p:nvSpPr>
        <p:spPr>
          <a:xfrm>
            <a:off x="7772400" y="1371600"/>
            <a:ext cx="3867912" cy="4663440"/>
          </a:xfrm>
          <a:prstGeom prst="roundRect">
            <a:avLst>
              <a:gd name="adj" fmla="val 1891"/>
            </a:avLst>
          </a:prstGeom>
          <a:solidFill>
            <a:srgbClr val="F3F4F6"/>
          </a:solidFill>
          <a:ln w="12700">
            <a:solidFill>
              <a:srgbClr val="F3F4F6"/>
            </a:solidFill>
            <a:prstDash val="solid"/>
          </a:ln>
        </p:spPr>
      </p:sp>
      <p:sp>
        <p:nvSpPr>
          <p:cNvPr id="19" name="Shape 14"/>
          <p:cNvSpPr/>
          <p:nvPr/>
        </p:nvSpPr>
        <p:spPr>
          <a:xfrm>
            <a:off x="8001000" y="1572768"/>
            <a:ext cx="502920" cy="502920"/>
          </a:xfrm>
          <a:prstGeom prst="ellipse">
            <a:avLst/>
          </a:prstGeom>
          <a:solidFill>
            <a:srgbClr val="EA580C"/>
          </a:solidFill>
          <a:ln w="12700">
            <a:solidFill>
              <a:srgbClr val="EA580C"/>
            </a:solidFill>
            <a:prstDash val="solid"/>
          </a:ln>
        </p:spPr>
      </p:sp>
      <p:pic>
        <p:nvPicPr>
          <p:cNvPr id="20" name="Image 3" descr="preencoded.png">    </p:cNvPr>
          <p:cNvPicPr>
            <a:picLocks noChangeAspect="1"/>
          </p:cNvPicPr>
          <p:nvPr/>
        </p:nvPicPr>
        <p:blipFill>
          <a:blip r:embed="rId4"/>
          <a:stretch>
            <a:fillRect/>
          </a:stretch>
        </p:blipFill>
        <p:spPr>
          <a:xfrm>
            <a:off x="8126730" y="1698498"/>
            <a:ext cx="251460" cy="251460"/>
          </a:xfrm>
          <a:prstGeom prst="rect">
            <a:avLst/>
          </a:prstGeom>
        </p:spPr>
      </p:pic>
      <p:sp>
        <p:nvSpPr>
          <p:cNvPr id="21" name="Text 15"/>
          <p:cNvSpPr txBox="1"/>
          <p:nvPr/>
        </p:nvSpPr>
        <p:spPr>
          <a:xfrm>
            <a:off x="8641080" y="1572768"/>
            <a:ext cx="283464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Why it matters</a:t>
            </a:r>
            <a:endParaRPr lang="en-US" sz="1700" dirty="0"/>
          </a:p>
        </p:txBody>
      </p:sp>
      <p:sp>
        <p:nvSpPr>
          <p:cNvPr id="22" name="Text 16"/>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Fold flat and stack when empty — frees dock space</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Forklift picks them up — less manual handling, faster unload</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Receiving terminals across the country unload our trailers faster and cleaner — and theirs to us</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With yellow / grey bin carts, freight rolls out and is staged for final mile or transfer</a:t>
            </a:r>
            <a:endParaRPr lang="en-US" sz="1250" dirty="0"/>
          </a:p>
          <a:p>
            <a:pPr marL="203200" indent="-2032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Fewer damages and claims; safer unloading</a:t>
            </a:r>
            <a:endParaRPr lang="en-US" sz="1250" dirty="0"/>
          </a:p>
        </p:txBody>
      </p:sp>
      <p:sp>
        <p:nvSpPr>
          <p:cNvPr id="23" name="Text 1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1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EA580C"/>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FF7ED"/>
          </a:solidFill>
          <a:ln w="12700">
            <a:solidFill>
              <a:srgbClr val="FFF7ED"/>
            </a:solidFill>
            <a:prstDash val="solid"/>
          </a:ln>
        </p:spPr>
      </p:sp>
      <p:sp>
        <p:nvSpPr>
          <p:cNvPr id="5" name="Shape 3"/>
          <p:cNvSpPr/>
          <p:nvPr/>
        </p:nvSpPr>
        <p:spPr>
          <a:xfrm>
            <a:off x="868680" y="2011680"/>
            <a:ext cx="1005840" cy="1005840"/>
          </a:xfrm>
          <a:prstGeom prst="ellipse">
            <a:avLst/>
          </a:prstGeom>
          <a:solidFill>
            <a:srgbClr val="EA580C"/>
          </a:solidFill>
          <a:ln w="12700">
            <a:solidFill>
              <a:srgbClr val="EA580C"/>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EA580C"/>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FFEDD5"/>
          </a:solidFill>
          <a:ln w="12700">
            <a:solidFill>
              <a:srgbClr val="FFEDD5"/>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FFEDD5"/>
          </a:solidFill>
          <a:ln w="12700">
            <a:solidFill>
              <a:srgbClr val="FFEDD5"/>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FB923C"/>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EA580C"/>
          </a:solidFill>
          <a:ln w="12700">
            <a:solidFill>
              <a:srgbClr val="EA580C"/>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b="1" dirty="0">
                <a:solidFill>
                  <a:srgbClr val="E5E7EB"/>
                </a:solidFill>
                <a:latin typeface="Calibri" pitchFamily="34" charset="0"/>
                <a:ea typeface="Calibri" pitchFamily="34" charset="-122"/>
                <a:cs typeface="Calibri" pitchFamily="34" charset="-120"/>
              </a:rPr>
              <a:t>Contract labour outlook ≈$390.2K vs F26 if current rates hold (≈$32.5K/mo; estimate, not booked).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Sept MTD: 91.1% of SCA hour allowance — 391 hrs under.</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more being sized.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 / 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2026-09-29T17:57:57Z</dcterms:created>
  <dcterms:modified xsi:type="dcterms:W3CDTF">2026-09-29T17:57:57Z</dcterms:modified>
</cp:coreProperties>
</file>