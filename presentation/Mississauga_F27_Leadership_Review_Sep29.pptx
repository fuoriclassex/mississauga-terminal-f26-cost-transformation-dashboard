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9.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11827"/>
                </a:solidFill>
                <a:latin typeface="Calibri"/>
              </a:defRPr>
            </a:pPr>
            <a:r>
              <a:rPr sz="1200" b="0" i="0" u="none" strike="noStrike">
                <a:solidFill>
                  <a:srgbClr val="111827"/>
                </a:solidFill>
                <a:latin typeface="Calibri"/>
              </a:rPr>
              <a:t>Adjusted on-time % by month · 2026</a:t>
            </a:r>
          </a:p>
        </c:rich>
      </c:tx>
      <c:layout/>
      <c:overlay val="0"/>
    </c:title>
    <c:autoTitleDeleted val="0"/>
    <c:plotArea>
      <c:layout/>
      <c:barChart>
        <c:barDir val="col"/>
        <c:grouping val="clustered"/>
        <c:varyColors val="0"/>
        <c:ser>
          <c:idx val="0"/>
          <c:order val="0"/>
          <c:tx>
            <c:strRef>
              <c:f>Sheet1!$B$1</c:f>
              <c:strCache>
                <c:ptCount val="1"/>
                <c:pt idx="0">
                  <c:v>Incl. partner carriers</c:v>
                </c:pt>
              </c:strCache>
            </c:strRef>
          </c:tx>
          <c:spPr>
            <a:solidFill>
              <a:srgbClr val="7C3AE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87.5</c:v>
                </c:pt>
                <c:pt idx="1">
                  <c:v>87.8</c:v>
                </c:pt>
                <c:pt idx="2">
                  <c:v>84.9</c:v>
                </c:pt>
                <c:pt idx="3">
                  <c:v>81.5</c:v>
                </c:pt>
                <c:pt idx="4">
                  <c:v>83.6</c:v>
                </c:pt>
                <c:pt idx="5">
                  <c:v>85.5</c:v>
                </c:pt>
                <c:pt idx="6">
                  <c:v>89.3</c:v>
                </c:pt>
                <c:pt idx="7">
                  <c:v>91.7</c:v>
                </c:pt>
                <c:pt idx="8">
                  <c:v>93.7</c:v>
                </c:pt>
              </c:numCache>
            </c:numRef>
          </c:val>
        </c:ser>
        <c:ser>
          <c:idx val="1"/>
          <c:order val="1"/>
          <c:tx>
            <c:strRef>
              <c:f>Sheet1!$C$1</c:f>
              <c:strCache>
                <c:ptCount val="1"/>
                <c:pt idx="0">
                  <c:v>Excl. partner carriers</c:v>
                </c:pt>
              </c:strCache>
            </c:strRef>
          </c:tx>
          <c:spPr>
            <a:solidFill>
              <a:srgbClr val="C4B5F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87.5</c:v>
                </c:pt>
                <c:pt idx="1">
                  <c:v>87.9</c:v>
                </c:pt>
                <c:pt idx="2">
                  <c:v>88.4</c:v>
                </c:pt>
                <c:pt idx="3">
                  <c:v>88.8</c:v>
                </c:pt>
                <c:pt idx="4">
                  <c:v>92.1</c:v>
                </c:pt>
                <c:pt idx="5">
                  <c:v>91.8</c:v>
                </c:pt>
                <c:pt idx="6">
                  <c:v>94.4</c:v>
                </c:pt>
                <c:pt idx="7">
                  <c:v>94.7</c:v>
                </c:pt>
                <c:pt idx="8">
                  <c:v>96.7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lineChart>
        <c:varyColors val="0"/>
        <c:ser>
          <c:idx val="2"/>
          <c:order val="2"/>
          <c:tx>
            <c:strRef>
              <c:f>Sheet1!$D$1</c:f>
              <c:strCache>
                <c:ptCount val="1"/>
                <c:pt idx="0">
                  <c:v>Target 90%</c:v>
                </c:pt>
              </c:strCache>
            </c:strRef>
          </c:tx>
          <c:spPr>
            <a:solidFill>
              <a:srgbClr val="DC2626"/>
            </a:solidFill>
            <a:ln w="19050" cap="flat">
              <a:solidFill>
                <a:srgbClr val="DC26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C2626"/>
              </a:solidFill>
              <a:ln w="9525" cap="flat">
                <a:solidFill>
                  <a:srgbClr val="DC2626"/>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90</c:v>
                </c:pt>
                <c:pt idx="1">
                  <c:v>90</c:v>
                </c:pt>
                <c:pt idx="2">
                  <c:v>90</c:v>
                </c:pt>
                <c:pt idx="3">
                  <c:v>90</c:v>
                </c:pt>
                <c:pt idx="4">
                  <c:v>90</c:v>
                </c:pt>
                <c:pt idx="5">
                  <c:v>90</c:v>
                </c:pt>
                <c:pt idx="6">
                  <c:v>90</c:v>
                </c:pt>
                <c:pt idx="7">
                  <c:v>90</c:v>
                </c:pt>
                <c:pt idx="8">
                  <c:v>90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100"/>
          <c:min val="75"/>
        </c:scaling>
        <c:delete val="0"/>
        <c:axPos val="l"/>
        <c:majorGridlines>
          <c:spPr>
            <a:ln w="9525"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majorUnit val="5"/>
      </c:valAx>
      <c:spPr>
        <a:noFill/>
        <a:ln>
          <a:noFill/>
        </a:ln>
        <a:effectLst/>
      </c:spPr>
    </c:plotArea>
    <c:legend>
      <c:legendPos val="b"/>
      <c:overlay val="0"/>
      <c:txPr>
        <a:bodyPr/>
        <a:lstStyle/>
        <a:p>
          <a:pPr>
            <a:defRPr sz="10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11827"/>
                </a:solidFill>
                <a:latin typeface="Calibri"/>
              </a:defRPr>
            </a:pPr>
            <a:r>
              <a:rPr sz="1200" b="0" i="0" u="none" strike="noStrike">
                <a:solidFill>
                  <a:srgbClr val="111827"/>
                </a:solidFill>
                <a:latin typeface="Calibri"/>
              </a:rPr>
              <a:t>Missed PU % by month</a:t>
            </a:r>
          </a:p>
        </c:rich>
      </c:tx>
      <c:layout/>
      <c:overlay val="0"/>
    </c:title>
    <c:autoTitleDeleted val="0"/>
    <c:plotArea>
      <c:layout/>
      <c:barChart>
        <c:barDir val="col"/>
        <c:grouping val="clustered"/>
        <c:varyColors val="0"/>
        <c:ser>
          <c:idx val="0"/>
          <c:order val="0"/>
          <c:tx>
            <c:strRef>
              <c:f>Sheet1!$B$1</c:f>
              <c:strCache>
                <c:ptCount val="1"/>
                <c:pt idx="0">
                  <c:v>Missed PU %</c:v>
                </c:pt>
              </c:strCache>
            </c:strRef>
          </c:tx>
          <c:spPr>
            <a:solidFill>
              <a:srgbClr val="7C3AED"/>
            </a:solidFill>
            <a:effectLst/>
          </c:spPr>
          <c:invertIfNegative val="0"/>
          <c:dLbls>
            <c:numFmt formatCode="0.00&quot;%&quot;" sourceLinked="0"/>
            <c:txPr>
              <a:bodyPr/>
              <a:lstStyle/>
              <a:p>
                <a:pPr>
                  <a:defRPr b="0" i="0" strike="noStrike" sz="1000" u="none">
                    <a:solidFill>
                      <a:srgbClr val="1F2937"/>
                    </a:solidFill>
                    <a:latin typeface="Calibri"/>
                  </a:defRPr>
                </a:pPr>
              </a:p>
            </c:txPr>
            <c:showLegendKey val="0"/>
            <c:showVal val="1"/>
            <c:showCatName val="0"/>
            <c:showSerName val="0"/>
            <c:showPercent val="0"/>
            <c:showBubbleSize val="0"/>
            <c:showLeaderLines val="0"/>
          </c:dLbls>
          <c:cat>
            <c:multiLvlStrRef>
              <c:f>Sheet1!$A$2:$A$5</c:f>
              <c:multiLvlStrCache>
                <c:ptCount val="4"/>
                <c:lvl>
                  <c:pt idx="0">
                    <c:v>Jun 2026</c:v>
                  </c:pt>
                  <c:pt idx="1">
                    <c:v>Jul</c:v>
                  </c:pt>
                  <c:pt idx="2">
                    <c:v>Aug</c:v>
                  </c:pt>
                  <c:pt idx="3">
                    <c:v>Sep MTD</c:v>
                  </c:pt>
                </c:lvl>
              </c:multiLvlStrCache>
            </c:multiLvlStrRef>
          </c:cat>
          <c:val>
            <c:numRef>
              <c:f>Sheet1!$B$2:$B$5</c:f>
              <c:numCache>
                <c:formatCode>General</c:formatCode>
                <c:ptCount val="4"/>
                <c:pt idx="0">
                  <c:v>7.77</c:v>
                </c:pt>
                <c:pt idx="1">
                  <c:v>4.88</c:v>
                </c:pt>
                <c:pt idx="2">
                  <c:v>3.66</c:v>
                </c:pt>
                <c:pt idx="3">
                  <c:v>5.23</c:v>
                </c:pt>
              </c:numCache>
            </c:numRef>
          </c:val>
        </c:ser>
        <c:dLbls>
          <c:numFmt formatCode="0.00&quot;%&quot;" sourceLinked="0"/>
          <c:txPr>
            <a:bodyPr/>
            <a:lstStyle/>
            <a:p>
              <a:pPr>
                <a:defRPr b="0" i="0" strike="noStrike" sz="1000" u="none">
                  <a:solidFill>
                    <a:srgbClr val="1F2937"/>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9525"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11827"/>
                </a:solidFill>
                <a:latin typeface="Calibri"/>
              </a:defRPr>
            </a:pPr>
            <a:r>
              <a:rPr sz="1200" b="0" i="0" u="none" strike="noStrike">
                <a:solidFill>
                  <a:srgbClr val="111827"/>
                </a:solidFill>
                <a:latin typeface="Calibri"/>
              </a:rPr>
              <a:t>Missed PU % by week (wk 39 partial)</a:t>
            </a:r>
          </a:p>
        </c:rich>
      </c:tx>
      <c:layout/>
      <c:overlay val="0"/>
    </c:title>
    <c:autoTitleDeleted val="0"/>
    <c:plotArea>
      <c:layout/>
      <c:barChart>
        <c:barDir val="col"/>
        <c:grouping val="clustered"/>
        <c:varyColors val="0"/>
        <c:ser>
          <c:idx val="0"/>
          <c:order val="0"/>
          <c:tx>
            <c:strRef>
              <c:f>Sheet1!$B$1</c:f>
              <c:strCache>
                <c:ptCount val="1"/>
                <c:pt idx="0">
                  <c:v>Missed PU %</c:v>
                </c:pt>
              </c:strCache>
            </c:strRef>
          </c:tx>
          <c:spPr>
            <a:solidFill>
              <a:srgbClr val="7C3AED"/>
            </a:solidFill>
            <a:effectLst/>
          </c:spPr>
          <c:invertIfNegative val="0"/>
          <c:dLbls>
            <c:numFmt formatCode="0.0" sourceLinked="0"/>
            <c:txPr>
              <a:bodyPr/>
              <a:lstStyle/>
              <a:p>
                <a:pPr>
                  <a:defRPr b="0" i="0" strike="noStrike" sz="800" u="none">
                    <a:solidFill>
                      <a:srgbClr val="1F2937"/>
                    </a:solidFill>
                    <a:latin typeface="Calibri"/>
                  </a:defRPr>
                </a:pPr>
              </a:p>
            </c:txPr>
            <c:showLegendKey val="0"/>
            <c:showVal val="1"/>
            <c:showCatName val="0"/>
            <c:showSerName val="0"/>
            <c:showPercent val="0"/>
            <c:showBubbleSize val="0"/>
            <c:showLeaderLines val="0"/>
          </c:dLbls>
          <c:cat>
            <c:multiLvlStrRef>
              <c:f>Sheet1!$A$2:$A$14</c:f>
              <c:multiLvlStrCache>
                <c:ptCount val="13"/>
                <c:lvl>
                  <c:pt idx="0">
                    <c:v>27</c:v>
                  </c:pt>
                  <c:pt idx="1">
                    <c:v>28</c:v>
                  </c:pt>
                  <c:pt idx="2">
                    <c:v>29</c:v>
                  </c:pt>
                  <c:pt idx="3">
                    <c:v>30</c:v>
                  </c:pt>
                  <c:pt idx="4">
                    <c:v>31</c:v>
                  </c:pt>
                  <c:pt idx="5">
                    <c:v>32</c:v>
                  </c:pt>
                  <c:pt idx="6">
                    <c:v>33</c:v>
                  </c:pt>
                  <c:pt idx="7">
                    <c:v>34</c:v>
                  </c:pt>
                  <c:pt idx="8">
                    <c:v>35</c:v>
                  </c:pt>
                  <c:pt idx="9">
                    <c:v>36</c:v>
                  </c:pt>
                  <c:pt idx="10">
                    <c:v>37</c:v>
                  </c:pt>
                  <c:pt idx="11">
                    <c:v>38</c:v>
                  </c:pt>
                  <c:pt idx="12">
                    <c:v>39*</c:v>
                  </c:pt>
                </c:lvl>
              </c:multiLvlStrCache>
            </c:multiLvlStrRef>
          </c:cat>
          <c:val>
            <c:numRef>
              <c:f>Sheet1!$B$2:$B$14</c:f>
              <c:numCache>
                <c:formatCode>General</c:formatCode>
                <c:ptCount val="13"/>
                <c:pt idx="0">
                  <c:v>7.11</c:v>
                </c:pt>
                <c:pt idx="1">
                  <c:v>2.75</c:v>
                </c:pt>
                <c:pt idx="2">
                  <c:v>6.66</c:v>
                </c:pt>
                <c:pt idx="3">
                  <c:v>4.84</c:v>
                </c:pt>
                <c:pt idx="4">
                  <c:v>4.4</c:v>
                </c:pt>
                <c:pt idx="5">
                  <c:v>2.81</c:v>
                </c:pt>
                <c:pt idx="6">
                  <c:v>3.48</c:v>
                </c:pt>
                <c:pt idx="7">
                  <c:v>3.52</c:v>
                </c:pt>
                <c:pt idx="8">
                  <c:v>5.04</c:v>
                </c:pt>
                <c:pt idx="9">
                  <c:v>4.43</c:v>
                </c:pt>
                <c:pt idx="10">
                  <c:v>5.95</c:v>
                </c:pt>
                <c:pt idx="11">
                  <c:v>6.47</c:v>
                </c:pt>
                <c:pt idx="12">
                  <c:v>3.86</c:v>
                </c:pt>
              </c:numCache>
            </c:numRef>
          </c:val>
        </c:ser>
        <c:dLbls>
          <c:numFmt formatCode="0.0" sourceLinked="0"/>
          <c:txPr>
            <a:bodyPr/>
            <a:lstStyle/>
            <a:p>
              <a:pPr>
                <a:defRPr b="0" i="0" strike="noStrike" sz="800" u="none">
                  <a:solidFill>
                    <a:srgbClr val="1F2937"/>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9525"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11827"/>
                </a:solidFill>
                <a:latin typeface="Calibri"/>
              </a:defRPr>
            </a:pPr>
            <a:r>
              <a:rPr sz="1300" b="0" i="0" u="none" strike="noStrike">
                <a:solidFill>
                  <a:srgbClr val="111827"/>
                </a:solidFill>
                <a:latin typeface="Calibri"/>
              </a:rPr>
              <a:t>Dock hours · company vs agency</a:t>
            </a:r>
          </a:p>
        </c:rich>
      </c:tx>
      <c:layout/>
      <c:overlay val="0"/>
    </c:title>
    <c:autoTitleDeleted val="0"/>
    <c:plotArea>
      <c:layout/>
      <c:barChart>
        <c:barDir val="bar"/>
        <c:grouping val="stacked"/>
        <c:varyColors val="0"/>
        <c:ser>
          <c:idx val="0"/>
          <c:order val="0"/>
          <c:tx>
            <c:strRef>
              <c:f>Sheet1!$B$1</c:f>
              <c:strCache>
                <c:ptCount val="1"/>
                <c:pt idx="0">
                  <c:v>Company</c:v>
                </c:pt>
              </c:strCache>
            </c:strRef>
          </c:tx>
          <c:spPr>
            <a:solidFill>
              <a:srgbClr val="7C3AED"/>
            </a:solidFill>
            <a:effectLst/>
          </c:spPr>
          <c:invertIfNegative val="0"/>
          <c:dLbls>
            <c:numFmt formatCode="#,##0" sourceLinked="0"/>
            <c:txPr>
              <a:bodyPr/>
              <a:lstStyle/>
              <a:p>
                <a:pPr>
                  <a:defRPr b="1" i="0" strike="noStrike" sz="12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F26 Sept · 6,303 hrs</c:v>
                  </c:pt>
                  <c:pt idx="1">
                    <c:v>F27 Sept MTD · 3,999 hrs</c:v>
                  </c:pt>
                </c:lvl>
              </c:multiLvlStrCache>
            </c:multiLvlStrRef>
          </c:cat>
          <c:val>
            <c:numRef>
              <c:f>Sheet1!$B$2:$B$3</c:f>
              <c:numCache>
                <c:formatCode>General</c:formatCode>
                <c:ptCount val="2"/>
                <c:pt idx="0">
                  <c:v>1860</c:v>
                </c:pt>
                <c:pt idx="1">
                  <c:v>1542</c:v>
                </c:pt>
              </c:numCache>
            </c:numRef>
          </c:val>
        </c:ser>
        <c:ser>
          <c:idx val="1"/>
          <c:order val="1"/>
          <c:tx>
            <c:strRef>
              <c:f>Sheet1!$C$1</c:f>
              <c:strCache>
                <c:ptCount val="1"/>
                <c:pt idx="0">
                  <c:v>Agency</c:v>
                </c:pt>
              </c:strCache>
            </c:strRef>
          </c:tx>
          <c:spPr>
            <a:solidFill>
              <a:srgbClr val="374151"/>
            </a:solidFill>
            <a:effectLst/>
          </c:spPr>
          <c:invertIfNegative val="0"/>
          <c:dLbls>
            <c:numFmt formatCode="#,##0" sourceLinked="0"/>
            <c:txPr>
              <a:bodyPr/>
              <a:lstStyle/>
              <a:p>
                <a:pPr>
                  <a:defRPr b="1" i="0" strike="noStrike" sz="12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F26 Sept · 6,303 hrs</c:v>
                  </c:pt>
                  <c:pt idx="1">
                    <c:v>F27 Sept MTD · 3,999 hrs</c:v>
                  </c:pt>
                </c:lvl>
              </c:multiLvlStrCache>
            </c:multiLvlStrRef>
          </c:cat>
          <c:val>
            <c:numRef>
              <c:f>Sheet1!$C$2:$C$3</c:f>
              <c:numCache>
                <c:formatCode>General</c:formatCode>
                <c:ptCount val="2"/>
                <c:pt idx="0">
                  <c:v>4443</c:v>
                </c:pt>
                <c:pt idx="1">
                  <c:v>2457</c:v>
                </c:pt>
              </c:numCache>
            </c:numRef>
          </c:val>
        </c:ser>
        <c:dLbls>
          <c:numFmt formatCode="#,##0" sourceLinked="0"/>
          <c:txPr>
            <a:bodyPr/>
            <a:lstStyle/>
            <a:p>
              <a:pPr>
                <a:defRPr b="1" i="0" strike="noStrike" sz="1200" u="none">
                  <a:solidFill>
                    <a:srgbClr val="FFFFFF"/>
                  </a:solidFill>
                  <a:latin typeface="Calibri"/>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11827"/>
                </a:solidFill>
                <a:latin typeface="Calibri"/>
              </a:defRPr>
            </a:pPr>
            <a:r>
              <a:rPr sz="1300" b="0" i="0" u="none" strike="noStrike">
                <a:solidFill>
                  <a:srgbClr val="111827"/>
                </a:solidFill>
                <a:latin typeface="Calibri"/>
              </a:rPr>
              <a:t>Dock labour cost · company vs agency</a:t>
            </a:r>
          </a:p>
        </c:rich>
      </c:tx>
      <c:layout/>
      <c:overlay val="0"/>
    </c:title>
    <c:autoTitleDeleted val="0"/>
    <c:plotArea>
      <c:layout/>
      <c:barChart>
        <c:barDir val="bar"/>
        <c:grouping val="stacked"/>
        <c:varyColors val="0"/>
        <c:ser>
          <c:idx val="0"/>
          <c:order val="0"/>
          <c:tx>
            <c:strRef>
              <c:f>Sheet1!$B$1</c:f>
              <c:strCache>
                <c:ptCount val="1"/>
                <c:pt idx="0">
                  <c:v>Company</c:v>
                </c:pt>
              </c:strCache>
            </c:strRef>
          </c:tx>
          <c:spPr>
            <a:solidFill>
              <a:srgbClr val="7C3AED"/>
            </a:solidFill>
            <a:effectLst/>
          </c:spPr>
          <c:invertIfNegative val="0"/>
          <c:dLbls>
            <c:numFmt formatCode="$#,##0" sourceLinked="0"/>
            <c:txPr>
              <a:bodyPr/>
              <a:lstStyle/>
              <a:p>
                <a:pPr>
                  <a:defRPr b="1" i="0" strike="noStrike" sz="11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F26 Sept · $199,739</c:v>
                  </c:pt>
                  <c:pt idx="1">
                    <c:v>F27 Sept MTD · $133,692</c:v>
                  </c:pt>
                </c:lvl>
              </c:multiLvlStrCache>
            </c:multiLvlStrRef>
          </c:cat>
          <c:val>
            <c:numRef>
              <c:f>Sheet1!$B$2:$B$3</c:f>
              <c:numCache>
                <c:formatCode>General</c:formatCode>
                <c:ptCount val="2"/>
                <c:pt idx="0">
                  <c:v>69281.3</c:v>
                </c:pt>
                <c:pt idx="1">
                  <c:v>58917.47</c:v>
                </c:pt>
              </c:numCache>
            </c:numRef>
          </c:val>
        </c:ser>
        <c:ser>
          <c:idx val="1"/>
          <c:order val="1"/>
          <c:tx>
            <c:strRef>
              <c:f>Sheet1!$C$1</c:f>
              <c:strCache>
                <c:ptCount val="1"/>
                <c:pt idx="0">
                  <c:v>Agency</c:v>
                </c:pt>
              </c:strCache>
            </c:strRef>
          </c:tx>
          <c:spPr>
            <a:solidFill>
              <a:srgbClr val="374151"/>
            </a:solidFill>
            <a:effectLst/>
          </c:spPr>
          <c:invertIfNegative val="0"/>
          <c:dLbls>
            <c:numFmt formatCode="$#,##0" sourceLinked="0"/>
            <c:txPr>
              <a:bodyPr/>
              <a:lstStyle/>
              <a:p>
                <a:pPr>
                  <a:defRPr b="1" i="0" strike="noStrike" sz="11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F26 Sept · $199,739</c:v>
                  </c:pt>
                  <c:pt idx="1">
                    <c:v>F27 Sept MTD · $133,692</c:v>
                  </c:pt>
                </c:lvl>
              </c:multiLvlStrCache>
            </c:multiLvlStrRef>
          </c:cat>
          <c:val>
            <c:numRef>
              <c:f>Sheet1!$C$2:$C$3</c:f>
              <c:numCache>
                <c:formatCode>General</c:formatCode>
                <c:ptCount val="2"/>
                <c:pt idx="0">
                  <c:v>130457.82</c:v>
                </c:pt>
                <c:pt idx="1">
                  <c:v>74774.87</c:v>
                </c:pt>
              </c:numCache>
            </c:numRef>
          </c:val>
        </c:ser>
        <c:dLbls>
          <c:numFmt formatCode="$#,##0" sourceLinked="0"/>
          <c:txPr>
            <a:bodyPr/>
            <a:lstStyle/>
            <a:p>
              <a:pPr>
                <a:defRPr b="1" i="0" strike="noStrike" sz="1100" u="none">
                  <a:solidFill>
                    <a:srgbClr val="FFFFFF"/>
                  </a:solidFill>
                  <a:latin typeface="Calibri"/>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111827"/>
                </a:solidFill>
                <a:latin typeface="Calibri"/>
              </a:defRPr>
            </a:pPr>
            <a:r>
              <a:rPr sz="1000" b="0" i="0" u="none" strike="noStrike">
                <a:solidFill>
                  <a:srgbClr val="111827"/>
                </a:solidFill>
                <a:latin typeface="Calibri"/>
              </a:rPr>
              <a:t>Terminal Admin cost — Q1 by fiscal year</a:t>
            </a:r>
          </a:p>
        </c:rich>
      </c:tx>
      <c:layout/>
      <c:overlay val="0"/>
    </c:title>
    <c:autoTitleDeleted val="0"/>
    <c:plotArea>
      <c:layout/>
      <c:barChart>
        <c:barDir val="col"/>
        <c:grouping val="clustered"/>
        <c:varyColors val="0"/>
        <c:ser>
          <c:idx val="0"/>
          <c:order val="0"/>
          <c:tx>
            <c:strRef>
              <c:f>Sheet1!$B$1</c:f>
              <c:strCache>
                <c:ptCount val="1"/>
                <c:pt idx="0">
                  <c:v>Terminal Admin cost</c:v>
                </c:pt>
              </c:strCache>
            </c:strRef>
          </c:tx>
          <c:spPr>
            <a:solidFill>
              <a:srgbClr val="A78BFA"/>
            </a:solidFill>
            <a:effectLst/>
          </c:spPr>
          <c:invertIfNegative val="0"/>
          <c:dLbls>
            <c:numFmt formatCode="$0.0&quot;K&quot;" sourceLinked="0"/>
            <c:txPr>
              <a:bodyPr/>
              <a:lstStyle/>
              <a:p>
                <a:pPr>
                  <a:defRPr b="0" i="0" strike="noStrike" sz="900" u="none">
                    <a:solidFill>
                      <a:srgbClr val="1F2937"/>
                    </a:solidFill>
                    <a:latin typeface="Calibri"/>
                  </a:defRPr>
                </a:pPr>
              </a:p>
            </c:txPr>
            <c:showLegendKey val="0"/>
            <c:showVal val="1"/>
            <c:showCatName val="0"/>
            <c:showSerName val="0"/>
            <c:showPercent val="0"/>
            <c:showBubbleSize val="0"/>
            <c:showLeaderLines val="0"/>
          </c:dLbls>
          <c:dPt>
            <c:idx val="0"/>
            <c:invertIfNegative val="0"/>
            <c:bubble3D val="0"/>
            <c:spPr>
              <a:solidFill>
                <a:srgbClr val="A78BFA"/>
              </a:solidFill>
              <a:effectLst/>
            </c:spPr>
          </c:dPt>
          <c:dPt>
            <c:idx val="1"/>
            <c:invertIfNegative val="0"/>
            <c:bubble3D val="0"/>
            <c:spPr>
              <a:solidFill>
                <a:srgbClr val="A78BFA"/>
              </a:solidFill>
              <a:effectLst/>
            </c:spPr>
          </c:dPt>
          <c:dPt>
            <c:idx val="2"/>
            <c:invertIfNegative val="0"/>
            <c:bubble3D val="0"/>
            <c:spPr>
              <a:solidFill>
                <a:srgbClr val="9CA3AF"/>
              </a:solidFill>
              <a:effectLst/>
            </c:spPr>
          </c:dPt>
          <c:dPt>
            <c:idx val="3"/>
            <c:invertIfNegative val="0"/>
            <c:bubble3D val="0"/>
            <c:spPr>
              <a:solidFill>
                <a:srgbClr val="7C3AED"/>
              </a:solidFill>
              <a:effectLst/>
            </c:spPr>
          </c:dPt>
          <c:cat>
            <c:multiLvlStrRef>
              <c:f>Sheet1!$A$2:$A$5</c:f>
              <c:multiLvlStrCache>
                <c:ptCount val="4"/>
                <c:lvl>
                  <c:pt idx="0">
                    <c:v>F24</c:v>
                  </c:pt>
                  <c:pt idx="1">
                    <c:v>F25</c:v>
                  </c:pt>
                  <c:pt idx="2">
                    <c:v>F26</c:v>
                  </c:pt>
                  <c:pt idx="3">
                    <c:v>F27</c:v>
                  </c:pt>
                </c:lvl>
              </c:multiLvlStrCache>
            </c:multiLvlStrRef>
          </c:cat>
          <c:val>
            <c:numRef>
              <c:f>Sheet1!$B$2:$B$5</c:f>
              <c:numCache>
                <c:formatCode>General</c:formatCode>
                <c:ptCount val="4"/>
                <c:pt idx="0">
                  <c:v>21.5</c:v>
                </c:pt>
                <c:pt idx="1">
                  <c:v>22.7</c:v>
                </c:pt>
                <c:pt idx="2">
                  <c:v>9.2</c:v>
                </c:pt>
                <c:pt idx="3">
                  <c:v>18.4</c:v>
                </c:pt>
              </c:numCache>
            </c:numRef>
          </c:val>
        </c:ser>
        <c:dLbls>
          <c:numFmt formatCode="$0.0&quot;K&quot;" sourceLinked="0"/>
          <c:txPr>
            <a:bodyPr/>
            <a:lstStyle/>
            <a:p>
              <a:pPr>
                <a:defRPr b="0" i="0" strike="noStrike" sz="900" u="none">
                  <a:solidFill>
                    <a:srgbClr val="1F2937"/>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27"/>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11827"/>
                </a:solidFill>
                <a:latin typeface="Calibri"/>
              </a:defRPr>
            </a:pPr>
            <a:r>
              <a:rPr sz="1200" b="0" i="0" u="none" strike="noStrike">
                <a:solidFill>
                  <a:srgbClr val="111827"/>
                </a:solidFill>
                <a:latin typeface="Calibri"/>
              </a:rPr>
              <a:t>Top 6 accessorials · units this month</a:t>
            </a:r>
          </a:p>
        </c:rich>
      </c:tx>
      <c:layout/>
      <c:overlay val="0"/>
    </c:title>
    <c:autoTitleDeleted val="0"/>
    <c:plotArea>
      <c:layout/>
      <c:barChart>
        <c:barDir val="bar"/>
        <c:grouping val="clustered"/>
        <c:varyColors val="0"/>
        <c:ser>
          <c:idx val="0"/>
          <c:order val="0"/>
          <c:tx>
            <c:strRef>
              <c:f>Sheet1!$B$1</c:f>
              <c:strCache>
                <c:ptCount val="1"/>
                <c:pt idx="0">
                  <c:v>Units</c:v>
                </c:pt>
              </c:strCache>
            </c:strRef>
          </c:tx>
          <c:spPr>
            <a:solidFill>
              <a:srgbClr val="7C3AED"/>
            </a:solidFill>
            <a:effectLst/>
          </c:spPr>
          <c:invertIfNegative val="0"/>
          <c:dLbls>
            <c:numFmt formatCode="#,##0" sourceLinked="0"/>
            <c:txPr>
              <a:bodyPr/>
              <a:lstStyle/>
              <a:p>
                <a:pPr>
                  <a:defRPr b="0" i="0" strike="noStrike" sz="1000" u="none">
                    <a:solidFill>
                      <a:srgbClr val="1F2937"/>
                    </a:solidFill>
                    <a:latin typeface="Calibri"/>
                  </a:defRPr>
                </a:pPr>
              </a:p>
            </c:txPr>
            <c:showLegendKey val="0"/>
            <c:showVal val="1"/>
            <c:showCatName val="0"/>
            <c:showSerName val="0"/>
            <c:showPercent val="0"/>
            <c:showBubbleSize val="0"/>
            <c:showLeaderLines val="0"/>
          </c:dLbls>
          <c:cat>
            <c:multiLvlStrRef>
              <c:f>Sheet1!$A$2:$A$7</c:f>
              <c:multiLvlStrCache>
                <c:ptCount val="6"/>
                <c:lvl>
                  <c:pt idx="0">
                    <c:v>Private residence delivery</c:v>
                  </c:pt>
                  <c:pt idx="1">
                    <c:v>Tailgate delivery</c:v>
                  </c:pt>
                  <c:pt idx="2">
                    <c:v>Appointment delivery</c:v>
                  </c:pt>
                  <c:pt idx="3">
                    <c:v>Appointment pick-up</c:v>
                  </c:pt>
                  <c:pt idx="4">
                    <c:v>Tailgate pick-up</c:v>
                  </c:pt>
                  <c:pt idx="5">
                    <c:v>Private residence pick-up</c:v>
                  </c:pt>
                </c:lvl>
              </c:multiLvlStrCache>
            </c:multiLvlStrRef>
          </c:cat>
          <c:val>
            <c:numRef>
              <c:f>Sheet1!$B$2:$B$7</c:f>
              <c:numCache>
                <c:formatCode>General</c:formatCode>
                <c:ptCount val="6"/>
                <c:pt idx="0">
                  <c:v>18400</c:v>
                </c:pt>
                <c:pt idx="1">
                  <c:v>6174</c:v>
                </c:pt>
                <c:pt idx="2">
                  <c:v>5468</c:v>
                </c:pt>
                <c:pt idx="3">
                  <c:v>807</c:v>
                </c:pt>
                <c:pt idx="4">
                  <c:v>630</c:v>
                </c:pt>
                <c:pt idx="5">
                  <c:v>578</c:v>
                </c:pt>
              </c:numCache>
            </c:numRef>
          </c:val>
        </c:ser>
        <c:dLbls>
          <c:numFmt formatCode="#,##0" sourceLinked="0"/>
          <c:txPr>
            <a:bodyPr/>
            <a:lstStyle/>
            <a:p>
              <a:pPr>
                <a:defRPr b="0" i="0" strike="noStrike" sz="1000" u="none">
                  <a:solidFill>
                    <a:srgbClr val="1F2937"/>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22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11827"/>
                </a:solidFill>
                <a:latin typeface="Calibri"/>
              </a:defRPr>
            </a:pPr>
            <a:r>
              <a:rPr sz="1200" b="0" i="0" u="none" strike="noStrike">
                <a:solidFill>
                  <a:srgbClr val="111827"/>
                </a:solidFill>
                <a:latin typeface="Calibri"/>
              </a:rPr>
              <a:t>Weekly accessorial units · 12 weeks (*partial)</a:t>
            </a:r>
          </a:p>
        </c:rich>
      </c:tx>
      <c:layout/>
      <c:overlay val="0"/>
    </c:title>
    <c:autoTitleDeleted val="0"/>
    <c:plotArea>
      <c:layout/>
      <c:barChart>
        <c:barDir val="col"/>
        <c:grouping val="clustered"/>
        <c:varyColors val="0"/>
        <c:ser>
          <c:idx val="0"/>
          <c:order val="0"/>
          <c:tx>
            <c:strRef>
              <c:f>Sheet1!$B$1</c:f>
              <c:strCache>
                <c:ptCount val="1"/>
                <c:pt idx="0">
                  <c:v>Units (K)</c:v>
                </c:pt>
              </c:strCache>
            </c:strRef>
          </c:tx>
          <c:spPr>
            <a:solidFill>
              <a:srgbClr val="A78BFA"/>
            </a:solidFill>
            <a:effectLst/>
          </c:spPr>
          <c:invertIfNegative val="0"/>
          <c:dLbls>
            <c:numFmt formatCode="0.0&quot;K&quot;" sourceLinked="0"/>
            <c:txPr>
              <a:bodyPr/>
              <a:lstStyle/>
              <a:p>
                <a:pPr>
                  <a:defRPr b="0" i="0" strike="noStrike" sz="800" u="none">
                    <a:solidFill>
                      <a:srgbClr val="1F2937"/>
                    </a:solidFill>
                    <a:latin typeface="Calibri"/>
                  </a:defRPr>
                </a:pPr>
              </a:p>
            </c:txPr>
            <c:showLegendKey val="0"/>
            <c:showVal val="1"/>
            <c:showCatName val="0"/>
            <c:showSerName val="0"/>
            <c:showPercent val="0"/>
            <c:showBubbleSize val="0"/>
            <c:showLeaderLines val="0"/>
          </c:dLbls>
          <c:cat>
            <c:multiLvlStrRef>
              <c:f>Sheet1!$A$2:$A$13</c:f>
              <c:multiLvlStrCache>
                <c:ptCount val="12"/>
                <c:lvl>
                  <c:pt idx="0">
                    <c:v>Jul 13</c:v>
                  </c:pt>
                  <c:pt idx="1">
                    <c:v>Jul 20</c:v>
                  </c:pt>
                  <c:pt idx="2">
                    <c:v>Jul 27</c:v>
                  </c:pt>
                  <c:pt idx="3">
                    <c:v>Aug 3</c:v>
                  </c:pt>
                  <c:pt idx="4">
                    <c:v>Aug 10</c:v>
                  </c:pt>
                  <c:pt idx="5">
                    <c:v>Aug 17</c:v>
                  </c:pt>
                  <c:pt idx="6">
                    <c:v>Aug 24</c:v>
                  </c:pt>
                  <c:pt idx="7">
                    <c:v>Aug 31</c:v>
                  </c:pt>
                  <c:pt idx="8">
                    <c:v>Sep 7</c:v>
                  </c:pt>
                  <c:pt idx="9">
                    <c:v>Sep 14</c:v>
                  </c:pt>
                  <c:pt idx="10">
                    <c:v>Sep 21</c:v>
                  </c:pt>
                  <c:pt idx="11">
                    <c:v>Sep 28*</c:v>
                  </c:pt>
                </c:lvl>
              </c:multiLvlStrCache>
            </c:multiLvlStrRef>
          </c:cat>
          <c:val>
            <c:numRef>
              <c:f>Sheet1!$B$2:$B$13</c:f>
              <c:numCache>
                <c:formatCode>General</c:formatCode>
                <c:ptCount val="12"/>
                <c:pt idx="0">
                  <c:v>8</c:v>
                </c:pt>
                <c:pt idx="1">
                  <c:v>7.9</c:v>
                </c:pt>
                <c:pt idx="2">
                  <c:v>7.2</c:v>
                </c:pt>
                <c:pt idx="3">
                  <c:v>6.3</c:v>
                </c:pt>
                <c:pt idx="4">
                  <c:v>7.6</c:v>
                </c:pt>
                <c:pt idx="5">
                  <c:v>7.1</c:v>
                </c:pt>
                <c:pt idx="6">
                  <c:v>8.1</c:v>
                </c:pt>
                <c:pt idx="7">
                  <c:v>7.7</c:v>
                </c:pt>
                <c:pt idx="8">
                  <c:v>6.7</c:v>
                </c:pt>
                <c:pt idx="9">
                  <c:v>7.5</c:v>
                </c:pt>
                <c:pt idx="10">
                  <c:v>6.6</c:v>
                </c:pt>
                <c:pt idx="11">
                  <c:v>2.8</c:v>
                </c:pt>
              </c:numCache>
            </c:numRef>
          </c:val>
        </c:ser>
        <c:dLbls>
          <c:numFmt formatCode="0.0&quot;K&quot;" sourceLinked="0"/>
          <c:txPr>
            <a:bodyPr/>
            <a:lstStyle/>
            <a:p>
              <a:pPr>
                <a:defRPr b="0" i="0" strike="noStrike" sz="800" u="none">
                  <a:solidFill>
                    <a:srgbClr val="1F2937"/>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8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9525" cap="flat">
              <a:solidFill>
                <a:srgbClr val="E5E7EB"/>
              </a:solidFill>
              <a:prstDash val="solid"/>
              <a:round/>
            </a:ln>
          </c:spPr>
        </c:majorGridlines>
        <c:numFmt formatCode="0&quot;K&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11827"/>
                </a:solidFill>
                <a:latin typeface="Calibri"/>
              </a:defRPr>
            </a:pPr>
            <a:r>
              <a:rPr sz="1200" b="0" i="0" u="none" strike="noStrike">
                <a:solidFill>
                  <a:srgbClr val="111827"/>
                </a:solidFill>
                <a:latin typeface="Calibri"/>
              </a:rPr>
              <a:t>PPH · F26 vs F27 vs goal</a:t>
            </a:r>
          </a:p>
        </c:rich>
      </c:tx>
      <c:layout/>
      <c:overlay val="0"/>
    </c:title>
    <c:autoTitleDeleted val="0"/>
    <c:plotArea>
      <c:layout/>
      <c:barChart>
        <c:barDir val="col"/>
        <c:grouping val="clustered"/>
        <c:varyColors val="0"/>
        <c:ser>
          <c:idx val="0"/>
          <c:order val="0"/>
          <c:tx>
            <c:strRef>
              <c:f>Sheet1!$B$1</c:f>
              <c:strCache>
                <c:ptCount val="1"/>
                <c:pt idx="0">
                  <c:v>F26 Sept</c:v>
                </c:pt>
              </c:strCache>
            </c:strRef>
          </c:tx>
          <c:spPr>
            <a:solidFill>
              <a:srgbClr val="9CA3AF"/>
            </a:solidFill>
            <a:effectLst/>
          </c:spPr>
          <c:invertIfNegative val="0"/>
          <c:dLbls>
            <c:numFmt formatCode="#,##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cat>
            <c:multiLvlStrRef>
              <c:f>Sheet1!$A$2:$A$2</c:f>
              <c:multiLvlStrCache>
                <c:ptCount val="1"/>
                <c:lvl>
                  <c:pt idx="0">
                    <c:v>PPH</c:v>
                  </c:pt>
                </c:lvl>
              </c:multiLvlStrCache>
            </c:multiLvlStrRef>
          </c:cat>
          <c:val>
            <c:numRef>
              <c:f>Sheet1!$B$2:$B$2</c:f>
              <c:numCache>
                <c:formatCode>General</c:formatCode>
                <c:ptCount val="1"/>
                <c:pt idx="0">
                  <c:v>3313</c:v>
                </c:pt>
              </c:numCache>
            </c:numRef>
          </c:val>
        </c:ser>
        <c:ser>
          <c:idx val="1"/>
          <c:order val="1"/>
          <c:tx>
            <c:strRef>
              <c:f>Sheet1!$C$1</c:f>
              <c:strCache>
                <c:ptCount val="1"/>
                <c:pt idx="0">
                  <c:v>F27 Sept MTD</c:v>
                </c:pt>
              </c:strCache>
            </c:strRef>
          </c:tx>
          <c:spPr>
            <a:solidFill>
              <a:srgbClr val="7C3AED"/>
            </a:solidFill>
            <a:effectLst/>
          </c:spPr>
          <c:invertIfNegative val="0"/>
          <c:dLbls>
            <c:numFmt formatCode="#,##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cat>
            <c:multiLvlStrRef>
              <c:f>Sheet1!$A$2:$A$2</c:f>
              <c:multiLvlStrCache>
                <c:ptCount val="1"/>
                <c:lvl>
                  <c:pt idx="0">
                    <c:v>PPH</c:v>
                  </c:pt>
                </c:lvl>
              </c:multiLvlStrCache>
            </c:multiLvlStrRef>
          </c:cat>
          <c:val>
            <c:numRef>
              <c:f>Sheet1!$C$2:$C$2</c:f>
              <c:numCache>
                <c:formatCode>General</c:formatCode>
                <c:ptCount val="1"/>
                <c:pt idx="0">
                  <c:v>3327</c:v>
                </c:pt>
              </c:numCache>
            </c:numRef>
          </c:val>
        </c:ser>
        <c:ser>
          <c:idx val="2"/>
          <c:order val="2"/>
          <c:tx>
            <c:strRef>
              <c:f>Sheet1!$D$1</c:f>
              <c:strCache>
                <c:ptCount val="1"/>
                <c:pt idx="0">
                  <c:v>F27 goal</c:v>
                </c:pt>
              </c:strCache>
            </c:strRef>
          </c:tx>
          <c:spPr>
            <a:solidFill>
              <a:srgbClr val="1F2937"/>
            </a:solidFill>
            <a:effectLst/>
          </c:spPr>
          <c:invertIfNegative val="0"/>
          <c:dLbls>
            <c:numFmt formatCode="#,##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cat>
            <c:multiLvlStrRef>
              <c:f>Sheet1!$A$2:$A$2</c:f>
              <c:multiLvlStrCache>
                <c:ptCount val="1"/>
                <c:lvl>
                  <c:pt idx="0">
                    <c:v>PPH</c:v>
                  </c:pt>
                </c:lvl>
              </c:multiLvlStrCache>
            </c:multiLvlStrRef>
          </c:cat>
          <c:val>
            <c:numRef>
              <c:f>Sheet1!$D$2:$D$2</c:f>
              <c:numCache>
                <c:formatCode>General</c:formatCode>
                <c:ptCount val="1"/>
                <c:pt idx="0">
                  <c:v>4258</c:v>
                </c:pt>
              </c:numCache>
            </c:numRef>
          </c:val>
        </c:ser>
        <c:dLbls>
          <c:numFmt formatCode="#,##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000"/>
          <c:min val="0"/>
        </c:scaling>
        <c:delete val="0"/>
        <c:axPos val="l"/>
        <c:majorGridlines>
          <c:spPr>
            <a:ln w="9525"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1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the Mississauga Terminal F27 review, following the same structure Brampton used yesterday: safety, service, SCA, productivity, and the status of the building. Our September month-to-date headlines: adjusted on-time service is 93.7 percent, we are at 91.1 percent of our SCA hour allowance, cost per unit is down 16.7 percent and units per hour up 26.7 percent on last year, with only 9 overtime hours. Our focus is the gap to the PPH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topics today, in the same order as the other terminals. All SCA and productivity figures are Mississauga only, updated to Saturday, September 26; anything marked TBC is still being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TRIR figures for F27 year to date are being confirmed with OHS and will be filled in before distribution. Every shift starts with a tailgate and forklift inspections, and after any incident we run a specific safety moment. Supervisors and managers correct non-compliance on the spot and record it in their STEP observations, and dock conditions are documented and reviewed at JHSC.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incident is reported promptly and investigated with OHS for root cause, with corrective actions followed up so controls prevent a repeat; forklift and TDG training is completed before it expires. Specific to our site, roofing work over the dock is barricaded so no one works under overhead activity, and N95 masks are available on the dock for airborne debris. After every incident we hold a safety moment so the whole team learns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Adjusted on-time service for September is 93.7 percent including partner-carrier freight and 96.7 percent excluding it, both above our 90 percent target, and the last seven days averaged 94.35 percent. We show both views because partner carriers, the beyond-interliner freight, are about 13 percent of our volume but roughly 45 percent of our late freight bills, and only about 56 percent of that freight is on time. Every F27 month has been at or above 89 percent and we have been above target since August, up from 81.5 percent in April.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Missed pickups are at 4.70 percent across the report period through September 26. Only about 15 percent are true operations issues; about 45 percent are false positives, most coded already serviced, which is a close-out and scanning discipline fix. Excluding those, the rate would be roughly 2.6 percent; the September 7 spike was Labour Day on low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freight bills scanned by trip type for the week of September 6 to 11, against the 98 percent target; the percentages are being confirmed from the scanning report. Compliance is checked every shift so gaps are fixed the same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national SCA report updated September 26, Mississauga is at 6.60 cost per PRO against a 6.85 target: 96.3 percent of target, 25 cents under per PRO. That puts us in the amber watch band, which starts above 95 percent. Across 26,053 freight bills month to date, that is roughly 6.5 thousand dollars below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Against the working-day allowance, we have used 91.1 percent of our SCA hours month to date: 3,999 hours against 4,390 allowable, about 391 hours or 13.1 thousand dollars under. The monthly target of 5,122 hours already has the 1,181-hour reduction built in, and at the current pace we would come in roughly 1,637 hours below last September, about 139 percent of that reduction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 labour cost month to date is 133.7 thousand against 199.7 thousand for all of last September, with the biggest drop in agency wages. Remember F27 is 18 of 21 working days, so the like-for-like signal is cost per unit: 2.19 against 2.64, down 16.7 percent, which on this month's units is roughly 26.9 thousand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company-employee labour only, first quarter F26 against first quarter F27 to date. Company dock operations hours are essentially flat, 5,205 against 5,207, so the hour reduction on the SCA slides has come from agency labour. Terminal admin hours roughly doubled, from 446 to 909, and admin cost doubled against F26, but it is still below F24 and F25; F26 was the unusually low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per PRO is reviewed every week against target, and shift start and end times are being aligned to P&amp;D activity with a target band of dock hours for each shift. The bands are being finalized and will be filled in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Accessorials are revenue we only get if the service is coded on the freight bill. This month private-residence, tailgate and appointment deliveries make up about 91 percent of roughly 32,900 accessorial units. Weekly volume has run between about 6 and 8 thousand units; the week of September 28 is only partial.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eight initiatives in the F27 savings plan, carrying forward three that were sustained from F26 and adding accessorial recovery and load factor consolidation. Dollar amounts and the F27 take-out target are being confirmed with Finance and will be filled in before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PPH is 3,327 for September month to date, essentially flat against F26, but 21.9 percent below the F27 goal of 4,258. The freight is lighter per unit, so the better signal is units per hour, which is up 26.7 percent on last year. Closing the PPH gap is tied to the 1,181-hour reduction target for the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is down on last year and the hourly rate is up 5.5 percent, which pushes cost per CWT up about 5 percent. Offsetting that, units per hour are up 26.7 percent: at last year's rate, this month's units would have needed roughly 1,066 more hours, worth about 35.6 thousand dollars. And at the current pace we are ahead of the 1,181-hour reduction target, at roughly 139 percent of it; both values are calculated from report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pickup and delivery measures for the first quarter of F27, July to September, from the P&amp;D daily totals dashboard. We ran 4,608 trips averaging just under 10 stops and about 14 bills per trip, at 2.09 stops per hour. These give us the baseline to track P&amp;D productivity through the rest of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September weeks for load factor score and load percentage against the 80 and 98 percent targets; the weekly figures are being confirmed. Consolidating large-customer freight into fewer trailers is the main lever here and is part of the F27 savings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Clock-in and clock-out discipline turns late starts, missed lunches and early releases into hours we do not pay for. Weekly hours saved are being confirmed; once entered, dollars are calculated at the September month-to-date rate of 33.43 per hour from the productivity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the state of the building: how many dock doors we have, how many are out of service, and the repairs we need, by priority. The list and cost estimates are being finalized with facilities and will be filled in before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in F26 we set out to take 386,589 dollars out against the F25 baseline and identified 427,001 dollars of savings, 110 percent of the requirement; the F26 actuals will be added once the year is closed. In F27 September we are under our SCA hour allowance and cost per unit is down on last year, and our focus is closing the gap to the PPH goal.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image" Target="../media/image-13-1.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image" Target="../media/image-15-1.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731520" y="1417320"/>
            <a:ext cx="7315200" cy="320040"/>
          </a:xfrm>
          <a:prstGeom prst="rect">
            <a:avLst/>
          </a:prstGeom>
          <a:noFill/>
          <a:ln/>
        </p:spPr>
        <p:txBody>
          <a:bodyPr wrap="square" lIns="0" tIns="0" rIns="0" bIns="0" rtlCol="0" anchor="ctr"/>
          <a:lstStyle/>
          <a:p>
            <a:pPr indent="0" marL="0">
              <a:buNone/>
            </a:pPr>
            <a:r>
              <a:rPr lang="en-US" sz="1400" b="1" spc="300" kern="0" dirty="0">
                <a:solidFill>
                  <a:srgbClr val="A78BFA"/>
                </a:solidFill>
                <a:latin typeface="Calibri" pitchFamily="34" charset="0"/>
                <a:ea typeface="Calibri" pitchFamily="34" charset="-122"/>
                <a:cs typeface="Calibri" pitchFamily="34" charset="-120"/>
              </a:rPr>
              <a:t>DAY &amp; ROSS · MISSISSAUGA TERMINAL</a:t>
            </a:r>
            <a:endParaRPr lang="en-US" sz="1400" dirty="0"/>
          </a:p>
        </p:txBody>
      </p:sp>
      <p:sp>
        <p:nvSpPr>
          <p:cNvPr id="3" name="Text 1"/>
          <p:cNvSpPr txBox="1"/>
          <p:nvPr/>
        </p:nvSpPr>
        <p:spPr>
          <a:xfrm>
            <a:off x="731520" y="1828800"/>
            <a:ext cx="7498080" cy="128016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Mississauga Terminal ·</a:t>
            </a:r>
            <a:endParaRPr lang="en-US" sz="3400" dirty="0"/>
          </a:p>
          <a:p>
            <a:pPr indent="0" marL="0">
              <a:buNone/>
            </a:pPr>
            <a:r>
              <a:rPr lang="en-US" sz="3400" b="1" dirty="0">
                <a:solidFill>
                  <a:srgbClr val="FFFFFF"/>
                </a:solidFill>
                <a:latin typeface="Calibri" pitchFamily="34" charset="0"/>
                <a:ea typeface="Calibri" pitchFamily="34" charset="-122"/>
                <a:cs typeface="Calibri" pitchFamily="34" charset="-120"/>
              </a:rPr>
              <a:t>F27 Senior Leadership Review</a:t>
            </a:r>
            <a:endParaRPr lang="en-US" sz="3400" dirty="0"/>
          </a:p>
        </p:txBody>
      </p:sp>
      <p:sp>
        <p:nvSpPr>
          <p:cNvPr id="4" name="Text 2"/>
          <p:cNvSpPr txBox="1"/>
          <p:nvPr/>
        </p:nvSpPr>
        <p:spPr>
          <a:xfrm>
            <a:off x="731520" y="3429000"/>
            <a:ext cx="7498080" cy="457200"/>
          </a:xfrm>
          <a:prstGeom prst="rect">
            <a:avLst/>
          </a:prstGeom>
          <a:noFill/>
          <a:ln/>
        </p:spPr>
        <p:txBody>
          <a:bodyPr wrap="square" lIns="0" tIns="0" rIns="0" bIns="0" rtlCol="0" anchor="ctr"/>
          <a:lstStyle/>
          <a:p>
            <a:pPr indent="0" marL="0">
              <a:buNone/>
            </a:pPr>
            <a:r>
              <a:rPr lang="en-US" sz="2000" dirty="0">
                <a:solidFill>
                  <a:srgbClr val="D1D5DB"/>
                </a:solidFill>
                <a:latin typeface="Calibri" pitchFamily="34" charset="0"/>
                <a:ea typeface="Calibri" pitchFamily="34" charset="-122"/>
                <a:cs typeface="Calibri" pitchFamily="34" charset="-120"/>
              </a:rPr>
              <a:t>Safety · Service · SCA · Productivity · Terminal</a:t>
            </a:r>
            <a:endParaRPr lang="en-US" sz="2000" dirty="0"/>
          </a:p>
        </p:txBody>
      </p:sp>
      <p:sp>
        <p:nvSpPr>
          <p:cNvPr id="5" name="Text 3"/>
          <p:cNvSpPr txBox="1"/>
          <p:nvPr/>
        </p:nvSpPr>
        <p:spPr>
          <a:xfrm>
            <a:off x="731520" y="4343400"/>
            <a:ext cx="749808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Sep 29, 2026</a:t>
            </a:r>
            <a:pPr indent="0" marL="0">
              <a:buNone/>
            </a:pPr>
            <a:r>
              <a:rPr lang="en-US" sz="1600" dirty="0">
                <a:solidFill>
                  <a:srgbClr val="9CA3AF"/>
                </a:solidFill>
                <a:latin typeface="Calibri" pitchFamily="34" charset="0"/>
                <a:ea typeface="Calibri" pitchFamily="34" charset="-122"/>
                <a:cs typeface="Calibri" pitchFamily="34" charset="-120"/>
              </a:rPr>
              <a:t>   ·   SVP &amp; Senior Leadership</a:t>
            </a:r>
            <a:endParaRPr lang="en-US" sz="1600" dirty="0"/>
          </a:p>
        </p:txBody>
      </p:sp>
      <p:sp>
        <p:nvSpPr>
          <p:cNvPr id="6" name="Text 4"/>
          <p:cNvSpPr txBox="1"/>
          <p:nvPr/>
        </p:nvSpPr>
        <p:spPr>
          <a:xfrm>
            <a:off x="731520" y="4754880"/>
            <a:ext cx="7498080" cy="320040"/>
          </a:xfrm>
          <a:prstGeom prst="rect">
            <a:avLst/>
          </a:prstGeom>
          <a:noFill/>
          <a:ln/>
        </p:spPr>
        <p:txBody>
          <a:bodyPr wrap="square" lIns="0" tIns="0" rIns="0" bIns="0" rtlCol="0" anchor="ctr"/>
          <a:lstStyle/>
          <a:p>
            <a:pPr indent="0" marL="0">
              <a:buNone/>
            </a:pPr>
            <a:r>
              <a:rPr lang="en-US" sz="1400" dirty="0">
                <a:solidFill>
                  <a:srgbClr val="9CA3AF"/>
                </a:solidFill>
                <a:latin typeface="Calibri" pitchFamily="34" charset="0"/>
                <a:ea typeface="Calibri" pitchFamily="34" charset="-122"/>
                <a:cs typeface="Calibri" pitchFamily="34" charset="-120"/>
              </a:rPr>
              <a:t>Fiscal F27 · Jul 1, 2026 – Jun 30, 2027</a:t>
            </a:r>
            <a:endParaRPr lang="en-US" sz="1400" dirty="0"/>
          </a:p>
        </p:txBody>
      </p:sp>
      <p:sp>
        <p:nvSpPr>
          <p:cNvPr id="7" name="Shape 5"/>
          <p:cNvSpPr/>
          <p:nvPr/>
        </p:nvSpPr>
        <p:spPr>
          <a:xfrm>
            <a:off x="8412480" y="1280160"/>
            <a:ext cx="3227832" cy="4434840"/>
          </a:xfrm>
          <a:prstGeom prst="roundRect">
            <a:avLst>
              <a:gd name="adj" fmla="val 2266"/>
            </a:avLst>
          </a:prstGeom>
          <a:solidFill>
            <a:srgbClr val="1F2937"/>
          </a:solidFill>
          <a:ln w="12700">
            <a:solidFill>
              <a:srgbClr val="1F2937"/>
            </a:solidFill>
            <a:prstDash val="solid"/>
          </a:ln>
        </p:spPr>
      </p:sp>
      <p:sp>
        <p:nvSpPr>
          <p:cNvPr id="8" name="Text 6"/>
          <p:cNvSpPr txBox="1"/>
          <p:nvPr/>
        </p:nvSpPr>
        <p:spPr>
          <a:xfrm>
            <a:off x="8641080" y="1463040"/>
            <a:ext cx="2834640" cy="274320"/>
          </a:xfrm>
          <a:prstGeom prst="rect">
            <a:avLst/>
          </a:prstGeom>
          <a:noFill/>
          <a:ln/>
        </p:spPr>
        <p:txBody>
          <a:bodyPr wrap="square" lIns="0" tIns="0" rIns="0" bIns="0" rtlCol="0" anchor="ctr"/>
          <a:lstStyle/>
          <a:p>
            <a:pPr indent="0" marL="0">
              <a:buNone/>
            </a:pPr>
            <a:r>
              <a:rPr lang="en-US" sz="1100" b="1" spc="200" kern="0" dirty="0">
                <a:solidFill>
                  <a:srgbClr val="A78BFA"/>
                </a:solidFill>
                <a:latin typeface="Calibri" pitchFamily="34" charset="0"/>
                <a:ea typeface="Calibri" pitchFamily="34" charset="-122"/>
                <a:cs typeface="Calibri" pitchFamily="34" charset="-120"/>
              </a:rPr>
              <a:t>SEPT MTD · AS OF SEP 26</a:t>
            </a:r>
            <a:endParaRPr lang="en-US" sz="1100" dirty="0"/>
          </a:p>
        </p:txBody>
      </p:sp>
      <p:sp>
        <p:nvSpPr>
          <p:cNvPr id="9" name="Text 7"/>
          <p:cNvSpPr txBox="1"/>
          <p:nvPr/>
        </p:nvSpPr>
        <p:spPr>
          <a:xfrm>
            <a:off x="8641080" y="1783080"/>
            <a:ext cx="1325880" cy="457200"/>
          </a:xfrm>
          <a:prstGeom prst="rect">
            <a:avLst/>
          </a:prstGeom>
          <a:noFill/>
          <a:ln/>
        </p:spPr>
        <p:txBody>
          <a:bodyPr wrap="square" lIns="0" tIns="0" rIns="0" bIns="0"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93.7%</a:t>
            </a:r>
            <a:endParaRPr lang="en-US" sz="2200" dirty="0"/>
          </a:p>
        </p:txBody>
      </p:sp>
      <p:sp>
        <p:nvSpPr>
          <p:cNvPr id="10" name="Text 8"/>
          <p:cNvSpPr txBox="1"/>
          <p:nvPr/>
        </p:nvSpPr>
        <p:spPr>
          <a:xfrm>
            <a:off x="10012680" y="1783080"/>
            <a:ext cx="1508760" cy="457200"/>
          </a:xfrm>
          <a:prstGeom prst="rect">
            <a:avLst/>
          </a:prstGeom>
          <a:noFill/>
          <a:ln/>
        </p:spPr>
        <p:txBody>
          <a:bodyPr wrap="square" lIns="0" tIns="0" rIns="0" bIns="0" rtlCol="0" anchor="ctr"/>
          <a:lstStyle/>
          <a:p>
            <a:pPr indent="0" marL="0">
              <a:buNone/>
            </a:pPr>
            <a:r>
              <a:rPr lang="en-US" sz="1150" dirty="0">
                <a:solidFill>
                  <a:srgbClr val="D1D5DB"/>
                </a:solidFill>
                <a:latin typeface="Calibri" pitchFamily="34" charset="0"/>
                <a:ea typeface="Calibri" pitchFamily="34" charset="-122"/>
                <a:cs typeface="Calibri" pitchFamily="34" charset="-120"/>
              </a:rPr>
              <a:t>OTS Sept (adj., incl. partners)</a:t>
            </a:r>
            <a:endParaRPr lang="en-US" sz="1150" dirty="0"/>
          </a:p>
        </p:txBody>
      </p:sp>
      <p:sp>
        <p:nvSpPr>
          <p:cNvPr id="11" name="Text 9"/>
          <p:cNvSpPr txBox="1"/>
          <p:nvPr/>
        </p:nvSpPr>
        <p:spPr>
          <a:xfrm>
            <a:off x="8641080" y="2286000"/>
            <a:ext cx="1325880" cy="457200"/>
          </a:xfrm>
          <a:prstGeom prst="rect">
            <a:avLst/>
          </a:prstGeom>
          <a:noFill/>
          <a:ln/>
        </p:spPr>
        <p:txBody>
          <a:bodyPr wrap="square" lIns="0" tIns="0" rIns="0" bIns="0"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91.1%</a:t>
            </a:r>
            <a:endParaRPr lang="en-US" sz="2200" dirty="0"/>
          </a:p>
        </p:txBody>
      </p:sp>
      <p:sp>
        <p:nvSpPr>
          <p:cNvPr id="12" name="Text 10"/>
          <p:cNvSpPr txBox="1"/>
          <p:nvPr/>
        </p:nvSpPr>
        <p:spPr>
          <a:xfrm>
            <a:off x="10012680" y="2286000"/>
            <a:ext cx="1508760" cy="457200"/>
          </a:xfrm>
          <a:prstGeom prst="rect">
            <a:avLst/>
          </a:prstGeom>
          <a:noFill/>
          <a:ln/>
        </p:spPr>
        <p:txBody>
          <a:bodyPr wrap="square" lIns="0" tIns="0" rIns="0" bIns="0" rtlCol="0" anchor="ctr"/>
          <a:lstStyle/>
          <a:p>
            <a:pPr indent="0" marL="0">
              <a:buNone/>
            </a:pPr>
            <a:r>
              <a:rPr lang="en-US" sz="1150" dirty="0">
                <a:solidFill>
                  <a:srgbClr val="D1D5DB"/>
                </a:solidFill>
                <a:latin typeface="Calibri" pitchFamily="34" charset="0"/>
                <a:ea typeface="Calibri" pitchFamily="34" charset="-122"/>
                <a:cs typeface="Calibri" pitchFamily="34" charset="-120"/>
              </a:rPr>
              <a:t>of SCA hour allowance</a:t>
            </a:r>
            <a:endParaRPr lang="en-US" sz="1150" dirty="0"/>
          </a:p>
        </p:txBody>
      </p:sp>
      <p:sp>
        <p:nvSpPr>
          <p:cNvPr id="13" name="Text 11"/>
          <p:cNvSpPr txBox="1"/>
          <p:nvPr/>
        </p:nvSpPr>
        <p:spPr>
          <a:xfrm>
            <a:off x="8641080" y="2788920"/>
            <a:ext cx="1325880" cy="457200"/>
          </a:xfrm>
          <a:prstGeom prst="rect">
            <a:avLst/>
          </a:prstGeom>
          <a:noFill/>
          <a:ln/>
        </p:spPr>
        <p:txBody>
          <a:bodyPr wrap="square" lIns="0" tIns="0" rIns="0" bIns="0"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−16.7%</a:t>
            </a:r>
            <a:endParaRPr lang="en-US" sz="2200" dirty="0"/>
          </a:p>
        </p:txBody>
      </p:sp>
      <p:sp>
        <p:nvSpPr>
          <p:cNvPr id="14" name="Text 12"/>
          <p:cNvSpPr txBox="1"/>
          <p:nvPr/>
        </p:nvSpPr>
        <p:spPr>
          <a:xfrm>
            <a:off x="10012680" y="2788920"/>
            <a:ext cx="1508760" cy="457200"/>
          </a:xfrm>
          <a:prstGeom prst="rect">
            <a:avLst/>
          </a:prstGeom>
          <a:noFill/>
          <a:ln/>
        </p:spPr>
        <p:txBody>
          <a:bodyPr wrap="square" lIns="0" tIns="0" rIns="0" bIns="0" rtlCol="0" anchor="ctr"/>
          <a:lstStyle/>
          <a:p>
            <a:pPr indent="0" marL="0">
              <a:buNone/>
            </a:pPr>
            <a:r>
              <a:rPr lang="en-US" sz="1150" dirty="0">
                <a:solidFill>
                  <a:srgbClr val="D1D5DB"/>
                </a:solidFill>
                <a:latin typeface="Calibri" pitchFamily="34" charset="0"/>
                <a:ea typeface="Calibri" pitchFamily="34" charset="-122"/>
                <a:cs typeface="Calibri" pitchFamily="34" charset="-120"/>
              </a:rPr>
              <a:t>cost per unit vs F26</a:t>
            </a:r>
            <a:endParaRPr lang="en-US" sz="1150" dirty="0"/>
          </a:p>
        </p:txBody>
      </p:sp>
      <p:sp>
        <p:nvSpPr>
          <p:cNvPr id="15" name="Text 13"/>
          <p:cNvSpPr txBox="1"/>
          <p:nvPr/>
        </p:nvSpPr>
        <p:spPr>
          <a:xfrm>
            <a:off x="8641080" y="3291840"/>
            <a:ext cx="1325880" cy="457200"/>
          </a:xfrm>
          <a:prstGeom prst="rect">
            <a:avLst/>
          </a:prstGeom>
          <a:noFill/>
          <a:ln/>
        </p:spPr>
        <p:txBody>
          <a:bodyPr wrap="square" lIns="0" tIns="0" rIns="0" bIns="0"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+26.7%</a:t>
            </a:r>
            <a:endParaRPr lang="en-US" sz="2200" dirty="0"/>
          </a:p>
        </p:txBody>
      </p:sp>
      <p:sp>
        <p:nvSpPr>
          <p:cNvPr id="16" name="Text 14"/>
          <p:cNvSpPr txBox="1"/>
          <p:nvPr/>
        </p:nvSpPr>
        <p:spPr>
          <a:xfrm>
            <a:off x="10012680" y="3291840"/>
            <a:ext cx="1508760" cy="457200"/>
          </a:xfrm>
          <a:prstGeom prst="rect">
            <a:avLst/>
          </a:prstGeom>
          <a:noFill/>
          <a:ln/>
        </p:spPr>
        <p:txBody>
          <a:bodyPr wrap="square" lIns="0" tIns="0" rIns="0" bIns="0" rtlCol="0" anchor="ctr"/>
          <a:lstStyle/>
          <a:p>
            <a:pPr indent="0" marL="0">
              <a:buNone/>
            </a:pPr>
            <a:r>
              <a:rPr lang="en-US" sz="1150" dirty="0">
                <a:solidFill>
                  <a:srgbClr val="D1D5DB"/>
                </a:solidFill>
                <a:latin typeface="Calibri" pitchFamily="34" charset="0"/>
                <a:ea typeface="Calibri" pitchFamily="34" charset="-122"/>
                <a:cs typeface="Calibri" pitchFamily="34" charset="-120"/>
              </a:rPr>
              <a:t>units per hour vs F26</a:t>
            </a:r>
            <a:endParaRPr lang="en-US" sz="1150" dirty="0"/>
          </a:p>
        </p:txBody>
      </p:sp>
      <p:sp>
        <p:nvSpPr>
          <p:cNvPr id="17" name="Text 15"/>
          <p:cNvSpPr txBox="1"/>
          <p:nvPr/>
        </p:nvSpPr>
        <p:spPr>
          <a:xfrm>
            <a:off x="8641080" y="3794760"/>
            <a:ext cx="1325880" cy="457200"/>
          </a:xfrm>
          <a:prstGeom prst="rect">
            <a:avLst/>
          </a:prstGeom>
          <a:noFill/>
          <a:ln/>
        </p:spPr>
        <p:txBody>
          <a:bodyPr wrap="square" lIns="0" tIns="0" rIns="0" bIns="0" rtlCol="0" anchor="ctr"/>
          <a:lstStyle/>
          <a:p>
            <a:pPr indent="0" marL="0">
              <a:buNone/>
            </a:pPr>
            <a:r>
              <a:rPr lang="en-US" sz="2200" b="1" dirty="0">
                <a:solidFill>
                  <a:srgbClr val="34D399"/>
                </a:solidFill>
                <a:latin typeface="Calibri" pitchFamily="34" charset="0"/>
                <a:ea typeface="Calibri" pitchFamily="34" charset="-122"/>
                <a:cs typeface="Calibri" pitchFamily="34" charset="-120"/>
              </a:rPr>
              <a:t>9 hrs</a:t>
            </a:r>
            <a:endParaRPr lang="en-US" sz="2200" dirty="0"/>
          </a:p>
        </p:txBody>
      </p:sp>
      <p:sp>
        <p:nvSpPr>
          <p:cNvPr id="18" name="Text 16"/>
          <p:cNvSpPr txBox="1"/>
          <p:nvPr/>
        </p:nvSpPr>
        <p:spPr>
          <a:xfrm>
            <a:off x="10012680" y="3794760"/>
            <a:ext cx="1508760" cy="457200"/>
          </a:xfrm>
          <a:prstGeom prst="rect">
            <a:avLst/>
          </a:prstGeom>
          <a:noFill/>
          <a:ln/>
        </p:spPr>
        <p:txBody>
          <a:bodyPr wrap="square" lIns="0" tIns="0" rIns="0" bIns="0" rtlCol="0" anchor="ctr"/>
          <a:lstStyle/>
          <a:p>
            <a:pPr indent="0" marL="0">
              <a:buNone/>
            </a:pPr>
            <a:r>
              <a:rPr lang="en-US" sz="1150" dirty="0">
                <a:solidFill>
                  <a:srgbClr val="D1D5DB"/>
                </a:solidFill>
                <a:latin typeface="Calibri" pitchFamily="34" charset="0"/>
                <a:ea typeface="Calibri" pitchFamily="34" charset="-122"/>
                <a:cs typeface="Calibri" pitchFamily="34" charset="-120"/>
              </a:rPr>
              <a:t>overtime MTD</a:t>
            </a:r>
            <a:endParaRPr lang="en-US" sz="1150" dirty="0"/>
          </a:p>
        </p:txBody>
      </p:sp>
      <p:sp>
        <p:nvSpPr>
          <p:cNvPr id="19" name="Text 17"/>
          <p:cNvSpPr txBox="1"/>
          <p:nvPr/>
        </p:nvSpPr>
        <p:spPr>
          <a:xfrm>
            <a:off x="8641080" y="4370832"/>
            <a:ext cx="2834640" cy="274320"/>
          </a:xfrm>
          <a:prstGeom prst="rect">
            <a:avLst/>
          </a:prstGeom>
          <a:noFill/>
          <a:ln/>
        </p:spPr>
        <p:txBody>
          <a:bodyPr wrap="square" lIns="0" tIns="0" rIns="0" bIns="0" rtlCol="0" anchor="ctr"/>
          <a:lstStyle/>
          <a:p>
            <a:pPr indent="0" marL="0">
              <a:buNone/>
            </a:pPr>
            <a:r>
              <a:rPr lang="en-US" sz="1100" b="1" spc="200" kern="0" dirty="0">
                <a:solidFill>
                  <a:srgbClr val="A78BFA"/>
                </a:solidFill>
                <a:latin typeface="Calibri" pitchFamily="34" charset="0"/>
                <a:ea typeface="Calibri" pitchFamily="34" charset="-122"/>
                <a:cs typeface="Calibri" pitchFamily="34" charset="-120"/>
              </a:rPr>
              <a:t>FOCUS</a:t>
            </a:r>
            <a:endParaRPr lang="en-US" sz="1100" dirty="0"/>
          </a:p>
        </p:txBody>
      </p:sp>
      <p:sp>
        <p:nvSpPr>
          <p:cNvPr id="20" name="Text 18"/>
          <p:cNvSpPr txBox="1"/>
          <p:nvPr/>
        </p:nvSpPr>
        <p:spPr>
          <a:xfrm>
            <a:off x="8641080" y="4626864"/>
            <a:ext cx="2834640" cy="457200"/>
          </a:xfrm>
          <a:prstGeom prst="rect">
            <a:avLst/>
          </a:prstGeom>
          <a:noFill/>
          <a:ln/>
        </p:spPr>
        <p:txBody>
          <a:bodyPr wrap="square" lIns="0" tIns="0" rIns="0" bIns="0" rtlCol="0" anchor="ctr"/>
          <a:lstStyle/>
          <a:p>
            <a:pPr indent="0" marL="0">
              <a:buNone/>
            </a:pPr>
            <a:r>
              <a:rPr lang="en-US" sz="2200" b="1" dirty="0">
                <a:solidFill>
                  <a:srgbClr val="F87171"/>
                </a:solidFill>
                <a:latin typeface="Calibri" pitchFamily="34" charset="0"/>
                <a:ea typeface="Calibri" pitchFamily="34" charset="-122"/>
                <a:cs typeface="Calibri" pitchFamily="34" charset="-120"/>
              </a:rPr>
              <a:t>−21.9%</a:t>
            </a:r>
            <a:pPr indent="0" marL="0">
              <a:buNone/>
            </a:pPr>
            <a:r>
              <a:rPr lang="en-US" sz="1300" dirty="0">
                <a:solidFill>
                  <a:srgbClr val="D1D5DB"/>
                </a:solidFill>
                <a:latin typeface="Calibri" pitchFamily="34" charset="0"/>
                <a:ea typeface="Calibri" pitchFamily="34" charset="-122"/>
                <a:cs typeface="Calibri" pitchFamily="34" charset="-120"/>
              </a:rPr>
              <a:t>  PPH gap to goal</a:t>
            </a:r>
            <a:endParaRPr lang="en-US" sz="2200" dirty="0"/>
          </a:p>
        </p:txBody>
      </p:sp>
      <p:sp>
        <p:nvSpPr>
          <p:cNvPr id="21" name="Text 19"/>
          <p:cNvSpPr txBox="1"/>
          <p:nvPr/>
        </p:nvSpPr>
        <p:spPr>
          <a:xfrm>
            <a:off x="8641080" y="5084064"/>
            <a:ext cx="2834640" cy="274320"/>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3,327 vs 4,258 goal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Calibri" pitchFamily="34" charset="0"/>
                <a:ea typeface="Calibri" pitchFamily="34" charset="-122"/>
                <a:cs typeface="Calibri" pitchFamily="34" charset="-120"/>
              </a:rPr>
              <a:t>AGENDA</a:t>
            </a:r>
            <a:endParaRPr lang="en-US" sz="1200" dirty="0"/>
          </a:p>
        </p:txBody>
      </p:sp>
      <p:sp>
        <p:nvSpPr>
          <p:cNvPr id="3" name="Text 1"/>
          <p:cNvSpPr txBox="1"/>
          <p:nvPr/>
        </p:nvSpPr>
        <p:spPr>
          <a:xfrm>
            <a:off x="548640" y="603504"/>
            <a:ext cx="11091672" cy="603504"/>
          </a:xfrm>
          <a:prstGeom prst="rect">
            <a:avLst/>
          </a:prstGeom>
          <a:noFill/>
          <a:ln/>
        </p:spPr>
        <p:txBody>
          <a:bodyPr wrap="square" lIns="0" tIns="0" rIns="0" bIns="0" rtlCol="0" anchor="t"/>
          <a:lstStyle/>
          <a:p>
            <a:pPr indent="0" marL="0">
              <a:buNone/>
            </a:pPr>
            <a:r>
              <a:rPr lang="en-US" sz="3000" b="1" dirty="0">
                <a:solidFill>
                  <a:srgbClr val="111827"/>
                </a:solidFill>
                <a:latin typeface="Calibri" pitchFamily="34" charset="0"/>
                <a:ea typeface="Calibri" pitchFamily="34" charset="-122"/>
                <a:cs typeface="Calibri" pitchFamily="34" charset="-120"/>
              </a:rPr>
              <a:t>What we will cover today</a:t>
            </a:r>
            <a:endParaRPr lang="en-US" sz="3000" dirty="0"/>
          </a:p>
        </p:txBody>
      </p:sp>
      <p:sp>
        <p:nvSpPr>
          <p:cNvPr id="4" name="Shape 2"/>
          <p:cNvSpPr/>
          <p:nvPr/>
        </p:nvSpPr>
        <p:spPr>
          <a:xfrm>
            <a:off x="548640" y="1508760"/>
            <a:ext cx="566928" cy="566928"/>
          </a:xfrm>
          <a:prstGeom prst="ellipse">
            <a:avLst/>
          </a:prstGeom>
          <a:solidFill>
            <a:srgbClr val="7C3AED"/>
          </a:solidFill>
          <a:ln w="12700">
            <a:solidFill>
              <a:srgbClr val="7C3AED"/>
            </a:solidFill>
            <a:prstDash val="solid"/>
          </a:ln>
        </p:spPr>
      </p:sp>
      <p:sp>
        <p:nvSpPr>
          <p:cNvPr id="5" name="Text 3"/>
          <p:cNvSpPr txBox="1"/>
          <p:nvPr/>
        </p:nvSpPr>
        <p:spPr>
          <a:xfrm>
            <a:off x="548640" y="150876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Shape 4"/>
          <p:cNvSpPr/>
          <p:nvPr/>
        </p:nvSpPr>
        <p:spPr>
          <a:xfrm>
            <a:off x="1280160" y="1508760"/>
            <a:ext cx="566928" cy="566928"/>
          </a:xfrm>
          <a:prstGeom prst="ellipse">
            <a:avLst/>
          </a:prstGeom>
          <a:solidFill>
            <a:srgbClr val="EDE9FE"/>
          </a:solidFill>
          <a:ln w="12700">
            <a:solidFill>
              <a:srgbClr val="EDE9FE"/>
            </a:solidFill>
            <a:prstDash val="solid"/>
          </a:ln>
        </p:spPr>
      </p:sp>
      <p:pic>
        <p:nvPicPr>
          <p:cNvPr id="7" name="Image 0" descr="preencoded.png">    </p:cNvPr>
          <p:cNvPicPr>
            <a:picLocks noChangeAspect="1"/>
          </p:cNvPicPr>
          <p:nvPr/>
        </p:nvPicPr>
        <p:blipFill>
          <a:blip r:embed="rId1"/>
          <a:stretch>
            <a:fillRect/>
          </a:stretch>
        </p:blipFill>
        <p:spPr>
          <a:xfrm>
            <a:off x="1421892" y="1650492"/>
            <a:ext cx="283464" cy="283464"/>
          </a:xfrm>
          <a:prstGeom prst="rect">
            <a:avLst/>
          </a:prstGeom>
        </p:spPr>
      </p:pic>
      <p:sp>
        <p:nvSpPr>
          <p:cNvPr id="8" name="Text 5"/>
          <p:cNvSpPr txBox="1"/>
          <p:nvPr/>
        </p:nvSpPr>
        <p:spPr>
          <a:xfrm>
            <a:off x="2103120" y="1472184"/>
            <a:ext cx="5394960" cy="347472"/>
          </a:xfrm>
          <a:prstGeom prst="rect">
            <a:avLst/>
          </a:prstGeom>
          <a:noFill/>
          <a:ln/>
        </p:spPr>
        <p:txBody>
          <a:bodyPr wrap="square" lIns="0" tIns="0" rIns="0" bIns="0" rtlCol="0" anchor="ctr"/>
          <a:lstStyle/>
          <a:p>
            <a:pPr indent="0" marL="0">
              <a:buNone/>
            </a:pPr>
            <a:r>
              <a:rPr lang="en-US" sz="1900" b="1" dirty="0">
                <a:solidFill>
                  <a:srgbClr val="111827"/>
                </a:solidFill>
                <a:latin typeface="Calibri" pitchFamily="34" charset="0"/>
                <a:ea typeface="Calibri" pitchFamily="34" charset="-122"/>
                <a:cs typeface="Calibri" pitchFamily="34" charset="-120"/>
              </a:rPr>
              <a:t>Safety</a:t>
            </a:r>
            <a:endParaRPr lang="en-US" sz="1900" dirty="0"/>
          </a:p>
        </p:txBody>
      </p:sp>
      <p:sp>
        <p:nvSpPr>
          <p:cNvPr id="9" name="Text 6"/>
          <p:cNvSpPr txBox="1"/>
          <p:nvPr/>
        </p:nvSpPr>
        <p:spPr>
          <a:xfrm>
            <a:off x="2103120" y="1819656"/>
            <a:ext cx="5394960" cy="292608"/>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TRIR, shift practices, incident reporting, site initiatives</a:t>
            </a:r>
            <a:endParaRPr lang="en-US" sz="1300" dirty="0"/>
          </a:p>
        </p:txBody>
      </p:sp>
      <p:sp>
        <p:nvSpPr>
          <p:cNvPr id="10" name="Shape 7"/>
          <p:cNvSpPr/>
          <p:nvPr/>
        </p:nvSpPr>
        <p:spPr>
          <a:xfrm>
            <a:off x="548640" y="2423160"/>
            <a:ext cx="566928" cy="566928"/>
          </a:xfrm>
          <a:prstGeom prst="ellipse">
            <a:avLst/>
          </a:prstGeom>
          <a:solidFill>
            <a:srgbClr val="7C3AED"/>
          </a:solidFill>
          <a:ln w="12700">
            <a:solidFill>
              <a:srgbClr val="7C3AED"/>
            </a:solidFill>
            <a:prstDash val="solid"/>
          </a:ln>
        </p:spPr>
      </p:sp>
      <p:sp>
        <p:nvSpPr>
          <p:cNvPr id="11" name="Text 8"/>
          <p:cNvSpPr txBox="1"/>
          <p:nvPr/>
        </p:nvSpPr>
        <p:spPr>
          <a:xfrm>
            <a:off x="548640" y="242316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Shape 9"/>
          <p:cNvSpPr/>
          <p:nvPr/>
        </p:nvSpPr>
        <p:spPr>
          <a:xfrm>
            <a:off x="1280160" y="2423160"/>
            <a:ext cx="566928" cy="566928"/>
          </a:xfrm>
          <a:prstGeom prst="ellipse">
            <a:avLst/>
          </a:prstGeom>
          <a:solidFill>
            <a:srgbClr val="EDE9FE"/>
          </a:solidFill>
          <a:ln w="12700">
            <a:solidFill>
              <a:srgbClr val="EDE9FE"/>
            </a:solidFill>
            <a:prstDash val="solid"/>
          </a:ln>
        </p:spPr>
      </p:sp>
      <p:pic>
        <p:nvPicPr>
          <p:cNvPr id="13" name="Image 1" descr="preencoded.png">    </p:cNvPr>
          <p:cNvPicPr>
            <a:picLocks noChangeAspect="1"/>
          </p:cNvPicPr>
          <p:nvPr/>
        </p:nvPicPr>
        <p:blipFill>
          <a:blip r:embed="rId2"/>
          <a:stretch>
            <a:fillRect/>
          </a:stretch>
        </p:blipFill>
        <p:spPr>
          <a:xfrm>
            <a:off x="1421892" y="2564892"/>
            <a:ext cx="283464" cy="283464"/>
          </a:xfrm>
          <a:prstGeom prst="rect">
            <a:avLst/>
          </a:prstGeom>
        </p:spPr>
      </p:pic>
      <p:sp>
        <p:nvSpPr>
          <p:cNvPr id="14" name="Text 10"/>
          <p:cNvSpPr txBox="1"/>
          <p:nvPr/>
        </p:nvSpPr>
        <p:spPr>
          <a:xfrm>
            <a:off x="2103120" y="2386584"/>
            <a:ext cx="5394960" cy="347472"/>
          </a:xfrm>
          <a:prstGeom prst="rect">
            <a:avLst/>
          </a:prstGeom>
          <a:noFill/>
          <a:ln/>
        </p:spPr>
        <p:txBody>
          <a:bodyPr wrap="square" lIns="0" tIns="0" rIns="0" bIns="0" rtlCol="0" anchor="ctr"/>
          <a:lstStyle/>
          <a:p>
            <a:pPr indent="0" marL="0">
              <a:buNone/>
            </a:pPr>
            <a:r>
              <a:rPr lang="en-US" sz="1900" b="1" dirty="0">
                <a:solidFill>
                  <a:srgbClr val="111827"/>
                </a:solidFill>
                <a:latin typeface="Calibri" pitchFamily="34" charset="0"/>
                <a:ea typeface="Calibri" pitchFamily="34" charset="-122"/>
                <a:cs typeface="Calibri" pitchFamily="34" charset="-120"/>
              </a:rPr>
              <a:t>Service</a:t>
            </a:r>
            <a:endParaRPr lang="en-US" sz="1900" dirty="0"/>
          </a:p>
        </p:txBody>
      </p:sp>
      <p:sp>
        <p:nvSpPr>
          <p:cNvPr id="15" name="Text 11"/>
          <p:cNvSpPr txBox="1"/>
          <p:nvPr/>
        </p:nvSpPr>
        <p:spPr>
          <a:xfrm>
            <a:off x="2103120" y="2734056"/>
            <a:ext cx="5394960" cy="292608"/>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On-time service (OTS), missed pickups, scanning compliance</a:t>
            </a:r>
            <a:endParaRPr lang="en-US" sz="1300" dirty="0"/>
          </a:p>
        </p:txBody>
      </p:sp>
      <p:sp>
        <p:nvSpPr>
          <p:cNvPr id="16" name="Shape 12"/>
          <p:cNvSpPr/>
          <p:nvPr/>
        </p:nvSpPr>
        <p:spPr>
          <a:xfrm>
            <a:off x="548640" y="3337560"/>
            <a:ext cx="566928" cy="566928"/>
          </a:xfrm>
          <a:prstGeom prst="ellipse">
            <a:avLst/>
          </a:prstGeom>
          <a:solidFill>
            <a:srgbClr val="7C3AED"/>
          </a:solidFill>
          <a:ln w="12700">
            <a:solidFill>
              <a:srgbClr val="7C3AED"/>
            </a:solidFill>
            <a:prstDash val="solid"/>
          </a:ln>
        </p:spPr>
      </p:sp>
      <p:sp>
        <p:nvSpPr>
          <p:cNvPr id="17" name="Text 13"/>
          <p:cNvSpPr txBox="1"/>
          <p:nvPr/>
        </p:nvSpPr>
        <p:spPr>
          <a:xfrm>
            <a:off x="548640" y="333756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Shape 14"/>
          <p:cNvSpPr/>
          <p:nvPr/>
        </p:nvSpPr>
        <p:spPr>
          <a:xfrm>
            <a:off x="1280160" y="3337560"/>
            <a:ext cx="566928" cy="566928"/>
          </a:xfrm>
          <a:prstGeom prst="ellipse">
            <a:avLst/>
          </a:prstGeom>
          <a:solidFill>
            <a:srgbClr val="EDE9FE"/>
          </a:solidFill>
          <a:ln w="12700">
            <a:solidFill>
              <a:srgbClr val="EDE9FE"/>
            </a:solidFill>
            <a:prstDash val="solid"/>
          </a:ln>
        </p:spPr>
      </p:sp>
      <p:pic>
        <p:nvPicPr>
          <p:cNvPr id="19" name="Image 2" descr="preencoded.png">    </p:cNvPr>
          <p:cNvPicPr>
            <a:picLocks noChangeAspect="1"/>
          </p:cNvPicPr>
          <p:nvPr/>
        </p:nvPicPr>
        <p:blipFill>
          <a:blip r:embed="rId3"/>
          <a:stretch>
            <a:fillRect/>
          </a:stretch>
        </p:blipFill>
        <p:spPr>
          <a:xfrm>
            <a:off x="1421892" y="3479292"/>
            <a:ext cx="283464" cy="283464"/>
          </a:xfrm>
          <a:prstGeom prst="rect">
            <a:avLst/>
          </a:prstGeom>
        </p:spPr>
      </p:pic>
      <p:sp>
        <p:nvSpPr>
          <p:cNvPr id="20" name="Text 15"/>
          <p:cNvSpPr txBox="1"/>
          <p:nvPr/>
        </p:nvSpPr>
        <p:spPr>
          <a:xfrm>
            <a:off x="2103120" y="3300984"/>
            <a:ext cx="5394960" cy="347472"/>
          </a:xfrm>
          <a:prstGeom prst="rect">
            <a:avLst/>
          </a:prstGeom>
          <a:noFill/>
          <a:ln/>
        </p:spPr>
        <p:txBody>
          <a:bodyPr wrap="square" lIns="0" tIns="0" rIns="0" bIns="0" rtlCol="0" anchor="ctr"/>
          <a:lstStyle/>
          <a:p>
            <a:pPr indent="0" marL="0">
              <a:buNone/>
            </a:pPr>
            <a:r>
              <a:rPr lang="en-US" sz="1900" b="1" dirty="0">
                <a:solidFill>
                  <a:srgbClr val="111827"/>
                </a:solidFill>
                <a:latin typeface="Calibri" pitchFamily="34" charset="0"/>
                <a:ea typeface="Calibri" pitchFamily="34" charset="-122"/>
                <a:cs typeface="Calibri" pitchFamily="34" charset="-120"/>
              </a:rPr>
              <a:t>SCA</a:t>
            </a:r>
            <a:endParaRPr lang="en-US" sz="1900" dirty="0"/>
          </a:p>
        </p:txBody>
      </p:sp>
      <p:sp>
        <p:nvSpPr>
          <p:cNvPr id="21" name="Text 16"/>
          <p:cNvSpPr txBox="1"/>
          <p:nvPr/>
        </p:nvSpPr>
        <p:spPr>
          <a:xfrm>
            <a:off x="2103120" y="3648456"/>
            <a:ext cx="5394960" cy="292608"/>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Cost per PRO, hours, labour, accessorials, savings plan</a:t>
            </a:r>
            <a:endParaRPr lang="en-US" sz="1300" dirty="0"/>
          </a:p>
        </p:txBody>
      </p:sp>
      <p:sp>
        <p:nvSpPr>
          <p:cNvPr id="22" name="Shape 17"/>
          <p:cNvSpPr/>
          <p:nvPr/>
        </p:nvSpPr>
        <p:spPr>
          <a:xfrm>
            <a:off x="548640" y="4251960"/>
            <a:ext cx="566928" cy="566928"/>
          </a:xfrm>
          <a:prstGeom prst="ellipse">
            <a:avLst/>
          </a:prstGeom>
          <a:solidFill>
            <a:srgbClr val="7C3AED"/>
          </a:solidFill>
          <a:ln w="12700">
            <a:solidFill>
              <a:srgbClr val="7C3AED"/>
            </a:solidFill>
            <a:prstDash val="solid"/>
          </a:ln>
        </p:spPr>
      </p:sp>
      <p:sp>
        <p:nvSpPr>
          <p:cNvPr id="23" name="Text 18"/>
          <p:cNvSpPr txBox="1"/>
          <p:nvPr/>
        </p:nvSpPr>
        <p:spPr>
          <a:xfrm>
            <a:off x="548640" y="425196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hape 19"/>
          <p:cNvSpPr/>
          <p:nvPr/>
        </p:nvSpPr>
        <p:spPr>
          <a:xfrm>
            <a:off x="1280160" y="4251960"/>
            <a:ext cx="566928" cy="566928"/>
          </a:xfrm>
          <a:prstGeom prst="ellipse">
            <a:avLst/>
          </a:prstGeom>
          <a:solidFill>
            <a:srgbClr val="EDE9FE"/>
          </a:solidFill>
          <a:ln w="12700">
            <a:solidFill>
              <a:srgbClr val="EDE9FE"/>
            </a:solidFill>
            <a:prstDash val="solid"/>
          </a:ln>
        </p:spPr>
      </p:sp>
      <p:pic>
        <p:nvPicPr>
          <p:cNvPr id="25" name="Image 3" descr="preencoded.png">    </p:cNvPr>
          <p:cNvPicPr>
            <a:picLocks noChangeAspect="1"/>
          </p:cNvPicPr>
          <p:nvPr/>
        </p:nvPicPr>
        <p:blipFill>
          <a:blip r:embed="rId4"/>
          <a:stretch>
            <a:fillRect/>
          </a:stretch>
        </p:blipFill>
        <p:spPr>
          <a:xfrm>
            <a:off x="1421892" y="4393692"/>
            <a:ext cx="283464" cy="283464"/>
          </a:xfrm>
          <a:prstGeom prst="rect">
            <a:avLst/>
          </a:prstGeom>
        </p:spPr>
      </p:pic>
      <p:sp>
        <p:nvSpPr>
          <p:cNvPr id="26" name="Text 20"/>
          <p:cNvSpPr txBox="1"/>
          <p:nvPr/>
        </p:nvSpPr>
        <p:spPr>
          <a:xfrm>
            <a:off x="2103120" y="4215384"/>
            <a:ext cx="5394960" cy="347472"/>
          </a:xfrm>
          <a:prstGeom prst="rect">
            <a:avLst/>
          </a:prstGeom>
          <a:noFill/>
          <a:ln/>
        </p:spPr>
        <p:txBody>
          <a:bodyPr wrap="square" lIns="0" tIns="0" rIns="0" bIns="0" rtlCol="0" anchor="ctr"/>
          <a:lstStyle/>
          <a:p>
            <a:pPr indent="0" marL="0">
              <a:buNone/>
            </a:pPr>
            <a:r>
              <a:rPr lang="en-US" sz="1900" b="1" dirty="0">
                <a:solidFill>
                  <a:srgbClr val="111827"/>
                </a:solidFill>
                <a:latin typeface="Calibri" pitchFamily="34" charset="0"/>
                <a:ea typeface="Calibri" pitchFamily="34" charset="-122"/>
                <a:cs typeface="Calibri" pitchFamily="34" charset="-120"/>
              </a:rPr>
              <a:t>Productivity</a:t>
            </a:r>
            <a:endParaRPr lang="en-US" sz="1900" dirty="0"/>
          </a:p>
        </p:txBody>
      </p:sp>
      <p:sp>
        <p:nvSpPr>
          <p:cNvPr id="27" name="Text 21"/>
          <p:cNvSpPr txBox="1"/>
          <p:nvPr/>
        </p:nvSpPr>
        <p:spPr>
          <a:xfrm>
            <a:off x="2103120" y="4562856"/>
            <a:ext cx="5394960" cy="292608"/>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PPH, cost &amp; volume, P&amp;D measures, load factor, CICO</a:t>
            </a:r>
            <a:endParaRPr lang="en-US" sz="1300" dirty="0"/>
          </a:p>
        </p:txBody>
      </p:sp>
      <p:sp>
        <p:nvSpPr>
          <p:cNvPr id="28" name="Shape 22"/>
          <p:cNvSpPr/>
          <p:nvPr/>
        </p:nvSpPr>
        <p:spPr>
          <a:xfrm>
            <a:off x="548640" y="5166360"/>
            <a:ext cx="566928" cy="566928"/>
          </a:xfrm>
          <a:prstGeom prst="ellipse">
            <a:avLst/>
          </a:prstGeom>
          <a:solidFill>
            <a:srgbClr val="7C3AED"/>
          </a:solidFill>
          <a:ln w="12700">
            <a:solidFill>
              <a:srgbClr val="7C3AED"/>
            </a:solidFill>
            <a:prstDash val="solid"/>
          </a:ln>
        </p:spPr>
      </p:sp>
      <p:sp>
        <p:nvSpPr>
          <p:cNvPr id="29" name="Text 23"/>
          <p:cNvSpPr txBox="1"/>
          <p:nvPr/>
        </p:nvSpPr>
        <p:spPr>
          <a:xfrm>
            <a:off x="548640" y="516636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0" name="Shape 24"/>
          <p:cNvSpPr/>
          <p:nvPr/>
        </p:nvSpPr>
        <p:spPr>
          <a:xfrm>
            <a:off x="1280160" y="5166360"/>
            <a:ext cx="566928" cy="566928"/>
          </a:xfrm>
          <a:prstGeom prst="ellipse">
            <a:avLst/>
          </a:prstGeom>
          <a:solidFill>
            <a:srgbClr val="EDE9FE"/>
          </a:solidFill>
          <a:ln w="12700">
            <a:solidFill>
              <a:srgbClr val="EDE9FE"/>
            </a:solidFill>
            <a:prstDash val="solid"/>
          </a:ln>
        </p:spPr>
      </p:sp>
      <p:pic>
        <p:nvPicPr>
          <p:cNvPr id="31" name="Image 4" descr="preencoded.png">    </p:cNvPr>
          <p:cNvPicPr>
            <a:picLocks noChangeAspect="1"/>
          </p:cNvPicPr>
          <p:nvPr/>
        </p:nvPicPr>
        <p:blipFill>
          <a:blip r:embed="rId5"/>
          <a:stretch>
            <a:fillRect/>
          </a:stretch>
        </p:blipFill>
        <p:spPr>
          <a:xfrm>
            <a:off x="1421892" y="5308092"/>
            <a:ext cx="283464" cy="283464"/>
          </a:xfrm>
          <a:prstGeom prst="rect">
            <a:avLst/>
          </a:prstGeom>
        </p:spPr>
      </p:pic>
      <p:sp>
        <p:nvSpPr>
          <p:cNvPr id="32" name="Text 25"/>
          <p:cNvSpPr txBox="1"/>
          <p:nvPr/>
        </p:nvSpPr>
        <p:spPr>
          <a:xfrm>
            <a:off x="2103120" y="5129784"/>
            <a:ext cx="5394960" cy="347472"/>
          </a:xfrm>
          <a:prstGeom prst="rect">
            <a:avLst/>
          </a:prstGeom>
          <a:noFill/>
          <a:ln/>
        </p:spPr>
        <p:txBody>
          <a:bodyPr wrap="square" lIns="0" tIns="0" rIns="0" bIns="0" rtlCol="0" anchor="ctr"/>
          <a:lstStyle/>
          <a:p>
            <a:pPr indent="0" marL="0">
              <a:buNone/>
            </a:pPr>
            <a:r>
              <a:rPr lang="en-US" sz="1900" b="1" dirty="0">
                <a:solidFill>
                  <a:srgbClr val="111827"/>
                </a:solidFill>
                <a:latin typeface="Calibri" pitchFamily="34" charset="0"/>
                <a:ea typeface="Calibri" pitchFamily="34" charset="-122"/>
                <a:cs typeface="Calibri" pitchFamily="34" charset="-120"/>
              </a:rPr>
              <a:t>Status of the physical terminal</a:t>
            </a:r>
            <a:endParaRPr lang="en-US" sz="1900" dirty="0"/>
          </a:p>
        </p:txBody>
      </p:sp>
      <p:sp>
        <p:nvSpPr>
          <p:cNvPr id="33" name="Text 26"/>
          <p:cNvSpPr txBox="1"/>
          <p:nvPr/>
        </p:nvSpPr>
        <p:spPr>
          <a:xfrm>
            <a:off x="2103120" y="5477256"/>
            <a:ext cx="5394960" cy="292608"/>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Dock doors and urgent repairs</a:t>
            </a:r>
            <a:endParaRPr lang="en-US" sz="1300" dirty="0"/>
          </a:p>
        </p:txBody>
      </p:sp>
      <p:sp>
        <p:nvSpPr>
          <p:cNvPr id="34" name="Shape 27"/>
          <p:cNvSpPr/>
          <p:nvPr/>
        </p:nvSpPr>
        <p:spPr>
          <a:xfrm>
            <a:off x="8001000" y="1508760"/>
            <a:ext cx="3639312" cy="4206240"/>
          </a:xfrm>
          <a:prstGeom prst="roundRect">
            <a:avLst>
              <a:gd name="adj" fmla="val 2010"/>
            </a:avLst>
          </a:prstGeom>
          <a:solidFill>
            <a:srgbClr val="F3F4F6"/>
          </a:solidFill>
          <a:ln w="12700">
            <a:solidFill>
              <a:srgbClr val="F3F4F6"/>
            </a:solidFill>
            <a:prstDash val="solid"/>
          </a:ln>
        </p:spPr>
      </p:sp>
      <p:sp>
        <p:nvSpPr>
          <p:cNvPr id="35" name="Shape 28"/>
          <p:cNvSpPr/>
          <p:nvPr/>
        </p:nvSpPr>
        <p:spPr>
          <a:xfrm>
            <a:off x="8275320" y="1783080"/>
            <a:ext cx="502920" cy="502920"/>
          </a:xfrm>
          <a:prstGeom prst="ellipse">
            <a:avLst/>
          </a:prstGeom>
          <a:solidFill>
            <a:srgbClr val="EDE9FE"/>
          </a:solidFill>
          <a:ln w="12700">
            <a:solidFill>
              <a:srgbClr val="EDE9FE"/>
            </a:solidFill>
            <a:prstDash val="solid"/>
          </a:ln>
        </p:spPr>
      </p:sp>
      <p:pic>
        <p:nvPicPr>
          <p:cNvPr id="36" name="Image 5" descr="preencoded.png">    </p:cNvPr>
          <p:cNvPicPr>
            <a:picLocks noChangeAspect="1"/>
          </p:cNvPicPr>
          <p:nvPr/>
        </p:nvPicPr>
        <p:blipFill>
          <a:blip r:embed="rId6"/>
          <a:stretch>
            <a:fillRect/>
          </a:stretch>
        </p:blipFill>
        <p:spPr>
          <a:xfrm>
            <a:off x="8401050" y="1908810"/>
            <a:ext cx="251460" cy="251460"/>
          </a:xfrm>
          <a:prstGeom prst="rect">
            <a:avLst/>
          </a:prstGeom>
        </p:spPr>
      </p:pic>
      <p:sp>
        <p:nvSpPr>
          <p:cNvPr id="37" name="Text 29"/>
          <p:cNvSpPr txBox="1"/>
          <p:nvPr/>
        </p:nvSpPr>
        <p:spPr>
          <a:xfrm>
            <a:off x="8915400" y="1847088"/>
            <a:ext cx="2560320" cy="36576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Sources &amp; conventions</a:t>
            </a:r>
            <a:endParaRPr lang="en-US" sz="1600" dirty="0"/>
          </a:p>
        </p:txBody>
      </p:sp>
      <p:sp>
        <p:nvSpPr>
          <p:cNvPr id="38" name="Text 30"/>
          <p:cNvSpPr txBox="1"/>
          <p:nvPr/>
        </p:nvSpPr>
        <p:spPr>
          <a:xfrm>
            <a:off x="8275320" y="2514600"/>
            <a:ext cx="3154680" cy="301752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SCA: national Cost-per-PRO report and SCA hours report — Mississauga, updated Sep 26, 2026.</a:t>
            </a:r>
            <a:endParaRPr lang="en-US" sz="1250" dirty="0"/>
          </a:p>
          <a:p>
            <a:pPr marL="177800" indent="-1778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Productivity: terminal productivity dashboard, updated for Sat, Sep 26, 2026.</a:t>
            </a:r>
            <a:endParaRPr lang="en-US" sz="1250" dirty="0"/>
          </a:p>
          <a:p>
            <a:pPr marL="177800" indent="-1778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F26 recap: plan set July 2025.</a:t>
            </a:r>
            <a:endParaRPr lang="en-US" sz="1250" dirty="0"/>
          </a:p>
          <a:p>
            <a:pPr marL="177800" indent="-1778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Fiscal F27 = Jul 1, 2026 – Jun 30, 2027.</a:t>
            </a:r>
            <a:endParaRPr lang="en-US" sz="1250" dirty="0"/>
          </a:p>
          <a:p>
            <a:pPr marL="177800" indent="-177800">
              <a:buSzPct val="100000"/>
              <a:buChar char="•"/>
            </a:pPr>
            <a:r>
              <a:rPr lang="en-US" sz="1250" b="1" dirty="0">
                <a:solidFill>
                  <a:srgbClr val="D97706"/>
                </a:solidFill>
                <a:latin typeface="Calibri" pitchFamily="34" charset="0"/>
                <a:ea typeface="Calibri" pitchFamily="34" charset="-122"/>
                <a:cs typeface="Calibri" pitchFamily="34" charset="-120"/>
              </a:rPr>
              <a:t>TBC</a:t>
            </a:r>
            <a:pPr indent="0" marL="0">
              <a:buNone/>
            </a:pPr>
            <a:r>
              <a:rPr lang="en-US" sz="1250" dirty="0">
                <a:solidFill>
                  <a:srgbClr val="1F2937"/>
                </a:solidFill>
                <a:latin typeface="Calibri" pitchFamily="34" charset="0"/>
                <a:ea typeface="Calibri" pitchFamily="34" charset="-122"/>
                <a:cs typeface="Calibri" pitchFamily="34" charset="-120"/>
              </a:rPr>
              <a:t> = figure being confirmed.</a:t>
            </a:r>
            <a:endParaRPr lang="en-US" sz="1250" dirty="0"/>
          </a:p>
        </p:txBody>
      </p:sp>
      <p:sp>
        <p:nvSpPr>
          <p:cNvPr id="39" name="Text 3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Mississauga Terminal · F27 Senior Leadership Review · Sep 29, 2026</a:t>
            </a:r>
            <a:endParaRPr lang="en-US" sz="900" dirty="0"/>
          </a:p>
        </p:txBody>
      </p:sp>
      <p:sp>
        <p:nvSpPr>
          <p:cNvPr id="40" name="Text 32"/>
          <p:cNvSpPr txBox="1"/>
          <p:nvPr/>
        </p:nvSpPr>
        <p:spPr>
          <a:xfrm>
            <a:off x="10725912" y="6473952"/>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 / 21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Calibri" pitchFamily="34" charset="0"/>
                <a:ea typeface="Calibri" pitchFamily="34" charset="-122"/>
                <a:cs typeface="Calibri" pitchFamily="34" charset="-120"/>
              </a:rPr>
              <a:t>SAFETY</a:t>
            </a:r>
            <a:endParaRPr lang="en-US" sz="1200" dirty="0"/>
          </a:p>
        </p:txBody>
      </p:sp>
      <p:sp>
        <p:nvSpPr>
          <p:cNvPr id="3" name="Text 1"/>
          <p:cNvSpPr txBox="1"/>
          <p:nvPr/>
        </p:nvSpPr>
        <p:spPr>
          <a:xfrm>
            <a:off x="548640" y="603504"/>
            <a:ext cx="11091672" cy="603504"/>
          </a:xfrm>
          <a:prstGeom prst="rect">
            <a:avLst/>
          </a:prstGeom>
          <a:noFill/>
          <a:ln/>
        </p:spPr>
        <p:txBody>
          <a:bodyPr wrap="square" lIns="0" tIns="0" rIns="0" bIns="0" rtlCol="0" anchor="t"/>
          <a:lstStyle/>
          <a:p>
            <a:pPr indent="0" marL="0">
              <a:buNone/>
            </a:pPr>
            <a:r>
              <a:rPr lang="en-US" sz="3000" b="1" dirty="0">
                <a:solidFill>
                  <a:srgbClr val="111827"/>
                </a:solidFill>
                <a:latin typeface="Calibri" pitchFamily="34" charset="0"/>
                <a:ea typeface="Calibri" pitchFamily="34" charset="-122"/>
                <a:cs typeface="Calibri" pitchFamily="34" charset="-120"/>
              </a:rPr>
              <a:t>Safety — TRIR</a:t>
            </a:r>
            <a:endParaRPr lang="en-US" sz="3000" dirty="0"/>
          </a:p>
        </p:txBody>
      </p:sp>
      <p:sp>
        <p:nvSpPr>
          <p:cNvPr id="4" name="Shape 2"/>
          <p:cNvSpPr/>
          <p:nvPr/>
        </p:nvSpPr>
        <p:spPr>
          <a:xfrm>
            <a:off x="548640" y="1371600"/>
            <a:ext cx="2072030" cy="1280160"/>
          </a:xfrm>
          <a:prstGeom prst="roundRect">
            <a:avLst>
              <a:gd name="adj" fmla="val 5714"/>
            </a:avLst>
          </a:prstGeom>
          <a:solidFill>
            <a:srgbClr val="F3F4F6"/>
          </a:solidFill>
          <a:ln w="12700">
            <a:solidFill>
              <a:srgbClr val="F3F4F6"/>
            </a:solidFill>
            <a:prstDash val="solid"/>
          </a:ln>
        </p:spPr>
      </p:sp>
      <p:sp>
        <p:nvSpPr>
          <p:cNvPr id="5" name="Text 3"/>
          <p:cNvSpPr txBox="1"/>
          <p:nvPr/>
        </p:nvSpPr>
        <p:spPr>
          <a:xfrm>
            <a:off x="731520" y="1508760"/>
            <a:ext cx="1706270" cy="274320"/>
          </a:xfrm>
          <a:prstGeom prst="rect">
            <a:avLst/>
          </a:prstGeom>
          <a:noFill/>
          <a:ln/>
        </p:spPr>
        <p:txBody>
          <a:bodyPr wrap="square" lIns="0" tIns="0" rIns="0" bIns="0" rtlCol="0" anchor="ctr"/>
          <a:lstStyle/>
          <a:p>
            <a:pPr indent="0" marL="0">
              <a:buNone/>
            </a:pPr>
            <a:r>
              <a:rPr lang="en-US" sz="950" b="1" dirty="0">
                <a:solidFill>
                  <a:srgbClr val="6B7280"/>
                </a:solidFill>
                <a:latin typeface="Calibri" pitchFamily="34" charset="0"/>
                <a:ea typeface="Calibri" pitchFamily="34" charset="-122"/>
                <a:cs typeface="Calibri" pitchFamily="34" charset="-120"/>
              </a:rPr>
              <a:t>TRIR · F27 YTD</a:t>
            </a:r>
            <a:endParaRPr lang="en-US" sz="950" dirty="0"/>
          </a:p>
        </p:txBody>
      </p:sp>
      <p:sp>
        <p:nvSpPr>
          <p:cNvPr id="6" name="Text 4"/>
          <p:cNvSpPr txBox="1"/>
          <p:nvPr/>
        </p:nvSpPr>
        <p:spPr>
          <a:xfrm>
            <a:off x="731520" y="1783080"/>
            <a:ext cx="1706270" cy="411480"/>
          </a:xfrm>
          <a:prstGeom prst="rect">
            <a:avLst/>
          </a:prstGeom>
          <a:noFill/>
          <a:ln/>
        </p:spPr>
        <p:txBody>
          <a:bodyPr wrap="square" lIns="0" tIns="0" rIns="0" bIns="0" rtlCol="0" anchor="ctr"/>
          <a:lstStyle/>
          <a:p>
            <a:pPr indent="0" marL="0">
              <a:buNone/>
            </a:pPr>
            <a:r>
              <a:rPr lang="en-US" sz="3000" b="1" dirty="0">
                <a:solidFill>
                  <a:srgbClr val="D97706"/>
                </a:solidFill>
                <a:latin typeface="Calibri" pitchFamily="34" charset="0"/>
                <a:ea typeface="Calibri" pitchFamily="34" charset="-122"/>
                <a:cs typeface="Calibri" pitchFamily="34" charset="-120"/>
              </a:rPr>
              <a:t>TBC</a:t>
            </a:r>
            <a:endParaRPr lang="en-US" sz="3000" dirty="0"/>
          </a:p>
        </p:txBody>
      </p:sp>
      <p:sp>
        <p:nvSpPr>
          <p:cNvPr id="7" name="Text 5"/>
          <p:cNvSpPr txBox="1"/>
          <p:nvPr/>
        </p:nvSpPr>
        <p:spPr>
          <a:xfrm>
            <a:off x="731520" y="2221992"/>
            <a:ext cx="1706270"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Jul 1 – Sep 29, 2026</a:t>
            </a:r>
            <a:endParaRPr lang="en-US" sz="1050" dirty="0"/>
          </a:p>
        </p:txBody>
      </p:sp>
      <p:sp>
        <p:nvSpPr>
          <p:cNvPr id="8" name="Shape 6"/>
          <p:cNvSpPr/>
          <p:nvPr/>
        </p:nvSpPr>
        <p:spPr>
          <a:xfrm>
            <a:off x="2803550" y="1371600"/>
            <a:ext cx="2072030" cy="1280160"/>
          </a:xfrm>
          <a:prstGeom prst="roundRect">
            <a:avLst>
              <a:gd name="adj" fmla="val 5714"/>
            </a:avLst>
          </a:prstGeom>
          <a:solidFill>
            <a:srgbClr val="F3F4F6"/>
          </a:solidFill>
          <a:ln w="12700">
            <a:solidFill>
              <a:srgbClr val="F3F4F6"/>
            </a:solidFill>
            <a:prstDash val="solid"/>
          </a:ln>
        </p:spPr>
      </p:sp>
      <p:sp>
        <p:nvSpPr>
          <p:cNvPr id="9" name="Text 7"/>
          <p:cNvSpPr txBox="1"/>
          <p:nvPr/>
        </p:nvSpPr>
        <p:spPr>
          <a:xfrm>
            <a:off x="2986430" y="1508760"/>
            <a:ext cx="1706270" cy="274320"/>
          </a:xfrm>
          <a:prstGeom prst="rect">
            <a:avLst/>
          </a:prstGeom>
          <a:noFill/>
          <a:ln/>
        </p:spPr>
        <p:txBody>
          <a:bodyPr wrap="square" lIns="0" tIns="0" rIns="0" bIns="0" rtlCol="0" anchor="ctr"/>
          <a:lstStyle/>
          <a:p>
            <a:pPr indent="0" marL="0">
              <a:buNone/>
            </a:pPr>
            <a:r>
              <a:rPr lang="en-US" sz="950" b="1" dirty="0">
                <a:solidFill>
                  <a:srgbClr val="6B7280"/>
                </a:solidFill>
                <a:latin typeface="Calibri" pitchFamily="34" charset="0"/>
                <a:ea typeface="Calibri" pitchFamily="34" charset="-122"/>
                <a:cs typeface="Calibri" pitchFamily="34" charset="-120"/>
              </a:rPr>
              <a:t>TRIR · F26</a:t>
            </a:r>
            <a:endParaRPr lang="en-US" sz="950" dirty="0"/>
          </a:p>
        </p:txBody>
      </p:sp>
      <p:sp>
        <p:nvSpPr>
          <p:cNvPr id="10" name="Text 8"/>
          <p:cNvSpPr txBox="1"/>
          <p:nvPr/>
        </p:nvSpPr>
        <p:spPr>
          <a:xfrm>
            <a:off x="2986430" y="1783080"/>
            <a:ext cx="1706270" cy="411480"/>
          </a:xfrm>
          <a:prstGeom prst="rect">
            <a:avLst/>
          </a:prstGeom>
          <a:noFill/>
          <a:ln/>
        </p:spPr>
        <p:txBody>
          <a:bodyPr wrap="square" lIns="0" tIns="0" rIns="0" bIns="0" rtlCol="0" anchor="ctr"/>
          <a:lstStyle/>
          <a:p>
            <a:pPr indent="0" marL="0">
              <a:buNone/>
            </a:pPr>
            <a:r>
              <a:rPr lang="en-US" sz="3000" b="1" dirty="0">
                <a:solidFill>
                  <a:srgbClr val="D97706"/>
                </a:solidFill>
                <a:latin typeface="Calibri" pitchFamily="34" charset="0"/>
                <a:ea typeface="Calibri" pitchFamily="34" charset="-122"/>
                <a:cs typeface="Calibri" pitchFamily="34" charset="-120"/>
              </a:rPr>
              <a:t>TBC</a:t>
            </a:r>
            <a:endParaRPr lang="en-US" sz="3000" dirty="0"/>
          </a:p>
        </p:txBody>
      </p:sp>
      <p:sp>
        <p:nvSpPr>
          <p:cNvPr id="11" name="Text 9"/>
          <p:cNvSpPr txBox="1"/>
          <p:nvPr/>
        </p:nvSpPr>
        <p:spPr>
          <a:xfrm>
            <a:off x="2986430" y="2221992"/>
            <a:ext cx="1706270"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Full year</a:t>
            </a:r>
            <a:endParaRPr lang="en-US" sz="1050" dirty="0"/>
          </a:p>
        </p:txBody>
      </p:sp>
      <p:sp>
        <p:nvSpPr>
          <p:cNvPr id="12" name="Shape 10"/>
          <p:cNvSpPr/>
          <p:nvPr/>
        </p:nvSpPr>
        <p:spPr>
          <a:xfrm>
            <a:off x="5058461" y="1371600"/>
            <a:ext cx="2072030" cy="1280160"/>
          </a:xfrm>
          <a:prstGeom prst="roundRect">
            <a:avLst>
              <a:gd name="adj" fmla="val 5714"/>
            </a:avLst>
          </a:prstGeom>
          <a:solidFill>
            <a:srgbClr val="F3F4F6"/>
          </a:solidFill>
          <a:ln w="12700">
            <a:solidFill>
              <a:srgbClr val="F3F4F6"/>
            </a:solidFill>
            <a:prstDash val="solid"/>
          </a:ln>
        </p:spPr>
      </p:sp>
      <p:sp>
        <p:nvSpPr>
          <p:cNvPr id="13" name="Text 11"/>
          <p:cNvSpPr txBox="1"/>
          <p:nvPr/>
        </p:nvSpPr>
        <p:spPr>
          <a:xfrm>
            <a:off x="5241341" y="1508760"/>
            <a:ext cx="1706270" cy="274320"/>
          </a:xfrm>
          <a:prstGeom prst="rect">
            <a:avLst/>
          </a:prstGeom>
          <a:noFill/>
          <a:ln/>
        </p:spPr>
        <p:txBody>
          <a:bodyPr wrap="square" lIns="0" tIns="0" rIns="0" bIns="0" rtlCol="0" anchor="ctr"/>
          <a:lstStyle/>
          <a:p>
            <a:pPr indent="0" marL="0">
              <a:buNone/>
            </a:pPr>
            <a:r>
              <a:rPr lang="en-US" sz="950" b="1" dirty="0">
                <a:solidFill>
                  <a:srgbClr val="6B7280"/>
                </a:solidFill>
                <a:latin typeface="Calibri" pitchFamily="34" charset="0"/>
                <a:ea typeface="Calibri" pitchFamily="34" charset="-122"/>
                <a:cs typeface="Calibri" pitchFamily="34" charset="-120"/>
              </a:rPr>
              <a:t>TRIR · F27 target</a:t>
            </a:r>
            <a:endParaRPr lang="en-US" sz="950" dirty="0"/>
          </a:p>
        </p:txBody>
      </p:sp>
      <p:sp>
        <p:nvSpPr>
          <p:cNvPr id="14" name="Text 12"/>
          <p:cNvSpPr txBox="1"/>
          <p:nvPr/>
        </p:nvSpPr>
        <p:spPr>
          <a:xfrm>
            <a:off x="5241341" y="1783080"/>
            <a:ext cx="1706270" cy="411480"/>
          </a:xfrm>
          <a:prstGeom prst="rect">
            <a:avLst/>
          </a:prstGeom>
          <a:noFill/>
          <a:ln/>
        </p:spPr>
        <p:txBody>
          <a:bodyPr wrap="square" lIns="0" tIns="0" rIns="0" bIns="0" rtlCol="0" anchor="ctr"/>
          <a:lstStyle/>
          <a:p>
            <a:pPr indent="0" marL="0">
              <a:buNone/>
            </a:pPr>
            <a:r>
              <a:rPr lang="en-US" sz="3000" b="1" dirty="0">
                <a:solidFill>
                  <a:srgbClr val="D97706"/>
                </a:solidFill>
                <a:latin typeface="Calibri" pitchFamily="34" charset="0"/>
                <a:ea typeface="Calibri" pitchFamily="34" charset="-122"/>
                <a:cs typeface="Calibri" pitchFamily="34" charset="-120"/>
              </a:rPr>
              <a:t>TBC</a:t>
            </a:r>
            <a:endParaRPr lang="en-US" sz="3000" dirty="0"/>
          </a:p>
        </p:txBody>
      </p:sp>
      <p:sp>
        <p:nvSpPr>
          <p:cNvPr id="15" name="Text 13"/>
          <p:cNvSpPr txBox="1"/>
          <p:nvPr/>
        </p:nvSpPr>
        <p:spPr>
          <a:xfrm>
            <a:off x="5241341" y="2221992"/>
            <a:ext cx="1706270"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F27 target</a:t>
            </a:r>
            <a:endParaRPr lang="en-US" sz="1050" dirty="0"/>
          </a:p>
        </p:txBody>
      </p:sp>
      <p:sp>
        <p:nvSpPr>
          <p:cNvPr id="16" name="Shape 14"/>
          <p:cNvSpPr/>
          <p:nvPr/>
        </p:nvSpPr>
        <p:spPr>
          <a:xfrm>
            <a:off x="7313371" y="1371600"/>
            <a:ext cx="2072030" cy="1280160"/>
          </a:xfrm>
          <a:prstGeom prst="roundRect">
            <a:avLst>
              <a:gd name="adj" fmla="val 5714"/>
            </a:avLst>
          </a:prstGeom>
          <a:solidFill>
            <a:srgbClr val="F3F4F6"/>
          </a:solidFill>
          <a:ln w="12700">
            <a:solidFill>
              <a:srgbClr val="F3F4F6"/>
            </a:solidFill>
            <a:prstDash val="solid"/>
          </a:ln>
        </p:spPr>
      </p:sp>
      <p:sp>
        <p:nvSpPr>
          <p:cNvPr id="17" name="Text 15"/>
          <p:cNvSpPr txBox="1"/>
          <p:nvPr/>
        </p:nvSpPr>
        <p:spPr>
          <a:xfrm>
            <a:off x="7496251" y="1508760"/>
            <a:ext cx="1706270" cy="274320"/>
          </a:xfrm>
          <a:prstGeom prst="rect">
            <a:avLst/>
          </a:prstGeom>
          <a:noFill/>
          <a:ln/>
        </p:spPr>
        <p:txBody>
          <a:bodyPr wrap="square" lIns="0" tIns="0" rIns="0" bIns="0" rtlCol="0" anchor="ctr"/>
          <a:lstStyle/>
          <a:p>
            <a:pPr indent="0" marL="0">
              <a:buNone/>
            </a:pPr>
            <a:r>
              <a:rPr lang="en-US" sz="950" b="1" dirty="0">
                <a:solidFill>
                  <a:srgbClr val="6B7280"/>
                </a:solidFill>
                <a:latin typeface="Calibri" pitchFamily="34" charset="0"/>
                <a:ea typeface="Calibri" pitchFamily="34" charset="-122"/>
                <a:cs typeface="Calibri" pitchFamily="34" charset="-120"/>
              </a:rPr>
              <a:t>Recordables · YTD</a:t>
            </a:r>
            <a:endParaRPr lang="en-US" sz="950" dirty="0"/>
          </a:p>
        </p:txBody>
      </p:sp>
      <p:sp>
        <p:nvSpPr>
          <p:cNvPr id="18" name="Text 16"/>
          <p:cNvSpPr txBox="1"/>
          <p:nvPr/>
        </p:nvSpPr>
        <p:spPr>
          <a:xfrm>
            <a:off x="7496251" y="1783080"/>
            <a:ext cx="1706270" cy="411480"/>
          </a:xfrm>
          <a:prstGeom prst="rect">
            <a:avLst/>
          </a:prstGeom>
          <a:noFill/>
          <a:ln/>
        </p:spPr>
        <p:txBody>
          <a:bodyPr wrap="square" lIns="0" tIns="0" rIns="0" bIns="0" rtlCol="0" anchor="ctr"/>
          <a:lstStyle/>
          <a:p>
            <a:pPr indent="0" marL="0">
              <a:buNone/>
            </a:pPr>
            <a:r>
              <a:rPr lang="en-US" sz="3000" b="1" dirty="0">
                <a:solidFill>
                  <a:srgbClr val="D97706"/>
                </a:solidFill>
                <a:latin typeface="Calibri" pitchFamily="34" charset="0"/>
                <a:ea typeface="Calibri" pitchFamily="34" charset="-122"/>
                <a:cs typeface="Calibri" pitchFamily="34" charset="-120"/>
              </a:rPr>
              <a:t>TBC</a:t>
            </a:r>
            <a:endParaRPr lang="en-US" sz="3000" dirty="0"/>
          </a:p>
        </p:txBody>
      </p:sp>
      <p:sp>
        <p:nvSpPr>
          <p:cNvPr id="19" name="Text 17"/>
          <p:cNvSpPr txBox="1"/>
          <p:nvPr/>
        </p:nvSpPr>
        <p:spPr>
          <a:xfrm>
            <a:off x="7496251" y="2221992"/>
            <a:ext cx="1706270"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Jul 1 to date</a:t>
            </a:r>
            <a:endParaRPr lang="en-US" sz="1050" dirty="0"/>
          </a:p>
        </p:txBody>
      </p:sp>
      <p:sp>
        <p:nvSpPr>
          <p:cNvPr id="20" name="Shape 18"/>
          <p:cNvSpPr/>
          <p:nvPr/>
        </p:nvSpPr>
        <p:spPr>
          <a:xfrm>
            <a:off x="9568282" y="1371600"/>
            <a:ext cx="2072030" cy="1280160"/>
          </a:xfrm>
          <a:prstGeom prst="roundRect">
            <a:avLst>
              <a:gd name="adj" fmla="val 5714"/>
            </a:avLst>
          </a:prstGeom>
          <a:solidFill>
            <a:srgbClr val="F3F4F6"/>
          </a:solidFill>
          <a:ln w="12700">
            <a:solidFill>
              <a:srgbClr val="F3F4F6"/>
            </a:solidFill>
            <a:prstDash val="solid"/>
          </a:ln>
        </p:spPr>
      </p:sp>
      <p:sp>
        <p:nvSpPr>
          <p:cNvPr id="21" name="Text 19"/>
          <p:cNvSpPr txBox="1"/>
          <p:nvPr/>
        </p:nvSpPr>
        <p:spPr>
          <a:xfrm>
            <a:off x="9751162" y="1508760"/>
            <a:ext cx="1706270" cy="274320"/>
          </a:xfrm>
          <a:prstGeom prst="rect">
            <a:avLst/>
          </a:prstGeom>
          <a:noFill/>
          <a:ln/>
        </p:spPr>
        <p:txBody>
          <a:bodyPr wrap="square" lIns="0" tIns="0" rIns="0" bIns="0" rtlCol="0" anchor="ctr"/>
          <a:lstStyle/>
          <a:p>
            <a:pPr indent="0" marL="0">
              <a:buNone/>
            </a:pPr>
            <a:r>
              <a:rPr lang="en-US" sz="950" b="1" dirty="0">
                <a:solidFill>
                  <a:srgbClr val="6B7280"/>
                </a:solidFill>
                <a:latin typeface="Calibri" pitchFamily="34" charset="0"/>
                <a:ea typeface="Calibri" pitchFamily="34" charset="-122"/>
                <a:cs typeface="Calibri" pitchFamily="34" charset="-120"/>
              </a:rPr>
              <a:t>Days since last recordable</a:t>
            </a:r>
            <a:endParaRPr lang="en-US" sz="950" dirty="0"/>
          </a:p>
        </p:txBody>
      </p:sp>
      <p:sp>
        <p:nvSpPr>
          <p:cNvPr id="22" name="Text 20"/>
          <p:cNvSpPr txBox="1"/>
          <p:nvPr/>
        </p:nvSpPr>
        <p:spPr>
          <a:xfrm>
            <a:off x="9751162" y="1783080"/>
            <a:ext cx="1706270" cy="411480"/>
          </a:xfrm>
          <a:prstGeom prst="rect">
            <a:avLst/>
          </a:prstGeom>
          <a:noFill/>
          <a:ln/>
        </p:spPr>
        <p:txBody>
          <a:bodyPr wrap="square" lIns="0" tIns="0" rIns="0" bIns="0" rtlCol="0" anchor="ctr"/>
          <a:lstStyle/>
          <a:p>
            <a:pPr indent="0" marL="0">
              <a:buNone/>
            </a:pPr>
            <a:r>
              <a:rPr lang="en-US" sz="3000" b="1" dirty="0">
                <a:solidFill>
                  <a:srgbClr val="D97706"/>
                </a:solidFill>
                <a:latin typeface="Calibri" pitchFamily="34" charset="0"/>
                <a:ea typeface="Calibri" pitchFamily="34" charset="-122"/>
                <a:cs typeface="Calibri" pitchFamily="34" charset="-120"/>
              </a:rPr>
              <a:t>TBC</a:t>
            </a:r>
            <a:endParaRPr lang="en-US" sz="3000" dirty="0"/>
          </a:p>
        </p:txBody>
      </p:sp>
      <p:sp>
        <p:nvSpPr>
          <p:cNvPr id="23" name="Text 21"/>
          <p:cNvSpPr txBox="1"/>
          <p:nvPr/>
        </p:nvSpPr>
        <p:spPr>
          <a:xfrm>
            <a:off x="9751162" y="2221992"/>
            <a:ext cx="1706270"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As of Sep 29, 2026</a:t>
            </a:r>
            <a:endParaRPr lang="en-US" sz="1050" dirty="0"/>
          </a:p>
        </p:txBody>
      </p:sp>
      <p:sp>
        <p:nvSpPr>
          <p:cNvPr id="24" name="Text 22"/>
          <p:cNvSpPr txBox="1"/>
          <p:nvPr/>
        </p:nvSpPr>
        <p:spPr>
          <a:xfrm>
            <a:off x="548640" y="2907792"/>
            <a:ext cx="7315200" cy="365760"/>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What we do every shift</a:t>
            </a:r>
            <a:endParaRPr lang="en-US" sz="1800" dirty="0"/>
          </a:p>
        </p:txBody>
      </p:sp>
      <p:sp>
        <p:nvSpPr>
          <p:cNvPr id="25" name="Shape 23"/>
          <p:cNvSpPr/>
          <p:nvPr/>
        </p:nvSpPr>
        <p:spPr>
          <a:xfrm>
            <a:off x="548640" y="3429000"/>
            <a:ext cx="420624" cy="420624"/>
          </a:xfrm>
          <a:prstGeom prst="ellipse">
            <a:avLst/>
          </a:prstGeom>
          <a:solidFill>
            <a:srgbClr val="EDE9FE"/>
          </a:solidFill>
          <a:ln w="12700">
            <a:solidFill>
              <a:srgbClr val="EDE9FE"/>
            </a:solidFill>
            <a:prstDash val="solid"/>
          </a:ln>
        </p:spPr>
      </p:sp>
      <p:pic>
        <p:nvPicPr>
          <p:cNvPr id="26" name="Image 0" descr="preencoded.png">    </p:cNvPr>
          <p:cNvPicPr>
            <a:picLocks noChangeAspect="1"/>
          </p:cNvPicPr>
          <p:nvPr/>
        </p:nvPicPr>
        <p:blipFill>
          <a:blip r:embed="rId1"/>
          <a:stretch>
            <a:fillRect/>
          </a:stretch>
        </p:blipFill>
        <p:spPr>
          <a:xfrm>
            <a:off x="653796" y="3534156"/>
            <a:ext cx="210312" cy="210312"/>
          </a:xfrm>
          <a:prstGeom prst="rect">
            <a:avLst/>
          </a:prstGeom>
        </p:spPr>
      </p:pic>
      <p:sp>
        <p:nvSpPr>
          <p:cNvPr id="27" name="Text 24"/>
          <p:cNvSpPr txBox="1"/>
          <p:nvPr/>
        </p:nvSpPr>
        <p:spPr>
          <a:xfrm>
            <a:off x="1170432" y="3364992"/>
            <a:ext cx="10469880" cy="5486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Tailgates with the team on safety topics and safe work practices, plus specific safety moments after incidents (e.g. avoiding pinch points).</a:t>
            </a:r>
            <a:endParaRPr lang="en-US" sz="1400" dirty="0"/>
          </a:p>
        </p:txBody>
      </p:sp>
      <p:sp>
        <p:nvSpPr>
          <p:cNvPr id="28" name="Shape 25"/>
          <p:cNvSpPr/>
          <p:nvPr/>
        </p:nvSpPr>
        <p:spPr>
          <a:xfrm>
            <a:off x="548640" y="4032504"/>
            <a:ext cx="420624" cy="420624"/>
          </a:xfrm>
          <a:prstGeom prst="ellipse">
            <a:avLst/>
          </a:prstGeom>
          <a:solidFill>
            <a:srgbClr val="EDE9FE"/>
          </a:solidFill>
          <a:ln w="12700">
            <a:solidFill>
              <a:srgbClr val="EDE9FE"/>
            </a:solidFill>
            <a:prstDash val="solid"/>
          </a:ln>
        </p:spPr>
      </p:sp>
      <p:pic>
        <p:nvPicPr>
          <p:cNvPr id="29" name="Image 1" descr="preencoded.png">    </p:cNvPr>
          <p:cNvPicPr>
            <a:picLocks noChangeAspect="1"/>
          </p:cNvPicPr>
          <p:nvPr/>
        </p:nvPicPr>
        <p:blipFill>
          <a:blip r:embed="rId2"/>
          <a:stretch>
            <a:fillRect/>
          </a:stretch>
        </p:blipFill>
        <p:spPr>
          <a:xfrm>
            <a:off x="653796" y="4137660"/>
            <a:ext cx="210312" cy="210312"/>
          </a:xfrm>
          <a:prstGeom prst="rect">
            <a:avLst/>
          </a:prstGeom>
        </p:spPr>
      </p:pic>
      <p:sp>
        <p:nvSpPr>
          <p:cNvPr id="30" name="Text 26"/>
          <p:cNvSpPr txBox="1"/>
          <p:nvPr/>
        </p:nvSpPr>
        <p:spPr>
          <a:xfrm>
            <a:off x="1170432" y="3968496"/>
            <a:ext cx="10469880" cy="5486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Pre- and post-shift forklift inspections by every operator — deficiencies corrected immediately; shunt pre-trip meeting every shift using the new checklist.</a:t>
            </a:r>
            <a:endParaRPr lang="en-US" sz="1400" dirty="0"/>
          </a:p>
        </p:txBody>
      </p:sp>
      <p:sp>
        <p:nvSpPr>
          <p:cNvPr id="31" name="Shape 27"/>
          <p:cNvSpPr/>
          <p:nvPr/>
        </p:nvSpPr>
        <p:spPr>
          <a:xfrm>
            <a:off x="548640" y="4636008"/>
            <a:ext cx="420624" cy="420624"/>
          </a:xfrm>
          <a:prstGeom prst="ellipse">
            <a:avLst/>
          </a:prstGeom>
          <a:solidFill>
            <a:srgbClr val="EDE9FE"/>
          </a:solidFill>
          <a:ln w="12700">
            <a:solidFill>
              <a:srgbClr val="EDE9FE"/>
            </a:solidFill>
            <a:prstDash val="solid"/>
          </a:ln>
        </p:spPr>
      </p:sp>
      <p:pic>
        <p:nvPicPr>
          <p:cNvPr id="32" name="Image 2" descr="preencoded.png">    </p:cNvPr>
          <p:cNvPicPr>
            <a:picLocks noChangeAspect="1"/>
          </p:cNvPicPr>
          <p:nvPr/>
        </p:nvPicPr>
        <p:blipFill>
          <a:blip r:embed="rId3"/>
          <a:stretch>
            <a:fillRect/>
          </a:stretch>
        </p:blipFill>
        <p:spPr>
          <a:xfrm>
            <a:off x="653796" y="4741164"/>
            <a:ext cx="210312" cy="210312"/>
          </a:xfrm>
          <a:prstGeom prst="rect">
            <a:avLst/>
          </a:prstGeom>
        </p:spPr>
      </p:pic>
      <p:sp>
        <p:nvSpPr>
          <p:cNvPr id="33" name="Text 28"/>
          <p:cNvSpPr txBox="1"/>
          <p:nvPr/>
        </p:nvSpPr>
        <p:spPr>
          <a:xfrm>
            <a:off x="1170432" y="4572000"/>
            <a:ext cx="10469880" cy="5486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No loading forklifts on straight trucks — prevents serious injuries and forklift damage.</a:t>
            </a:r>
            <a:endParaRPr lang="en-US" sz="1400" dirty="0"/>
          </a:p>
        </p:txBody>
      </p:sp>
      <p:sp>
        <p:nvSpPr>
          <p:cNvPr id="34" name="Shape 29"/>
          <p:cNvSpPr/>
          <p:nvPr/>
        </p:nvSpPr>
        <p:spPr>
          <a:xfrm>
            <a:off x="548640" y="5239512"/>
            <a:ext cx="420624" cy="420624"/>
          </a:xfrm>
          <a:prstGeom prst="ellipse">
            <a:avLst/>
          </a:prstGeom>
          <a:solidFill>
            <a:srgbClr val="EDE9FE"/>
          </a:solidFill>
          <a:ln w="12700">
            <a:solidFill>
              <a:srgbClr val="EDE9FE"/>
            </a:solidFill>
            <a:prstDash val="solid"/>
          </a:ln>
        </p:spPr>
      </p:sp>
      <p:pic>
        <p:nvPicPr>
          <p:cNvPr id="35" name="Image 3" descr="preencoded.png">    </p:cNvPr>
          <p:cNvPicPr>
            <a:picLocks noChangeAspect="1"/>
          </p:cNvPicPr>
          <p:nvPr/>
        </p:nvPicPr>
        <p:blipFill>
          <a:blip r:embed="rId4"/>
          <a:stretch>
            <a:fillRect/>
          </a:stretch>
        </p:blipFill>
        <p:spPr>
          <a:xfrm>
            <a:off x="653796" y="5344668"/>
            <a:ext cx="210312" cy="210312"/>
          </a:xfrm>
          <a:prstGeom prst="rect">
            <a:avLst/>
          </a:prstGeom>
        </p:spPr>
      </p:pic>
      <p:sp>
        <p:nvSpPr>
          <p:cNvPr id="36" name="Text 30"/>
          <p:cNvSpPr txBox="1"/>
          <p:nvPr/>
        </p:nvSpPr>
        <p:spPr>
          <a:xfrm>
            <a:off x="1170432" y="5175504"/>
            <a:ext cx="10469880" cy="5486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Safety equipment and dock conditions inspected and documented on H&amp;S inspection sheets, collected monthly by OHS and fully reviewed at JHSC.</a:t>
            </a:r>
            <a:endParaRPr lang="en-US" sz="1400" dirty="0"/>
          </a:p>
        </p:txBody>
      </p:sp>
      <p:sp>
        <p:nvSpPr>
          <p:cNvPr id="37" name="Shape 31"/>
          <p:cNvSpPr/>
          <p:nvPr/>
        </p:nvSpPr>
        <p:spPr>
          <a:xfrm>
            <a:off x="548640" y="5843016"/>
            <a:ext cx="420624" cy="420624"/>
          </a:xfrm>
          <a:prstGeom prst="ellipse">
            <a:avLst/>
          </a:prstGeom>
          <a:solidFill>
            <a:srgbClr val="EDE9FE"/>
          </a:solidFill>
          <a:ln w="12700">
            <a:solidFill>
              <a:srgbClr val="EDE9FE"/>
            </a:solidFill>
            <a:prstDash val="solid"/>
          </a:ln>
        </p:spPr>
      </p:sp>
      <p:pic>
        <p:nvPicPr>
          <p:cNvPr id="38" name="Image 4" descr="preencoded.png">    </p:cNvPr>
          <p:cNvPicPr>
            <a:picLocks noChangeAspect="1"/>
          </p:cNvPicPr>
          <p:nvPr/>
        </p:nvPicPr>
        <p:blipFill>
          <a:blip r:embed="rId5"/>
          <a:stretch>
            <a:fillRect/>
          </a:stretch>
        </p:blipFill>
        <p:spPr>
          <a:xfrm>
            <a:off x="653796" y="5948172"/>
            <a:ext cx="210312" cy="210312"/>
          </a:xfrm>
          <a:prstGeom prst="rect">
            <a:avLst/>
          </a:prstGeom>
        </p:spPr>
      </p:pic>
      <p:sp>
        <p:nvSpPr>
          <p:cNvPr id="39" name="Text 32"/>
          <p:cNvSpPr txBox="1"/>
          <p:nvPr/>
        </p:nvSpPr>
        <p:spPr>
          <a:xfrm>
            <a:off x="1170432" y="5779008"/>
            <a:ext cx="10469880" cy="5486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Supervisors and managers address any non-compliance on the spot and report it in their STEP observations.</a:t>
            </a:r>
            <a:endParaRPr lang="en-US" sz="1400" dirty="0"/>
          </a:p>
        </p:txBody>
      </p:sp>
      <p:sp>
        <p:nvSpPr>
          <p:cNvPr id="40" name="Text 33"/>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Mississauga Terminal · F27 Senior Leadership Review · Sep 29, 2026</a:t>
            </a:r>
            <a:endParaRPr lang="en-US" sz="900" dirty="0"/>
          </a:p>
        </p:txBody>
      </p:sp>
      <p:sp>
        <p:nvSpPr>
          <p:cNvPr id="41" name="Text 34"/>
          <p:cNvSpPr txBox="1"/>
          <p:nvPr/>
        </p:nvSpPr>
        <p:spPr>
          <a:xfrm>
            <a:off x="10725912" y="6473952"/>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 / 21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Calibri" pitchFamily="34" charset="0"/>
                <a:ea typeface="Calibri" pitchFamily="34" charset="-122"/>
                <a:cs typeface="Calibri" pitchFamily="34" charset="-120"/>
              </a:rPr>
              <a:t>SAFETY</a:t>
            </a:r>
            <a:endParaRPr lang="en-US" sz="1200" dirty="0"/>
          </a:p>
        </p:txBody>
      </p:sp>
      <p:sp>
        <p:nvSpPr>
          <p:cNvPr id="3" name="Text 1"/>
          <p:cNvSpPr txBox="1"/>
          <p:nvPr/>
        </p:nvSpPr>
        <p:spPr>
          <a:xfrm>
            <a:off x="548640" y="603504"/>
            <a:ext cx="11091672" cy="603504"/>
          </a:xfrm>
          <a:prstGeom prst="rect">
            <a:avLst/>
          </a:prstGeom>
          <a:noFill/>
          <a:ln/>
        </p:spPr>
        <p:txBody>
          <a:bodyPr wrap="square" lIns="0" tIns="0" rIns="0" bIns="0" rtlCol="0" anchor="t"/>
          <a:lstStyle/>
          <a:p>
            <a:pPr indent="0" marL="0">
              <a:buNone/>
            </a:pPr>
            <a:r>
              <a:rPr lang="en-US" sz="3000" b="1" dirty="0">
                <a:solidFill>
                  <a:srgbClr val="111827"/>
                </a:solidFill>
                <a:latin typeface="Calibri" pitchFamily="34" charset="0"/>
                <a:ea typeface="Calibri" pitchFamily="34" charset="-122"/>
                <a:cs typeface="Calibri" pitchFamily="34" charset="-120"/>
              </a:rPr>
              <a:t>Incident reporting &amp; site-specific initiatives</a:t>
            </a:r>
            <a:endParaRPr lang="en-US" sz="3000" dirty="0"/>
          </a:p>
        </p:txBody>
      </p:sp>
      <p:sp>
        <p:nvSpPr>
          <p:cNvPr id="4" name="Shape 2"/>
          <p:cNvSpPr/>
          <p:nvPr/>
        </p:nvSpPr>
        <p:spPr>
          <a:xfrm>
            <a:off x="548640" y="1371600"/>
            <a:ext cx="5486400" cy="4846320"/>
          </a:xfrm>
          <a:prstGeom prst="roundRect">
            <a:avLst>
              <a:gd name="adj" fmla="val 1509"/>
            </a:avLst>
          </a:prstGeom>
          <a:solidFill>
            <a:srgbClr val="F3F4F6"/>
          </a:solidFill>
          <a:ln w="12700">
            <a:solidFill>
              <a:srgbClr val="F3F4F6"/>
            </a:solidFill>
            <a:prstDash val="solid"/>
          </a:ln>
        </p:spPr>
      </p:sp>
      <p:sp>
        <p:nvSpPr>
          <p:cNvPr id="5" name="Shape 3"/>
          <p:cNvSpPr/>
          <p:nvPr/>
        </p:nvSpPr>
        <p:spPr>
          <a:xfrm>
            <a:off x="822960" y="1645920"/>
            <a:ext cx="548640" cy="548640"/>
          </a:xfrm>
          <a:prstGeom prst="ellipse">
            <a:avLst/>
          </a:prstGeom>
          <a:solidFill>
            <a:srgbClr val="EDE9FE"/>
          </a:solidFill>
          <a:ln w="12700">
            <a:solidFill>
              <a:srgbClr val="EDE9FE"/>
            </a:solidFill>
            <a:prstDash val="solid"/>
          </a:ln>
        </p:spPr>
      </p:sp>
      <p:pic>
        <p:nvPicPr>
          <p:cNvPr id="6" name="Image 0" descr="preencoded.png">    </p:cNvPr>
          <p:cNvPicPr>
            <a:picLocks noChangeAspect="1"/>
          </p:cNvPicPr>
          <p:nvPr/>
        </p:nvPicPr>
        <p:blipFill>
          <a:blip r:embed="rId1"/>
          <a:stretch>
            <a:fillRect/>
          </a:stretch>
        </p:blipFill>
        <p:spPr>
          <a:xfrm>
            <a:off x="960120" y="1783080"/>
            <a:ext cx="274320" cy="274320"/>
          </a:xfrm>
          <a:prstGeom prst="rect">
            <a:avLst/>
          </a:prstGeom>
        </p:spPr>
      </p:pic>
      <p:sp>
        <p:nvSpPr>
          <p:cNvPr id="7" name="Text 4"/>
          <p:cNvSpPr txBox="1"/>
          <p:nvPr/>
        </p:nvSpPr>
        <p:spPr>
          <a:xfrm>
            <a:off x="1554480" y="1719072"/>
            <a:ext cx="4297680" cy="411480"/>
          </a:xfrm>
          <a:prstGeom prst="rect">
            <a:avLst/>
          </a:prstGeom>
          <a:noFill/>
          <a:ln/>
        </p:spPr>
        <p:txBody>
          <a:bodyPr wrap="square" lIns="0" tIns="0" rIns="0" bIns="0" rtlCol="0" anchor="ctr"/>
          <a:lstStyle/>
          <a:p>
            <a:pPr indent="0" marL="0">
              <a:buNone/>
            </a:pPr>
            <a:r>
              <a:rPr lang="en-US" sz="2000" b="1" dirty="0">
                <a:solidFill>
                  <a:srgbClr val="111827"/>
                </a:solidFill>
                <a:latin typeface="Calibri" pitchFamily="34" charset="0"/>
                <a:ea typeface="Calibri" pitchFamily="34" charset="-122"/>
                <a:cs typeface="Calibri" pitchFamily="34" charset="-120"/>
              </a:rPr>
              <a:t>Incident reporting &amp; training</a:t>
            </a:r>
            <a:endParaRPr lang="en-US" sz="2000" dirty="0"/>
          </a:p>
        </p:txBody>
      </p:sp>
      <p:sp>
        <p:nvSpPr>
          <p:cNvPr id="8" name="Text 5"/>
          <p:cNvSpPr txBox="1"/>
          <p:nvPr/>
        </p:nvSpPr>
        <p:spPr>
          <a:xfrm>
            <a:off x="868680" y="2423160"/>
            <a:ext cx="4892040" cy="3611880"/>
          </a:xfrm>
          <a:prstGeom prst="rect">
            <a:avLst/>
          </a:prstGeom>
          <a:noFill/>
          <a:ln/>
        </p:spPr>
        <p:txBody>
          <a:bodyPr wrap="square" lIns="0" tIns="0" rIns="0" bIns="0" rtlCol="0" anchor="t"/>
          <a:lstStyle/>
          <a:p>
            <a:pPr marL="203200" indent="-203200">
              <a:spcAft>
                <a:spcPts val="1200"/>
              </a:spcAft>
              <a:buSzPct val="100000"/>
              <a:buChar char="•"/>
            </a:pPr>
            <a:r>
              <a:rPr lang="en-US" sz="1400" dirty="0">
                <a:solidFill>
                  <a:srgbClr val="1F2937"/>
                </a:solidFill>
                <a:latin typeface="Calibri" pitchFamily="34" charset="0"/>
                <a:ea typeface="Calibri" pitchFamily="34" charset="-122"/>
                <a:cs typeface="Calibri" pitchFamily="34" charset="-120"/>
              </a:rPr>
              <a:t>Incidents reported promptly — supervisors and managers work directly with OHS on WSIB forms and a safe return to work.</a:t>
            </a:r>
            <a:endParaRPr lang="en-US" sz="1400" dirty="0"/>
          </a:p>
          <a:p>
            <a:pPr marL="203200" indent="-203200">
              <a:spcAft>
                <a:spcPts val="1200"/>
              </a:spcAft>
              <a:buSzPct val="100000"/>
              <a:buChar char="•"/>
            </a:pPr>
            <a:r>
              <a:rPr lang="en-US" sz="1400" dirty="0">
                <a:solidFill>
                  <a:srgbClr val="1F2937"/>
                </a:solidFill>
                <a:latin typeface="Calibri" pitchFamily="34" charset="0"/>
                <a:ea typeface="Calibri" pitchFamily="34" charset="-122"/>
                <a:cs typeface="Calibri" pitchFamily="34" charset="-120"/>
              </a:rPr>
              <a:t>Detailed incident descriptions; root cause identified with OHS; corrective action plans implemented and follow-up prioritized so controls prevent recurrence.</a:t>
            </a:r>
            <a:endParaRPr lang="en-US" sz="1400" dirty="0"/>
          </a:p>
          <a:p>
            <a:pPr marL="203200" indent="-203200">
              <a:spcAft>
                <a:spcPts val="1200"/>
              </a:spcAft>
              <a:buSzPct val="100000"/>
              <a:buChar char="•"/>
            </a:pPr>
            <a:r>
              <a:rPr lang="en-US" sz="1400" dirty="0">
                <a:solidFill>
                  <a:srgbClr val="1F2937"/>
                </a:solidFill>
                <a:latin typeface="Calibri" pitchFamily="34" charset="0"/>
                <a:ea typeface="Calibri" pitchFamily="34" charset="-122"/>
                <a:cs typeface="Calibri" pitchFamily="34" charset="-120"/>
              </a:rPr>
              <a:t>Monthly safety e-learning for managers and supervisors on topics tied to our operation.</a:t>
            </a:r>
            <a:endParaRPr lang="en-US" sz="1400" dirty="0"/>
          </a:p>
          <a:p>
            <a:pPr marL="203200" indent="-203200">
              <a:spcAft>
                <a:spcPts val="1200"/>
              </a:spcAft>
              <a:buSzPct val="100000"/>
              <a:buChar char="•"/>
            </a:pPr>
            <a:r>
              <a:rPr lang="en-US" sz="1400" dirty="0">
                <a:solidFill>
                  <a:srgbClr val="1F2937"/>
                </a:solidFill>
                <a:latin typeface="Calibri" pitchFamily="34" charset="0"/>
                <a:ea typeface="Calibri" pitchFamily="34" charset="-122"/>
                <a:cs typeface="Calibri" pitchFamily="34" charset="-120"/>
              </a:rPr>
              <a:t>Forklift and TDG training completed before expiry.</a:t>
            </a:r>
            <a:endParaRPr lang="en-US" sz="1400" dirty="0"/>
          </a:p>
        </p:txBody>
      </p:sp>
      <p:sp>
        <p:nvSpPr>
          <p:cNvPr id="9" name="Shape 6"/>
          <p:cNvSpPr/>
          <p:nvPr/>
        </p:nvSpPr>
        <p:spPr>
          <a:xfrm>
            <a:off x="6336792" y="1371600"/>
            <a:ext cx="5303520" cy="4846320"/>
          </a:xfrm>
          <a:prstGeom prst="roundRect">
            <a:avLst>
              <a:gd name="adj" fmla="val 1509"/>
            </a:avLst>
          </a:prstGeom>
          <a:solidFill>
            <a:srgbClr val="F5F3FF"/>
          </a:solidFill>
          <a:ln w="12700">
            <a:solidFill>
              <a:srgbClr val="F5F3FF"/>
            </a:solidFill>
            <a:prstDash val="solid"/>
          </a:ln>
        </p:spPr>
      </p:sp>
      <p:sp>
        <p:nvSpPr>
          <p:cNvPr id="10" name="Shape 7"/>
          <p:cNvSpPr/>
          <p:nvPr/>
        </p:nvSpPr>
        <p:spPr>
          <a:xfrm>
            <a:off x="6611112" y="1645920"/>
            <a:ext cx="548640" cy="548640"/>
          </a:xfrm>
          <a:prstGeom prst="ellipse">
            <a:avLst/>
          </a:prstGeom>
          <a:solidFill>
            <a:srgbClr val="7C3AED"/>
          </a:solidFill>
          <a:ln w="12700">
            <a:solidFill>
              <a:srgbClr val="7C3AED"/>
            </a:solidFill>
            <a:prstDash val="solid"/>
          </a:ln>
        </p:spPr>
      </p:sp>
      <p:pic>
        <p:nvPicPr>
          <p:cNvPr id="11" name="Image 1" descr="preencoded.png">    </p:cNvPr>
          <p:cNvPicPr>
            <a:picLocks noChangeAspect="1"/>
          </p:cNvPicPr>
          <p:nvPr/>
        </p:nvPicPr>
        <p:blipFill>
          <a:blip r:embed="rId2"/>
          <a:stretch>
            <a:fillRect/>
          </a:stretch>
        </p:blipFill>
        <p:spPr>
          <a:xfrm>
            <a:off x="6748272" y="1783080"/>
            <a:ext cx="274320" cy="274320"/>
          </a:xfrm>
          <a:prstGeom prst="rect">
            <a:avLst/>
          </a:prstGeom>
        </p:spPr>
      </p:pic>
      <p:sp>
        <p:nvSpPr>
          <p:cNvPr id="12" name="Text 8"/>
          <p:cNvSpPr txBox="1"/>
          <p:nvPr/>
        </p:nvSpPr>
        <p:spPr>
          <a:xfrm>
            <a:off x="7342632" y="1719072"/>
            <a:ext cx="4023360" cy="411480"/>
          </a:xfrm>
          <a:prstGeom prst="rect">
            <a:avLst/>
          </a:prstGeom>
          <a:noFill/>
          <a:ln/>
        </p:spPr>
        <p:txBody>
          <a:bodyPr wrap="square" lIns="0" tIns="0" rIns="0" bIns="0" rtlCol="0" anchor="ctr"/>
          <a:lstStyle/>
          <a:p>
            <a:pPr indent="0" marL="0">
              <a:buNone/>
            </a:pPr>
            <a:r>
              <a:rPr lang="en-US" sz="2000" b="1" dirty="0">
                <a:solidFill>
                  <a:srgbClr val="111827"/>
                </a:solidFill>
                <a:latin typeface="Calibri" pitchFamily="34" charset="0"/>
                <a:ea typeface="Calibri" pitchFamily="34" charset="-122"/>
                <a:cs typeface="Calibri" pitchFamily="34" charset="-120"/>
              </a:rPr>
              <a:t>Site-specific initiatives</a:t>
            </a:r>
            <a:endParaRPr lang="en-US" sz="2000" dirty="0"/>
          </a:p>
        </p:txBody>
      </p:sp>
      <p:sp>
        <p:nvSpPr>
          <p:cNvPr id="13" name="Shape 9"/>
          <p:cNvSpPr/>
          <p:nvPr/>
        </p:nvSpPr>
        <p:spPr>
          <a:xfrm>
            <a:off x="6611112" y="2450592"/>
            <a:ext cx="384048" cy="384048"/>
          </a:xfrm>
          <a:prstGeom prst="ellipse">
            <a:avLst/>
          </a:prstGeom>
          <a:solidFill>
            <a:srgbClr val="7C3AED"/>
          </a:solidFill>
          <a:ln w="12700">
            <a:solidFill>
              <a:srgbClr val="7C3AED"/>
            </a:solidFill>
            <a:prstDash val="solid"/>
          </a:ln>
        </p:spPr>
      </p:sp>
      <p:sp>
        <p:nvSpPr>
          <p:cNvPr id="14" name="Text 10"/>
          <p:cNvSpPr txBox="1"/>
          <p:nvPr/>
        </p:nvSpPr>
        <p:spPr>
          <a:xfrm>
            <a:off x="6611112" y="24505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Text 11"/>
          <p:cNvSpPr txBox="1"/>
          <p:nvPr/>
        </p:nvSpPr>
        <p:spPr>
          <a:xfrm>
            <a:off x="7178040" y="2423160"/>
            <a:ext cx="4206240" cy="16916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Roofing work over the dock: work areas identified and barricaded so no one enters zones under overhead work (falling-debris risk); N95 masks readily available on the dock to minimize airborne debris exposure.</a:t>
            </a:r>
            <a:endParaRPr lang="en-US" sz="1400" dirty="0"/>
          </a:p>
        </p:txBody>
      </p:sp>
      <p:sp>
        <p:nvSpPr>
          <p:cNvPr id="16" name="Shape 12"/>
          <p:cNvSpPr/>
          <p:nvPr/>
        </p:nvSpPr>
        <p:spPr>
          <a:xfrm>
            <a:off x="6611112" y="4233672"/>
            <a:ext cx="384048" cy="384048"/>
          </a:xfrm>
          <a:prstGeom prst="ellipse">
            <a:avLst/>
          </a:prstGeom>
          <a:solidFill>
            <a:srgbClr val="7C3AED"/>
          </a:solidFill>
          <a:ln w="12700">
            <a:solidFill>
              <a:srgbClr val="7C3AED"/>
            </a:solidFill>
            <a:prstDash val="solid"/>
          </a:ln>
        </p:spPr>
      </p:sp>
      <p:sp>
        <p:nvSpPr>
          <p:cNvPr id="17" name="Text 13"/>
          <p:cNvSpPr txBox="1"/>
          <p:nvPr/>
        </p:nvSpPr>
        <p:spPr>
          <a:xfrm>
            <a:off x="6611112" y="42336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txBox="1"/>
          <p:nvPr/>
        </p:nvSpPr>
        <p:spPr>
          <a:xfrm>
            <a:off x="7178040" y="4206240"/>
            <a:ext cx="4206240" cy="7772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Safety moments after every incident to share the specific learning with the whole team.</a:t>
            </a:r>
            <a:endParaRPr lang="en-US" sz="1400" dirty="0"/>
          </a:p>
        </p:txBody>
      </p:sp>
      <p:sp>
        <p:nvSpPr>
          <p:cNvPr id="19" name="Shape 15"/>
          <p:cNvSpPr/>
          <p:nvPr/>
        </p:nvSpPr>
        <p:spPr>
          <a:xfrm>
            <a:off x="6611112" y="5120640"/>
            <a:ext cx="4754880" cy="868680"/>
          </a:xfrm>
          <a:prstGeom prst="roundRect">
            <a:avLst>
              <a:gd name="adj" fmla="val 8421"/>
            </a:avLst>
          </a:prstGeom>
          <a:solidFill>
            <a:srgbClr val="FFFFFF"/>
          </a:solidFill>
          <a:ln w="12700">
            <a:solidFill>
              <a:srgbClr val="FFFFFF"/>
            </a:solidFill>
            <a:prstDash val="solid"/>
          </a:ln>
        </p:spPr>
      </p:sp>
      <p:sp>
        <p:nvSpPr>
          <p:cNvPr id="20" name="Text 16"/>
          <p:cNvSpPr txBox="1"/>
          <p:nvPr/>
        </p:nvSpPr>
        <p:spPr>
          <a:xfrm>
            <a:off x="6812280" y="5120640"/>
            <a:ext cx="2926080" cy="868680"/>
          </a:xfrm>
          <a:prstGeom prst="rect">
            <a:avLst/>
          </a:prstGeom>
          <a:noFill/>
          <a:ln/>
        </p:spPr>
        <p:txBody>
          <a:bodyPr wrap="square" lIns="0" tIns="0" rIns="0" bIns="0"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STEP observations · MTD</a:t>
            </a:r>
            <a:endParaRPr lang="en-US" sz="1300" dirty="0"/>
          </a:p>
        </p:txBody>
      </p:sp>
      <p:sp>
        <p:nvSpPr>
          <p:cNvPr id="21" name="Text 17"/>
          <p:cNvSpPr txBox="1"/>
          <p:nvPr/>
        </p:nvSpPr>
        <p:spPr>
          <a:xfrm>
            <a:off x="9555480" y="5120640"/>
            <a:ext cx="1645920" cy="868680"/>
          </a:xfrm>
          <a:prstGeom prst="rect">
            <a:avLst/>
          </a:prstGeom>
          <a:noFill/>
          <a:ln/>
        </p:spPr>
        <p:txBody>
          <a:bodyPr wrap="square" lIns="0" tIns="0" rIns="0" bIns="0" rtlCol="0" anchor="ctr"/>
          <a:lstStyle/>
          <a:p>
            <a:pPr algn="r" indent="0" marL="0">
              <a:buNone/>
            </a:pPr>
            <a:r>
              <a:rPr lang="en-US" sz="2600" b="1" dirty="0">
                <a:solidFill>
                  <a:srgbClr val="D97706"/>
                </a:solidFill>
                <a:latin typeface="Calibri" pitchFamily="34" charset="0"/>
                <a:ea typeface="Calibri" pitchFamily="34" charset="-122"/>
                <a:cs typeface="Calibri" pitchFamily="34" charset="-120"/>
              </a:rPr>
              <a:t>TBC</a:t>
            </a:r>
            <a:endParaRPr lang="en-US" sz="2600" dirty="0"/>
          </a:p>
        </p:txBody>
      </p:sp>
      <p:sp>
        <p:nvSpPr>
          <p:cNvPr id="22" name="Text 18"/>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Mississauga Terminal · F27 Senior Leadership Review · Sep 29, 2026</a:t>
            </a:r>
            <a:endParaRPr lang="en-US" sz="900" dirty="0"/>
          </a:p>
        </p:txBody>
      </p:sp>
      <p:sp>
        <p:nvSpPr>
          <p:cNvPr id="23" name="Text 19"/>
          <p:cNvSpPr txBox="1"/>
          <p:nvPr/>
        </p:nvSpPr>
        <p:spPr>
          <a:xfrm>
            <a:off x="10725912" y="6473952"/>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4 / 21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Calibri" pitchFamily="34" charset="0"/>
                <a:ea typeface="Calibri" pitchFamily="34" charset="-122"/>
                <a:cs typeface="Calibri" pitchFamily="34" charset="-120"/>
              </a:rPr>
              <a:t>SERVICE</a:t>
            </a:r>
            <a:endParaRPr lang="en-US" sz="1200" dirty="0"/>
          </a:p>
        </p:txBody>
      </p:sp>
      <p:sp>
        <p:nvSpPr>
          <p:cNvPr id="3" name="Text 1"/>
          <p:cNvSpPr txBox="1"/>
          <p:nvPr/>
        </p:nvSpPr>
        <p:spPr>
          <a:xfrm>
            <a:off x="548640" y="603504"/>
            <a:ext cx="11091672" cy="603504"/>
          </a:xfrm>
          <a:prstGeom prst="rect">
            <a:avLst/>
          </a:prstGeom>
          <a:noFill/>
          <a:ln/>
        </p:spPr>
        <p:txBody>
          <a:bodyPr wrap="square" lIns="0" tIns="0" rIns="0" bIns="0" rtlCol="0" anchor="t"/>
          <a:lstStyle/>
          <a:p>
            <a:pPr indent="0" marL="0">
              <a:buNone/>
            </a:pPr>
            <a:r>
              <a:rPr lang="en-US" sz="3000" b="1" dirty="0">
                <a:solidFill>
                  <a:srgbClr val="111827"/>
                </a:solidFill>
                <a:latin typeface="Calibri" pitchFamily="34" charset="0"/>
                <a:ea typeface="Calibri" pitchFamily="34" charset="-122"/>
                <a:cs typeface="Calibri" pitchFamily="34" charset="-120"/>
              </a:rPr>
              <a:t>Service — On-time service (adjusted)</a:t>
            </a:r>
            <a:endParaRPr lang="en-US" sz="3000" dirty="0"/>
          </a:p>
        </p:txBody>
      </p:sp>
      <p:sp>
        <p:nvSpPr>
          <p:cNvPr id="4" name="Shape 2"/>
          <p:cNvSpPr/>
          <p:nvPr/>
        </p:nvSpPr>
        <p:spPr>
          <a:xfrm>
            <a:off x="548640" y="1325880"/>
            <a:ext cx="2635758" cy="1188720"/>
          </a:xfrm>
          <a:prstGeom prst="roundRect">
            <a:avLst>
              <a:gd name="adj" fmla="val 6154"/>
            </a:avLst>
          </a:prstGeom>
          <a:solidFill>
            <a:srgbClr val="F3F4F6"/>
          </a:solidFill>
          <a:ln w="12700">
            <a:solidFill>
              <a:srgbClr val="F3F4F6"/>
            </a:solidFill>
            <a:prstDash val="solid"/>
          </a:ln>
        </p:spPr>
      </p:sp>
      <p:sp>
        <p:nvSpPr>
          <p:cNvPr id="5" name="Text 3"/>
          <p:cNvSpPr txBox="1"/>
          <p:nvPr/>
        </p:nvSpPr>
        <p:spPr>
          <a:xfrm>
            <a:off x="731520" y="1463040"/>
            <a:ext cx="2269998"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Sept · incl. partner carriers</a:t>
            </a:r>
            <a:endParaRPr lang="en-US" sz="1100" dirty="0"/>
          </a:p>
        </p:txBody>
      </p:sp>
      <p:sp>
        <p:nvSpPr>
          <p:cNvPr id="6" name="Text 4"/>
          <p:cNvSpPr txBox="1"/>
          <p:nvPr/>
        </p:nvSpPr>
        <p:spPr>
          <a:xfrm>
            <a:off x="731520" y="1737360"/>
            <a:ext cx="2269998" cy="320040"/>
          </a:xfrm>
          <a:prstGeom prst="rect">
            <a:avLst/>
          </a:prstGeom>
          <a:noFill/>
          <a:ln/>
        </p:spPr>
        <p:txBody>
          <a:bodyPr wrap="square" lIns="0" tIns="0" rIns="0" bIns="0" rtlCol="0" anchor="ctr"/>
          <a:lstStyle/>
          <a:p>
            <a:pPr indent="0" marL="0">
              <a:buNone/>
            </a:pPr>
            <a:r>
              <a:rPr lang="en-US" sz="2600" b="1" dirty="0">
                <a:solidFill>
                  <a:srgbClr val="059669"/>
                </a:solidFill>
                <a:latin typeface="Calibri" pitchFamily="34" charset="0"/>
                <a:ea typeface="Calibri" pitchFamily="34" charset="-122"/>
                <a:cs typeface="Calibri" pitchFamily="34" charset="-120"/>
              </a:rPr>
              <a:t>93.7%</a:t>
            </a:r>
            <a:endParaRPr lang="en-US" sz="2600" dirty="0"/>
          </a:p>
        </p:txBody>
      </p:sp>
      <p:sp>
        <p:nvSpPr>
          <p:cNvPr id="7" name="Text 5"/>
          <p:cNvSpPr txBox="1"/>
          <p:nvPr/>
        </p:nvSpPr>
        <p:spPr>
          <a:xfrm>
            <a:off x="731520" y="2084832"/>
            <a:ext cx="2269998"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Sep 1–28 · F27</a:t>
            </a:r>
            <a:endParaRPr lang="en-US" sz="1050" dirty="0"/>
          </a:p>
        </p:txBody>
      </p:sp>
      <p:sp>
        <p:nvSpPr>
          <p:cNvPr id="8" name="Shape 6"/>
          <p:cNvSpPr/>
          <p:nvPr/>
        </p:nvSpPr>
        <p:spPr>
          <a:xfrm>
            <a:off x="3367278" y="1325880"/>
            <a:ext cx="2635758" cy="1188720"/>
          </a:xfrm>
          <a:prstGeom prst="roundRect">
            <a:avLst>
              <a:gd name="adj" fmla="val 6154"/>
            </a:avLst>
          </a:prstGeom>
          <a:solidFill>
            <a:srgbClr val="F3F4F6"/>
          </a:solidFill>
          <a:ln w="12700">
            <a:solidFill>
              <a:srgbClr val="F3F4F6"/>
            </a:solidFill>
            <a:prstDash val="solid"/>
          </a:ln>
        </p:spPr>
      </p:sp>
      <p:sp>
        <p:nvSpPr>
          <p:cNvPr id="9" name="Text 7"/>
          <p:cNvSpPr txBox="1"/>
          <p:nvPr/>
        </p:nvSpPr>
        <p:spPr>
          <a:xfrm>
            <a:off x="3550158" y="1463040"/>
            <a:ext cx="2269998"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Sept · excl. partner carriers</a:t>
            </a:r>
            <a:endParaRPr lang="en-US" sz="1100" dirty="0"/>
          </a:p>
        </p:txBody>
      </p:sp>
      <p:sp>
        <p:nvSpPr>
          <p:cNvPr id="10" name="Text 8"/>
          <p:cNvSpPr txBox="1"/>
          <p:nvPr/>
        </p:nvSpPr>
        <p:spPr>
          <a:xfrm>
            <a:off x="3550158" y="1737360"/>
            <a:ext cx="2269998" cy="320040"/>
          </a:xfrm>
          <a:prstGeom prst="rect">
            <a:avLst/>
          </a:prstGeom>
          <a:noFill/>
          <a:ln/>
        </p:spPr>
        <p:txBody>
          <a:bodyPr wrap="square" lIns="0" tIns="0" rIns="0" bIns="0" rtlCol="0" anchor="ctr"/>
          <a:lstStyle/>
          <a:p>
            <a:pPr indent="0" marL="0">
              <a:buNone/>
            </a:pPr>
            <a:r>
              <a:rPr lang="en-US" sz="2600" b="1" dirty="0">
                <a:solidFill>
                  <a:srgbClr val="059669"/>
                </a:solidFill>
                <a:latin typeface="Calibri" pitchFamily="34" charset="0"/>
                <a:ea typeface="Calibri" pitchFamily="34" charset="-122"/>
                <a:cs typeface="Calibri" pitchFamily="34" charset="-120"/>
              </a:rPr>
              <a:t>96.7%</a:t>
            </a:r>
            <a:endParaRPr lang="en-US" sz="2600" dirty="0"/>
          </a:p>
        </p:txBody>
      </p:sp>
      <p:sp>
        <p:nvSpPr>
          <p:cNvPr id="11" name="Text 9"/>
          <p:cNvSpPr txBox="1"/>
          <p:nvPr/>
        </p:nvSpPr>
        <p:spPr>
          <a:xfrm>
            <a:off x="3550158" y="2084832"/>
            <a:ext cx="2269998"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Partner freight excluded</a:t>
            </a:r>
            <a:endParaRPr lang="en-US" sz="1050" dirty="0"/>
          </a:p>
        </p:txBody>
      </p:sp>
      <p:sp>
        <p:nvSpPr>
          <p:cNvPr id="12" name="Shape 10"/>
          <p:cNvSpPr/>
          <p:nvPr/>
        </p:nvSpPr>
        <p:spPr>
          <a:xfrm>
            <a:off x="6185916" y="1325880"/>
            <a:ext cx="2635758" cy="1188720"/>
          </a:xfrm>
          <a:prstGeom prst="roundRect">
            <a:avLst>
              <a:gd name="adj" fmla="val 6154"/>
            </a:avLst>
          </a:prstGeom>
          <a:solidFill>
            <a:srgbClr val="F3F4F6"/>
          </a:solidFill>
          <a:ln w="12700">
            <a:solidFill>
              <a:srgbClr val="F3F4F6"/>
            </a:solidFill>
            <a:prstDash val="solid"/>
          </a:ln>
        </p:spPr>
      </p:sp>
      <p:sp>
        <p:nvSpPr>
          <p:cNvPr id="13" name="Text 11"/>
          <p:cNvSpPr txBox="1"/>
          <p:nvPr/>
        </p:nvSpPr>
        <p:spPr>
          <a:xfrm>
            <a:off x="6368796" y="1463040"/>
            <a:ext cx="2269998"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Last 7 days · Sep 22–28</a:t>
            </a:r>
            <a:endParaRPr lang="en-US" sz="1100" dirty="0"/>
          </a:p>
        </p:txBody>
      </p:sp>
      <p:sp>
        <p:nvSpPr>
          <p:cNvPr id="14" name="Text 12"/>
          <p:cNvSpPr txBox="1"/>
          <p:nvPr/>
        </p:nvSpPr>
        <p:spPr>
          <a:xfrm>
            <a:off x="6368796" y="1737360"/>
            <a:ext cx="2269998" cy="320040"/>
          </a:xfrm>
          <a:prstGeom prst="rect">
            <a:avLst/>
          </a:prstGeom>
          <a:noFill/>
          <a:ln/>
        </p:spPr>
        <p:txBody>
          <a:bodyPr wrap="square" lIns="0" tIns="0" rIns="0" bIns="0" rtlCol="0" anchor="ctr"/>
          <a:lstStyle/>
          <a:p>
            <a:pPr indent="0" marL="0">
              <a:buNone/>
            </a:pPr>
            <a:r>
              <a:rPr lang="en-US" sz="2600" b="1" dirty="0">
                <a:solidFill>
                  <a:srgbClr val="059669"/>
                </a:solidFill>
                <a:latin typeface="Calibri" pitchFamily="34" charset="0"/>
                <a:ea typeface="Calibri" pitchFamily="34" charset="-122"/>
                <a:cs typeface="Calibri" pitchFamily="34" charset="-120"/>
              </a:rPr>
              <a:t>94.35%</a:t>
            </a:r>
            <a:endParaRPr lang="en-US" sz="2600" dirty="0"/>
          </a:p>
        </p:txBody>
      </p:sp>
      <p:sp>
        <p:nvSpPr>
          <p:cNvPr id="15" name="Text 13"/>
          <p:cNvSpPr txBox="1"/>
          <p:nvPr/>
        </p:nvSpPr>
        <p:spPr>
          <a:xfrm>
            <a:off x="6368796" y="2084832"/>
            <a:ext cx="2269998"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Wk 40: 95.8% incl. · 97.8% excl.</a:t>
            </a:r>
            <a:endParaRPr lang="en-US" sz="1050" dirty="0"/>
          </a:p>
        </p:txBody>
      </p:sp>
      <p:sp>
        <p:nvSpPr>
          <p:cNvPr id="16" name="Shape 14"/>
          <p:cNvSpPr/>
          <p:nvPr/>
        </p:nvSpPr>
        <p:spPr>
          <a:xfrm>
            <a:off x="9004554" y="1325880"/>
            <a:ext cx="2635758" cy="1188720"/>
          </a:xfrm>
          <a:prstGeom prst="roundRect">
            <a:avLst>
              <a:gd name="adj" fmla="val 6154"/>
            </a:avLst>
          </a:prstGeom>
          <a:solidFill>
            <a:srgbClr val="F3F4F6"/>
          </a:solidFill>
          <a:ln w="12700">
            <a:solidFill>
              <a:srgbClr val="F3F4F6"/>
            </a:solidFill>
            <a:prstDash val="solid"/>
          </a:ln>
        </p:spPr>
      </p:sp>
      <p:sp>
        <p:nvSpPr>
          <p:cNvPr id="17" name="Text 15"/>
          <p:cNvSpPr txBox="1"/>
          <p:nvPr/>
        </p:nvSpPr>
        <p:spPr>
          <a:xfrm>
            <a:off x="9187434" y="1463040"/>
            <a:ext cx="2269998"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Target</a:t>
            </a:r>
            <a:endParaRPr lang="en-US" sz="1100" dirty="0"/>
          </a:p>
        </p:txBody>
      </p:sp>
      <p:sp>
        <p:nvSpPr>
          <p:cNvPr id="18" name="Text 16"/>
          <p:cNvSpPr txBox="1"/>
          <p:nvPr/>
        </p:nvSpPr>
        <p:spPr>
          <a:xfrm>
            <a:off x="9187434" y="1737360"/>
            <a:ext cx="2269998" cy="320040"/>
          </a:xfrm>
          <a:prstGeom prst="rect">
            <a:avLst/>
          </a:prstGeom>
          <a:noFill/>
          <a:ln/>
        </p:spPr>
        <p:txBody>
          <a:bodyPr wrap="square" lIns="0" tIns="0" rIns="0" bIns="0" rtlCol="0" anchor="ctr"/>
          <a:lstStyle/>
          <a:p>
            <a:pPr indent="0" marL="0">
              <a:buNone/>
            </a:pPr>
            <a:r>
              <a:rPr lang="en-US" sz="2600" b="1" dirty="0">
                <a:solidFill>
                  <a:srgbClr val="111827"/>
                </a:solidFill>
                <a:latin typeface="Calibri" pitchFamily="34" charset="0"/>
                <a:ea typeface="Calibri" pitchFamily="34" charset="-122"/>
                <a:cs typeface="Calibri" pitchFamily="34" charset="-120"/>
              </a:rPr>
              <a:t>90%</a:t>
            </a:r>
            <a:endParaRPr lang="en-US" sz="2600" dirty="0"/>
          </a:p>
        </p:txBody>
      </p:sp>
      <p:sp>
        <p:nvSpPr>
          <p:cNvPr id="19" name="Text 17"/>
          <p:cNvSpPr txBox="1"/>
          <p:nvPr/>
        </p:nvSpPr>
        <p:spPr>
          <a:xfrm>
            <a:off x="9187434" y="2084832"/>
            <a:ext cx="2269998"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80–90% amber · &lt;80% red</a:t>
            </a:r>
            <a:endParaRPr lang="en-US" sz="1050" dirty="0"/>
          </a:p>
        </p:txBody>
      </p:sp>
      <p:graphicFrame>
        <p:nvGraphicFramePr>
          <p:cNvPr id="20" name="Chart 0" descr=""/>
          <p:cNvGraphicFramePr/>
          <p:nvPr/>
        </p:nvGraphicFramePr>
        <p:xfrm>
          <a:off x="548640" y="2651760"/>
          <a:ext cx="5943600" cy="233172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txBox="1"/>
          <p:nvPr/>
        </p:nvSpPr>
        <p:spPr>
          <a:xfrm>
            <a:off x="548640" y="4983480"/>
            <a:ext cx="5943600" cy="219456"/>
          </a:xfrm>
          <a:prstGeom prst="rect">
            <a:avLst/>
          </a:prstGeom>
          <a:noFill/>
          <a:ln/>
        </p:spPr>
        <p:txBody>
          <a:bodyPr wrap="square" lIns="0" tIns="0" rIns="0" bIns="0" rtlCol="0" anchor="ctr"/>
          <a:lstStyle/>
          <a:p>
            <a:pPr algn="ctr" indent="0" marL="0">
              <a:buNone/>
            </a:pPr>
            <a:r>
              <a:rPr lang="en-US" sz="950" i="1" dirty="0">
                <a:solidFill>
                  <a:srgbClr val="6B7280"/>
                </a:solidFill>
                <a:latin typeface="Calibri" pitchFamily="34" charset="0"/>
                <a:ea typeface="Calibri" pitchFamily="34" charset="-122"/>
                <a:cs typeface="Calibri" pitchFamily="34" charset="-120"/>
              </a:rPr>
              <a:t>Jan–Jun = F26 · Jul–Sep = F27 (fiscal year starts Jul 1)</a:t>
            </a:r>
            <a:endParaRPr lang="en-US" sz="950" dirty="0"/>
          </a:p>
        </p:txBody>
      </p:sp>
      <p:sp>
        <p:nvSpPr>
          <p:cNvPr id="22" name="Shape 19"/>
          <p:cNvSpPr/>
          <p:nvPr/>
        </p:nvSpPr>
        <p:spPr>
          <a:xfrm>
            <a:off x="548640" y="5276088"/>
            <a:ext cx="5943600" cy="731520"/>
          </a:xfrm>
          <a:prstGeom prst="roundRect">
            <a:avLst>
              <a:gd name="adj" fmla="val 10000"/>
            </a:avLst>
          </a:prstGeom>
          <a:solidFill>
            <a:srgbClr val="F5F3FF"/>
          </a:solidFill>
          <a:ln w="12700">
            <a:solidFill>
              <a:srgbClr val="F5F3FF"/>
            </a:solidFill>
            <a:prstDash val="solid"/>
          </a:ln>
        </p:spPr>
      </p:sp>
      <p:sp>
        <p:nvSpPr>
          <p:cNvPr id="23" name="Shape 20"/>
          <p:cNvSpPr/>
          <p:nvPr/>
        </p:nvSpPr>
        <p:spPr>
          <a:xfrm>
            <a:off x="731520" y="5404104"/>
            <a:ext cx="475488" cy="475488"/>
          </a:xfrm>
          <a:prstGeom prst="ellipse">
            <a:avLst/>
          </a:prstGeom>
          <a:solidFill>
            <a:srgbClr val="7C3AED"/>
          </a:solidFill>
          <a:ln w="12700">
            <a:solidFill>
              <a:srgbClr val="7C3AED"/>
            </a:solidFill>
            <a:prstDash val="solid"/>
          </a:ln>
        </p:spPr>
      </p:sp>
      <p:pic>
        <p:nvPicPr>
          <p:cNvPr id="24" name="Image 0" descr="preencoded.png">    </p:cNvPr>
          <p:cNvPicPr>
            <a:picLocks noChangeAspect="1"/>
          </p:cNvPicPr>
          <p:nvPr/>
        </p:nvPicPr>
        <p:blipFill>
          <a:blip r:embed="rId2"/>
          <a:stretch>
            <a:fillRect/>
          </a:stretch>
        </p:blipFill>
        <p:spPr>
          <a:xfrm>
            <a:off x="850392" y="5522976"/>
            <a:ext cx="237744" cy="237744"/>
          </a:xfrm>
          <a:prstGeom prst="rect">
            <a:avLst/>
          </a:prstGeom>
        </p:spPr>
      </p:pic>
      <p:sp>
        <p:nvSpPr>
          <p:cNvPr id="25" name="Text 21"/>
          <p:cNvSpPr txBox="1"/>
          <p:nvPr/>
        </p:nvSpPr>
        <p:spPr>
          <a:xfrm>
            <a:off x="1371600" y="5276088"/>
            <a:ext cx="4983480" cy="73152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F27: every month ≥89%, above target since August; up from 81.5% in April.</a:t>
            </a:r>
            <a:endParaRPr lang="en-US" sz="1300" dirty="0"/>
          </a:p>
        </p:txBody>
      </p:sp>
      <p:sp>
        <p:nvSpPr>
          <p:cNvPr id="26" name="Shape 22"/>
          <p:cNvSpPr/>
          <p:nvPr/>
        </p:nvSpPr>
        <p:spPr>
          <a:xfrm>
            <a:off x="6720840" y="2651760"/>
            <a:ext cx="4919472" cy="1371600"/>
          </a:xfrm>
          <a:prstGeom prst="roundRect">
            <a:avLst>
              <a:gd name="adj" fmla="val 5333"/>
            </a:avLst>
          </a:prstGeom>
          <a:solidFill>
            <a:srgbClr val="F3F4F6"/>
          </a:solidFill>
          <a:ln w="12700">
            <a:solidFill>
              <a:srgbClr val="F3F4F6"/>
            </a:solidFill>
            <a:prstDash val="solid"/>
          </a:ln>
        </p:spPr>
      </p:sp>
      <p:sp>
        <p:nvSpPr>
          <p:cNvPr id="27" name="Text 23"/>
          <p:cNvSpPr txBox="1"/>
          <p:nvPr/>
        </p:nvSpPr>
        <p:spPr>
          <a:xfrm>
            <a:off x="6903720" y="2734056"/>
            <a:ext cx="4572000" cy="27432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Partner-carrier impact</a:t>
            </a:r>
            <a:pPr indent="0" marL="0">
              <a:buNone/>
            </a:pPr>
            <a:r>
              <a:rPr lang="en-US" sz="1050" dirty="0">
                <a:solidFill>
                  <a:srgbClr val="6B7280"/>
                </a:solidFill>
                <a:latin typeface="Calibri" pitchFamily="34" charset="0"/>
                <a:ea typeface="Calibri" pitchFamily="34" charset="-122"/>
                <a:cs typeface="Calibri" pitchFamily="34" charset="-120"/>
              </a:rPr>
              <a:t>  · calculated, Jan–Sep 2026</a:t>
            </a:r>
            <a:endParaRPr lang="en-US" sz="1300" dirty="0"/>
          </a:p>
        </p:txBody>
      </p:sp>
      <p:sp>
        <p:nvSpPr>
          <p:cNvPr id="28" name="Text 24"/>
          <p:cNvSpPr txBox="1"/>
          <p:nvPr/>
        </p:nvSpPr>
        <p:spPr>
          <a:xfrm>
            <a:off x="6903720" y="3008376"/>
            <a:ext cx="4572000" cy="347472"/>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≈13% of volume</a:t>
            </a:r>
            <a:pPr indent="0" marL="0">
              <a:buNone/>
            </a:pPr>
            <a:r>
              <a:rPr lang="en-US" sz="1300" b="1" dirty="0">
                <a:solidFill>
                  <a:srgbClr val="6B7280"/>
                </a:solidFill>
                <a:latin typeface="Calibri" pitchFamily="34" charset="0"/>
                <a:ea typeface="Calibri" pitchFamily="34" charset="-122"/>
                <a:cs typeface="Calibri" pitchFamily="34" charset="-120"/>
              </a:rPr>
              <a:t>  but  </a:t>
            </a:r>
            <a:pPr indent="0" marL="0">
              <a:buNone/>
            </a:pPr>
            <a:r>
              <a:rPr lang="en-US" sz="1500" b="1" dirty="0">
                <a:solidFill>
                  <a:srgbClr val="DC2626"/>
                </a:solidFill>
                <a:latin typeface="Calibri" pitchFamily="34" charset="0"/>
                <a:ea typeface="Calibri" pitchFamily="34" charset="-122"/>
                <a:cs typeface="Calibri" pitchFamily="34" charset="-120"/>
              </a:rPr>
              <a:t>≈45% of late FBs</a:t>
            </a:r>
            <a:endParaRPr lang="en-US" sz="1500" dirty="0"/>
          </a:p>
        </p:txBody>
      </p:sp>
      <p:sp>
        <p:nvSpPr>
          <p:cNvPr id="29" name="Text 25"/>
          <p:cNvSpPr txBox="1"/>
          <p:nvPr/>
        </p:nvSpPr>
        <p:spPr>
          <a:xfrm>
            <a:off x="6903720" y="3364992"/>
            <a:ext cx="4572000" cy="36576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≈13.0K partner FBs (101.99K − 88.98K); ≈5.74K late (12.65K − 6.91K) → ≈56% on time.</a:t>
            </a:r>
            <a:endParaRPr lang="en-US" sz="1050" dirty="0"/>
          </a:p>
        </p:txBody>
      </p:sp>
      <p:sp>
        <p:nvSpPr>
          <p:cNvPr id="30" name="Text 26"/>
          <p:cNvSpPr txBox="1"/>
          <p:nvPr/>
        </p:nvSpPr>
        <p:spPr>
          <a:xfrm>
            <a:off x="6903720" y="3730752"/>
            <a:ext cx="4572000" cy="22860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YTD adj. on time: 87.60% incl. vs 92.24% excl. partner carriers.</a:t>
            </a:r>
            <a:endParaRPr lang="en-US" sz="1050" dirty="0"/>
          </a:p>
        </p:txBody>
      </p:sp>
      <p:sp>
        <p:nvSpPr>
          <p:cNvPr id="31" name="Shape 27"/>
          <p:cNvSpPr/>
          <p:nvPr/>
        </p:nvSpPr>
        <p:spPr>
          <a:xfrm>
            <a:off x="6720840" y="4133088"/>
            <a:ext cx="4919472" cy="1874520"/>
          </a:xfrm>
          <a:prstGeom prst="roundRect">
            <a:avLst>
              <a:gd name="adj" fmla="val 3902"/>
            </a:avLst>
          </a:prstGeom>
          <a:solidFill>
            <a:srgbClr val="F3F4F6"/>
          </a:solidFill>
          <a:ln w="12700">
            <a:solidFill>
              <a:srgbClr val="F3F4F6"/>
            </a:solidFill>
            <a:prstDash val="solid"/>
          </a:ln>
        </p:spPr>
      </p:sp>
      <p:sp>
        <p:nvSpPr>
          <p:cNvPr id="32" name="Text 28"/>
          <p:cNvSpPr txBox="1"/>
          <p:nvPr/>
        </p:nvSpPr>
        <p:spPr>
          <a:xfrm>
            <a:off x="6903720" y="4215384"/>
            <a:ext cx="4572000" cy="27432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What we are doing</a:t>
            </a:r>
            <a:endParaRPr lang="en-US" sz="1300" dirty="0"/>
          </a:p>
        </p:txBody>
      </p:sp>
      <p:sp>
        <p:nvSpPr>
          <p:cNvPr id="33" name="Text 29"/>
          <p:cNvSpPr txBox="1"/>
          <p:nvPr/>
        </p:nvSpPr>
        <p:spPr>
          <a:xfrm>
            <a:off x="6903720" y="4498848"/>
            <a:ext cx="4572000" cy="1463040"/>
          </a:xfrm>
          <a:prstGeom prst="rect">
            <a:avLst/>
          </a:prstGeom>
          <a:noFill/>
          <a:ln/>
        </p:spPr>
        <p:txBody>
          <a:bodyPr wrap="square" lIns="0" tIns="0" rIns="0" bIns="0" rtlCol="0" anchor="t"/>
          <a:lstStyle/>
          <a:p>
            <a:pPr marL="203200" indent="-2032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Drivers own the freight bill — ownership of the FB from inbound to delivery.</a:t>
            </a:r>
            <a:endParaRPr lang="en-US" sz="1050" dirty="0"/>
          </a:p>
          <a:p>
            <a:pPr marL="203200" indent="-2032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Scanning compliance checked every shift (see Scanning slide).</a:t>
            </a:r>
            <a:endParaRPr lang="en-US" sz="1050" dirty="0"/>
          </a:p>
          <a:p>
            <a:pPr marL="203200" indent="-2032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TF (terminal) and P&amp;D working collectively on hand-offs.</a:t>
            </a:r>
            <a:endParaRPr lang="en-US" sz="1050" dirty="0"/>
          </a:p>
          <a:p>
            <a:pPr marL="203200" indent="-2032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End-of-shift reporting on afternoons — every late coded before shift end.</a:t>
            </a:r>
            <a:endParaRPr lang="en-US" sz="1050" dirty="0"/>
          </a:p>
          <a:p>
            <a:pPr marL="203200" indent="-2032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Interline (IN) and transborder (TB) lates reviewed with the interline team — outside terminal control.</a:t>
            </a:r>
            <a:endParaRPr lang="en-US" sz="1050" dirty="0"/>
          </a:p>
        </p:txBody>
      </p:sp>
      <p:sp>
        <p:nvSpPr>
          <p:cNvPr id="34" name="Text 30"/>
          <p:cNvSpPr txBox="1"/>
          <p:nvPr/>
        </p:nvSpPr>
        <p:spPr>
          <a:xfrm>
            <a:off x="548640" y="6108192"/>
            <a:ext cx="11091672" cy="256032"/>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Source: Adj On Time dashboard — Mississauga, calendar 2026 through Sep 28. Partner carriers = "beyond interliner" freight. Late codes by reason: </a:t>
            </a:r>
            <a:pPr indent="0" marL="0">
              <a:buNone/>
            </a:pPr>
            <a:r>
              <a:rPr lang="en-US" sz="950" b="1" i="1" dirty="0">
                <a:solidFill>
                  <a:srgbClr val="D97706"/>
                </a:solidFill>
                <a:latin typeface="Calibri" pitchFamily="34" charset="0"/>
                <a:ea typeface="Calibri" pitchFamily="34" charset="-122"/>
                <a:cs typeface="Calibri" pitchFamily="34" charset="-120"/>
              </a:rPr>
              <a:t>TBC</a:t>
            </a:r>
            <a:endParaRPr lang="en-US" sz="950" dirty="0"/>
          </a:p>
        </p:txBody>
      </p:sp>
      <p:sp>
        <p:nvSpPr>
          <p:cNvPr id="35" name="Text 3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Mississauga Terminal · F27 Senior Leadership Review · Sep 29, 2026</a:t>
            </a:r>
            <a:endParaRPr lang="en-US" sz="900" dirty="0"/>
          </a:p>
        </p:txBody>
      </p:sp>
      <p:sp>
        <p:nvSpPr>
          <p:cNvPr id="36" name="Text 32"/>
          <p:cNvSpPr txBox="1"/>
          <p:nvPr/>
        </p:nvSpPr>
        <p:spPr>
          <a:xfrm>
            <a:off x="10725912" y="6473952"/>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5 / 21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Calibri" pitchFamily="34" charset="0"/>
                <a:ea typeface="Calibri" pitchFamily="34" charset="-122"/>
                <a:cs typeface="Calibri" pitchFamily="34" charset="-120"/>
              </a:rPr>
              <a:t>SERVICE</a:t>
            </a:r>
            <a:endParaRPr lang="en-US" sz="1200" dirty="0"/>
          </a:p>
        </p:txBody>
      </p:sp>
      <p:sp>
        <p:nvSpPr>
          <p:cNvPr id="3" name="Text 1"/>
          <p:cNvSpPr txBox="1"/>
          <p:nvPr/>
        </p:nvSpPr>
        <p:spPr>
          <a:xfrm>
            <a:off x="548640" y="603504"/>
            <a:ext cx="11091672" cy="603504"/>
          </a:xfrm>
          <a:prstGeom prst="rect">
            <a:avLst/>
          </a:prstGeom>
          <a:noFill/>
          <a:ln/>
        </p:spPr>
        <p:txBody>
          <a:bodyPr wrap="square" lIns="0" tIns="0" rIns="0" bIns="0" rtlCol="0" anchor="t"/>
          <a:lstStyle/>
          <a:p>
            <a:pPr indent="0" marL="0">
              <a:buNone/>
            </a:pPr>
            <a:r>
              <a:rPr lang="en-US" sz="3000" b="1" dirty="0">
                <a:solidFill>
                  <a:srgbClr val="111827"/>
                </a:solidFill>
                <a:latin typeface="Calibri" pitchFamily="34" charset="0"/>
                <a:ea typeface="Calibri" pitchFamily="34" charset="-122"/>
                <a:cs typeface="Calibri" pitchFamily="34" charset="-120"/>
              </a:rPr>
              <a:t>Service — Missed pickups</a:t>
            </a:r>
            <a:endParaRPr lang="en-US" sz="3000" dirty="0"/>
          </a:p>
        </p:txBody>
      </p:sp>
      <p:sp>
        <p:nvSpPr>
          <p:cNvPr id="4" name="Text 2"/>
          <p:cNvSpPr txBox="1"/>
          <p:nvPr/>
        </p:nvSpPr>
        <p:spPr>
          <a:xfrm>
            <a:off x="548640" y="1243584"/>
            <a:ext cx="10972800" cy="2743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Missed PU dashboard · Mississauga · all dates in report through Sep 26, 2026</a:t>
            </a:r>
            <a:endParaRPr lang="en-US" sz="1300" dirty="0"/>
          </a:p>
        </p:txBody>
      </p:sp>
      <p:sp>
        <p:nvSpPr>
          <p:cNvPr id="5" name="Shape 3"/>
          <p:cNvSpPr/>
          <p:nvPr/>
        </p:nvSpPr>
        <p:spPr>
          <a:xfrm>
            <a:off x="548640" y="1645920"/>
            <a:ext cx="1645920" cy="960120"/>
          </a:xfrm>
          <a:prstGeom prst="roundRect">
            <a:avLst>
              <a:gd name="adj" fmla="val 7619"/>
            </a:avLst>
          </a:prstGeom>
          <a:solidFill>
            <a:srgbClr val="F3F4F6"/>
          </a:solidFill>
          <a:ln w="12700">
            <a:solidFill>
              <a:srgbClr val="F3F4F6"/>
            </a:solidFill>
            <a:prstDash val="solid"/>
          </a:ln>
        </p:spPr>
      </p:sp>
      <p:sp>
        <p:nvSpPr>
          <p:cNvPr id="6" name="Text 4"/>
          <p:cNvSpPr txBox="1"/>
          <p:nvPr/>
        </p:nvSpPr>
        <p:spPr>
          <a:xfrm>
            <a:off x="704088" y="1737360"/>
            <a:ext cx="1371600" cy="256032"/>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Missed PU %</a:t>
            </a:r>
            <a:endParaRPr lang="en-US" sz="1100" dirty="0"/>
          </a:p>
        </p:txBody>
      </p:sp>
      <p:sp>
        <p:nvSpPr>
          <p:cNvPr id="7" name="Text 5"/>
          <p:cNvSpPr txBox="1"/>
          <p:nvPr/>
        </p:nvSpPr>
        <p:spPr>
          <a:xfrm>
            <a:off x="704088" y="1993392"/>
            <a:ext cx="1371600" cy="50292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4.70%</a:t>
            </a:r>
            <a:endParaRPr lang="en-US" sz="2400" dirty="0"/>
          </a:p>
        </p:txBody>
      </p:sp>
      <p:sp>
        <p:nvSpPr>
          <p:cNvPr id="8" name="Shape 6"/>
          <p:cNvSpPr/>
          <p:nvPr/>
        </p:nvSpPr>
        <p:spPr>
          <a:xfrm>
            <a:off x="2377440" y="1645920"/>
            <a:ext cx="1645920" cy="960120"/>
          </a:xfrm>
          <a:prstGeom prst="roundRect">
            <a:avLst>
              <a:gd name="adj" fmla="val 7619"/>
            </a:avLst>
          </a:prstGeom>
          <a:solidFill>
            <a:srgbClr val="F3F4F6"/>
          </a:solidFill>
          <a:ln w="12700">
            <a:solidFill>
              <a:srgbClr val="F3F4F6"/>
            </a:solidFill>
            <a:prstDash val="solid"/>
          </a:ln>
        </p:spPr>
      </p:sp>
      <p:sp>
        <p:nvSpPr>
          <p:cNvPr id="9" name="Text 7"/>
          <p:cNvSpPr txBox="1"/>
          <p:nvPr/>
        </p:nvSpPr>
        <p:spPr>
          <a:xfrm>
            <a:off x="2532888" y="1737360"/>
            <a:ext cx="1371600" cy="256032"/>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Missed PUs</a:t>
            </a:r>
            <a:endParaRPr lang="en-US" sz="1100" dirty="0"/>
          </a:p>
        </p:txBody>
      </p:sp>
      <p:sp>
        <p:nvSpPr>
          <p:cNvPr id="10" name="Text 8"/>
          <p:cNvSpPr txBox="1"/>
          <p:nvPr/>
        </p:nvSpPr>
        <p:spPr>
          <a:xfrm>
            <a:off x="2532888" y="1993392"/>
            <a:ext cx="1371600" cy="50292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3,415</a:t>
            </a:r>
            <a:endParaRPr lang="en-US" sz="2400" dirty="0"/>
          </a:p>
        </p:txBody>
      </p:sp>
      <p:sp>
        <p:nvSpPr>
          <p:cNvPr id="11" name="Shape 9"/>
          <p:cNvSpPr/>
          <p:nvPr/>
        </p:nvSpPr>
        <p:spPr>
          <a:xfrm>
            <a:off x="4206240" y="1645920"/>
            <a:ext cx="1645920" cy="960120"/>
          </a:xfrm>
          <a:prstGeom prst="roundRect">
            <a:avLst>
              <a:gd name="adj" fmla="val 7619"/>
            </a:avLst>
          </a:prstGeom>
          <a:solidFill>
            <a:srgbClr val="F3F4F6"/>
          </a:solidFill>
          <a:ln w="12700">
            <a:solidFill>
              <a:srgbClr val="F3F4F6"/>
            </a:solidFill>
            <a:prstDash val="solid"/>
          </a:ln>
        </p:spPr>
      </p:sp>
      <p:sp>
        <p:nvSpPr>
          <p:cNvPr id="12" name="Text 10"/>
          <p:cNvSpPr txBox="1"/>
          <p:nvPr/>
        </p:nvSpPr>
        <p:spPr>
          <a:xfrm>
            <a:off x="4361688" y="1737360"/>
            <a:ext cx="1371600" cy="256032"/>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Successful PUs</a:t>
            </a:r>
            <a:endParaRPr lang="en-US" sz="1100" dirty="0"/>
          </a:p>
        </p:txBody>
      </p:sp>
      <p:sp>
        <p:nvSpPr>
          <p:cNvPr id="13" name="Text 11"/>
          <p:cNvSpPr txBox="1"/>
          <p:nvPr/>
        </p:nvSpPr>
        <p:spPr>
          <a:xfrm>
            <a:off x="4361688" y="1993392"/>
            <a:ext cx="1371600" cy="50292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69K</a:t>
            </a:r>
            <a:endParaRPr lang="en-US" sz="2400" dirty="0"/>
          </a:p>
        </p:txBody>
      </p:sp>
      <p:sp>
        <p:nvSpPr>
          <p:cNvPr id="14" name="Shape 12"/>
          <p:cNvSpPr/>
          <p:nvPr/>
        </p:nvSpPr>
        <p:spPr>
          <a:xfrm>
            <a:off x="6035040" y="1645920"/>
            <a:ext cx="1645920" cy="960120"/>
          </a:xfrm>
          <a:prstGeom prst="roundRect">
            <a:avLst>
              <a:gd name="adj" fmla="val 7619"/>
            </a:avLst>
          </a:prstGeom>
          <a:solidFill>
            <a:srgbClr val="F3F4F6"/>
          </a:solidFill>
          <a:ln w="12700">
            <a:solidFill>
              <a:srgbClr val="F3F4F6"/>
            </a:solidFill>
            <a:prstDash val="solid"/>
          </a:ln>
        </p:spPr>
      </p:sp>
      <p:sp>
        <p:nvSpPr>
          <p:cNvPr id="15" name="Text 13"/>
          <p:cNvSpPr txBox="1"/>
          <p:nvPr/>
        </p:nvSpPr>
        <p:spPr>
          <a:xfrm>
            <a:off x="6190488" y="1737360"/>
            <a:ext cx="1371600" cy="256032"/>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Total measured</a:t>
            </a:r>
            <a:endParaRPr lang="en-US" sz="1100" dirty="0"/>
          </a:p>
        </p:txBody>
      </p:sp>
      <p:sp>
        <p:nvSpPr>
          <p:cNvPr id="16" name="Text 14"/>
          <p:cNvSpPr txBox="1"/>
          <p:nvPr/>
        </p:nvSpPr>
        <p:spPr>
          <a:xfrm>
            <a:off x="6190488" y="1993392"/>
            <a:ext cx="1371600" cy="50292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73K</a:t>
            </a:r>
            <a:endParaRPr lang="en-US" sz="2400" dirty="0"/>
          </a:p>
        </p:txBody>
      </p:sp>
      <p:graphicFrame>
        <p:nvGraphicFramePr>
          <p:cNvPr id="17" name="Chart 0" descr=""/>
          <p:cNvGraphicFramePr/>
          <p:nvPr/>
        </p:nvGraphicFramePr>
        <p:xfrm>
          <a:off x="548640" y="2788920"/>
          <a:ext cx="301752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3703320" y="2788920"/>
          <a:ext cx="3977640" cy="3200400"/>
        </p:xfrm>
        <a:graphic xmlns:a="http://schemas.openxmlformats.org/drawingml/2006/main">
          <a:graphicData uri="http://schemas.openxmlformats.org/drawingml/2006/chart">
            <c:chart xmlns:c="http://schemas.openxmlformats.org/drawingml/2006/chart" r:id="rId2"/>
          </a:graphicData>
        </a:graphic>
      </p:graphicFrame>
      <p:sp>
        <p:nvSpPr>
          <p:cNvPr id="19" name="Shape 15"/>
          <p:cNvSpPr/>
          <p:nvPr/>
        </p:nvSpPr>
        <p:spPr>
          <a:xfrm>
            <a:off x="7955280" y="1645920"/>
            <a:ext cx="3685032" cy="2103120"/>
          </a:xfrm>
          <a:prstGeom prst="roundRect">
            <a:avLst>
              <a:gd name="adj" fmla="val 3478"/>
            </a:avLst>
          </a:prstGeom>
          <a:solidFill>
            <a:srgbClr val="F5F3FF"/>
          </a:solidFill>
          <a:ln w="12700">
            <a:solidFill>
              <a:srgbClr val="F5F3FF"/>
            </a:solidFill>
            <a:prstDash val="solid"/>
          </a:ln>
        </p:spPr>
      </p:sp>
      <p:sp>
        <p:nvSpPr>
          <p:cNvPr id="20" name="Text 16"/>
          <p:cNvSpPr txBox="1"/>
          <p:nvPr/>
        </p:nvSpPr>
        <p:spPr>
          <a:xfrm>
            <a:off x="8156448" y="1755648"/>
            <a:ext cx="3291840" cy="274320"/>
          </a:xfrm>
          <a:prstGeom prst="rect">
            <a:avLst/>
          </a:prstGeom>
          <a:noFill/>
          <a:ln/>
        </p:spPr>
        <p:txBody>
          <a:bodyPr wrap="square" lIns="0" tIns="0" rIns="0" bIns="0" rtlCol="0" anchor="ctr"/>
          <a:lstStyle/>
          <a:p>
            <a:pPr indent="0" marL="0">
              <a:buNone/>
            </a:pPr>
            <a:r>
              <a:rPr lang="en-US" sz="1300" b="1" dirty="0">
                <a:solidFill>
                  <a:srgbClr val="7C3AED"/>
                </a:solidFill>
                <a:latin typeface="Calibri" pitchFamily="34" charset="0"/>
                <a:ea typeface="Calibri" pitchFamily="34" charset="-122"/>
                <a:cs typeface="Calibri" pitchFamily="34" charset="-120"/>
              </a:rPr>
              <a:t>Key message</a:t>
            </a:r>
            <a:endParaRPr lang="en-US" sz="1300" dirty="0"/>
          </a:p>
        </p:txBody>
      </p:sp>
      <p:sp>
        <p:nvSpPr>
          <p:cNvPr id="21" name="Text 17"/>
          <p:cNvSpPr txBox="1"/>
          <p:nvPr/>
        </p:nvSpPr>
        <p:spPr>
          <a:xfrm>
            <a:off x="8156448" y="2048256"/>
            <a:ext cx="3310128" cy="1627632"/>
          </a:xfrm>
          <a:prstGeom prst="rect">
            <a:avLst/>
          </a:prstGeom>
          <a:noFill/>
          <a:ln/>
        </p:spPr>
        <p:txBody>
          <a:bodyPr wrap="square" lIns="0" tIns="0" rIns="0" bIns="0" rtlCol="0" anchor="t"/>
          <a:lstStyle/>
          <a:p>
            <a:pPr indent="0" marL="0">
              <a:spcAft>
                <a:spcPts val="600"/>
              </a:spcAft>
              <a:buNone/>
            </a:pPr>
            <a:r>
              <a:rPr lang="en-US" sz="1100" dirty="0">
                <a:solidFill>
                  <a:srgbClr val="1F2937"/>
                </a:solidFill>
                <a:latin typeface="Calibri" pitchFamily="34" charset="0"/>
                <a:ea typeface="Calibri" pitchFamily="34" charset="-122"/>
                <a:cs typeface="Calibri" pitchFamily="34" charset="-120"/>
              </a:rPr>
              <a:t>Only ~15% of missed PUs are true OPS issues; 45% are OPS false positives (40.7% coded 'already serviced') → close-out/scan discipline fix.</a:t>
            </a:r>
            <a:endParaRPr lang="en-US" sz="1100" dirty="0"/>
          </a:p>
          <a:p>
            <a:pPr indent="0" marL="0">
              <a:buNone/>
            </a:pPr>
            <a:r>
              <a:rPr lang="en-US" sz="1100" b="1" dirty="0">
                <a:solidFill>
                  <a:srgbClr val="059669"/>
                </a:solidFill>
                <a:latin typeface="Calibri" pitchFamily="34" charset="0"/>
                <a:ea typeface="Calibri" pitchFamily="34" charset="-122"/>
                <a:cs typeface="Calibri" pitchFamily="34" charset="-120"/>
              </a:rPr>
              <a:t>Excluding false positives, missed PU % would be ≈2.6%.</a:t>
            </a:r>
            <a:endParaRPr lang="en-US" sz="1100" dirty="0"/>
          </a:p>
          <a:p>
            <a:pPr indent="0" marL="0">
              <a:buNone/>
            </a:pPr>
            <a:r>
              <a:rPr lang="en-US" sz="900" i="1" dirty="0">
                <a:solidFill>
                  <a:srgbClr val="6B7280"/>
                </a:solidFill>
                <a:latin typeface="Calibri" pitchFamily="34" charset="0"/>
                <a:ea typeface="Calibri" pitchFamily="34" charset="-122"/>
                <a:cs typeface="Calibri" pitchFamily="34" charset="-120"/>
              </a:rPr>
              <a:t>Calculated: (3,415 − 1,530) ÷ 73K</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955280" y="3886200"/>
          <a:ext cx="3685032" cy="914400"/>
        </p:xfrm>
        <a:graphic>
          <a:graphicData uri="http://schemas.openxmlformats.org/drawingml/2006/table">
            <a:tbl>
              <a:tblPr/>
              <a:tblGrid>
                <a:gridCol w="2130552"/>
                <a:gridCol w="731520"/>
                <a:gridCol w="822960"/>
              </a:tblGrid>
              <a:tr h="20574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By category</a:t>
                      </a: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c>
                  <a:txBody>
                    <a:bodyPr/>
                    <a:lstStyle/>
                    <a:p>
                      <a:pPr indent="0" marL="0">
                        <a:buNone/>
                      </a:pPr>
                      <a:endParaRPr lang="en-US" sz="12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c>
                  <a:txBody>
                    <a:bodyPr/>
                    <a:lstStyle/>
                    <a:p>
                      <a:pPr indent="0" marL="0">
                        <a:buNone/>
                      </a:pPr>
                      <a:endParaRPr lang="en-US" sz="12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r>
              <a:tr h="205740">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OPS – false positive</a:t>
                      </a: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000" dirty="0">
                          <a:solidFill>
                            <a:srgbClr val="6B7280"/>
                          </a:solidFill>
                          <a:latin typeface="Calibri" pitchFamily="34" charset="0"/>
                          <a:ea typeface="Calibri" pitchFamily="34" charset="-122"/>
                          <a:cs typeface="Calibri" pitchFamily="34" charset="-120"/>
                        </a:rPr>
                        <a:t>1.53K</a:t>
                      </a: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000" b="1" dirty="0">
                          <a:solidFill>
                            <a:srgbClr val="111827"/>
                          </a:solidFill>
                          <a:latin typeface="Calibri" pitchFamily="34" charset="0"/>
                          <a:ea typeface="Calibri" pitchFamily="34" charset="-122"/>
                          <a:cs typeface="Calibri" pitchFamily="34" charset="-120"/>
                        </a:rPr>
                        <a:t>44.7%</a:t>
                      </a: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05740">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Customer issue</a:t>
                      </a: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000" dirty="0">
                          <a:solidFill>
                            <a:srgbClr val="6B7280"/>
                          </a:solidFill>
                          <a:latin typeface="Calibri" pitchFamily="34" charset="0"/>
                          <a:ea typeface="Calibri" pitchFamily="34" charset="-122"/>
                          <a:cs typeface="Calibri" pitchFamily="34" charset="-120"/>
                        </a:rPr>
                        <a:t>1.19K</a:t>
                      </a: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000" b="1" dirty="0">
                          <a:solidFill>
                            <a:srgbClr val="111827"/>
                          </a:solidFill>
                          <a:latin typeface="Calibri" pitchFamily="34" charset="0"/>
                          <a:ea typeface="Calibri" pitchFamily="34" charset="-122"/>
                          <a:cs typeface="Calibri" pitchFamily="34" charset="-120"/>
                        </a:rPr>
                        <a:t>34.7%</a:t>
                      </a: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05740">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OPS issue</a:t>
                      </a: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000" dirty="0">
                          <a:solidFill>
                            <a:srgbClr val="6B7280"/>
                          </a:solidFill>
                          <a:latin typeface="Calibri" pitchFamily="34" charset="0"/>
                          <a:ea typeface="Calibri" pitchFamily="34" charset="-122"/>
                          <a:cs typeface="Calibri" pitchFamily="34" charset="-120"/>
                        </a:rPr>
                        <a:t>0.51K</a:t>
                      </a: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000" b="1" dirty="0">
                          <a:solidFill>
                            <a:srgbClr val="111827"/>
                          </a:solidFill>
                          <a:latin typeface="Calibri" pitchFamily="34" charset="0"/>
                          <a:ea typeface="Calibri" pitchFamily="34" charset="-122"/>
                          <a:cs typeface="Calibri" pitchFamily="34" charset="-120"/>
                        </a:rPr>
                        <a:t>14.9%</a:t>
                      </a: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05740">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Cancelled / CCC / made</a:t>
                      </a: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000" b="1" dirty="0">
                          <a:solidFill>
                            <a:srgbClr val="111827"/>
                          </a:solidFill>
                          <a:latin typeface="Calibri" pitchFamily="34" charset="0"/>
                          <a:ea typeface="Calibri" pitchFamily="34" charset="-122"/>
                          <a:cs typeface="Calibri" pitchFamily="34" charset="-120"/>
                        </a:rPr>
                        <a:t>≈5.6%</a:t>
                      </a: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0574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Top reasons</a:t>
                      </a: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c>
                  <a:txBody>
                    <a:bodyPr/>
                    <a:lstStyle/>
                    <a:p>
                      <a:pPr indent="0" marL="0">
                        <a:buNone/>
                      </a:pPr>
                      <a:endParaRPr lang="en-US" sz="12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c>
                  <a:txBody>
                    <a:bodyPr/>
                    <a:lstStyle/>
                    <a:p>
                      <a:pPr indent="0" marL="0">
                        <a:buNone/>
                      </a:pPr>
                      <a:endParaRPr lang="en-US" sz="12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r>
              <a:tr h="205740">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Already serviced</a:t>
                      </a: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000" dirty="0">
                          <a:solidFill>
                            <a:srgbClr val="6B7280"/>
                          </a:solidFill>
                          <a:latin typeface="Calibri" pitchFamily="34" charset="0"/>
                          <a:ea typeface="Calibri" pitchFamily="34" charset="-122"/>
                          <a:cs typeface="Calibri" pitchFamily="34" charset="-120"/>
                        </a:rPr>
                        <a:t>1.39K</a:t>
                      </a: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000" b="1" dirty="0">
                          <a:solidFill>
                            <a:srgbClr val="111827"/>
                          </a:solidFill>
                          <a:latin typeface="Calibri" pitchFamily="34" charset="0"/>
                          <a:ea typeface="Calibri" pitchFamily="34" charset="-122"/>
                          <a:cs typeface="Calibri" pitchFamily="34" charset="-120"/>
                        </a:rPr>
                        <a:t>40.7%</a:t>
                      </a: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05740">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Not ready</a:t>
                      </a: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000" dirty="0">
                          <a:solidFill>
                            <a:srgbClr val="6B7280"/>
                          </a:solidFill>
                          <a:latin typeface="Calibri" pitchFamily="34" charset="0"/>
                          <a:ea typeface="Calibri" pitchFamily="34" charset="-122"/>
                          <a:cs typeface="Calibri" pitchFamily="34" charset="-120"/>
                        </a:rPr>
                        <a:t>0.62K</a:t>
                      </a: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000" b="1" dirty="0">
                          <a:solidFill>
                            <a:srgbClr val="111827"/>
                          </a:solidFill>
                          <a:latin typeface="Calibri" pitchFamily="34" charset="0"/>
                          <a:ea typeface="Calibri" pitchFamily="34" charset="-122"/>
                          <a:cs typeface="Calibri" pitchFamily="34" charset="-120"/>
                        </a:rPr>
                        <a:t>18.2%</a:t>
                      </a: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05740">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Cust issue – log…</a:t>
                      </a: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000" dirty="0">
                          <a:solidFill>
                            <a:srgbClr val="6B7280"/>
                          </a:solidFill>
                          <a:latin typeface="Calibri" pitchFamily="34" charset="0"/>
                          <a:ea typeface="Calibri" pitchFamily="34" charset="-122"/>
                          <a:cs typeface="Calibri" pitchFamily="34" charset="-120"/>
                        </a:rPr>
                        <a:t>0.29K</a:t>
                      </a: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000" b="1" dirty="0">
                          <a:solidFill>
                            <a:srgbClr val="111827"/>
                          </a:solidFill>
                          <a:latin typeface="Calibri" pitchFamily="34" charset="0"/>
                          <a:ea typeface="Calibri" pitchFamily="34" charset="-122"/>
                          <a:cs typeface="Calibri" pitchFamily="34" charset="-120"/>
                        </a:rPr>
                        <a:t>8.5%</a:t>
                      </a: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05740">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Appointment</a:t>
                      </a: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000" dirty="0">
                          <a:solidFill>
                            <a:srgbClr val="6B7280"/>
                          </a:solidFill>
                          <a:latin typeface="Calibri" pitchFamily="34" charset="0"/>
                          <a:ea typeface="Calibri" pitchFamily="34" charset="-122"/>
                          <a:cs typeface="Calibri" pitchFamily="34" charset="-120"/>
                        </a:rPr>
                        <a:t>0.17K</a:t>
                      </a: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000" b="1" dirty="0">
                          <a:solidFill>
                            <a:srgbClr val="111827"/>
                          </a:solidFill>
                          <a:latin typeface="Calibri" pitchFamily="34" charset="0"/>
                          <a:ea typeface="Calibri" pitchFamily="34" charset="-122"/>
                          <a:cs typeface="Calibri" pitchFamily="34" charset="-120"/>
                        </a:rPr>
                        <a:t>4.8%</a:t>
                      </a:r>
                      <a:endParaRPr lang="en-US" sz="1000" dirty="0">
                        <a:latin typeface="Calibri" charset="0"/>
                        <a:ea typeface="Calibri" charset="0"/>
                        <a:cs typeface="Calibri" charset="0"/>
                      </a:endParaRPr>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23" name="Text 18"/>
          <p:cNvSpPr txBox="1"/>
          <p:nvPr/>
        </p:nvSpPr>
        <p:spPr>
          <a:xfrm>
            <a:off x="548640" y="6126480"/>
            <a:ext cx="11091672" cy="256032"/>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Source: Missed PU dashboard — Mississauga, all dates through Sep 26, 2026. Sep 7 spike (85.7%) = Labour Day, low volume. *wk 39 partial.</a:t>
            </a:r>
            <a:endParaRPr lang="en-US" sz="950" dirty="0"/>
          </a:p>
        </p:txBody>
      </p:sp>
      <p:sp>
        <p:nvSpPr>
          <p:cNvPr id="24" name="Text 19"/>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Mississauga Terminal · F27 Senior Leadership Review · Sep 29, 2026</a:t>
            </a:r>
            <a:endParaRPr lang="en-US" sz="900" dirty="0"/>
          </a:p>
        </p:txBody>
      </p:sp>
      <p:sp>
        <p:nvSpPr>
          <p:cNvPr id="25" name="Text 20"/>
          <p:cNvSpPr txBox="1"/>
          <p:nvPr/>
        </p:nvSpPr>
        <p:spPr>
          <a:xfrm>
            <a:off x="10725912" y="6473952"/>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6 / 21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Calibri" pitchFamily="34" charset="0"/>
                <a:ea typeface="Calibri" pitchFamily="34" charset="-122"/>
                <a:cs typeface="Calibri" pitchFamily="34" charset="-120"/>
              </a:rPr>
              <a:t>SERVICE</a:t>
            </a:r>
            <a:endParaRPr lang="en-US" sz="1200" dirty="0"/>
          </a:p>
        </p:txBody>
      </p:sp>
      <p:sp>
        <p:nvSpPr>
          <p:cNvPr id="3" name="Text 1"/>
          <p:cNvSpPr txBox="1"/>
          <p:nvPr/>
        </p:nvSpPr>
        <p:spPr>
          <a:xfrm>
            <a:off x="548640" y="603504"/>
            <a:ext cx="11091672" cy="603504"/>
          </a:xfrm>
          <a:prstGeom prst="rect">
            <a:avLst/>
          </a:prstGeom>
          <a:noFill/>
          <a:ln/>
        </p:spPr>
        <p:txBody>
          <a:bodyPr wrap="square" lIns="0" tIns="0" rIns="0" bIns="0" rtlCol="0" anchor="t"/>
          <a:lstStyle/>
          <a:p>
            <a:pPr indent="0" marL="0">
              <a:buNone/>
            </a:pPr>
            <a:r>
              <a:rPr lang="en-US" sz="3000" b="1" dirty="0">
                <a:solidFill>
                  <a:srgbClr val="111827"/>
                </a:solidFill>
                <a:latin typeface="Calibri" pitchFamily="34" charset="0"/>
                <a:ea typeface="Calibri" pitchFamily="34" charset="-122"/>
                <a:cs typeface="Calibri" pitchFamily="34" charset="-120"/>
              </a:rPr>
              <a:t>Service — Scanning compliance</a:t>
            </a:r>
            <a:endParaRPr lang="en-US" sz="3000" dirty="0"/>
          </a:p>
        </p:txBody>
      </p:sp>
      <p:sp>
        <p:nvSpPr>
          <p:cNvPr id="4" name="Text 2"/>
          <p:cNvSpPr txBox="1"/>
          <p:nvPr/>
        </p:nvSpPr>
        <p:spPr>
          <a:xfrm>
            <a:off x="548640" y="1261872"/>
            <a:ext cx="10972800" cy="320040"/>
          </a:xfrm>
          <a:prstGeom prst="rect">
            <a:avLst/>
          </a:prstGeom>
          <a:noFill/>
          <a:ln/>
        </p:spPr>
        <p:txBody>
          <a:bodyPr wrap="square" lIns="0" tIns="0" rIns="0" bIns="0" rtlCol="0" anchor="ctr"/>
          <a:lstStyle/>
          <a:p>
            <a:pPr indent="0" marL="0">
              <a:buNone/>
            </a:pPr>
            <a:r>
              <a:rPr lang="en-US" sz="1500" dirty="0">
                <a:solidFill>
                  <a:srgbClr val="6B7280"/>
                </a:solidFill>
                <a:latin typeface="Calibri" pitchFamily="34" charset="0"/>
                <a:ea typeface="Calibri" pitchFamily="34" charset="-122"/>
                <a:cs typeface="Calibri" pitchFamily="34" charset="-120"/>
              </a:rPr>
              <a:t>Freight bills scanned  ·  </a:t>
            </a:r>
            <a:pPr indent="0" marL="0">
              <a:buNone/>
            </a:pPr>
            <a:r>
              <a:rPr lang="en-US" sz="1500" b="1" dirty="0">
                <a:solidFill>
                  <a:srgbClr val="111827"/>
                </a:solidFill>
                <a:latin typeface="Calibri" pitchFamily="34" charset="0"/>
                <a:ea typeface="Calibri" pitchFamily="34" charset="-122"/>
                <a:cs typeface="Calibri" pitchFamily="34" charset="-120"/>
              </a:rPr>
              <a:t>Sep 6 – Sep 11, 2026</a:t>
            </a:r>
            <a:pPr indent="0" marL="0">
              <a:buNone/>
            </a:pPr>
            <a:r>
              <a:rPr lang="en-US" sz="1500" dirty="0">
                <a:solidFill>
                  <a:srgbClr val="6B7280"/>
                </a:solidFill>
                <a:latin typeface="Calibri" pitchFamily="34" charset="0"/>
                <a:ea typeface="Calibri" pitchFamily="34" charset="-122"/>
                <a:cs typeface="Calibri" pitchFamily="34" charset="-120"/>
              </a:rPr>
              <a:t>  ·  Target 98%</a:t>
            </a:r>
            <a:endParaRPr lang="en-US" sz="1500" dirty="0"/>
          </a:p>
        </p:txBody>
      </p:sp>
      <p:sp>
        <p:nvSpPr>
          <p:cNvPr id="5" name="Shape 3"/>
          <p:cNvSpPr/>
          <p:nvPr/>
        </p:nvSpPr>
        <p:spPr>
          <a:xfrm>
            <a:off x="548640" y="1783080"/>
            <a:ext cx="2567178" cy="2971800"/>
          </a:xfrm>
          <a:prstGeom prst="roundRect">
            <a:avLst>
              <a:gd name="adj" fmla="val 2850"/>
            </a:avLst>
          </a:prstGeom>
          <a:solidFill>
            <a:srgbClr val="F3F4F6"/>
          </a:solidFill>
          <a:ln w="12700">
            <a:solidFill>
              <a:srgbClr val="F3F4F6"/>
            </a:solidFill>
            <a:prstDash val="solid"/>
          </a:ln>
        </p:spPr>
      </p:sp>
      <p:sp>
        <p:nvSpPr>
          <p:cNvPr id="6" name="Shape 4"/>
          <p:cNvSpPr/>
          <p:nvPr/>
        </p:nvSpPr>
        <p:spPr>
          <a:xfrm>
            <a:off x="777240" y="2011680"/>
            <a:ext cx="502920" cy="502920"/>
          </a:xfrm>
          <a:prstGeom prst="ellipse">
            <a:avLst/>
          </a:prstGeom>
          <a:solidFill>
            <a:srgbClr val="EDE9FE"/>
          </a:solidFill>
          <a:ln w="12700">
            <a:solidFill>
              <a:srgbClr val="EDE9FE"/>
            </a:solidFill>
            <a:prstDash val="solid"/>
          </a:ln>
        </p:spPr>
      </p:sp>
      <p:pic>
        <p:nvPicPr>
          <p:cNvPr id="7" name="Image 0" descr="preencoded.png">    </p:cNvPr>
          <p:cNvPicPr>
            <a:picLocks noChangeAspect="1"/>
          </p:cNvPicPr>
          <p:nvPr/>
        </p:nvPicPr>
        <p:blipFill>
          <a:blip r:embed="rId1"/>
          <a:stretch>
            <a:fillRect/>
          </a:stretch>
        </p:blipFill>
        <p:spPr>
          <a:xfrm>
            <a:off x="902970" y="2137410"/>
            <a:ext cx="251460" cy="251460"/>
          </a:xfrm>
          <a:prstGeom prst="rect">
            <a:avLst/>
          </a:prstGeom>
        </p:spPr>
      </p:pic>
      <p:sp>
        <p:nvSpPr>
          <p:cNvPr id="8" name="Text 5"/>
          <p:cNvSpPr txBox="1"/>
          <p:nvPr/>
        </p:nvSpPr>
        <p:spPr>
          <a:xfrm>
            <a:off x="777240" y="2651760"/>
            <a:ext cx="2109978" cy="36576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Delivery trips</a:t>
            </a:r>
            <a:endParaRPr lang="en-US" sz="1600" dirty="0"/>
          </a:p>
        </p:txBody>
      </p:sp>
      <p:sp>
        <p:nvSpPr>
          <p:cNvPr id="9" name="Text 6"/>
          <p:cNvSpPr txBox="1"/>
          <p:nvPr/>
        </p:nvSpPr>
        <p:spPr>
          <a:xfrm>
            <a:off x="777240" y="3017520"/>
            <a:ext cx="2109978" cy="777240"/>
          </a:xfrm>
          <a:prstGeom prst="rect">
            <a:avLst/>
          </a:prstGeom>
          <a:noFill/>
          <a:ln/>
        </p:spPr>
        <p:txBody>
          <a:bodyPr wrap="square" lIns="0" tIns="0" rIns="0" bIns="0" rtlCol="0" anchor="ctr"/>
          <a:lstStyle/>
          <a:p>
            <a:pPr indent="0" marL="0">
              <a:buNone/>
            </a:pPr>
            <a:r>
              <a:rPr lang="en-US" sz="4000" b="1" dirty="0">
                <a:solidFill>
                  <a:srgbClr val="D97706"/>
                </a:solidFill>
                <a:latin typeface="Calibri" pitchFamily="34" charset="0"/>
                <a:ea typeface="Calibri" pitchFamily="34" charset="-122"/>
                <a:cs typeface="Calibri" pitchFamily="34" charset="-120"/>
              </a:rPr>
              <a:t>TBC</a:t>
            </a:r>
            <a:endParaRPr lang="en-US" sz="4000" dirty="0"/>
          </a:p>
        </p:txBody>
      </p:sp>
      <p:sp>
        <p:nvSpPr>
          <p:cNvPr id="10" name="Text 7"/>
          <p:cNvSpPr txBox="1"/>
          <p:nvPr/>
        </p:nvSpPr>
        <p:spPr>
          <a:xfrm>
            <a:off x="777240" y="3840480"/>
            <a:ext cx="2109978" cy="7772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Target 98%</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Gap to target: </a:t>
            </a:r>
            <a:pP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Fiscal YTD: </a:t>
            </a:r>
            <a:pP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p>
        </p:txBody>
      </p:sp>
      <p:sp>
        <p:nvSpPr>
          <p:cNvPr id="11" name="Shape 8"/>
          <p:cNvSpPr/>
          <p:nvPr/>
        </p:nvSpPr>
        <p:spPr>
          <a:xfrm>
            <a:off x="3390138" y="1783080"/>
            <a:ext cx="2567178" cy="2971800"/>
          </a:xfrm>
          <a:prstGeom prst="roundRect">
            <a:avLst>
              <a:gd name="adj" fmla="val 2850"/>
            </a:avLst>
          </a:prstGeom>
          <a:solidFill>
            <a:srgbClr val="F3F4F6"/>
          </a:solidFill>
          <a:ln w="12700">
            <a:solidFill>
              <a:srgbClr val="F3F4F6"/>
            </a:solidFill>
            <a:prstDash val="solid"/>
          </a:ln>
        </p:spPr>
      </p:sp>
      <p:sp>
        <p:nvSpPr>
          <p:cNvPr id="12" name="Shape 9"/>
          <p:cNvSpPr/>
          <p:nvPr/>
        </p:nvSpPr>
        <p:spPr>
          <a:xfrm>
            <a:off x="3618738" y="2011680"/>
            <a:ext cx="502920" cy="502920"/>
          </a:xfrm>
          <a:prstGeom prst="ellipse">
            <a:avLst/>
          </a:prstGeom>
          <a:solidFill>
            <a:srgbClr val="EDE9FE"/>
          </a:solidFill>
          <a:ln w="12700">
            <a:solidFill>
              <a:srgbClr val="EDE9FE"/>
            </a:solidFill>
            <a:prstDash val="solid"/>
          </a:ln>
        </p:spPr>
      </p:sp>
      <p:pic>
        <p:nvPicPr>
          <p:cNvPr id="13" name="Image 1" descr="preencoded.png">    </p:cNvPr>
          <p:cNvPicPr>
            <a:picLocks noChangeAspect="1"/>
          </p:cNvPicPr>
          <p:nvPr/>
        </p:nvPicPr>
        <p:blipFill>
          <a:blip r:embed="rId2"/>
          <a:stretch>
            <a:fillRect/>
          </a:stretch>
        </p:blipFill>
        <p:spPr>
          <a:xfrm>
            <a:off x="3744468" y="2137410"/>
            <a:ext cx="251460" cy="251460"/>
          </a:xfrm>
          <a:prstGeom prst="rect">
            <a:avLst/>
          </a:prstGeom>
        </p:spPr>
      </p:pic>
      <p:sp>
        <p:nvSpPr>
          <p:cNvPr id="14" name="Text 10"/>
          <p:cNvSpPr txBox="1"/>
          <p:nvPr/>
        </p:nvSpPr>
        <p:spPr>
          <a:xfrm>
            <a:off x="3618738" y="2651760"/>
            <a:ext cx="2109978" cy="36576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Line haul · outbound</a:t>
            </a:r>
            <a:endParaRPr lang="en-US" sz="1600" dirty="0"/>
          </a:p>
        </p:txBody>
      </p:sp>
      <p:sp>
        <p:nvSpPr>
          <p:cNvPr id="15" name="Text 11"/>
          <p:cNvSpPr txBox="1"/>
          <p:nvPr/>
        </p:nvSpPr>
        <p:spPr>
          <a:xfrm>
            <a:off x="3618738" y="3017520"/>
            <a:ext cx="2109978" cy="777240"/>
          </a:xfrm>
          <a:prstGeom prst="rect">
            <a:avLst/>
          </a:prstGeom>
          <a:noFill/>
          <a:ln/>
        </p:spPr>
        <p:txBody>
          <a:bodyPr wrap="square" lIns="0" tIns="0" rIns="0" bIns="0" rtlCol="0" anchor="ctr"/>
          <a:lstStyle/>
          <a:p>
            <a:pPr indent="0" marL="0">
              <a:buNone/>
            </a:pPr>
            <a:r>
              <a:rPr lang="en-US" sz="4000" b="1" dirty="0">
                <a:solidFill>
                  <a:srgbClr val="D97706"/>
                </a:solidFill>
                <a:latin typeface="Calibri" pitchFamily="34" charset="0"/>
                <a:ea typeface="Calibri" pitchFamily="34" charset="-122"/>
                <a:cs typeface="Calibri" pitchFamily="34" charset="-120"/>
              </a:rPr>
              <a:t>TBC</a:t>
            </a:r>
            <a:endParaRPr lang="en-US" sz="4000" dirty="0"/>
          </a:p>
        </p:txBody>
      </p:sp>
      <p:sp>
        <p:nvSpPr>
          <p:cNvPr id="16" name="Text 12"/>
          <p:cNvSpPr txBox="1"/>
          <p:nvPr/>
        </p:nvSpPr>
        <p:spPr>
          <a:xfrm>
            <a:off x="3618738" y="3840480"/>
            <a:ext cx="2109978" cy="7772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Target 98%</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Gap to target: </a:t>
            </a:r>
            <a:pP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Fiscal YTD: </a:t>
            </a:r>
            <a:pP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p>
        </p:txBody>
      </p:sp>
      <p:sp>
        <p:nvSpPr>
          <p:cNvPr id="17" name="Shape 13"/>
          <p:cNvSpPr/>
          <p:nvPr/>
        </p:nvSpPr>
        <p:spPr>
          <a:xfrm>
            <a:off x="6231636" y="1783080"/>
            <a:ext cx="2567178" cy="2971800"/>
          </a:xfrm>
          <a:prstGeom prst="roundRect">
            <a:avLst>
              <a:gd name="adj" fmla="val 2850"/>
            </a:avLst>
          </a:prstGeom>
          <a:solidFill>
            <a:srgbClr val="F3F4F6"/>
          </a:solidFill>
          <a:ln w="12700">
            <a:solidFill>
              <a:srgbClr val="F3F4F6"/>
            </a:solidFill>
            <a:prstDash val="solid"/>
          </a:ln>
        </p:spPr>
      </p:sp>
      <p:sp>
        <p:nvSpPr>
          <p:cNvPr id="18" name="Shape 14"/>
          <p:cNvSpPr/>
          <p:nvPr/>
        </p:nvSpPr>
        <p:spPr>
          <a:xfrm>
            <a:off x="6460236" y="2011680"/>
            <a:ext cx="502920" cy="502920"/>
          </a:xfrm>
          <a:prstGeom prst="ellipse">
            <a:avLst/>
          </a:prstGeom>
          <a:solidFill>
            <a:srgbClr val="EDE9FE"/>
          </a:solidFill>
          <a:ln w="12700">
            <a:solidFill>
              <a:srgbClr val="EDE9FE"/>
            </a:solidFill>
            <a:prstDash val="solid"/>
          </a:ln>
        </p:spPr>
      </p:sp>
      <p:pic>
        <p:nvPicPr>
          <p:cNvPr id="19" name="Image 2" descr="preencoded.png">    </p:cNvPr>
          <p:cNvPicPr>
            <a:picLocks noChangeAspect="1"/>
          </p:cNvPicPr>
          <p:nvPr/>
        </p:nvPicPr>
        <p:blipFill>
          <a:blip r:embed="rId3"/>
          <a:stretch>
            <a:fillRect/>
          </a:stretch>
        </p:blipFill>
        <p:spPr>
          <a:xfrm>
            <a:off x="6585966" y="2137410"/>
            <a:ext cx="251460" cy="251460"/>
          </a:xfrm>
          <a:prstGeom prst="rect">
            <a:avLst/>
          </a:prstGeom>
        </p:spPr>
      </p:pic>
      <p:sp>
        <p:nvSpPr>
          <p:cNvPr id="20" name="Text 15"/>
          <p:cNvSpPr txBox="1"/>
          <p:nvPr/>
        </p:nvSpPr>
        <p:spPr>
          <a:xfrm>
            <a:off x="6460236" y="2651760"/>
            <a:ext cx="2109978" cy="36576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Line haul · inbound</a:t>
            </a:r>
            <a:endParaRPr lang="en-US" sz="1600" dirty="0"/>
          </a:p>
        </p:txBody>
      </p:sp>
      <p:sp>
        <p:nvSpPr>
          <p:cNvPr id="21" name="Text 16"/>
          <p:cNvSpPr txBox="1"/>
          <p:nvPr/>
        </p:nvSpPr>
        <p:spPr>
          <a:xfrm>
            <a:off x="6460236" y="3017520"/>
            <a:ext cx="2109978" cy="777240"/>
          </a:xfrm>
          <a:prstGeom prst="rect">
            <a:avLst/>
          </a:prstGeom>
          <a:noFill/>
          <a:ln/>
        </p:spPr>
        <p:txBody>
          <a:bodyPr wrap="square" lIns="0" tIns="0" rIns="0" bIns="0" rtlCol="0" anchor="ctr"/>
          <a:lstStyle/>
          <a:p>
            <a:pPr indent="0" marL="0">
              <a:buNone/>
            </a:pPr>
            <a:r>
              <a:rPr lang="en-US" sz="4000" b="1" dirty="0">
                <a:solidFill>
                  <a:srgbClr val="D97706"/>
                </a:solidFill>
                <a:latin typeface="Calibri" pitchFamily="34" charset="0"/>
                <a:ea typeface="Calibri" pitchFamily="34" charset="-122"/>
                <a:cs typeface="Calibri" pitchFamily="34" charset="-120"/>
              </a:rPr>
              <a:t>TBC</a:t>
            </a:r>
            <a:endParaRPr lang="en-US" sz="4000" dirty="0"/>
          </a:p>
        </p:txBody>
      </p:sp>
      <p:sp>
        <p:nvSpPr>
          <p:cNvPr id="22" name="Text 17"/>
          <p:cNvSpPr txBox="1"/>
          <p:nvPr/>
        </p:nvSpPr>
        <p:spPr>
          <a:xfrm>
            <a:off x="6460236" y="3840480"/>
            <a:ext cx="2109978" cy="7772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Target 98%</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Gap to target: </a:t>
            </a:r>
            <a:pP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p>
        </p:txBody>
      </p:sp>
      <p:sp>
        <p:nvSpPr>
          <p:cNvPr id="23" name="Shape 18"/>
          <p:cNvSpPr/>
          <p:nvPr/>
        </p:nvSpPr>
        <p:spPr>
          <a:xfrm>
            <a:off x="9073134" y="1783080"/>
            <a:ext cx="2567178" cy="2971800"/>
          </a:xfrm>
          <a:prstGeom prst="roundRect">
            <a:avLst>
              <a:gd name="adj" fmla="val 2850"/>
            </a:avLst>
          </a:prstGeom>
          <a:solidFill>
            <a:srgbClr val="F3F4F6"/>
          </a:solidFill>
          <a:ln w="12700">
            <a:solidFill>
              <a:srgbClr val="F3F4F6"/>
            </a:solidFill>
            <a:prstDash val="solid"/>
          </a:ln>
        </p:spPr>
      </p:sp>
      <p:sp>
        <p:nvSpPr>
          <p:cNvPr id="24" name="Shape 19"/>
          <p:cNvSpPr/>
          <p:nvPr/>
        </p:nvSpPr>
        <p:spPr>
          <a:xfrm>
            <a:off x="9301734" y="2011680"/>
            <a:ext cx="502920" cy="502920"/>
          </a:xfrm>
          <a:prstGeom prst="ellipse">
            <a:avLst/>
          </a:prstGeom>
          <a:solidFill>
            <a:srgbClr val="EDE9FE"/>
          </a:solidFill>
          <a:ln w="12700">
            <a:solidFill>
              <a:srgbClr val="EDE9FE"/>
            </a:solidFill>
            <a:prstDash val="solid"/>
          </a:ln>
        </p:spPr>
      </p:sp>
      <p:pic>
        <p:nvPicPr>
          <p:cNvPr id="25" name="Image 3" descr="preencoded.png">    </p:cNvPr>
          <p:cNvPicPr>
            <a:picLocks noChangeAspect="1"/>
          </p:cNvPicPr>
          <p:nvPr/>
        </p:nvPicPr>
        <p:blipFill>
          <a:blip r:embed="rId4"/>
          <a:stretch>
            <a:fillRect/>
          </a:stretch>
        </p:blipFill>
        <p:spPr>
          <a:xfrm>
            <a:off x="9427464" y="2137410"/>
            <a:ext cx="251460" cy="251460"/>
          </a:xfrm>
          <a:prstGeom prst="rect">
            <a:avLst/>
          </a:prstGeom>
        </p:spPr>
      </p:pic>
      <p:sp>
        <p:nvSpPr>
          <p:cNvPr id="26" name="Text 20"/>
          <p:cNvSpPr txBox="1"/>
          <p:nvPr/>
        </p:nvSpPr>
        <p:spPr>
          <a:xfrm>
            <a:off x="9301734" y="2651760"/>
            <a:ext cx="2109978" cy="36576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Pickup trips</a:t>
            </a:r>
            <a:endParaRPr lang="en-US" sz="1600" dirty="0"/>
          </a:p>
        </p:txBody>
      </p:sp>
      <p:sp>
        <p:nvSpPr>
          <p:cNvPr id="27" name="Text 21"/>
          <p:cNvSpPr txBox="1"/>
          <p:nvPr/>
        </p:nvSpPr>
        <p:spPr>
          <a:xfrm>
            <a:off x="9301734" y="3017520"/>
            <a:ext cx="2109978" cy="777240"/>
          </a:xfrm>
          <a:prstGeom prst="rect">
            <a:avLst/>
          </a:prstGeom>
          <a:noFill/>
          <a:ln/>
        </p:spPr>
        <p:txBody>
          <a:bodyPr wrap="square" lIns="0" tIns="0" rIns="0" bIns="0" rtlCol="0" anchor="ctr"/>
          <a:lstStyle/>
          <a:p>
            <a:pPr indent="0" marL="0">
              <a:buNone/>
            </a:pPr>
            <a:r>
              <a:rPr lang="en-US" sz="4000" b="1" dirty="0">
                <a:solidFill>
                  <a:srgbClr val="D97706"/>
                </a:solidFill>
                <a:latin typeface="Calibri" pitchFamily="34" charset="0"/>
                <a:ea typeface="Calibri" pitchFamily="34" charset="-122"/>
                <a:cs typeface="Calibri" pitchFamily="34" charset="-120"/>
              </a:rPr>
              <a:t>TBC</a:t>
            </a:r>
            <a:endParaRPr lang="en-US" sz="4000" dirty="0"/>
          </a:p>
        </p:txBody>
      </p:sp>
      <p:sp>
        <p:nvSpPr>
          <p:cNvPr id="28" name="Text 22"/>
          <p:cNvSpPr txBox="1"/>
          <p:nvPr/>
        </p:nvSpPr>
        <p:spPr>
          <a:xfrm>
            <a:off x="9301734" y="3840480"/>
            <a:ext cx="2109978" cy="7772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Target 98%</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Gap to target: </a:t>
            </a:r>
            <a:pP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p>
        </p:txBody>
      </p:sp>
      <p:sp>
        <p:nvSpPr>
          <p:cNvPr id="29" name="Shape 23"/>
          <p:cNvSpPr/>
          <p:nvPr/>
        </p:nvSpPr>
        <p:spPr>
          <a:xfrm>
            <a:off x="548640" y="5029200"/>
            <a:ext cx="11091672" cy="1143000"/>
          </a:xfrm>
          <a:prstGeom prst="roundRect">
            <a:avLst>
              <a:gd name="adj" fmla="val 6400"/>
            </a:avLst>
          </a:prstGeom>
          <a:solidFill>
            <a:srgbClr val="F5F3FF"/>
          </a:solidFill>
          <a:ln w="12700">
            <a:solidFill>
              <a:srgbClr val="F5F3FF"/>
            </a:solidFill>
            <a:prstDash val="solid"/>
          </a:ln>
        </p:spPr>
      </p:sp>
      <p:sp>
        <p:nvSpPr>
          <p:cNvPr id="30" name="Shape 24"/>
          <p:cNvSpPr/>
          <p:nvPr/>
        </p:nvSpPr>
        <p:spPr>
          <a:xfrm>
            <a:off x="777240" y="5303520"/>
            <a:ext cx="566928" cy="566928"/>
          </a:xfrm>
          <a:prstGeom prst="ellipse">
            <a:avLst/>
          </a:prstGeom>
          <a:solidFill>
            <a:srgbClr val="7C3AED"/>
          </a:solidFill>
          <a:ln w="12700">
            <a:solidFill>
              <a:srgbClr val="7C3AED"/>
            </a:solidFill>
            <a:prstDash val="solid"/>
          </a:ln>
        </p:spPr>
      </p:sp>
      <p:pic>
        <p:nvPicPr>
          <p:cNvPr id="31" name="Image 4" descr="preencoded.png">    </p:cNvPr>
          <p:cNvPicPr>
            <a:picLocks noChangeAspect="1"/>
          </p:cNvPicPr>
          <p:nvPr/>
        </p:nvPicPr>
        <p:blipFill>
          <a:blip r:embed="rId5"/>
          <a:stretch>
            <a:fillRect/>
          </a:stretch>
        </p:blipFill>
        <p:spPr>
          <a:xfrm>
            <a:off x="918972" y="5445252"/>
            <a:ext cx="283464" cy="283464"/>
          </a:xfrm>
          <a:prstGeom prst="rect">
            <a:avLst/>
          </a:prstGeom>
        </p:spPr>
      </p:pic>
      <p:sp>
        <p:nvSpPr>
          <p:cNvPr id="32" name="Text 25"/>
          <p:cNvSpPr txBox="1"/>
          <p:nvPr/>
        </p:nvSpPr>
        <p:spPr>
          <a:xfrm>
            <a:off x="1554480" y="5138928"/>
            <a:ext cx="9875520" cy="914400"/>
          </a:xfrm>
          <a:prstGeom prst="rect">
            <a:avLst/>
          </a:prstGeom>
          <a:noFill/>
          <a:ln/>
        </p:spPr>
        <p:txBody>
          <a:bodyPr wrap="square" lIns="0" tIns="0" rIns="0" bIns="0" rtlCol="0" anchor="ctr"/>
          <a:lstStyle/>
          <a:p>
            <a:pPr indent="0" marL="0">
              <a:spcAft>
                <a:spcPts val="400"/>
              </a:spcAft>
              <a:buNone/>
            </a:pPr>
            <a:r>
              <a:rPr lang="en-US" sz="1500" b="1" dirty="0">
                <a:solidFill>
                  <a:srgbClr val="111827"/>
                </a:solidFill>
                <a:latin typeface="Calibri" pitchFamily="34" charset="0"/>
                <a:ea typeface="Calibri" pitchFamily="34" charset="-122"/>
                <a:cs typeface="Calibri" pitchFamily="34" charset="-120"/>
              </a:rPr>
              <a:t>Scanning compliance checked every shift (see Scanning slide).</a:t>
            </a:r>
            <a:endParaRPr lang="en-US" sz="1500" dirty="0"/>
          </a:p>
          <a:p>
            <a:pPr indent="0" marL="0">
              <a:spcAft>
                <a:spcPts val="400"/>
              </a:spcAft>
              <a:buNone/>
            </a:pPr>
            <a:r>
              <a:rPr lang="en-US" sz="1500" dirty="0">
                <a:solidFill>
                  <a:srgbClr val="1F2937"/>
                </a:solidFill>
                <a:latin typeface="Calibri" pitchFamily="34" charset="0"/>
                <a:ea typeface="Calibri" pitchFamily="34" charset="-122"/>
                <a:cs typeface="Calibri" pitchFamily="34" charset="-120"/>
              </a:rPr>
              <a:t>Drivers own the freight bill — ownership of the FB from inbound to delivery.</a:t>
            </a:r>
            <a:endParaRPr lang="en-US" sz="1500" dirty="0"/>
          </a:p>
        </p:txBody>
      </p:sp>
      <p:sp>
        <p:nvSpPr>
          <p:cNvPr id="33" name="Text 26"/>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Mississauga Terminal · F27 Senior Leadership Review · Sep 29, 2026</a:t>
            </a:r>
            <a:endParaRPr lang="en-US" sz="900" dirty="0"/>
          </a:p>
        </p:txBody>
      </p:sp>
      <p:sp>
        <p:nvSpPr>
          <p:cNvPr id="34" name="Text 27"/>
          <p:cNvSpPr txBox="1"/>
          <p:nvPr/>
        </p:nvSpPr>
        <p:spPr>
          <a:xfrm>
            <a:off x="10725912" y="6473952"/>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7 / 21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Calibri" pitchFamily="34" charset="0"/>
                <a:ea typeface="Calibri" pitchFamily="34" charset="-122"/>
                <a:cs typeface="Calibri" pitchFamily="34" charset="-120"/>
              </a:rPr>
              <a:t>SCA</a:t>
            </a:r>
            <a:endParaRPr lang="en-US" sz="1200" dirty="0"/>
          </a:p>
        </p:txBody>
      </p:sp>
      <p:sp>
        <p:nvSpPr>
          <p:cNvPr id="3" name="Text 1"/>
          <p:cNvSpPr txBox="1"/>
          <p:nvPr/>
        </p:nvSpPr>
        <p:spPr>
          <a:xfrm>
            <a:off x="548640" y="603504"/>
            <a:ext cx="11091672" cy="603504"/>
          </a:xfrm>
          <a:prstGeom prst="rect">
            <a:avLst/>
          </a:prstGeom>
          <a:noFill/>
          <a:ln/>
        </p:spPr>
        <p:txBody>
          <a:bodyPr wrap="square" lIns="0" tIns="0" rIns="0" bIns="0" rtlCol="0" anchor="t"/>
          <a:lstStyle/>
          <a:p>
            <a:pPr indent="0" marL="0">
              <a:buNone/>
            </a:pPr>
            <a:r>
              <a:rPr lang="en-US" sz="3000" b="1" dirty="0">
                <a:solidFill>
                  <a:srgbClr val="111827"/>
                </a:solidFill>
                <a:latin typeface="Calibri" pitchFamily="34" charset="0"/>
                <a:ea typeface="Calibri" pitchFamily="34" charset="-122"/>
                <a:cs typeface="Calibri" pitchFamily="34" charset="-120"/>
              </a:rPr>
              <a:t>SCA — Cost per PRO (Sept MTD)</a:t>
            </a:r>
            <a:endParaRPr lang="en-US" sz="3000" dirty="0"/>
          </a:p>
        </p:txBody>
      </p:sp>
      <p:sp>
        <p:nvSpPr>
          <p:cNvPr id="4" name="Shape 2"/>
          <p:cNvSpPr/>
          <p:nvPr/>
        </p:nvSpPr>
        <p:spPr>
          <a:xfrm>
            <a:off x="548640" y="1371600"/>
            <a:ext cx="5120640" cy="4572000"/>
          </a:xfrm>
          <a:prstGeom prst="roundRect">
            <a:avLst>
              <a:gd name="adj" fmla="val 1600"/>
            </a:avLst>
          </a:prstGeom>
          <a:solidFill>
            <a:srgbClr val="F3F4F6"/>
          </a:solidFill>
          <a:ln w="12700">
            <a:solidFill>
              <a:srgbClr val="F3F4F6"/>
            </a:solidFill>
            <a:prstDash val="solid"/>
          </a:ln>
        </p:spPr>
      </p:sp>
      <p:sp>
        <p:nvSpPr>
          <p:cNvPr id="5" name="Text 3"/>
          <p:cNvSpPr txBox="1"/>
          <p:nvPr/>
        </p:nvSpPr>
        <p:spPr>
          <a:xfrm>
            <a:off x="822960" y="1600200"/>
            <a:ext cx="4572000" cy="320040"/>
          </a:xfrm>
          <a:prstGeom prst="rect">
            <a:avLst/>
          </a:prstGeom>
          <a:noFill/>
          <a:ln/>
        </p:spPr>
        <p:txBody>
          <a:bodyPr wrap="square" lIns="0" tIns="0" rIns="0" bIns="0" rtlCol="0" anchor="ctr"/>
          <a:lstStyle/>
          <a:p>
            <a:pPr indent="0" marL="0">
              <a:buNone/>
            </a:pPr>
            <a:r>
              <a:rPr lang="en-US" sz="1500" b="1" dirty="0">
                <a:solidFill>
                  <a:srgbClr val="6B7280"/>
                </a:solidFill>
                <a:latin typeface="Calibri" pitchFamily="34" charset="0"/>
                <a:ea typeface="Calibri" pitchFamily="34" charset="-122"/>
                <a:cs typeface="Calibri" pitchFamily="34" charset="-120"/>
              </a:rPr>
              <a:t>Cost per PRO · MTD</a:t>
            </a:r>
            <a:endParaRPr lang="en-US" sz="1500" dirty="0"/>
          </a:p>
        </p:txBody>
      </p:sp>
      <p:sp>
        <p:nvSpPr>
          <p:cNvPr id="6" name="Text 4"/>
          <p:cNvSpPr txBox="1"/>
          <p:nvPr/>
        </p:nvSpPr>
        <p:spPr>
          <a:xfrm>
            <a:off x="822960" y="1920240"/>
            <a:ext cx="4572000" cy="1097280"/>
          </a:xfrm>
          <a:prstGeom prst="rect">
            <a:avLst/>
          </a:prstGeom>
          <a:noFill/>
          <a:ln/>
        </p:spPr>
        <p:txBody>
          <a:bodyPr wrap="square" lIns="0" tIns="0" rIns="0" bIns="0" rtlCol="0" anchor="ctr"/>
          <a:lstStyle/>
          <a:p>
            <a:pPr indent="0" marL="0">
              <a:buNone/>
            </a:pPr>
            <a:r>
              <a:rPr lang="en-US" sz="7200" b="1" dirty="0">
                <a:solidFill>
                  <a:srgbClr val="111827"/>
                </a:solidFill>
                <a:latin typeface="Calibri" pitchFamily="34" charset="0"/>
                <a:ea typeface="Calibri" pitchFamily="34" charset="-122"/>
                <a:cs typeface="Calibri" pitchFamily="34" charset="-120"/>
              </a:rPr>
              <a:t>$6.60</a:t>
            </a:r>
            <a:endParaRPr lang="en-US" sz="7200" dirty="0"/>
          </a:p>
        </p:txBody>
      </p:sp>
      <p:sp>
        <p:nvSpPr>
          <p:cNvPr id="7" name="Text 5"/>
          <p:cNvSpPr txBox="1"/>
          <p:nvPr/>
        </p:nvSpPr>
        <p:spPr>
          <a:xfrm>
            <a:off x="822960" y="3063240"/>
            <a:ext cx="4572000" cy="365760"/>
          </a:xfrm>
          <a:prstGeom prst="rect">
            <a:avLst/>
          </a:prstGeom>
          <a:noFill/>
          <a:ln/>
        </p:spPr>
        <p:txBody>
          <a:bodyPr wrap="square" lIns="0" tIns="0" rIns="0" bIns="0" rtlCol="0" anchor="ctr"/>
          <a:lstStyle/>
          <a:p>
            <a:pPr indent="0" marL="0">
              <a:buNone/>
            </a:pPr>
            <a:r>
              <a:rPr lang="en-US" sz="1800" dirty="0">
                <a:solidFill>
                  <a:srgbClr val="6B7280"/>
                </a:solidFill>
                <a:latin typeface="Calibri" pitchFamily="34" charset="0"/>
                <a:ea typeface="Calibri" pitchFamily="34" charset="-122"/>
                <a:cs typeface="Calibri" pitchFamily="34" charset="-120"/>
              </a:rPr>
              <a:t>vs </a:t>
            </a:r>
            <a:pPr indent="0" marL="0">
              <a:buNone/>
            </a:pPr>
            <a:r>
              <a:rPr lang="en-US" sz="1800" b="1" dirty="0">
                <a:solidFill>
                  <a:srgbClr val="1F2937"/>
                </a:solidFill>
                <a:latin typeface="Calibri" pitchFamily="34" charset="0"/>
                <a:ea typeface="Calibri" pitchFamily="34" charset="-122"/>
                <a:cs typeface="Calibri" pitchFamily="34" charset="-120"/>
              </a:rPr>
              <a:t>$6.85</a:t>
            </a:r>
            <a:pPr indent="0" marL="0">
              <a:buNone/>
            </a:pPr>
            <a:r>
              <a:rPr lang="en-US" sz="1800" dirty="0">
                <a:solidFill>
                  <a:srgbClr val="6B7280"/>
                </a:solidFill>
                <a:latin typeface="Calibri" pitchFamily="34" charset="0"/>
                <a:ea typeface="Calibri" pitchFamily="34" charset="-122"/>
                <a:cs typeface="Calibri" pitchFamily="34" charset="-120"/>
              </a:rPr>
              <a:t> target</a:t>
            </a:r>
            <a:endParaRPr lang="en-US" sz="1800" dirty="0"/>
          </a:p>
        </p:txBody>
      </p:sp>
      <p:sp>
        <p:nvSpPr>
          <p:cNvPr id="8" name="Text 6"/>
          <p:cNvSpPr txBox="1"/>
          <p:nvPr/>
        </p:nvSpPr>
        <p:spPr>
          <a:xfrm>
            <a:off x="822960" y="3566160"/>
            <a:ext cx="4572000" cy="411480"/>
          </a:xfrm>
          <a:prstGeom prst="rect">
            <a:avLst/>
          </a:prstGeom>
          <a:noFill/>
          <a:ln/>
        </p:spPr>
        <p:txBody>
          <a:bodyPr wrap="square" lIns="0" tIns="0" rIns="0" bIns="0" rtlCol="0" anchor="ctr"/>
          <a:lstStyle/>
          <a:p>
            <a:pPr indent="0" marL="0">
              <a:buNone/>
            </a:pPr>
            <a:r>
              <a:rPr lang="en-US" sz="2000" b="1" dirty="0">
                <a:solidFill>
                  <a:srgbClr val="111827"/>
                </a:solidFill>
                <a:latin typeface="Calibri" pitchFamily="34" charset="0"/>
                <a:ea typeface="Calibri" pitchFamily="34" charset="-122"/>
                <a:cs typeface="Calibri" pitchFamily="34" charset="-120"/>
              </a:rPr>
              <a:t>96.3% of target — $0.25 under</a:t>
            </a:r>
            <a:endParaRPr lang="en-US" sz="2000" dirty="0"/>
          </a:p>
        </p:txBody>
      </p:sp>
      <p:sp>
        <p:nvSpPr>
          <p:cNvPr id="9" name="Shape 7"/>
          <p:cNvSpPr/>
          <p:nvPr/>
        </p:nvSpPr>
        <p:spPr>
          <a:xfrm>
            <a:off x="822960" y="4206240"/>
            <a:ext cx="2103120" cy="457200"/>
          </a:xfrm>
          <a:prstGeom prst="roundRect">
            <a:avLst>
              <a:gd name="adj" fmla="val 16000"/>
            </a:avLst>
          </a:prstGeom>
          <a:solidFill>
            <a:srgbClr val="FEF3C7"/>
          </a:solidFill>
          <a:ln w="12700">
            <a:solidFill>
              <a:srgbClr val="FEF3C7"/>
            </a:solidFill>
            <a:prstDash val="solid"/>
          </a:ln>
        </p:spPr>
      </p:sp>
      <p:sp>
        <p:nvSpPr>
          <p:cNvPr id="10" name="Text 8"/>
          <p:cNvSpPr txBox="1"/>
          <p:nvPr/>
        </p:nvSpPr>
        <p:spPr>
          <a:xfrm>
            <a:off x="822960" y="4206240"/>
            <a:ext cx="2103120" cy="457200"/>
          </a:xfrm>
          <a:prstGeom prst="rect">
            <a:avLst/>
          </a:prstGeom>
          <a:noFill/>
          <a:ln/>
        </p:spPr>
        <p:txBody>
          <a:bodyPr wrap="square" lIns="0" tIns="0" rIns="0" bIns="0" rtlCol="0" anchor="ctr"/>
          <a:lstStyle/>
          <a:p>
            <a:pPr algn="ctr" indent="0" marL="0">
              <a:buNone/>
            </a:pPr>
            <a:r>
              <a:rPr lang="en-US" sz="1300" b="1" spc="100" kern="0" dirty="0">
                <a:solidFill>
                  <a:srgbClr val="B45309"/>
                </a:solidFill>
                <a:latin typeface="Calibri" pitchFamily="34" charset="0"/>
                <a:ea typeface="Calibri" pitchFamily="34" charset="-122"/>
                <a:cs typeface="Calibri" pitchFamily="34" charset="-120"/>
              </a:rPr>
              <a:t>AMBER · WATCH</a:t>
            </a:r>
            <a:endParaRPr lang="en-US" sz="1300" dirty="0"/>
          </a:p>
        </p:txBody>
      </p:sp>
      <p:sp>
        <p:nvSpPr>
          <p:cNvPr id="11" name="Text 9"/>
          <p:cNvSpPr txBox="1"/>
          <p:nvPr/>
        </p:nvSpPr>
        <p:spPr>
          <a:xfrm>
            <a:off x="3108960" y="4206240"/>
            <a:ext cx="2286000" cy="45720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Report status</a:t>
            </a:r>
            <a:endParaRPr lang="en-US" sz="1200" dirty="0"/>
          </a:p>
        </p:txBody>
      </p:sp>
      <p:sp>
        <p:nvSpPr>
          <p:cNvPr id="12" name="Text 10"/>
          <p:cNvSpPr txBox="1"/>
          <p:nvPr/>
        </p:nvSpPr>
        <p:spPr>
          <a:xfrm>
            <a:off x="822960" y="4937760"/>
            <a:ext cx="4572000" cy="7315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Status bands (% of target):  </a:t>
            </a:r>
            <a:pPr indent="0" marL="0">
              <a:buNone/>
            </a:pPr>
            <a:r>
              <a:rPr lang="en-US" sz="1150" b="1" dirty="0">
                <a:solidFill>
                  <a:srgbClr val="059669"/>
                </a:solidFill>
                <a:latin typeface="Calibri" pitchFamily="34" charset="0"/>
                <a:ea typeface="Calibri" pitchFamily="34" charset="-122"/>
                <a:cs typeface="Calibri" pitchFamily="34" charset="-120"/>
              </a:rPr>
              <a:t>≤95% green</a:t>
            </a:r>
            <a:pPr indent="0" marL="0">
              <a:buNone/>
            </a:pPr>
            <a:r>
              <a:rPr lang="en-US" sz="1150" dirty="0">
                <a:solidFill>
                  <a:srgbClr val="6B7280"/>
                </a:solidFill>
                <a:latin typeface="Calibri" pitchFamily="34" charset="0"/>
                <a:ea typeface="Calibri" pitchFamily="34" charset="-122"/>
                <a:cs typeface="Calibri" pitchFamily="34" charset="-120"/>
              </a:rPr>
              <a:t>  ·  </a:t>
            </a:r>
            <a:pPr indent="0" marL="0">
              <a:buNone/>
            </a:pPr>
            <a:r>
              <a:rPr lang="en-US" sz="1150" b="1" dirty="0">
                <a:solidFill>
                  <a:srgbClr val="B45309"/>
                </a:solidFill>
                <a:latin typeface="Calibri" pitchFamily="34" charset="0"/>
                <a:ea typeface="Calibri" pitchFamily="34" charset="-122"/>
                <a:cs typeface="Calibri" pitchFamily="34" charset="-120"/>
              </a:rPr>
              <a:t>95–100% amber</a:t>
            </a:r>
            <a:pPr indent="0" marL="0">
              <a:buNone/>
            </a:pPr>
            <a:r>
              <a:rPr lang="en-US" sz="1150" dirty="0">
                <a:solidFill>
                  <a:srgbClr val="6B7280"/>
                </a:solidFill>
                <a:latin typeface="Calibri" pitchFamily="34" charset="0"/>
                <a:ea typeface="Calibri" pitchFamily="34" charset="-122"/>
                <a:cs typeface="Calibri" pitchFamily="34" charset="-120"/>
              </a:rPr>
              <a:t>  ·  </a:t>
            </a:r>
            <a:pPr indent="0" marL="0">
              <a:buNone/>
            </a:pPr>
            <a:r>
              <a:rPr lang="en-US" sz="1150" b="1" dirty="0">
                <a:solidFill>
                  <a:srgbClr val="DC2626"/>
                </a:solidFill>
                <a:latin typeface="Calibri" pitchFamily="34" charset="0"/>
                <a:ea typeface="Calibri" pitchFamily="34" charset="-122"/>
                <a:cs typeface="Calibri" pitchFamily="34" charset="-120"/>
              </a:rPr>
              <a:t>&gt;100% red</a:t>
            </a:r>
            <a:endParaRPr lang="en-US" sz="1150" dirty="0"/>
          </a:p>
        </p:txBody>
      </p:sp>
      <p:sp>
        <p:nvSpPr>
          <p:cNvPr id="13" name="Shape 11"/>
          <p:cNvSpPr/>
          <p:nvPr/>
        </p:nvSpPr>
        <p:spPr>
          <a:xfrm>
            <a:off x="5989320" y="1371600"/>
            <a:ext cx="2711196" cy="1417320"/>
          </a:xfrm>
          <a:prstGeom prst="roundRect">
            <a:avLst>
              <a:gd name="adj" fmla="val 5161"/>
            </a:avLst>
          </a:prstGeom>
          <a:solidFill>
            <a:srgbClr val="F3F4F6"/>
          </a:solidFill>
          <a:ln w="12700">
            <a:solidFill>
              <a:srgbClr val="F3F4F6"/>
            </a:solidFill>
            <a:prstDash val="solid"/>
          </a:ln>
        </p:spPr>
      </p:sp>
      <p:sp>
        <p:nvSpPr>
          <p:cNvPr id="14" name="Text 12"/>
          <p:cNvSpPr txBox="1"/>
          <p:nvPr/>
        </p:nvSpPr>
        <p:spPr>
          <a:xfrm>
            <a:off x="6172200" y="1508760"/>
            <a:ext cx="2345436"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FB count MTD (IN + OUT)</a:t>
            </a:r>
            <a:endParaRPr lang="en-US" sz="1100" dirty="0"/>
          </a:p>
        </p:txBody>
      </p:sp>
      <p:sp>
        <p:nvSpPr>
          <p:cNvPr id="15" name="Text 13"/>
          <p:cNvSpPr txBox="1"/>
          <p:nvPr/>
        </p:nvSpPr>
        <p:spPr>
          <a:xfrm>
            <a:off x="6172200" y="1783080"/>
            <a:ext cx="2345436" cy="54864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26,053</a:t>
            </a:r>
            <a:endParaRPr lang="en-US" sz="2800" dirty="0"/>
          </a:p>
        </p:txBody>
      </p:sp>
      <p:sp>
        <p:nvSpPr>
          <p:cNvPr id="16" name="Text 14"/>
          <p:cNvSpPr txBox="1"/>
          <p:nvPr/>
        </p:nvSpPr>
        <p:spPr>
          <a:xfrm>
            <a:off x="6172200" y="2359152"/>
            <a:ext cx="2345436"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September MTD</a:t>
            </a:r>
            <a:endParaRPr lang="en-US" sz="1050" dirty="0"/>
          </a:p>
        </p:txBody>
      </p:sp>
      <p:sp>
        <p:nvSpPr>
          <p:cNvPr id="17" name="Shape 15"/>
          <p:cNvSpPr/>
          <p:nvPr/>
        </p:nvSpPr>
        <p:spPr>
          <a:xfrm>
            <a:off x="8929116" y="1371600"/>
            <a:ext cx="2711196" cy="1417320"/>
          </a:xfrm>
          <a:prstGeom prst="roundRect">
            <a:avLst>
              <a:gd name="adj" fmla="val 5161"/>
            </a:avLst>
          </a:prstGeom>
          <a:solidFill>
            <a:srgbClr val="F3F4F6"/>
          </a:solidFill>
          <a:ln w="12700">
            <a:solidFill>
              <a:srgbClr val="F3F4F6"/>
            </a:solidFill>
            <a:prstDash val="solid"/>
          </a:ln>
        </p:spPr>
      </p:sp>
      <p:sp>
        <p:nvSpPr>
          <p:cNvPr id="18" name="Text 16"/>
          <p:cNvSpPr txBox="1"/>
          <p:nvPr/>
        </p:nvSpPr>
        <p:spPr>
          <a:xfrm>
            <a:off x="9111996" y="1508760"/>
            <a:ext cx="2345436"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Below target MTD</a:t>
            </a:r>
            <a:endParaRPr lang="en-US" sz="1100" dirty="0"/>
          </a:p>
        </p:txBody>
      </p:sp>
      <p:sp>
        <p:nvSpPr>
          <p:cNvPr id="19" name="Text 17"/>
          <p:cNvSpPr txBox="1"/>
          <p:nvPr/>
        </p:nvSpPr>
        <p:spPr>
          <a:xfrm>
            <a:off x="9111996" y="1783080"/>
            <a:ext cx="2345436" cy="548640"/>
          </a:xfrm>
          <a:prstGeom prst="rect">
            <a:avLst/>
          </a:prstGeom>
          <a:noFill/>
          <a:ln/>
        </p:spPr>
        <p:txBody>
          <a:bodyPr wrap="square" lIns="0" tIns="0" rIns="0" bIns="0" rtlCol="0" anchor="ctr"/>
          <a:lstStyle/>
          <a:p>
            <a:pPr indent="0" marL="0">
              <a:buNone/>
            </a:pPr>
            <a:r>
              <a:rPr lang="en-US" sz="2800" b="1" dirty="0">
                <a:solidFill>
                  <a:srgbClr val="059669"/>
                </a:solidFill>
                <a:latin typeface="Calibri" pitchFamily="34" charset="0"/>
                <a:ea typeface="Calibri" pitchFamily="34" charset="-122"/>
                <a:cs typeface="Calibri" pitchFamily="34" charset="-120"/>
              </a:rPr>
              <a:t>≈ $6.5K</a:t>
            </a:r>
            <a:endParaRPr lang="en-US" sz="2800" dirty="0"/>
          </a:p>
        </p:txBody>
      </p:sp>
      <p:sp>
        <p:nvSpPr>
          <p:cNvPr id="20" name="Text 18"/>
          <p:cNvSpPr txBox="1"/>
          <p:nvPr/>
        </p:nvSpPr>
        <p:spPr>
          <a:xfrm>
            <a:off x="9111996" y="2359152"/>
            <a:ext cx="2345436"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Calculated: $0.25 × 26,053 FBs</a:t>
            </a:r>
            <a:endParaRPr lang="en-US" sz="1050" dirty="0"/>
          </a:p>
        </p:txBody>
      </p:sp>
      <p:sp>
        <p:nvSpPr>
          <p:cNvPr id="21" name="Shape 19"/>
          <p:cNvSpPr/>
          <p:nvPr/>
        </p:nvSpPr>
        <p:spPr>
          <a:xfrm>
            <a:off x="5989320" y="3017520"/>
            <a:ext cx="2711196" cy="1417320"/>
          </a:xfrm>
          <a:prstGeom prst="roundRect">
            <a:avLst>
              <a:gd name="adj" fmla="val 5161"/>
            </a:avLst>
          </a:prstGeom>
          <a:solidFill>
            <a:srgbClr val="F3F4F6"/>
          </a:solidFill>
          <a:ln w="12700">
            <a:solidFill>
              <a:srgbClr val="F3F4F6"/>
            </a:solidFill>
            <a:prstDash val="solid"/>
          </a:ln>
        </p:spPr>
      </p:sp>
      <p:sp>
        <p:nvSpPr>
          <p:cNvPr id="22" name="Text 20"/>
          <p:cNvSpPr txBox="1"/>
          <p:nvPr/>
        </p:nvSpPr>
        <p:spPr>
          <a:xfrm>
            <a:off x="6172200" y="3154680"/>
            <a:ext cx="2345436"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Monthly dock S&amp;B</a:t>
            </a:r>
            <a:endParaRPr lang="en-US" sz="1100" dirty="0"/>
          </a:p>
        </p:txBody>
      </p:sp>
      <p:sp>
        <p:nvSpPr>
          <p:cNvPr id="23" name="Text 21"/>
          <p:cNvSpPr txBox="1"/>
          <p:nvPr/>
        </p:nvSpPr>
        <p:spPr>
          <a:xfrm>
            <a:off x="6172200" y="3429000"/>
            <a:ext cx="2345436" cy="54864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$44,053</a:t>
            </a:r>
            <a:endParaRPr lang="en-US" sz="2800" dirty="0"/>
          </a:p>
        </p:txBody>
      </p:sp>
      <p:sp>
        <p:nvSpPr>
          <p:cNvPr id="24" name="Text 22"/>
          <p:cNvSpPr txBox="1"/>
          <p:nvPr/>
        </p:nvSpPr>
        <p:spPr>
          <a:xfrm>
            <a:off x="6172200" y="4005072"/>
            <a:ext cx="2345436"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Monthly input</a:t>
            </a:r>
            <a:endParaRPr lang="en-US" sz="1050" dirty="0"/>
          </a:p>
        </p:txBody>
      </p:sp>
      <p:sp>
        <p:nvSpPr>
          <p:cNvPr id="25" name="Shape 23"/>
          <p:cNvSpPr/>
          <p:nvPr/>
        </p:nvSpPr>
        <p:spPr>
          <a:xfrm>
            <a:off x="8929116" y="3017520"/>
            <a:ext cx="2711196" cy="1417320"/>
          </a:xfrm>
          <a:prstGeom prst="roundRect">
            <a:avLst>
              <a:gd name="adj" fmla="val 5161"/>
            </a:avLst>
          </a:prstGeom>
          <a:solidFill>
            <a:srgbClr val="F3F4F6"/>
          </a:solidFill>
          <a:ln w="12700">
            <a:solidFill>
              <a:srgbClr val="F3F4F6"/>
            </a:solidFill>
            <a:prstDash val="solid"/>
          </a:ln>
        </p:spPr>
      </p:sp>
      <p:sp>
        <p:nvSpPr>
          <p:cNvPr id="26" name="Text 24"/>
          <p:cNvSpPr txBox="1"/>
          <p:nvPr/>
        </p:nvSpPr>
        <p:spPr>
          <a:xfrm>
            <a:off x="9111996" y="3154680"/>
            <a:ext cx="2345436"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Prorated S&amp;B MTD</a:t>
            </a:r>
            <a:endParaRPr lang="en-US" sz="1100" dirty="0"/>
          </a:p>
        </p:txBody>
      </p:sp>
      <p:sp>
        <p:nvSpPr>
          <p:cNvPr id="27" name="Text 25"/>
          <p:cNvSpPr txBox="1"/>
          <p:nvPr/>
        </p:nvSpPr>
        <p:spPr>
          <a:xfrm>
            <a:off x="9111996" y="3429000"/>
            <a:ext cx="2345436" cy="54864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$38,179</a:t>
            </a:r>
            <a:endParaRPr lang="en-US" sz="2800" dirty="0"/>
          </a:p>
        </p:txBody>
      </p:sp>
      <p:sp>
        <p:nvSpPr>
          <p:cNvPr id="28" name="Text 26"/>
          <p:cNvSpPr txBox="1"/>
          <p:nvPr/>
        </p:nvSpPr>
        <p:spPr>
          <a:xfrm>
            <a:off x="9111996" y="4005072"/>
            <a:ext cx="2345436"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26 of 30 calendar days (86.7%)</a:t>
            </a:r>
            <a:endParaRPr lang="en-US" sz="1050" dirty="0"/>
          </a:p>
        </p:txBody>
      </p:sp>
      <p:sp>
        <p:nvSpPr>
          <p:cNvPr id="29" name="Shape 27"/>
          <p:cNvSpPr/>
          <p:nvPr/>
        </p:nvSpPr>
        <p:spPr>
          <a:xfrm>
            <a:off x="5989320" y="4663440"/>
            <a:ext cx="5650992" cy="1280160"/>
          </a:xfrm>
          <a:prstGeom prst="roundRect">
            <a:avLst>
              <a:gd name="adj" fmla="val 5714"/>
            </a:avLst>
          </a:prstGeom>
          <a:solidFill>
            <a:srgbClr val="F5F3FF"/>
          </a:solidFill>
          <a:ln w="12700">
            <a:solidFill>
              <a:srgbClr val="F5F3FF"/>
            </a:solidFill>
            <a:prstDash val="solid"/>
          </a:ln>
        </p:spPr>
      </p:sp>
      <p:sp>
        <p:nvSpPr>
          <p:cNvPr id="30" name="Shape 28"/>
          <p:cNvSpPr/>
          <p:nvPr/>
        </p:nvSpPr>
        <p:spPr>
          <a:xfrm>
            <a:off x="6217920" y="4965192"/>
            <a:ext cx="566928" cy="566928"/>
          </a:xfrm>
          <a:prstGeom prst="ellipse">
            <a:avLst/>
          </a:prstGeom>
          <a:solidFill>
            <a:srgbClr val="7C3AED"/>
          </a:solidFill>
          <a:ln w="12700">
            <a:solidFill>
              <a:srgbClr val="7C3AED"/>
            </a:solidFill>
            <a:prstDash val="solid"/>
          </a:ln>
        </p:spPr>
      </p:sp>
      <p:pic>
        <p:nvPicPr>
          <p:cNvPr id="31" name="Image 0" descr="preencoded.png">    </p:cNvPr>
          <p:cNvPicPr>
            <a:picLocks noChangeAspect="1"/>
          </p:cNvPicPr>
          <p:nvPr/>
        </p:nvPicPr>
        <p:blipFill>
          <a:blip r:embed="rId1"/>
          <a:stretch>
            <a:fillRect/>
          </a:stretch>
        </p:blipFill>
        <p:spPr>
          <a:xfrm>
            <a:off x="6359652" y="5106924"/>
            <a:ext cx="283464" cy="283464"/>
          </a:xfrm>
          <a:prstGeom prst="rect">
            <a:avLst/>
          </a:prstGeom>
        </p:spPr>
      </p:pic>
      <p:sp>
        <p:nvSpPr>
          <p:cNvPr id="32" name="Text 29"/>
          <p:cNvSpPr txBox="1"/>
          <p:nvPr/>
        </p:nvSpPr>
        <p:spPr>
          <a:xfrm>
            <a:off x="6995160" y="4663440"/>
            <a:ext cx="4434840" cy="128016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Weekly SCA review meetings — hours vs allowance and cost per PRO tracked every week.</a:t>
            </a:r>
            <a:endParaRPr lang="en-US" sz="1500" dirty="0"/>
          </a:p>
        </p:txBody>
      </p:sp>
      <p:sp>
        <p:nvSpPr>
          <p:cNvPr id="33" name="Text 30"/>
          <p:cNvSpPr txBox="1"/>
          <p:nvPr/>
        </p:nvSpPr>
        <p:spPr>
          <a:xfrm>
            <a:off x="548640" y="6080760"/>
            <a:ext cx="11091672" cy="256032"/>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Source: National SCA Cost-per-PRO report — Mississauga, updated Sep 26, 2026</a:t>
            </a:r>
            <a:endParaRPr lang="en-US" sz="1000" dirty="0"/>
          </a:p>
        </p:txBody>
      </p:sp>
      <p:sp>
        <p:nvSpPr>
          <p:cNvPr id="34" name="Text 3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Mississauga Terminal · F27 Senior Leadership Review · Sep 29, 2026</a:t>
            </a:r>
            <a:endParaRPr lang="en-US" sz="900" dirty="0"/>
          </a:p>
        </p:txBody>
      </p:sp>
      <p:sp>
        <p:nvSpPr>
          <p:cNvPr id="35" name="Text 32"/>
          <p:cNvSpPr txBox="1"/>
          <p:nvPr/>
        </p:nvSpPr>
        <p:spPr>
          <a:xfrm>
            <a:off x="10725912" y="6473952"/>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8 / 21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Calibri" pitchFamily="34" charset="0"/>
                <a:ea typeface="Calibri" pitchFamily="34" charset="-122"/>
                <a:cs typeface="Calibri" pitchFamily="34" charset="-120"/>
              </a:rPr>
              <a:t>SCA</a:t>
            </a:r>
            <a:endParaRPr lang="en-US" sz="1200" dirty="0"/>
          </a:p>
        </p:txBody>
      </p:sp>
      <p:sp>
        <p:nvSpPr>
          <p:cNvPr id="3" name="Text 1"/>
          <p:cNvSpPr txBox="1"/>
          <p:nvPr/>
        </p:nvSpPr>
        <p:spPr>
          <a:xfrm>
            <a:off x="548640" y="603504"/>
            <a:ext cx="11091672" cy="603504"/>
          </a:xfrm>
          <a:prstGeom prst="rect">
            <a:avLst/>
          </a:prstGeom>
          <a:noFill/>
          <a:ln/>
        </p:spPr>
        <p:txBody>
          <a:bodyPr wrap="square" lIns="0" tIns="0" rIns="0" bIns="0" rtlCol="0" anchor="t"/>
          <a:lstStyle/>
          <a:p>
            <a:pPr indent="0" marL="0">
              <a:buNone/>
            </a:pPr>
            <a:r>
              <a:rPr lang="en-US" sz="3000" b="1" dirty="0">
                <a:solidFill>
                  <a:srgbClr val="111827"/>
                </a:solidFill>
                <a:latin typeface="Calibri" pitchFamily="34" charset="0"/>
                <a:ea typeface="Calibri" pitchFamily="34" charset="-122"/>
                <a:cs typeface="Calibri" pitchFamily="34" charset="-120"/>
              </a:rPr>
              <a:t>SCA — Hours vs allowance (Sept MTD)</a:t>
            </a:r>
            <a:endParaRPr lang="en-US" sz="3000" dirty="0"/>
          </a:p>
        </p:txBody>
      </p:sp>
      <p:sp>
        <p:nvSpPr>
          <p:cNvPr id="4" name="Text 2"/>
          <p:cNvSpPr txBox="1"/>
          <p:nvPr/>
        </p:nvSpPr>
        <p:spPr>
          <a:xfrm>
            <a:off x="548640" y="1371600"/>
            <a:ext cx="4846320" cy="320040"/>
          </a:xfrm>
          <a:prstGeom prst="rect">
            <a:avLst/>
          </a:prstGeom>
          <a:noFill/>
          <a:ln/>
        </p:spPr>
        <p:txBody>
          <a:bodyPr wrap="square" lIns="0" tIns="0" rIns="0" bIns="0" rtlCol="0" anchor="ctr"/>
          <a:lstStyle/>
          <a:p>
            <a:pPr indent="0" marL="0">
              <a:buNone/>
            </a:pPr>
            <a:r>
              <a:rPr lang="en-US" sz="1400" b="1" dirty="0">
                <a:solidFill>
                  <a:srgbClr val="6B7280"/>
                </a:solidFill>
                <a:latin typeface="Calibri" pitchFamily="34" charset="0"/>
                <a:ea typeface="Calibri" pitchFamily="34" charset="-122"/>
                <a:cs typeface="Calibri" pitchFamily="34" charset="-120"/>
              </a:rPr>
              <a:t>SCA hour allowance used · working-day view</a:t>
            </a:r>
            <a:endParaRPr lang="en-US" sz="1400" dirty="0"/>
          </a:p>
        </p:txBody>
      </p:sp>
      <p:sp>
        <p:nvSpPr>
          <p:cNvPr id="5" name="Text 3"/>
          <p:cNvSpPr txBox="1"/>
          <p:nvPr/>
        </p:nvSpPr>
        <p:spPr>
          <a:xfrm>
            <a:off x="548640" y="1691640"/>
            <a:ext cx="4846320" cy="1005840"/>
          </a:xfrm>
          <a:prstGeom prst="rect">
            <a:avLst/>
          </a:prstGeom>
          <a:noFill/>
          <a:ln/>
        </p:spPr>
        <p:txBody>
          <a:bodyPr wrap="square" lIns="0" tIns="0" rIns="0" bIns="0" rtlCol="0" anchor="ctr"/>
          <a:lstStyle/>
          <a:p>
            <a:pPr indent="0" marL="0">
              <a:buNone/>
            </a:pPr>
            <a:r>
              <a:rPr lang="en-US" sz="7200" b="1" dirty="0">
                <a:solidFill>
                  <a:srgbClr val="059669"/>
                </a:solidFill>
                <a:latin typeface="Calibri" pitchFamily="34" charset="0"/>
                <a:ea typeface="Calibri" pitchFamily="34" charset="-122"/>
                <a:cs typeface="Calibri" pitchFamily="34" charset="-120"/>
              </a:rPr>
              <a:t>91.1%</a:t>
            </a:r>
            <a:endParaRPr lang="en-US" sz="7200" dirty="0"/>
          </a:p>
        </p:txBody>
      </p:sp>
      <p:sp>
        <p:nvSpPr>
          <p:cNvPr id="6" name="Text 4"/>
          <p:cNvSpPr txBox="1"/>
          <p:nvPr/>
        </p:nvSpPr>
        <p:spPr>
          <a:xfrm>
            <a:off x="548640" y="2697480"/>
            <a:ext cx="4846320" cy="36576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3,999</a:t>
            </a:r>
            <a:pPr indent="0" marL="0">
              <a:buNone/>
            </a:pPr>
            <a:r>
              <a:rPr lang="en-US" sz="1600" dirty="0">
                <a:solidFill>
                  <a:srgbClr val="6B7280"/>
                </a:solidFill>
                <a:latin typeface="Calibri" pitchFamily="34" charset="0"/>
                <a:ea typeface="Calibri" pitchFamily="34" charset="-122"/>
                <a:cs typeface="Calibri" pitchFamily="34" charset="-120"/>
              </a:rPr>
              <a:t> hrs used vs </a:t>
            </a:r>
            <a:pPr indent="0" marL="0">
              <a:buNone/>
            </a:pPr>
            <a:r>
              <a:rPr lang="en-US" sz="1600" b="1" dirty="0">
                <a:solidFill>
                  <a:srgbClr val="111827"/>
                </a:solidFill>
                <a:latin typeface="Calibri" pitchFamily="34" charset="0"/>
                <a:ea typeface="Calibri" pitchFamily="34" charset="-122"/>
                <a:cs typeface="Calibri" pitchFamily="34" charset="-120"/>
              </a:rPr>
              <a:t>4,390</a:t>
            </a:r>
            <a:pPr indent="0" marL="0">
              <a:buNone/>
            </a:pPr>
            <a:r>
              <a:rPr lang="en-US" sz="1600" dirty="0">
                <a:solidFill>
                  <a:srgbClr val="6B7280"/>
                </a:solidFill>
                <a:latin typeface="Calibri" pitchFamily="34" charset="0"/>
                <a:ea typeface="Calibri" pitchFamily="34" charset="-122"/>
                <a:cs typeface="Calibri" pitchFamily="34" charset="-120"/>
              </a:rPr>
              <a:t> allowable MTD</a:t>
            </a:r>
            <a:endParaRPr lang="en-US" sz="1600" dirty="0"/>
          </a:p>
        </p:txBody>
      </p:sp>
      <p:sp>
        <p:nvSpPr>
          <p:cNvPr id="7" name="Shape 5"/>
          <p:cNvSpPr/>
          <p:nvPr/>
        </p:nvSpPr>
        <p:spPr>
          <a:xfrm>
            <a:off x="548640" y="3154680"/>
            <a:ext cx="4846320" cy="457200"/>
          </a:xfrm>
          <a:prstGeom prst="roundRect">
            <a:avLst>
              <a:gd name="adj" fmla="val 16000"/>
            </a:avLst>
          </a:prstGeom>
          <a:solidFill>
            <a:srgbClr val="D1FAE5"/>
          </a:solidFill>
          <a:ln w="12700">
            <a:solidFill>
              <a:srgbClr val="D1FAE5"/>
            </a:solidFill>
            <a:prstDash val="solid"/>
          </a:ln>
        </p:spPr>
      </p:sp>
      <p:sp>
        <p:nvSpPr>
          <p:cNvPr id="8" name="Text 6"/>
          <p:cNvSpPr txBox="1"/>
          <p:nvPr/>
        </p:nvSpPr>
        <p:spPr>
          <a:xfrm>
            <a:off x="548640" y="3154680"/>
            <a:ext cx="4846320" cy="457200"/>
          </a:xfrm>
          <a:prstGeom prst="rect">
            <a:avLst/>
          </a:prstGeom>
          <a:noFill/>
          <a:ln/>
        </p:spPr>
        <p:txBody>
          <a:bodyPr wrap="square" lIns="0" tIns="0" rIns="0" bIns="0" rtlCol="0" anchor="ctr"/>
          <a:lstStyle/>
          <a:p>
            <a:pPr algn="ctr" indent="0" marL="0">
              <a:buNone/>
            </a:pPr>
            <a:r>
              <a:rPr lang="en-US" sz="1350" b="1" dirty="0">
                <a:solidFill>
                  <a:srgbClr val="059669"/>
                </a:solidFill>
                <a:latin typeface="Calibri" pitchFamily="34" charset="0"/>
                <a:ea typeface="Calibri" pitchFamily="34" charset="-122"/>
                <a:cs typeface="Calibri" pitchFamily="34" charset="-120"/>
              </a:rPr>
              <a:t>391 hrs under allowance ≈ $13.1K at $33.43/hr</a:t>
            </a:r>
            <a:endParaRPr lang="en-US" sz="1350" dirty="0"/>
          </a:p>
        </p:txBody>
      </p:sp>
      <p:sp>
        <p:nvSpPr>
          <p:cNvPr id="9" name="Shape 7"/>
          <p:cNvSpPr/>
          <p:nvPr/>
        </p:nvSpPr>
        <p:spPr>
          <a:xfrm>
            <a:off x="548640" y="3794760"/>
            <a:ext cx="4846320" cy="475488"/>
          </a:xfrm>
          <a:prstGeom prst="roundRect">
            <a:avLst>
              <a:gd name="adj" fmla="val 15385"/>
            </a:avLst>
          </a:prstGeom>
          <a:solidFill>
            <a:srgbClr val="F3F4F6"/>
          </a:solidFill>
          <a:ln w="12700">
            <a:solidFill>
              <a:srgbClr val="F3F4F6"/>
            </a:solidFill>
            <a:prstDash val="solid"/>
          </a:ln>
        </p:spPr>
      </p:sp>
      <p:sp>
        <p:nvSpPr>
          <p:cNvPr id="10" name="Text 8"/>
          <p:cNvSpPr txBox="1"/>
          <p:nvPr/>
        </p:nvSpPr>
        <p:spPr>
          <a:xfrm>
            <a:off x="731520" y="3794760"/>
            <a:ext cx="3291840" cy="475488"/>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Monthly SCA target</a:t>
            </a:r>
            <a:pPr indent="0" marL="0">
              <a:buNone/>
            </a:pPr>
            <a:r>
              <a:rPr lang="en-US" sz="1200" dirty="0">
                <a:solidFill>
                  <a:srgbClr val="6B7280"/>
                </a:solidFill>
                <a:latin typeface="Calibri" pitchFamily="34" charset="0"/>
                <a:ea typeface="Calibri" pitchFamily="34" charset="-122"/>
                <a:cs typeface="Calibri" pitchFamily="34" charset="-120"/>
              </a:rPr>
              <a:t> · 6,303 F26 − 1,181</a:t>
            </a:r>
            <a:endParaRPr lang="en-US" sz="1200" dirty="0"/>
          </a:p>
        </p:txBody>
      </p:sp>
      <p:sp>
        <p:nvSpPr>
          <p:cNvPr id="11" name="Text 9"/>
          <p:cNvSpPr txBox="1"/>
          <p:nvPr/>
        </p:nvSpPr>
        <p:spPr>
          <a:xfrm>
            <a:off x="3931920" y="3794760"/>
            <a:ext cx="1280160" cy="475488"/>
          </a:xfrm>
          <a:prstGeom prst="rect">
            <a:avLst/>
          </a:prstGeom>
          <a:noFill/>
          <a:ln/>
        </p:spPr>
        <p:txBody>
          <a:bodyPr wrap="square" lIns="0" tIns="0" rIns="0" bIns="0" rtlCol="0" anchor="ctr"/>
          <a:lstStyle/>
          <a:p>
            <a:pPr algn="r" indent="0" marL="0">
              <a:buNone/>
            </a:pPr>
            <a:r>
              <a:rPr lang="en-US" sz="1500" b="1" dirty="0">
                <a:solidFill>
                  <a:srgbClr val="111827"/>
                </a:solidFill>
                <a:latin typeface="Calibri" pitchFamily="34" charset="0"/>
                <a:ea typeface="Calibri" pitchFamily="34" charset="-122"/>
                <a:cs typeface="Calibri" pitchFamily="34" charset="-120"/>
              </a:rPr>
              <a:t>5,122 hrs</a:t>
            </a:r>
            <a:endParaRPr lang="en-US" sz="1500" dirty="0"/>
          </a:p>
        </p:txBody>
      </p:sp>
      <p:sp>
        <p:nvSpPr>
          <p:cNvPr id="12" name="Shape 10"/>
          <p:cNvSpPr/>
          <p:nvPr/>
        </p:nvSpPr>
        <p:spPr>
          <a:xfrm>
            <a:off x="548640" y="4343400"/>
            <a:ext cx="4846320" cy="475488"/>
          </a:xfrm>
          <a:prstGeom prst="roundRect">
            <a:avLst>
              <a:gd name="adj" fmla="val 15385"/>
            </a:avLst>
          </a:prstGeom>
          <a:solidFill>
            <a:srgbClr val="F3F4F6"/>
          </a:solidFill>
          <a:ln w="12700">
            <a:solidFill>
              <a:srgbClr val="F3F4F6"/>
            </a:solidFill>
            <a:prstDash val="solid"/>
          </a:ln>
        </p:spPr>
      </p:sp>
      <p:sp>
        <p:nvSpPr>
          <p:cNvPr id="13" name="Text 11"/>
          <p:cNvSpPr txBox="1"/>
          <p:nvPr/>
        </p:nvSpPr>
        <p:spPr>
          <a:xfrm>
            <a:off x="731520" y="4343400"/>
            <a:ext cx="3291840" cy="475488"/>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Target per working day</a:t>
            </a:r>
            <a:pPr indent="0" marL="0">
              <a:buNone/>
            </a:pPr>
            <a:r>
              <a:rPr lang="en-US" sz="1200" dirty="0">
                <a:solidFill>
                  <a:srgbClr val="6B7280"/>
                </a:solidFill>
                <a:latin typeface="Calibri" pitchFamily="34" charset="0"/>
                <a:ea typeface="Calibri" pitchFamily="34" charset="-122"/>
                <a:cs typeface="Calibri" pitchFamily="34" charset="-120"/>
              </a:rPr>
              <a:t> · 18 of 21 days</a:t>
            </a:r>
            <a:endParaRPr lang="en-US" sz="1200" dirty="0"/>
          </a:p>
        </p:txBody>
      </p:sp>
      <p:sp>
        <p:nvSpPr>
          <p:cNvPr id="14" name="Text 12"/>
          <p:cNvSpPr txBox="1"/>
          <p:nvPr/>
        </p:nvSpPr>
        <p:spPr>
          <a:xfrm>
            <a:off x="3931920" y="4343400"/>
            <a:ext cx="1280160" cy="475488"/>
          </a:xfrm>
          <a:prstGeom prst="rect">
            <a:avLst/>
          </a:prstGeom>
          <a:noFill/>
          <a:ln/>
        </p:spPr>
        <p:txBody>
          <a:bodyPr wrap="square" lIns="0" tIns="0" rIns="0" bIns="0" rtlCol="0" anchor="ctr"/>
          <a:lstStyle/>
          <a:p>
            <a:pPr algn="r" indent="0" marL="0">
              <a:buNone/>
            </a:pPr>
            <a:r>
              <a:rPr lang="en-US" sz="1500" b="1" dirty="0">
                <a:solidFill>
                  <a:srgbClr val="111827"/>
                </a:solidFill>
                <a:latin typeface="Calibri" pitchFamily="34" charset="0"/>
                <a:ea typeface="Calibri" pitchFamily="34" charset="-122"/>
                <a:cs typeface="Calibri" pitchFamily="34" charset="-120"/>
              </a:rPr>
              <a:t>244 hrs</a:t>
            </a:r>
            <a:endParaRPr lang="en-US" sz="1500" dirty="0"/>
          </a:p>
        </p:txBody>
      </p:sp>
      <p:sp>
        <p:nvSpPr>
          <p:cNvPr id="15" name="Shape 13"/>
          <p:cNvSpPr/>
          <p:nvPr/>
        </p:nvSpPr>
        <p:spPr>
          <a:xfrm>
            <a:off x="548640" y="4892040"/>
            <a:ext cx="4846320" cy="475488"/>
          </a:xfrm>
          <a:prstGeom prst="roundRect">
            <a:avLst>
              <a:gd name="adj" fmla="val 15385"/>
            </a:avLst>
          </a:prstGeom>
          <a:solidFill>
            <a:srgbClr val="F3F4F6"/>
          </a:solidFill>
          <a:ln w="12700">
            <a:solidFill>
              <a:srgbClr val="F3F4F6"/>
            </a:solidFill>
            <a:prstDash val="solid"/>
          </a:ln>
        </p:spPr>
      </p:sp>
      <p:sp>
        <p:nvSpPr>
          <p:cNvPr id="16" name="Text 14"/>
          <p:cNvSpPr txBox="1"/>
          <p:nvPr/>
        </p:nvSpPr>
        <p:spPr>
          <a:xfrm>
            <a:off x="731520" y="4892040"/>
            <a:ext cx="3291840" cy="475488"/>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Calendar-day view</a:t>
            </a:r>
            <a:pPr indent="0" marL="0">
              <a:buNone/>
            </a:pPr>
            <a:r>
              <a:rPr lang="en-US" sz="1200" dirty="0">
                <a:solidFill>
                  <a:srgbClr val="6B7280"/>
                </a:solidFill>
                <a:latin typeface="Calibri" pitchFamily="34" charset="0"/>
                <a:ea typeface="Calibri" pitchFamily="34" charset="-122"/>
                <a:cs typeface="Calibri" pitchFamily="34" charset="-120"/>
              </a:rPr>
              <a:t> · 4,439 allowable</a:t>
            </a:r>
            <a:endParaRPr lang="en-US" sz="1200" dirty="0"/>
          </a:p>
        </p:txBody>
      </p:sp>
      <p:sp>
        <p:nvSpPr>
          <p:cNvPr id="17" name="Text 15"/>
          <p:cNvSpPr txBox="1"/>
          <p:nvPr/>
        </p:nvSpPr>
        <p:spPr>
          <a:xfrm>
            <a:off x="3931920" y="4892040"/>
            <a:ext cx="1280160" cy="475488"/>
          </a:xfrm>
          <a:prstGeom prst="rect">
            <a:avLst/>
          </a:prstGeom>
          <a:noFill/>
          <a:ln/>
        </p:spPr>
        <p:txBody>
          <a:bodyPr wrap="square" lIns="0" tIns="0" rIns="0" bIns="0" rtlCol="0" anchor="ctr"/>
          <a:lstStyle/>
          <a:p>
            <a:pPr algn="r" indent="0" marL="0">
              <a:buNone/>
            </a:pPr>
            <a:r>
              <a:rPr lang="en-US" sz="1500" b="1" dirty="0">
                <a:solidFill>
                  <a:srgbClr val="111827"/>
                </a:solidFill>
                <a:latin typeface="Calibri" pitchFamily="34" charset="0"/>
                <a:ea typeface="Calibri" pitchFamily="34" charset="-122"/>
                <a:cs typeface="Calibri" pitchFamily="34" charset="-120"/>
              </a:rPr>
              <a:t>90.1%</a:t>
            </a:r>
            <a:endParaRPr lang="en-US" sz="1500" dirty="0"/>
          </a:p>
        </p:txBody>
      </p:sp>
      <p:sp>
        <p:nvSpPr>
          <p:cNvPr id="18" name="Shape 16"/>
          <p:cNvSpPr/>
          <p:nvPr/>
        </p:nvSpPr>
        <p:spPr>
          <a:xfrm>
            <a:off x="548640" y="5440680"/>
            <a:ext cx="4846320" cy="475488"/>
          </a:xfrm>
          <a:prstGeom prst="roundRect">
            <a:avLst>
              <a:gd name="adj" fmla="val 15385"/>
            </a:avLst>
          </a:prstGeom>
          <a:solidFill>
            <a:srgbClr val="F3F4F6"/>
          </a:solidFill>
          <a:ln w="12700">
            <a:solidFill>
              <a:srgbClr val="F3F4F6"/>
            </a:solidFill>
            <a:prstDash val="solid"/>
          </a:ln>
        </p:spPr>
      </p:sp>
      <p:sp>
        <p:nvSpPr>
          <p:cNvPr id="19" name="Text 17"/>
          <p:cNvSpPr txBox="1"/>
          <p:nvPr/>
        </p:nvSpPr>
        <p:spPr>
          <a:xfrm>
            <a:off x="731520" y="5440680"/>
            <a:ext cx="3291840" cy="475488"/>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Month target used</a:t>
            </a:r>
            <a:pPr indent="0" marL="0">
              <a:buNone/>
            </a:pPr>
            <a:r>
              <a:rPr lang="en-US" sz="1200" dirty="0">
                <a:solidFill>
                  <a:srgbClr val="6B7280"/>
                </a:solidFill>
                <a:latin typeface="Calibri" pitchFamily="34" charset="0"/>
                <a:ea typeface="Calibri" pitchFamily="34" charset="-122"/>
                <a:cs typeface="Calibri" pitchFamily="34" charset="-120"/>
              </a:rPr>
              <a:t> · 3,999 / 5,122</a:t>
            </a:r>
            <a:endParaRPr lang="en-US" sz="1200" dirty="0"/>
          </a:p>
        </p:txBody>
      </p:sp>
      <p:sp>
        <p:nvSpPr>
          <p:cNvPr id="20" name="Text 18"/>
          <p:cNvSpPr txBox="1"/>
          <p:nvPr/>
        </p:nvSpPr>
        <p:spPr>
          <a:xfrm>
            <a:off x="3931920" y="5440680"/>
            <a:ext cx="1280160" cy="475488"/>
          </a:xfrm>
          <a:prstGeom prst="rect">
            <a:avLst/>
          </a:prstGeom>
          <a:noFill/>
          <a:ln/>
        </p:spPr>
        <p:txBody>
          <a:bodyPr wrap="square" lIns="0" tIns="0" rIns="0" bIns="0" rtlCol="0" anchor="ctr"/>
          <a:lstStyle/>
          <a:p>
            <a:pPr algn="r" indent="0" marL="0">
              <a:buNone/>
            </a:pPr>
            <a:r>
              <a:rPr lang="en-US" sz="1500" b="1" dirty="0">
                <a:solidFill>
                  <a:srgbClr val="111827"/>
                </a:solidFill>
                <a:latin typeface="Calibri" pitchFamily="34" charset="0"/>
                <a:ea typeface="Calibri" pitchFamily="34" charset="-122"/>
                <a:cs typeface="Calibri" pitchFamily="34" charset="-120"/>
              </a:rPr>
              <a:t>78.1%</a:t>
            </a:r>
            <a:endParaRPr lang="en-US" sz="1500" dirty="0"/>
          </a:p>
        </p:txBody>
      </p:sp>
      <p:graphicFrame>
        <p:nvGraphicFramePr>
          <p:cNvPr id="21" name="Chart 0" descr=""/>
          <p:cNvGraphicFramePr/>
          <p:nvPr/>
        </p:nvGraphicFramePr>
        <p:xfrm>
          <a:off x="5760720" y="1325880"/>
          <a:ext cx="5879592" cy="3108960"/>
        </p:xfrm>
        <a:graphic xmlns:a="http://schemas.openxmlformats.org/drawingml/2006/main">
          <a:graphicData uri="http://schemas.openxmlformats.org/drawingml/2006/chart">
            <c:chart xmlns:c="http://schemas.openxmlformats.org/drawingml/2006/chart" r:id="rId1"/>
          </a:graphicData>
        </a:graphic>
      </p:graphicFrame>
      <p:sp>
        <p:nvSpPr>
          <p:cNvPr id="22" name="Shape 19"/>
          <p:cNvSpPr/>
          <p:nvPr/>
        </p:nvSpPr>
        <p:spPr>
          <a:xfrm>
            <a:off x="5760720" y="4617720"/>
            <a:ext cx="5879592" cy="1371600"/>
          </a:xfrm>
          <a:prstGeom prst="roundRect">
            <a:avLst>
              <a:gd name="adj" fmla="val 5333"/>
            </a:avLst>
          </a:prstGeom>
          <a:solidFill>
            <a:srgbClr val="ECFDF5"/>
          </a:solidFill>
          <a:ln w="12700">
            <a:solidFill>
              <a:srgbClr val="ECFDF5"/>
            </a:solidFill>
            <a:prstDash val="solid"/>
          </a:ln>
        </p:spPr>
      </p:sp>
      <p:sp>
        <p:nvSpPr>
          <p:cNvPr id="23" name="Text 20"/>
          <p:cNvSpPr txBox="1"/>
          <p:nvPr/>
        </p:nvSpPr>
        <p:spPr>
          <a:xfrm>
            <a:off x="5897880" y="4617720"/>
            <a:ext cx="1645920" cy="1005840"/>
          </a:xfrm>
          <a:prstGeom prst="rect">
            <a:avLst/>
          </a:prstGeom>
          <a:noFill/>
          <a:ln/>
        </p:spPr>
        <p:txBody>
          <a:bodyPr wrap="square" lIns="0" tIns="0" rIns="0" bIns="0" rtlCol="0" anchor="ctr"/>
          <a:lstStyle/>
          <a:p>
            <a:pPr indent="0" marL="0">
              <a:buNone/>
            </a:pPr>
            <a:r>
              <a:rPr lang="en-US" sz="3400" b="1" dirty="0">
                <a:solidFill>
                  <a:srgbClr val="059669"/>
                </a:solidFill>
                <a:latin typeface="Calibri" pitchFamily="34" charset="0"/>
                <a:ea typeface="Calibri" pitchFamily="34" charset="-122"/>
                <a:cs typeface="Calibri" pitchFamily="34" charset="-120"/>
              </a:rPr>
              <a:t>139%</a:t>
            </a:r>
            <a:endParaRPr lang="en-US" sz="3400" dirty="0"/>
          </a:p>
        </p:txBody>
      </p:sp>
      <p:sp>
        <p:nvSpPr>
          <p:cNvPr id="24" name="Text 21"/>
          <p:cNvSpPr txBox="1"/>
          <p:nvPr/>
        </p:nvSpPr>
        <p:spPr>
          <a:xfrm>
            <a:off x="7543800" y="4709160"/>
            <a:ext cx="3931920" cy="914400"/>
          </a:xfrm>
          <a:prstGeom prst="rect">
            <a:avLst/>
          </a:prstGeom>
          <a:noFill/>
          <a:ln/>
        </p:spPr>
        <p:txBody>
          <a:bodyPr wrap="square" lIns="0" tIns="0" rIns="0" bIns="0" rtlCol="0" anchor="ctr"/>
          <a:lstStyle/>
          <a:p>
            <a:pPr indent="0" marL="0">
              <a:buNone/>
            </a:pPr>
            <a:r>
              <a:rPr lang="en-US" sz="1150" b="1" dirty="0">
                <a:solidFill>
                  <a:srgbClr val="111827"/>
                </a:solidFill>
                <a:latin typeface="Calibri" pitchFamily="34" charset="0"/>
                <a:ea typeface="Calibri" pitchFamily="34" charset="-122"/>
                <a:cs typeface="Calibri" pitchFamily="34" charset="-120"/>
              </a:rPr>
              <a:t>of the 1,181-hr reduction target — at current pace</a:t>
            </a:r>
            <a:endParaRPr lang="en-US" sz="1150" dirty="0"/>
          </a:p>
          <a:p>
            <a:pPr indent="0" marL="0">
              <a:buNone/>
            </a:pPr>
            <a:r>
              <a:rPr lang="en-US" sz="1150" dirty="0">
                <a:solidFill>
                  <a:srgbClr val="1F2937"/>
                </a:solidFill>
                <a:latin typeface="Calibri" pitchFamily="34" charset="0"/>
                <a:ea typeface="Calibri" pitchFamily="34" charset="-122"/>
                <a:cs typeface="Calibri" pitchFamily="34" charset="-120"/>
              </a:rPr>
              <a:t>Sept pace ≈4,666 hrs (3,999 ÷ 18/21 working days) vs 5,122 target → ≈1,637 hrs below F26's 6,303.</a:t>
            </a:r>
            <a:endParaRPr lang="en-US" sz="1150" dirty="0"/>
          </a:p>
        </p:txBody>
      </p:sp>
      <p:sp>
        <p:nvSpPr>
          <p:cNvPr id="25" name="Text 22"/>
          <p:cNvSpPr txBox="1"/>
          <p:nvPr/>
        </p:nvSpPr>
        <p:spPr>
          <a:xfrm>
            <a:off x="5943600" y="5669280"/>
            <a:ext cx="5486400" cy="22860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Calculated from SCA hours report figures</a:t>
            </a:r>
            <a:endParaRPr lang="en-US" sz="900" dirty="0"/>
          </a:p>
        </p:txBody>
      </p:sp>
      <p:sp>
        <p:nvSpPr>
          <p:cNvPr id="26" name="Text 23"/>
          <p:cNvSpPr txBox="1"/>
          <p:nvPr/>
        </p:nvSpPr>
        <p:spPr>
          <a:xfrm>
            <a:off x="548640" y="6108192"/>
            <a:ext cx="11091672" cy="256032"/>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Source: SCA hours report — Mississauga, updated Sat, Sep 26, 2026. F26 = full September; F27 = MTD (18 of 21 working days).</a:t>
            </a:r>
            <a:endParaRPr lang="en-US" sz="1000" dirty="0"/>
          </a:p>
        </p:txBody>
      </p:sp>
      <p:sp>
        <p:nvSpPr>
          <p:cNvPr id="27" name="Text 24"/>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Mississauga Terminal · F27 Senior Leadership Review · Sep 29, 2026</a:t>
            </a:r>
            <a:endParaRPr lang="en-US" sz="900" dirty="0"/>
          </a:p>
        </p:txBody>
      </p:sp>
      <p:sp>
        <p:nvSpPr>
          <p:cNvPr id="28" name="Text 25"/>
          <p:cNvSpPr txBox="1"/>
          <p:nvPr/>
        </p:nvSpPr>
        <p:spPr>
          <a:xfrm>
            <a:off x="10725912" y="6473952"/>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9 / 21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Calibri" pitchFamily="34" charset="0"/>
                <a:ea typeface="Calibri" pitchFamily="34" charset="-122"/>
                <a:cs typeface="Calibri" pitchFamily="34" charset="-120"/>
              </a:rPr>
              <a:t>SCA</a:t>
            </a:r>
            <a:endParaRPr lang="en-US" sz="1200" dirty="0"/>
          </a:p>
        </p:txBody>
      </p:sp>
      <p:sp>
        <p:nvSpPr>
          <p:cNvPr id="3" name="Text 1"/>
          <p:cNvSpPr txBox="1"/>
          <p:nvPr/>
        </p:nvSpPr>
        <p:spPr>
          <a:xfrm>
            <a:off x="548640" y="603504"/>
            <a:ext cx="11091672" cy="603504"/>
          </a:xfrm>
          <a:prstGeom prst="rect">
            <a:avLst/>
          </a:prstGeom>
          <a:noFill/>
          <a:ln/>
        </p:spPr>
        <p:txBody>
          <a:bodyPr wrap="square" lIns="0" tIns="0" rIns="0" bIns="0" rtlCol="0" anchor="t"/>
          <a:lstStyle/>
          <a:p>
            <a:pPr indent="0" marL="0">
              <a:buNone/>
            </a:pPr>
            <a:r>
              <a:rPr lang="en-US" sz="3000" b="1" dirty="0">
                <a:solidFill>
                  <a:srgbClr val="111827"/>
                </a:solidFill>
                <a:latin typeface="Calibri" pitchFamily="34" charset="0"/>
                <a:ea typeface="Calibri" pitchFamily="34" charset="-122"/>
                <a:cs typeface="Calibri" pitchFamily="34" charset="-120"/>
              </a:rPr>
              <a:t>SCA — Dock labour cost &amp; cost per unit</a:t>
            </a:r>
            <a:endParaRPr lang="en-US" sz="3000" dirty="0"/>
          </a:p>
        </p:txBody>
      </p:sp>
      <p:graphicFrame>
        <p:nvGraphicFramePr>
          <p:cNvPr id="4" name="Chart 0" descr=""/>
          <p:cNvGraphicFramePr/>
          <p:nvPr/>
        </p:nvGraphicFramePr>
        <p:xfrm>
          <a:off x="548640" y="1325880"/>
          <a:ext cx="5852160" cy="32461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 y="4754880"/>
            <a:ext cx="5852160" cy="1234440"/>
          </a:xfrm>
          <a:prstGeom prst="roundRect">
            <a:avLst>
              <a:gd name="adj" fmla="val 5926"/>
            </a:avLst>
          </a:prstGeom>
          <a:solidFill>
            <a:srgbClr val="ECFDF5"/>
          </a:solidFill>
          <a:ln w="12700">
            <a:solidFill>
              <a:srgbClr val="ECFDF5"/>
            </a:solidFill>
            <a:prstDash val="solid"/>
          </a:ln>
        </p:spPr>
      </p:sp>
      <p:sp>
        <p:nvSpPr>
          <p:cNvPr id="6" name="Shape 3"/>
          <p:cNvSpPr/>
          <p:nvPr/>
        </p:nvSpPr>
        <p:spPr>
          <a:xfrm>
            <a:off x="731520" y="4956048"/>
            <a:ext cx="502920" cy="502920"/>
          </a:xfrm>
          <a:prstGeom prst="ellipse">
            <a:avLst/>
          </a:prstGeom>
          <a:solidFill>
            <a:srgbClr val="059669"/>
          </a:solidFill>
          <a:ln w="12700">
            <a:solidFill>
              <a:srgbClr val="059669"/>
            </a:solidFill>
            <a:prstDash val="solid"/>
          </a:ln>
        </p:spPr>
      </p:sp>
      <p:pic>
        <p:nvPicPr>
          <p:cNvPr id="7" name="Image 0" descr="preencoded.png">    </p:cNvPr>
          <p:cNvPicPr>
            <a:picLocks noChangeAspect="1"/>
          </p:cNvPicPr>
          <p:nvPr/>
        </p:nvPicPr>
        <p:blipFill>
          <a:blip r:embed="rId2"/>
          <a:stretch>
            <a:fillRect/>
          </a:stretch>
        </p:blipFill>
        <p:spPr>
          <a:xfrm>
            <a:off x="857250" y="5081778"/>
            <a:ext cx="251460" cy="251460"/>
          </a:xfrm>
          <a:prstGeom prst="rect">
            <a:avLst/>
          </a:prstGeom>
        </p:spPr>
      </p:pic>
      <p:sp>
        <p:nvSpPr>
          <p:cNvPr id="8" name="Text 4"/>
          <p:cNvSpPr txBox="1"/>
          <p:nvPr/>
        </p:nvSpPr>
        <p:spPr>
          <a:xfrm>
            <a:off x="1417320" y="4846320"/>
            <a:ext cx="4846320" cy="228600"/>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Cost per unit</a:t>
            </a:r>
            <a:endParaRPr lang="en-US" sz="1200" dirty="0"/>
          </a:p>
        </p:txBody>
      </p:sp>
      <p:sp>
        <p:nvSpPr>
          <p:cNvPr id="9" name="Text 5"/>
          <p:cNvSpPr txBox="1"/>
          <p:nvPr/>
        </p:nvSpPr>
        <p:spPr>
          <a:xfrm>
            <a:off x="1417320" y="5074920"/>
            <a:ext cx="4846320" cy="384048"/>
          </a:xfrm>
          <a:prstGeom prst="rect">
            <a:avLst/>
          </a:prstGeom>
          <a:noFill/>
          <a:ln/>
        </p:spPr>
        <p:txBody>
          <a:bodyPr wrap="square" lIns="0" tIns="0" rIns="0" bIns="0" rtlCol="0" anchor="ctr"/>
          <a:lstStyle/>
          <a:p>
            <a:pPr indent="0" marL="0">
              <a:buNone/>
            </a:pPr>
            <a:r>
              <a:rPr lang="en-US" sz="2200" b="1" dirty="0">
                <a:solidFill>
                  <a:srgbClr val="111827"/>
                </a:solidFill>
                <a:latin typeface="Calibri" pitchFamily="34" charset="0"/>
                <a:ea typeface="Calibri" pitchFamily="34" charset="-122"/>
                <a:cs typeface="Calibri" pitchFamily="34" charset="-120"/>
              </a:rPr>
              <a:t>$2.64 → $2.19</a:t>
            </a:r>
            <a:pPr indent="0" marL="0">
              <a:buNone/>
            </a:pPr>
            <a:r>
              <a:rPr lang="en-US" sz="1500" b="1" dirty="0">
                <a:solidFill>
                  <a:srgbClr val="059669"/>
                </a:solidFill>
                <a:latin typeface="Calibri" pitchFamily="34" charset="0"/>
                <a:ea typeface="Calibri" pitchFamily="34" charset="-122"/>
                <a:cs typeface="Calibri" pitchFamily="34" charset="-120"/>
              </a:rPr>
              <a:t>   −$0.44 (−16.7%)</a:t>
            </a:r>
            <a:endParaRPr lang="en-US" sz="2200" dirty="0"/>
          </a:p>
        </p:txBody>
      </p:sp>
      <p:sp>
        <p:nvSpPr>
          <p:cNvPr id="10" name="Text 6"/>
          <p:cNvSpPr txBox="1"/>
          <p:nvPr/>
        </p:nvSpPr>
        <p:spPr>
          <a:xfrm>
            <a:off x="1417320" y="5468112"/>
            <a:ext cx="4892040" cy="24688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At F26's CPU, F27's 60,933 units would have cost ≈$26.9K more.</a:t>
            </a:r>
            <a:endParaRPr lang="en-US" sz="1050" dirty="0"/>
          </a:p>
        </p:txBody>
      </p:sp>
      <p:sp>
        <p:nvSpPr>
          <p:cNvPr id="11" name="Text 7"/>
          <p:cNvSpPr txBox="1"/>
          <p:nvPr/>
        </p:nvSpPr>
        <p:spPr>
          <a:xfrm>
            <a:off x="1417320" y="5715000"/>
            <a:ext cx="4846320" cy="201168"/>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Calculated: (F26 CPU − F27 CPU) × F27 units</a:t>
            </a:r>
            <a:endParaRPr lang="en-US" sz="900" dirty="0"/>
          </a:p>
        </p:txBody>
      </p:sp>
      <p:sp>
        <p:nvSpPr>
          <p:cNvPr id="12" name="Shape 8"/>
          <p:cNvSpPr/>
          <p:nvPr/>
        </p:nvSpPr>
        <p:spPr>
          <a:xfrm>
            <a:off x="6675120" y="1371600"/>
            <a:ext cx="4965192" cy="987552"/>
          </a:xfrm>
          <a:prstGeom prst="roundRect">
            <a:avLst>
              <a:gd name="adj" fmla="val 7407"/>
            </a:avLst>
          </a:prstGeom>
          <a:solidFill>
            <a:srgbClr val="F3F4F6"/>
          </a:solidFill>
          <a:ln w="12700">
            <a:solidFill>
              <a:srgbClr val="F3F4F6"/>
            </a:solidFill>
            <a:prstDash val="solid"/>
          </a:ln>
        </p:spPr>
      </p:sp>
      <p:sp>
        <p:nvSpPr>
          <p:cNvPr id="13" name="Text 9"/>
          <p:cNvSpPr txBox="1"/>
          <p:nvPr/>
        </p:nvSpPr>
        <p:spPr>
          <a:xfrm>
            <a:off x="6858000" y="1499616"/>
            <a:ext cx="2743200" cy="27432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Total dock labour</a:t>
            </a:r>
            <a:endParaRPr lang="en-US" sz="1300" dirty="0"/>
          </a:p>
        </p:txBody>
      </p:sp>
      <p:sp>
        <p:nvSpPr>
          <p:cNvPr id="14" name="Text 10"/>
          <p:cNvSpPr txBox="1"/>
          <p:nvPr/>
        </p:nvSpPr>
        <p:spPr>
          <a:xfrm>
            <a:off x="6858000" y="1938528"/>
            <a:ext cx="292608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$133,692 MTD vs $199,739 F26</a:t>
            </a:r>
            <a:endParaRPr lang="en-US" sz="1100" dirty="0"/>
          </a:p>
        </p:txBody>
      </p:sp>
      <p:sp>
        <p:nvSpPr>
          <p:cNvPr id="15" name="Text 11"/>
          <p:cNvSpPr txBox="1"/>
          <p:nvPr/>
        </p:nvSpPr>
        <p:spPr>
          <a:xfrm>
            <a:off x="9418320" y="1371600"/>
            <a:ext cx="2039112" cy="987552"/>
          </a:xfrm>
          <a:prstGeom prst="rect">
            <a:avLst/>
          </a:prstGeom>
          <a:noFill/>
          <a:ln/>
        </p:spPr>
        <p:txBody>
          <a:bodyPr wrap="square" lIns="0" tIns="0" rIns="0" bIns="0" rtlCol="0" anchor="ctr"/>
          <a:lstStyle/>
          <a:p>
            <a:pPr algn="r" indent="0" marL="0">
              <a:buNone/>
            </a:pPr>
            <a:r>
              <a:rPr lang="en-US" sz="2400" b="1" dirty="0">
                <a:solidFill>
                  <a:srgbClr val="059669"/>
                </a:solidFill>
                <a:latin typeface="Calibri" pitchFamily="34" charset="0"/>
                <a:ea typeface="Calibri" pitchFamily="34" charset="-122"/>
                <a:cs typeface="Calibri" pitchFamily="34" charset="-120"/>
              </a:rPr>
              <a:t>−$66,047</a:t>
            </a:r>
            <a:endParaRPr lang="en-US" sz="2400" dirty="0"/>
          </a:p>
          <a:p>
            <a:pPr algn="r" indent="0" marL="0">
              <a:buNone/>
            </a:pPr>
            <a:r>
              <a:rPr lang="en-US" sz="1300" b="1" dirty="0">
                <a:solidFill>
                  <a:srgbClr val="059669"/>
                </a:solidFill>
                <a:latin typeface="Calibri" pitchFamily="34" charset="0"/>
                <a:ea typeface="Calibri" pitchFamily="34" charset="-122"/>
                <a:cs typeface="Calibri" pitchFamily="34" charset="-120"/>
              </a:rPr>
              <a:t>−33.1%</a:t>
            </a:r>
            <a:endParaRPr lang="en-US" sz="2400" dirty="0"/>
          </a:p>
        </p:txBody>
      </p:sp>
      <p:sp>
        <p:nvSpPr>
          <p:cNvPr id="16" name="Shape 12"/>
          <p:cNvSpPr/>
          <p:nvPr/>
        </p:nvSpPr>
        <p:spPr>
          <a:xfrm>
            <a:off x="6675120" y="2496312"/>
            <a:ext cx="4965192" cy="987552"/>
          </a:xfrm>
          <a:prstGeom prst="roundRect">
            <a:avLst>
              <a:gd name="adj" fmla="val 7407"/>
            </a:avLst>
          </a:prstGeom>
          <a:solidFill>
            <a:srgbClr val="F3F4F6"/>
          </a:solidFill>
          <a:ln w="12700">
            <a:solidFill>
              <a:srgbClr val="F3F4F6"/>
            </a:solidFill>
            <a:prstDash val="solid"/>
          </a:ln>
        </p:spPr>
      </p:sp>
      <p:sp>
        <p:nvSpPr>
          <p:cNvPr id="17" name="Text 13"/>
          <p:cNvSpPr txBox="1"/>
          <p:nvPr/>
        </p:nvSpPr>
        <p:spPr>
          <a:xfrm>
            <a:off x="6858000" y="2624328"/>
            <a:ext cx="2743200" cy="27432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Agency wages</a:t>
            </a:r>
            <a:endParaRPr lang="en-US" sz="1300" dirty="0"/>
          </a:p>
        </p:txBody>
      </p:sp>
      <p:sp>
        <p:nvSpPr>
          <p:cNvPr id="18" name="Text 14"/>
          <p:cNvSpPr txBox="1"/>
          <p:nvPr/>
        </p:nvSpPr>
        <p:spPr>
          <a:xfrm>
            <a:off x="6858000" y="3063240"/>
            <a:ext cx="292608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$74,775 MTD vs $130,458 F26</a:t>
            </a:r>
            <a:endParaRPr lang="en-US" sz="1100" dirty="0"/>
          </a:p>
        </p:txBody>
      </p:sp>
      <p:sp>
        <p:nvSpPr>
          <p:cNvPr id="19" name="Text 15"/>
          <p:cNvSpPr txBox="1"/>
          <p:nvPr/>
        </p:nvSpPr>
        <p:spPr>
          <a:xfrm>
            <a:off x="9418320" y="2496312"/>
            <a:ext cx="2039112" cy="987552"/>
          </a:xfrm>
          <a:prstGeom prst="rect">
            <a:avLst/>
          </a:prstGeom>
          <a:noFill/>
          <a:ln/>
        </p:spPr>
        <p:txBody>
          <a:bodyPr wrap="square" lIns="0" tIns="0" rIns="0" bIns="0" rtlCol="0" anchor="ctr"/>
          <a:lstStyle/>
          <a:p>
            <a:pPr algn="r" indent="0" marL="0">
              <a:buNone/>
            </a:pPr>
            <a:r>
              <a:rPr lang="en-US" sz="2400" b="1" dirty="0">
                <a:solidFill>
                  <a:srgbClr val="059669"/>
                </a:solidFill>
                <a:latin typeface="Calibri" pitchFamily="34" charset="0"/>
                <a:ea typeface="Calibri" pitchFamily="34" charset="-122"/>
                <a:cs typeface="Calibri" pitchFamily="34" charset="-120"/>
              </a:rPr>
              <a:t>−$55,683</a:t>
            </a:r>
            <a:endParaRPr lang="en-US" sz="2400" dirty="0"/>
          </a:p>
          <a:p>
            <a:pPr algn="r" indent="0" marL="0">
              <a:buNone/>
            </a:pPr>
            <a:r>
              <a:rPr lang="en-US" sz="1300" b="1" dirty="0">
                <a:solidFill>
                  <a:srgbClr val="059669"/>
                </a:solidFill>
                <a:latin typeface="Calibri" pitchFamily="34" charset="0"/>
                <a:ea typeface="Calibri" pitchFamily="34" charset="-122"/>
                <a:cs typeface="Calibri" pitchFamily="34" charset="-120"/>
              </a:rPr>
              <a:t>−42.7%</a:t>
            </a:r>
            <a:endParaRPr lang="en-US" sz="2400" dirty="0"/>
          </a:p>
        </p:txBody>
      </p:sp>
      <p:sp>
        <p:nvSpPr>
          <p:cNvPr id="20" name="Shape 16"/>
          <p:cNvSpPr/>
          <p:nvPr/>
        </p:nvSpPr>
        <p:spPr>
          <a:xfrm>
            <a:off x="6675120" y="3621024"/>
            <a:ext cx="4965192" cy="987552"/>
          </a:xfrm>
          <a:prstGeom prst="roundRect">
            <a:avLst>
              <a:gd name="adj" fmla="val 7407"/>
            </a:avLst>
          </a:prstGeom>
          <a:solidFill>
            <a:srgbClr val="F3F4F6"/>
          </a:solidFill>
          <a:ln w="12700">
            <a:solidFill>
              <a:srgbClr val="F3F4F6"/>
            </a:solidFill>
            <a:prstDash val="solid"/>
          </a:ln>
        </p:spPr>
      </p:sp>
      <p:sp>
        <p:nvSpPr>
          <p:cNvPr id="21" name="Text 17"/>
          <p:cNvSpPr txBox="1"/>
          <p:nvPr/>
        </p:nvSpPr>
        <p:spPr>
          <a:xfrm>
            <a:off x="6858000" y="3749040"/>
            <a:ext cx="2743200" cy="27432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Company wages</a:t>
            </a:r>
            <a:endParaRPr lang="en-US" sz="1300" dirty="0"/>
          </a:p>
        </p:txBody>
      </p:sp>
      <p:sp>
        <p:nvSpPr>
          <p:cNvPr id="22" name="Text 18"/>
          <p:cNvSpPr txBox="1"/>
          <p:nvPr/>
        </p:nvSpPr>
        <p:spPr>
          <a:xfrm>
            <a:off x="6858000" y="4187952"/>
            <a:ext cx="292608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$58,917 MTD vs $69,281 F26</a:t>
            </a:r>
            <a:endParaRPr lang="en-US" sz="1100" dirty="0"/>
          </a:p>
        </p:txBody>
      </p:sp>
      <p:sp>
        <p:nvSpPr>
          <p:cNvPr id="23" name="Text 19"/>
          <p:cNvSpPr txBox="1"/>
          <p:nvPr/>
        </p:nvSpPr>
        <p:spPr>
          <a:xfrm>
            <a:off x="9418320" y="3621024"/>
            <a:ext cx="2039112" cy="987552"/>
          </a:xfrm>
          <a:prstGeom prst="rect">
            <a:avLst/>
          </a:prstGeom>
          <a:noFill/>
          <a:ln/>
        </p:spPr>
        <p:txBody>
          <a:bodyPr wrap="square" lIns="0" tIns="0" rIns="0" bIns="0" rtlCol="0" anchor="ctr"/>
          <a:lstStyle/>
          <a:p>
            <a:pPr algn="r" indent="0" marL="0">
              <a:buNone/>
            </a:pPr>
            <a:r>
              <a:rPr lang="en-US" sz="2400" b="1" dirty="0">
                <a:solidFill>
                  <a:srgbClr val="059669"/>
                </a:solidFill>
                <a:latin typeface="Calibri" pitchFamily="34" charset="0"/>
                <a:ea typeface="Calibri" pitchFamily="34" charset="-122"/>
                <a:cs typeface="Calibri" pitchFamily="34" charset="-120"/>
              </a:rPr>
              <a:t>−$10,364</a:t>
            </a:r>
            <a:endParaRPr lang="en-US" sz="2400" dirty="0"/>
          </a:p>
          <a:p>
            <a:pPr algn="r" indent="0" marL="0">
              <a:buNone/>
            </a:pPr>
            <a:r>
              <a:rPr lang="en-US" sz="1300" b="1" dirty="0">
                <a:solidFill>
                  <a:srgbClr val="059669"/>
                </a:solidFill>
                <a:latin typeface="Calibri" pitchFamily="34" charset="0"/>
                <a:ea typeface="Calibri" pitchFamily="34" charset="-122"/>
                <a:cs typeface="Calibri" pitchFamily="34" charset="-120"/>
              </a:rPr>
              <a:t>−15.0%</a:t>
            </a:r>
            <a:endParaRPr lang="en-US" sz="2400" dirty="0"/>
          </a:p>
        </p:txBody>
      </p:sp>
      <p:sp>
        <p:nvSpPr>
          <p:cNvPr id="24" name="Shape 20"/>
          <p:cNvSpPr/>
          <p:nvPr/>
        </p:nvSpPr>
        <p:spPr>
          <a:xfrm>
            <a:off x="6675120" y="4754880"/>
            <a:ext cx="4965192" cy="1234440"/>
          </a:xfrm>
          <a:prstGeom prst="roundRect">
            <a:avLst>
              <a:gd name="adj" fmla="val 5926"/>
            </a:avLst>
          </a:prstGeom>
          <a:solidFill>
            <a:srgbClr val="F3F4F6"/>
          </a:solidFill>
          <a:ln w="12700">
            <a:solidFill>
              <a:srgbClr val="F3F4F6"/>
            </a:solidFill>
            <a:prstDash val="solid"/>
          </a:ln>
        </p:spPr>
      </p:sp>
      <p:sp>
        <p:nvSpPr>
          <p:cNvPr id="25" name="Text 21"/>
          <p:cNvSpPr txBox="1"/>
          <p:nvPr/>
        </p:nvSpPr>
        <p:spPr>
          <a:xfrm>
            <a:off x="6858000" y="4882896"/>
            <a:ext cx="2743200" cy="27432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Units handled</a:t>
            </a:r>
            <a:endParaRPr lang="en-US" sz="1300" dirty="0"/>
          </a:p>
        </p:txBody>
      </p:sp>
      <p:sp>
        <p:nvSpPr>
          <p:cNvPr id="26" name="Text 22"/>
          <p:cNvSpPr txBox="1"/>
          <p:nvPr/>
        </p:nvSpPr>
        <p:spPr>
          <a:xfrm>
            <a:off x="6858000" y="5568696"/>
            <a:ext cx="292608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60,933 MTD vs 75,801 F26</a:t>
            </a:r>
            <a:endParaRPr lang="en-US" sz="1100" dirty="0"/>
          </a:p>
        </p:txBody>
      </p:sp>
      <p:sp>
        <p:nvSpPr>
          <p:cNvPr id="27" name="Text 23"/>
          <p:cNvSpPr txBox="1"/>
          <p:nvPr/>
        </p:nvSpPr>
        <p:spPr>
          <a:xfrm>
            <a:off x="9418320" y="4754880"/>
            <a:ext cx="2039112" cy="1234440"/>
          </a:xfrm>
          <a:prstGeom prst="rect">
            <a:avLst/>
          </a:prstGeom>
          <a:noFill/>
          <a:ln/>
        </p:spPr>
        <p:txBody>
          <a:bodyPr wrap="square" lIns="0" tIns="0" rIns="0" bIns="0" rtlCol="0" anchor="ctr"/>
          <a:lstStyle/>
          <a:p>
            <a:pPr algn="r" indent="0" marL="0">
              <a:buNone/>
            </a:pPr>
            <a:r>
              <a:rPr lang="en-US" sz="2400" b="1" dirty="0">
                <a:solidFill>
                  <a:srgbClr val="1F2937"/>
                </a:solidFill>
                <a:latin typeface="Calibri" pitchFamily="34" charset="0"/>
                <a:ea typeface="Calibri" pitchFamily="34" charset="-122"/>
                <a:cs typeface="Calibri" pitchFamily="34" charset="-120"/>
              </a:rPr>
              <a:t>−14,868</a:t>
            </a:r>
            <a:endParaRPr lang="en-US" sz="2400" dirty="0"/>
          </a:p>
          <a:p>
            <a:pPr algn="r" indent="0" marL="0">
              <a:buNone/>
            </a:pPr>
            <a:r>
              <a:rPr lang="en-US" sz="1300" b="1" dirty="0">
                <a:solidFill>
                  <a:srgbClr val="1F2937"/>
                </a:solidFill>
                <a:latin typeface="Calibri" pitchFamily="34" charset="0"/>
                <a:ea typeface="Calibri" pitchFamily="34" charset="-122"/>
                <a:cs typeface="Calibri" pitchFamily="34" charset="-120"/>
              </a:rPr>
              <a:t>−19.6%</a:t>
            </a:r>
            <a:endParaRPr lang="en-US" sz="2400" dirty="0"/>
          </a:p>
        </p:txBody>
      </p:sp>
      <p:sp>
        <p:nvSpPr>
          <p:cNvPr id="28" name="Text 24"/>
          <p:cNvSpPr txBox="1"/>
          <p:nvPr/>
        </p:nvSpPr>
        <p:spPr>
          <a:xfrm>
            <a:off x="548640" y="6089904"/>
            <a:ext cx="11091672" cy="27432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F26 = full September; F27 = MTD to Sep 26 (18 of 21 working days). Source: SCA Cost-per-PRO report &amp; productivity dashboard — Mississauga, Sep 26, 2026.</a:t>
            </a:r>
            <a:endParaRPr lang="en-US" sz="950" dirty="0"/>
          </a:p>
        </p:txBody>
      </p:sp>
      <p:sp>
        <p:nvSpPr>
          <p:cNvPr id="29" name="Text 2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Mississauga Terminal · F27 Senior Leadership Review · Sep 29, 2026</a:t>
            </a:r>
            <a:endParaRPr lang="en-US" sz="900" dirty="0"/>
          </a:p>
        </p:txBody>
      </p:sp>
      <p:sp>
        <p:nvSpPr>
          <p:cNvPr id="30" name="Text 26"/>
          <p:cNvSpPr txBox="1"/>
          <p:nvPr/>
        </p:nvSpPr>
        <p:spPr>
          <a:xfrm>
            <a:off x="10725912" y="6473952"/>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10 / 21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Calibri" pitchFamily="34" charset="0"/>
                <a:ea typeface="Calibri" pitchFamily="34" charset="-122"/>
                <a:cs typeface="Calibri" pitchFamily="34" charset="-120"/>
              </a:rPr>
              <a:t>SCA</a:t>
            </a:r>
            <a:endParaRPr lang="en-US" sz="1200" dirty="0"/>
          </a:p>
        </p:txBody>
      </p:sp>
      <p:sp>
        <p:nvSpPr>
          <p:cNvPr id="3" name="Text 1"/>
          <p:cNvSpPr txBox="1"/>
          <p:nvPr/>
        </p:nvSpPr>
        <p:spPr>
          <a:xfrm>
            <a:off x="548640" y="603504"/>
            <a:ext cx="11091672" cy="603504"/>
          </a:xfrm>
          <a:prstGeom prst="rect">
            <a:avLst/>
          </a:prstGeom>
          <a:noFill/>
          <a:ln/>
        </p:spPr>
        <p:txBody>
          <a:bodyPr wrap="square" lIns="0" tIns="0" rIns="0" bIns="0" rtlCol="0" anchor="t"/>
          <a:lstStyle/>
          <a:p>
            <a:pPr indent="0" marL="0">
              <a:buNone/>
            </a:pPr>
            <a:r>
              <a:rPr lang="en-US" sz="3000" b="1" dirty="0">
                <a:solidFill>
                  <a:srgbClr val="111827"/>
                </a:solidFill>
                <a:latin typeface="Calibri" pitchFamily="34" charset="0"/>
                <a:ea typeface="Calibri" pitchFamily="34" charset="-122"/>
                <a:cs typeface="Calibri" pitchFamily="34" charset="-120"/>
              </a:rPr>
              <a:t>Labour distribution — company employees</a:t>
            </a:r>
            <a:endParaRPr lang="en-US" sz="3000" dirty="0"/>
          </a:p>
        </p:txBody>
      </p:sp>
      <p:sp>
        <p:nvSpPr>
          <p:cNvPr id="4" name="Text 2"/>
          <p:cNvSpPr txBox="1"/>
          <p:nvPr/>
        </p:nvSpPr>
        <p:spPr>
          <a:xfrm>
            <a:off x="548640" y="1243584"/>
            <a:ext cx="7315200" cy="2743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Q1 F26 vs Q1 F27 (Jul–Sep; F27 to date)</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132320" cy="914400"/>
        </p:xfrm>
        <a:graphic>
          <a:graphicData uri="http://schemas.openxmlformats.org/drawingml/2006/table">
            <a:tbl>
              <a:tblPr/>
              <a:tblGrid>
                <a:gridCol w="2743200"/>
                <a:gridCol w="1463040"/>
                <a:gridCol w="1600200"/>
                <a:gridCol w="1325880"/>
              </a:tblGrid>
              <a:tr h="30175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Q1 F26</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Q1 F27 (to date)</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Change</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r>
              <a:tr h="301752">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Hours worked</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6B7280"/>
                          </a:solidFill>
                          <a:latin typeface="Calibri" pitchFamily="34" charset="0"/>
                          <a:ea typeface="Calibri" pitchFamily="34" charset="-122"/>
                          <a:cs typeface="Calibri" pitchFamily="34" charset="-120"/>
                        </a:rPr>
                        <a:t>5.7K</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11827"/>
                          </a:solidFill>
                          <a:latin typeface="Calibri" pitchFamily="34" charset="0"/>
                          <a:ea typeface="Calibri" pitchFamily="34" charset="-122"/>
                          <a:cs typeface="Calibri" pitchFamily="34" charset="-120"/>
                        </a:rPr>
                        <a:t>6.1K</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+0.4K</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Total paid</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100" dirty="0">
                          <a:solidFill>
                            <a:srgbClr val="6B7280"/>
                          </a:solidFill>
                          <a:latin typeface="Calibri" pitchFamily="34" charset="0"/>
                          <a:ea typeface="Calibri" pitchFamily="34" charset="-122"/>
                          <a:cs typeface="Calibri" pitchFamily="34" charset="-120"/>
                        </a:rPr>
                        <a:t>$143.5K</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100" b="1" dirty="0">
                          <a:solidFill>
                            <a:srgbClr val="111827"/>
                          </a:solidFill>
                          <a:latin typeface="Calibri" pitchFamily="34" charset="0"/>
                          <a:ea typeface="Calibri" pitchFamily="34" charset="-122"/>
                          <a:cs typeface="Calibri" pitchFamily="34" charset="-120"/>
                        </a:rPr>
                        <a:t>$155.3K</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+$11.8K</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r>
              <a:tr h="301752">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Regular cost</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6B7280"/>
                          </a:solidFill>
                          <a:latin typeface="Calibri" pitchFamily="34" charset="0"/>
                          <a:ea typeface="Calibri" pitchFamily="34" charset="-122"/>
                          <a:cs typeface="Calibri" pitchFamily="34" charset="-120"/>
                        </a:rPr>
                        <a:t>$140.9K</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11827"/>
                          </a:solidFill>
                          <a:latin typeface="Calibri" pitchFamily="34" charset="0"/>
                          <a:ea typeface="Calibri" pitchFamily="34" charset="-122"/>
                          <a:cs typeface="Calibri" pitchFamily="34" charset="-120"/>
                        </a:rPr>
                        <a:t>$152.3K</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+$11.4K</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OT hours</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100" dirty="0">
                          <a:solidFill>
                            <a:srgbClr val="6B7280"/>
                          </a:solidFill>
                          <a:latin typeface="Calibri" pitchFamily="34" charset="0"/>
                          <a:ea typeface="Calibri" pitchFamily="34" charset="-122"/>
                          <a:cs typeface="Calibri" pitchFamily="34" charset="-120"/>
                        </a:rPr>
                        <a:t>56.7</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100" b="1" dirty="0">
                          <a:solidFill>
                            <a:srgbClr val="111827"/>
                          </a:solidFill>
                          <a:latin typeface="Calibri" pitchFamily="34" charset="0"/>
                          <a:ea typeface="Calibri" pitchFamily="34" charset="-122"/>
                          <a:cs typeface="Calibri" pitchFamily="34" charset="-120"/>
                        </a:rPr>
                        <a:t>62.3</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+5.6</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r>
              <a:tr h="301752">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OT paid</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6B7280"/>
                          </a:solidFill>
                          <a:latin typeface="Calibri" pitchFamily="34" charset="0"/>
                          <a:ea typeface="Calibri" pitchFamily="34" charset="-122"/>
                          <a:cs typeface="Calibri" pitchFamily="34" charset="-120"/>
                        </a:rPr>
                        <a:t>$2.2K</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11827"/>
                          </a:solidFill>
                          <a:latin typeface="Calibri" pitchFamily="34" charset="0"/>
                          <a:ea typeface="Calibri" pitchFamily="34" charset="-122"/>
                          <a:cs typeface="Calibri" pitchFamily="34" charset="-120"/>
                        </a:rPr>
                        <a:t>$2.4K</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+$0.2K</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Head count</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100" dirty="0">
                          <a:solidFill>
                            <a:srgbClr val="6B7280"/>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100" b="1" dirty="0">
                          <a:solidFill>
                            <a:srgbClr val="111827"/>
                          </a:solidFill>
                          <a:latin typeface="Calibri" pitchFamily="34" charset="0"/>
                          <a:ea typeface="Calibri" pitchFamily="34" charset="-122"/>
                          <a:cs typeface="Calibri" pitchFamily="34" charset="-120"/>
                        </a:rPr>
                        <a:t>17</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r>
              <a:tr h="301752">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OT % of hours</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100" dirty="0">
                          <a:solidFill>
                            <a:srgbClr val="6B7280"/>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100" b="1" dirty="0">
                          <a:solidFill>
                            <a:srgbClr val="111827"/>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r>
              <a:tr h="301752">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Dock Operations · hours</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100" dirty="0">
                          <a:solidFill>
                            <a:srgbClr val="6B7280"/>
                          </a:solidFill>
                          <a:latin typeface="Calibri" pitchFamily="34" charset="0"/>
                          <a:ea typeface="Calibri" pitchFamily="34" charset="-122"/>
                          <a:cs typeface="Calibri" pitchFamily="34" charset="-120"/>
                        </a:rPr>
                        <a:t>5,205.40</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100" b="1" dirty="0">
                          <a:solidFill>
                            <a:srgbClr val="111827"/>
                          </a:solidFill>
                          <a:latin typeface="Calibri" pitchFamily="34" charset="0"/>
                          <a:ea typeface="Calibri" pitchFamily="34" charset="-122"/>
                          <a:cs typeface="Calibri" pitchFamily="34" charset="-120"/>
                        </a:rPr>
                        <a:t>5,207.42</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100" b="1" dirty="0">
                          <a:solidFill>
                            <a:srgbClr val="1F2937"/>
                          </a:solidFill>
                          <a:latin typeface="Calibri" pitchFamily="34" charset="0"/>
                          <a:ea typeface="Calibri" pitchFamily="34" charset="-122"/>
                          <a:cs typeface="Calibri" pitchFamily="34" charset="-120"/>
                        </a:rPr>
                        <a:t>+2.02</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r>
              <a:tr h="301752">
                <a:tc>
                  <a:txBody>
                    <a:bodyPr/>
                    <a:lstStyle/>
                    <a:p>
                      <a:pPr indent="0" marL="0">
                        <a:buNone/>
                      </a:pPr>
                      <a:r>
                        <a:rPr lang="en-US" sz="1100" dirty="0">
                          <a:solidFill>
                            <a:srgbClr val="111827"/>
                          </a:solidFill>
                          <a:latin typeface="Calibri" pitchFamily="34" charset="0"/>
                          <a:ea typeface="Calibri" pitchFamily="34" charset="-122"/>
                          <a:cs typeface="Calibri" pitchFamily="34" charset="-120"/>
                        </a:rPr>
                        <a:t>Dock Operations · regular $</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6B7280"/>
                          </a:solidFill>
                          <a:latin typeface="Calibri" pitchFamily="34" charset="0"/>
                          <a:ea typeface="Calibri" pitchFamily="34" charset="-122"/>
                          <a:cs typeface="Calibri" pitchFamily="34" charset="-120"/>
                        </a:rPr>
                        <a:t>$131,452.77</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11827"/>
                          </a:solidFill>
                          <a:latin typeface="Calibri" pitchFamily="34" charset="0"/>
                          <a:ea typeface="Calibri" pitchFamily="34" charset="-122"/>
                          <a:cs typeface="Calibri" pitchFamily="34" charset="-120"/>
                        </a:rPr>
                        <a:t>$133,939.99</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+$2,487.22</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11827"/>
                          </a:solidFill>
                          <a:latin typeface="Calibri" pitchFamily="34" charset="0"/>
                          <a:ea typeface="Calibri" pitchFamily="34" charset="-122"/>
                          <a:cs typeface="Calibri" pitchFamily="34" charset="-120"/>
                        </a:rPr>
                        <a:t>Dock Operations · OT $</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100" dirty="0">
                          <a:solidFill>
                            <a:srgbClr val="6B7280"/>
                          </a:solidFill>
                          <a:latin typeface="Calibri" pitchFamily="34" charset="0"/>
                          <a:ea typeface="Calibri" pitchFamily="34" charset="-122"/>
                          <a:cs typeface="Calibri" pitchFamily="34" charset="-120"/>
                        </a:rPr>
                        <a:t>$2,203.88</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100" b="1" dirty="0">
                          <a:solidFill>
                            <a:srgbClr val="111827"/>
                          </a:solidFill>
                          <a:latin typeface="Calibri" pitchFamily="34" charset="0"/>
                          <a:ea typeface="Calibri" pitchFamily="34" charset="-122"/>
                          <a:cs typeface="Calibri" pitchFamily="34" charset="-120"/>
                        </a:rPr>
                        <a:t>$2,386.86</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+$182.98</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r>
              <a:tr h="301752">
                <a:tc>
                  <a:txBody>
                    <a:bodyPr/>
                    <a:lstStyle/>
                    <a:p>
                      <a:pPr indent="0" marL="0">
                        <a:buNone/>
                      </a:pPr>
                      <a:r>
                        <a:rPr lang="en-US" sz="1100" dirty="0">
                          <a:solidFill>
                            <a:srgbClr val="111827"/>
                          </a:solidFill>
                          <a:latin typeface="Calibri" pitchFamily="34" charset="0"/>
                          <a:ea typeface="Calibri" pitchFamily="34" charset="-122"/>
                          <a:cs typeface="Calibri" pitchFamily="34" charset="-120"/>
                        </a:rPr>
                        <a:t>Dock Operations · lead hours</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6B72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11827"/>
                          </a:solidFill>
                          <a:latin typeface="Calibri" pitchFamily="34" charset="0"/>
                          <a:ea typeface="Calibri" pitchFamily="34" charset="-122"/>
                          <a:cs typeface="Calibri" pitchFamily="34" charset="-120"/>
                        </a:rPr>
                        <a:t>112.85</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Terminal Admin · hours</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100" dirty="0">
                          <a:solidFill>
                            <a:srgbClr val="6B7280"/>
                          </a:solidFill>
                          <a:latin typeface="Calibri" pitchFamily="34" charset="0"/>
                          <a:ea typeface="Calibri" pitchFamily="34" charset="-122"/>
                          <a:cs typeface="Calibri" pitchFamily="34" charset="-120"/>
                        </a:rPr>
                        <a:t>446.35</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100" b="1" dirty="0">
                          <a:solidFill>
                            <a:srgbClr val="111827"/>
                          </a:solidFill>
                          <a:latin typeface="Calibri" pitchFamily="34" charset="0"/>
                          <a:ea typeface="Calibri" pitchFamily="34" charset="-122"/>
                          <a:cs typeface="Calibri" pitchFamily="34" charset="-120"/>
                        </a:rPr>
                        <a:t>908.55</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100" b="1" dirty="0">
                          <a:solidFill>
                            <a:srgbClr val="1F2937"/>
                          </a:solidFill>
                          <a:latin typeface="Calibri" pitchFamily="34" charset="0"/>
                          <a:ea typeface="Calibri" pitchFamily="34" charset="-122"/>
                          <a:cs typeface="Calibri" pitchFamily="34" charset="-120"/>
                        </a:rPr>
                        <a:t>+462.20</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r>
              <a:tr h="301752">
                <a:tc>
                  <a:txBody>
                    <a:bodyPr/>
                    <a:lstStyle/>
                    <a:p>
                      <a:pPr indent="0" marL="0">
                        <a:buNone/>
                      </a:pPr>
                      <a:r>
                        <a:rPr lang="en-US" sz="1100" dirty="0">
                          <a:solidFill>
                            <a:srgbClr val="111827"/>
                          </a:solidFill>
                          <a:latin typeface="Calibri" pitchFamily="34" charset="0"/>
                          <a:ea typeface="Calibri" pitchFamily="34" charset="-122"/>
                          <a:cs typeface="Calibri" pitchFamily="34" charset="-120"/>
                        </a:rPr>
                        <a:t>Terminal Admin · regular $</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6B7280"/>
                          </a:solidFill>
                          <a:latin typeface="Calibri" pitchFamily="34" charset="0"/>
                          <a:ea typeface="Calibri" pitchFamily="34" charset="-122"/>
                          <a:cs typeface="Calibri" pitchFamily="34" charset="-120"/>
                        </a:rPr>
                        <a:t>$9,490.76</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11827"/>
                          </a:solidFill>
                          <a:latin typeface="Calibri" pitchFamily="34" charset="0"/>
                          <a:ea typeface="Calibri" pitchFamily="34" charset="-122"/>
                          <a:cs typeface="Calibri" pitchFamily="34" charset="-120"/>
                        </a:rPr>
                        <a:t>$18,400.58</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937"/>
                          </a:solidFill>
                          <a:latin typeface="Calibri" pitchFamily="34" charset="0"/>
                          <a:ea typeface="Calibri" pitchFamily="34" charset="-122"/>
                          <a:cs typeface="Calibri" pitchFamily="34" charset="-120"/>
                        </a:rPr>
                        <a:t>+$8,909.82</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bl>
          </a:graphicData>
        </a:graphic>
      </p:graphicFrame>
      <p:sp>
        <p:nvSpPr>
          <p:cNvPr id="6" name="Shape 3"/>
          <p:cNvSpPr/>
          <p:nvPr/>
        </p:nvSpPr>
        <p:spPr>
          <a:xfrm>
            <a:off x="8275320" y="1645920"/>
            <a:ext cx="3364992" cy="960120"/>
          </a:xfrm>
          <a:prstGeom prst="roundRect">
            <a:avLst>
              <a:gd name="adj" fmla="val 7619"/>
            </a:avLst>
          </a:prstGeom>
          <a:solidFill>
            <a:srgbClr val="F3F4F6"/>
          </a:solidFill>
          <a:ln w="12700">
            <a:solidFill>
              <a:srgbClr val="F3F4F6"/>
            </a:solidFill>
            <a:prstDash val="solid"/>
          </a:ln>
        </p:spPr>
      </p:sp>
      <p:sp>
        <p:nvSpPr>
          <p:cNvPr id="7" name="Text 4"/>
          <p:cNvSpPr txBox="1"/>
          <p:nvPr/>
        </p:nvSpPr>
        <p:spPr>
          <a:xfrm>
            <a:off x="8458200" y="1737360"/>
            <a:ext cx="3017520" cy="237744"/>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Company dock hours</a:t>
            </a:r>
            <a:endParaRPr lang="en-US" sz="1100" dirty="0"/>
          </a:p>
        </p:txBody>
      </p:sp>
      <p:sp>
        <p:nvSpPr>
          <p:cNvPr id="8" name="Text 5"/>
          <p:cNvSpPr txBox="1"/>
          <p:nvPr/>
        </p:nvSpPr>
        <p:spPr>
          <a:xfrm>
            <a:off x="8458200" y="1975104"/>
            <a:ext cx="3017520" cy="365760"/>
          </a:xfrm>
          <a:prstGeom prst="rect">
            <a:avLst/>
          </a:prstGeom>
          <a:noFill/>
          <a:ln/>
        </p:spPr>
        <p:txBody>
          <a:bodyPr wrap="square" lIns="0" tIns="0" rIns="0" bIns="0" rtlCol="0" anchor="ctr"/>
          <a:lstStyle/>
          <a:p>
            <a:pPr indent="0" marL="0">
              <a:buNone/>
            </a:pPr>
            <a:r>
              <a:rPr lang="en-US" sz="2000" b="1" dirty="0">
                <a:solidFill>
                  <a:srgbClr val="111827"/>
                </a:solidFill>
                <a:latin typeface="Calibri" pitchFamily="34" charset="0"/>
                <a:ea typeface="Calibri" pitchFamily="34" charset="-122"/>
                <a:cs typeface="Calibri" pitchFamily="34" charset="-120"/>
              </a:rPr>
              <a:t>5,205 → 5,207</a:t>
            </a:r>
            <a:endParaRPr lang="en-US" sz="2000" dirty="0"/>
          </a:p>
        </p:txBody>
      </p:sp>
      <p:sp>
        <p:nvSpPr>
          <p:cNvPr id="9" name="Text 6"/>
          <p:cNvSpPr txBox="1"/>
          <p:nvPr/>
        </p:nvSpPr>
        <p:spPr>
          <a:xfrm>
            <a:off x="8458200" y="2340864"/>
            <a:ext cx="3017520" cy="219456"/>
          </a:xfrm>
          <a:prstGeom prst="rect">
            <a:avLst/>
          </a:prstGeom>
          <a:noFill/>
          <a:ln/>
        </p:spPr>
        <p:txBody>
          <a:bodyPr wrap="square" lIns="0" tIns="0" rIns="0" bIns="0" rtlCol="0" anchor="ctr"/>
          <a:lstStyle/>
          <a:p>
            <a:pPr indent="0" marL="0">
              <a:buNone/>
            </a:pPr>
            <a:r>
              <a:rPr lang="en-US" sz="1050" b="1" dirty="0">
                <a:solidFill>
                  <a:srgbClr val="111827"/>
                </a:solidFill>
                <a:latin typeface="Calibri" pitchFamily="34" charset="0"/>
                <a:ea typeface="Calibri" pitchFamily="34" charset="-122"/>
                <a:cs typeface="Calibri" pitchFamily="34" charset="-120"/>
              </a:rPr>
              <a:t>Flat year over year (+0.04%)</a:t>
            </a:r>
            <a:endParaRPr lang="en-US" sz="1050" dirty="0"/>
          </a:p>
        </p:txBody>
      </p:sp>
      <p:sp>
        <p:nvSpPr>
          <p:cNvPr id="10" name="Shape 7"/>
          <p:cNvSpPr/>
          <p:nvPr/>
        </p:nvSpPr>
        <p:spPr>
          <a:xfrm>
            <a:off x="8275320" y="2697480"/>
            <a:ext cx="3364992" cy="960120"/>
          </a:xfrm>
          <a:prstGeom prst="roundRect">
            <a:avLst>
              <a:gd name="adj" fmla="val 7619"/>
            </a:avLst>
          </a:prstGeom>
          <a:solidFill>
            <a:srgbClr val="F3F4F6"/>
          </a:solidFill>
          <a:ln w="12700">
            <a:solidFill>
              <a:srgbClr val="F3F4F6"/>
            </a:solidFill>
            <a:prstDash val="solid"/>
          </a:ln>
        </p:spPr>
      </p:sp>
      <p:sp>
        <p:nvSpPr>
          <p:cNvPr id="11" name="Text 8"/>
          <p:cNvSpPr txBox="1"/>
          <p:nvPr/>
        </p:nvSpPr>
        <p:spPr>
          <a:xfrm>
            <a:off x="8458200" y="2788920"/>
            <a:ext cx="3017520" cy="237744"/>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Terminal admin hours</a:t>
            </a:r>
            <a:endParaRPr lang="en-US" sz="1100" dirty="0"/>
          </a:p>
        </p:txBody>
      </p:sp>
      <p:sp>
        <p:nvSpPr>
          <p:cNvPr id="12" name="Text 9"/>
          <p:cNvSpPr txBox="1"/>
          <p:nvPr/>
        </p:nvSpPr>
        <p:spPr>
          <a:xfrm>
            <a:off x="8458200" y="3026664"/>
            <a:ext cx="3017520" cy="365760"/>
          </a:xfrm>
          <a:prstGeom prst="rect">
            <a:avLst/>
          </a:prstGeom>
          <a:noFill/>
          <a:ln/>
        </p:spPr>
        <p:txBody>
          <a:bodyPr wrap="square" lIns="0" tIns="0" rIns="0" bIns="0" rtlCol="0" anchor="ctr"/>
          <a:lstStyle/>
          <a:p>
            <a:pPr indent="0" marL="0">
              <a:buNone/>
            </a:pPr>
            <a:r>
              <a:rPr lang="en-US" sz="2000" b="1" dirty="0">
                <a:solidFill>
                  <a:srgbClr val="111827"/>
                </a:solidFill>
                <a:latin typeface="Calibri" pitchFamily="34" charset="0"/>
                <a:ea typeface="Calibri" pitchFamily="34" charset="-122"/>
                <a:cs typeface="Calibri" pitchFamily="34" charset="-120"/>
              </a:rPr>
              <a:t>446 → 909</a:t>
            </a:r>
            <a:endParaRPr lang="en-US" sz="2000" dirty="0"/>
          </a:p>
        </p:txBody>
      </p:sp>
      <p:sp>
        <p:nvSpPr>
          <p:cNvPr id="13" name="Text 10"/>
          <p:cNvSpPr txBox="1"/>
          <p:nvPr/>
        </p:nvSpPr>
        <p:spPr>
          <a:xfrm>
            <a:off x="8458200" y="3392424"/>
            <a:ext cx="3017520" cy="219456"/>
          </a:xfrm>
          <a:prstGeom prst="rect">
            <a:avLst/>
          </a:prstGeom>
          <a:noFill/>
          <a:ln/>
        </p:spPr>
        <p:txBody>
          <a:bodyPr wrap="square" lIns="0" tIns="0" rIns="0" bIns="0" rtlCol="0" anchor="ctr"/>
          <a:lstStyle/>
          <a:p>
            <a:pPr indent="0" marL="0">
              <a:buNone/>
            </a:pPr>
            <a:r>
              <a:rPr lang="en-US" sz="1050" b="1" dirty="0">
                <a:solidFill>
                  <a:srgbClr val="DC2626"/>
                </a:solidFill>
                <a:latin typeface="Calibri" pitchFamily="34" charset="0"/>
                <a:ea typeface="Calibri" pitchFamily="34" charset="-122"/>
                <a:cs typeface="Calibri" pitchFamily="34" charset="-120"/>
              </a:rPr>
              <a:t>+104% hours — staffing change</a:t>
            </a:r>
            <a:endParaRPr lang="en-US" sz="1050" dirty="0"/>
          </a:p>
        </p:txBody>
      </p:sp>
      <p:graphicFrame>
        <p:nvGraphicFramePr>
          <p:cNvPr id="14" name="Chart 0" descr=""/>
          <p:cNvGraphicFramePr/>
          <p:nvPr/>
        </p:nvGraphicFramePr>
        <p:xfrm>
          <a:off x="8275320" y="3749040"/>
          <a:ext cx="3364992" cy="1463040"/>
        </p:xfrm>
        <a:graphic xmlns:a="http://schemas.openxmlformats.org/drawingml/2006/main">
          <a:graphicData uri="http://schemas.openxmlformats.org/drawingml/2006/chart">
            <c:chart xmlns:c="http://schemas.openxmlformats.org/drawingml/2006/chart" r:id="rId1"/>
          </a:graphicData>
        </a:graphic>
      </p:graphicFrame>
      <p:sp>
        <p:nvSpPr>
          <p:cNvPr id="15" name="Shape 11"/>
          <p:cNvSpPr/>
          <p:nvPr/>
        </p:nvSpPr>
        <p:spPr>
          <a:xfrm>
            <a:off x="8275320" y="5303520"/>
            <a:ext cx="3364992" cy="713232"/>
          </a:xfrm>
          <a:prstGeom prst="roundRect">
            <a:avLst>
              <a:gd name="adj" fmla="val 10256"/>
            </a:avLst>
          </a:prstGeom>
          <a:solidFill>
            <a:srgbClr val="F5F3FF"/>
          </a:solidFill>
          <a:ln w="12700">
            <a:solidFill>
              <a:srgbClr val="F5F3FF"/>
            </a:solidFill>
            <a:prstDash val="solid"/>
          </a:ln>
        </p:spPr>
      </p:sp>
      <p:sp>
        <p:nvSpPr>
          <p:cNvPr id="16" name="Text 12"/>
          <p:cNvSpPr txBox="1"/>
          <p:nvPr/>
        </p:nvSpPr>
        <p:spPr>
          <a:xfrm>
            <a:off x="8412480" y="5330952"/>
            <a:ext cx="3108960" cy="658368"/>
          </a:xfrm>
          <a:prstGeom prst="rect">
            <a:avLst/>
          </a:prstGeom>
          <a:noFill/>
          <a:ln/>
        </p:spPr>
        <p:txBody>
          <a:bodyPr wrap="square" lIns="0" tIns="0" rIns="0" bIns="0" rtlCol="0" anchor="ctr"/>
          <a:lstStyle/>
          <a:p>
            <a:pPr indent="0" marL="0">
              <a:buNone/>
            </a:pPr>
            <a:r>
              <a:rPr lang="en-US" sz="1050" b="1" dirty="0">
                <a:solidFill>
                  <a:srgbClr val="111827"/>
                </a:solidFill>
                <a:latin typeface="Calibri" pitchFamily="34" charset="0"/>
                <a:ea typeface="Calibri" pitchFamily="34" charset="-122"/>
                <a:cs typeface="Calibri" pitchFamily="34" charset="-120"/>
              </a:rPr>
              <a:t>Admin cost doubled vs F26 but is still below F24 (≈$21.5K) and F25 (≈$22.7K) — F26 was the unusually low year.</a:t>
            </a:r>
            <a:endParaRPr lang="en-US" sz="1050" dirty="0"/>
          </a:p>
        </p:txBody>
      </p:sp>
      <p:sp>
        <p:nvSpPr>
          <p:cNvPr id="17" name="Text 13"/>
          <p:cNvSpPr txBox="1"/>
          <p:nvPr/>
        </p:nvSpPr>
        <p:spPr>
          <a:xfrm>
            <a:off x="548640" y="6108192"/>
            <a:ext cx="11091672" cy="256032"/>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Source: Terminal Labor Distribution Report — Mississauga; changes calculated. Q1 admin cost F24–F26 calculated from the weekly Terminal Admin cost report (fiscal weeks 1–13).</a:t>
            </a:r>
            <a:endParaRPr lang="en-US" sz="950" dirty="0"/>
          </a:p>
        </p:txBody>
      </p:sp>
      <p:sp>
        <p:nvSpPr>
          <p:cNvPr id="18" name="Text 14"/>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Mississauga Terminal · F27 Senior Leadership Review · Sep 29, 2026</a:t>
            </a:r>
            <a:endParaRPr lang="en-US" sz="900" dirty="0"/>
          </a:p>
        </p:txBody>
      </p:sp>
      <p:sp>
        <p:nvSpPr>
          <p:cNvPr id="19" name="Text 15"/>
          <p:cNvSpPr txBox="1"/>
          <p:nvPr/>
        </p:nvSpPr>
        <p:spPr>
          <a:xfrm>
            <a:off x="10725912" y="6473952"/>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11 / 21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Calibri" pitchFamily="34" charset="0"/>
                <a:ea typeface="Calibri" pitchFamily="34" charset="-122"/>
                <a:cs typeface="Calibri" pitchFamily="34" charset="-120"/>
              </a:rPr>
              <a:t>SCA</a:t>
            </a:r>
            <a:endParaRPr lang="en-US" sz="1200" dirty="0"/>
          </a:p>
        </p:txBody>
      </p:sp>
      <p:sp>
        <p:nvSpPr>
          <p:cNvPr id="3" name="Text 1"/>
          <p:cNvSpPr txBox="1"/>
          <p:nvPr/>
        </p:nvSpPr>
        <p:spPr>
          <a:xfrm>
            <a:off x="548640" y="603504"/>
            <a:ext cx="11091672" cy="603504"/>
          </a:xfrm>
          <a:prstGeom prst="rect">
            <a:avLst/>
          </a:prstGeom>
          <a:noFill/>
          <a:ln/>
        </p:spPr>
        <p:txBody>
          <a:bodyPr wrap="square" lIns="0" tIns="0" rIns="0" bIns="0" rtlCol="0" anchor="t"/>
          <a:lstStyle/>
          <a:p>
            <a:pPr indent="0" marL="0">
              <a:buNone/>
            </a:pPr>
            <a:r>
              <a:rPr lang="en-US" sz="3000" b="1" dirty="0">
                <a:solidFill>
                  <a:srgbClr val="111827"/>
                </a:solidFill>
                <a:latin typeface="Calibri" pitchFamily="34" charset="0"/>
                <a:ea typeface="Calibri" pitchFamily="34" charset="-122"/>
                <a:cs typeface="Calibri" pitchFamily="34" charset="-120"/>
              </a:rPr>
              <a:t>SCA — What we are doing</a:t>
            </a:r>
            <a:endParaRPr lang="en-US" sz="3000" dirty="0"/>
          </a:p>
        </p:txBody>
      </p:sp>
      <p:sp>
        <p:nvSpPr>
          <p:cNvPr id="4" name="Shape 2"/>
          <p:cNvSpPr/>
          <p:nvPr/>
        </p:nvSpPr>
        <p:spPr>
          <a:xfrm>
            <a:off x="548640" y="1508760"/>
            <a:ext cx="475488" cy="475488"/>
          </a:xfrm>
          <a:prstGeom prst="ellipse">
            <a:avLst/>
          </a:prstGeom>
          <a:solidFill>
            <a:srgbClr val="EDE9FE"/>
          </a:solidFill>
          <a:ln w="12700">
            <a:solidFill>
              <a:srgbClr val="EDE9FE"/>
            </a:solidFill>
            <a:prstDash val="solid"/>
          </a:ln>
        </p:spPr>
      </p:sp>
      <p:pic>
        <p:nvPicPr>
          <p:cNvPr id="5" name="Image 0" descr="preencoded.png">    </p:cNvPr>
          <p:cNvPicPr>
            <a:picLocks noChangeAspect="1"/>
          </p:cNvPicPr>
          <p:nvPr/>
        </p:nvPicPr>
        <p:blipFill>
          <a:blip r:embed="rId1"/>
          <a:stretch>
            <a:fillRect/>
          </a:stretch>
        </p:blipFill>
        <p:spPr>
          <a:xfrm>
            <a:off x="667512" y="1627632"/>
            <a:ext cx="237744" cy="237744"/>
          </a:xfrm>
          <a:prstGeom prst="rect">
            <a:avLst/>
          </a:prstGeom>
        </p:spPr>
      </p:pic>
      <p:sp>
        <p:nvSpPr>
          <p:cNvPr id="6" name="Text 3"/>
          <p:cNvSpPr txBox="1"/>
          <p:nvPr/>
        </p:nvSpPr>
        <p:spPr>
          <a:xfrm>
            <a:off x="1234440" y="1417320"/>
            <a:ext cx="6080760" cy="676656"/>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Weekly SCA review meetings — hours vs allowance and cost per PRO tracked every week.</a:t>
            </a:r>
            <a:endParaRPr lang="en-US" sz="1400" dirty="0"/>
          </a:p>
        </p:txBody>
      </p:sp>
      <p:sp>
        <p:nvSpPr>
          <p:cNvPr id="7" name="Shape 4"/>
          <p:cNvSpPr/>
          <p:nvPr/>
        </p:nvSpPr>
        <p:spPr>
          <a:xfrm>
            <a:off x="548640" y="2276856"/>
            <a:ext cx="475488" cy="475488"/>
          </a:xfrm>
          <a:prstGeom prst="ellipse">
            <a:avLst/>
          </a:prstGeom>
          <a:solidFill>
            <a:srgbClr val="EDE9FE"/>
          </a:solidFill>
          <a:ln w="12700">
            <a:solidFill>
              <a:srgbClr val="EDE9FE"/>
            </a:solidFill>
            <a:prstDash val="solid"/>
          </a:ln>
        </p:spPr>
      </p:sp>
      <p:pic>
        <p:nvPicPr>
          <p:cNvPr id="8" name="Image 1" descr="preencoded.png">    </p:cNvPr>
          <p:cNvPicPr>
            <a:picLocks noChangeAspect="1"/>
          </p:cNvPicPr>
          <p:nvPr/>
        </p:nvPicPr>
        <p:blipFill>
          <a:blip r:embed="rId2"/>
          <a:stretch>
            <a:fillRect/>
          </a:stretch>
        </p:blipFill>
        <p:spPr>
          <a:xfrm>
            <a:off x="667512" y="2395728"/>
            <a:ext cx="237744" cy="237744"/>
          </a:xfrm>
          <a:prstGeom prst="rect">
            <a:avLst/>
          </a:prstGeom>
        </p:spPr>
      </p:pic>
      <p:sp>
        <p:nvSpPr>
          <p:cNvPr id="9" name="Text 5"/>
          <p:cNvSpPr txBox="1"/>
          <p:nvPr/>
        </p:nvSpPr>
        <p:spPr>
          <a:xfrm>
            <a:off x="1234440" y="2185416"/>
            <a:ext cx="6080760" cy="676656"/>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Shift start/end times aligned to P&amp;D activity, with target dock-hour bands per shift.</a:t>
            </a:r>
            <a:endParaRPr lang="en-US" sz="1400" dirty="0"/>
          </a:p>
        </p:txBody>
      </p:sp>
      <p:sp>
        <p:nvSpPr>
          <p:cNvPr id="10" name="Shape 6"/>
          <p:cNvSpPr/>
          <p:nvPr/>
        </p:nvSpPr>
        <p:spPr>
          <a:xfrm>
            <a:off x="548640" y="3044952"/>
            <a:ext cx="475488" cy="475488"/>
          </a:xfrm>
          <a:prstGeom prst="ellipse">
            <a:avLst/>
          </a:prstGeom>
          <a:solidFill>
            <a:srgbClr val="EDE9FE"/>
          </a:solidFill>
          <a:ln w="12700">
            <a:solidFill>
              <a:srgbClr val="EDE9FE"/>
            </a:solidFill>
            <a:prstDash val="solid"/>
          </a:ln>
        </p:spPr>
      </p:sp>
      <p:pic>
        <p:nvPicPr>
          <p:cNvPr id="11" name="Image 2" descr="preencoded.png">    </p:cNvPr>
          <p:cNvPicPr>
            <a:picLocks noChangeAspect="1"/>
          </p:cNvPicPr>
          <p:nvPr/>
        </p:nvPicPr>
        <p:blipFill>
          <a:blip r:embed="rId3"/>
          <a:stretch>
            <a:fillRect/>
          </a:stretch>
        </p:blipFill>
        <p:spPr>
          <a:xfrm>
            <a:off x="667512" y="3163824"/>
            <a:ext cx="237744" cy="237744"/>
          </a:xfrm>
          <a:prstGeom prst="rect">
            <a:avLst/>
          </a:prstGeom>
        </p:spPr>
      </p:pic>
      <p:sp>
        <p:nvSpPr>
          <p:cNvPr id="12" name="Text 7"/>
          <p:cNvSpPr txBox="1"/>
          <p:nvPr/>
        </p:nvSpPr>
        <p:spPr>
          <a:xfrm>
            <a:off x="1234440" y="2953512"/>
            <a:ext cx="6080760" cy="676656"/>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Consolidating large-customer freight into fewer trailers.</a:t>
            </a:r>
            <a:endParaRPr lang="en-US" sz="1400" dirty="0"/>
          </a:p>
        </p:txBody>
      </p:sp>
      <p:sp>
        <p:nvSpPr>
          <p:cNvPr id="13" name="Shape 8"/>
          <p:cNvSpPr/>
          <p:nvPr/>
        </p:nvSpPr>
        <p:spPr>
          <a:xfrm>
            <a:off x="548640" y="3813048"/>
            <a:ext cx="475488" cy="475488"/>
          </a:xfrm>
          <a:prstGeom prst="ellipse">
            <a:avLst/>
          </a:prstGeom>
          <a:solidFill>
            <a:srgbClr val="EDE9FE"/>
          </a:solidFill>
          <a:ln w="12700">
            <a:solidFill>
              <a:srgbClr val="EDE9FE"/>
            </a:solidFill>
            <a:prstDash val="solid"/>
          </a:ln>
        </p:spPr>
      </p:sp>
      <p:pic>
        <p:nvPicPr>
          <p:cNvPr id="14" name="Image 3" descr="preencoded.png">    </p:cNvPr>
          <p:cNvPicPr>
            <a:picLocks noChangeAspect="1"/>
          </p:cNvPicPr>
          <p:nvPr/>
        </p:nvPicPr>
        <p:blipFill>
          <a:blip r:embed="rId4"/>
          <a:stretch>
            <a:fillRect/>
          </a:stretch>
        </p:blipFill>
        <p:spPr>
          <a:xfrm>
            <a:off x="667512" y="3931920"/>
            <a:ext cx="237744" cy="237744"/>
          </a:xfrm>
          <a:prstGeom prst="rect">
            <a:avLst/>
          </a:prstGeom>
        </p:spPr>
      </p:pic>
      <p:sp>
        <p:nvSpPr>
          <p:cNvPr id="15" name="Text 9"/>
          <p:cNvSpPr txBox="1"/>
          <p:nvPr/>
        </p:nvSpPr>
        <p:spPr>
          <a:xfrm>
            <a:off x="1234440" y="3721608"/>
            <a:ext cx="6080760" cy="676656"/>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Demurrage and TL billing captured on every eligible shipment.</a:t>
            </a:r>
            <a:endParaRPr lang="en-US" sz="1400" dirty="0"/>
          </a:p>
        </p:txBody>
      </p:sp>
      <p:sp>
        <p:nvSpPr>
          <p:cNvPr id="16" name="Shape 10"/>
          <p:cNvSpPr/>
          <p:nvPr/>
        </p:nvSpPr>
        <p:spPr>
          <a:xfrm>
            <a:off x="548640" y="4581144"/>
            <a:ext cx="475488" cy="475488"/>
          </a:xfrm>
          <a:prstGeom prst="ellipse">
            <a:avLst/>
          </a:prstGeom>
          <a:solidFill>
            <a:srgbClr val="EDE9FE"/>
          </a:solidFill>
          <a:ln w="12700">
            <a:solidFill>
              <a:srgbClr val="EDE9FE"/>
            </a:solidFill>
            <a:prstDash val="solid"/>
          </a:ln>
        </p:spPr>
      </p:sp>
      <p:pic>
        <p:nvPicPr>
          <p:cNvPr id="17" name="Image 4" descr="preencoded.png">    </p:cNvPr>
          <p:cNvPicPr>
            <a:picLocks noChangeAspect="1"/>
          </p:cNvPicPr>
          <p:nvPr/>
        </p:nvPicPr>
        <p:blipFill>
          <a:blip r:embed="rId5"/>
          <a:stretch>
            <a:fillRect/>
          </a:stretch>
        </p:blipFill>
        <p:spPr>
          <a:xfrm>
            <a:off x="667512" y="4700016"/>
            <a:ext cx="237744" cy="237744"/>
          </a:xfrm>
          <a:prstGeom prst="rect">
            <a:avLst/>
          </a:prstGeom>
        </p:spPr>
      </p:pic>
      <p:sp>
        <p:nvSpPr>
          <p:cNvPr id="18" name="Text 11"/>
          <p:cNvSpPr txBox="1"/>
          <p:nvPr/>
        </p:nvSpPr>
        <p:spPr>
          <a:xfrm>
            <a:off x="1234440" y="4489704"/>
            <a:ext cx="6080760" cy="676656"/>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Accessorial audit on freight bills (appointment, tailgate, storage, inside delivery) before invoicing.</a:t>
            </a:r>
            <a:endParaRPr lang="en-US" sz="1400" dirty="0"/>
          </a:p>
        </p:txBody>
      </p:sp>
      <p:sp>
        <p:nvSpPr>
          <p:cNvPr id="19" name="Shape 12"/>
          <p:cNvSpPr/>
          <p:nvPr/>
        </p:nvSpPr>
        <p:spPr>
          <a:xfrm>
            <a:off x="548640" y="5349240"/>
            <a:ext cx="475488" cy="475488"/>
          </a:xfrm>
          <a:prstGeom prst="ellipse">
            <a:avLst/>
          </a:prstGeom>
          <a:solidFill>
            <a:srgbClr val="EDE9FE"/>
          </a:solidFill>
          <a:ln w="12700">
            <a:solidFill>
              <a:srgbClr val="EDE9FE"/>
            </a:solidFill>
            <a:prstDash val="solid"/>
          </a:ln>
        </p:spPr>
      </p:sp>
      <p:pic>
        <p:nvPicPr>
          <p:cNvPr id="20" name="Image 5" descr="preencoded.png">    </p:cNvPr>
          <p:cNvPicPr>
            <a:picLocks noChangeAspect="1"/>
          </p:cNvPicPr>
          <p:nvPr/>
        </p:nvPicPr>
        <p:blipFill>
          <a:blip r:embed="rId6"/>
          <a:stretch>
            <a:fillRect/>
          </a:stretch>
        </p:blipFill>
        <p:spPr>
          <a:xfrm>
            <a:off x="667512" y="5468112"/>
            <a:ext cx="237744" cy="237744"/>
          </a:xfrm>
          <a:prstGeom prst="rect">
            <a:avLst/>
          </a:prstGeom>
        </p:spPr>
      </p:pic>
      <p:sp>
        <p:nvSpPr>
          <p:cNvPr id="21" name="Text 13"/>
          <p:cNvSpPr txBox="1"/>
          <p:nvPr/>
        </p:nvSpPr>
        <p:spPr>
          <a:xfrm>
            <a:off x="1234440" y="5257800"/>
            <a:ext cx="6080760" cy="676656"/>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Clock-in / clock-out (CICO) discipline — late starts, missed lunches and early-offs captured as hours saved.</a:t>
            </a:r>
            <a:endParaRPr lang="en-US" sz="1400" dirty="0"/>
          </a:p>
        </p:txBody>
      </p:sp>
      <p:sp>
        <p:nvSpPr>
          <p:cNvPr id="22" name="Shape 14"/>
          <p:cNvSpPr/>
          <p:nvPr/>
        </p:nvSpPr>
        <p:spPr>
          <a:xfrm>
            <a:off x="7772400" y="1417320"/>
            <a:ext cx="3867912" cy="4526280"/>
          </a:xfrm>
          <a:prstGeom prst="roundRect">
            <a:avLst>
              <a:gd name="adj" fmla="val 1891"/>
            </a:avLst>
          </a:prstGeom>
          <a:solidFill>
            <a:srgbClr val="F5F3FF"/>
          </a:solidFill>
          <a:ln w="12700">
            <a:solidFill>
              <a:srgbClr val="F5F3FF"/>
            </a:solidFill>
            <a:prstDash val="solid"/>
          </a:ln>
        </p:spPr>
      </p:sp>
      <p:sp>
        <p:nvSpPr>
          <p:cNvPr id="23" name="Shape 15"/>
          <p:cNvSpPr/>
          <p:nvPr/>
        </p:nvSpPr>
        <p:spPr>
          <a:xfrm>
            <a:off x="8001000" y="1645920"/>
            <a:ext cx="502920" cy="502920"/>
          </a:xfrm>
          <a:prstGeom prst="ellipse">
            <a:avLst/>
          </a:prstGeom>
          <a:solidFill>
            <a:srgbClr val="7C3AED"/>
          </a:solidFill>
          <a:ln w="12700">
            <a:solidFill>
              <a:srgbClr val="7C3AED"/>
            </a:solidFill>
            <a:prstDash val="solid"/>
          </a:ln>
        </p:spPr>
      </p:sp>
      <p:pic>
        <p:nvPicPr>
          <p:cNvPr id="24" name="Image 6" descr="preencoded.png">    </p:cNvPr>
          <p:cNvPicPr>
            <a:picLocks noChangeAspect="1"/>
          </p:cNvPicPr>
          <p:nvPr/>
        </p:nvPicPr>
        <p:blipFill>
          <a:blip r:embed="rId7"/>
          <a:stretch>
            <a:fillRect/>
          </a:stretch>
        </p:blipFill>
        <p:spPr>
          <a:xfrm>
            <a:off x="8126730" y="1771650"/>
            <a:ext cx="251460" cy="251460"/>
          </a:xfrm>
          <a:prstGeom prst="rect">
            <a:avLst/>
          </a:prstGeom>
        </p:spPr>
      </p:pic>
      <p:sp>
        <p:nvSpPr>
          <p:cNvPr id="25" name="Text 16"/>
          <p:cNvSpPr txBox="1"/>
          <p:nvPr/>
        </p:nvSpPr>
        <p:spPr>
          <a:xfrm>
            <a:off x="8641080" y="1645920"/>
            <a:ext cx="2834640" cy="50292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Target dock hours per shift</a:t>
            </a:r>
            <a:endParaRPr lang="en-US" sz="1600" dirty="0"/>
          </a:p>
        </p:txBody>
      </p:sp>
      <p:sp>
        <p:nvSpPr>
          <p:cNvPr id="26" name="Text 17"/>
          <p:cNvSpPr txBox="1"/>
          <p:nvPr/>
        </p:nvSpPr>
        <p:spPr>
          <a:xfrm>
            <a:off x="8001000" y="2286000"/>
            <a:ext cx="347472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Per day · aligned to P&amp;D activity</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001000" y="2743200"/>
          <a:ext cx="3429000" cy="914400"/>
        </p:xfrm>
        <a:graphic>
          <a:graphicData uri="http://schemas.openxmlformats.org/drawingml/2006/table">
            <a:tbl>
              <a:tblPr/>
              <a:tblGrid>
                <a:gridCol w="1417320"/>
                <a:gridCol w="1005840"/>
                <a:gridCol w="100584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Shift</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r>
              <a:tr h="502920">
                <a:tc>
                  <a:txBody>
                    <a:bodyPr/>
                    <a:lstStyle/>
                    <a:p>
                      <a:pPr indent="0" marL="0">
                        <a:buNone/>
                      </a:pPr>
                      <a:r>
                        <a:rPr lang="en-US" sz="1400" b="1" dirty="0">
                          <a:solidFill>
                            <a:srgbClr val="111827"/>
                          </a:solidFill>
                          <a:latin typeface="Calibri" pitchFamily="34" charset="0"/>
                          <a:ea typeface="Calibri" pitchFamily="34" charset="-122"/>
                          <a:cs typeface="Calibri" pitchFamily="34" charset="-120"/>
                        </a:rPr>
                        <a:t>Days</a:t>
                      </a:r>
                      <a:endParaRPr lang="en-US" sz="14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D97706"/>
                          </a:solidFill>
                          <a:latin typeface="Calibri" pitchFamily="34" charset="0"/>
                          <a:ea typeface="Calibri" pitchFamily="34" charset="-122"/>
                          <a:cs typeface="Calibri" pitchFamily="34" charset="-120"/>
                        </a:rPr>
                        <a:t>TBC</a:t>
                      </a:r>
                      <a:endParaRPr lang="en-US" sz="14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D97706"/>
                          </a:solidFill>
                          <a:latin typeface="Calibri" pitchFamily="34" charset="0"/>
                          <a:ea typeface="Calibri" pitchFamily="34" charset="-122"/>
                          <a:cs typeface="Calibri" pitchFamily="34" charset="-120"/>
                        </a:rPr>
                        <a:t>TBC</a:t>
                      </a:r>
                      <a:endParaRPr lang="en-US" sz="14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11827"/>
                          </a:solidFill>
                          <a:latin typeface="Calibri" pitchFamily="34" charset="0"/>
                          <a:ea typeface="Calibri" pitchFamily="34" charset="-122"/>
                          <a:cs typeface="Calibri" pitchFamily="34" charset="-120"/>
                        </a:rPr>
                        <a:t>Afternoon</a:t>
                      </a:r>
                      <a:endParaRPr lang="en-US" sz="14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D97706"/>
                          </a:solidFill>
                          <a:latin typeface="Calibri" pitchFamily="34" charset="0"/>
                          <a:ea typeface="Calibri" pitchFamily="34" charset="-122"/>
                          <a:cs typeface="Calibri" pitchFamily="34" charset="-120"/>
                        </a:rPr>
                        <a:t>TBC</a:t>
                      </a:r>
                      <a:endParaRPr lang="en-US" sz="14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D97706"/>
                          </a:solidFill>
                          <a:latin typeface="Calibri" pitchFamily="34" charset="0"/>
                          <a:ea typeface="Calibri" pitchFamily="34" charset="-122"/>
                          <a:cs typeface="Calibri" pitchFamily="34" charset="-120"/>
                        </a:rPr>
                        <a:t>TBC</a:t>
                      </a:r>
                      <a:endParaRPr lang="en-US" sz="14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11827"/>
                          </a:solidFill>
                          <a:latin typeface="Calibri" pitchFamily="34" charset="0"/>
                          <a:ea typeface="Calibri" pitchFamily="34" charset="-122"/>
                          <a:cs typeface="Calibri" pitchFamily="34" charset="-120"/>
                        </a:rPr>
                        <a:t>Midnight</a:t>
                      </a:r>
                      <a:endParaRPr lang="en-US" sz="14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D97706"/>
                          </a:solidFill>
                          <a:latin typeface="Calibri" pitchFamily="34" charset="0"/>
                          <a:ea typeface="Calibri" pitchFamily="34" charset="-122"/>
                          <a:cs typeface="Calibri" pitchFamily="34" charset="-120"/>
                        </a:rPr>
                        <a:t>TBC</a:t>
                      </a:r>
                      <a:endParaRPr lang="en-US" sz="14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D97706"/>
                          </a:solidFill>
                          <a:latin typeface="Calibri" pitchFamily="34" charset="0"/>
                          <a:ea typeface="Calibri" pitchFamily="34" charset="-122"/>
                          <a:cs typeface="Calibri" pitchFamily="34" charset="-120"/>
                        </a:rPr>
                        <a:t>TBC</a:t>
                      </a:r>
                      <a:endParaRPr lang="en-US" sz="14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bl>
          </a:graphicData>
        </a:graphic>
      </p:graphicFrame>
      <p:sp>
        <p:nvSpPr>
          <p:cNvPr id="28" name="Text 18"/>
          <p:cNvSpPr txBox="1"/>
          <p:nvPr/>
        </p:nvSpPr>
        <p:spPr>
          <a:xfrm>
            <a:off x="8001000" y="4937760"/>
            <a:ext cx="3429000" cy="731520"/>
          </a:xfrm>
          <a:prstGeom prst="rect">
            <a:avLst/>
          </a:prstGeom>
          <a:noFill/>
          <a:ln/>
        </p:spPr>
        <p:txBody>
          <a:bodyPr wrap="square" lIns="0" tIns="0" rIns="0" bIns="0" rtlCol="0" anchor="t"/>
          <a:lstStyle/>
          <a:p>
            <a:pPr indent="0" marL="0">
              <a:buNone/>
            </a:pPr>
            <a:r>
              <a:rPr lang="en-US" sz="1200" i="1" dirty="0">
                <a:solidFill>
                  <a:srgbClr val="6B7280"/>
                </a:solidFill>
                <a:latin typeface="Calibri" pitchFamily="34" charset="0"/>
                <a:ea typeface="Calibri" pitchFamily="34" charset="-122"/>
                <a:cs typeface="Calibri" pitchFamily="34" charset="-120"/>
              </a:rPr>
              <a:t>Dock hours reviewed against these bands in the weekly SCA meeting.</a:t>
            </a:r>
            <a:endParaRPr lang="en-US" sz="1200" dirty="0"/>
          </a:p>
        </p:txBody>
      </p:sp>
      <p:sp>
        <p:nvSpPr>
          <p:cNvPr id="29" name="Text 19"/>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Mississauga Terminal · F27 Senior Leadership Review · Sep 29, 2026</a:t>
            </a:r>
            <a:endParaRPr lang="en-US" sz="900" dirty="0"/>
          </a:p>
        </p:txBody>
      </p:sp>
      <p:sp>
        <p:nvSpPr>
          <p:cNvPr id="30" name="Text 20"/>
          <p:cNvSpPr txBox="1"/>
          <p:nvPr/>
        </p:nvSpPr>
        <p:spPr>
          <a:xfrm>
            <a:off x="10725912" y="6473952"/>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12 / 21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Calibri" pitchFamily="34" charset="0"/>
                <a:ea typeface="Calibri" pitchFamily="34" charset="-122"/>
                <a:cs typeface="Calibri" pitchFamily="34" charset="-120"/>
              </a:rPr>
              <a:t>SCA</a:t>
            </a:r>
            <a:endParaRPr lang="en-US" sz="1200" dirty="0"/>
          </a:p>
        </p:txBody>
      </p:sp>
      <p:sp>
        <p:nvSpPr>
          <p:cNvPr id="3" name="Text 1"/>
          <p:cNvSpPr txBox="1"/>
          <p:nvPr/>
        </p:nvSpPr>
        <p:spPr>
          <a:xfrm>
            <a:off x="548640" y="603504"/>
            <a:ext cx="11091672" cy="603504"/>
          </a:xfrm>
          <a:prstGeom prst="rect">
            <a:avLst/>
          </a:prstGeom>
          <a:noFill/>
          <a:ln/>
        </p:spPr>
        <p:txBody>
          <a:bodyPr wrap="square" lIns="0" tIns="0" rIns="0" bIns="0" rtlCol="0" anchor="t"/>
          <a:lstStyle/>
          <a:p>
            <a:pPr indent="0" marL="0">
              <a:buNone/>
            </a:pPr>
            <a:r>
              <a:rPr lang="en-US" sz="3000" b="1" dirty="0">
                <a:solidFill>
                  <a:srgbClr val="111827"/>
                </a:solidFill>
                <a:latin typeface="Calibri" pitchFamily="34" charset="0"/>
                <a:ea typeface="Calibri" pitchFamily="34" charset="-122"/>
                <a:cs typeface="Calibri" pitchFamily="34" charset="-120"/>
              </a:rPr>
              <a:t>SCA — Accessorial capture</a:t>
            </a:r>
            <a:endParaRPr lang="en-US" sz="3000" dirty="0"/>
          </a:p>
        </p:txBody>
      </p:sp>
      <p:sp>
        <p:nvSpPr>
          <p:cNvPr id="4" name="Text 2"/>
          <p:cNvSpPr txBox="1"/>
          <p:nvPr/>
        </p:nvSpPr>
        <p:spPr>
          <a:xfrm>
            <a:off x="548640" y="1243584"/>
            <a:ext cx="10972800" cy="2743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Accessorial unit volume report · Mississauga · current month (reactive)</a:t>
            </a:r>
            <a:endParaRPr lang="en-US" sz="1300" dirty="0"/>
          </a:p>
        </p:txBody>
      </p:sp>
      <p:graphicFrame>
        <p:nvGraphicFramePr>
          <p:cNvPr id="5" name="Chart 0" descr=""/>
          <p:cNvGraphicFramePr/>
          <p:nvPr/>
        </p:nvGraphicFramePr>
        <p:xfrm>
          <a:off x="548640" y="1645920"/>
          <a:ext cx="5577840" cy="30632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355080" y="1645920"/>
          <a:ext cx="5285232" cy="306324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548640" y="4892040"/>
            <a:ext cx="2468880" cy="1097280"/>
          </a:xfrm>
          <a:prstGeom prst="roundRect">
            <a:avLst>
              <a:gd name="adj" fmla="val 6667"/>
            </a:avLst>
          </a:prstGeom>
          <a:solidFill>
            <a:srgbClr val="F3F4F6"/>
          </a:solidFill>
          <a:ln w="12700">
            <a:solidFill>
              <a:srgbClr val="F3F4F6"/>
            </a:solidFill>
            <a:prstDash val="solid"/>
          </a:ln>
        </p:spPr>
      </p:sp>
      <p:sp>
        <p:nvSpPr>
          <p:cNvPr id="8" name="Text 4"/>
          <p:cNvSpPr txBox="1"/>
          <p:nvPr/>
        </p:nvSpPr>
        <p:spPr>
          <a:xfrm>
            <a:off x="731520" y="4983480"/>
            <a:ext cx="2103120" cy="256032"/>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Total units this month</a:t>
            </a:r>
            <a:endParaRPr lang="en-US" sz="1100" dirty="0"/>
          </a:p>
        </p:txBody>
      </p:sp>
      <p:sp>
        <p:nvSpPr>
          <p:cNvPr id="9" name="Text 5"/>
          <p:cNvSpPr txBox="1"/>
          <p:nvPr/>
        </p:nvSpPr>
        <p:spPr>
          <a:xfrm>
            <a:off x="731520" y="5239512"/>
            <a:ext cx="2103120" cy="457200"/>
          </a:xfrm>
          <a:prstGeom prst="rect">
            <a:avLst/>
          </a:prstGeom>
          <a:noFill/>
          <a:ln/>
        </p:spPr>
        <p:txBody>
          <a:bodyPr wrap="square" lIns="0" tIns="0" rIns="0" bIns="0" rtlCol="0" anchor="ctr"/>
          <a:lstStyle/>
          <a:p>
            <a:pPr indent="0" marL="0">
              <a:buNone/>
            </a:pPr>
            <a:r>
              <a:rPr lang="en-US" sz="2600" b="1" dirty="0">
                <a:solidFill>
                  <a:srgbClr val="111827"/>
                </a:solidFill>
                <a:latin typeface="Calibri" pitchFamily="34" charset="0"/>
                <a:ea typeface="Calibri" pitchFamily="34" charset="-122"/>
                <a:cs typeface="Calibri" pitchFamily="34" charset="-120"/>
              </a:rPr>
              <a:t>≈32,921</a:t>
            </a:r>
            <a:endParaRPr lang="en-US" sz="2600" dirty="0"/>
          </a:p>
        </p:txBody>
      </p:sp>
      <p:sp>
        <p:nvSpPr>
          <p:cNvPr id="10" name="Text 6"/>
          <p:cNvSpPr txBox="1"/>
          <p:nvPr/>
        </p:nvSpPr>
        <p:spPr>
          <a:xfrm>
            <a:off x="731520" y="5687568"/>
            <a:ext cx="2103120" cy="219456"/>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Calculated: sum of 14 types</a:t>
            </a:r>
            <a:endParaRPr lang="en-US" sz="900" dirty="0"/>
          </a:p>
        </p:txBody>
      </p:sp>
      <p:sp>
        <p:nvSpPr>
          <p:cNvPr id="11" name="Shape 7"/>
          <p:cNvSpPr/>
          <p:nvPr/>
        </p:nvSpPr>
        <p:spPr>
          <a:xfrm>
            <a:off x="3200400" y="4892040"/>
            <a:ext cx="3931920" cy="1097280"/>
          </a:xfrm>
          <a:prstGeom prst="roundRect">
            <a:avLst>
              <a:gd name="adj" fmla="val 6667"/>
            </a:avLst>
          </a:prstGeom>
          <a:solidFill>
            <a:srgbClr val="F3F4F6"/>
          </a:solidFill>
          <a:ln w="12700">
            <a:solidFill>
              <a:srgbClr val="F3F4F6"/>
            </a:solidFill>
            <a:prstDash val="solid"/>
          </a:ln>
        </p:spPr>
      </p:sp>
      <p:sp>
        <p:nvSpPr>
          <p:cNvPr id="12" name="Text 8"/>
          <p:cNvSpPr txBox="1"/>
          <p:nvPr/>
        </p:nvSpPr>
        <p:spPr>
          <a:xfrm>
            <a:off x="3383280" y="4956048"/>
            <a:ext cx="3611880" cy="969264"/>
          </a:xfrm>
          <a:prstGeom prst="rect">
            <a:avLst/>
          </a:prstGeom>
          <a:noFill/>
          <a:ln/>
        </p:spPr>
        <p:txBody>
          <a:bodyPr wrap="square" lIns="0" tIns="0" rIns="0" bIns="0" rtlCol="0" anchor="ctr"/>
          <a:lstStyle/>
          <a:p>
            <a:pPr indent="0" marL="0">
              <a:buNone/>
            </a:pPr>
            <a:r>
              <a:rPr lang="en-US" sz="950" b="1" dirty="0">
                <a:solidFill>
                  <a:srgbClr val="1F2937"/>
                </a:solidFill>
                <a:latin typeface="Calibri" pitchFamily="34" charset="0"/>
                <a:ea typeface="Calibri" pitchFamily="34" charset="-122"/>
                <a:cs typeface="Calibri" pitchFamily="34" charset="-120"/>
              </a:rPr>
              <a:t>Other types: </a:t>
            </a:r>
            <a:pPr indent="0" marL="0">
              <a:buNone/>
            </a:pPr>
            <a:r>
              <a:rPr lang="en-US" sz="950" dirty="0">
                <a:solidFill>
                  <a:srgbClr val="6B7280"/>
                </a:solidFill>
                <a:latin typeface="Calibri" pitchFamily="34" charset="0"/>
                <a:ea typeface="Calibri" pitchFamily="34" charset="-122"/>
                <a:cs typeface="Calibri" pitchFamily="34" charset="-120"/>
              </a:rPr>
              <a:t>Inside delivery 315 · Storage 279 · Limited access delivery 90 · Tradeshow delivery 82 · Inside pick-up 64 · Detention w/ power at delivery 17 · Limited access pick-up 14 · Tradeshow pick-up 3</a:t>
            </a:r>
            <a:endParaRPr lang="en-US" sz="950" dirty="0"/>
          </a:p>
        </p:txBody>
      </p:sp>
      <p:sp>
        <p:nvSpPr>
          <p:cNvPr id="13" name="Shape 9"/>
          <p:cNvSpPr/>
          <p:nvPr/>
        </p:nvSpPr>
        <p:spPr>
          <a:xfrm>
            <a:off x="7315200" y="4892040"/>
            <a:ext cx="4325112" cy="1097280"/>
          </a:xfrm>
          <a:prstGeom prst="roundRect">
            <a:avLst>
              <a:gd name="adj" fmla="val 6667"/>
            </a:avLst>
          </a:prstGeom>
          <a:solidFill>
            <a:srgbClr val="F5F3FF"/>
          </a:solidFill>
          <a:ln w="12700">
            <a:solidFill>
              <a:srgbClr val="F5F3FF"/>
            </a:solidFill>
            <a:prstDash val="solid"/>
          </a:ln>
        </p:spPr>
      </p:sp>
      <p:sp>
        <p:nvSpPr>
          <p:cNvPr id="14" name="Shape 10"/>
          <p:cNvSpPr/>
          <p:nvPr/>
        </p:nvSpPr>
        <p:spPr>
          <a:xfrm>
            <a:off x="7498080" y="5184648"/>
            <a:ext cx="502920" cy="502920"/>
          </a:xfrm>
          <a:prstGeom prst="ellipse">
            <a:avLst/>
          </a:prstGeom>
          <a:solidFill>
            <a:srgbClr val="7C3AED"/>
          </a:solidFill>
          <a:ln w="12700">
            <a:solidFill>
              <a:srgbClr val="7C3AED"/>
            </a:solidFill>
            <a:prstDash val="solid"/>
          </a:ln>
        </p:spPr>
      </p:sp>
      <p:pic>
        <p:nvPicPr>
          <p:cNvPr id="15" name="Image 0" descr="preencoded.png">    </p:cNvPr>
          <p:cNvPicPr>
            <a:picLocks noChangeAspect="1"/>
          </p:cNvPicPr>
          <p:nvPr/>
        </p:nvPicPr>
        <p:blipFill>
          <a:blip r:embed="rId3"/>
          <a:stretch>
            <a:fillRect/>
          </a:stretch>
        </p:blipFill>
        <p:spPr>
          <a:xfrm>
            <a:off x="7623810" y="5310378"/>
            <a:ext cx="251460" cy="251460"/>
          </a:xfrm>
          <a:prstGeom prst="rect">
            <a:avLst/>
          </a:prstGeom>
        </p:spPr>
      </p:pic>
      <p:sp>
        <p:nvSpPr>
          <p:cNvPr id="16" name="Text 11"/>
          <p:cNvSpPr txBox="1"/>
          <p:nvPr/>
        </p:nvSpPr>
        <p:spPr>
          <a:xfrm>
            <a:off x="8138160" y="4892040"/>
            <a:ext cx="3383280" cy="109728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Every accessorial coded = revenue captured; private-residence, tailgate and appointment deliveries are ~91% of volume.</a:t>
            </a:r>
            <a:endParaRPr lang="en-US" sz="1200" dirty="0"/>
          </a:p>
        </p:txBody>
      </p:sp>
      <p:sp>
        <p:nvSpPr>
          <p:cNvPr id="17" name="Text 12"/>
          <p:cNvSpPr txBox="1"/>
          <p:nvPr/>
        </p:nvSpPr>
        <p:spPr>
          <a:xfrm>
            <a:off x="548640" y="6108192"/>
            <a:ext cx="11091672" cy="256032"/>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Source: Accessorial unit volume report — Mississauga. Weekly values in thousands of units; week of Sep 28 is partial.</a:t>
            </a:r>
            <a:endParaRPr lang="en-US" sz="950" dirty="0"/>
          </a:p>
        </p:txBody>
      </p:sp>
      <p:sp>
        <p:nvSpPr>
          <p:cNvPr id="18" name="Text 13"/>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Mississauga Terminal · F27 Senior Leadership Review · Sep 29, 2026</a:t>
            </a:r>
            <a:endParaRPr lang="en-US" sz="900" dirty="0"/>
          </a:p>
        </p:txBody>
      </p:sp>
      <p:sp>
        <p:nvSpPr>
          <p:cNvPr id="19" name="Text 14"/>
          <p:cNvSpPr txBox="1"/>
          <p:nvPr/>
        </p:nvSpPr>
        <p:spPr>
          <a:xfrm>
            <a:off x="10725912" y="6473952"/>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13 / 21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Calibri" pitchFamily="34" charset="0"/>
                <a:ea typeface="Calibri" pitchFamily="34" charset="-122"/>
                <a:cs typeface="Calibri" pitchFamily="34" charset="-120"/>
              </a:rPr>
              <a:t>SCA</a:t>
            </a:r>
            <a:endParaRPr lang="en-US" sz="1200" dirty="0"/>
          </a:p>
        </p:txBody>
      </p:sp>
      <p:sp>
        <p:nvSpPr>
          <p:cNvPr id="3" name="Text 1"/>
          <p:cNvSpPr txBox="1"/>
          <p:nvPr/>
        </p:nvSpPr>
        <p:spPr>
          <a:xfrm>
            <a:off x="548640" y="603504"/>
            <a:ext cx="11091672" cy="603504"/>
          </a:xfrm>
          <a:prstGeom prst="rect">
            <a:avLst/>
          </a:prstGeom>
          <a:noFill/>
          <a:ln/>
        </p:spPr>
        <p:txBody>
          <a:bodyPr wrap="square" lIns="0" tIns="0" rIns="0" bIns="0" rtlCol="0" anchor="t"/>
          <a:lstStyle/>
          <a:p>
            <a:pPr indent="0" marL="0">
              <a:buNone/>
            </a:pPr>
            <a:r>
              <a:rPr lang="en-US" sz="3000" b="1" dirty="0">
                <a:solidFill>
                  <a:srgbClr val="111827"/>
                </a:solidFill>
                <a:latin typeface="Calibri" pitchFamily="34" charset="0"/>
                <a:ea typeface="Calibri" pitchFamily="34" charset="-122"/>
                <a:cs typeface="Calibri" pitchFamily="34" charset="-120"/>
              </a:rPr>
              <a:t>F27 savings plan</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229600" cy="914400"/>
        </p:xfrm>
        <a:graphic>
          <a:graphicData uri="http://schemas.openxmlformats.org/drawingml/2006/table">
            <a:tbl>
              <a:tblPr/>
              <a:tblGrid>
                <a:gridCol w="411480"/>
                <a:gridCol w="3611880"/>
                <a:gridCol w="1234440"/>
                <a:gridCol w="1325880"/>
                <a:gridCol w="1645920"/>
              </a:tblGrid>
              <a:tr h="41148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Initiative</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F27 plan ($)</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Realized YTD ($)</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r>
              <a:tr h="411480">
                <a:tc>
                  <a:txBody>
                    <a:bodyPr/>
                    <a:lstStyle/>
                    <a:p>
                      <a:pPr algn="ctr" indent="0" marL="0">
                        <a:buNone/>
                      </a:pPr>
                      <a:r>
                        <a:rPr lang="en-US" sz="1200" dirty="0">
                          <a:solidFill>
                            <a:srgbClr val="6B728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11827"/>
                          </a:solidFill>
                          <a:latin typeface="Calibri" pitchFamily="34" charset="0"/>
                          <a:ea typeface="Calibri" pitchFamily="34" charset="-122"/>
                          <a:cs typeface="Calibri" pitchFamily="34" charset="-120"/>
                        </a:rPr>
                        <a:t>Dock labour — shift hours aligned to P&amp;D</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b="1" dirty="0">
                          <a:solidFill>
                            <a:srgbClr val="7C3AED"/>
                          </a:solidFill>
                          <a:latin typeface="Calibri" pitchFamily="34" charset="0"/>
                          <a:ea typeface="Calibri" pitchFamily="34" charset="-122"/>
                          <a:cs typeface="Calibri" pitchFamily="34" charset="-120"/>
                        </a:rPr>
                        <a:t>In progress</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411480">
                <a:tc>
                  <a:txBody>
                    <a:bodyPr/>
                    <a:lstStyle/>
                    <a:p>
                      <a:pPr algn="ctr" indent="0" marL="0">
                        <a:buNone/>
                      </a:pPr>
                      <a:r>
                        <a:rPr lang="en-US" sz="1200" dirty="0">
                          <a:solidFill>
                            <a:srgbClr val="6B728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indent="0" marL="0">
                        <a:buNone/>
                      </a:pPr>
                      <a:r>
                        <a:rPr lang="en-US" sz="1200" dirty="0">
                          <a:solidFill>
                            <a:srgbClr val="111827"/>
                          </a:solidFill>
                          <a:latin typeface="Calibri" pitchFamily="34" charset="0"/>
                          <a:ea typeface="Calibri" pitchFamily="34" charset="-122"/>
                          <a:cs typeface="Calibri" pitchFamily="34" charset="-120"/>
                        </a:rPr>
                        <a:t>Agency / contract labour reduction</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indent="0" marL="0">
                        <a:buNone/>
                      </a:pPr>
                      <a:r>
                        <a:rPr lang="en-US" sz="1100" b="1" dirty="0">
                          <a:solidFill>
                            <a:srgbClr val="7C3AED"/>
                          </a:solidFill>
                          <a:latin typeface="Calibri" pitchFamily="34" charset="0"/>
                          <a:ea typeface="Calibri" pitchFamily="34" charset="-122"/>
                          <a:cs typeface="Calibri" pitchFamily="34" charset="-120"/>
                        </a:rPr>
                        <a:t>In progress</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r>
              <a:tr h="411480">
                <a:tc>
                  <a:txBody>
                    <a:bodyPr/>
                    <a:lstStyle/>
                    <a:p>
                      <a:pPr algn="ctr" indent="0" marL="0">
                        <a:buNone/>
                      </a:pPr>
                      <a:r>
                        <a:rPr lang="en-US" sz="1200" dirty="0">
                          <a:solidFill>
                            <a:srgbClr val="6B728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11827"/>
                          </a:solidFill>
                          <a:latin typeface="Calibri" pitchFamily="34" charset="0"/>
                          <a:ea typeface="Calibri" pitchFamily="34" charset="-122"/>
                          <a:cs typeface="Calibri" pitchFamily="34" charset="-120"/>
                        </a:rPr>
                        <a:t>CICO hours saved (late / lunch / early-off)</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b="1" dirty="0">
                          <a:solidFill>
                            <a:srgbClr val="7C3AED"/>
                          </a:solidFill>
                          <a:latin typeface="Calibri" pitchFamily="34" charset="0"/>
                          <a:ea typeface="Calibri" pitchFamily="34" charset="-122"/>
                          <a:cs typeface="Calibri" pitchFamily="34" charset="-120"/>
                        </a:rPr>
                        <a:t>In progress</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411480">
                <a:tc>
                  <a:txBody>
                    <a:bodyPr/>
                    <a:lstStyle/>
                    <a:p>
                      <a:pPr algn="ctr" indent="0" marL="0">
                        <a:buNone/>
                      </a:pPr>
                      <a:r>
                        <a:rPr lang="en-US" sz="1200" dirty="0">
                          <a:solidFill>
                            <a:srgbClr val="6B728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indent="0" marL="0">
                        <a:buNone/>
                      </a:pPr>
                      <a:r>
                        <a:rPr lang="en-US" sz="1200" dirty="0">
                          <a:solidFill>
                            <a:srgbClr val="111827"/>
                          </a:solidFill>
                          <a:latin typeface="Calibri" pitchFamily="34" charset="0"/>
                          <a:ea typeface="Calibri" pitchFamily="34" charset="-122"/>
                          <a:cs typeface="Calibri" pitchFamily="34" charset="-120"/>
                        </a:rPr>
                        <a:t>Accessorial billing recovery</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New</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r>
              <a:tr h="411480">
                <a:tc>
                  <a:txBody>
                    <a:bodyPr/>
                    <a:lstStyle/>
                    <a:p>
                      <a:pPr algn="ctr" indent="0" marL="0">
                        <a:buNone/>
                      </a:pPr>
                      <a:r>
                        <a:rPr lang="en-US" sz="1200" dirty="0">
                          <a:solidFill>
                            <a:srgbClr val="6B728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11827"/>
                          </a:solidFill>
                          <a:latin typeface="Calibri" pitchFamily="34" charset="0"/>
                          <a:ea typeface="Calibri" pitchFamily="34" charset="-122"/>
                          <a:cs typeface="Calibri" pitchFamily="34" charset="-120"/>
                        </a:rPr>
                        <a:t>Load factor &amp; trailer consolidation</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New</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411480">
                <a:tc>
                  <a:txBody>
                    <a:bodyPr/>
                    <a:lstStyle/>
                    <a:p>
                      <a:pPr algn="ctr" indent="0" marL="0">
                        <a:buNone/>
                      </a:pPr>
                      <a:r>
                        <a:rPr lang="en-US" sz="1200" dirty="0">
                          <a:solidFill>
                            <a:srgbClr val="6B7280"/>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indent="0" marL="0">
                        <a:buNone/>
                      </a:pPr>
                      <a:r>
                        <a:rPr lang="en-US" sz="1200" dirty="0">
                          <a:solidFill>
                            <a:srgbClr val="111827"/>
                          </a:solidFill>
                          <a:latin typeface="Calibri" pitchFamily="34" charset="0"/>
                          <a:ea typeface="Calibri" pitchFamily="34" charset="-122"/>
                          <a:cs typeface="Calibri" pitchFamily="34" charset="-120"/>
                        </a:rPr>
                        <a:t>Shunting optimization</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indent="0" marL="0">
                        <a:buNone/>
                      </a:pPr>
                      <a:r>
                        <a:rPr lang="en-US" sz="1100" b="1" dirty="0">
                          <a:solidFill>
                            <a:srgbClr val="059669"/>
                          </a:solidFill>
                          <a:latin typeface="Calibri" pitchFamily="34" charset="0"/>
                          <a:ea typeface="Calibri" pitchFamily="34" charset="-122"/>
                          <a:cs typeface="Calibri" pitchFamily="34" charset="-120"/>
                        </a:rPr>
                        <a:t>Sustained from F26</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r>
              <a:tr h="411480">
                <a:tc>
                  <a:txBody>
                    <a:bodyPr/>
                    <a:lstStyle/>
                    <a:p>
                      <a:pPr algn="ctr" indent="0" marL="0">
                        <a:buNone/>
                      </a:pPr>
                      <a:r>
                        <a:rPr lang="en-US" sz="1200" dirty="0">
                          <a:solidFill>
                            <a:srgbClr val="6B7280"/>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111827"/>
                          </a:solidFill>
                          <a:latin typeface="Calibri" pitchFamily="34" charset="0"/>
                          <a:ea typeface="Calibri" pitchFamily="34" charset="-122"/>
                          <a:cs typeface="Calibri" pitchFamily="34" charset="-120"/>
                        </a:rPr>
                        <a:t>Forklift rentals returned</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b="1" dirty="0">
                          <a:solidFill>
                            <a:srgbClr val="059669"/>
                          </a:solidFill>
                          <a:latin typeface="Calibri" pitchFamily="34" charset="0"/>
                          <a:ea typeface="Calibri" pitchFamily="34" charset="-122"/>
                          <a:cs typeface="Calibri" pitchFamily="34" charset="-120"/>
                        </a:rPr>
                        <a:t>Sustained from F26</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411480">
                <a:tc>
                  <a:txBody>
                    <a:bodyPr/>
                    <a:lstStyle/>
                    <a:p>
                      <a:pPr algn="ctr" indent="0" marL="0">
                        <a:buNone/>
                      </a:pPr>
                      <a:r>
                        <a:rPr lang="en-US" sz="1200" dirty="0">
                          <a:solidFill>
                            <a:srgbClr val="6B7280"/>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indent="0" marL="0">
                        <a:buNone/>
                      </a:pPr>
                      <a:r>
                        <a:rPr lang="en-US" sz="1200" dirty="0">
                          <a:solidFill>
                            <a:srgbClr val="111827"/>
                          </a:solidFill>
                          <a:latin typeface="Calibri" pitchFamily="34" charset="0"/>
                          <a:ea typeface="Calibri" pitchFamily="34" charset="-122"/>
                          <a:cs typeface="Calibri" pitchFamily="34" charset="-120"/>
                        </a:rPr>
                        <a:t>Cargo claims reduction</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indent="0" marL="0">
                        <a:buNone/>
                      </a:pPr>
                      <a:r>
                        <a:rPr lang="en-US" sz="1100" b="1" dirty="0">
                          <a:solidFill>
                            <a:srgbClr val="059669"/>
                          </a:solidFill>
                          <a:latin typeface="Calibri" pitchFamily="34" charset="0"/>
                          <a:ea typeface="Calibri" pitchFamily="34" charset="-122"/>
                          <a:cs typeface="Calibri" pitchFamily="34" charset="-120"/>
                        </a:rPr>
                        <a:t>Sustained from F26</a:t>
                      </a:r>
                      <a:endParaRPr lang="en-US" sz="11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r>
              <a:tr h="411480">
                <a:tc>
                  <a:txBody>
                    <a:bodyPr/>
                    <a:lstStyle/>
                    <a:p>
                      <a:pPr indent="0" marL="0">
                        <a:buNone/>
                      </a:pP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DE9FE"/>
                    </a:solidFill>
                  </a:tcPr>
                </a:tc>
                <a:tc>
                  <a:txBody>
                    <a:bodyPr/>
                    <a:lstStyle/>
                    <a:p>
                      <a:pPr indent="0" marL="0">
                        <a:buNone/>
                      </a:pPr>
                      <a:r>
                        <a:rPr lang="en-US" sz="1200" b="1" dirty="0">
                          <a:solidFill>
                            <a:srgbClr val="111827"/>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DE9FE"/>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DE9FE"/>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DE9FE"/>
                    </a:solidFill>
                  </a:tcPr>
                </a:tc>
                <a:tc>
                  <a:txBody>
                    <a:bodyPr/>
                    <a:lstStyle/>
                    <a:p>
                      <a:pPr indent="0" marL="0">
                        <a:buNone/>
                      </a:pP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DE9FE"/>
                    </a:solidFill>
                  </a:tcPr>
                </a:tc>
              </a:tr>
            </a:tbl>
          </a:graphicData>
        </a:graphic>
      </p:graphicFrame>
      <p:sp>
        <p:nvSpPr>
          <p:cNvPr id="5" name="Text 2"/>
          <p:cNvSpPr txBox="1"/>
          <p:nvPr/>
        </p:nvSpPr>
        <p:spPr>
          <a:xfrm>
            <a:off x="548640" y="5669280"/>
            <a:ext cx="8229600" cy="27432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F27 plan = full-year $; realized = Jul 1, 2026 to date.</a:t>
            </a:r>
            <a:endParaRPr lang="en-US" sz="1050" dirty="0"/>
          </a:p>
        </p:txBody>
      </p:sp>
      <p:sp>
        <p:nvSpPr>
          <p:cNvPr id="6" name="Shape 3"/>
          <p:cNvSpPr/>
          <p:nvPr/>
        </p:nvSpPr>
        <p:spPr>
          <a:xfrm>
            <a:off x="9052560" y="1371600"/>
            <a:ext cx="2587752" cy="1325880"/>
          </a:xfrm>
          <a:prstGeom prst="roundRect">
            <a:avLst>
              <a:gd name="adj" fmla="val 5517"/>
            </a:avLst>
          </a:prstGeom>
          <a:solidFill>
            <a:srgbClr val="F5F3FF"/>
          </a:solidFill>
          <a:ln w="12700">
            <a:solidFill>
              <a:srgbClr val="F5F3FF"/>
            </a:solidFill>
            <a:prstDash val="solid"/>
          </a:ln>
        </p:spPr>
      </p:sp>
      <p:sp>
        <p:nvSpPr>
          <p:cNvPr id="7" name="Text 4"/>
          <p:cNvSpPr txBox="1"/>
          <p:nvPr/>
        </p:nvSpPr>
        <p:spPr>
          <a:xfrm>
            <a:off x="9235440" y="1508760"/>
            <a:ext cx="2221992"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F27 take-out target</a:t>
            </a:r>
            <a:endParaRPr lang="en-US" sz="1100" dirty="0"/>
          </a:p>
        </p:txBody>
      </p:sp>
      <p:sp>
        <p:nvSpPr>
          <p:cNvPr id="8" name="Text 5"/>
          <p:cNvSpPr txBox="1"/>
          <p:nvPr/>
        </p:nvSpPr>
        <p:spPr>
          <a:xfrm>
            <a:off x="9235440" y="1783080"/>
            <a:ext cx="2221992" cy="457200"/>
          </a:xfrm>
          <a:prstGeom prst="rect">
            <a:avLst/>
          </a:prstGeom>
          <a:noFill/>
          <a:ln/>
        </p:spPr>
        <p:txBody>
          <a:bodyPr wrap="square" lIns="0" tIns="0" rIns="0" bIns="0" rtlCol="0" anchor="ctr"/>
          <a:lstStyle/>
          <a:p>
            <a:pPr indent="0" marL="0">
              <a:buNone/>
            </a:pPr>
            <a:r>
              <a:rPr lang="en-US" sz="2600" b="1" dirty="0">
                <a:solidFill>
                  <a:srgbClr val="D97706"/>
                </a:solidFill>
                <a:latin typeface="Calibri" pitchFamily="34" charset="0"/>
                <a:ea typeface="Calibri" pitchFamily="34" charset="-122"/>
                <a:cs typeface="Calibri" pitchFamily="34" charset="-120"/>
              </a:rPr>
              <a:t>TBC</a:t>
            </a:r>
            <a:endParaRPr lang="en-US" sz="2600" dirty="0"/>
          </a:p>
        </p:txBody>
      </p:sp>
      <p:sp>
        <p:nvSpPr>
          <p:cNvPr id="9" name="Text 6"/>
          <p:cNvSpPr txBox="1"/>
          <p:nvPr/>
        </p:nvSpPr>
        <p:spPr>
          <a:xfrm>
            <a:off x="9235440" y="2267712"/>
            <a:ext cx="2221992"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Full year</a:t>
            </a:r>
            <a:endParaRPr lang="en-US" sz="1050" dirty="0"/>
          </a:p>
        </p:txBody>
      </p:sp>
      <p:sp>
        <p:nvSpPr>
          <p:cNvPr id="10" name="Shape 7"/>
          <p:cNvSpPr/>
          <p:nvPr/>
        </p:nvSpPr>
        <p:spPr>
          <a:xfrm>
            <a:off x="9052560" y="2880360"/>
            <a:ext cx="2587752" cy="1325880"/>
          </a:xfrm>
          <a:prstGeom prst="roundRect">
            <a:avLst>
              <a:gd name="adj" fmla="val 5517"/>
            </a:avLst>
          </a:prstGeom>
          <a:solidFill>
            <a:srgbClr val="F3F4F6"/>
          </a:solidFill>
          <a:ln w="12700">
            <a:solidFill>
              <a:srgbClr val="F3F4F6"/>
            </a:solidFill>
            <a:prstDash val="solid"/>
          </a:ln>
        </p:spPr>
      </p:sp>
      <p:sp>
        <p:nvSpPr>
          <p:cNvPr id="11" name="Text 8"/>
          <p:cNvSpPr txBox="1"/>
          <p:nvPr/>
        </p:nvSpPr>
        <p:spPr>
          <a:xfrm>
            <a:off x="9235440" y="3017520"/>
            <a:ext cx="2221992"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Identified (plan total)</a:t>
            </a:r>
            <a:endParaRPr lang="en-US" sz="1100" dirty="0"/>
          </a:p>
        </p:txBody>
      </p:sp>
      <p:sp>
        <p:nvSpPr>
          <p:cNvPr id="12" name="Text 9"/>
          <p:cNvSpPr txBox="1"/>
          <p:nvPr/>
        </p:nvSpPr>
        <p:spPr>
          <a:xfrm>
            <a:off x="9235440" y="3291840"/>
            <a:ext cx="2221992" cy="457200"/>
          </a:xfrm>
          <a:prstGeom prst="rect">
            <a:avLst/>
          </a:prstGeom>
          <a:noFill/>
          <a:ln/>
        </p:spPr>
        <p:txBody>
          <a:bodyPr wrap="square" lIns="0" tIns="0" rIns="0" bIns="0" rtlCol="0" anchor="ctr"/>
          <a:lstStyle/>
          <a:p>
            <a:pPr indent="0" marL="0">
              <a:buNone/>
            </a:pPr>
            <a:r>
              <a:rPr lang="en-US" sz="2600" b="1" dirty="0">
                <a:solidFill>
                  <a:srgbClr val="D97706"/>
                </a:solidFill>
                <a:latin typeface="Calibri" pitchFamily="34" charset="0"/>
                <a:ea typeface="Calibri" pitchFamily="34" charset="-122"/>
                <a:cs typeface="Calibri" pitchFamily="34" charset="-120"/>
              </a:rPr>
              <a:t>TBC</a:t>
            </a:r>
            <a:endParaRPr lang="en-US" sz="2600" dirty="0"/>
          </a:p>
        </p:txBody>
      </p:sp>
      <p:sp>
        <p:nvSpPr>
          <p:cNvPr id="13" name="Text 10"/>
          <p:cNvSpPr txBox="1"/>
          <p:nvPr/>
        </p:nvSpPr>
        <p:spPr>
          <a:xfrm>
            <a:off x="9235440" y="3776472"/>
            <a:ext cx="2221992"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 of target: </a:t>
            </a:r>
            <a:pPr indent="0" marL="0">
              <a:buNone/>
            </a:pPr>
            <a:r>
              <a:rPr lang="en-US" sz="1050" b="1" dirty="0">
                <a:solidFill>
                  <a:srgbClr val="D97706"/>
                </a:solidFill>
                <a:latin typeface="Calibri" pitchFamily="34" charset="0"/>
                <a:ea typeface="Calibri" pitchFamily="34" charset="-122"/>
                <a:cs typeface="Calibri" pitchFamily="34" charset="-120"/>
              </a:rPr>
              <a:t>TBC</a:t>
            </a:r>
            <a:endParaRPr lang="en-US" sz="1050" dirty="0"/>
          </a:p>
        </p:txBody>
      </p:sp>
      <p:sp>
        <p:nvSpPr>
          <p:cNvPr id="14" name="Shape 11"/>
          <p:cNvSpPr/>
          <p:nvPr/>
        </p:nvSpPr>
        <p:spPr>
          <a:xfrm>
            <a:off x="9052560" y="4389120"/>
            <a:ext cx="2587752" cy="1325880"/>
          </a:xfrm>
          <a:prstGeom prst="roundRect">
            <a:avLst>
              <a:gd name="adj" fmla="val 5517"/>
            </a:avLst>
          </a:prstGeom>
          <a:solidFill>
            <a:srgbClr val="F3F4F6"/>
          </a:solidFill>
          <a:ln w="12700">
            <a:solidFill>
              <a:srgbClr val="F3F4F6"/>
            </a:solidFill>
            <a:prstDash val="solid"/>
          </a:ln>
        </p:spPr>
      </p:sp>
      <p:sp>
        <p:nvSpPr>
          <p:cNvPr id="15" name="Text 12"/>
          <p:cNvSpPr txBox="1"/>
          <p:nvPr/>
        </p:nvSpPr>
        <p:spPr>
          <a:xfrm>
            <a:off x="9235440" y="4526280"/>
            <a:ext cx="2221992"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Realized YTD</a:t>
            </a:r>
            <a:endParaRPr lang="en-US" sz="1100" dirty="0"/>
          </a:p>
        </p:txBody>
      </p:sp>
      <p:sp>
        <p:nvSpPr>
          <p:cNvPr id="16" name="Text 13"/>
          <p:cNvSpPr txBox="1"/>
          <p:nvPr/>
        </p:nvSpPr>
        <p:spPr>
          <a:xfrm>
            <a:off x="9235440" y="4800600"/>
            <a:ext cx="2221992" cy="457200"/>
          </a:xfrm>
          <a:prstGeom prst="rect">
            <a:avLst/>
          </a:prstGeom>
          <a:noFill/>
          <a:ln/>
        </p:spPr>
        <p:txBody>
          <a:bodyPr wrap="square" lIns="0" tIns="0" rIns="0" bIns="0" rtlCol="0" anchor="ctr"/>
          <a:lstStyle/>
          <a:p>
            <a:pPr indent="0" marL="0">
              <a:buNone/>
            </a:pPr>
            <a:r>
              <a:rPr lang="en-US" sz="2600" b="1" dirty="0">
                <a:solidFill>
                  <a:srgbClr val="D97706"/>
                </a:solidFill>
                <a:latin typeface="Calibri" pitchFamily="34" charset="0"/>
                <a:ea typeface="Calibri" pitchFamily="34" charset="-122"/>
                <a:cs typeface="Calibri" pitchFamily="34" charset="-120"/>
              </a:rPr>
              <a:t>TBC</a:t>
            </a:r>
            <a:endParaRPr lang="en-US" sz="2600" dirty="0"/>
          </a:p>
        </p:txBody>
      </p:sp>
      <p:sp>
        <p:nvSpPr>
          <p:cNvPr id="17" name="Text 14"/>
          <p:cNvSpPr txBox="1"/>
          <p:nvPr/>
        </p:nvSpPr>
        <p:spPr>
          <a:xfrm>
            <a:off x="9235440" y="5285232"/>
            <a:ext cx="2221992"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Jul 1 to date</a:t>
            </a:r>
            <a:endParaRPr lang="en-US" sz="1050" dirty="0"/>
          </a:p>
        </p:txBody>
      </p:sp>
      <p:sp>
        <p:nvSpPr>
          <p:cNvPr id="18" name="Text 1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Mississauga Terminal · F27 Senior Leadership Review · Sep 29, 2026</a:t>
            </a:r>
            <a:endParaRPr lang="en-US" sz="900" dirty="0"/>
          </a:p>
        </p:txBody>
      </p:sp>
      <p:sp>
        <p:nvSpPr>
          <p:cNvPr id="19" name="Text 16"/>
          <p:cNvSpPr txBox="1"/>
          <p:nvPr/>
        </p:nvSpPr>
        <p:spPr>
          <a:xfrm>
            <a:off x="10725912" y="6473952"/>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14 / 21</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Calibri" pitchFamily="34" charset="0"/>
                <a:ea typeface="Calibri" pitchFamily="34" charset="-122"/>
                <a:cs typeface="Calibri" pitchFamily="34" charset="-120"/>
              </a:rPr>
              <a:t>PRODUCTIVITY</a:t>
            </a:r>
            <a:endParaRPr lang="en-US" sz="1200" dirty="0"/>
          </a:p>
        </p:txBody>
      </p:sp>
      <p:sp>
        <p:nvSpPr>
          <p:cNvPr id="3" name="Text 1"/>
          <p:cNvSpPr txBox="1"/>
          <p:nvPr/>
        </p:nvSpPr>
        <p:spPr>
          <a:xfrm>
            <a:off x="548640" y="603504"/>
            <a:ext cx="11091672" cy="603504"/>
          </a:xfrm>
          <a:prstGeom prst="rect">
            <a:avLst/>
          </a:prstGeom>
          <a:noFill/>
          <a:ln/>
        </p:spPr>
        <p:txBody>
          <a:bodyPr wrap="square" lIns="0" tIns="0" rIns="0" bIns="0" rtlCol="0" anchor="t"/>
          <a:lstStyle/>
          <a:p>
            <a:pPr indent="0" marL="0">
              <a:buNone/>
            </a:pPr>
            <a:r>
              <a:rPr lang="en-US" sz="3000" b="1" dirty="0">
                <a:solidFill>
                  <a:srgbClr val="111827"/>
                </a:solidFill>
                <a:latin typeface="Calibri" pitchFamily="34" charset="0"/>
                <a:ea typeface="Calibri" pitchFamily="34" charset="-122"/>
                <a:cs typeface="Calibri" pitchFamily="34" charset="-120"/>
              </a:rPr>
              <a:t>Productivity — PPH &amp; Units/hr (Sept MTD)</a:t>
            </a:r>
            <a:endParaRPr lang="en-US" sz="3000" dirty="0"/>
          </a:p>
        </p:txBody>
      </p:sp>
      <p:sp>
        <p:nvSpPr>
          <p:cNvPr id="4" name="Shape 2"/>
          <p:cNvSpPr/>
          <p:nvPr/>
        </p:nvSpPr>
        <p:spPr>
          <a:xfrm>
            <a:off x="548640" y="1371600"/>
            <a:ext cx="2601468" cy="1783080"/>
          </a:xfrm>
          <a:prstGeom prst="roundRect">
            <a:avLst>
              <a:gd name="adj" fmla="val 4103"/>
            </a:avLst>
          </a:prstGeom>
          <a:solidFill>
            <a:srgbClr val="F3F4F6"/>
          </a:solidFill>
          <a:ln w="12700">
            <a:solidFill>
              <a:srgbClr val="F3F4F6"/>
            </a:solidFill>
            <a:prstDash val="solid"/>
          </a:ln>
        </p:spPr>
      </p:sp>
      <p:sp>
        <p:nvSpPr>
          <p:cNvPr id="5" name="Text 3"/>
          <p:cNvSpPr txBox="1"/>
          <p:nvPr/>
        </p:nvSpPr>
        <p:spPr>
          <a:xfrm>
            <a:off x="731520" y="1508760"/>
            <a:ext cx="2235708"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PPH (lbs per dock hour)</a:t>
            </a:r>
            <a:endParaRPr lang="en-US" sz="1100" dirty="0"/>
          </a:p>
        </p:txBody>
      </p:sp>
      <p:sp>
        <p:nvSpPr>
          <p:cNvPr id="6" name="Text 4"/>
          <p:cNvSpPr txBox="1"/>
          <p:nvPr/>
        </p:nvSpPr>
        <p:spPr>
          <a:xfrm>
            <a:off x="731520" y="1783080"/>
            <a:ext cx="2235708" cy="685800"/>
          </a:xfrm>
          <a:prstGeom prst="rect">
            <a:avLst/>
          </a:prstGeom>
          <a:noFill/>
          <a:ln/>
        </p:spPr>
        <p:txBody>
          <a:bodyPr wrap="square" lIns="0" tIns="0" rIns="0" bIns="0" rtlCol="0" anchor="ctr"/>
          <a:lstStyle/>
          <a:p>
            <a:pPr indent="0" marL="0">
              <a:buNone/>
            </a:pPr>
            <a:r>
              <a:rPr lang="en-US" sz="3600" b="1" dirty="0">
                <a:solidFill>
                  <a:srgbClr val="111827"/>
                </a:solidFill>
                <a:latin typeface="Calibri" pitchFamily="34" charset="0"/>
                <a:ea typeface="Calibri" pitchFamily="34" charset="-122"/>
                <a:cs typeface="Calibri" pitchFamily="34" charset="-120"/>
              </a:rPr>
              <a:t>3,327</a:t>
            </a:r>
            <a:endParaRPr lang="en-US" sz="3600" dirty="0"/>
          </a:p>
        </p:txBody>
      </p:sp>
      <p:sp>
        <p:nvSpPr>
          <p:cNvPr id="7" name="Text 5"/>
          <p:cNvSpPr txBox="1"/>
          <p:nvPr/>
        </p:nvSpPr>
        <p:spPr>
          <a:xfrm>
            <a:off x="731520" y="2514600"/>
            <a:ext cx="2235708" cy="54864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F26 3,313 · </a:t>
            </a:r>
            <a:pPr indent="0" marL="0">
              <a:buNone/>
            </a:pPr>
            <a:r>
              <a:rPr lang="en-US" sz="1100" b="1" dirty="0">
                <a:solidFill>
                  <a:srgbClr val="059669"/>
                </a:solidFill>
                <a:latin typeface="Calibri" pitchFamily="34" charset="0"/>
                <a:ea typeface="Calibri" pitchFamily="34" charset="-122"/>
                <a:cs typeface="Calibri" pitchFamily="34" charset="-120"/>
              </a:rPr>
              <a:t>+14 (+0.4% YoY)</a:t>
            </a:r>
            <a:endParaRPr lang="en-US" sz="1100" dirty="0"/>
          </a:p>
          <a:p>
            <a:pPr indent="0" marL="0">
              <a:buNone/>
            </a:pPr>
            <a:r>
              <a:rPr lang="en-US" sz="1100" dirty="0">
                <a:solidFill>
                  <a:srgbClr val="6B7280"/>
                </a:solidFill>
                <a:latin typeface="Calibri" pitchFamily="34" charset="0"/>
                <a:ea typeface="Calibri" pitchFamily="34" charset="-122"/>
                <a:cs typeface="Calibri" pitchFamily="34" charset="-120"/>
              </a:rPr>
              <a:t>Goal 4,258 · </a:t>
            </a:r>
            <a:pPr indent="0" marL="0">
              <a:buNone/>
            </a:pPr>
            <a:r>
              <a:rPr lang="en-US" sz="1100" b="1" dirty="0">
                <a:solidFill>
                  <a:srgbClr val="DC2626"/>
                </a:solidFill>
                <a:latin typeface="Calibri" pitchFamily="34" charset="0"/>
                <a:ea typeface="Calibri" pitchFamily="34" charset="-122"/>
                <a:cs typeface="Calibri" pitchFamily="34" charset="-120"/>
              </a:rPr>
              <a:t>−931 (−21.9%)</a:t>
            </a:r>
            <a:endParaRPr lang="en-US" sz="1100" dirty="0"/>
          </a:p>
        </p:txBody>
      </p:sp>
      <p:sp>
        <p:nvSpPr>
          <p:cNvPr id="8" name="Shape 6"/>
          <p:cNvSpPr/>
          <p:nvPr/>
        </p:nvSpPr>
        <p:spPr>
          <a:xfrm>
            <a:off x="3378708" y="1371600"/>
            <a:ext cx="2601468" cy="1783080"/>
          </a:xfrm>
          <a:prstGeom prst="roundRect">
            <a:avLst>
              <a:gd name="adj" fmla="val 4103"/>
            </a:avLst>
          </a:prstGeom>
          <a:solidFill>
            <a:srgbClr val="F3F4F6"/>
          </a:solidFill>
          <a:ln w="12700">
            <a:solidFill>
              <a:srgbClr val="F3F4F6"/>
            </a:solidFill>
            <a:prstDash val="solid"/>
          </a:ln>
        </p:spPr>
      </p:sp>
      <p:sp>
        <p:nvSpPr>
          <p:cNvPr id="9" name="Text 7"/>
          <p:cNvSpPr txBox="1"/>
          <p:nvPr/>
        </p:nvSpPr>
        <p:spPr>
          <a:xfrm>
            <a:off x="3561588" y="1508760"/>
            <a:ext cx="2235708"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Units per hour</a:t>
            </a:r>
            <a:endParaRPr lang="en-US" sz="1100" dirty="0"/>
          </a:p>
        </p:txBody>
      </p:sp>
      <p:sp>
        <p:nvSpPr>
          <p:cNvPr id="10" name="Text 8"/>
          <p:cNvSpPr txBox="1"/>
          <p:nvPr/>
        </p:nvSpPr>
        <p:spPr>
          <a:xfrm>
            <a:off x="3561588" y="1783080"/>
            <a:ext cx="2235708" cy="685800"/>
          </a:xfrm>
          <a:prstGeom prst="rect">
            <a:avLst/>
          </a:prstGeom>
          <a:noFill/>
          <a:ln/>
        </p:spPr>
        <p:txBody>
          <a:bodyPr wrap="square" lIns="0" tIns="0" rIns="0" bIns="0" rtlCol="0" anchor="ctr"/>
          <a:lstStyle/>
          <a:p>
            <a:pPr indent="0" marL="0">
              <a:buNone/>
            </a:pPr>
            <a:r>
              <a:rPr lang="en-US" sz="3600" b="1" dirty="0">
                <a:solidFill>
                  <a:srgbClr val="059669"/>
                </a:solidFill>
                <a:latin typeface="Calibri" pitchFamily="34" charset="0"/>
                <a:ea typeface="Calibri" pitchFamily="34" charset="-122"/>
                <a:cs typeface="Calibri" pitchFamily="34" charset="-120"/>
              </a:rPr>
              <a:t>15.2</a:t>
            </a:r>
            <a:endParaRPr lang="en-US" sz="3600" dirty="0"/>
          </a:p>
        </p:txBody>
      </p:sp>
      <p:sp>
        <p:nvSpPr>
          <p:cNvPr id="11" name="Text 9"/>
          <p:cNvSpPr txBox="1"/>
          <p:nvPr/>
        </p:nvSpPr>
        <p:spPr>
          <a:xfrm>
            <a:off x="3561588" y="2514600"/>
            <a:ext cx="2235708" cy="54864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F26 12.03 · </a:t>
            </a:r>
            <a:pPr indent="0" marL="0">
              <a:buNone/>
            </a:pPr>
            <a:r>
              <a:rPr lang="en-US" sz="1100" b="1" dirty="0">
                <a:solidFill>
                  <a:srgbClr val="059669"/>
                </a:solidFill>
                <a:latin typeface="Calibri" pitchFamily="34" charset="0"/>
                <a:ea typeface="Calibri" pitchFamily="34" charset="-122"/>
                <a:cs typeface="Calibri" pitchFamily="34" charset="-120"/>
              </a:rPr>
              <a:t>+3.2 (+26.7%)</a:t>
            </a:r>
            <a:endParaRPr lang="en-US" sz="1100" dirty="0"/>
          </a:p>
        </p:txBody>
      </p:sp>
      <p:sp>
        <p:nvSpPr>
          <p:cNvPr id="12" name="Shape 10"/>
          <p:cNvSpPr/>
          <p:nvPr/>
        </p:nvSpPr>
        <p:spPr>
          <a:xfrm>
            <a:off x="6208776" y="1371600"/>
            <a:ext cx="2601468" cy="1783080"/>
          </a:xfrm>
          <a:prstGeom prst="roundRect">
            <a:avLst>
              <a:gd name="adj" fmla="val 4103"/>
            </a:avLst>
          </a:prstGeom>
          <a:solidFill>
            <a:srgbClr val="F3F4F6"/>
          </a:solidFill>
          <a:ln w="12700">
            <a:solidFill>
              <a:srgbClr val="F3F4F6"/>
            </a:solidFill>
            <a:prstDash val="solid"/>
          </a:ln>
        </p:spPr>
      </p:sp>
      <p:sp>
        <p:nvSpPr>
          <p:cNvPr id="13" name="Text 11"/>
          <p:cNvSpPr txBox="1"/>
          <p:nvPr/>
        </p:nvSpPr>
        <p:spPr>
          <a:xfrm>
            <a:off x="6391656" y="1508760"/>
            <a:ext cx="2235708"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Lbs per unit</a:t>
            </a:r>
            <a:endParaRPr lang="en-US" sz="1100" dirty="0"/>
          </a:p>
        </p:txBody>
      </p:sp>
      <p:sp>
        <p:nvSpPr>
          <p:cNvPr id="14" name="Text 12"/>
          <p:cNvSpPr txBox="1"/>
          <p:nvPr/>
        </p:nvSpPr>
        <p:spPr>
          <a:xfrm>
            <a:off x="6391656" y="1783080"/>
            <a:ext cx="2235708" cy="685800"/>
          </a:xfrm>
          <a:prstGeom prst="rect">
            <a:avLst/>
          </a:prstGeom>
          <a:noFill/>
          <a:ln/>
        </p:spPr>
        <p:txBody>
          <a:bodyPr wrap="square" lIns="0" tIns="0" rIns="0" bIns="0" rtlCol="0" anchor="ctr"/>
          <a:lstStyle/>
          <a:p>
            <a:pPr indent="0" marL="0">
              <a:buNone/>
            </a:pPr>
            <a:r>
              <a:rPr lang="en-US" sz="3600" b="1" dirty="0">
                <a:solidFill>
                  <a:srgbClr val="111827"/>
                </a:solidFill>
                <a:latin typeface="Calibri" pitchFamily="34" charset="0"/>
                <a:ea typeface="Calibri" pitchFamily="34" charset="-122"/>
                <a:cs typeface="Calibri" pitchFamily="34" charset="-120"/>
              </a:rPr>
              <a:t>218</a:t>
            </a:r>
            <a:endParaRPr lang="en-US" sz="3600" dirty="0"/>
          </a:p>
        </p:txBody>
      </p:sp>
      <p:sp>
        <p:nvSpPr>
          <p:cNvPr id="15" name="Text 13"/>
          <p:cNvSpPr txBox="1"/>
          <p:nvPr/>
        </p:nvSpPr>
        <p:spPr>
          <a:xfrm>
            <a:off x="6391656" y="2514600"/>
            <a:ext cx="2235708" cy="54864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F26 ≈ 275 (3,313 ÷ 12.03) · </a:t>
            </a:r>
            <a:pPr indent="0" marL="0">
              <a:buNone/>
            </a:pPr>
            <a:r>
              <a:rPr lang="en-US" sz="1100" b="1" dirty="0">
                <a:solidFill>
                  <a:srgbClr val="1F2937"/>
                </a:solidFill>
                <a:latin typeface="Calibri" pitchFamily="34" charset="0"/>
                <a:ea typeface="Calibri" pitchFamily="34" charset="-122"/>
                <a:cs typeface="Calibri" pitchFamily="34" charset="-120"/>
              </a:rPr>
              <a:t>−21%</a:t>
            </a:r>
            <a:endParaRPr lang="en-US" sz="1100" dirty="0"/>
          </a:p>
          <a:p>
            <a:pPr indent="0" marL="0">
              <a:buNone/>
            </a:pPr>
            <a:r>
              <a:rPr lang="en-US" sz="1100" dirty="0">
                <a:solidFill>
                  <a:srgbClr val="6B7280"/>
                </a:solidFill>
                <a:latin typeface="Calibri" pitchFamily="34" charset="0"/>
                <a:ea typeface="Calibri" pitchFamily="34" charset="-122"/>
                <a:cs typeface="Calibri" pitchFamily="34" charset="-120"/>
              </a:rPr>
              <a:t>Lighter freight mix</a:t>
            </a:r>
            <a:endParaRPr lang="en-US" sz="1100" dirty="0"/>
          </a:p>
        </p:txBody>
      </p:sp>
      <p:sp>
        <p:nvSpPr>
          <p:cNvPr id="16" name="Shape 14"/>
          <p:cNvSpPr/>
          <p:nvPr/>
        </p:nvSpPr>
        <p:spPr>
          <a:xfrm>
            <a:off x="9038844" y="1371600"/>
            <a:ext cx="2601468" cy="1783080"/>
          </a:xfrm>
          <a:prstGeom prst="roundRect">
            <a:avLst>
              <a:gd name="adj" fmla="val 4103"/>
            </a:avLst>
          </a:prstGeom>
          <a:solidFill>
            <a:srgbClr val="F3F4F6"/>
          </a:solidFill>
          <a:ln w="12700">
            <a:solidFill>
              <a:srgbClr val="F3F4F6"/>
            </a:solidFill>
            <a:prstDash val="solid"/>
          </a:ln>
        </p:spPr>
      </p:sp>
      <p:sp>
        <p:nvSpPr>
          <p:cNvPr id="17" name="Text 15"/>
          <p:cNvSpPr txBox="1"/>
          <p:nvPr/>
        </p:nvSpPr>
        <p:spPr>
          <a:xfrm>
            <a:off x="9221724" y="1508760"/>
            <a:ext cx="2235708"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OT hours</a:t>
            </a:r>
            <a:endParaRPr lang="en-US" sz="1100" dirty="0"/>
          </a:p>
        </p:txBody>
      </p:sp>
      <p:sp>
        <p:nvSpPr>
          <p:cNvPr id="18" name="Text 16"/>
          <p:cNvSpPr txBox="1"/>
          <p:nvPr/>
        </p:nvSpPr>
        <p:spPr>
          <a:xfrm>
            <a:off x="9221724" y="1783080"/>
            <a:ext cx="2235708" cy="685800"/>
          </a:xfrm>
          <a:prstGeom prst="rect">
            <a:avLst/>
          </a:prstGeom>
          <a:noFill/>
          <a:ln/>
        </p:spPr>
        <p:txBody>
          <a:bodyPr wrap="square" lIns="0" tIns="0" rIns="0" bIns="0" rtlCol="0" anchor="ctr"/>
          <a:lstStyle/>
          <a:p>
            <a:pPr indent="0" marL="0">
              <a:buNone/>
            </a:pPr>
            <a:r>
              <a:rPr lang="en-US" sz="3600" b="1" dirty="0">
                <a:solidFill>
                  <a:srgbClr val="059669"/>
                </a:solidFill>
                <a:latin typeface="Calibri" pitchFamily="34" charset="0"/>
                <a:ea typeface="Calibri" pitchFamily="34" charset="-122"/>
                <a:cs typeface="Calibri" pitchFamily="34" charset="-120"/>
              </a:rPr>
              <a:t>9</a:t>
            </a:r>
            <a:endParaRPr lang="en-US" sz="3600" dirty="0"/>
          </a:p>
        </p:txBody>
      </p:sp>
      <p:sp>
        <p:nvSpPr>
          <p:cNvPr id="19" name="Text 17"/>
          <p:cNvSpPr txBox="1"/>
          <p:nvPr/>
        </p:nvSpPr>
        <p:spPr>
          <a:xfrm>
            <a:off x="9221724" y="2514600"/>
            <a:ext cx="2235708" cy="548640"/>
          </a:xfrm>
          <a:prstGeom prst="rect">
            <a:avLst/>
          </a:prstGeom>
          <a:noFill/>
          <a:ln/>
        </p:spPr>
        <p:txBody>
          <a:bodyPr wrap="square" lIns="0" tIns="0" rIns="0" bIns="0" rtlCol="0" anchor="t"/>
          <a:lstStyle/>
          <a:p>
            <a:pPr indent="0" marL="0">
              <a:buNone/>
            </a:pPr>
            <a:r>
              <a:rPr lang="en-US" sz="1100" b="1" dirty="0">
                <a:solidFill>
                  <a:srgbClr val="059669"/>
                </a:solidFill>
                <a:latin typeface="Calibri" pitchFamily="34" charset="0"/>
                <a:ea typeface="Calibri" pitchFamily="34" charset="-122"/>
                <a:cs typeface="Calibri" pitchFamily="34" charset="-120"/>
              </a:rPr>
              <a:t>0.2% of hours</a:t>
            </a:r>
            <a:endParaRPr lang="en-US" sz="1100" dirty="0"/>
          </a:p>
        </p:txBody>
      </p:sp>
      <p:graphicFrame>
        <p:nvGraphicFramePr>
          <p:cNvPr id="20" name="Chart 0" descr=""/>
          <p:cNvGraphicFramePr/>
          <p:nvPr/>
        </p:nvGraphicFramePr>
        <p:xfrm>
          <a:off x="548640" y="3383280"/>
          <a:ext cx="5120640" cy="2697480"/>
        </p:xfrm>
        <a:graphic xmlns:a="http://schemas.openxmlformats.org/drawingml/2006/main">
          <a:graphicData uri="http://schemas.openxmlformats.org/drawingml/2006/chart">
            <c:chart xmlns:c="http://schemas.openxmlformats.org/drawingml/2006/chart" r:id="rId1"/>
          </a:graphicData>
        </a:graphic>
      </p:graphicFrame>
      <p:sp>
        <p:nvSpPr>
          <p:cNvPr id="21" name="Shape 18"/>
          <p:cNvSpPr/>
          <p:nvPr/>
        </p:nvSpPr>
        <p:spPr>
          <a:xfrm>
            <a:off x="5989320" y="3383280"/>
            <a:ext cx="5650992" cy="2697480"/>
          </a:xfrm>
          <a:prstGeom prst="roundRect">
            <a:avLst>
              <a:gd name="adj" fmla="val 2712"/>
            </a:avLst>
          </a:prstGeom>
          <a:solidFill>
            <a:srgbClr val="F5F3FF"/>
          </a:solidFill>
          <a:ln w="12700">
            <a:solidFill>
              <a:srgbClr val="F5F3FF"/>
            </a:solidFill>
            <a:prstDash val="solid"/>
          </a:ln>
        </p:spPr>
      </p:sp>
      <p:sp>
        <p:nvSpPr>
          <p:cNvPr id="22" name="Shape 19"/>
          <p:cNvSpPr/>
          <p:nvPr/>
        </p:nvSpPr>
        <p:spPr>
          <a:xfrm>
            <a:off x="6217920" y="3584448"/>
            <a:ext cx="457200" cy="457200"/>
          </a:xfrm>
          <a:prstGeom prst="ellipse">
            <a:avLst/>
          </a:prstGeom>
          <a:solidFill>
            <a:srgbClr val="7C3AED"/>
          </a:solidFill>
          <a:ln w="12700">
            <a:solidFill>
              <a:srgbClr val="7C3AED"/>
            </a:solidFill>
            <a:prstDash val="solid"/>
          </a:ln>
        </p:spPr>
      </p:sp>
      <p:pic>
        <p:nvPicPr>
          <p:cNvPr id="23" name="Image 0" descr="preencoded.png">    </p:cNvPr>
          <p:cNvPicPr>
            <a:picLocks noChangeAspect="1"/>
          </p:cNvPicPr>
          <p:nvPr/>
        </p:nvPicPr>
        <p:blipFill>
          <a:blip r:embed="rId2"/>
          <a:stretch>
            <a:fillRect/>
          </a:stretch>
        </p:blipFill>
        <p:spPr>
          <a:xfrm>
            <a:off x="6332220" y="3698748"/>
            <a:ext cx="228600" cy="228600"/>
          </a:xfrm>
          <a:prstGeom prst="rect">
            <a:avLst/>
          </a:prstGeom>
        </p:spPr>
      </p:pic>
      <p:sp>
        <p:nvSpPr>
          <p:cNvPr id="24" name="Text 20"/>
          <p:cNvSpPr txBox="1"/>
          <p:nvPr/>
        </p:nvSpPr>
        <p:spPr>
          <a:xfrm>
            <a:off x="6812280" y="3611880"/>
            <a:ext cx="4572000" cy="411480"/>
          </a:xfrm>
          <a:prstGeom prst="rect">
            <a:avLst/>
          </a:prstGeom>
          <a:noFill/>
          <a:ln/>
        </p:spPr>
        <p:txBody>
          <a:bodyPr wrap="square" lIns="0" tIns="0" rIns="0" bIns="0" rtlCol="0" anchor="ctr"/>
          <a:lstStyle/>
          <a:p>
            <a:pPr indent="0" marL="0">
              <a:buNone/>
            </a:pPr>
            <a:r>
              <a:rPr lang="en-US" sz="1700" b="1" dirty="0">
                <a:solidFill>
                  <a:srgbClr val="111827"/>
                </a:solidFill>
                <a:latin typeface="Calibri" pitchFamily="34" charset="0"/>
                <a:ea typeface="Calibri" pitchFamily="34" charset="-122"/>
                <a:cs typeface="Calibri" pitchFamily="34" charset="-120"/>
              </a:rPr>
              <a:t>What the numbers say</a:t>
            </a:r>
            <a:endParaRPr lang="en-US" sz="1700" dirty="0"/>
          </a:p>
        </p:txBody>
      </p:sp>
      <p:sp>
        <p:nvSpPr>
          <p:cNvPr id="25" name="Text 21"/>
          <p:cNvSpPr txBox="1"/>
          <p:nvPr/>
        </p:nvSpPr>
        <p:spPr>
          <a:xfrm>
            <a:off x="6263640" y="4206240"/>
            <a:ext cx="5166360" cy="1737360"/>
          </a:xfrm>
          <a:prstGeom prst="rect">
            <a:avLst/>
          </a:prstGeom>
          <a:noFill/>
          <a:ln/>
        </p:spPr>
        <p:txBody>
          <a:bodyPr wrap="square" lIns="0" tIns="0" rIns="0" bIns="0" rtlCol="0" anchor="t"/>
          <a:lstStyle/>
          <a:p>
            <a:pPr marL="203200" indent="-203200">
              <a:spcAft>
                <a:spcPts val="1200"/>
              </a:spcAft>
              <a:buSzPct val="100000"/>
              <a:buChar char="•"/>
            </a:pPr>
            <a:r>
              <a:rPr lang="en-US" sz="1400" dirty="0">
                <a:solidFill>
                  <a:srgbClr val="1F2937"/>
                </a:solidFill>
                <a:latin typeface="Calibri" pitchFamily="34" charset="0"/>
                <a:ea typeface="Calibri" pitchFamily="34" charset="-122"/>
                <a:cs typeface="Calibri" pitchFamily="34" charset="-120"/>
              </a:rPr>
              <a:t>Freight mix got lighter (≈275 → 218 lbs/unit), yet PPH held flat YoY because the team is moving 26.7% more units per hour.</a:t>
            </a:r>
            <a:endParaRPr lang="en-US" sz="1400" dirty="0"/>
          </a:p>
          <a:p>
            <a:pPr marL="203200" indent="-203200">
              <a:spcAft>
                <a:spcPts val="1200"/>
              </a:spcAft>
              <a:buSzPct val="100000"/>
              <a:buChar char="•"/>
            </a:pPr>
            <a:r>
              <a:rPr lang="en-US" sz="1400" dirty="0">
                <a:solidFill>
                  <a:srgbClr val="1F2937"/>
                </a:solidFill>
                <a:latin typeface="Calibri" pitchFamily="34" charset="0"/>
                <a:ea typeface="Calibri" pitchFamily="34" charset="-122"/>
                <a:cs typeface="Calibri" pitchFamily="34" charset="-120"/>
              </a:rPr>
              <a:t>Gap to PPH goal: −21.9%; hour-reduction target for the month is 1,181 hours.</a:t>
            </a:r>
            <a:endParaRPr lang="en-US" sz="1400" dirty="0"/>
          </a:p>
        </p:txBody>
      </p:sp>
      <p:sp>
        <p:nvSpPr>
          <p:cNvPr id="26" name="Text 22"/>
          <p:cNvSpPr txBox="1"/>
          <p:nvPr/>
        </p:nvSpPr>
        <p:spPr>
          <a:xfrm>
            <a:off x="548640" y="6172200"/>
            <a:ext cx="11091672" cy="256032"/>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Source: Mississauga terminal productivity dashboard, updated for Sat, Sep 26, 2026 · September MTD</a:t>
            </a:r>
            <a:endParaRPr lang="en-US" sz="1000" dirty="0"/>
          </a:p>
        </p:txBody>
      </p:sp>
      <p:sp>
        <p:nvSpPr>
          <p:cNvPr id="27" name="Text 23"/>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Mississauga Terminal · F27 Senior Leadership Review · Sep 29, 2026</a:t>
            </a:r>
            <a:endParaRPr lang="en-US" sz="900" dirty="0"/>
          </a:p>
        </p:txBody>
      </p:sp>
      <p:sp>
        <p:nvSpPr>
          <p:cNvPr id="28" name="Text 24"/>
          <p:cNvSpPr txBox="1"/>
          <p:nvPr/>
        </p:nvSpPr>
        <p:spPr>
          <a:xfrm>
            <a:off x="10725912" y="6473952"/>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15 / 21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Calibri" pitchFamily="34" charset="0"/>
                <a:ea typeface="Calibri" pitchFamily="34" charset="-122"/>
                <a:cs typeface="Calibri" pitchFamily="34" charset="-120"/>
              </a:rPr>
              <a:t>PRODUCTIVITY</a:t>
            </a:r>
            <a:endParaRPr lang="en-US" sz="1200" dirty="0"/>
          </a:p>
        </p:txBody>
      </p:sp>
      <p:sp>
        <p:nvSpPr>
          <p:cNvPr id="3" name="Text 1"/>
          <p:cNvSpPr txBox="1"/>
          <p:nvPr/>
        </p:nvSpPr>
        <p:spPr>
          <a:xfrm>
            <a:off x="548640" y="603504"/>
            <a:ext cx="11091672" cy="603504"/>
          </a:xfrm>
          <a:prstGeom prst="rect">
            <a:avLst/>
          </a:prstGeom>
          <a:noFill/>
          <a:ln/>
        </p:spPr>
        <p:txBody>
          <a:bodyPr wrap="square" lIns="0" tIns="0" rIns="0" bIns="0" rtlCol="0" anchor="t"/>
          <a:lstStyle/>
          <a:p>
            <a:pPr indent="0" marL="0">
              <a:buNone/>
            </a:pPr>
            <a:r>
              <a:rPr lang="en-US" sz="3000" b="1" dirty="0">
                <a:solidFill>
                  <a:srgbClr val="111827"/>
                </a:solidFill>
                <a:latin typeface="Calibri" pitchFamily="34" charset="0"/>
                <a:ea typeface="Calibri" pitchFamily="34" charset="-122"/>
                <a:cs typeface="Calibri" pitchFamily="34" charset="-120"/>
              </a:rPr>
              <a:t>Productivity — Cost &amp; Volume (Sept MTD)</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1828800"/>
                <a:gridCol w="1463040"/>
                <a:gridCol w="1417320"/>
                <a:gridCol w="1325880"/>
                <a:gridCol w="91440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F27 Sept MTD</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F26 Sept</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Change</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r>
              <a:tr h="438912">
                <a:tc>
                  <a:txBody>
                    <a:bodyPr/>
                    <a:lstStyle/>
                    <a:p>
                      <a:pPr indent="0" marL="0">
                        <a:buNone/>
                      </a:pPr>
                      <a:r>
                        <a:rPr lang="en-US" sz="1200" b="1" dirty="0">
                          <a:solidFill>
                            <a:srgbClr val="111827"/>
                          </a:solidFill>
                          <a:latin typeface="Calibri" pitchFamily="34" charset="0"/>
                          <a:ea typeface="Calibri" pitchFamily="34" charset="-122"/>
                          <a:cs typeface="Calibri" pitchFamily="34" charset="-120"/>
                        </a:rPr>
                        <a:t>Weight (lbs)*</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200" b="1" dirty="0">
                          <a:solidFill>
                            <a:srgbClr val="111827"/>
                          </a:solidFill>
                          <a:latin typeface="Calibri" pitchFamily="34" charset="0"/>
                          <a:ea typeface="Calibri" pitchFamily="34" charset="-122"/>
                          <a:cs typeface="Calibri" pitchFamily="34" charset="-120"/>
                        </a:rPr>
                        <a:t>13,305,876</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200" dirty="0">
                          <a:solidFill>
                            <a:srgbClr val="6B7280"/>
                          </a:solidFill>
                          <a:latin typeface="Calibri" pitchFamily="34" charset="0"/>
                          <a:ea typeface="Calibri" pitchFamily="34" charset="-122"/>
                          <a:cs typeface="Calibri" pitchFamily="34" charset="-120"/>
                        </a:rPr>
                        <a:t>20,881,181</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200" b="1" dirty="0">
                          <a:solidFill>
                            <a:srgbClr val="1F2937"/>
                          </a:solidFill>
                          <a:latin typeface="Calibri" pitchFamily="34" charset="0"/>
                          <a:ea typeface="Calibri" pitchFamily="34" charset="-122"/>
                          <a:cs typeface="Calibri" pitchFamily="34" charset="-120"/>
                        </a:rPr>
                        <a:t>−7,575,305</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200" b="1" dirty="0">
                          <a:solidFill>
                            <a:srgbClr val="1F2937"/>
                          </a:solidFill>
                          <a:latin typeface="Calibri" pitchFamily="34" charset="0"/>
                          <a:ea typeface="Calibri" pitchFamily="34" charset="-122"/>
                          <a:cs typeface="Calibri" pitchFamily="34" charset="-120"/>
                        </a:rPr>
                        <a:t>−36.3%</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38912">
                <a:tc>
                  <a:txBody>
                    <a:bodyPr/>
                    <a:lstStyle/>
                    <a:p>
                      <a:pPr indent="0" marL="0">
                        <a:buNone/>
                      </a:pPr>
                      <a:r>
                        <a:rPr lang="en-US" sz="1200" b="1" dirty="0">
                          <a:solidFill>
                            <a:srgbClr val="111827"/>
                          </a:solidFill>
                          <a:latin typeface="Calibri" pitchFamily="34" charset="0"/>
                          <a:ea typeface="Calibri" pitchFamily="34" charset="-122"/>
                          <a:cs typeface="Calibri" pitchFamily="34" charset="-120"/>
                        </a:rPr>
                        <a:t>$ per hour</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200" b="1" dirty="0">
                          <a:solidFill>
                            <a:srgbClr val="111827"/>
                          </a:solidFill>
                          <a:latin typeface="Calibri" pitchFamily="34" charset="0"/>
                          <a:ea typeface="Calibri" pitchFamily="34" charset="-122"/>
                          <a:cs typeface="Calibri" pitchFamily="34" charset="-120"/>
                        </a:rPr>
                        <a:t>$33.43</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200" dirty="0">
                          <a:solidFill>
                            <a:srgbClr val="6B7280"/>
                          </a:solidFill>
                          <a:latin typeface="Calibri" pitchFamily="34" charset="0"/>
                          <a:ea typeface="Calibri" pitchFamily="34" charset="-122"/>
                          <a:cs typeface="Calibri" pitchFamily="34" charset="-120"/>
                        </a:rPr>
                        <a:t>$31.69</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200" b="1" dirty="0">
                          <a:solidFill>
                            <a:srgbClr val="DC2626"/>
                          </a:solidFill>
                          <a:latin typeface="Calibri" pitchFamily="34" charset="0"/>
                          <a:ea typeface="Calibri" pitchFamily="34" charset="-122"/>
                          <a:cs typeface="Calibri" pitchFamily="34" charset="-120"/>
                        </a:rPr>
                        <a:t>+$1.74</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200" b="1" dirty="0">
                          <a:solidFill>
                            <a:srgbClr val="DC2626"/>
                          </a:solidFill>
                          <a:latin typeface="Calibri" pitchFamily="34" charset="0"/>
                          <a:ea typeface="Calibri" pitchFamily="34" charset="-122"/>
                          <a:cs typeface="Calibri" pitchFamily="34" charset="-120"/>
                        </a:rPr>
                        <a:t>+5.5%</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38912">
                <a:tc>
                  <a:txBody>
                    <a:bodyPr/>
                    <a:lstStyle/>
                    <a:p>
                      <a:pPr indent="0" marL="0">
                        <a:buNone/>
                      </a:pPr>
                      <a:r>
                        <a:rPr lang="en-US" sz="1200" b="1" dirty="0">
                          <a:solidFill>
                            <a:srgbClr val="111827"/>
                          </a:solidFill>
                          <a:latin typeface="Calibri" pitchFamily="34" charset="0"/>
                          <a:ea typeface="Calibri" pitchFamily="34" charset="-122"/>
                          <a:cs typeface="Calibri" pitchFamily="34" charset="-120"/>
                        </a:rPr>
                        <a:t>Cost per CWT</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200" b="1" dirty="0">
                          <a:solidFill>
                            <a:srgbClr val="111827"/>
                          </a:solidFill>
                          <a:latin typeface="Calibri" pitchFamily="34" charset="0"/>
                          <a:ea typeface="Calibri" pitchFamily="34" charset="-122"/>
                          <a:cs typeface="Calibri" pitchFamily="34" charset="-120"/>
                        </a:rPr>
                        <a:t>$1.0048</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200" dirty="0">
                          <a:solidFill>
                            <a:srgbClr val="6B7280"/>
                          </a:solidFill>
                          <a:latin typeface="Calibri" pitchFamily="34" charset="0"/>
                          <a:ea typeface="Calibri" pitchFamily="34" charset="-122"/>
                          <a:cs typeface="Calibri" pitchFamily="34" charset="-120"/>
                        </a:rPr>
                        <a:t>$0.9566</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200" b="1" dirty="0">
                          <a:solidFill>
                            <a:srgbClr val="DC2626"/>
                          </a:solidFill>
                          <a:latin typeface="Calibri" pitchFamily="34" charset="0"/>
                          <a:ea typeface="Calibri" pitchFamily="34" charset="-122"/>
                          <a:cs typeface="Calibri" pitchFamily="34" charset="-120"/>
                        </a:rPr>
                        <a:t>+$0.0482</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200" b="1" dirty="0">
                          <a:solidFill>
                            <a:srgbClr val="DC2626"/>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38912">
                <a:tc>
                  <a:txBody>
                    <a:bodyPr/>
                    <a:lstStyle/>
                    <a:p>
                      <a:pPr indent="0" marL="0">
                        <a:buNone/>
                      </a:pPr>
                      <a:r>
                        <a:rPr lang="en-US" sz="1200" b="1" dirty="0">
                          <a:solidFill>
                            <a:srgbClr val="111827"/>
                          </a:solidFill>
                          <a:latin typeface="Calibri" pitchFamily="34" charset="0"/>
                          <a:ea typeface="Calibri" pitchFamily="34" charset="-122"/>
                          <a:cs typeface="Calibri" pitchFamily="34" charset="-120"/>
                        </a:rPr>
                        <a:t>Units per hour</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200" b="1" dirty="0">
                          <a:solidFill>
                            <a:srgbClr val="111827"/>
                          </a:solidFill>
                          <a:latin typeface="Calibri" pitchFamily="34" charset="0"/>
                          <a:ea typeface="Calibri" pitchFamily="34" charset="-122"/>
                          <a:cs typeface="Calibri" pitchFamily="34" charset="-120"/>
                        </a:rPr>
                        <a:t>15.24</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200" dirty="0">
                          <a:solidFill>
                            <a:srgbClr val="6B7280"/>
                          </a:solidFill>
                          <a:latin typeface="Calibri" pitchFamily="34" charset="0"/>
                          <a:ea typeface="Calibri" pitchFamily="34" charset="-122"/>
                          <a:cs typeface="Calibri" pitchFamily="34" charset="-120"/>
                        </a:rPr>
                        <a:t>12.03</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200" b="1" dirty="0">
                          <a:solidFill>
                            <a:srgbClr val="059669"/>
                          </a:solidFill>
                          <a:latin typeface="Calibri" pitchFamily="34" charset="0"/>
                          <a:ea typeface="Calibri" pitchFamily="34" charset="-122"/>
                          <a:cs typeface="Calibri" pitchFamily="34" charset="-120"/>
                        </a:rPr>
                        <a:t>+3.21</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r" indent="0" marL="0">
                        <a:buNone/>
                      </a:pPr>
                      <a:r>
                        <a:rPr lang="en-US" sz="1200" b="1" dirty="0">
                          <a:solidFill>
                            <a:srgbClr val="059669"/>
                          </a:solidFill>
                          <a:latin typeface="Calibri" pitchFamily="34" charset="0"/>
                          <a:ea typeface="Calibri" pitchFamily="34" charset="-122"/>
                          <a:cs typeface="Calibri" pitchFamily="34" charset="-120"/>
                        </a:rPr>
                        <a:t>+26.7%</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5" name="Text 2"/>
          <p:cNvSpPr txBox="1"/>
          <p:nvPr/>
        </p:nvSpPr>
        <p:spPr>
          <a:xfrm>
            <a:off x="548640" y="3630168"/>
            <a:ext cx="6949440" cy="256032"/>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 F27 weight is MTD to Sep 26; F26 is the September total.</a:t>
            </a:r>
            <a:endParaRPr lang="en-US" sz="1050" dirty="0"/>
          </a:p>
        </p:txBody>
      </p:sp>
      <p:sp>
        <p:nvSpPr>
          <p:cNvPr id="6" name="Text 3"/>
          <p:cNvSpPr txBox="1"/>
          <p:nvPr/>
        </p:nvSpPr>
        <p:spPr>
          <a:xfrm>
            <a:off x="548640" y="4023360"/>
            <a:ext cx="6949440" cy="320040"/>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F27 September MTD</a:t>
            </a:r>
            <a:endParaRPr lang="en-US" sz="1500" dirty="0"/>
          </a:p>
        </p:txBody>
      </p:sp>
      <p:sp>
        <p:nvSpPr>
          <p:cNvPr id="7" name="Shape 4"/>
          <p:cNvSpPr/>
          <p:nvPr/>
        </p:nvSpPr>
        <p:spPr>
          <a:xfrm>
            <a:off x="548640" y="4434840"/>
            <a:ext cx="1600200" cy="1188720"/>
          </a:xfrm>
          <a:prstGeom prst="roundRect">
            <a:avLst>
              <a:gd name="adj" fmla="val 6154"/>
            </a:avLst>
          </a:prstGeom>
          <a:solidFill>
            <a:srgbClr val="F3F4F6"/>
          </a:solidFill>
          <a:ln w="12700">
            <a:solidFill>
              <a:srgbClr val="F3F4F6"/>
            </a:solidFill>
            <a:prstDash val="solid"/>
          </a:ln>
        </p:spPr>
      </p:sp>
      <p:sp>
        <p:nvSpPr>
          <p:cNvPr id="8" name="Text 5"/>
          <p:cNvSpPr txBox="1"/>
          <p:nvPr/>
        </p:nvSpPr>
        <p:spPr>
          <a:xfrm>
            <a:off x="713232" y="4553712"/>
            <a:ext cx="1271016"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Dock hours</a:t>
            </a:r>
            <a:endParaRPr lang="en-US" sz="1100" dirty="0"/>
          </a:p>
        </p:txBody>
      </p:sp>
      <p:sp>
        <p:nvSpPr>
          <p:cNvPr id="9" name="Text 6"/>
          <p:cNvSpPr txBox="1"/>
          <p:nvPr/>
        </p:nvSpPr>
        <p:spPr>
          <a:xfrm>
            <a:off x="713232" y="4846320"/>
            <a:ext cx="1271016" cy="594360"/>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3,999</a:t>
            </a:r>
            <a:endParaRPr lang="en-US" sz="1800" dirty="0"/>
          </a:p>
        </p:txBody>
      </p:sp>
      <p:sp>
        <p:nvSpPr>
          <p:cNvPr id="10" name="Shape 7"/>
          <p:cNvSpPr/>
          <p:nvPr/>
        </p:nvSpPr>
        <p:spPr>
          <a:xfrm>
            <a:off x="2331720" y="4434840"/>
            <a:ext cx="1600200" cy="1188720"/>
          </a:xfrm>
          <a:prstGeom prst="roundRect">
            <a:avLst>
              <a:gd name="adj" fmla="val 6154"/>
            </a:avLst>
          </a:prstGeom>
          <a:solidFill>
            <a:srgbClr val="F3F4F6"/>
          </a:solidFill>
          <a:ln w="12700">
            <a:solidFill>
              <a:srgbClr val="F3F4F6"/>
            </a:solidFill>
            <a:prstDash val="solid"/>
          </a:ln>
        </p:spPr>
      </p:sp>
      <p:sp>
        <p:nvSpPr>
          <p:cNvPr id="11" name="Text 8"/>
          <p:cNvSpPr txBox="1"/>
          <p:nvPr/>
        </p:nvSpPr>
        <p:spPr>
          <a:xfrm>
            <a:off x="2496312" y="4553712"/>
            <a:ext cx="1271016"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Units</a:t>
            </a:r>
            <a:endParaRPr lang="en-US" sz="1100" dirty="0"/>
          </a:p>
        </p:txBody>
      </p:sp>
      <p:sp>
        <p:nvSpPr>
          <p:cNvPr id="12" name="Text 9"/>
          <p:cNvSpPr txBox="1"/>
          <p:nvPr/>
        </p:nvSpPr>
        <p:spPr>
          <a:xfrm>
            <a:off x="2496312" y="4846320"/>
            <a:ext cx="1271016" cy="594360"/>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60,933</a:t>
            </a:r>
            <a:endParaRPr lang="en-US" sz="1800" dirty="0"/>
          </a:p>
        </p:txBody>
      </p:sp>
      <p:sp>
        <p:nvSpPr>
          <p:cNvPr id="13" name="Shape 10"/>
          <p:cNvSpPr/>
          <p:nvPr/>
        </p:nvSpPr>
        <p:spPr>
          <a:xfrm>
            <a:off x="4114800" y="4434840"/>
            <a:ext cx="1600200" cy="1188720"/>
          </a:xfrm>
          <a:prstGeom prst="roundRect">
            <a:avLst>
              <a:gd name="adj" fmla="val 6154"/>
            </a:avLst>
          </a:prstGeom>
          <a:solidFill>
            <a:srgbClr val="F3F4F6"/>
          </a:solidFill>
          <a:ln w="12700">
            <a:solidFill>
              <a:srgbClr val="F3F4F6"/>
            </a:solidFill>
            <a:prstDash val="solid"/>
          </a:ln>
        </p:spPr>
      </p:sp>
      <p:sp>
        <p:nvSpPr>
          <p:cNvPr id="14" name="Text 11"/>
          <p:cNvSpPr txBox="1"/>
          <p:nvPr/>
        </p:nvSpPr>
        <p:spPr>
          <a:xfrm>
            <a:off x="4279392" y="4553712"/>
            <a:ext cx="1271016"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Costs</a:t>
            </a:r>
            <a:endParaRPr lang="en-US" sz="1100" dirty="0"/>
          </a:p>
        </p:txBody>
      </p:sp>
      <p:sp>
        <p:nvSpPr>
          <p:cNvPr id="15" name="Text 12"/>
          <p:cNvSpPr txBox="1"/>
          <p:nvPr/>
        </p:nvSpPr>
        <p:spPr>
          <a:xfrm>
            <a:off x="4279392" y="4846320"/>
            <a:ext cx="1271016" cy="594360"/>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$133,692</a:t>
            </a:r>
            <a:endParaRPr lang="en-US" sz="1800" dirty="0"/>
          </a:p>
        </p:txBody>
      </p:sp>
      <p:sp>
        <p:nvSpPr>
          <p:cNvPr id="16" name="Shape 13"/>
          <p:cNvSpPr/>
          <p:nvPr/>
        </p:nvSpPr>
        <p:spPr>
          <a:xfrm>
            <a:off x="5897880" y="4434840"/>
            <a:ext cx="1600200" cy="1188720"/>
          </a:xfrm>
          <a:prstGeom prst="roundRect">
            <a:avLst>
              <a:gd name="adj" fmla="val 6154"/>
            </a:avLst>
          </a:prstGeom>
          <a:solidFill>
            <a:srgbClr val="F3F4F6"/>
          </a:solidFill>
          <a:ln w="12700">
            <a:solidFill>
              <a:srgbClr val="F3F4F6"/>
            </a:solidFill>
            <a:prstDash val="solid"/>
          </a:ln>
        </p:spPr>
      </p:sp>
      <p:sp>
        <p:nvSpPr>
          <p:cNvPr id="17" name="Text 14"/>
          <p:cNvSpPr txBox="1"/>
          <p:nvPr/>
        </p:nvSpPr>
        <p:spPr>
          <a:xfrm>
            <a:off x="6062472" y="4553712"/>
            <a:ext cx="1271016"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Cost per unit</a:t>
            </a:r>
            <a:endParaRPr lang="en-US" sz="1100" dirty="0"/>
          </a:p>
        </p:txBody>
      </p:sp>
      <p:sp>
        <p:nvSpPr>
          <p:cNvPr id="18" name="Text 15"/>
          <p:cNvSpPr txBox="1"/>
          <p:nvPr/>
        </p:nvSpPr>
        <p:spPr>
          <a:xfrm>
            <a:off x="6062472" y="4846320"/>
            <a:ext cx="1271016" cy="594360"/>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$2.19</a:t>
            </a:r>
            <a:endParaRPr lang="en-US" sz="1800" dirty="0"/>
          </a:p>
        </p:txBody>
      </p:sp>
      <p:sp>
        <p:nvSpPr>
          <p:cNvPr id="19" name="Shape 16"/>
          <p:cNvSpPr/>
          <p:nvPr/>
        </p:nvSpPr>
        <p:spPr>
          <a:xfrm>
            <a:off x="7863840" y="1371600"/>
            <a:ext cx="3776472" cy="2011680"/>
          </a:xfrm>
          <a:prstGeom prst="roundRect">
            <a:avLst>
              <a:gd name="adj" fmla="val 3636"/>
            </a:avLst>
          </a:prstGeom>
          <a:solidFill>
            <a:srgbClr val="ECFDF5"/>
          </a:solidFill>
          <a:ln w="12700">
            <a:solidFill>
              <a:srgbClr val="ECFDF5"/>
            </a:solidFill>
            <a:prstDash val="solid"/>
          </a:ln>
        </p:spPr>
      </p:sp>
      <p:sp>
        <p:nvSpPr>
          <p:cNvPr id="20" name="Shape 17"/>
          <p:cNvSpPr/>
          <p:nvPr/>
        </p:nvSpPr>
        <p:spPr>
          <a:xfrm>
            <a:off x="8065008" y="1536192"/>
            <a:ext cx="384048" cy="384048"/>
          </a:xfrm>
          <a:prstGeom prst="ellipse">
            <a:avLst/>
          </a:prstGeom>
          <a:solidFill>
            <a:srgbClr val="059669"/>
          </a:solidFill>
          <a:ln w="12700">
            <a:solidFill>
              <a:srgbClr val="059669"/>
            </a:solidFill>
            <a:prstDash val="solid"/>
          </a:ln>
        </p:spPr>
      </p:sp>
      <p:pic>
        <p:nvPicPr>
          <p:cNvPr id="21" name="Image 0" descr="preencoded.png">    </p:cNvPr>
          <p:cNvPicPr>
            <a:picLocks noChangeAspect="1"/>
          </p:cNvPicPr>
          <p:nvPr/>
        </p:nvPicPr>
        <p:blipFill>
          <a:blip r:embed="rId1"/>
          <a:stretch>
            <a:fillRect/>
          </a:stretch>
        </p:blipFill>
        <p:spPr>
          <a:xfrm>
            <a:off x="8161020" y="1632204"/>
            <a:ext cx="192024" cy="192024"/>
          </a:xfrm>
          <a:prstGeom prst="rect">
            <a:avLst/>
          </a:prstGeom>
        </p:spPr>
      </p:pic>
      <p:sp>
        <p:nvSpPr>
          <p:cNvPr id="22" name="Text 18"/>
          <p:cNvSpPr txBox="1"/>
          <p:nvPr/>
        </p:nvSpPr>
        <p:spPr>
          <a:xfrm>
            <a:off x="8549640" y="1536192"/>
            <a:ext cx="292608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Units-basis productivity value</a:t>
            </a:r>
            <a:endParaRPr lang="en-US" sz="1300" dirty="0"/>
          </a:p>
        </p:txBody>
      </p:sp>
      <p:sp>
        <p:nvSpPr>
          <p:cNvPr id="23" name="Text 19"/>
          <p:cNvSpPr txBox="1"/>
          <p:nvPr/>
        </p:nvSpPr>
        <p:spPr>
          <a:xfrm>
            <a:off x="8065008" y="1975104"/>
            <a:ext cx="3383280" cy="502920"/>
          </a:xfrm>
          <a:prstGeom prst="rect">
            <a:avLst/>
          </a:prstGeom>
          <a:noFill/>
          <a:ln/>
        </p:spPr>
        <p:txBody>
          <a:bodyPr wrap="square" lIns="0" tIns="0" rIns="0" bIns="0" rtlCol="0" anchor="ctr"/>
          <a:lstStyle/>
          <a:p>
            <a:pPr indent="0" marL="0">
              <a:buNone/>
            </a:pPr>
            <a:r>
              <a:rPr lang="en-US" sz="2800" b="1" dirty="0">
                <a:solidFill>
                  <a:srgbClr val="059669"/>
                </a:solidFill>
                <a:latin typeface="Calibri" pitchFamily="34" charset="0"/>
                <a:ea typeface="Calibri" pitchFamily="34" charset="-122"/>
                <a:cs typeface="Calibri" pitchFamily="34" charset="-120"/>
              </a:rPr>
              <a:t>≈ $35.6K</a:t>
            </a:r>
            <a:pPr indent="0" marL="0">
              <a:buNone/>
            </a:pPr>
            <a:r>
              <a:rPr lang="en-US" sz="1200" b="1" dirty="0">
                <a:solidFill>
                  <a:srgbClr val="6B7280"/>
                </a:solidFill>
                <a:latin typeface="Calibri" pitchFamily="34" charset="0"/>
                <a:ea typeface="Calibri" pitchFamily="34" charset="-122"/>
                <a:cs typeface="Calibri" pitchFamily="34" charset="-120"/>
              </a:rPr>
              <a:t>   </a:t>
            </a:r>
            <a:endParaRPr lang="en-US" sz="2800" dirty="0"/>
          </a:p>
        </p:txBody>
      </p:sp>
      <p:sp>
        <p:nvSpPr>
          <p:cNvPr id="24" name="Text 20"/>
          <p:cNvSpPr txBox="1"/>
          <p:nvPr/>
        </p:nvSpPr>
        <p:spPr>
          <a:xfrm>
            <a:off x="8065008" y="2505456"/>
            <a:ext cx="3383280" cy="603504"/>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At F26's 12.03 units/hr, 60,933 units would have needed ≈5,065 hrs vs 3,999 actual → ≈1,066 hrs avoided at $33.43/hr (Sept MTD).</a:t>
            </a:r>
            <a:endParaRPr lang="en-US" sz="1100" dirty="0"/>
          </a:p>
        </p:txBody>
      </p:sp>
      <p:sp>
        <p:nvSpPr>
          <p:cNvPr id="25" name="Text 21"/>
          <p:cNvSpPr txBox="1"/>
          <p:nvPr/>
        </p:nvSpPr>
        <p:spPr>
          <a:xfrm>
            <a:off x="8065008" y="3108960"/>
            <a:ext cx="3383280" cy="201168"/>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Calculated from dashboard figures</a:t>
            </a:r>
            <a:endParaRPr lang="en-US" sz="900" dirty="0"/>
          </a:p>
        </p:txBody>
      </p:sp>
      <p:sp>
        <p:nvSpPr>
          <p:cNvPr id="26" name="Shape 22"/>
          <p:cNvSpPr/>
          <p:nvPr/>
        </p:nvSpPr>
        <p:spPr>
          <a:xfrm>
            <a:off x="7863840" y="3566160"/>
            <a:ext cx="3776472" cy="2011680"/>
          </a:xfrm>
          <a:prstGeom prst="roundRect">
            <a:avLst>
              <a:gd name="adj" fmla="val 3636"/>
            </a:avLst>
          </a:prstGeom>
          <a:solidFill>
            <a:srgbClr val="F5F3FF"/>
          </a:solidFill>
          <a:ln w="12700">
            <a:solidFill>
              <a:srgbClr val="F5F3FF"/>
            </a:solidFill>
            <a:prstDash val="solid"/>
          </a:ln>
        </p:spPr>
      </p:sp>
      <p:sp>
        <p:nvSpPr>
          <p:cNvPr id="27" name="Shape 23"/>
          <p:cNvSpPr/>
          <p:nvPr/>
        </p:nvSpPr>
        <p:spPr>
          <a:xfrm>
            <a:off x="8065008" y="3730752"/>
            <a:ext cx="384048" cy="384048"/>
          </a:xfrm>
          <a:prstGeom prst="ellipse">
            <a:avLst/>
          </a:prstGeom>
          <a:solidFill>
            <a:srgbClr val="7C3AED"/>
          </a:solidFill>
          <a:ln w="12700">
            <a:solidFill>
              <a:srgbClr val="7C3AED"/>
            </a:solidFill>
            <a:prstDash val="solid"/>
          </a:ln>
        </p:spPr>
      </p:sp>
      <p:pic>
        <p:nvPicPr>
          <p:cNvPr id="28" name="Image 1" descr="preencoded.png">    </p:cNvPr>
          <p:cNvPicPr>
            <a:picLocks noChangeAspect="1"/>
          </p:cNvPicPr>
          <p:nvPr/>
        </p:nvPicPr>
        <p:blipFill>
          <a:blip r:embed="rId2"/>
          <a:stretch>
            <a:fillRect/>
          </a:stretch>
        </p:blipFill>
        <p:spPr>
          <a:xfrm>
            <a:off x="8161020" y="3826764"/>
            <a:ext cx="192024" cy="192024"/>
          </a:xfrm>
          <a:prstGeom prst="rect">
            <a:avLst/>
          </a:prstGeom>
        </p:spPr>
      </p:pic>
      <p:sp>
        <p:nvSpPr>
          <p:cNvPr id="29" name="Text 24"/>
          <p:cNvSpPr txBox="1"/>
          <p:nvPr/>
        </p:nvSpPr>
        <p:spPr>
          <a:xfrm>
            <a:off x="8549640" y="3730752"/>
            <a:ext cx="292608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Pace vs reduction target</a:t>
            </a:r>
            <a:endParaRPr lang="en-US" sz="1300" dirty="0"/>
          </a:p>
        </p:txBody>
      </p:sp>
      <p:sp>
        <p:nvSpPr>
          <p:cNvPr id="30" name="Text 25"/>
          <p:cNvSpPr txBox="1"/>
          <p:nvPr/>
        </p:nvSpPr>
        <p:spPr>
          <a:xfrm>
            <a:off x="8065008" y="4169664"/>
            <a:ext cx="3383280" cy="502920"/>
          </a:xfrm>
          <a:prstGeom prst="rect">
            <a:avLst/>
          </a:prstGeom>
          <a:noFill/>
          <a:ln/>
        </p:spPr>
        <p:txBody>
          <a:bodyPr wrap="square" lIns="0" tIns="0" rIns="0" bIns="0" rtlCol="0" anchor="ctr"/>
          <a:lstStyle/>
          <a:p>
            <a:pPr indent="0" marL="0">
              <a:buNone/>
            </a:pPr>
            <a:r>
              <a:rPr lang="en-US" sz="2800" b="1" dirty="0">
                <a:solidFill>
                  <a:srgbClr val="7C3AED"/>
                </a:solidFill>
                <a:latin typeface="Calibri" pitchFamily="34" charset="0"/>
                <a:ea typeface="Calibri" pitchFamily="34" charset="-122"/>
                <a:cs typeface="Calibri" pitchFamily="34" charset="-120"/>
              </a:rPr>
              <a:t>139%</a:t>
            </a:r>
            <a:pPr indent="0" marL="0">
              <a:buNone/>
            </a:pPr>
            <a:r>
              <a:rPr lang="en-US" sz="1200" b="1" dirty="0">
                <a:solidFill>
                  <a:srgbClr val="6B7280"/>
                </a:solidFill>
                <a:latin typeface="Calibri" pitchFamily="34" charset="0"/>
                <a:ea typeface="Calibri" pitchFamily="34" charset="-122"/>
                <a:cs typeface="Calibri" pitchFamily="34" charset="-120"/>
              </a:rPr>
              <a:t>   of 1,181-hr target</a:t>
            </a:r>
            <a:endParaRPr lang="en-US" sz="2800" dirty="0"/>
          </a:p>
        </p:txBody>
      </p:sp>
      <p:sp>
        <p:nvSpPr>
          <p:cNvPr id="31" name="Text 26"/>
          <p:cNvSpPr txBox="1"/>
          <p:nvPr/>
        </p:nvSpPr>
        <p:spPr>
          <a:xfrm>
            <a:off x="8065008" y="4700016"/>
            <a:ext cx="3383280" cy="603504"/>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Sept pace ≈4,666 hrs (3,999 ÷ 18/21 working days) vs F26's 6,303 → ≈1,637 hrs lower.</a:t>
            </a:r>
            <a:endParaRPr lang="en-US" sz="1100" dirty="0"/>
          </a:p>
        </p:txBody>
      </p:sp>
      <p:sp>
        <p:nvSpPr>
          <p:cNvPr id="32" name="Text 27"/>
          <p:cNvSpPr txBox="1"/>
          <p:nvPr/>
        </p:nvSpPr>
        <p:spPr>
          <a:xfrm>
            <a:off x="8065008" y="5303520"/>
            <a:ext cx="3383280" cy="201168"/>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Calculated from SCA hours report figures · at current pace</a:t>
            </a:r>
            <a:endParaRPr lang="en-US" sz="900" dirty="0"/>
          </a:p>
        </p:txBody>
      </p:sp>
      <p:sp>
        <p:nvSpPr>
          <p:cNvPr id="33" name="Text 28"/>
          <p:cNvSpPr txBox="1"/>
          <p:nvPr/>
        </p:nvSpPr>
        <p:spPr>
          <a:xfrm>
            <a:off x="548640" y="6035040"/>
            <a:ext cx="11091672" cy="256032"/>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Source: Mississauga terminal productivity dashboard, updated for Sat, Sep 26, 2026 · September MTD</a:t>
            </a:r>
            <a:endParaRPr lang="en-US" sz="1000" dirty="0"/>
          </a:p>
        </p:txBody>
      </p:sp>
      <p:sp>
        <p:nvSpPr>
          <p:cNvPr id="34" name="Text 29"/>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Mississauga Terminal · F27 Senior Leadership Review · Sep 29, 2026</a:t>
            </a:r>
            <a:endParaRPr lang="en-US" sz="900" dirty="0"/>
          </a:p>
        </p:txBody>
      </p:sp>
      <p:sp>
        <p:nvSpPr>
          <p:cNvPr id="35" name="Text 30"/>
          <p:cNvSpPr txBox="1"/>
          <p:nvPr/>
        </p:nvSpPr>
        <p:spPr>
          <a:xfrm>
            <a:off x="10725912" y="6473952"/>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16 / 21</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Calibri" pitchFamily="34" charset="0"/>
                <a:ea typeface="Calibri" pitchFamily="34" charset="-122"/>
                <a:cs typeface="Calibri" pitchFamily="34" charset="-120"/>
              </a:rPr>
              <a:t>PRODUCTIVITY</a:t>
            </a:r>
            <a:endParaRPr lang="en-US" sz="1200" dirty="0"/>
          </a:p>
        </p:txBody>
      </p:sp>
      <p:sp>
        <p:nvSpPr>
          <p:cNvPr id="3" name="Text 1"/>
          <p:cNvSpPr txBox="1"/>
          <p:nvPr/>
        </p:nvSpPr>
        <p:spPr>
          <a:xfrm>
            <a:off x="548640" y="603504"/>
            <a:ext cx="11091672" cy="603504"/>
          </a:xfrm>
          <a:prstGeom prst="rect">
            <a:avLst/>
          </a:prstGeom>
          <a:noFill/>
          <a:ln/>
        </p:spPr>
        <p:txBody>
          <a:bodyPr wrap="square" lIns="0" tIns="0" rIns="0" bIns="0" rtlCol="0" anchor="t"/>
          <a:lstStyle/>
          <a:p>
            <a:pPr indent="0" marL="0">
              <a:buNone/>
            </a:pPr>
            <a:r>
              <a:rPr lang="en-US" sz="3000" b="1" dirty="0">
                <a:solidFill>
                  <a:srgbClr val="111827"/>
                </a:solidFill>
                <a:latin typeface="Calibri" pitchFamily="34" charset="0"/>
                <a:ea typeface="Calibri" pitchFamily="34" charset="-122"/>
                <a:cs typeface="Calibri" pitchFamily="34" charset="-120"/>
              </a:rPr>
              <a:t>P&amp;D — Trip &amp; stop measures (F27 Q1, Jul–Sep)</a:t>
            </a:r>
            <a:endParaRPr lang="en-US" sz="3000" dirty="0"/>
          </a:p>
        </p:txBody>
      </p:sp>
      <p:sp>
        <p:nvSpPr>
          <p:cNvPr id="4" name="Text 2"/>
          <p:cNvSpPr txBox="1"/>
          <p:nvPr/>
        </p:nvSpPr>
        <p:spPr>
          <a:xfrm>
            <a:off x="548640" y="1298448"/>
            <a:ext cx="5486400" cy="292608"/>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Q1 totals</a:t>
            </a:r>
            <a:endParaRPr lang="en-US" sz="1500" dirty="0"/>
          </a:p>
        </p:txBody>
      </p:sp>
      <p:sp>
        <p:nvSpPr>
          <p:cNvPr id="5" name="Shape 3"/>
          <p:cNvSpPr/>
          <p:nvPr/>
        </p:nvSpPr>
        <p:spPr>
          <a:xfrm>
            <a:off x="548640" y="1645920"/>
            <a:ext cx="1734312" cy="804672"/>
          </a:xfrm>
          <a:prstGeom prst="roundRect">
            <a:avLst>
              <a:gd name="adj" fmla="val 9091"/>
            </a:avLst>
          </a:prstGeom>
          <a:solidFill>
            <a:srgbClr val="F3F4F6"/>
          </a:solidFill>
          <a:ln w="12700">
            <a:solidFill>
              <a:srgbClr val="F3F4F6"/>
            </a:solidFill>
            <a:prstDash val="solid"/>
          </a:ln>
        </p:spPr>
      </p:sp>
      <p:sp>
        <p:nvSpPr>
          <p:cNvPr id="6" name="Text 4"/>
          <p:cNvSpPr txBox="1"/>
          <p:nvPr/>
        </p:nvSpPr>
        <p:spPr>
          <a:xfrm>
            <a:off x="685800" y="1737360"/>
            <a:ext cx="1459992" cy="237744"/>
          </a:xfrm>
          <a:prstGeom prst="rect">
            <a:avLst/>
          </a:prstGeom>
          <a:noFill/>
          <a:ln/>
        </p:spPr>
        <p:txBody>
          <a:bodyPr wrap="square" lIns="0" tIns="0" rIns="0" bIns="0" rtlCol="0" anchor="ctr"/>
          <a:lstStyle/>
          <a:p>
            <a:pPr indent="0" marL="0">
              <a:buNone/>
            </a:pPr>
            <a:r>
              <a:rPr lang="en-US" sz="1050" b="1" dirty="0">
                <a:solidFill>
                  <a:srgbClr val="6B7280"/>
                </a:solidFill>
                <a:latin typeface="Calibri" pitchFamily="34" charset="0"/>
                <a:ea typeface="Calibri" pitchFamily="34" charset="-122"/>
                <a:cs typeface="Calibri" pitchFamily="34" charset="-120"/>
              </a:rPr>
              <a:t>Trips</a:t>
            </a:r>
            <a:endParaRPr lang="en-US" sz="1050" dirty="0"/>
          </a:p>
        </p:txBody>
      </p:sp>
      <p:sp>
        <p:nvSpPr>
          <p:cNvPr id="7" name="Text 5"/>
          <p:cNvSpPr txBox="1"/>
          <p:nvPr/>
        </p:nvSpPr>
        <p:spPr>
          <a:xfrm>
            <a:off x="685800" y="1993392"/>
            <a:ext cx="1459992" cy="384048"/>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4,608</a:t>
            </a:r>
            <a:endParaRPr lang="en-US" sz="1800" dirty="0"/>
          </a:p>
        </p:txBody>
      </p:sp>
      <p:sp>
        <p:nvSpPr>
          <p:cNvPr id="8" name="Shape 6"/>
          <p:cNvSpPr/>
          <p:nvPr/>
        </p:nvSpPr>
        <p:spPr>
          <a:xfrm>
            <a:off x="2420112" y="1645920"/>
            <a:ext cx="1734312" cy="804672"/>
          </a:xfrm>
          <a:prstGeom prst="roundRect">
            <a:avLst>
              <a:gd name="adj" fmla="val 9091"/>
            </a:avLst>
          </a:prstGeom>
          <a:solidFill>
            <a:srgbClr val="F3F4F6"/>
          </a:solidFill>
          <a:ln w="12700">
            <a:solidFill>
              <a:srgbClr val="F3F4F6"/>
            </a:solidFill>
            <a:prstDash val="solid"/>
          </a:ln>
        </p:spPr>
      </p:sp>
      <p:sp>
        <p:nvSpPr>
          <p:cNvPr id="9" name="Text 7"/>
          <p:cNvSpPr txBox="1"/>
          <p:nvPr/>
        </p:nvSpPr>
        <p:spPr>
          <a:xfrm>
            <a:off x="2557272" y="1737360"/>
            <a:ext cx="1459992" cy="237744"/>
          </a:xfrm>
          <a:prstGeom prst="rect">
            <a:avLst/>
          </a:prstGeom>
          <a:noFill/>
          <a:ln/>
        </p:spPr>
        <p:txBody>
          <a:bodyPr wrap="square" lIns="0" tIns="0" rIns="0" bIns="0" rtlCol="0" anchor="ctr"/>
          <a:lstStyle/>
          <a:p>
            <a:pPr indent="0" marL="0">
              <a:buNone/>
            </a:pPr>
            <a:r>
              <a:rPr lang="en-US" sz="1050" b="1" dirty="0">
                <a:solidFill>
                  <a:srgbClr val="6B7280"/>
                </a:solidFill>
                <a:latin typeface="Calibri" pitchFamily="34" charset="0"/>
                <a:ea typeface="Calibri" pitchFamily="34" charset="-122"/>
                <a:cs typeface="Calibri" pitchFamily="34" charset="-120"/>
              </a:rPr>
              <a:t>Stops</a:t>
            </a:r>
            <a:endParaRPr lang="en-US" sz="1050" dirty="0"/>
          </a:p>
        </p:txBody>
      </p:sp>
      <p:sp>
        <p:nvSpPr>
          <p:cNvPr id="10" name="Text 8"/>
          <p:cNvSpPr txBox="1"/>
          <p:nvPr/>
        </p:nvSpPr>
        <p:spPr>
          <a:xfrm>
            <a:off x="2557272" y="1993392"/>
            <a:ext cx="1459992" cy="384048"/>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45,712</a:t>
            </a:r>
            <a:endParaRPr lang="en-US" sz="1800" dirty="0"/>
          </a:p>
        </p:txBody>
      </p:sp>
      <p:sp>
        <p:nvSpPr>
          <p:cNvPr id="11" name="Shape 9"/>
          <p:cNvSpPr/>
          <p:nvPr/>
        </p:nvSpPr>
        <p:spPr>
          <a:xfrm>
            <a:off x="4291584" y="1645920"/>
            <a:ext cx="1734312" cy="804672"/>
          </a:xfrm>
          <a:prstGeom prst="roundRect">
            <a:avLst>
              <a:gd name="adj" fmla="val 9091"/>
            </a:avLst>
          </a:prstGeom>
          <a:solidFill>
            <a:srgbClr val="F3F4F6"/>
          </a:solidFill>
          <a:ln w="12700">
            <a:solidFill>
              <a:srgbClr val="F3F4F6"/>
            </a:solidFill>
            <a:prstDash val="solid"/>
          </a:ln>
        </p:spPr>
      </p:sp>
      <p:sp>
        <p:nvSpPr>
          <p:cNvPr id="12" name="Text 10"/>
          <p:cNvSpPr txBox="1"/>
          <p:nvPr/>
        </p:nvSpPr>
        <p:spPr>
          <a:xfrm>
            <a:off x="4428744" y="1737360"/>
            <a:ext cx="1459992" cy="237744"/>
          </a:xfrm>
          <a:prstGeom prst="rect">
            <a:avLst/>
          </a:prstGeom>
          <a:noFill/>
          <a:ln/>
        </p:spPr>
        <p:txBody>
          <a:bodyPr wrap="square" lIns="0" tIns="0" rIns="0" bIns="0" rtlCol="0" anchor="ctr"/>
          <a:lstStyle/>
          <a:p>
            <a:pPr indent="0" marL="0">
              <a:buNone/>
            </a:pPr>
            <a:r>
              <a:rPr lang="en-US" sz="1050" b="1" dirty="0">
                <a:solidFill>
                  <a:srgbClr val="6B7280"/>
                </a:solidFill>
                <a:latin typeface="Calibri" pitchFamily="34" charset="0"/>
                <a:ea typeface="Calibri" pitchFamily="34" charset="-122"/>
                <a:cs typeface="Calibri" pitchFamily="34" charset="-120"/>
              </a:rPr>
              <a:t>Weight (lbs)</a:t>
            </a:r>
            <a:endParaRPr lang="en-US" sz="1050" dirty="0"/>
          </a:p>
        </p:txBody>
      </p:sp>
      <p:sp>
        <p:nvSpPr>
          <p:cNvPr id="13" name="Text 11"/>
          <p:cNvSpPr txBox="1"/>
          <p:nvPr/>
        </p:nvSpPr>
        <p:spPr>
          <a:xfrm>
            <a:off x="4428744" y="1993392"/>
            <a:ext cx="1459992" cy="384048"/>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32,330,382</a:t>
            </a:r>
            <a:endParaRPr lang="en-US" sz="1800" dirty="0"/>
          </a:p>
        </p:txBody>
      </p:sp>
      <p:sp>
        <p:nvSpPr>
          <p:cNvPr id="14" name="Shape 12"/>
          <p:cNvSpPr/>
          <p:nvPr/>
        </p:nvSpPr>
        <p:spPr>
          <a:xfrm>
            <a:off x="6163056" y="1645920"/>
            <a:ext cx="1734312" cy="804672"/>
          </a:xfrm>
          <a:prstGeom prst="roundRect">
            <a:avLst>
              <a:gd name="adj" fmla="val 9091"/>
            </a:avLst>
          </a:prstGeom>
          <a:solidFill>
            <a:srgbClr val="F3F4F6"/>
          </a:solidFill>
          <a:ln w="12700">
            <a:solidFill>
              <a:srgbClr val="F3F4F6"/>
            </a:solidFill>
            <a:prstDash val="solid"/>
          </a:ln>
        </p:spPr>
      </p:sp>
      <p:sp>
        <p:nvSpPr>
          <p:cNvPr id="15" name="Text 13"/>
          <p:cNvSpPr txBox="1"/>
          <p:nvPr/>
        </p:nvSpPr>
        <p:spPr>
          <a:xfrm>
            <a:off x="6300216" y="1737360"/>
            <a:ext cx="1459992" cy="237744"/>
          </a:xfrm>
          <a:prstGeom prst="rect">
            <a:avLst/>
          </a:prstGeom>
          <a:noFill/>
          <a:ln/>
        </p:spPr>
        <p:txBody>
          <a:bodyPr wrap="square" lIns="0" tIns="0" rIns="0" bIns="0" rtlCol="0" anchor="ctr"/>
          <a:lstStyle/>
          <a:p>
            <a:pPr indent="0" marL="0">
              <a:buNone/>
            </a:pPr>
            <a:r>
              <a:rPr lang="en-US" sz="1050" b="1" dirty="0">
                <a:solidFill>
                  <a:srgbClr val="6B7280"/>
                </a:solidFill>
                <a:latin typeface="Calibri" pitchFamily="34" charset="0"/>
                <a:ea typeface="Calibri" pitchFamily="34" charset="-122"/>
                <a:cs typeface="Calibri" pitchFamily="34" charset="-120"/>
              </a:rPr>
              <a:t>Miles</a:t>
            </a:r>
            <a:endParaRPr lang="en-US" sz="1050" dirty="0"/>
          </a:p>
        </p:txBody>
      </p:sp>
      <p:sp>
        <p:nvSpPr>
          <p:cNvPr id="16" name="Text 14"/>
          <p:cNvSpPr txBox="1"/>
          <p:nvPr/>
        </p:nvSpPr>
        <p:spPr>
          <a:xfrm>
            <a:off x="6300216" y="1993392"/>
            <a:ext cx="1459992" cy="384048"/>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769,055</a:t>
            </a:r>
            <a:endParaRPr lang="en-US" sz="1800" dirty="0"/>
          </a:p>
        </p:txBody>
      </p:sp>
      <p:sp>
        <p:nvSpPr>
          <p:cNvPr id="17" name="Shape 15"/>
          <p:cNvSpPr/>
          <p:nvPr/>
        </p:nvSpPr>
        <p:spPr>
          <a:xfrm>
            <a:off x="8034528" y="1645920"/>
            <a:ext cx="1734312" cy="804672"/>
          </a:xfrm>
          <a:prstGeom prst="roundRect">
            <a:avLst>
              <a:gd name="adj" fmla="val 9091"/>
            </a:avLst>
          </a:prstGeom>
          <a:solidFill>
            <a:srgbClr val="F3F4F6"/>
          </a:solidFill>
          <a:ln w="12700">
            <a:solidFill>
              <a:srgbClr val="F3F4F6"/>
            </a:solidFill>
            <a:prstDash val="solid"/>
          </a:ln>
        </p:spPr>
      </p:sp>
      <p:sp>
        <p:nvSpPr>
          <p:cNvPr id="18" name="Text 16"/>
          <p:cNvSpPr txBox="1"/>
          <p:nvPr/>
        </p:nvSpPr>
        <p:spPr>
          <a:xfrm>
            <a:off x="8171688" y="1737360"/>
            <a:ext cx="1459992" cy="237744"/>
          </a:xfrm>
          <a:prstGeom prst="rect">
            <a:avLst/>
          </a:prstGeom>
          <a:noFill/>
          <a:ln/>
        </p:spPr>
        <p:txBody>
          <a:bodyPr wrap="square" lIns="0" tIns="0" rIns="0" bIns="0" rtlCol="0" anchor="ctr"/>
          <a:lstStyle/>
          <a:p>
            <a:pPr indent="0" marL="0">
              <a:buNone/>
            </a:pPr>
            <a:r>
              <a:rPr lang="en-US" sz="1050" b="1" dirty="0">
                <a:solidFill>
                  <a:srgbClr val="6B7280"/>
                </a:solidFill>
                <a:latin typeface="Calibri" pitchFamily="34" charset="0"/>
                <a:ea typeface="Calibri" pitchFamily="34" charset="-122"/>
                <a:cs typeface="Calibri" pitchFamily="34" charset="-120"/>
              </a:rPr>
              <a:t>Hours</a:t>
            </a:r>
            <a:endParaRPr lang="en-US" sz="1050" dirty="0"/>
          </a:p>
        </p:txBody>
      </p:sp>
      <p:sp>
        <p:nvSpPr>
          <p:cNvPr id="19" name="Text 17"/>
          <p:cNvSpPr txBox="1"/>
          <p:nvPr/>
        </p:nvSpPr>
        <p:spPr>
          <a:xfrm>
            <a:off x="8171688" y="1993392"/>
            <a:ext cx="1459992" cy="384048"/>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21,889</a:t>
            </a:r>
            <a:endParaRPr lang="en-US" sz="1800" dirty="0"/>
          </a:p>
        </p:txBody>
      </p:sp>
      <p:sp>
        <p:nvSpPr>
          <p:cNvPr id="20" name="Shape 18"/>
          <p:cNvSpPr/>
          <p:nvPr/>
        </p:nvSpPr>
        <p:spPr>
          <a:xfrm>
            <a:off x="9906000" y="1645920"/>
            <a:ext cx="1734312" cy="804672"/>
          </a:xfrm>
          <a:prstGeom prst="roundRect">
            <a:avLst>
              <a:gd name="adj" fmla="val 9091"/>
            </a:avLst>
          </a:prstGeom>
          <a:solidFill>
            <a:srgbClr val="F3F4F6"/>
          </a:solidFill>
          <a:ln w="12700">
            <a:solidFill>
              <a:srgbClr val="F3F4F6"/>
            </a:solidFill>
            <a:prstDash val="solid"/>
          </a:ln>
        </p:spPr>
      </p:sp>
      <p:sp>
        <p:nvSpPr>
          <p:cNvPr id="21" name="Text 19"/>
          <p:cNvSpPr txBox="1"/>
          <p:nvPr/>
        </p:nvSpPr>
        <p:spPr>
          <a:xfrm>
            <a:off x="10043160" y="1737360"/>
            <a:ext cx="1459992" cy="237744"/>
          </a:xfrm>
          <a:prstGeom prst="rect">
            <a:avLst/>
          </a:prstGeom>
          <a:noFill/>
          <a:ln/>
        </p:spPr>
        <p:txBody>
          <a:bodyPr wrap="square" lIns="0" tIns="0" rIns="0" bIns="0" rtlCol="0" anchor="ctr"/>
          <a:lstStyle/>
          <a:p>
            <a:pPr indent="0" marL="0">
              <a:buNone/>
            </a:pPr>
            <a:r>
              <a:rPr lang="en-US" sz="1050" b="1" dirty="0">
                <a:solidFill>
                  <a:srgbClr val="6B7280"/>
                </a:solidFill>
                <a:latin typeface="Calibri" pitchFamily="34" charset="0"/>
                <a:ea typeface="Calibri" pitchFamily="34" charset="-122"/>
                <a:cs typeface="Calibri" pitchFamily="34" charset="-120"/>
              </a:rPr>
              <a:t>Bills</a:t>
            </a:r>
            <a:endParaRPr lang="en-US" sz="1050" dirty="0"/>
          </a:p>
        </p:txBody>
      </p:sp>
      <p:sp>
        <p:nvSpPr>
          <p:cNvPr id="22" name="Text 20"/>
          <p:cNvSpPr txBox="1"/>
          <p:nvPr/>
        </p:nvSpPr>
        <p:spPr>
          <a:xfrm>
            <a:off x="10043160" y="1993392"/>
            <a:ext cx="1459992" cy="384048"/>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63,738</a:t>
            </a:r>
            <a:endParaRPr lang="en-US" sz="1800" dirty="0"/>
          </a:p>
        </p:txBody>
      </p:sp>
      <p:sp>
        <p:nvSpPr>
          <p:cNvPr id="23" name="Shape 21"/>
          <p:cNvSpPr/>
          <p:nvPr/>
        </p:nvSpPr>
        <p:spPr>
          <a:xfrm>
            <a:off x="548640" y="2560320"/>
            <a:ext cx="1734312" cy="804672"/>
          </a:xfrm>
          <a:prstGeom prst="roundRect">
            <a:avLst>
              <a:gd name="adj" fmla="val 9091"/>
            </a:avLst>
          </a:prstGeom>
          <a:solidFill>
            <a:srgbClr val="F3F4F6"/>
          </a:solidFill>
          <a:ln w="12700">
            <a:solidFill>
              <a:srgbClr val="F3F4F6"/>
            </a:solidFill>
            <a:prstDash val="solid"/>
          </a:ln>
        </p:spPr>
      </p:sp>
      <p:sp>
        <p:nvSpPr>
          <p:cNvPr id="24" name="Text 22"/>
          <p:cNvSpPr txBox="1"/>
          <p:nvPr/>
        </p:nvSpPr>
        <p:spPr>
          <a:xfrm>
            <a:off x="685800" y="2651760"/>
            <a:ext cx="1459992" cy="237744"/>
          </a:xfrm>
          <a:prstGeom prst="rect">
            <a:avLst/>
          </a:prstGeom>
          <a:noFill/>
          <a:ln/>
        </p:spPr>
        <p:txBody>
          <a:bodyPr wrap="square" lIns="0" tIns="0" rIns="0" bIns="0" rtlCol="0" anchor="ctr"/>
          <a:lstStyle/>
          <a:p>
            <a:pPr indent="0" marL="0">
              <a:buNone/>
            </a:pPr>
            <a:r>
              <a:rPr lang="en-US" sz="1050" b="1" dirty="0">
                <a:solidFill>
                  <a:srgbClr val="6B7280"/>
                </a:solidFill>
                <a:latin typeface="Calibri" pitchFamily="34" charset="0"/>
                <a:ea typeface="Calibri" pitchFamily="34" charset="-122"/>
                <a:cs typeface="Calibri" pitchFamily="34" charset="-120"/>
              </a:rPr>
              <a:t>Delivery bills</a:t>
            </a:r>
            <a:endParaRPr lang="en-US" sz="1050" dirty="0"/>
          </a:p>
        </p:txBody>
      </p:sp>
      <p:sp>
        <p:nvSpPr>
          <p:cNvPr id="25" name="Text 23"/>
          <p:cNvSpPr txBox="1"/>
          <p:nvPr/>
        </p:nvSpPr>
        <p:spPr>
          <a:xfrm>
            <a:off x="685800" y="2907792"/>
            <a:ext cx="1459992" cy="384048"/>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41,725</a:t>
            </a:r>
            <a:endParaRPr lang="en-US" sz="1800" dirty="0"/>
          </a:p>
        </p:txBody>
      </p:sp>
      <p:sp>
        <p:nvSpPr>
          <p:cNvPr id="26" name="Shape 24"/>
          <p:cNvSpPr/>
          <p:nvPr/>
        </p:nvSpPr>
        <p:spPr>
          <a:xfrm>
            <a:off x="2420112" y="2560320"/>
            <a:ext cx="1734312" cy="804672"/>
          </a:xfrm>
          <a:prstGeom prst="roundRect">
            <a:avLst>
              <a:gd name="adj" fmla="val 9091"/>
            </a:avLst>
          </a:prstGeom>
          <a:solidFill>
            <a:srgbClr val="F3F4F6"/>
          </a:solidFill>
          <a:ln w="12700">
            <a:solidFill>
              <a:srgbClr val="F3F4F6"/>
            </a:solidFill>
            <a:prstDash val="solid"/>
          </a:ln>
        </p:spPr>
      </p:sp>
      <p:sp>
        <p:nvSpPr>
          <p:cNvPr id="27" name="Text 25"/>
          <p:cNvSpPr txBox="1"/>
          <p:nvPr/>
        </p:nvSpPr>
        <p:spPr>
          <a:xfrm>
            <a:off x="2557272" y="2651760"/>
            <a:ext cx="1459992" cy="237744"/>
          </a:xfrm>
          <a:prstGeom prst="rect">
            <a:avLst/>
          </a:prstGeom>
          <a:noFill/>
          <a:ln/>
        </p:spPr>
        <p:txBody>
          <a:bodyPr wrap="square" lIns="0" tIns="0" rIns="0" bIns="0" rtlCol="0" anchor="ctr"/>
          <a:lstStyle/>
          <a:p>
            <a:pPr indent="0" marL="0">
              <a:buNone/>
            </a:pPr>
            <a:r>
              <a:rPr lang="en-US" sz="1050" b="1" dirty="0">
                <a:solidFill>
                  <a:srgbClr val="6B7280"/>
                </a:solidFill>
                <a:latin typeface="Calibri" pitchFamily="34" charset="0"/>
                <a:ea typeface="Calibri" pitchFamily="34" charset="-122"/>
                <a:cs typeface="Calibri" pitchFamily="34" charset="-120"/>
              </a:rPr>
              <a:t>Pickup bills</a:t>
            </a:r>
            <a:endParaRPr lang="en-US" sz="1050" dirty="0"/>
          </a:p>
        </p:txBody>
      </p:sp>
      <p:sp>
        <p:nvSpPr>
          <p:cNvPr id="28" name="Text 26"/>
          <p:cNvSpPr txBox="1"/>
          <p:nvPr/>
        </p:nvSpPr>
        <p:spPr>
          <a:xfrm>
            <a:off x="2557272" y="2907792"/>
            <a:ext cx="1459992" cy="384048"/>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24,401</a:t>
            </a:r>
            <a:endParaRPr lang="en-US" sz="1800" dirty="0"/>
          </a:p>
        </p:txBody>
      </p:sp>
      <p:sp>
        <p:nvSpPr>
          <p:cNvPr id="29" name="Shape 27"/>
          <p:cNvSpPr/>
          <p:nvPr/>
        </p:nvSpPr>
        <p:spPr>
          <a:xfrm>
            <a:off x="4291584" y="2560320"/>
            <a:ext cx="1734312" cy="804672"/>
          </a:xfrm>
          <a:prstGeom prst="roundRect">
            <a:avLst>
              <a:gd name="adj" fmla="val 9091"/>
            </a:avLst>
          </a:prstGeom>
          <a:solidFill>
            <a:srgbClr val="F3F4F6"/>
          </a:solidFill>
          <a:ln w="12700">
            <a:solidFill>
              <a:srgbClr val="F3F4F6"/>
            </a:solidFill>
            <a:prstDash val="solid"/>
          </a:ln>
        </p:spPr>
      </p:sp>
      <p:sp>
        <p:nvSpPr>
          <p:cNvPr id="30" name="Text 28"/>
          <p:cNvSpPr txBox="1"/>
          <p:nvPr/>
        </p:nvSpPr>
        <p:spPr>
          <a:xfrm>
            <a:off x="4428744" y="2651760"/>
            <a:ext cx="1459992" cy="237744"/>
          </a:xfrm>
          <a:prstGeom prst="rect">
            <a:avLst/>
          </a:prstGeom>
          <a:noFill/>
          <a:ln/>
        </p:spPr>
        <p:txBody>
          <a:bodyPr wrap="square" lIns="0" tIns="0" rIns="0" bIns="0" rtlCol="0" anchor="ctr"/>
          <a:lstStyle/>
          <a:p>
            <a:pPr indent="0" marL="0">
              <a:buNone/>
            </a:pPr>
            <a:r>
              <a:rPr lang="en-US" sz="1050" b="1" dirty="0">
                <a:solidFill>
                  <a:srgbClr val="6B7280"/>
                </a:solidFill>
                <a:latin typeface="Calibri" pitchFamily="34" charset="0"/>
                <a:ea typeface="Calibri" pitchFamily="34" charset="-122"/>
                <a:cs typeface="Calibri" pitchFamily="34" charset="-120"/>
              </a:rPr>
              <a:t>Delivery attempts</a:t>
            </a:r>
            <a:endParaRPr lang="en-US" sz="1050" dirty="0"/>
          </a:p>
        </p:txBody>
      </p:sp>
      <p:sp>
        <p:nvSpPr>
          <p:cNvPr id="31" name="Text 29"/>
          <p:cNvSpPr txBox="1"/>
          <p:nvPr/>
        </p:nvSpPr>
        <p:spPr>
          <a:xfrm>
            <a:off x="4428744" y="2907792"/>
            <a:ext cx="1459992" cy="384048"/>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643</a:t>
            </a:r>
            <a:endParaRPr lang="en-US" sz="1800" dirty="0"/>
          </a:p>
        </p:txBody>
      </p:sp>
      <p:sp>
        <p:nvSpPr>
          <p:cNvPr id="32" name="Shape 30"/>
          <p:cNvSpPr/>
          <p:nvPr/>
        </p:nvSpPr>
        <p:spPr>
          <a:xfrm>
            <a:off x="6163056" y="2560320"/>
            <a:ext cx="1734312" cy="804672"/>
          </a:xfrm>
          <a:prstGeom prst="roundRect">
            <a:avLst>
              <a:gd name="adj" fmla="val 9091"/>
            </a:avLst>
          </a:prstGeom>
          <a:solidFill>
            <a:srgbClr val="F3F4F6"/>
          </a:solidFill>
          <a:ln w="12700">
            <a:solidFill>
              <a:srgbClr val="F3F4F6"/>
            </a:solidFill>
            <a:prstDash val="solid"/>
          </a:ln>
        </p:spPr>
      </p:sp>
      <p:sp>
        <p:nvSpPr>
          <p:cNvPr id="33" name="Text 31"/>
          <p:cNvSpPr txBox="1"/>
          <p:nvPr/>
        </p:nvSpPr>
        <p:spPr>
          <a:xfrm>
            <a:off x="6300216" y="2651760"/>
            <a:ext cx="1459992" cy="237744"/>
          </a:xfrm>
          <a:prstGeom prst="rect">
            <a:avLst/>
          </a:prstGeom>
          <a:noFill/>
          <a:ln/>
        </p:spPr>
        <p:txBody>
          <a:bodyPr wrap="square" lIns="0" tIns="0" rIns="0" bIns="0" rtlCol="0" anchor="ctr"/>
          <a:lstStyle/>
          <a:p>
            <a:pPr indent="0" marL="0">
              <a:buNone/>
            </a:pPr>
            <a:r>
              <a:rPr lang="en-US" sz="1050" b="1" dirty="0">
                <a:solidFill>
                  <a:srgbClr val="6B7280"/>
                </a:solidFill>
                <a:latin typeface="Calibri" pitchFamily="34" charset="0"/>
                <a:ea typeface="Calibri" pitchFamily="34" charset="-122"/>
                <a:cs typeface="Calibri" pitchFamily="34" charset="-120"/>
              </a:rPr>
              <a:t>Pickup attempts</a:t>
            </a:r>
            <a:endParaRPr lang="en-US" sz="1050" dirty="0"/>
          </a:p>
        </p:txBody>
      </p:sp>
      <p:sp>
        <p:nvSpPr>
          <p:cNvPr id="34" name="Text 32"/>
          <p:cNvSpPr txBox="1"/>
          <p:nvPr/>
        </p:nvSpPr>
        <p:spPr>
          <a:xfrm>
            <a:off x="6300216" y="2907792"/>
            <a:ext cx="1459992" cy="384048"/>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1,848</a:t>
            </a:r>
            <a:endParaRPr lang="en-US" sz="1800" dirty="0"/>
          </a:p>
        </p:txBody>
      </p:sp>
      <p:sp>
        <p:nvSpPr>
          <p:cNvPr id="35" name="Shape 33"/>
          <p:cNvSpPr/>
          <p:nvPr/>
        </p:nvSpPr>
        <p:spPr>
          <a:xfrm>
            <a:off x="8034528" y="2560320"/>
            <a:ext cx="1734312" cy="804672"/>
          </a:xfrm>
          <a:prstGeom prst="roundRect">
            <a:avLst>
              <a:gd name="adj" fmla="val 9091"/>
            </a:avLst>
          </a:prstGeom>
          <a:solidFill>
            <a:srgbClr val="F3F4F6"/>
          </a:solidFill>
          <a:ln w="12700">
            <a:solidFill>
              <a:srgbClr val="F3F4F6"/>
            </a:solidFill>
            <a:prstDash val="solid"/>
          </a:ln>
        </p:spPr>
      </p:sp>
      <p:sp>
        <p:nvSpPr>
          <p:cNvPr id="36" name="Text 34"/>
          <p:cNvSpPr txBox="1"/>
          <p:nvPr/>
        </p:nvSpPr>
        <p:spPr>
          <a:xfrm>
            <a:off x="8171688" y="2651760"/>
            <a:ext cx="1459992" cy="237744"/>
          </a:xfrm>
          <a:prstGeom prst="rect">
            <a:avLst/>
          </a:prstGeom>
          <a:noFill/>
          <a:ln/>
        </p:spPr>
        <p:txBody>
          <a:bodyPr wrap="square" lIns="0" tIns="0" rIns="0" bIns="0" rtlCol="0" anchor="ctr"/>
          <a:lstStyle/>
          <a:p>
            <a:pPr indent="0" marL="0">
              <a:buNone/>
            </a:pPr>
            <a:r>
              <a:rPr lang="en-US" sz="1050" b="1" dirty="0">
                <a:solidFill>
                  <a:srgbClr val="6B7280"/>
                </a:solidFill>
                <a:latin typeface="Calibri" pitchFamily="34" charset="0"/>
                <a:ea typeface="Calibri" pitchFamily="34" charset="-122"/>
                <a:cs typeface="Calibri" pitchFamily="34" charset="-120"/>
              </a:rPr>
              <a:t>Units</a:t>
            </a:r>
            <a:endParaRPr lang="en-US" sz="1050" dirty="0"/>
          </a:p>
        </p:txBody>
      </p:sp>
      <p:sp>
        <p:nvSpPr>
          <p:cNvPr id="37" name="Text 35"/>
          <p:cNvSpPr txBox="1"/>
          <p:nvPr/>
        </p:nvSpPr>
        <p:spPr>
          <a:xfrm>
            <a:off x="8171688" y="2907792"/>
            <a:ext cx="1459992" cy="384048"/>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53</a:t>
            </a:r>
            <a:endParaRPr lang="en-US" sz="1800" dirty="0"/>
          </a:p>
        </p:txBody>
      </p:sp>
      <p:sp>
        <p:nvSpPr>
          <p:cNvPr id="38" name="Text 36"/>
          <p:cNvSpPr txBox="1"/>
          <p:nvPr/>
        </p:nvSpPr>
        <p:spPr>
          <a:xfrm>
            <a:off x="548640" y="3520440"/>
            <a:ext cx="5486400" cy="292608"/>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Ratios</a:t>
            </a:r>
            <a:endParaRPr lang="en-US" sz="1500" dirty="0"/>
          </a:p>
        </p:txBody>
      </p:sp>
      <p:sp>
        <p:nvSpPr>
          <p:cNvPr id="39" name="Shape 37"/>
          <p:cNvSpPr/>
          <p:nvPr/>
        </p:nvSpPr>
        <p:spPr>
          <a:xfrm>
            <a:off x="548640" y="3867912"/>
            <a:ext cx="1734312" cy="804672"/>
          </a:xfrm>
          <a:prstGeom prst="roundRect">
            <a:avLst>
              <a:gd name="adj" fmla="val 9091"/>
            </a:avLst>
          </a:prstGeom>
          <a:solidFill>
            <a:srgbClr val="F5F3FF"/>
          </a:solidFill>
          <a:ln w="12700">
            <a:solidFill>
              <a:srgbClr val="F5F3FF"/>
            </a:solidFill>
            <a:prstDash val="solid"/>
          </a:ln>
        </p:spPr>
      </p:sp>
      <p:sp>
        <p:nvSpPr>
          <p:cNvPr id="40" name="Text 38"/>
          <p:cNvSpPr txBox="1"/>
          <p:nvPr/>
        </p:nvSpPr>
        <p:spPr>
          <a:xfrm>
            <a:off x="685800" y="3959352"/>
            <a:ext cx="1459992" cy="237744"/>
          </a:xfrm>
          <a:prstGeom prst="rect">
            <a:avLst/>
          </a:prstGeom>
          <a:noFill/>
          <a:ln/>
        </p:spPr>
        <p:txBody>
          <a:bodyPr wrap="square" lIns="0" tIns="0" rIns="0" bIns="0" rtlCol="0" anchor="ctr"/>
          <a:lstStyle/>
          <a:p>
            <a:pPr indent="0" marL="0">
              <a:buNone/>
            </a:pPr>
            <a:r>
              <a:rPr lang="en-US" sz="1050" b="1" dirty="0">
                <a:solidFill>
                  <a:srgbClr val="6B7280"/>
                </a:solidFill>
                <a:latin typeface="Calibri" pitchFamily="34" charset="0"/>
                <a:ea typeface="Calibri" pitchFamily="34" charset="-122"/>
                <a:cs typeface="Calibri" pitchFamily="34" charset="-120"/>
              </a:rPr>
              <a:t>Stops / trip</a:t>
            </a:r>
            <a:endParaRPr lang="en-US" sz="1050" dirty="0"/>
          </a:p>
        </p:txBody>
      </p:sp>
      <p:sp>
        <p:nvSpPr>
          <p:cNvPr id="41" name="Text 39"/>
          <p:cNvSpPr txBox="1"/>
          <p:nvPr/>
        </p:nvSpPr>
        <p:spPr>
          <a:xfrm>
            <a:off x="685800" y="4215384"/>
            <a:ext cx="1459992" cy="384048"/>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9.92</a:t>
            </a:r>
            <a:endParaRPr lang="en-US" sz="1800" dirty="0"/>
          </a:p>
        </p:txBody>
      </p:sp>
      <p:sp>
        <p:nvSpPr>
          <p:cNvPr id="42" name="Shape 40"/>
          <p:cNvSpPr/>
          <p:nvPr/>
        </p:nvSpPr>
        <p:spPr>
          <a:xfrm>
            <a:off x="2420112" y="3867912"/>
            <a:ext cx="1734312" cy="804672"/>
          </a:xfrm>
          <a:prstGeom prst="roundRect">
            <a:avLst>
              <a:gd name="adj" fmla="val 9091"/>
            </a:avLst>
          </a:prstGeom>
          <a:solidFill>
            <a:srgbClr val="F5F3FF"/>
          </a:solidFill>
          <a:ln w="12700">
            <a:solidFill>
              <a:srgbClr val="F5F3FF"/>
            </a:solidFill>
            <a:prstDash val="solid"/>
          </a:ln>
        </p:spPr>
      </p:sp>
      <p:sp>
        <p:nvSpPr>
          <p:cNvPr id="43" name="Text 41"/>
          <p:cNvSpPr txBox="1"/>
          <p:nvPr/>
        </p:nvSpPr>
        <p:spPr>
          <a:xfrm>
            <a:off x="2557272" y="3959352"/>
            <a:ext cx="1459992" cy="237744"/>
          </a:xfrm>
          <a:prstGeom prst="rect">
            <a:avLst/>
          </a:prstGeom>
          <a:noFill/>
          <a:ln/>
        </p:spPr>
        <p:txBody>
          <a:bodyPr wrap="square" lIns="0" tIns="0" rIns="0" bIns="0" rtlCol="0" anchor="ctr"/>
          <a:lstStyle/>
          <a:p>
            <a:pPr indent="0" marL="0">
              <a:buNone/>
            </a:pPr>
            <a:r>
              <a:rPr lang="en-US" sz="1050" b="1" dirty="0">
                <a:solidFill>
                  <a:srgbClr val="6B7280"/>
                </a:solidFill>
                <a:latin typeface="Calibri" pitchFamily="34" charset="0"/>
                <a:ea typeface="Calibri" pitchFamily="34" charset="-122"/>
                <a:cs typeface="Calibri" pitchFamily="34" charset="-120"/>
              </a:rPr>
              <a:t>Weight / trip</a:t>
            </a:r>
            <a:endParaRPr lang="en-US" sz="1050" dirty="0"/>
          </a:p>
        </p:txBody>
      </p:sp>
      <p:sp>
        <p:nvSpPr>
          <p:cNvPr id="44" name="Text 42"/>
          <p:cNvSpPr txBox="1"/>
          <p:nvPr/>
        </p:nvSpPr>
        <p:spPr>
          <a:xfrm>
            <a:off x="2557272" y="4215384"/>
            <a:ext cx="1459992" cy="384048"/>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7,017 lbs</a:t>
            </a:r>
            <a:endParaRPr lang="en-US" sz="1800" dirty="0"/>
          </a:p>
        </p:txBody>
      </p:sp>
      <p:sp>
        <p:nvSpPr>
          <p:cNvPr id="45" name="Shape 43"/>
          <p:cNvSpPr/>
          <p:nvPr/>
        </p:nvSpPr>
        <p:spPr>
          <a:xfrm>
            <a:off x="4291584" y="3867912"/>
            <a:ext cx="1734312" cy="804672"/>
          </a:xfrm>
          <a:prstGeom prst="roundRect">
            <a:avLst>
              <a:gd name="adj" fmla="val 9091"/>
            </a:avLst>
          </a:prstGeom>
          <a:solidFill>
            <a:srgbClr val="F5F3FF"/>
          </a:solidFill>
          <a:ln w="12700">
            <a:solidFill>
              <a:srgbClr val="F5F3FF"/>
            </a:solidFill>
            <a:prstDash val="solid"/>
          </a:ln>
        </p:spPr>
      </p:sp>
      <p:sp>
        <p:nvSpPr>
          <p:cNvPr id="46" name="Text 44"/>
          <p:cNvSpPr txBox="1"/>
          <p:nvPr/>
        </p:nvSpPr>
        <p:spPr>
          <a:xfrm>
            <a:off x="4428744" y="3959352"/>
            <a:ext cx="1459992" cy="237744"/>
          </a:xfrm>
          <a:prstGeom prst="rect">
            <a:avLst/>
          </a:prstGeom>
          <a:noFill/>
          <a:ln/>
        </p:spPr>
        <p:txBody>
          <a:bodyPr wrap="square" lIns="0" tIns="0" rIns="0" bIns="0" rtlCol="0" anchor="ctr"/>
          <a:lstStyle/>
          <a:p>
            <a:pPr indent="0" marL="0">
              <a:buNone/>
            </a:pPr>
            <a:r>
              <a:rPr lang="en-US" sz="1050" b="1" dirty="0">
                <a:solidFill>
                  <a:srgbClr val="6B7280"/>
                </a:solidFill>
                <a:latin typeface="Calibri" pitchFamily="34" charset="0"/>
                <a:ea typeface="Calibri" pitchFamily="34" charset="-122"/>
                <a:cs typeface="Calibri" pitchFamily="34" charset="-120"/>
              </a:rPr>
              <a:t>Miles / trip</a:t>
            </a:r>
            <a:endParaRPr lang="en-US" sz="1050" dirty="0"/>
          </a:p>
        </p:txBody>
      </p:sp>
      <p:sp>
        <p:nvSpPr>
          <p:cNvPr id="47" name="Text 45"/>
          <p:cNvSpPr txBox="1"/>
          <p:nvPr/>
        </p:nvSpPr>
        <p:spPr>
          <a:xfrm>
            <a:off x="4428744" y="4215384"/>
            <a:ext cx="1459992" cy="384048"/>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109.1</a:t>
            </a:r>
            <a:endParaRPr lang="en-US" sz="1800" dirty="0"/>
          </a:p>
        </p:txBody>
      </p:sp>
      <p:sp>
        <p:nvSpPr>
          <p:cNvPr id="48" name="Shape 46"/>
          <p:cNvSpPr/>
          <p:nvPr/>
        </p:nvSpPr>
        <p:spPr>
          <a:xfrm>
            <a:off x="6163056" y="3867912"/>
            <a:ext cx="1734312" cy="804672"/>
          </a:xfrm>
          <a:prstGeom prst="roundRect">
            <a:avLst>
              <a:gd name="adj" fmla="val 9091"/>
            </a:avLst>
          </a:prstGeom>
          <a:solidFill>
            <a:srgbClr val="F5F3FF"/>
          </a:solidFill>
          <a:ln w="12700">
            <a:solidFill>
              <a:srgbClr val="F5F3FF"/>
            </a:solidFill>
            <a:prstDash val="solid"/>
          </a:ln>
        </p:spPr>
      </p:sp>
      <p:sp>
        <p:nvSpPr>
          <p:cNvPr id="49" name="Text 47"/>
          <p:cNvSpPr txBox="1"/>
          <p:nvPr/>
        </p:nvSpPr>
        <p:spPr>
          <a:xfrm>
            <a:off x="6300216" y="3959352"/>
            <a:ext cx="1459992" cy="237744"/>
          </a:xfrm>
          <a:prstGeom prst="rect">
            <a:avLst/>
          </a:prstGeom>
          <a:noFill/>
          <a:ln/>
        </p:spPr>
        <p:txBody>
          <a:bodyPr wrap="square" lIns="0" tIns="0" rIns="0" bIns="0" rtlCol="0" anchor="ctr"/>
          <a:lstStyle/>
          <a:p>
            <a:pPr indent="0" marL="0">
              <a:buNone/>
            </a:pPr>
            <a:r>
              <a:rPr lang="en-US" sz="1050" b="1" dirty="0">
                <a:solidFill>
                  <a:srgbClr val="6B7280"/>
                </a:solidFill>
                <a:latin typeface="Calibri" pitchFamily="34" charset="0"/>
                <a:ea typeface="Calibri" pitchFamily="34" charset="-122"/>
                <a:cs typeface="Calibri" pitchFamily="34" charset="-120"/>
              </a:rPr>
              <a:t>Bills / trip</a:t>
            </a:r>
            <a:endParaRPr lang="en-US" sz="1050" dirty="0"/>
          </a:p>
        </p:txBody>
      </p:sp>
      <p:sp>
        <p:nvSpPr>
          <p:cNvPr id="50" name="Text 48"/>
          <p:cNvSpPr txBox="1"/>
          <p:nvPr/>
        </p:nvSpPr>
        <p:spPr>
          <a:xfrm>
            <a:off x="6300216" y="4215384"/>
            <a:ext cx="1459992" cy="384048"/>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13.83</a:t>
            </a:r>
            <a:endParaRPr lang="en-US" sz="1800" dirty="0"/>
          </a:p>
        </p:txBody>
      </p:sp>
      <p:sp>
        <p:nvSpPr>
          <p:cNvPr id="51" name="Shape 49"/>
          <p:cNvSpPr/>
          <p:nvPr/>
        </p:nvSpPr>
        <p:spPr>
          <a:xfrm>
            <a:off x="8034528" y="3867912"/>
            <a:ext cx="1734312" cy="804672"/>
          </a:xfrm>
          <a:prstGeom prst="roundRect">
            <a:avLst>
              <a:gd name="adj" fmla="val 9091"/>
            </a:avLst>
          </a:prstGeom>
          <a:solidFill>
            <a:srgbClr val="F5F3FF"/>
          </a:solidFill>
          <a:ln w="12700">
            <a:solidFill>
              <a:srgbClr val="F5F3FF"/>
            </a:solidFill>
            <a:prstDash val="solid"/>
          </a:ln>
        </p:spPr>
      </p:sp>
      <p:sp>
        <p:nvSpPr>
          <p:cNvPr id="52" name="Text 50"/>
          <p:cNvSpPr txBox="1"/>
          <p:nvPr/>
        </p:nvSpPr>
        <p:spPr>
          <a:xfrm>
            <a:off x="8171688" y="3959352"/>
            <a:ext cx="1459992" cy="237744"/>
          </a:xfrm>
          <a:prstGeom prst="rect">
            <a:avLst/>
          </a:prstGeom>
          <a:noFill/>
          <a:ln/>
        </p:spPr>
        <p:txBody>
          <a:bodyPr wrap="square" lIns="0" tIns="0" rIns="0" bIns="0" rtlCol="0" anchor="ctr"/>
          <a:lstStyle/>
          <a:p>
            <a:pPr indent="0" marL="0">
              <a:buNone/>
            </a:pPr>
            <a:r>
              <a:rPr lang="en-US" sz="1050" b="1" dirty="0">
                <a:solidFill>
                  <a:srgbClr val="6B7280"/>
                </a:solidFill>
                <a:latin typeface="Calibri" pitchFamily="34" charset="0"/>
                <a:ea typeface="Calibri" pitchFamily="34" charset="-122"/>
                <a:cs typeface="Calibri" pitchFamily="34" charset="-120"/>
              </a:rPr>
              <a:t>Delivery bills / trip</a:t>
            </a:r>
            <a:endParaRPr lang="en-US" sz="1050" dirty="0"/>
          </a:p>
        </p:txBody>
      </p:sp>
      <p:sp>
        <p:nvSpPr>
          <p:cNvPr id="53" name="Text 51"/>
          <p:cNvSpPr txBox="1"/>
          <p:nvPr/>
        </p:nvSpPr>
        <p:spPr>
          <a:xfrm>
            <a:off x="8171688" y="4215384"/>
            <a:ext cx="1459992" cy="384048"/>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9.19</a:t>
            </a:r>
            <a:endParaRPr lang="en-US" sz="1800" dirty="0"/>
          </a:p>
        </p:txBody>
      </p:sp>
      <p:sp>
        <p:nvSpPr>
          <p:cNvPr id="54" name="Shape 52"/>
          <p:cNvSpPr/>
          <p:nvPr/>
        </p:nvSpPr>
        <p:spPr>
          <a:xfrm>
            <a:off x="9906000" y="3867912"/>
            <a:ext cx="1734312" cy="804672"/>
          </a:xfrm>
          <a:prstGeom prst="roundRect">
            <a:avLst>
              <a:gd name="adj" fmla="val 9091"/>
            </a:avLst>
          </a:prstGeom>
          <a:solidFill>
            <a:srgbClr val="F5F3FF"/>
          </a:solidFill>
          <a:ln w="12700">
            <a:solidFill>
              <a:srgbClr val="F5F3FF"/>
            </a:solidFill>
            <a:prstDash val="solid"/>
          </a:ln>
        </p:spPr>
      </p:sp>
      <p:sp>
        <p:nvSpPr>
          <p:cNvPr id="55" name="Text 53"/>
          <p:cNvSpPr txBox="1"/>
          <p:nvPr/>
        </p:nvSpPr>
        <p:spPr>
          <a:xfrm>
            <a:off x="10043160" y="3959352"/>
            <a:ext cx="1459992" cy="237744"/>
          </a:xfrm>
          <a:prstGeom prst="rect">
            <a:avLst/>
          </a:prstGeom>
          <a:noFill/>
          <a:ln/>
        </p:spPr>
        <p:txBody>
          <a:bodyPr wrap="square" lIns="0" tIns="0" rIns="0" bIns="0" rtlCol="0" anchor="ctr"/>
          <a:lstStyle/>
          <a:p>
            <a:pPr indent="0" marL="0">
              <a:buNone/>
            </a:pPr>
            <a:r>
              <a:rPr lang="en-US" sz="1050" b="1" dirty="0">
                <a:solidFill>
                  <a:srgbClr val="6B7280"/>
                </a:solidFill>
                <a:latin typeface="Calibri" pitchFamily="34" charset="0"/>
                <a:ea typeface="Calibri" pitchFamily="34" charset="-122"/>
                <a:cs typeface="Calibri" pitchFamily="34" charset="-120"/>
              </a:rPr>
              <a:t>Pickup bills / trip</a:t>
            </a:r>
            <a:endParaRPr lang="en-US" sz="1050" dirty="0"/>
          </a:p>
        </p:txBody>
      </p:sp>
      <p:sp>
        <p:nvSpPr>
          <p:cNvPr id="56" name="Text 54"/>
          <p:cNvSpPr txBox="1"/>
          <p:nvPr/>
        </p:nvSpPr>
        <p:spPr>
          <a:xfrm>
            <a:off x="10043160" y="4215384"/>
            <a:ext cx="1459992" cy="384048"/>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5.70</a:t>
            </a:r>
            <a:endParaRPr lang="en-US" sz="1800" dirty="0"/>
          </a:p>
        </p:txBody>
      </p:sp>
      <p:sp>
        <p:nvSpPr>
          <p:cNvPr id="57" name="Shape 55"/>
          <p:cNvSpPr/>
          <p:nvPr/>
        </p:nvSpPr>
        <p:spPr>
          <a:xfrm>
            <a:off x="548640" y="4782312"/>
            <a:ext cx="1734312" cy="804672"/>
          </a:xfrm>
          <a:prstGeom prst="roundRect">
            <a:avLst>
              <a:gd name="adj" fmla="val 9091"/>
            </a:avLst>
          </a:prstGeom>
          <a:solidFill>
            <a:srgbClr val="F5F3FF"/>
          </a:solidFill>
          <a:ln w="12700">
            <a:solidFill>
              <a:srgbClr val="F5F3FF"/>
            </a:solidFill>
            <a:prstDash val="solid"/>
          </a:ln>
        </p:spPr>
      </p:sp>
      <p:sp>
        <p:nvSpPr>
          <p:cNvPr id="58" name="Text 56"/>
          <p:cNvSpPr txBox="1"/>
          <p:nvPr/>
        </p:nvSpPr>
        <p:spPr>
          <a:xfrm>
            <a:off x="685800" y="4873752"/>
            <a:ext cx="1459992" cy="237744"/>
          </a:xfrm>
          <a:prstGeom prst="rect">
            <a:avLst/>
          </a:prstGeom>
          <a:noFill/>
          <a:ln/>
        </p:spPr>
        <p:txBody>
          <a:bodyPr wrap="square" lIns="0" tIns="0" rIns="0" bIns="0" rtlCol="0" anchor="ctr"/>
          <a:lstStyle/>
          <a:p>
            <a:pPr indent="0" marL="0">
              <a:buNone/>
            </a:pPr>
            <a:r>
              <a:rPr lang="en-US" sz="1050" b="1" dirty="0">
                <a:solidFill>
                  <a:srgbClr val="6B7280"/>
                </a:solidFill>
                <a:latin typeface="Calibri" pitchFamily="34" charset="0"/>
                <a:ea typeface="Calibri" pitchFamily="34" charset="-122"/>
                <a:cs typeface="Calibri" pitchFamily="34" charset="-120"/>
              </a:rPr>
              <a:t>Miles / stop</a:t>
            </a:r>
            <a:endParaRPr lang="en-US" sz="1050" dirty="0"/>
          </a:p>
        </p:txBody>
      </p:sp>
      <p:sp>
        <p:nvSpPr>
          <p:cNvPr id="59" name="Text 57"/>
          <p:cNvSpPr txBox="1"/>
          <p:nvPr/>
        </p:nvSpPr>
        <p:spPr>
          <a:xfrm>
            <a:off x="685800" y="5129784"/>
            <a:ext cx="1459992" cy="384048"/>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16.82</a:t>
            </a:r>
            <a:endParaRPr lang="en-US" sz="1800" dirty="0"/>
          </a:p>
        </p:txBody>
      </p:sp>
      <p:sp>
        <p:nvSpPr>
          <p:cNvPr id="60" name="Shape 58"/>
          <p:cNvSpPr/>
          <p:nvPr/>
        </p:nvSpPr>
        <p:spPr>
          <a:xfrm>
            <a:off x="2420112" y="4782312"/>
            <a:ext cx="1734312" cy="804672"/>
          </a:xfrm>
          <a:prstGeom prst="roundRect">
            <a:avLst>
              <a:gd name="adj" fmla="val 9091"/>
            </a:avLst>
          </a:prstGeom>
          <a:solidFill>
            <a:srgbClr val="F5F3FF"/>
          </a:solidFill>
          <a:ln w="12700">
            <a:solidFill>
              <a:srgbClr val="F5F3FF"/>
            </a:solidFill>
            <a:prstDash val="solid"/>
          </a:ln>
        </p:spPr>
      </p:sp>
      <p:sp>
        <p:nvSpPr>
          <p:cNvPr id="61" name="Text 59"/>
          <p:cNvSpPr txBox="1"/>
          <p:nvPr/>
        </p:nvSpPr>
        <p:spPr>
          <a:xfrm>
            <a:off x="2557272" y="4873752"/>
            <a:ext cx="1459992" cy="237744"/>
          </a:xfrm>
          <a:prstGeom prst="rect">
            <a:avLst/>
          </a:prstGeom>
          <a:noFill/>
          <a:ln/>
        </p:spPr>
        <p:txBody>
          <a:bodyPr wrap="square" lIns="0" tIns="0" rIns="0" bIns="0" rtlCol="0" anchor="ctr"/>
          <a:lstStyle/>
          <a:p>
            <a:pPr indent="0" marL="0">
              <a:buNone/>
            </a:pPr>
            <a:r>
              <a:rPr lang="en-US" sz="1050" b="1" dirty="0">
                <a:solidFill>
                  <a:srgbClr val="6B7280"/>
                </a:solidFill>
                <a:latin typeface="Calibri" pitchFamily="34" charset="0"/>
                <a:ea typeface="Calibri" pitchFamily="34" charset="-122"/>
                <a:cs typeface="Calibri" pitchFamily="34" charset="-120"/>
              </a:rPr>
              <a:t>Weight / stop</a:t>
            </a:r>
            <a:endParaRPr lang="en-US" sz="1050" dirty="0"/>
          </a:p>
        </p:txBody>
      </p:sp>
      <p:sp>
        <p:nvSpPr>
          <p:cNvPr id="62" name="Text 60"/>
          <p:cNvSpPr txBox="1"/>
          <p:nvPr/>
        </p:nvSpPr>
        <p:spPr>
          <a:xfrm>
            <a:off x="2557272" y="5129784"/>
            <a:ext cx="1459992" cy="384048"/>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707 lbs</a:t>
            </a:r>
            <a:endParaRPr lang="en-US" sz="1800" dirty="0"/>
          </a:p>
        </p:txBody>
      </p:sp>
      <p:sp>
        <p:nvSpPr>
          <p:cNvPr id="63" name="Shape 61"/>
          <p:cNvSpPr/>
          <p:nvPr/>
        </p:nvSpPr>
        <p:spPr>
          <a:xfrm>
            <a:off x="4291584" y="4782312"/>
            <a:ext cx="1734312" cy="804672"/>
          </a:xfrm>
          <a:prstGeom prst="roundRect">
            <a:avLst>
              <a:gd name="adj" fmla="val 9091"/>
            </a:avLst>
          </a:prstGeom>
          <a:solidFill>
            <a:srgbClr val="F5F3FF"/>
          </a:solidFill>
          <a:ln w="12700">
            <a:solidFill>
              <a:srgbClr val="F5F3FF"/>
            </a:solidFill>
            <a:prstDash val="solid"/>
          </a:ln>
        </p:spPr>
      </p:sp>
      <p:sp>
        <p:nvSpPr>
          <p:cNvPr id="64" name="Text 62"/>
          <p:cNvSpPr txBox="1"/>
          <p:nvPr/>
        </p:nvSpPr>
        <p:spPr>
          <a:xfrm>
            <a:off x="4428744" y="4873752"/>
            <a:ext cx="1459992" cy="237744"/>
          </a:xfrm>
          <a:prstGeom prst="rect">
            <a:avLst/>
          </a:prstGeom>
          <a:noFill/>
          <a:ln/>
        </p:spPr>
        <p:txBody>
          <a:bodyPr wrap="square" lIns="0" tIns="0" rIns="0" bIns="0" rtlCol="0" anchor="ctr"/>
          <a:lstStyle/>
          <a:p>
            <a:pPr indent="0" marL="0">
              <a:buNone/>
            </a:pPr>
            <a:r>
              <a:rPr lang="en-US" sz="1050" b="1" dirty="0">
                <a:solidFill>
                  <a:srgbClr val="6B7280"/>
                </a:solidFill>
                <a:latin typeface="Calibri" pitchFamily="34" charset="0"/>
                <a:ea typeface="Calibri" pitchFamily="34" charset="-122"/>
                <a:cs typeface="Calibri" pitchFamily="34" charset="-120"/>
              </a:rPr>
              <a:t>Weight / bill</a:t>
            </a:r>
            <a:endParaRPr lang="en-US" sz="1050" dirty="0"/>
          </a:p>
        </p:txBody>
      </p:sp>
      <p:sp>
        <p:nvSpPr>
          <p:cNvPr id="65" name="Text 63"/>
          <p:cNvSpPr txBox="1"/>
          <p:nvPr/>
        </p:nvSpPr>
        <p:spPr>
          <a:xfrm>
            <a:off x="4428744" y="5129784"/>
            <a:ext cx="1459992" cy="384048"/>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507 lbs</a:t>
            </a:r>
            <a:endParaRPr lang="en-US" sz="1800" dirty="0"/>
          </a:p>
        </p:txBody>
      </p:sp>
      <p:sp>
        <p:nvSpPr>
          <p:cNvPr id="66" name="Shape 64"/>
          <p:cNvSpPr/>
          <p:nvPr/>
        </p:nvSpPr>
        <p:spPr>
          <a:xfrm>
            <a:off x="6163056" y="4782312"/>
            <a:ext cx="1734312" cy="804672"/>
          </a:xfrm>
          <a:prstGeom prst="roundRect">
            <a:avLst>
              <a:gd name="adj" fmla="val 9091"/>
            </a:avLst>
          </a:prstGeom>
          <a:solidFill>
            <a:srgbClr val="F5F3FF"/>
          </a:solidFill>
          <a:ln w="12700">
            <a:solidFill>
              <a:srgbClr val="F5F3FF"/>
            </a:solidFill>
            <a:prstDash val="solid"/>
          </a:ln>
        </p:spPr>
      </p:sp>
      <p:sp>
        <p:nvSpPr>
          <p:cNvPr id="67" name="Text 65"/>
          <p:cNvSpPr txBox="1"/>
          <p:nvPr/>
        </p:nvSpPr>
        <p:spPr>
          <a:xfrm>
            <a:off x="6300216" y="4873752"/>
            <a:ext cx="1459992" cy="237744"/>
          </a:xfrm>
          <a:prstGeom prst="rect">
            <a:avLst/>
          </a:prstGeom>
          <a:noFill/>
          <a:ln/>
        </p:spPr>
        <p:txBody>
          <a:bodyPr wrap="square" lIns="0" tIns="0" rIns="0" bIns="0" rtlCol="0" anchor="ctr"/>
          <a:lstStyle/>
          <a:p>
            <a:pPr indent="0" marL="0">
              <a:buNone/>
            </a:pPr>
            <a:r>
              <a:rPr lang="en-US" sz="1050" b="1" dirty="0">
                <a:solidFill>
                  <a:srgbClr val="6B7280"/>
                </a:solidFill>
                <a:latin typeface="Calibri" pitchFamily="34" charset="0"/>
                <a:ea typeface="Calibri" pitchFamily="34" charset="-122"/>
                <a:cs typeface="Calibri" pitchFamily="34" charset="-120"/>
              </a:rPr>
              <a:t>Miles / hour</a:t>
            </a:r>
            <a:endParaRPr lang="en-US" sz="1050" dirty="0"/>
          </a:p>
        </p:txBody>
      </p:sp>
      <p:sp>
        <p:nvSpPr>
          <p:cNvPr id="68" name="Text 66"/>
          <p:cNvSpPr txBox="1"/>
          <p:nvPr/>
        </p:nvSpPr>
        <p:spPr>
          <a:xfrm>
            <a:off x="6300216" y="5129784"/>
            <a:ext cx="1459992" cy="384048"/>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35.13</a:t>
            </a:r>
            <a:endParaRPr lang="en-US" sz="1800" dirty="0"/>
          </a:p>
        </p:txBody>
      </p:sp>
      <p:sp>
        <p:nvSpPr>
          <p:cNvPr id="69" name="Shape 67"/>
          <p:cNvSpPr/>
          <p:nvPr/>
        </p:nvSpPr>
        <p:spPr>
          <a:xfrm>
            <a:off x="8034528" y="4782312"/>
            <a:ext cx="1734312" cy="804672"/>
          </a:xfrm>
          <a:prstGeom prst="roundRect">
            <a:avLst>
              <a:gd name="adj" fmla="val 9091"/>
            </a:avLst>
          </a:prstGeom>
          <a:solidFill>
            <a:srgbClr val="F5F3FF"/>
          </a:solidFill>
          <a:ln w="12700">
            <a:solidFill>
              <a:srgbClr val="F5F3FF"/>
            </a:solidFill>
            <a:prstDash val="solid"/>
          </a:ln>
        </p:spPr>
      </p:sp>
      <p:sp>
        <p:nvSpPr>
          <p:cNvPr id="70" name="Text 68"/>
          <p:cNvSpPr txBox="1"/>
          <p:nvPr/>
        </p:nvSpPr>
        <p:spPr>
          <a:xfrm>
            <a:off x="8171688" y="4873752"/>
            <a:ext cx="1459992" cy="237744"/>
          </a:xfrm>
          <a:prstGeom prst="rect">
            <a:avLst/>
          </a:prstGeom>
          <a:noFill/>
          <a:ln/>
        </p:spPr>
        <p:txBody>
          <a:bodyPr wrap="square" lIns="0" tIns="0" rIns="0" bIns="0" rtlCol="0" anchor="ctr"/>
          <a:lstStyle/>
          <a:p>
            <a:pPr indent="0" marL="0">
              <a:buNone/>
            </a:pPr>
            <a:r>
              <a:rPr lang="en-US" sz="1050" b="1" dirty="0">
                <a:solidFill>
                  <a:srgbClr val="6B7280"/>
                </a:solidFill>
                <a:latin typeface="Calibri" pitchFamily="34" charset="0"/>
                <a:ea typeface="Calibri" pitchFamily="34" charset="-122"/>
                <a:cs typeface="Calibri" pitchFamily="34" charset="-120"/>
              </a:rPr>
              <a:t>Stops / hour</a:t>
            </a:r>
            <a:endParaRPr lang="en-US" sz="1050" dirty="0"/>
          </a:p>
        </p:txBody>
      </p:sp>
      <p:sp>
        <p:nvSpPr>
          <p:cNvPr id="71" name="Text 69"/>
          <p:cNvSpPr txBox="1"/>
          <p:nvPr/>
        </p:nvSpPr>
        <p:spPr>
          <a:xfrm>
            <a:off x="8171688" y="5129784"/>
            <a:ext cx="1459992" cy="384048"/>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2.09</a:t>
            </a:r>
            <a:endParaRPr lang="en-US" sz="1800" dirty="0"/>
          </a:p>
        </p:txBody>
      </p:sp>
      <p:sp>
        <p:nvSpPr>
          <p:cNvPr id="72" name="Shape 70"/>
          <p:cNvSpPr/>
          <p:nvPr/>
        </p:nvSpPr>
        <p:spPr>
          <a:xfrm>
            <a:off x="9906000" y="4782312"/>
            <a:ext cx="1734312" cy="804672"/>
          </a:xfrm>
          <a:prstGeom prst="roundRect">
            <a:avLst>
              <a:gd name="adj" fmla="val 9091"/>
            </a:avLst>
          </a:prstGeom>
          <a:solidFill>
            <a:srgbClr val="F5F3FF"/>
          </a:solidFill>
          <a:ln w="12700">
            <a:solidFill>
              <a:srgbClr val="F5F3FF"/>
            </a:solidFill>
            <a:prstDash val="solid"/>
          </a:ln>
        </p:spPr>
      </p:sp>
      <p:sp>
        <p:nvSpPr>
          <p:cNvPr id="73" name="Text 71"/>
          <p:cNvSpPr txBox="1"/>
          <p:nvPr/>
        </p:nvSpPr>
        <p:spPr>
          <a:xfrm>
            <a:off x="10043160" y="4873752"/>
            <a:ext cx="1459992" cy="237744"/>
          </a:xfrm>
          <a:prstGeom prst="rect">
            <a:avLst/>
          </a:prstGeom>
          <a:noFill/>
          <a:ln/>
        </p:spPr>
        <p:txBody>
          <a:bodyPr wrap="square" lIns="0" tIns="0" rIns="0" bIns="0" rtlCol="0" anchor="ctr"/>
          <a:lstStyle/>
          <a:p>
            <a:pPr indent="0" marL="0">
              <a:buNone/>
            </a:pPr>
            <a:r>
              <a:rPr lang="en-US" sz="1050" b="1" dirty="0">
                <a:solidFill>
                  <a:srgbClr val="6B7280"/>
                </a:solidFill>
                <a:latin typeface="Calibri" pitchFamily="34" charset="0"/>
                <a:ea typeface="Calibri" pitchFamily="34" charset="-122"/>
                <a:cs typeface="Calibri" pitchFamily="34" charset="-120"/>
              </a:rPr>
              <a:t>Hours / trip</a:t>
            </a:r>
            <a:endParaRPr lang="en-US" sz="1050" dirty="0"/>
          </a:p>
        </p:txBody>
      </p:sp>
      <p:sp>
        <p:nvSpPr>
          <p:cNvPr id="74" name="Text 72"/>
          <p:cNvSpPr txBox="1"/>
          <p:nvPr/>
        </p:nvSpPr>
        <p:spPr>
          <a:xfrm>
            <a:off x="10043160" y="5129784"/>
            <a:ext cx="1459992" cy="384048"/>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4.75</a:t>
            </a:r>
            <a:endParaRPr lang="en-US" sz="1800" dirty="0"/>
          </a:p>
        </p:txBody>
      </p:sp>
      <p:sp>
        <p:nvSpPr>
          <p:cNvPr id="75" name="Text 73"/>
          <p:cNvSpPr txBox="1"/>
          <p:nvPr/>
        </p:nvSpPr>
        <p:spPr>
          <a:xfrm>
            <a:off x="548640" y="6108192"/>
            <a:ext cx="11091672" cy="256032"/>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Source: P&amp;D daily totals dashboard — Mississauga, F27 Q1 (Jul–Sep 2026).</a:t>
            </a:r>
            <a:endParaRPr lang="en-US" sz="950" dirty="0"/>
          </a:p>
        </p:txBody>
      </p:sp>
      <p:sp>
        <p:nvSpPr>
          <p:cNvPr id="76" name="Text 74"/>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Mississauga Terminal · F27 Senior Leadership Review · Sep 29, 2026</a:t>
            </a:r>
            <a:endParaRPr lang="en-US" sz="900" dirty="0"/>
          </a:p>
        </p:txBody>
      </p:sp>
      <p:sp>
        <p:nvSpPr>
          <p:cNvPr id="77" name="Text 75"/>
          <p:cNvSpPr txBox="1"/>
          <p:nvPr/>
        </p:nvSpPr>
        <p:spPr>
          <a:xfrm>
            <a:off x="10725912" y="6473952"/>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17 / 21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Calibri" pitchFamily="34" charset="0"/>
                <a:ea typeface="Calibri" pitchFamily="34" charset="-122"/>
                <a:cs typeface="Calibri" pitchFamily="34" charset="-120"/>
              </a:rPr>
              <a:t>PRODUCTIVITY</a:t>
            </a:r>
            <a:endParaRPr lang="en-US" sz="1200" dirty="0"/>
          </a:p>
        </p:txBody>
      </p:sp>
      <p:sp>
        <p:nvSpPr>
          <p:cNvPr id="3" name="Text 1"/>
          <p:cNvSpPr txBox="1"/>
          <p:nvPr/>
        </p:nvSpPr>
        <p:spPr>
          <a:xfrm>
            <a:off x="548640" y="603504"/>
            <a:ext cx="11091672" cy="603504"/>
          </a:xfrm>
          <a:prstGeom prst="rect">
            <a:avLst/>
          </a:prstGeom>
          <a:noFill/>
          <a:ln/>
        </p:spPr>
        <p:txBody>
          <a:bodyPr wrap="square" lIns="0" tIns="0" rIns="0" bIns="0" rtlCol="0" anchor="t"/>
          <a:lstStyle/>
          <a:p>
            <a:pPr indent="0" marL="0">
              <a:buNone/>
            </a:pPr>
            <a:r>
              <a:rPr lang="en-US" sz="3000" b="1" dirty="0">
                <a:solidFill>
                  <a:srgbClr val="111827"/>
                </a:solidFill>
                <a:latin typeface="Calibri" pitchFamily="34" charset="0"/>
                <a:ea typeface="Calibri" pitchFamily="34" charset="-122"/>
                <a:cs typeface="Calibri" pitchFamily="34" charset="-120"/>
              </a:rPr>
              <a:t>Load factor — September</a:t>
            </a:r>
            <a:endParaRPr lang="en-US" sz="3000" dirty="0"/>
          </a:p>
        </p:txBody>
      </p:sp>
      <p:sp>
        <p:nvSpPr>
          <p:cNvPr id="4" name="Text 2"/>
          <p:cNvSpPr txBox="1"/>
          <p:nvPr/>
        </p:nvSpPr>
        <p:spPr>
          <a:xfrm>
            <a:off x="548640" y="1261872"/>
            <a:ext cx="10972800" cy="320040"/>
          </a:xfrm>
          <a:prstGeom prst="rect">
            <a:avLst/>
          </a:prstGeom>
          <a:noFill/>
          <a:ln/>
        </p:spPr>
        <p:txBody>
          <a:bodyPr wrap="square" lIns="0" tIns="0" rIns="0" bIns="0" rtlCol="0" anchor="ctr"/>
          <a:lstStyle/>
          <a:p>
            <a:pPr indent="0" marL="0">
              <a:buNone/>
            </a:pPr>
            <a:r>
              <a:rPr lang="en-US" sz="1500" dirty="0">
                <a:solidFill>
                  <a:srgbClr val="6B7280"/>
                </a:solidFill>
                <a:latin typeface="Calibri" pitchFamily="34" charset="0"/>
                <a:ea typeface="Calibri" pitchFamily="34" charset="-122"/>
                <a:cs typeface="Calibri" pitchFamily="34" charset="-120"/>
              </a:rPr>
              <a:t>Weekly LF score vs </a:t>
            </a:r>
            <a:pPr indent="0" marL="0">
              <a:buNone/>
            </a:pPr>
            <a:r>
              <a:rPr lang="en-US" sz="1500" b="1" dirty="0">
                <a:solidFill>
                  <a:srgbClr val="111827"/>
                </a:solidFill>
                <a:latin typeface="Calibri" pitchFamily="34" charset="0"/>
                <a:ea typeface="Calibri" pitchFamily="34" charset="-122"/>
                <a:cs typeface="Calibri" pitchFamily="34" charset="-120"/>
              </a:rPr>
              <a:t>80%</a:t>
            </a:r>
            <a:pPr indent="0" marL="0">
              <a:buNone/>
            </a:pPr>
            <a:r>
              <a:rPr lang="en-US" sz="1500" dirty="0">
                <a:solidFill>
                  <a:srgbClr val="6B7280"/>
                </a:solidFill>
                <a:latin typeface="Calibri" pitchFamily="34" charset="0"/>
                <a:ea typeface="Calibri" pitchFamily="34" charset="-122"/>
                <a:cs typeface="Calibri" pitchFamily="34" charset="-120"/>
              </a:rPr>
              <a:t> target  ·  load % vs </a:t>
            </a:r>
            <a:pPr indent="0" marL="0">
              <a:buNone/>
            </a:pPr>
            <a:r>
              <a:rPr lang="en-US" sz="1500" b="1" dirty="0">
                <a:solidFill>
                  <a:srgbClr val="111827"/>
                </a:solidFill>
                <a:latin typeface="Calibri" pitchFamily="34" charset="0"/>
                <a:ea typeface="Calibri" pitchFamily="34" charset="-122"/>
                <a:cs typeface="Calibri" pitchFamily="34" charset="-120"/>
              </a:rPr>
              <a:t>98%</a:t>
            </a:r>
            <a:pPr indent="0" marL="0">
              <a:buNone/>
            </a:pPr>
            <a:r>
              <a:rPr lang="en-US" sz="1500" dirty="0">
                <a:solidFill>
                  <a:srgbClr val="6B7280"/>
                </a:solidFill>
                <a:latin typeface="Calibri" pitchFamily="34" charset="0"/>
                <a:ea typeface="Calibri" pitchFamily="34" charset="-122"/>
                <a:cs typeface="Calibri" pitchFamily="34" charset="-120"/>
              </a:rPr>
              <a:t> target</a:t>
            </a:r>
            <a:endParaRPr lang="en-US" sz="1500" dirty="0"/>
          </a:p>
        </p:txBody>
      </p:sp>
      <p:sp>
        <p:nvSpPr>
          <p:cNvPr id="5" name="Shape 3"/>
          <p:cNvSpPr/>
          <p:nvPr/>
        </p:nvSpPr>
        <p:spPr>
          <a:xfrm>
            <a:off x="548640" y="1783080"/>
            <a:ext cx="2567178" cy="3291840"/>
          </a:xfrm>
          <a:prstGeom prst="roundRect">
            <a:avLst>
              <a:gd name="adj" fmla="val 2850"/>
            </a:avLst>
          </a:prstGeom>
          <a:solidFill>
            <a:srgbClr val="F3F4F6"/>
          </a:solidFill>
          <a:ln w="12700">
            <a:solidFill>
              <a:srgbClr val="F3F4F6"/>
            </a:solidFill>
            <a:prstDash val="solid"/>
          </a:ln>
        </p:spPr>
      </p:sp>
      <p:sp>
        <p:nvSpPr>
          <p:cNvPr id="6" name="Shape 4"/>
          <p:cNvSpPr/>
          <p:nvPr/>
        </p:nvSpPr>
        <p:spPr>
          <a:xfrm>
            <a:off x="777240" y="2011680"/>
            <a:ext cx="457200" cy="457200"/>
          </a:xfrm>
          <a:prstGeom prst="ellipse">
            <a:avLst/>
          </a:prstGeom>
          <a:solidFill>
            <a:srgbClr val="7C3AED"/>
          </a:solidFill>
          <a:ln w="12700">
            <a:solidFill>
              <a:srgbClr val="7C3AED"/>
            </a:solidFill>
            <a:prstDash val="solid"/>
          </a:ln>
        </p:spPr>
      </p:sp>
      <p:sp>
        <p:nvSpPr>
          <p:cNvPr id="7" name="Text 5"/>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371600" y="2011680"/>
            <a:ext cx="1561338" cy="45720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Sep 1–5</a:t>
            </a:r>
            <a:endParaRPr lang="en-US" sz="1600" dirty="0"/>
          </a:p>
        </p:txBody>
      </p:sp>
      <p:sp>
        <p:nvSpPr>
          <p:cNvPr id="9" name="Text 7"/>
          <p:cNvSpPr txBox="1"/>
          <p:nvPr/>
        </p:nvSpPr>
        <p:spPr>
          <a:xfrm>
            <a:off x="777240" y="2651760"/>
            <a:ext cx="2109978" cy="274320"/>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LF score</a:t>
            </a:r>
            <a:endParaRPr lang="en-US" sz="1200" dirty="0"/>
          </a:p>
        </p:txBody>
      </p:sp>
      <p:sp>
        <p:nvSpPr>
          <p:cNvPr id="10" name="Text 8"/>
          <p:cNvSpPr txBox="1"/>
          <p:nvPr/>
        </p:nvSpPr>
        <p:spPr>
          <a:xfrm>
            <a:off x="777240" y="2898648"/>
            <a:ext cx="2109978" cy="594360"/>
          </a:xfrm>
          <a:prstGeom prst="rect">
            <a:avLst/>
          </a:prstGeom>
          <a:noFill/>
          <a:ln/>
        </p:spPr>
        <p:txBody>
          <a:bodyPr wrap="square" lIns="0" tIns="0" rIns="0" bIns="0" rtlCol="0" anchor="ctr"/>
          <a:lstStyle/>
          <a:p>
            <a:pPr indent="0" marL="0">
              <a:buNone/>
            </a:pPr>
            <a:r>
              <a:rPr lang="en-US" sz="3200" b="1" dirty="0">
                <a:solidFill>
                  <a:srgbClr val="D97706"/>
                </a:solidFill>
                <a:latin typeface="Calibri" pitchFamily="34" charset="0"/>
                <a:ea typeface="Calibri" pitchFamily="34" charset="-122"/>
                <a:cs typeface="Calibri" pitchFamily="34" charset="-120"/>
              </a:rPr>
              <a:t>TBC</a:t>
            </a:r>
            <a:endParaRPr lang="en-US" sz="3200" dirty="0"/>
          </a:p>
        </p:txBody>
      </p:sp>
      <p:sp>
        <p:nvSpPr>
          <p:cNvPr id="11" name="Text 9"/>
          <p:cNvSpPr txBox="1"/>
          <p:nvPr/>
        </p:nvSpPr>
        <p:spPr>
          <a:xfrm>
            <a:off x="777240" y="3493008"/>
            <a:ext cx="2109978" cy="2286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Target 80%</a:t>
            </a:r>
            <a:endParaRPr lang="en-US" sz="1100" dirty="0"/>
          </a:p>
        </p:txBody>
      </p:sp>
      <p:sp>
        <p:nvSpPr>
          <p:cNvPr id="12" name="Text 10"/>
          <p:cNvSpPr txBox="1"/>
          <p:nvPr/>
        </p:nvSpPr>
        <p:spPr>
          <a:xfrm>
            <a:off x="777240" y="3886200"/>
            <a:ext cx="2109978" cy="274320"/>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Load %</a:t>
            </a:r>
            <a:endParaRPr lang="en-US" sz="1200" dirty="0"/>
          </a:p>
        </p:txBody>
      </p:sp>
      <p:sp>
        <p:nvSpPr>
          <p:cNvPr id="13" name="Text 11"/>
          <p:cNvSpPr txBox="1"/>
          <p:nvPr/>
        </p:nvSpPr>
        <p:spPr>
          <a:xfrm>
            <a:off x="777240" y="4133088"/>
            <a:ext cx="2109978" cy="594360"/>
          </a:xfrm>
          <a:prstGeom prst="rect">
            <a:avLst/>
          </a:prstGeom>
          <a:noFill/>
          <a:ln/>
        </p:spPr>
        <p:txBody>
          <a:bodyPr wrap="square" lIns="0" tIns="0" rIns="0" bIns="0" rtlCol="0" anchor="ctr"/>
          <a:lstStyle/>
          <a:p>
            <a:pPr indent="0" marL="0">
              <a:buNone/>
            </a:pPr>
            <a:r>
              <a:rPr lang="en-US" sz="3200" b="1" dirty="0">
                <a:solidFill>
                  <a:srgbClr val="D97706"/>
                </a:solidFill>
                <a:latin typeface="Calibri" pitchFamily="34" charset="0"/>
                <a:ea typeface="Calibri" pitchFamily="34" charset="-122"/>
                <a:cs typeface="Calibri" pitchFamily="34" charset="-120"/>
              </a:rPr>
              <a:t>TBC</a:t>
            </a:r>
            <a:endParaRPr lang="en-US" sz="3200" dirty="0"/>
          </a:p>
        </p:txBody>
      </p:sp>
      <p:sp>
        <p:nvSpPr>
          <p:cNvPr id="14" name="Text 12"/>
          <p:cNvSpPr txBox="1"/>
          <p:nvPr/>
        </p:nvSpPr>
        <p:spPr>
          <a:xfrm>
            <a:off x="777240" y="4727448"/>
            <a:ext cx="2109978" cy="2286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Target 98%</a:t>
            </a:r>
            <a:endParaRPr lang="en-US" sz="1100" dirty="0"/>
          </a:p>
        </p:txBody>
      </p:sp>
      <p:sp>
        <p:nvSpPr>
          <p:cNvPr id="15" name="Shape 13"/>
          <p:cNvSpPr/>
          <p:nvPr/>
        </p:nvSpPr>
        <p:spPr>
          <a:xfrm>
            <a:off x="3390138" y="1783080"/>
            <a:ext cx="2567178" cy="3291840"/>
          </a:xfrm>
          <a:prstGeom prst="roundRect">
            <a:avLst>
              <a:gd name="adj" fmla="val 2850"/>
            </a:avLst>
          </a:prstGeom>
          <a:solidFill>
            <a:srgbClr val="F3F4F6"/>
          </a:solidFill>
          <a:ln w="12700">
            <a:solidFill>
              <a:srgbClr val="F3F4F6"/>
            </a:solidFill>
            <a:prstDash val="solid"/>
          </a:ln>
        </p:spPr>
      </p:sp>
      <p:sp>
        <p:nvSpPr>
          <p:cNvPr id="16" name="Shape 14"/>
          <p:cNvSpPr/>
          <p:nvPr/>
        </p:nvSpPr>
        <p:spPr>
          <a:xfrm>
            <a:off x="3618738" y="2011680"/>
            <a:ext cx="457200" cy="457200"/>
          </a:xfrm>
          <a:prstGeom prst="ellipse">
            <a:avLst/>
          </a:prstGeom>
          <a:solidFill>
            <a:srgbClr val="7C3AED"/>
          </a:solidFill>
          <a:ln w="12700">
            <a:solidFill>
              <a:srgbClr val="7C3AED"/>
            </a:solidFill>
            <a:prstDash val="solid"/>
          </a:ln>
        </p:spPr>
      </p:sp>
      <p:sp>
        <p:nvSpPr>
          <p:cNvPr id="17" name="Text 15"/>
          <p:cNvSpPr txBox="1"/>
          <p:nvPr/>
        </p:nvSpPr>
        <p:spPr>
          <a:xfrm>
            <a:off x="3618738"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4213098" y="2011680"/>
            <a:ext cx="1561338" cy="45720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Sep 6–12</a:t>
            </a:r>
            <a:endParaRPr lang="en-US" sz="1600" dirty="0"/>
          </a:p>
        </p:txBody>
      </p:sp>
      <p:sp>
        <p:nvSpPr>
          <p:cNvPr id="19" name="Text 17"/>
          <p:cNvSpPr txBox="1"/>
          <p:nvPr/>
        </p:nvSpPr>
        <p:spPr>
          <a:xfrm>
            <a:off x="3618738" y="2651760"/>
            <a:ext cx="2109978" cy="274320"/>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LF score</a:t>
            </a:r>
            <a:endParaRPr lang="en-US" sz="1200" dirty="0"/>
          </a:p>
        </p:txBody>
      </p:sp>
      <p:sp>
        <p:nvSpPr>
          <p:cNvPr id="20" name="Text 18"/>
          <p:cNvSpPr txBox="1"/>
          <p:nvPr/>
        </p:nvSpPr>
        <p:spPr>
          <a:xfrm>
            <a:off x="3618738" y="2898648"/>
            <a:ext cx="2109978" cy="594360"/>
          </a:xfrm>
          <a:prstGeom prst="rect">
            <a:avLst/>
          </a:prstGeom>
          <a:noFill/>
          <a:ln/>
        </p:spPr>
        <p:txBody>
          <a:bodyPr wrap="square" lIns="0" tIns="0" rIns="0" bIns="0" rtlCol="0" anchor="ctr"/>
          <a:lstStyle/>
          <a:p>
            <a:pPr indent="0" marL="0">
              <a:buNone/>
            </a:pPr>
            <a:r>
              <a:rPr lang="en-US" sz="3200" b="1" dirty="0">
                <a:solidFill>
                  <a:srgbClr val="D97706"/>
                </a:solidFill>
                <a:latin typeface="Calibri" pitchFamily="34" charset="0"/>
                <a:ea typeface="Calibri" pitchFamily="34" charset="-122"/>
                <a:cs typeface="Calibri" pitchFamily="34" charset="-120"/>
              </a:rPr>
              <a:t>TBC</a:t>
            </a:r>
            <a:endParaRPr lang="en-US" sz="3200" dirty="0"/>
          </a:p>
        </p:txBody>
      </p:sp>
      <p:sp>
        <p:nvSpPr>
          <p:cNvPr id="21" name="Text 19"/>
          <p:cNvSpPr txBox="1"/>
          <p:nvPr/>
        </p:nvSpPr>
        <p:spPr>
          <a:xfrm>
            <a:off x="3618738" y="3493008"/>
            <a:ext cx="2109978" cy="2286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Target 80%</a:t>
            </a:r>
            <a:endParaRPr lang="en-US" sz="1100" dirty="0"/>
          </a:p>
        </p:txBody>
      </p:sp>
      <p:sp>
        <p:nvSpPr>
          <p:cNvPr id="22" name="Text 20"/>
          <p:cNvSpPr txBox="1"/>
          <p:nvPr/>
        </p:nvSpPr>
        <p:spPr>
          <a:xfrm>
            <a:off x="3618738" y="3886200"/>
            <a:ext cx="2109978" cy="274320"/>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Load %</a:t>
            </a:r>
            <a:endParaRPr lang="en-US" sz="1200" dirty="0"/>
          </a:p>
        </p:txBody>
      </p:sp>
      <p:sp>
        <p:nvSpPr>
          <p:cNvPr id="23" name="Text 21"/>
          <p:cNvSpPr txBox="1"/>
          <p:nvPr/>
        </p:nvSpPr>
        <p:spPr>
          <a:xfrm>
            <a:off x="3618738" y="4133088"/>
            <a:ext cx="2109978" cy="594360"/>
          </a:xfrm>
          <a:prstGeom prst="rect">
            <a:avLst/>
          </a:prstGeom>
          <a:noFill/>
          <a:ln/>
        </p:spPr>
        <p:txBody>
          <a:bodyPr wrap="square" lIns="0" tIns="0" rIns="0" bIns="0" rtlCol="0" anchor="ctr"/>
          <a:lstStyle/>
          <a:p>
            <a:pPr indent="0" marL="0">
              <a:buNone/>
            </a:pPr>
            <a:r>
              <a:rPr lang="en-US" sz="3200" b="1" dirty="0">
                <a:solidFill>
                  <a:srgbClr val="D97706"/>
                </a:solidFill>
                <a:latin typeface="Calibri" pitchFamily="34" charset="0"/>
                <a:ea typeface="Calibri" pitchFamily="34" charset="-122"/>
                <a:cs typeface="Calibri" pitchFamily="34" charset="-120"/>
              </a:rPr>
              <a:t>TBC</a:t>
            </a:r>
            <a:endParaRPr lang="en-US" sz="3200" dirty="0"/>
          </a:p>
        </p:txBody>
      </p:sp>
      <p:sp>
        <p:nvSpPr>
          <p:cNvPr id="24" name="Text 22"/>
          <p:cNvSpPr txBox="1"/>
          <p:nvPr/>
        </p:nvSpPr>
        <p:spPr>
          <a:xfrm>
            <a:off x="3618738" y="4727448"/>
            <a:ext cx="2109978" cy="2286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Target 98%</a:t>
            </a:r>
            <a:endParaRPr lang="en-US" sz="1100" dirty="0"/>
          </a:p>
        </p:txBody>
      </p:sp>
      <p:sp>
        <p:nvSpPr>
          <p:cNvPr id="25" name="Shape 23"/>
          <p:cNvSpPr/>
          <p:nvPr/>
        </p:nvSpPr>
        <p:spPr>
          <a:xfrm>
            <a:off x="6231636" y="1783080"/>
            <a:ext cx="2567178" cy="3291840"/>
          </a:xfrm>
          <a:prstGeom prst="roundRect">
            <a:avLst>
              <a:gd name="adj" fmla="val 2850"/>
            </a:avLst>
          </a:prstGeom>
          <a:solidFill>
            <a:srgbClr val="F3F4F6"/>
          </a:solidFill>
          <a:ln w="12700">
            <a:solidFill>
              <a:srgbClr val="F3F4F6"/>
            </a:solidFill>
            <a:prstDash val="solid"/>
          </a:ln>
        </p:spPr>
      </p:sp>
      <p:sp>
        <p:nvSpPr>
          <p:cNvPr id="26" name="Shape 24"/>
          <p:cNvSpPr/>
          <p:nvPr/>
        </p:nvSpPr>
        <p:spPr>
          <a:xfrm>
            <a:off x="6460236" y="2011680"/>
            <a:ext cx="457200" cy="457200"/>
          </a:xfrm>
          <a:prstGeom prst="ellipse">
            <a:avLst/>
          </a:prstGeom>
          <a:solidFill>
            <a:srgbClr val="7C3AED"/>
          </a:solidFill>
          <a:ln w="12700">
            <a:solidFill>
              <a:srgbClr val="7C3AED"/>
            </a:solidFill>
            <a:prstDash val="solid"/>
          </a:ln>
        </p:spPr>
      </p:sp>
      <p:sp>
        <p:nvSpPr>
          <p:cNvPr id="27" name="Text 25"/>
          <p:cNvSpPr txBox="1"/>
          <p:nvPr/>
        </p:nvSpPr>
        <p:spPr>
          <a:xfrm>
            <a:off x="6460236"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8" name="Text 26"/>
          <p:cNvSpPr txBox="1"/>
          <p:nvPr/>
        </p:nvSpPr>
        <p:spPr>
          <a:xfrm>
            <a:off x="7054596" y="2011680"/>
            <a:ext cx="1561338" cy="45720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Sep 13–19</a:t>
            </a:r>
            <a:endParaRPr lang="en-US" sz="1600" dirty="0"/>
          </a:p>
        </p:txBody>
      </p:sp>
      <p:sp>
        <p:nvSpPr>
          <p:cNvPr id="29" name="Text 27"/>
          <p:cNvSpPr txBox="1"/>
          <p:nvPr/>
        </p:nvSpPr>
        <p:spPr>
          <a:xfrm>
            <a:off x="6460236" y="2651760"/>
            <a:ext cx="2109978" cy="274320"/>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LF score</a:t>
            </a:r>
            <a:endParaRPr lang="en-US" sz="1200" dirty="0"/>
          </a:p>
        </p:txBody>
      </p:sp>
      <p:sp>
        <p:nvSpPr>
          <p:cNvPr id="30" name="Text 28"/>
          <p:cNvSpPr txBox="1"/>
          <p:nvPr/>
        </p:nvSpPr>
        <p:spPr>
          <a:xfrm>
            <a:off x="6460236" y="2898648"/>
            <a:ext cx="2109978" cy="594360"/>
          </a:xfrm>
          <a:prstGeom prst="rect">
            <a:avLst/>
          </a:prstGeom>
          <a:noFill/>
          <a:ln/>
        </p:spPr>
        <p:txBody>
          <a:bodyPr wrap="square" lIns="0" tIns="0" rIns="0" bIns="0" rtlCol="0" anchor="ctr"/>
          <a:lstStyle/>
          <a:p>
            <a:pPr indent="0" marL="0">
              <a:buNone/>
            </a:pPr>
            <a:r>
              <a:rPr lang="en-US" sz="3200" b="1" dirty="0">
                <a:solidFill>
                  <a:srgbClr val="D97706"/>
                </a:solidFill>
                <a:latin typeface="Calibri" pitchFamily="34" charset="0"/>
                <a:ea typeface="Calibri" pitchFamily="34" charset="-122"/>
                <a:cs typeface="Calibri" pitchFamily="34" charset="-120"/>
              </a:rPr>
              <a:t>TBC</a:t>
            </a:r>
            <a:endParaRPr lang="en-US" sz="3200" dirty="0"/>
          </a:p>
        </p:txBody>
      </p:sp>
      <p:sp>
        <p:nvSpPr>
          <p:cNvPr id="31" name="Text 29"/>
          <p:cNvSpPr txBox="1"/>
          <p:nvPr/>
        </p:nvSpPr>
        <p:spPr>
          <a:xfrm>
            <a:off x="6460236" y="3493008"/>
            <a:ext cx="2109978" cy="2286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Target 80%</a:t>
            </a:r>
            <a:endParaRPr lang="en-US" sz="1100" dirty="0"/>
          </a:p>
        </p:txBody>
      </p:sp>
      <p:sp>
        <p:nvSpPr>
          <p:cNvPr id="32" name="Text 30"/>
          <p:cNvSpPr txBox="1"/>
          <p:nvPr/>
        </p:nvSpPr>
        <p:spPr>
          <a:xfrm>
            <a:off x="6460236" y="3886200"/>
            <a:ext cx="2109978" cy="274320"/>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Load %</a:t>
            </a:r>
            <a:endParaRPr lang="en-US" sz="1200" dirty="0"/>
          </a:p>
        </p:txBody>
      </p:sp>
      <p:sp>
        <p:nvSpPr>
          <p:cNvPr id="33" name="Text 31"/>
          <p:cNvSpPr txBox="1"/>
          <p:nvPr/>
        </p:nvSpPr>
        <p:spPr>
          <a:xfrm>
            <a:off x="6460236" y="4133088"/>
            <a:ext cx="2109978" cy="594360"/>
          </a:xfrm>
          <a:prstGeom prst="rect">
            <a:avLst/>
          </a:prstGeom>
          <a:noFill/>
          <a:ln/>
        </p:spPr>
        <p:txBody>
          <a:bodyPr wrap="square" lIns="0" tIns="0" rIns="0" bIns="0" rtlCol="0" anchor="ctr"/>
          <a:lstStyle/>
          <a:p>
            <a:pPr indent="0" marL="0">
              <a:buNone/>
            </a:pPr>
            <a:r>
              <a:rPr lang="en-US" sz="3200" b="1" dirty="0">
                <a:solidFill>
                  <a:srgbClr val="D97706"/>
                </a:solidFill>
                <a:latin typeface="Calibri" pitchFamily="34" charset="0"/>
                <a:ea typeface="Calibri" pitchFamily="34" charset="-122"/>
                <a:cs typeface="Calibri" pitchFamily="34" charset="-120"/>
              </a:rPr>
              <a:t>TBC</a:t>
            </a:r>
            <a:endParaRPr lang="en-US" sz="3200" dirty="0"/>
          </a:p>
        </p:txBody>
      </p:sp>
      <p:sp>
        <p:nvSpPr>
          <p:cNvPr id="34" name="Text 32"/>
          <p:cNvSpPr txBox="1"/>
          <p:nvPr/>
        </p:nvSpPr>
        <p:spPr>
          <a:xfrm>
            <a:off x="6460236" y="4727448"/>
            <a:ext cx="2109978" cy="2286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Target 98%</a:t>
            </a:r>
            <a:endParaRPr lang="en-US" sz="1100" dirty="0"/>
          </a:p>
        </p:txBody>
      </p:sp>
      <p:sp>
        <p:nvSpPr>
          <p:cNvPr id="35" name="Shape 33"/>
          <p:cNvSpPr/>
          <p:nvPr/>
        </p:nvSpPr>
        <p:spPr>
          <a:xfrm>
            <a:off x="9073134" y="1783080"/>
            <a:ext cx="2567178" cy="3291840"/>
          </a:xfrm>
          <a:prstGeom prst="roundRect">
            <a:avLst>
              <a:gd name="adj" fmla="val 2850"/>
            </a:avLst>
          </a:prstGeom>
          <a:solidFill>
            <a:srgbClr val="F3F4F6"/>
          </a:solidFill>
          <a:ln w="12700">
            <a:solidFill>
              <a:srgbClr val="F3F4F6"/>
            </a:solidFill>
            <a:prstDash val="solid"/>
          </a:ln>
        </p:spPr>
      </p:sp>
      <p:sp>
        <p:nvSpPr>
          <p:cNvPr id="36" name="Shape 34"/>
          <p:cNvSpPr/>
          <p:nvPr/>
        </p:nvSpPr>
        <p:spPr>
          <a:xfrm>
            <a:off x="9301734" y="2011680"/>
            <a:ext cx="457200" cy="457200"/>
          </a:xfrm>
          <a:prstGeom prst="ellipse">
            <a:avLst/>
          </a:prstGeom>
          <a:solidFill>
            <a:srgbClr val="7C3AED"/>
          </a:solidFill>
          <a:ln w="12700">
            <a:solidFill>
              <a:srgbClr val="7C3AED"/>
            </a:solidFill>
            <a:prstDash val="solid"/>
          </a:ln>
        </p:spPr>
      </p:sp>
      <p:sp>
        <p:nvSpPr>
          <p:cNvPr id="37" name="Text 35"/>
          <p:cNvSpPr txBox="1"/>
          <p:nvPr/>
        </p:nvSpPr>
        <p:spPr>
          <a:xfrm>
            <a:off x="9301734"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8" name="Text 36"/>
          <p:cNvSpPr txBox="1"/>
          <p:nvPr/>
        </p:nvSpPr>
        <p:spPr>
          <a:xfrm>
            <a:off x="9896094" y="2011680"/>
            <a:ext cx="1561338" cy="45720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Sep 20–26</a:t>
            </a:r>
            <a:endParaRPr lang="en-US" sz="1600" dirty="0"/>
          </a:p>
        </p:txBody>
      </p:sp>
      <p:sp>
        <p:nvSpPr>
          <p:cNvPr id="39" name="Text 37"/>
          <p:cNvSpPr txBox="1"/>
          <p:nvPr/>
        </p:nvSpPr>
        <p:spPr>
          <a:xfrm>
            <a:off x="9301734" y="2651760"/>
            <a:ext cx="2109978" cy="274320"/>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LF score</a:t>
            </a:r>
            <a:endParaRPr lang="en-US" sz="1200" dirty="0"/>
          </a:p>
        </p:txBody>
      </p:sp>
      <p:sp>
        <p:nvSpPr>
          <p:cNvPr id="40" name="Text 38"/>
          <p:cNvSpPr txBox="1"/>
          <p:nvPr/>
        </p:nvSpPr>
        <p:spPr>
          <a:xfrm>
            <a:off x="9301734" y="2898648"/>
            <a:ext cx="2109978" cy="594360"/>
          </a:xfrm>
          <a:prstGeom prst="rect">
            <a:avLst/>
          </a:prstGeom>
          <a:noFill/>
          <a:ln/>
        </p:spPr>
        <p:txBody>
          <a:bodyPr wrap="square" lIns="0" tIns="0" rIns="0" bIns="0" rtlCol="0" anchor="ctr"/>
          <a:lstStyle/>
          <a:p>
            <a:pPr indent="0" marL="0">
              <a:buNone/>
            </a:pPr>
            <a:r>
              <a:rPr lang="en-US" sz="3200" b="1" dirty="0">
                <a:solidFill>
                  <a:srgbClr val="D97706"/>
                </a:solidFill>
                <a:latin typeface="Calibri" pitchFamily="34" charset="0"/>
                <a:ea typeface="Calibri" pitchFamily="34" charset="-122"/>
                <a:cs typeface="Calibri" pitchFamily="34" charset="-120"/>
              </a:rPr>
              <a:t>TBC</a:t>
            </a:r>
            <a:endParaRPr lang="en-US" sz="3200" dirty="0"/>
          </a:p>
        </p:txBody>
      </p:sp>
      <p:sp>
        <p:nvSpPr>
          <p:cNvPr id="41" name="Text 39"/>
          <p:cNvSpPr txBox="1"/>
          <p:nvPr/>
        </p:nvSpPr>
        <p:spPr>
          <a:xfrm>
            <a:off x="9301734" y="3493008"/>
            <a:ext cx="2109978" cy="2286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Target 80%</a:t>
            </a:r>
            <a:endParaRPr lang="en-US" sz="1100" dirty="0"/>
          </a:p>
        </p:txBody>
      </p:sp>
      <p:sp>
        <p:nvSpPr>
          <p:cNvPr id="42" name="Text 40"/>
          <p:cNvSpPr txBox="1"/>
          <p:nvPr/>
        </p:nvSpPr>
        <p:spPr>
          <a:xfrm>
            <a:off x="9301734" y="3886200"/>
            <a:ext cx="2109978" cy="274320"/>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Load %</a:t>
            </a:r>
            <a:endParaRPr lang="en-US" sz="1200" dirty="0"/>
          </a:p>
        </p:txBody>
      </p:sp>
      <p:sp>
        <p:nvSpPr>
          <p:cNvPr id="43" name="Text 41"/>
          <p:cNvSpPr txBox="1"/>
          <p:nvPr/>
        </p:nvSpPr>
        <p:spPr>
          <a:xfrm>
            <a:off x="9301734" y="4133088"/>
            <a:ext cx="2109978" cy="594360"/>
          </a:xfrm>
          <a:prstGeom prst="rect">
            <a:avLst/>
          </a:prstGeom>
          <a:noFill/>
          <a:ln/>
        </p:spPr>
        <p:txBody>
          <a:bodyPr wrap="square" lIns="0" tIns="0" rIns="0" bIns="0" rtlCol="0" anchor="ctr"/>
          <a:lstStyle/>
          <a:p>
            <a:pPr indent="0" marL="0">
              <a:buNone/>
            </a:pPr>
            <a:r>
              <a:rPr lang="en-US" sz="3200" b="1" dirty="0">
                <a:solidFill>
                  <a:srgbClr val="D97706"/>
                </a:solidFill>
                <a:latin typeface="Calibri" pitchFamily="34" charset="0"/>
                <a:ea typeface="Calibri" pitchFamily="34" charset="-122"/>
                <a:cs typeface="Calibri" pitchFamily="34" charset="-120"/>
              </a:rPr>
              <a:t>TBC</a:t>
            </a:r>
            <a:endParaRPr lang="en-US" sz="3200" dirty="0"/>
          </a:p>
        </p:txBody>
      </p:sp>
      <p:sp>
        <p:nvSpPr>
          <p:cNvPr id="44" name="Text 42"/>
          <p:cNvSpPr txBox="1"/>
          <p:nvPr/>
        </p:nvSpPr>
        <p:spPr>
          <a:xfrm>
            <a:off x="9301734" y="4727448"/>
            <a:ext cx="2109978" cy="2286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Target 98%</a:t>
            </a:r>
            <a:endParaRPr lang="en-US" sz="1100" dirty="0"/>
          </a:p>
        </p:txBody>
      </p:sp>
      <p:sp>
        <p:nvSpPr>
          <p:cNvPr id="45" name="Shape 43"/>
          <p:cNvSpPr/>
          <p:nvPr/>
        </p:nvSpPr>
        <p:spPr>
          <a:xfrm>
            <a:off x="548640" y="5303520"/>
            <a:ext cx="11091672" cy="868680"/>
          </a:xfrm>
          <a:prstGeom prst="roundRect">
            <a:avLst>
              <a:gd name="adj" fmla="val 8421"/>
            </a:avLst>
          </a:prstGeom>
          <a:solidFill>
            <a:srgbClr val="F5F3FF"/>
          </a:solidFill>
          <a:ln w="12700">
            <a:solidFill>
              <a:srgbClr val="F5F3FF"/>
            </a:solidFill>
            <a:prstDash val="solid"/>
          </a:ln>
        </p:spPr>
      </p:sp>
      <p:sp>
        <p:nvSpPr>
          <p:cNvPr id="46" name="Shape 44"/>
          <p:cNvSpPr/>
          <p:nvPr/>
        </p:nvSpPr>
        <p:spPr>
          <a:xfrm>
            <a:off x="777240" y="5477256"/>
            <a:ext cx="512064" cy="512064"/>
          </a:xfrm>
          <a:prstGeom prst="ellipse">
            <a:avLst/>
          </a:prstGeom>
          <a:solidFill>
            <a:srgbClr val="7C3AED"/>
          </a:solidFill>
          <a:ln w="12700">
            <a:solidFill>
              <a:srgbClr val="7C3AED"/>
            </a:solidFill>
            <a:prstDash val="solid"/>
          </a:ln>
        </p:spPr>
      </p:sp>
      <p:pic>
        <p:nvPicPr>
          <p:cNvPr id="47" name="Image 0" descr="preencoded.png">    </p:cNvPr>
          <p:cNvPicPr>
            <a:picLocks noChangeAspect="1"/>
          </p:cNvPicPr>
          <p:nvPr/>
        </p:nvPicPr>
        <p:blipFill>
          <a:blip r:embed="rId1"/>
          <a:stretch>
            <a:fillRect/>
          </a:stretch>
        </p:blipFill>
        <p:spPr>
          <a:xfrm>
            <a:off x="905256" y="5605272"/>
            <a:ext cx="256032" cy="256032"/>
          </a:xfrm>
          <a:prstGeom prst="rect">
            <a:avLst/>
          </a:prstGeom>
        </p:spPr>
      </p:pic>
      <p:sp>
        <p:nvSpPr>
          <p:cNvPr id="48" name="Text 45"/>
          <p:cNvSpPr txBox="1"/>
          <p:nvPr/>
        </p:nvSpPr>
        <p:spPr>
          <a:xfrm>
            <a:off x="1508760" y="5303520"/>
            <a:ext cx="9966960" cy="868680"/>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Load factor &amp; trailer consolidation  ·  </a:t>
            </a:r>
            <a:pPr indent="0" marL="0">
              <a:buNone/>
            </a:pPr>
            <a:r>
              <a:rPr lang="en-US" sz="1500" dirty="0">
                <a:solidFill>
                  <a:srgbClr val="1F2937"/>
                </a:solidFill>
                <a:latin typeface="Calibri" pitchFamily="34" charset="0"/>
                <a:ea typeface="Calibri" pitchFamily="34" charset="-122"/>
                <a:cs typeface="Calibri" pitchFamily="34" charset="-120"/>
              </a:rPr>
              <a:t>Consolidating large-customer freight into fewer trailers.</a:t>
            </a:r>
            <a:endParaRPr lang="en-US" sz="1500" dirty="0"/>
          </a:p>
        </p:txBody>
      </p:sp>
      <p:sp>
        <p:nvSpPr>
          <p:cNvPr id="49" name="Text 46"/>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Mississauga Terminal · F27 Senior Leadership Review · Sep 29, 2026</a:t>
            </a:r>
            <a:endParaRPr lang="en-US" sz="900" dirty="0"/>
          </a:p>
        </p:txBody>
      </p:sp>
      <p:sp>
        <p:nvSpPr>
          <p:cNvPr id="50" name="Text 47"/>
          <p:cNvSpPr txBox="1"/>
          <p:nvPr/>
        </p:nvSpPr>
        <p:spPr>
          <a:xfrm>
            <a:off x="10725912" y="6473952"/>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18 / 21</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Calibri" pitchFamily="34" charset="0"/>
                <a:ea typeface="Calibri" pitchFamily="34" charset="-122"/>
                <a:cs typeface="Calibri" pitchFamily="34" charset="-120"/>
              </a:rPr>
              <a:t>PRODUCTIVITY</a:t>
            </a:r>
            <a:endParaRPr lang="en-US" sz="1200" dirty="0"/>
          </a:p>
        </p:txBody>
      </p:sp>
      <p:sp>
        <p:nvSpPr>
          <p:cNvPr id="3" name="Text 1"/>
          <p:cNvSpPr txBox="1"/>
          <p:nvPr/>
        </p:nvSpPr>
        <p:spPr>
          <a:xfrm>
            <a:off x="548640" y="603504"/>
            <a:ext cx="11091672" cy="603504"/>
          </a:xfrm>
          <a:prstGeom prst="rect">
            <a:avLst/>
          </a:prstGeom>
          <a:noFill/>
          <a:ln/>
        </p:spPr>
        <p:txBody>
          <a:bodyPr wrap="square" lIns="0" tIns="0" rIns="0" bIns="0" rtlCol="0" anchor="t"/>
          <a:lstStyle/>
          <a:p>
            <a:pPr indent="0" marL="0">
              <a:buNone/>
            </a:pPr>
            <a:r>
              <a:rPr lang="en-US" sz="3000" b="1" dirty="0">
                <a:solidFill>
                  <a:srgbClr val="111827"/>
                </a:solidFill>
                <a:latin typeface="Calibri" pitchFamily="34" charset="0"/>
                <a:ea typeface="Calibri" pitchFamily="34" charset="-122"/>
                <a:cs typeface="Calibri" pitchFamily="34" charset="-120"/>
              </a:rPr>
              <a:t>CICO — hours saved</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852160" cy="914400"/>
        </p:xfrm>
        <a:graphic>
          <a:graphicData uri="http://schemas.openxmlformats.org/drawingml/2006/table">
            <a:tbl>
              <a:tblPr/>
              <a:tblGrid>
                <a:gridCol w="2560320"/>
                <a:gridCol w="1645920"/>
                <a:gridCol w="164592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Week</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Hours saved</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 saved</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r>
              <a:tr h="438912">
                <a:tc>
                  <a:txBody>
                    <a:bodyPr/>
                    <a:lstStyle/>
                    <a:p>
                      <a:pPr indent="0" marL="0">
                        <a:buNone/>
                      </a:pPr>
                      <a:r>
                        <a:rPr lang="en-US" sz="1200" b="1" dirty="0">
                          <a:solidFill>
                            <a:srgbClr val="111827"/>
                          </a:solidFill>
                          <a:latin typeface="Calibri" pitchFamily="34" charset="0"/>
                          <a:ea typeface="Calibri" pitchFamily="34" charset="-122"/>
                          <a:cs typeface="Calibri" pitchFamily="34" charset="-120"/>
                        </a:rPr>
                        <a:t>Wk 1 · Sep 1–5</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11827"/>
                          </a:solidFill>
                          <a:latin typeface="Calibri" pitchFamily="34" charset="0"/>
                          <a:ea typeface="Calibri" pitchFamily="34" charset="-122"/>
                          <a:cs typeface="Calibri" pitchFamily="34" charset="-120"/>
                        </a:rPr>
                        <a:t>Wk 2 · Sep 6–12</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r>
              <a:tr h="438912">
                <a:tc>
                  <a:txBody>
                    <a:bodyPr/>
                    <a:lstStyle/>
                    <a:p>
                      <a:pPr indent="0" marL="0">
                        <a:buNone/>
                      </a:pPr>
                      <a:r>
                        <a:rPr lang="en-US" sz="1200" b="1" dirty="0">
                          <a:solidFill>
                            <a:srgbClr val="111827"/>
                          </a:solidFill>
                          <a:latin typeface="Calibri" pitchFamily="34" charset="0"/>
                          <a:ea typeface="Calibri" pitchFamily="34" charset="-122"/>
                          <a:cs typeface="Calibri" pitchFamily="34" charset="-120"/>
                        </a:rPr>
                        <a:t>Wk 3 · Sep 13–19</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11827"/>
                          </a:solidFill>
                          <a:latin typeface="Calibri" pitchFamily="34" charset="0"/>
                          <a:ea typeface="Calibri" pitchFamily="34" charset="-122"/>
                          <a:cs typeface="Calibri" pitchFamily="34" charset="-120"/>
                        </a:rPr>
                        <a:t>Wk 4 · Sep 20–26</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r>
              <a:tr h="438912">
                <a:tc>
                  <a:txBody>
                    <a:bodyPr/>
                    <a:lstStyle/>
                    <a:p>
                      <a:pPr indent="0" marL="0">
                        <a:buNone/>
                      </a:pPr>
                      <a:r>
                        <a:rPr lang="en-US" sz="1200" b="1" dirty="0">
                          <a:solidFill>
                            <a:srgbClr val="111827"/>
                          </a:solidFill>
                          <a:latin typeface="Calibri" pitchFamily="34" charset="0"/>
                          <a:ea typeface="Calibri" pitchFamily="34" charset="-122"/>
                          <a:cs typeface="Calibri" pitchFamily="34" charset="-120"/>
                        </a:rPr>
                        <a:t>September total</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DE9FE"/>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DE9FE"/>
                    </a:solidFill>
                  </a:tcPr>
                </a:tc>
                <a:tc>
                  <a:txBody>
                    <a:bodyPr/>
                    <a:lstStyle/>
                    <a:p>
                      <a:pPr algn="r" indent="0" marL="0">
                        <a:buNone/>
                      </a:pPr>
                      <a:r>
                        <a:rPr lang="en-US" sz="1200" b="1" dirty="0">
                          <a:solidFill>
                            <a:srgbClr val="D97706"/>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DE9FE"/>
                    </a:solidFill>
                  </a:tcPr>
                </a:tc>
              </a:tr>
            </a:tbl>
          </a:graphicData>
        </a:graphic>
      </p:graphicFrame>
      <p:sp>
        <p:nvSpPr>
          <p:cNvPr id="5" name="Text 2"/>
          <p:cNvSpPr txBox="1"/>
          <p:nvPr/>
        </p:nvSpPr>
        <p:spPr>
          <a:xfrm>
            <a:off x="548640" y="4133088"/>
            <a:ext cx="585216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 saved = hours saved × </a:t>
            </a:r>
            <a:pPr indent="0" marL="0">
              <a:buNone/>
            </a:pPr>
            <a:r>
              <a:rPr lang="en-US" sz="1100" b="1" dirty="0">
                <a:solidFill>
                  <a:srgbClr val="111827"/>
                </a:solidFill>
                <a:latin typeface="Calibri" pitchFamily="34" charset="0"/>
                <a:ea typeface="Calibri" pitchFamily="34" charset="-122"/>
                <a:cs typeface="Calibri" pitchFamily="34" charset="-120"/>
              </a:rPr>
              <a:t>$33.43</a:t>
            </a:r>
            <a:pPr indent="0" marL="0">
              <a:buNone/>
            </a:pPr>
            <a:r>
              <a:rPr lang="en-US" sz="1100" dirty="0">
                <a:solidFill>
                  <a:srgbClr val="6B7280"/>
                </a:solidFill>
                <a:latin typeface="Calibri" pitchFamily="34" charset="0"/>
                <a:ea typeface="Calibri" pitchFamily="34" charset="-122"/>
                <a:cs typeface="Calibri" pitchFamily="34" charset="-120"/>
              </a:rPr>
              <a:t>/hr (Sept MTD $/hr, productivity dashboard)</a:t>
            </a:r>
            <a:endParaRPr lang="en-US" sz="1100" dirty="0"/>
          </a:p>
        </p:txBody>
      </p:sp>
      <p:sp>
        <p:nvSpPr>
          <p:cNvPr id="6" name="Shape 3"/>
          <p:cNvSpPr/>
          <p:nvPr/>
        </p:nvSpPr>
        <p:spPr>
          <a:xfrm>
            <a:off x="548640" y="4663440"/>
            <a:ext cx="2834640" cy="1463040"/>
          </a:xfrm>
          <a:prstGeom prst="roundRect">
            <a:avLst>
              <a:gd name="adj" fmla="val 5000"/>
            </a:avLst>
          </a:prstGeom>
          <a:solidFill>
            <a:srgbClr val="F3F4F6"/>
          </a:solidFill>
          <a:ln w="12700">
            <a:solidFill>
              <a:srgbClr val="F3F4F6"/>
            </a:solidFill>
            <a:prstDash val="solid"/>
          </a:ln>
        </p:spPr>
      </p:sp>
      <p:sp>
        <p:nvSpPr>
          <p:cNvPr id="7" name="Text 4"/>
          <p:cNvSpPr txBox="1"/>
          <p:nvPr/>
        </p:nvSpPr>
        <p:spPr>
          <a:xfrm>
            <a:off x="731520" y="4800600"/>
            <a:ext cx="2468880"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September hours saved</a:t>
            </a:r>
            <a:endParaRPr lang="en-US" sz="1100" dirty="0"/>
          </a:p>
        </p:txBody>
      </p:sp>
      <p:sp>
        <p:nvSpPr>
          <p:cNvPr id="8" name="Text 5"/>
          <p:cNvSpPr txBox="1"/>
          <p:nvPr/>
        </p:nvSpPr>
        <p:spPr>
          <a:xfrm>
            <a:off x="731520" y="5074920"/>
            <a:ext cx="2468880" cy="594360"/>
          </a:xfrm>
          <a:prstGeom prst="rect">
            <a:avLst/>
          </a:prstGeom>
          <a:noFill/>
          <a:ln/>
        </p:spPr>
        <p:txBody>
          <a:bodyPr wrap="square" lIns="0" tIns="0" rIns="0" bIns="0" rtlCol="0" anchor="ctr"/>
          <a:lstStyle/>
          <a:p>
            <a:pPr indent="0" marL="0">
              <a:buNone/>
            </a:pPr>
            <a:r>
              <a:rPr lang="en-US" sz="3000" b="1" dirty="0">
                <a:solidFill>
                  <a:srgbClr val="D97706"/>
                </a:solidFill>
                <a:latin typeface="Calibri" pitchFamily="34" charset="0"/>
                <a:ea typeface="Calibri" pitchFamily="34" charset="-122"/>
                <a:cs typeface="Calibri" pitchFamily="34" charset="-120"/>
              </a:rPr>
              <a:t>TBC</a:t>
            </a:r>
            <a:endParaRPr lang="en-US" sz="3000" dirty="0"/>
          </a:p>
        </p:txBody>
      </p:sp>
      <p:sp>
        <p:nvSpPr>
          <p:cNvPr id="9" name="Text 6"/>
          <p:cNvSpPr txBox="1"/>
          <p:nvPr/>
        </p:nvSpPr>
        <p:spPr>
          <a:xfrm>
            <a:off x="731520" y="5696712"/>
            <a:ext cx="2468880"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Late / lunch / early-off</a:t>
            </a:r>
            <a:endParaRPr lang="en-US" sz="1050" dirty="0"/>
          </a:p>
        </p:txBody>
      </p:sp>
      <p:sp>
        <p:nvSpPr>
          <p:cNvPr id="10" name="Shape 7"/>
          <p:cNvSpPr/>
          <p:nvPr/>
        </p:nvSpPr>
        <p:spPr>
          <a:xfrm>
            <a:off x="3566160" y="4663440"/>
            <a:ext cx="2834640" cy="1463040"/>
          </a:xfrm>
          <a:prstGeom prst="roundRect">
            <a:avLst>
              <a:gd name="adj" fmla="val 5000"/>
            </a:avLst>
          </a:prstGeom>
          <a:solidFill>
            <a:srgbClr val="F3F4F6"/>
          </a:solidFill>
          <a:ln w="12700">
            <a:solidFill>
              <a:srgbClr val="F3F4F6"/>
            </a:solidFill>
            <a:prstDash val="solid"/>
          </a:ln>
        </p:spPr>
      </p:sp>
      <p:sp>
        <p:nvSpPr>
          <p:cNvPr id="11" name="Text 8"/>
          <p:cNvSpPr txBox="1"/>
          <p:nvPr/>
        </p:nvSpPr>
        <p:spPr>
          <a:xfrm>
            <a:off x="3749040" y="4800600"/>
            <a:ext cx="2468880"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September $ saved</a:t>
            </a:r>
            <a:endParaRPr lang="en-US" sz="1100" dirty="0"/>
          </a:p>
        </p:txBody>
      </p:sp>
      <p:sp>
        <p:nvSpPr>
          <p:cNvPr id="12" name="Text 9"/>
          <p:cNvSpPr txBox="1"/>
          <p:nvPr/>
        </p:nvSpPr>
        <p:spPr>
          <a:xfrm>
            <a:off x="3749040" y="5074920"/>
            <a:ext cx="2468880" cy="594360"/>
          </a:xfrm>
          <a:prstGeom prst="rect">
            <a:avLst/>
          </a:prstGeom>
          <a:noFill/>
          <a:ln/>
        </p:spPr>
        <p:txBody>
          <a:bodyPr wrap="square" lIns="0" tIns="0" rIns="0" bIns="0" rtlCol="0" anchor="ctr"/>
          <a:lstStyle/>
          <a:p>
            <a:pPr indent="0" marL="0">
              <a:buNone/>
            </a:pPr>
            <a:r>
              <a:rPr lang="en-US" sz="3000" b="1" dirty="0">
                <a:solidFill>
                  <a:srgbClr val="D97706"/>
                </a:solidFill>
                <a:latin typeface="Calibri" pitchFamily="34" charset="0"/>
                <a:ea typeface="Calibri" pitchFamily="34" charset="-122"/>
                <a:cs typeface="Calibri" pitchFamily="34" charset="-120"/>
              </a:rPr>
              <a:t>TBC</a:t>
            </a:r>
            <a:endParaRPr lang="en-US" sz="3000" dirty="0"/>
          </a:p>
        </p:txBody>
      </p:sp>
      <p:sp>
        <p:nvSpPr>
          <p:cNvPr id="13" name="Text 10"/>
          <p:cNvSpPr txBox="1"/>
          <p:nvPr/>
        </p:nvSpPr>
        <p:spPr>
          <a:xfrm>
            <a:off x="3749040" y="5696712"/>
            <a:ext cx="2468880"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At </a:t>
            </a:r>
            <a:pPr indent="0" marL="0">
              <a:buNone/>
            </a:pPr>
            <a:r>
              <a:rPr lang="en-US" sz="1050" b="1" dirty="0">
                <a:solidFill>
                  <a:srgbClr val="1F2937"/>
                </a:solidFill>
                <a:latin typeface="Calibri" pitchFamily="34" charset="0"/>
                <a:ea typeface="Calibri" pitchFamily="34" charset="-122"/>
                <a:cs typeface="Calibri" pitchFamily="34" charset="-120"/>
              </a:rPr>
              <a:t>$33.43</a:t>
            </a:r>
            <a:pPr indent="0" marL="0">
              <a:buNone/>
            </a:pPr>
            <a:r>
              <a:rPr lang="en-US" sz="1050" dirty="0">
                <a:solidFill>
                  <a:srgbClr val="6B7280"/>
                </a:solidFill>
                <a:latin typeface="Calibri" pitchFamily="34" charset="0"/>
                <a:ea typeface="Calibri" pitchFamily="34" charset="-122"/>
                <a:cs typeface="Calibri" pitchFamily="34" charset="-120"/>
              </a:rPr>
              <a:t>/hr</a:t>
            </a:r>
            <a:endParaRPr lang="en-US" sz="1050" dirty="0"/>
          </a:p>
        </p:txBody>
      </p:sp>
      <p:sp>
        <p:nvSpPr>
          <p:cNvPr id="14" name="Shape 11"/>
          <p:cNvSpPr/>
          <p:nvPr/>
        </p:nvSpPr>
        <p:spPr>
          <a:xfrm>
            <a:off x="6812280" y="1371600"/>
            <a:ext cx="4828032" cy="4754880"/>
          </a:xfrm>
          <a:prstGeom prst="roundRect">
            <a:avLst>
              <a:gd name="adj" fmla="val 1538"/>
            </a:avLst>
          </a:prstGeom>
          <a:solidFill>
            <a:srgbClr val="F3F4F6"/>
          </a:solidFill>
          <a:ln w="12700">
            <a:solidFill>
              <a:srgbClr val="F3F4F6"/>
            </a:solidFill>
            <a:prstDash val="solid"/>
          </a:ln>
        </p:spPr>
      </p:sp>
      <p:sp>
        <p:nvSpPr>
          <p:cNvPr id="15" name="Text 12"/>
          <p:cNvSpPr txBox="1"/>
          <p:nvPr/>
        </p:nvSpPr>
        <p:spPr>
          <a:xfrm>
            <a:off x="7086600" y="1600200"/>
            <a:ext cx="4389120" cy="411480"/>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What drives the hours saved</a:t>
            </a:r>
            <a:endParaRPr lang="en-US" sz="1800" dirty="0"/>
          </a:p>
        </p:txBody>
      </p:sp>
      <p:sp>
        <p:nvSpPr>
          <p:cNvPr id="16" name="Shape 13"/>
          <p:cNvSpPr/>
          <p:nvPr/>
        </p:nvSpPr>
        <p:spPr>
          <a:xfrm>
            <a:off x="7086600" y="2286000"/>
            <a:ext cx="548640" cy="548640"/>
          </a:xfrm>
          <a:prstGeom prst="ellipse">
            <a:avLst/>
          </a:prstGeom>
          <a:solidFill>
            <a:srgbClr val="EDE9FE"/>
          </a:solidFill>
          <a:ln w="12700">
            <a:solidFill>
              <a:srgbClr val="EDE9FE"/>
            </a:solidFill>
            <a:prstDash val="solid"/>
          </a:ln>
        </p:spPr>
      </p:sp>
      <p:pic>
        <p:nvPicPr>
          <p:cNvPr id="17" name="Image 0" descr="preencoded.png">    </p:cNvPr>
          <p:cNvPicPr>
            <a:picLocks noChangeAspect="1"/>
          </p:cNvPicPr>
          <p:nvPr/>
        </p:nvPicPr>
        <p:blipFill>
          <a:blip r:embed="rId1"/>
          <a:stretch>
            <a:fillRect/>
          </a:stretch>
        </p:blipFill>
        <p:spPr>
          <a:xfrm>
            <a:off x="7223760" y="2423160"/>
            <a:ext cx="274320" cy="274320"/>
          </a:xfrm>
          <a:prstGeom prst="rect">
            <a:avLst/>
          </a:prstGeom>
        </p:spPr>
      </p:pic>
      <p:sp>
        <p:nvSpPr>
          <p:cNvPr id="18" name="Text 14"/>
          <p:cNvSpPr txBox="1"/>
          <p:nvPr/>
        </p:nvSpPr>
        <p:spPr>
          <a:xfrm>
            <a:off x="7818120" y="2194560"/>
            <a:ext cx="3611880" cy="77724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Late arrivals — pay starts at actual clock-in, not scheduled start.</a:t>
            </a:r>
            <a:endParaRPr lang="en-US" sz="1500" dirty="0"/>
          </a:p>
        </p:txBody>
      </p:sp>
      <p:sp>
        <p:nvSpPr>
          <p:cNvPr id="19" name="Shape 15"/>
          <p:cNvSpPr/>
          <p:nvPr/>
        </p:nvSpPr>
        <p:spPr>
          <a:xfrm>
            <a:off x="7086600" y="3474720"/>
            <a:ext cx="548640" cy="548640"/>
          </a:xfrm>
          <a:prstGeom prst="ellipse">
            <a:avLst/>
          </a:prstGeom>
          <a:solidFill>
            <a:srgbClr val="EDE9FE"/>
          </a:solidFill>
          <a:ln w="12700">
            <a:solidFill>
              <a:srgbClr val="EDE9FE"/>
            </a:solidFill>
            <a:prstDash val="solid"/>
          </a:ln>
        </p:spPr>
      </p:sp>
      <p:pic>
        <p:nvPicPr>
          <p:cNvPr id="20" name="Image 1" descr="preencoded.png">    </p:cNvPr>
          <p:cNvPicPr>
            <a:picLocks noChangeAspect="1"/>
          </p:cNvPicPr>
          <p:nvPr/>
        </p:nvPicPr>
        <p:blipFill>
          <a:blip r:embed="rId2"/>
          <a:stretch>
            <a:fillRect/>
          </a:stretch>
        </p:blipFill>
        <p:spPr>
          <a:xfrm>
            <a:off x="7223760" y="3611880"/>
            <a:ext cx="274320" cy="274320"/>
          </a:xfrm>
          <a:prstGeom prst="rect">
            <a:avLst/>
          </a:prstGeom>
        </p:spPr>
      </p:pic>
      <p:sp>
        <p:nvSpPr>
          <p:cNvPr id="21" name="Text 16"/>
          <p:cNvSpPr txBox="1"/>
          <p:nvPr/>
        </p:nvSpPr>
        <p:spPr>
          <a:xfrm>
            <a:off x="7818120" y="3383280"/>
            <a:ext cx="3611880" cy="77724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No-lunch punches reviewed daily by the shift supervisor.</a:t>
            </a:r>
            <a:endParaRPr lang="en-US" sz="1500" dirty="0"/>
          </a:p>
        </p:txBody>
      </p:sp>
      <p:sp>
        <p:nvSpPr>
          <p:cNvPr id="22" name="Shape 17"/>
          <p:cNvSpPr/>
          <p:nvPr/>
        </p:nvSpPr>
        <p:spPr>
          <a:xfrm>
            <a:off x="7086600" y="4663440"/>
            <a:ext cx="548640" cy="548640"/>
          </a:xfrm>
          <a:prstGeom prst="ellipse">
            <a:avLst/>
          </a:prstGeom>
          <a:solidFill>
            <a:srgbClr val="EDE9FE"/>
          </a:solidFill>
          <a:ln w="12700">
            <a:solidFill>
              <a:srgbClr val="EDE9FE"/>
            </a:solidFill>
            <a:prstDash val="solid"/>
          </a:ln>
        </p:spPr>
      </p:sp>
      <p:pic>
        <p:nvPicPr>
          <p:cNvPr id="23" name="Image 2" descr="preencoded.png">    </p:cNvPr>
          <p:cNvPicPr>
            <a:picLocks noChangeAspect="1"/>
          </p:cNvPicPr>
          <p:nvPr/>
        </p:nvPicPr>
        <p:blipFill>
          <a:blip r:embed="rId3"/>
          <a:stretch>
            <a:fillRect/>
          </a:stretch>
        </p:blipFill>
        <p:spPr>
          <a:xfrm>
            <a:off x="7223760" y="4800600"/>
            <a:ext cx="274320" cy="274320"/>
          </a:xfrm>
          <a:prstGeom prst="rect">
            <a:avLst/>
          </a:prstGeom>
        </p:spPr>
      </p:pic>
      <p:sp>
        <p:nvSpPr>
          <p:cNvPr id="24" name="Text 18"/>
          <p:cNvSpPr txBox="1"/>
          <p:nvPr/>
        </p:nvSpPr>
        <p:spPr>
          <a:xfrm>
            <a:off x="7818120" y="4572000"/>
            <a:ext cx="3611880" cy="77724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Part-time / early-off shifts released when volume is done.</a:t>
            </a:r>
            <a:endParaRPr lang="en-US" sz="1500" dirty="0"/>
          </a:p>
        </p:txBody>
      </p:sp>
      <p:sp>
        <p:nvSpPr>
          <p:cNvPr id="25" name="Text 19"/>
          <p:cNvSpPr txBox="1"/>
          <p:nvPr/>
        </p:nvSpPr>
        <p:spPr>
          <a:xfrm>
            <a:off x="7086600" y="5486400"/>
            <a:ext cx="4389120" cy="50292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Clock-in / clock-out (CICO) discipline — late starts, missed lunches and early-offs captured as hours saved.</a:t>
            </a:r>
            <a:endParaRPr lang="en-US" sz="1100" dirty="0"/>
          </a:p>
        </p:txBody>
      </p:sp>
      <p:sp>
        <p:nvSpPr>
          <p:cNvPr id="26" name="Text 20"/>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Mississauga Terminal · F27 Senior Leadership Review · Sep 29, 2026</a:t>
            </a:r>
            <a:endParaRPr lang="en-US" sz="900" dirty="0"/>
          </a:p>
        </p:txBody>
      </p:sp>
      <p:sp>
        <p:nvSpPr>
          <p:cNvPr id="27" name="Text 21"/>
          <p:cNvSpPr txBox="1"/>
          <p:nvPr/>
        </p:nvSpPr>
        <p:spPr>
          <a:xfrm>
            <a:off x="10725912" y="6473952"/>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19 / 21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Calibri" pitchFamily="34" charset="0"/>
                <a:ea typeface="Calibri" pitchFamily="34" charset="-122"/>
                <a:cs typeface="Calibri" pitchFamily="34" charset="-120"/>
              </a:rPr>
              <a:t>TERMINAL</a:t>
            </a:r>
            <a:endParaRPr lang="en-US" sz="1200" dirty="0"/>
          </a:p>
        </p:txBody>
      </p:sp>
      <p:sp>
        <p:nvSpPr>
          <p:cNvPr id="3" name="Text 1"/>
          <p:cNvSpPr txBox="1"/>
          <p:nvPr/>
        </p:nvSpPr>
        <p:spPr>
          <a:xfrm>
            <a:off x="548640" y="603504"/>
            <a:ext cx="11091672" cy="603504"/>
          </a:xfrm>
          <a:prstGeom prst="rect">
            <a:avLst/>
          </a:prstGeom>
          <a:noFill/>
          <a:ln/>
        </p:spPr>
        <p:txBody>
          <a:bodyPr wrap="square" lIns="0" tIns="0" rIns="0" bIns="0" rtlCol="0" anchor="t"/>
          <a:lstStyle/>
          <a:p>
            <a:pPr indent="0" marL="0">
              <a:buNone/>
            </a:pPr>
            <a:r>
              <a:rPr lang="en-US" sz="3000" b="1" dirty="0">
                <a:solidFill>
                  <a:srgbClr val="111827"/>
                </a:solidFill>
                <a:latin typeface="Calibri" pitchFamily="34" charset="0"/>
                <a:ea typeface="Calibri" pitchFamily="34" charset="-122"/>
                <a:cs typeface="Calibri" pitchFamily="34" charset="-120"/>
              </a:rPr>
              <a:t>Status of the physical terminal</a:t>
            </a:r>
            <a:endParaRPr lang="en-US" sz="3000" dirty="0"/>
          </a:p>
        </p:txBody>
      </p:sp>
      <p:sp>
        <p:nvSpPr>
          <p:cNvPr id="4" name="Shape 2"/>
          <p:cNvSpPr/>
          <p:nvPr/>
        </p:nvSpPr>
        <p:spPr>
          <a:xfrm>
            <a:off x="548640" y="1371600"/>
            <a:ext cx="3514344" cy="1234440"/>
          </a:xfrm>
          <a:prstGeom prst="roundRect">
            <a:avLst>
              <a:gd name="adj" fmla="val 5926"/>
            </a:avLst>
          </a:prstGeom>
          <a:solidFill>
            <a:srgbClr val="F3F4F6"/>
          </a:solidFill>
          <a:ln w="12700">
            <a:solidFill>
              <a:srgbClr val="F3F4F6"/>
            </a:solidFill>
            <a:prstDash val="solid"/>
          </a:ln>
        </p:spPr>
      </p:sp>
      <p:sp>
        <p:nvSpPr>
          <p:cNvPr id="5" name="Shape 3"/>
          <p:cNvSpPr/>
          <p:nvPr/>
        </p:nvSpPr>
        <p:spPr>
          <a:xfrm>
            <a:off x="777240" y="1709928"/>
            <a:ext cx="566928" cy="566928"/>
          </a:xfrm>
          <a:prstGeom prst="ellipse">
            <a:avLst/>
          </a:prstGeom>
          <a:solidFill>
            <a:srgbClr val="EDE9FE"/>
          </a:solidFill>
          <a:ln w="12700">
            <a:solidFill>
              <a:srgbClr val="EDE9FE"/>
            </a:solidFill>
            <a:prstDash val="solid"/>
          </a:ln>
        </p:spPr>
      </p:sp>
      <p:pic>
        <p:nvPicPr>
          <p:cNvPr id="6" name="Image 0" descr="preencoded.png">    </p:cNvPr>
          <p:cNvPicPr>
            <a:picLocks noChangeAspect="1"/>
          </p:cNvPicPr>
          <p:nvPr/>
        </p:nvPicPr>
        <p:blipFill>
          <a:blip r:embed="rId1"/>
          <a:stretch>
            <a:fillRect/>
          </a:stretch>
        </p:blipFill>
        <p:spPr>
          <a:xfrm>
            <a:off x="918972" y="1851660"/>
            <a:ext cx="283464" cy="283464"/>
          </a:xfrm>
          <a:prstGeom prst="rect">
            <a:avLst/>
          </a:prstGeom>
        </p:spPr>
      </p:pic>
      <p:sp>
        <p:nvSpPr>
          <p:cNvPr id="7" name="Text 4"/>
          <p:cNvSpPr txBox="1"/>
          <p:nvPr/>
        </p:nvSpPr>
        <p:spPr>
          <a:xfrm>
            <a:off x="1554480" y="1481328"/>
            <a:ext cx="2325624" cy="292608"/>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Total dock doors</a:t>
            </a:r>
            <a:endParaRPr lang="en-US" sz="1200" dirty="0"/>
          </a:p>
        </p:txBody>
      </p:sp>
      <p:sp>
        <p:nvSpPr>
          <p:cNvPr id="8" name="Text 5"/>
          <p:cNvSpPr txBox="1"/>
          <p:nvPr/>
        </p:nvSpPr>
        <p:spPr>
          <a:xfrm>
            <a:off x="1554480" y="1783080"/>
            <a:ext cx="2325624" cy="640080"/>
          </a:xfrm>
          <a:prstGeom prst="rect">
            <a:avLst/>
          </a:prstGeom>
          <a:noFill/>
          <a:ln/>
        </p:spPr>
        <p:txBody>
          <a:bodyPr wrap="square" lIns="0" tIns="0" rIns="0" bIns="0" rtlCol="0" anchor="ctr"/>
          <a:lstStyle/>
          <a:p>
            <a:pPr indent="0" marL="0">
              <a:buNone/>
            </a:pPr>
            <a:r>
              <a:rPr lang="en-US" sz="3200" b="1" dirty="0">
                <a:solidFill>
                  <a:srgbClr val="D97706"/>
                </a:solidFill>
                <a:latin typeface="Calibri" pitchFamily="34" charset="0"/>
                <a:ea typeface="Calibri" pitchFamily="34" charset="-122"/>
                <a:cs typeface="Calibri" pitchFamily="34" charset="-120"/>
              </a:rPr>
              <a:t>TBC</a:t>
            </a:r>
            <a:endParaRPr lang="en-US" sz="3200" dirty="0"/>
          </a:p>
        </p:txBody>
      </p:sp>
      <p:sp>
        <p:nvSpPr>
          <p:cNvPr id="9" name="Shape 6"/>
          <p:cNvSpPr/>
          <p:nvPr/>
        </p:nvSpPr>
        <p:spPr>
          <a:xfrm>
            <a:off x="4337304" y="1371600"/>
            <a:ext cx="3514344" cy="1234440"/>
          </a:xfrm>
          <a:prstGeom prst="roundRect">
            <a:avLst>
              <a:gd name="adj" fmla="val 5926"/>
            </a:avLst>
          </a:prstGeom>
          <a:solidFill>
            <a:srgbClr val="F3F4F6"/>
          </a:solidFill>
          <a:ln w="12700">
            <a:solidFill>
              <a:srgbClr val="F3F4F6"/>
            </a:solidFill>
            <a:prstDash val="solid"/>
          </a:ln>
        </p:spPr>
      </p:sp>
      <p:sp>
        <p:nvSpPr>
          <p:cNvPr id="10" name="Shape 7"/>
          <p:cNvSpPr/>
          <p:nvPr/>
        </p:nvSpPr>
        <p:spPr>
          <a:xfrm>
            <a:off x="4565904" y="1709928"/>
            <a:ext cx="566928" cy="566928"/>
          </a:xfrm>
          <a:prstGeom prst="ellipse">
            <a:avLst/>
          </a:prstGeom>
          <a:solidFill>
            <a:srgbClr val="EDE9FE"/>
          </a:solidFill>
          <a:ln w="12700">
            <a:solidFill>
              <a:srgbClr val="EDE9FE"/>
            </a:solidFill>
            <a:prstDash val="solid"/>
          </a:ln>
        </p:spPr>
      </p:sp>
      <p:pic>
        <p:nvPicPr>
          <p:cNvPr id="11" name="Image 1" descr="preencoded.png">    </p:cNvPr>
          <p:cNvPicPr>
            <a:picLocks noChangeAspect="1"/>
          </p:cNvPicPr>
          <p:nvPr/>
        </p:nvPicPr>
        <p:blipFill>
          <a:blip r:embed="rId2"/>
          <a:stretch>
            <a:fillRect/>
          </a:stretch>
        </p:blipFill>
        <p:spPr>
          <a:xfrm>
            <a:off x="4707636" y="1851660"/>
            <a:ext cx="283464" cy="283464"/>
          </a:xfrm>
          <a:prstGeom prst="rect">
            <a:avLst/>
          </a:prstGeom>
        </p:spPr>
      </p:pic>
      <p:sp>
        <p:nvSpPr>
          <p:cNvPr id="12" name="Text 8"/>
          <p:cNvSpPr txBox="1"/>
          <p:nvPr/>
        </p:nvSpPr>
        <p:spPr>
          <a:xfrm>
            <a:off x="5343144" y="1481328"/>
            <a:ext cx="2325624" cy="292608"/>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Doors out of service</a:t>
            </a:r>
            <a:endParaRPr lang="en-US" sz="1200" dirty="0"/>
          </a:p>
        </p:txBody>
      </p:sp>
      <p:sp>
        <p:nvSpPr>
          <p:cNvPr id="13" name="Text 9"/>
          <p:cNvSpPr txBox="1"/>
          <p:nvPr/>
        </p:nvSpPr>
        <p:spPr>
          <a:xfrm>
            <a:off x="5343144" y="1783080"/>
            <a:ext cx="2325624" cy="640080"/>
          </a:xfrm>
          <a:prstGeom prst="rect">
            <a:avLst/>
          </a:prstGeom>
          <a:noFill/>
          <a:ln/>
        </p:spPr>
        <p:txBody>
          <a:bodyPr wrap="square" lIns="0" tIns="0" rIns="0" bIns="0" rtlCol="0" anchor="ctr"/>
          <a:lstStyle/>
          <a:p>
            <a:pPr indent="0" marL="0">
              <a:buNone/>
            </a:pPr>
            <a:r>
              <a:rPr lang="en-US" sz="3200" b="1" dirty="0">
                <a:solidFill>
                  <a:srgbClr val="D97706"/>
                </a:solidFill>
                <a:latin typeface="Calibri" pitchFamily="34" charset="0"/>
                <a:ea typeface="Calibri" pitchFamily="34" charset="-122"/>
                <a:cs typeface="Calibri" pitchFamily="34" charset="-120"/>
              </a:rPr>
              <a:t>TBC</a:t>
            </a:r>
            <a:endParaRPr lang="en-US" sz="3200" dirty="0"/>
          </a:p>
        </p:txBody>
      </p:sp>
      <p:sp>
        <p:nvSpPr>
          <p:cNvPr id="14" name="Shape 10"/>
          <p:cNvSpPr/>
          <p:nvPr/>
        </p:nvSpPr>
        <p:spPr>
          <a:xfrm>
            <a:off x="8125968" y="1371600"/>
            <a:ext cx="3514344" cy="1234440"/>
          </a:xfrm>
          <a:prstGeom prst="roundRect">
            <a:avLst>
              <a:gd name="adj" fmla="val 5926"/>
            </a:avLst>
          </a:prstGeom>
          <a:solidFill>
            <a:srgbClr val="F3F4F6"/>
          </a:solidFill>
          <a:ln w="12700">
            <a:solidFill>
              <a:srgbClr val="F3F4F6"/>
            </a:solidFill>
            <a:prstDash val="solid"/>
          </a:ln>
        </p:spPr>
      </p:sp>
      <p:sp>
        <p:nvSpPr>
          <p:cNvPr id="15" name="Shape 11"/>
          <p:cNvSpPr/>
          <p:nvPr/>
        </p:nvSpPr>
        <p:spPr>
          <a:xfrm>
            <a:off x="8354568" y="1709928"/>
            <a:ext cx="566928" cy="566928"/>
          </a:xfrm>
          <a:prstGeom prst="ellipse">
            <a:avLst/>
          </a:prstGeom>
          <a:solidFill>
            <a:srgbClr val="EDE9FE"/>
          </a:solidFill>
          <a:ln w="12700">
            <a:solidFill>
              <a:srgbClr val="EDE9FE"/>
            </a:solidFill>
            <a:prstDash val="solid"/>
          </a:ln>
        </p:spPr>
      </p:sp>
      <p:pic>
        <p:nvPicPr>
          <p:cNvPr id="16" name="Image 2" descr="preencoded.png">    </p:cNvPr>
          <p:cNvPicPr>
            <a:picLocks noChangeAspect="1"/>
          </p:cNvPicPr>
          <p:nvPr/>
        </p:nvPicPr>
        <p:blipFill>
          <a:blip r:embed="rId3"/>
          <a:stretch>
            <a:fillRect/>
          </a:stretch>
        </p:blipFill>
        <p:spPr>
          <a:xfrm>
            <a:off x="8496300" y="1851660"/>
            <a:ext cx="283464" cy="283464"/>
          </a:xfrm>
          <a:prstGeom prst="rect">
            <a:avLst/>
          </a:prstGeom>
        </p:spPr>
      </p:pic>
      <p:sp>
        <p:nvSpPr>
          <p:cNvPr id="17" name="Text 12"/>
          <p:cNvSpPr txBox="1"/>
          <p:nvPr/>
        </p:nvSpPr>
        <p:spPr>
          <a:xfrm>
            <a:off x="9131808" y="1481328"/>
            <a:ext cx="2325624" cy="292608"/>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Doors in service</a:t>
            </a:r>
            <a:endParaRPr lang="en-US" sz="1200" dirty="0"/>
          </a:p>
        </p:txBody>
      </p:sp>
      <p:sp>
        <p:nvSpPr>
          <p:cNvPr id="18" name="Text 13"/>
          <p:cNvSpPr txBox="1"/>
          <p:nvPr/>
        </p:nvSpPr>
        <p:spPr>
          <a:xfrm>
            <a:off x="9131808" y="1783080"/>
            <a:ext cx="2325624" cy="640080"/>
          </a:xfrm>
          <a:prstGeom prst="rect">
            <a:avLst/>
          </a:prstGeom>
          <a:noFill/>
          <a:ln/>
        </p:spPr>
        <p:txBody>
          <a:bodyPr wrap="square" lIns="0" tIns="0" rIns="0" bIns="0" rtlCol="0" anchor="ctr"/>
          <a:lstStyle/>
          <a:p>
            <a:pPr indent="0" marL="0">
              <a:buNone/>
            </a:pPr>
            <a:r>
              <a:rPr lang="en-US" sz="3200" b="1" dirty="0">
                <a:solidFill>
                  <a:srgbClr val="D97706"/>
                </a:solidFill>
                <a:latin typeface="Calibri" pitchFamily="34" charset="0"/>
                <a:ea typeface="Calibri" pitchFamily="34" charset="-122"/>
                <a:cs typeface="Calibri" pitchFamily="34" charset="-120"/>
              </a:rPr>
              <a:t>TBC</a:t>
            </a:r>
            <a:endParaRPr lang="en-US" sz="3200" dirty="0"/>
          </a:p>
        </p:txBody>
      </p:sp>
      <p:sp>
        <p:nvSpPr>
          <p:cNvPr id="19" name="Text 14"/>
          <p:cNvSpPr txBox="1"/>
          <p:nvPr/>
        </p:nvSpPr>
        <p:spPr>
          <a:xfrm>
            <a:off x="548640" y="2880360"/>
            <a:ext cx="7315200" cy="365760"/>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Urgent repairs &amp; needs</a:t>
            </a:r>
            <a:endParaRPr lang="en-US" sz="1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3337560"/>
          <a:ext cx="11091672" cy="914400"/>
        </p:xfrm>
        <a:graphic>
          <a:graphicData uri="http://schemas.openxmlformats.org/drawingml/2006/table">
            <a:tbl>
              <a:tblPr/>
              <a:tblGrid>
                <a:gridCol w="1463040"/>
                <a:gridCol w="5120640"/>
                <a:gridCol w="1737360"/>
                <a:gridCol w="2770632"/>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Priority</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Item</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Est. cost</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F2937"/>
                    </a:solidFill>
                  </a:tcPr>
                </a:tc>
              </a:tr>
              <a:tr h="502920">
                <a:tc>
                  <a:txBody>
                    <a:bodyPr/>
                    <a:lstStyle/>
                    <a:p>
                      <a:pPr indent="0" marL="0">
                        <a:buNone/>
                      </a:pPr>
                      <a:r>
                        <a:rPr lang="en-US" sz="1300" b="1" dirty="0">
                          <a:solidFill>
                            <a:srgbClr val="DC2626"/>
                          </a:solidFill>
                          <a:latin typeface="Calibri" pitchFamily="34" charset="0"/>
                          <a:ea typeface="Calibri" pitchFamily="34" charset="-122"/>
                          <a:cs typeface="Calibri" pitchFamily="34" charset="-120"/>
                        </a:rPr>
                        <a:t>Urgent</a:t>
                      </a:r>
                      <a:endParaRPr lang="en-US" sz="13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00" b="1" dirty="0">
                          <a:solidFill>
                            <a:srgbClr val="D97706"/>
                          </a:solidFill>
                          <a:latin typeface="Calibri" pitchFamily="34" charset="0"/>
                          <a:ea typeface="Calibri" pitchFamily="34" charset="-122"/>
                          <a:cs typeface="Calibri" pitchFamily="34" charset="-120"/>
                        </a:rPr>
                        <a:t>TBC</a:t>
                      </a:r>
                      <a:endParaRPr lang="en-US" sz="13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D97706"/>
                          </a:solidFill>
                          <a:latin typeface="Calibri" pitchFamily="34" charset="0"/>
                          <a:ea typeface="Calibri" pitchFamily="34" charset="-122"/>
                          <a:cs typeface="Calibri" pitchFamily="34" charset="-120"/>
                        </a:rPr>
                        <a:t>TBC</a:t>
                      </a:r>
                      <a:endParaRPr lang="en-US" sz="13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00" b="1" dirty="0">
                          <a:solidFill>
                            <a:srgbClr val="D97706"/>
                          </a:solidFill>
                          <a:latin typeface="Calibri" pitchFamily="34" charset="0"/>
                          <a:ea typeface="Calibri" pitchFamily="34" charset="-122"/>
                          <a:cs typeface="Calibri" pitchFamily="34" charset="-120"/>
                        </a:rPr>
                        <a:t>TBC</a:t>
                      </a:r>
                      <a:endParaRPr lang="en-US" sz="13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indent="0" marL="0">
                        <a:buNone/>
                      </a:pPr>
                      <a:r>
                        <a:rPr lang="en-US" sz="1300" b="1" dirty="0">
                          <a:solidFill>
                            <a:srgbClr val="D97706"/>
                          </a:solidFill>
                          <a:latin typeface="Calibri" pitchFamily="34" charset="0"/>
                          <a:ea typeface="Calibri" pitchFamily="34" charset="-122"/>
                          <a:cs typeface="Calibri" pitchFamily="34" charset="-120"/>
                        </a:rPr>
                        <a:t>TBC</a:t>
                      </a:r>
                      <a:endParaRPr lang="en-US" sz="13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r" indent="0" marL="0">
                        <a:buNone/>
                      </a:pPr>
                      <a:r>
                        <a:rPr lang="en-US" sz="1300" b="1" dirty="0">
                          <a:solidFill>
                            <a:srgbClr val="D97706"/>
                          </a:solidFill>
                          <a:latin typeface="Calibri" pitchFamily="34" charset="0"/>
                          <a:ea typeface="Calibri" pitchFamily="34" charset="-122"/>
                          <a:cs typeface="Calibri" pitchFamily="34" charset="-120"/>
                        </a:rPr>
                        <a:t>TBC</a:t>
                      </a:r>
                      <a:endParaRPr lang="en-US" sz="13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indent="0" marL="0">
                        <a:buNone/>
                      </a:pPr>
                      <a:r>
                        <a:rPr lang="en-US" sz="1300" b="1" dirty="0">
                          <a:solidFill>
                            <a:srgbClr val="D97706"/>
                          </a:solidFill>
                          <a:latin typeface="Calibri" pitchFamily="34" charset="0"/>
                          <a:ea typeface="Calibri" pitchFamily="34" charset="-122"/>
                          <a:cs typeface="Calibri" pitchFamily="34" charset="-120"/>
                        </a:rPr>
                        <a:t>TBC</a:t>
                      </a:r>
                      <a:endParaRPr lang="en-US" sz="13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r>
              <a:tr h="502920">
                <a:tc>
                  <a:txBody>
                    <a:bodyPr/>
                    <a:lstStyle/>
                    <a:p>
                      <a:pPr indent="0" marL="0">
                        <a:buNone/>
                      </a:pPr>
                      <a:r>
                        <a:rPr lang="en-US" sz="1300" b="1" dirty="0">
                          <a:solidFill>
                            <a:srgbClr val="6B7280"/>
                          </a:solidFill>
                          <a:latin typeface="Calibri" pitchFamily="34" charset="0"/>
                          <a:ea typeface="Calibri" pitchFamily="34" charset="-122"/>
                          <a:cs typeface="Calibri" pitchFamily="34" charset="-120"/>
                        </a:rPr>
                        <a:t>Planned</a:t>
                      </a:r>
                      <a:endParaRPr lang="en-US" sz="13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00" b="1" dirty="0">
                          <a:solidFill>
                            <a:srgbClr val="D97706"/>
                          </a:solidFill>
                          <a:latin typeface="Calibri" pitchFamily="34" charset="0"/>
                          <a:ea typeface="Calibri" pitchFamily="34" charset="-122"/>
                          <a:cs typeface="Calibri" pitchFamily="34" charset="-120"/>
                        </a:rPr>
                        <a:t>TBC</a:t>
                      </a:r>
                      <a:endParaRPr lang="en-US" sz="13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D97706"/>
                          </a:solidFill>
                          <a:latin typeface="Calibri" pitchFamily="34" charset="0"/>
                          <a:ea typeface="Calibri" pitchFamily="34" charset="-122"/>
                          <a:cs typeface="Calibri" pitchFamily="34" charset="-120"/>
                        </a:rPr>
                        <a:t>TBC</a:t>
                      </a:r>
                      <a:endParaRPr lang="en-US" sz="13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00" b="1" dirty="0">
                          <a:solidFill>
                            <a:srgbClr val="D97706"/>
                          </a:solidFill>
                          <a:latin typeface="Calibri" pitchFamily="34" charset="0"/>
                          <a:ea typeface="Calibri" pitchFamily="34" charset="-122"/>
                          <a:cs typeface="Calibri" pitchFamily="34" charset="-120"/>
                        </a:rPr>
                        <a:t>TBC</a:t>
                      </a:r>
                      <a:endParaRPr lang="en-US" sz="13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502920">
                <a:tc>
                  <a:txBody>
                    <a:bodyPr/>
                    <a:lstStyle/>
                    <a:p>
                      <a:pPr indent="0" marL="0">
                        <a:buNone/>
                      </a:pP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DE9FE"/>
                    </a:solidFill>
                  </a:tcPr>
                </a:tc>
                <a:tc>
                  <a:txBody>
                    <a:bodyPr/>
                    <a:lstStyle/>
                    <a:p>
                      <a:pPr indent="0" marL="0">
                        <a:buNone/>
                      </a:pPr>
                      <a:r>
                        <a:rPr lang="en-US" sz="1300" b="1" dirty="0">
                          <a:solidFill>
                            <a:srgbClr val="111827"/>
                          </a:solidFill>
                          <a:latin typeface="Calibri" pitchFamily="34" charset="0"/>
                          <a:ea typeface="Calibri" pitchFamily="34" charset="-122"/>
                          <a:cs typeface="Calibri" pitchFamily="34" charset="-120"/>
                        </a:rPr>
                        <a:t>Total estimated cost</a:t>
                      </a:r>
                      <a:endParaRPr lang="en-US" sz="13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DE9FE"/>
                    </a:solidFill>
                  </a:tcPr>
                </a:tc>
                <a:tc>
                  <a:txBody>
                    <a:bodyPr/>
                    <a:lstStyle/>
                    <a:p>
                      <a:pPr algn="r" indent="0" marL="0">
                        <a:buNone/>
                      </a:pPr>
                      <a:r>
                        <a:rPr lang="en-US" sz="1300" b="1" dirty="0">
                          <a:solidFill>
                            <a:srgbClr val="D97706"/>
                          </a:solidFill>
                          <a:latin typeface="Calibri" pitchFamily="34" charset="0"/>
                          <a:ea typeface="Calibri" pitchFamily="34" charset="-122"/>
                          <a:cs typeface="Calibri" pitchFamily="34" charset="-120"/>
                        </a:rPr>
                        <a:t>TBC</a:t>
                      </a:r>
                      <a:endParaRPr lang="en-US" sz="13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DE9FE"/>
                    </a:solidFill>
                  </a:tcPr>
                </a:tc>
                <a:tc>
                  <a:txBody>
                    <a:bodyPr/>
                    <a:lstStyle/>
                    <a:p>
                      <a:pPr indent="0" marL="0">
                        <a:buNone/>
                      </a:pPr>
                      <a:endParaRPr lang="en-US" sz="1200" dirty="0">
                        <a:latin typeface="Calibri" charset="0"/>
                        <a:ea typeface="Calibri" charset="0"/>
                        <a:cs typeface="Calibri" charset="0"/>
                      </a:endParaRPr>
                    </a:p>
                  </a:txBody>
                  <a:tcPr marL="91440" marR="91440"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DE9FE"/>
                    </a:solidFill>
                  </a:tcPr>
                </a:tc>
              </a:tr>
            </a:tbl>
          </a:graphicData>
        </a:graphic>
      </p:graphicFrame>
      <p:sp>
        <p:nvSpPr>
          <p:cNvPr id="21" name="Text 1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Mississauga Terminal · F27 Senior Leadership Review · Sep 29, 2026</a:t>
            </a:r>
            <a:endParaRPr lang="en-US" sz="900" dirty="0"/>
          </a:p>
        </p:txBody>
      </p:sp>
      <p:sp>
        <p:nvSpPr>
          <p:cNvPr id="22" name="Text 16"/>
          <p:cNvSpPr txBox="1"/>
          <p:nvPr/>
        </p:nvSpPr>
        <p:spPr>
          <a:xfrm>
            <a:off x="10725912" y="6473952"/>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20 / 21</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A78BFA"/>
                </a:solidFill>
                <a:latin typeface="Calibri" pitchFamily="34" charset="0"/>
                <a:ea typeface="Calibri" pitchFamily="34" charset="-122"/>
                <a:cs typeface="Calibri" pitchFamily="34" charset="-120"/>
              </a:rPr>
              <a:t>RECAP &amp; OUTLOOK</a:t>
            </a:r>
            <a:endParaRPr lang="en-US" sz="1200" dirty="0"/>
          </a:p>
        </p:txBody>
      </p:sp>
      <p:sp>
        <p:nvSpPr>
          <p:cNvPr id="3" name="Text 1"/>
          <p:cNvSpPr txBox="1"/>
          <p:nvPr/>
        </p:nvSpPr>
        <p:spPr>
          <a:xfrm>
            <a:off x="548640" y="603504"/>
            <a:ext cx="11091672" cy="603504"/>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F26 recap &amp; F27 outlook</a:t>
            </a:r>
            <a:endParaRPr lang="en-US" sz="3000" dirty="0"/>
          </a:p>
        </p:txBody>
      </p:sp>
      <p:sp>
        <p:nvSpPr>
          <p:cNvPr id="4" name="Shape 2"/>
          <p:cNvSpPr/>
          <p:nvPr/>
        </p:nvSpPr>
        <p:spPr>
          <a:xfrm>
            <a:off x="548640" y="1463040"/>
            <a:ext cx="2194560" cy="1463040"/>
          </a:xfrm>
          <a:prstGeom prst="roundRect">
            <a:avLst>
              <a:gd name="adj" fmla="val 5000"/>
            </a:avLst>
          </a:prstGeom>
          <a:solidFill>
            <a:srgbClr val="1F2937"/>
          </a:solidFill>
          <a:ln w="12700">
            <a:solidFill>
              <a:srgbClr val="1F2937"/>
            </a:solidFill>
            <a:prstDash val="solid"/>
          </a:ln>
        </p:spPr>
      </p:sp>
      <p:sp>
        <p:nvSpPr>
          <p:cNvPr id="5" name="Text 3"/>
          <p:cNvSpPr txBox="1"/>
          <p:nvPr/>
        </p:nvSpPr>
        <p:spPr>
          <a:xfrm>
            <a:off x="731520" y="1618488"/>
            <a:ext cx="1828800" cy="274320"/>
          </a:xfrm>
          <a:prstGeom prst="rect">
            <a:avLst/>
          </a:prstGeom>
          <a:noFill/>
          <a:ln/>
        </p:spPr>
        <p:txBody>
          <a:bodyPr wrap="square" lIns="0" tIns="0" rIns="0" bIns="0" rtlCol="0" anchor="ctr"/>
          <a:lstStyle/>
          <a:p>
            <a:pPr indent="0" marL="0">
              <a:buNone/>
            </a:pPr>
            <a:r>
              <a:rPr lang="en-US" sz="1200" b="1" dirty="0">
                <a:solidFill>
                  <a:srgbClr val="9CA3AF"/>
                </a:solidFill>
                <a:latin typeface="Calibri" pitchFamily="34" charset="0"/>
                <a:ea typeface="Calibri" pitchFamily="34" charset="-122"/>
                <a:cs typeface="Calibri" pitchFamily="34" charset="-120"/>
              </a:rPr>
              <a:t>F25 actual cost</a:t>
            </a:r>
            <a:endParaRPr lang="en-US" sz="1200" dirty="0"/>
          </a:p>
        </p:txBody>
      </p:sp>
      <p:sp>
        <p:nvSpPr>
          <p:cNvPr id="6" name="Text 4"/>
          <p:cNvSpPr txBox="1"/>
          <p:nvPr/>
        </p:nvSpPr>
        <p:spPr>
          <a:xfrm>
            <a:off x="731520" y="1920240"/>
            <a:ext cx="1828800" cy="54864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$3,868,598</a:t>
            </a:r>
            <a:endParaRPr lang="en-US" sz="2100" dirty="0"/>
          </a:p>
        </p:txBody>
      </p:sp>
      <p:sp>
        <p:nvSpPr>
          <p:cNvPr id="7" name="Text 5"/>
          <p:cNvSpPr txBox="1"/>
          <p:nvPr/>
        </p:nvSpPr>
        <p:spPr>
          <a:xfrm>
            <a:off x="731520" y="2496312"/>
            <a:ext cx="1828800" cy="27432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Baseline</a:t>
            </a:r>
            <a:endParaRPr lang="en-US" sz="1050" dirty="0"/>
          </a:p>
        </p:txBody>
      </p:sp>
      <p:sp>
        <p:nvSpPr>
          <p:cNvPr id="8" name="Shape 6"/>
          <p:cNvSpPr/>
          <p:nvPr/>
        </p:nvSpPr>
        <p:spPr>
          <a:xfrm>
            <a:off x="2971800" y="1463040"/>
            <a:ext cx="2194560" cy="1463040"/>
          </a:xfrm>
          <a:prstGeom prst="roundRect">
            <a:avLst>
              <a:gd name="adj" fmla="val 5000"/>
            </a:avLst>
          </a:prstGeom>
          <a:solidFill>
            <a:srgbClr val="1F2937"/>
          </a:solidFill>
          <a:ln w="12700">
            <a:solidFill>
              <a:srgbClr val="1F2937"/>
            </a:solidFill>
            <a:prstDash val="solid"/>
          </a:ln>
        </p:spPr>
      </p:sp>
      <p:sp>
        <p:nvSpPr>
          <p:cNvPr id="9" name="Text 7"/>
          <p:cNvSpPr txBox="1"/>
          <p:nvPr/>
        </p:nvSpPr>
        <p:spPr>
          <a:xfrm>
            <a:off x="3154680" y="1618488"/>
            <a:ext cx="1828800" cy="274320"/>
          </a:xfrm>
          <a:prstGeom prst="rect">
            <a:avLst/>
          </a:prstGeom>
          <a:noFill/>
          <a:ln/>
        </p:spPr>
        <p:txBody>
          <a:bodyPr wrap="square" lIns="0" tIns="0" rIns="0" bIns="0" rtlCol="0" anchor="ctr"/>
          <a:lstStyle/>
          <a:p>
            <a:pPr indent="0" marL="0">
              <a:buNone/>
            </a:pPr>
            <a:r>
              <a:rPr lang="en-US" sz="1200" b="1" dirty="0">
                <a:solidFill>
                  <a:srgbClr val="9CA3AF"/>
                </a:solidFill>
                <a:latin typeface="Calibri" pitchFamily="34" charset="0"/>
                <a:ea typeface="Calibri" pitchFamily="34" charset="-122"/>
                <a:cs typeface="Calibri" pitchFamily="34" charset="-120"/>
              </a:rPr>
              <a:t>F26 target cost</a:t>
            </a:r>
            <a:endParaRPr lang="en-US" sz="1200" dirty="0"/>
          </a:p>
        </p:txBody>
      </p:sp>
      <p:sp>
        <p:nvSpPr>
          <p:cNvPr id="10" name="Text 8"/>
          <p:cNvSpPr txBox="1"/>
          <p:nvPr/>
        </p:nvSpPr>
        <p:spPr>
          <a:xfrm>
            <a:off x="3154680" y="1920240"/>
            <a:ext cx="1828800" cy="54864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$3,482,009</a:t>
            </a:r>
            <a:endParaRPr lang="en-US" sz="2100" dirty="0"/>
          </a:p>
        </p:txBody>
      </p:sp>
      <p:sp>
        <p:nvSpPr>
          <p:cNvPr id="11" name="Text 9"/>
          <p:cNvSpPr txBox="1"/>
          <p:nvPr/>
        </p:nvSpPr>
        <p:spPr>
          <a:xfrm>
            <a:off x="3154680" y="2496312"/>
            <a:ext cx="1828800" cy="27432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Plan set July 2025</a:t>
            </a:r>
            <a:endParaRPr lang="en-US" sz="1050" dirty="0"/>
          </a:p>
        </p:txBody>
      </p:sp>
      <p:sp>
        <p:nvSpPr>
          <p:cNvPr id="12" name="Shape 10"/>
          <p:cNvSpPr/>
          <p:nvPr/>
        </p:nvSpPr>
        <p:spPr>
          <a:xfrm>
            <a:off x="5394960" y="1463040"/>
            <a:ext cx="2194560" cy="1463040"/>
          </a:xfrm>
          <a:prstGeom prst="roundRect">
            <a:avLst>
              <a:gd name="adj" fmla="val 5000"/>
            </a:avLst>
          </a:prstGeom>
          <a:solidFill>
            <a:srgbClr val="1F2937"/>
          </a:solidFill>
          <a:ln w="12700">
            <a:solidFill>
              <a:srgbClr val="1F2937"/>
            </a:solidFill>
            <a:prstDash val="solid"/>
          </a:ln>
        </p:spPr>
      </p:sp>
      <p:sp>
        <p:nvSpPr>
          <p:cNvPr id="13" name="Text 11"/>
          <p:cNvSpPr txBox="1"/>
          <p:nvPr/>
        </p:nvSpPr>
        <p:spPr>
          <a:xfrm>
            <a:off x="5577840" y="1618488"/>
            <a:ext cx="1828800" cy="274320"/>
          </a:xfrm>
          <a:prstGeom prst="rect">
            <a:avLst/>
          </a:prstGeom>
          <a:noFill/>
          <a:ln/>
        </p:spPr>
        <p:txBody>
          <a:bodyPr wrap="square" lIns="0" tIns="0" rIns="0" bIns="0" rtlCol="0" anchor="ctr"/>
          <a:lstStyle/>
          <a:p>
            <a:pPr indent="0" marL="0">
              <a:buNone/>
            </a:pPr>
            <a:r>
              <a:rPr lang="en-US" sz="1200" b="1" dirty="0">
                <a:solidFill>
                  <a:srgbClr val="9CA3AF"/>
                </a:solidFill>
                <a:latin typeface="Calibri" pitchFamily="34" charset="0"/>
                <a:ea typeface="Calibri" pitchFamily="34" charset="-122"/>
                <a:cs typeface="Calibri" pitchFamily="34" charset="-120"/>
              </a:rPr>
              <a:t>Required reduction</a:t>
            </a:r>
            <a:endParaRPr lang="en-US" sz="1200" dirty="0"/>
          </a:p>
        </p:txBody>
      </p:sp>
      <p:sp>
        <p:nvSpPr>
          <p:cNvPr id="14" name="Text 12"/>
          <p:cNvSpPr txBox="1"/>
          <p:nvPr/>
        </p:nvSpPr>
        <p:spPr>
          <a:xfrm>
            <a:off x="5577840" y="1920240"/>
            <a:ext cx="1828800" cy="54864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$386,589</a:t>
            </a:r>
            <a:endParaRPr lang="en-US" sz="2100" dirty="0"/>
          </a:p>
        </p:txBody>
      </p:sp>
      <p:sp>
        <p:nvSpPr>
          <p:cNvPr id="15" name="Text 13"/>
          <p:cNvSpPr txBox="1"/>
          <p:nvPr/>
        </p:nvSpPr>
        <p:spPr>
          <a:xfrm>
            <a:off x="5577840" y="2496312"/>
            <a:ext cx="1828800" cy="27432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F25 actual − F26 target</a:t>
            </a:r>
            <a:endParaRPr lang="en-US" sz="1050" dirty="0"/>
          </a:p>
        </p:txBody>
      </p:sp>
      <p:sp>
        <p:nvSpPr>
          <p:cNvPr id="16" name="Shape 14"/>
          <p:cNvSpPr/>
          <p:nvPr/>
        </p:nvSpPr>
        <p:spPr>
          <a:xfrm>
            <a:off x="548640" y="3154680"/>
            <a:ext cx="2194560" cy="1463040"/>
          </a:xfrm>
          <a:prstGeom prst="roundRect">
            <a:avLst>
              <a:gd name="adj" fmla="val 5000"/>
            </a:avLst>
          </a:prstGeom>
          <a:solidFill>
            <a:srgbClr val="1F2937"/>
          </a:solidFill>
          <a:ln w="12700">
            <a:solidFill>
              <a:srgbClr val="1F2937"/>
            </a:solidFill>
            <a:prstDash val="solid"/>
          </a:ln>
        </p:spPr>
      </p:sp>
      <p:sp>
        <p:nvSpPr>
          <p:cNvPr id="17" name="Text 15"/>
          <p:cNvSpPr txBox="1"/>
          <p:nvPr/>
        </p:nvSpPr>
        <p:spPr>
          <a:xfrm>
            <a:off x="731520" y="3310128"/>
            <a:ext cx="1828800" cy="274320"/>
          </a:xfrm>
          <a:prstGeom prst="rect">
            <a:avLst/>
          </a:prstGeom>
          <a:noFill/>
          <a:ln/>
        </p:spPr>
        <p:txBody>
          <a:bodyPr wrap="square" lIns="0" tIns="0" rIns="0" bIns="0" rtlCol="0" anchor="ctr"/>
          <a:lstStyle/>
          <a:p>
            <a:pPr indent="0" marL="0">
              <a:buNone/>
            </a:pPr>
            <a:r>
              <a:rPr lang="en-US" sz="1200" b="1" dirty="0">
                <a:solidFill>
                  <a:srgbClr val="9CA3AF"/>
                </a:solidFill>
                <a:latin typeface="Calibri" pitchFamily="34" charset="0"/>
                <a:ea typeface="Calibri" pitchFamily="34" charset="-122"/>
                <a:cs typeface="Calibri" pitchFamily="34" charset="-120"/>
              </a:rPr>
              <a:t>Identified savings</a:t>
            </a:r>
            <a:endParaRPr lang="en-US" sz="1200" dirty="0"/>
          </a:p>
        </p:txBody>
      </p:sp>
      <p:sp>
        <p:nvSpPr>
          <p:cNvPr id="18" name="Text 16"/>
          <p:cNvSpPr txBox="1"/>
          <p:nvPr/>
        </p:nvSpPr>
        <p:spPr>
          <a:xfrm>
            <a:off x="731520" y="3611880"/>
            <a:ext cx="1828800" cy="548640"/>
          </a:xfrm>
          <a:prstGeom prst="rect">
            <a:avLst/>
          </a:prstGeom>
          <a:noFill/>
          <a:ln/>
        </p:spPr>
        <p:txBody>
          <a:bodyPr wrap="square" lIns="0" tIns="0" rIns="0" bIns="0" rtlCol="0" anchor="ctr"/>
          <a:lstStyle/>
          <a:p>
            <a:pPr indent="0" marL="0">
              <a:buNone/>
            </a:pPr>
            <a:r>
              <a:rPr lang="en-US" sz="2100" b="1" dirty="0">
                <a:solidFill>
                  <a:srgbClr val="34D399"/>
                </a:solidFill>
                <a:latin typeface="Calibri" pitchFamily="34" charset="0"/>
                <a:ea typeface="Calibri" pitchFamily="34" charset="-122"/>
                <a:cs typeface="Calibri" pitchFamily="34" charset="-120"/>
              </a:rPr>
              <a:t>$427,001</a:t>
            </a:r>
            <a:endParaRPr lang="en-US" sz="2100" dirty="0"/>
          </a:p>
        </p:txBody>
      </p:sp>
      <p:sp>
        <p:nvSpPr>
          <p:cNvPr id="19" name="Text 17"/>
          <p:cNvSpPr txBox="1"/>
          <p:nvPr/>
        </p:nvSpPr>
        <p:spPr>
          <a:xfrm>
            <a:off x="731520" y="4187952"/>
            <a:ext cx="1828800" cy="27432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110% of required reduction</a:t>
            </a:r>
            <a:endParaRPr lang="en-US" sz="1050" dirty="0"/>
          </a:p>
        </p:txBody>
      </p:sp>
      <p:sp>
        <p:nvSpPr>
          <p:cNvPr id="20" name="Shape 18"/>
          <p:cNvSpPr/>
          <p:nvPr/>
        </p:nvSpPr>
        <p:spPr>
          <a:xfrm>
            <a:off x="2971800" y="3154680"/>
            <a:ext cx="2194560" cy="1463040"/>
          </a:xfrm>
          <a:prstGeom prst="roundRect">
            <a:avLst>
              <a:gd name="adj" fmla="val 5000"/>
            </a:avLst>
          </a:prstGeom>
          <a:solidFill>
            <a:srgbClr val="1F2937"/>
          </a:solidFill>
          <a:ln w="12700">
            <a:solidFill>
              <a:srgbClr val="1F2937"/>
            </a:solidFill>
            <a:prstDash val="solid"/>
          </a:ln>
        </p:spPr>
      </p:sp>
      <p:sp>
        <p:nvSpPr>
          <p:cNvPr id="21" name="Text 19"/>
          <p:cNvSpPr txBox="1"/>
          <p:nvPr/>
        </p:nvSpPr>
        <p:spPr>
          <a:xfrm>
            <a:off x="3154680" y="3310128"/>
            <a:ext cx="1828800" cy="274320"/>
          </a:xfrm>
          <a:prstGeom prst="rect">
            <a:avLst/>
          </a:prstGeom>
          <a:noFill/>
          <a:ln/>
        </p:spPr>
        <p:txBody>
          <a:bodyPr wrap="square" lIns="0" tIns="0" rIns="0" bIns="0" rtlCol="0" anchor="ctr"/>
          <a:lstStyle/>
          <a:p>
            <a:pPr indent="0" marL="0">
              <a:buNone/>
            </a:pPr>
            <a:r>
              <a:rPr lang="en-US" sz="1200" b="1" dirty="0">
                <a:solidFill>
                  <a:srgbClr val="9CA3AF"/>
                </a:solidFill>
                <a:latin typeface="Calibri" pitchFamily="34" charset="0"/>
                <a:ea typeface="Calibri" pitchFamily="34" charset="-122"/>
                <a:cs typeface="Calibri" pitchFamily="34" charset="-120"/>
              </a:rPr>
              <a:t>F26 actual cost</a:t>
            </a:r>
            <a:endParaRPr lang="en-US" sz="1200" dirty="0"/>
          </a:p>
        </p:txBody>
      </p:sp>
      <p:sp>
        <p:nvSpPr>
          <p:cNvPr id="22" name="Text 20"/>
          <p:cNvSpPr txBox="1"/>
          <p:nvPr/>
        </p:nvSpPr>
        <p:spPr>
          <a:xfrm>
            <a:off x="3154680" y="3611880"/>
            <a:ext cx="1828800" cy="548640"/>
          </a:xfrm>
          <a:prstGeom prst="rect">
            <a:avLst/>
          </a:prstGeom>
          <a:noFill/>
          <a:ln/>
        </p:spPr>
        <p:txBody>
          <a:bodyPr wrap="square" lIns="0" tIns="0" rIns="0" bIns="0" rtlCol="0" anchor="ctr"/>
          <a:lstStyle/>
          <a:p>
            <a:pPr indent="0" marL="0">
              <a:buNone/>
            </a:pPr>
            <a:r>
              <a:rPr lang="en-US" sz="2100" b="1" dirty="0">
                <a:solidFill>
                  <a:srgbClr val="D97706"/>
                </a:solidFill>
                <a:latin typeface="Calibri" pitchFamily="34" charset="0"/>
                <a:ea typeface="Calibri" pitchFamily="34" charset="-122"/>
                <a:cs typeface="Calibri" pitchFamily="34" charset="-120"/>
              </a:rPr>
              <a:t>TBC</a:t>
            </a:r>
            <a:endParaRPr lang="en-US" sz="2100" dirty="0"/>
          </a:p>
        </p:txBody>
      </p:sp>
      <p:sp>
        <p:nvSpPr>
          <p:cNvPr id="23" name="Text 21"/>
          <p:cNvSpPr txBox="1"/>
          <p:nvPr/>
        </p:nvSpPr>
        <p:spPr>
          <a:xfrm>
            <a:off x="3154680" y="4187952"/>
            <a:ext cx="1828800" cy="27432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Full year, when closed</a:t>
            </a:r>
            <a:endParaRPr lang="en-US" sz="1050" dirty="0"/>
          </a:p>
        </p:txBody>
      </p:sp>
      <p:sp>
        <p:nvSpPr>
          <p:cNvPr id="24" name="Shape 22"/>
          <p:cNvSpPr/>
          <p:nvPr/>
        </p:nvSpPr>
        <p:spPr>
          <a:xfrm>
            <a:off x="5394960" y="3154680"/>
            <a:ext cx="2194560" cy="1463040"/>
          </a:xfrm>
          <a:prstGeom prst="roundRect">
            <a:avLst>
              <a:gd name="adj" fmla="val 5000"/>
            </a:avLst>
          </a:prstGeom>
          <a:solidFill>
            <a:srgbClr val="1F2937"/>
          </a:solidFill>
          <a:ln w="12700">
            <a:solidFill>
              <a:srgbClr val="1F2937"/>
            </a:solidFill>
            <a:prstDash val="solid"/>
          </a:ln>
        </p:spPr>
      </p:sp>
      <p:sp>
        <p:nvSpPr>
          <p:cNvPr id="25" name="Text 23"/>
          <p:cNvSpPr txBox="1"/>
          <p:nvPr/>
        </p:nvSpPr>
        <p:spPr>
          <a:xfrm>
            <a:off x="5577840" y="3310128"/>
            <a:ext cx="1828800" cy="274320"/>
          </a:xfrm>
          <a:prstGeom prst="rect">
            <a:avLst/>
          </a:prstGeom>
          <a:noFill/>
          <a:ln/>
        </p:spPr>
        <p:txBody>
          <a:bodyPr wrap="square" lIns="0" tIns="0" rIns="0" bIns="0" rtlCol="0" anchor="ctr"/>
          <a:lstStyle/>
          <a:p>
            <a:pPr indent="0" marL="0">
              <a:buNone/>
            </a:pPr>
            <a:r>
              <a:rPr lang="en-US" sz="1200" b="1" dirty="0">
                <a:solidFill>
                  <a:srgbClr val="9CA3AF"/>
                </a:solidFill>
                <a:latin typeface="Calibri" pitchFamily="34" charset="0"/>
                <a:ea typeface="Calibri" pitchFamily="34" charset="-122"/>
                <a:cs typeface="Calibri" pitchFamily="34" charset="-120"/>
              </a:rPr>
              <a:t>F26 actual savings</a:t>
            </a:r>
            <a:endParaRPr lang="en-US" sz="1200" dirty="0"/>
          </a:p>
        </p:txBody>
      </p:sp>
      <p:sp>
        <p:nvSpPr>
          <p:cNvPr id="26" name="Text 24"/>
          <p:cNvSpPr txBox="1"/>
          <p:nvPr/>
        </p:nvSpPr>
        <p:spPr>
          <a:xfrm>
            <a:off x="5577840" y="3611880"/>
            <a:ext cx="1828800" cy="548640"/>
          </a:xfrm>
          <a:prstGeom prst="rect">
            <a:avLst/>
          </a:prstGeom>
          <a:noFill/>
          <a:ln/>
        </p:spPr>
        <p:txBody>
          <a:bodyPr wrap="square" lIns="0" tIns="0" rIns="0" bIns="0" rtlCol="0" anchor="ctr"/>
          <a:lstStyle/>
          <a:p>
            <a:pPr indent="0" marL="0">
              <a:buNone/>
            </a:pPr>
            <a:r>
              <a:rPr lang="en-US" sz="2100" b="1" dirty="0">
                <a:solidFill>
                  <a:srgbClr val="D97706"/>
                </a:solidFill>
                <a:latin typeface="Calibri" pitchFamily="34" charset="0"/>
                <a:ea typeface="Calibri" pitchFamily="34" charset="-122"/>
                <a:cs typeface="Calibri" pitchFamily="34" charset="-120"/>
              </a:rPr>
              <a:t>TBC</a:t>
            </a:r>
            <a:endParaRPr lang="en-US" sz="2100" dirty="0"/>
          </a:p>
        </p:txBody>
      </p:sp>
      <p:sp>
        <p:nvSpPr>
          <p:cNvPr id="27" name="Text 25"/>
          <p:cNvSpPr txBox="1"/>
          <p:nvPr/>
        </p:nvSpPr>
        <p:spPr>
          <a:xfrm>
            <a:off x="5577840" y="4187952"/>
            <a:ext cx="1828800" cy="27432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vs F25 actual</a:t>
            </a:r>
            <a:endParaRPr lang="en-US" sz="1050" dirty="0"/>
          </a:p>
        </p:txBody>
      </p:sp>
      <p:sp>
        <p:nvSpPr>
          <p:cNvPr id="28" name="Text 26"/>
          <p:cNvSpPr txBox="1"/>
          <p:nvPr/>
        </p:nvSpPr>
        <p:spPr>
          <a:xfrm>
            <a:off x="548640" y="5074920"/>
            <a:ext cx="7040880"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Questions &amp; discussion</a:t>
            </a:r>
            <a:endParaRPr lang="en-US" sz="3000" dirty="0"/>
          </a:p>
        </p:txBody>
      </p:sp>
      <p:sp>
        <p:nvSpPr>
          <p:cNvPr id="29" name="Shape 27"/>
          <p:cNvSpPr/>
          <p:nvPr/>
        </p:nvSpPr>
        <p:spPr>
          <a:xfrm>
            <a:off x="7909560" y="1463040"/>
            <a:ext cx="3730752" cy="4617720"/>
          </a:xfrm>
          <a:prstGeom prst="roundRect">
            <a:avLst>
              <a:gd name="adj" fmla="val 1961"/>
            </a:avLst>
          </a:prstGeom>
          <a:solidFill>
            <a:srgbClr val="1F2937"/>
          </a:solidFill>
          <a:ln w="12700">
            <a:solidFill>
              <a:srgbClr val="1F2937"/>
            </a:solidFill>
            <a:prstDash val="solid"/>
          </a:ln>
        </p:spPr>
      </p:sp>
      <p:sp>
        <p:nvSpPr>
          <p:cNvPr id="30" name="Shape 28"/>
          <p:cNvSpPr/>
          <p:nvPr/>
        </p:nvSpPr>
        <p:spPr>
          <a:xfrm>
            <a:off x="8138160" y="1691640"/>
            <a:ext cx="502920" cy="502920"/>
          </a:xfrm>
          <a:prstGeom prst="ellipse">
            <a:avLst/>
          </a:prstGeom>
          <a:solidFill>
            <a:srgbClr val="7C3AED"/>
          </a:solidFill>
          <a:ln w="12700">
            <a:solidFill>
              <a:srgbClr val="7C3AED"/>
            </a:solidFill>
            <a:prstDash val="solid"/>
          </a:ln>
        </p:spPr>
      </p:sp>
      <p:pic>
        <p:nvPicPr>
          <p:cNvPr id="31" name="Image 0" descr="preencoded.png">    </p:cNvPr>
          <p:cNvPicPr>
            <a:picLocks noChangeAspect="1"/>
          </p:cNvPicPr>
          <p:nvPr/>
        </p:nvPicPr>
        <p:blipFill>
          <a:blip r:embed="rId1"/>
          <a:stretch>
            <a:fillRect/>
          </a:stretch>
        </p:blipFill>
        <p:spPr>
          <a:xfrm>
            <a:off x="8263890" y="1817370"/>
            <a:ext cx="251460" cy="251460"/>
          </a:xfrm>
          <a:prstGeom prst="rect">
            <a:avLst/>
          </a:prstGeom>
        </p:spPr>
      </p:pic>
      <p:sp>
        <p:nvSpPr>
          <p:cNvPr id="32" name="Text 29"/>
          <p:cNvSpPr txBox="1"/>
          <p:nvPr/>
        </p:nvSpPr>
        <p:spPr>
          <a:xfrm>
            <a:off x="8778240" y="1691640"/>
            <a:ext cx="265176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F27 so far</a:t>
            </a:r>
            <a:endParaRPr lang="en-US" sz="1800" dirty="0"/>
          </a:p>
        </p:txBody>
      </p:sp>
      <p:sp>
        <p:nvSpPr>
          <p:cNvPr id="33" name="Text 30"/>
          <p:cNvSpPr txBox="1"/>
          <p:nvPr/>
        </p:nvSpPr>
        <p:spPr>
          <a:xfrm>
            <a:off x="8138160" y="2423160"/>
            <a:ext cx="3291840" cy="347472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E5E7EB"/>
                </a:solidFill>
                <a:latin typeface="Calibri" pitchFamily="34" charset="0"/>
                <a:ea typeface="Calibri" pitchFamily="34" charset="-122"/>
                <a:cs typeface="Calibri" pitchFamily="34" charset="-120"/>
              </a:rPr>
              <a:t>91.1% of SCA hour allowance — 391 hrs under (≈$13.1K).</a:t>
            </a:r>
            <a:endParaRPr lang="en-US" sz="1300" dirty="0"/>
          </a:p>
          <a:p>
            <a:pPr marL="177800" indent="-177800">
              <a:spcAft>
                <a:spcPts val="900"/>
              </a:spcAft>
              <a:buSzPct val="100000"/>
              <a:buChar char="•"/>
            </a:pPr>
            <a:r>
              <a:rPr lang="en-US" sz="1300" dirty="0">
                <a:solidFill>
                  <a:srgbClr val="E5E7EB"/>
                </a:solidFill>
                <a:latin typeface="Calibri" pitchFamily="34" charset="0"/>
                <a:ea typeface="Calibri" pitchFamily="34" charset="-122"/>
                <a:cs typeface="Calibri" pitchFamily="34" charset="-120"/>
              </a:rPr>
              <a:t>Cost per PRO $6.60 vs $6.85 target (96.3%, watch).</a:t>
            </a:r>
            <a:endParaRPr lang="en-US" sz="1300" dirty="0"/>
          </a:p>
          <a:p>
            <a:pPr marL="177800" indent="-177800">
              <a:spcAft>
                <a:spcPts val="900"/>
              </a:spcAft>
              <a:buSzPct val="100000"/>
              <a:buChar char="•"/>
            </a:pPr>
            <a:r>
              <a:rPr lang="en-US" sz="1300" dirty="0">
                <a:solidFill>
                  <a:srgbClr val="E5E7EB"/>
                </a:solidFill>
                <a:latin typeface="Calibri" pitchFamily="34" charset="0"/>
                <a:ea typeface="Calibri" pitchFamily="34" charset="-122"/>
                <a:cs typeface="Calibri" pitchFamily="34" charset="-120"/>
              </a:rPr>
              <a:t>Cost per unit −16.7%; units/hr +26.7%; OT 9 hrs.</a:t>
            </a:r>
            <a:endParaRPr lang="en-US" sz="1300" dirty="0"/>
          </a:p>
          <a:p>
            <a:pPr marL="177800" indent="-177800">
              <a:spcAft>
                <a:spcPts val="900"/>
              </a:spcAft>
              <a:buSzPct val="100000"/>
              <a:buChar char="•"/>
            </a:pPr>
            <a:r>
              <a:rPr lang="en-US" sz="1300" dirty="0">
                <a:solidFill>
                  <a:srgbClr val="E5E7EB"/>
                </a:solidFill>
                <a:latin typeface="Calibri" pitchFamily="34" charset="0"/>
                <a:ea typeface="Calibri" pitchFamily="34" charset="-122"/>
                <a:cs typeface="Calibri" pitchFamily="34" charset="-120"/>
              </a:rPr>
              <a:t>Focus: PPH 3,327 vs 4,258 goal (−21.9%).</a:t>
            </a:r>
            <a:endParaRPr lang="en-US" sz="1300" dirty="0"/>
          </a:p>
          <a:p>
            <a:pPr marL="177800" indent="-177800">
              <a:spcAft>
                <a:spcPts val="900"/>
              </a:spcAft>
              <a:buSzPct val="100000"/>
              <a:buChar char="•"/>
            </a:pPr>
            <a:r>
              <a:rPr lang="en-US" sz="1300" dirty="0">
                <a:solidFill>
                  <a:srgbClr val="E5E7EB"/>
                </a:solidFill>
                <a:latin typeface="Calibri" pitchFamily="34" charset="0"/>
                <a:ea typeface="Calibri" pitchFamily="34" charset="-122"/>
                <a:cs typeface="Calibri" pitchFamily="34" charset="-120"/>
              </a:rPr>
              <a:t>F27 take-out target: </a:t>
            </a:r>
            <a:pPr indent="0" marL="0">
              <a:buNone/>
            </a:pPr>
            <a:r>
              <a:rPr lang="en-US" sz="1300" b="1" dirty="0">
                <a:solidFill>
                  <a:srgbClr val="D97706"/>
                </a:solidFill>
                <a:latin typeface="Calibri" pitchFamily="34" charset="0"/>
                <a:ea typeface="Calibri" pitchFamily="34" charset="-122"/>
                <a:cs typeface="Calibri" pitchFamily="34" charset="-120"/>
              </a:rPr>
              <a:t>TBC</a:t>
            </a:r>
            <a:endParaRPr lang="en-US" sz="1300" dirty="0"/>
          </a:p>
        </p:txBody>
      </p:sp>
      <p:sp>
        <p:nvSpPr>
          <p:cNvPr id="34" name="Text 3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Mississauga Terminal · F27 Senior Leadership Review · Sep 29, 2026</a:t>
            </a:r>
            <a:endParaRPr lang="en-US" sz="900" dirty="0"/>
          </a:p>
        </p:txBody>
      </p:sp>
      <p:sp>
        <p:nvSpPr>
          <p:cNvPr id="35" name="Text 32"/>
          <p:cNvSpPr txBox="1"/>
          <p:nvPr/>
        </p:nvSpPr>
        <p:spPr>
          <a:xfrm>
            <a:off x="10725912" y="6473952"/>
            <a:ext cx="9144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21 / 21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Mississauga Terminal · F27 Senior Leadership Review</dc:title>
  <dc:subject>PptxGenJS Presentation</dc:subject>
  <dc:creator>PptxGenJS</dc:creator>
  <cp:lastModifiedBy>PptxGenJS</cp:lastModifiedBy>
  <cp:revision>1</cp:revision>
  <dcterms:created xsi:type="dcterms:W3CDTF">2026-09-29T13:36:22Z</dcterms:created>
  <dcterms:modified xsi:type="dcterms:W3CDTF">2026-09-29T13:36:22Z</dcterms:modified>
</cp:coreProperties>
</file>