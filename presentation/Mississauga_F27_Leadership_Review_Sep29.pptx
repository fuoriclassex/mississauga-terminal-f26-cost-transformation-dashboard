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9.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0.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7C3AE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C4B5F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labour cost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Sheet1!$B$2:$B$3</c:f>
              <c:numCache>
                <c:formatCode>General</c:formatCode>
                <c:ptCount val="2"/>
                <c:pt idx="0">
                  <c:v>69281.3</c:v>
                </c:pt>
                <c:pt idx="1">
                  <c:v>58917.47</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Sheet1!$C$2:$C$3</c:f>
              <c:numCache>
                <c:formatCode>General</c:formatCode>
                <c:ptCount val="2"/>
                <c:pt idx="0">
                  <c:v>130457.82</c:v>
                </c:pt>
                <c:pt idx="1">
                  <c:v>74774.87</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11827"/>
                </a:solidFill>
                <a:latin typeface="Calibri"/>
              </a:defRPr>
            </a:pPr>
            <a:r>
              <a:rPr sz="1000" b="0" i="0" u="none" strike="noStrike">
                <a:solidFill>
                  <a:srgbClr val="111827"/>
                </a:solidFill>
                <a:latin typeface="Calibri"/>
              </a:rPr>
              <a:t>Terminal Admin cost — Q1 by fiscal year</a:t>
            </a:r>
          </a:p>
        </c:rich>
      </c:tx>
      <c:layout/>
      <c:overlay val="0"/>
    </c:title>
    <c:autoTitleDeleted val="0"/>
    <c:plotArea>
      <c:layout/>
      <c:barChart>
        <c:barDir val="col"/>
        <c:grouping val="clustered"/>
        <c:varyColors val="0"/>
        <c:ser>
          <c:idx val="0"/>
          <c:order val="0"/>
          <c:tx>
            <c:strRef>
              <c:f>Sheet1!$B$1</c:f>
              <c:strCache>
                <c:ptCount val="1"/>
                <c:pt idx="0">
                  <c:v>Terminal Admin cost</c:v>
                </c:pt>
              </c:strCache>
            </c:strRef>
          </c:tx>
          <c:spPr>
            <a:solidFill>
              <a:srgbClr val="A78BFA"/>
            </a:solidFill>
            <a:effectLst/>
          </c:spPr>
          <c:invertIfNegative val="0"/>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9CA3AF"/>
              </a:solidFill>
              <a:effectLst/>
            </c:spPr>
          </c:dPt>
          <c:dPt>
            <c:idx val="3"/>
            <c:invertIfNegative val="0"/>
            <c:bubble3D val="0"/>
            <c:spPr>
              <a:solidFill>
                <a:srgbClr val="7C3AED"/>
              </a:solidFill>
              <a:effectLst/>
            </c:spPr>
          </c:dPt>
          <c:cat>
            <c:multiLvlStrRef>
              <c:f>Sheet1!$A$2:$A$5</c:f>
              <c:multiLvlStrCache>
                <c:ptCount val="4"/>
                <c:lvl>
                  <c:pt idx="0">
                    <c:v>F24</c:v>
                  </c:pt>
                  <c:pt idx="1">
                    <c:v>F25</c:v>
                  </c:pt>
                  <c:pt idx="2">
                    <c:v>F26</c:v>
                  </c:pt>
                  <c:pt idx="3">
                    <c:v>F27</c:v>
                  </c:pt>
                </c:lvl>
              </c:multiLvlStrCache>
            </c:multiLvlStrRef>
          </c:cat>
          <c:val>
            <c:numRef>
              <c:f>Sheet1!$B$2:$B$5</c:f>
              <c:numCache>
                <c:formatCode>General</c:formatCode>
                <c:ptCount val="4"/>
                <c:pt idx="0">
                  <c:v>21.5</c:v>
                </c:pt>
                <c:pt idx="1">
                  <c:v>22.7</c:v>
                </c:pt>
                <c:pt idx="2">
                  <c:v>9.2</c:v>
                </c:pt>
                <c:pt idx="3">
                  <c:v>18.4</c:v>
                </c:pt>
              </c:numCache>
            </c:numRef>
          </c:val>
        </c:ser>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Top 6 accessorials · units this month</a:t>
            </a:r>
          </a:p>
        </c:rich>
      </c:tx>
      <c:layout/>
      <c:overlay val="0"/>
    </c:title>
    <c:autoTitleDeleted val="0"/>
    <c:plotArea>
      <c:layout/>
      <c:barChart>
        <c:barDir val="bar"/>
        <c:grouping val="clustered"/>
        <c:varyColors val="0"/>
        <c:ser>
          <c:idx val="0"/>
          <c:order val="0"/>
          <c:tx>
            <c:strRef>
              <c:f>Sheet1!$B$1</c:f>
              <c:strCache>
                <c:ptCount val="1"/>
                <c:pt idx="0">
                  <c:v>Units</c:v>
                </c:pt>
              </c:strCache>
            </c:strRef>
          </c:tx>
          <c:spPr>
            <a:solidFill>
              <a:srgbClr val="7C3AED"/>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Private residence delivery</c:v>
                  </c:pt>
                  <c:pt idx="1">
                    <c:v>Tailgate delivery</c:v>
                  </c:pt>
                  <c:pt idx="2">
                    <c:v>Appointment delivery</c:v>
                  </c:pt>
                  <c:pt idx="3">
                    <c:v>Appointment pick-up</c:v>
                  </c:pt>
                  <c:pt idx="4">
                    <c:v>Tailgate pick-up</c:v>
                  </c:pt>
                  <c:pt idx="5">
                    <c:v>Private residence pick-up</c:v>
                  </c:pt>
                </c:lvl>
              </c:multiLvlStrCache>
            </c:multiLvlStrRef>
          </c:cat>
          <c:val>
            <c:numRef>
              <c:f>Sheet1!$B$2:$B$7</c:f>
              <c:numCache>
                <c:formatCode>General</c:formatCode>
                <c:ptCount val="6"/>
                <c:pt idx="0">
                  <c:v>18400</c:v>
                </c:pt>
                <c:pt idx="1">
                  <c:v>6174</c:v>
                </c:pt>
                <c:pt idx="2">
                  <c:v>5468</c:v>
                </c:pt>
                <c:pt idx="3">
                  <c:v>807</c:v>
                </c:pt>
                <c:pt idx="4">
                  <c:v>630</c:v>
                </c:pt>
                <c:pt idx="5">
                  <c:v>578</c:v>
                </c:pt>
              </c:numCache>
            </c:numRef>
          </c:val>
        </c:ser>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2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Weekly accessorial units · 12 weeks (*partial)</a:t>
            </a:r>
          </a:p>
        </c:rich>
      </c:tx>
      <c:layout/>
      <c:overlay val="0"/>
    </c:title>
    <c:autoTitleDeleted val="0"/>
    <c:plotArea>
      <c:layout/>
      <c:barChart>
        <c:barDir val="col"/>
        <c:grouping val="clustered"/>
        <c:varyColors val="0"/>
        <c:ser>
          <c:idx val="0"/>
          <c:order val="0"/>
          <c:tx>
            <c:strRef>
              <c:f>Sheet1!$B$1</c:f>
              <c:strCache>
                <c:ptCount val="1"/>
                <c:pt idx="0">
                  <c:v>Units (K)</c:v>
                </c:pt>
              </c:strCache>
            </c:strRef>
          </c:tx>
          <c:spPr>
            <a:solidFill>
              <a:srgbClr val="A78BFA"/>
            </a:solidFill>
            <a:effectLst/>
          </c:spPr>
          <c:invertIfNegative val="0"/>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Jul 13</c:v>
                  </c:pt>
                  <c:pt idx="1">
                    <c:v>Jul 20</c:v>
                  </c:pt>
                  <c:pt idx="2">
                    <c:v>Jul 27</c:v>
                  </c:pt>
                  <c:pt idx="3">
                    <c:v>Aug 3</c:v>
                  </c:pt>
                  <c:pt idx="4">
                    <c:v>Aug 10</c:v>
                  </c:pt>
                  <c:pt idx="5">
                    <c:v>Aug 17</c:v>
                  </c:pt>
                  <c:pt idx="6">
                    <c:v>Aug 24</c:v>
                  </c:pt>
                  <c:pt idx="7">
                    <c:v>Aug 31</c:v>
                  </c:pt>
                  <c:pt idx="8">
                    <c:v>Sep 7</c:v>
                  </c:pt>
                  <c:pt idx="9">
                    <c:v>Sep 14</c:v>
                  </c:pt>
                  <c:pt idx="10">
                    <c:v>Sep 21</c:v>
                  </c:pt>
                  <c:pt idx="11">
                    <c:v>Sep 28*</c:v>
                  </c:pt>
                </c:lvl>
              </c:multiLvlStrCache>
            </c:multiLvlStrRef>
          </c:cat>
          <c:val>
            <c:numRef>
              <c:f>Sheet1!$B$2:$B$13</c:f>
              <c:numCache>
                <c:formatCode>General</c:formatCode>
                <c:ptCount val="12"/>
                <c:pt idx="0">
                  <c:v>8</c:v>
                </c:pt>
                <c:pt idx="1">
                  <c:v>7.9</c:v>
                </c:pt>
                <c:pt idx="2">
                  <c:v>7.2</c:v>
                </c:pt>
                <c:pt idx="3">
                  <c:v>6.3</c:v>
                </c:pt>
                <c:pt idx="4">
                  <c:v>7.6</c:v>
                </c:pt>
                <c:pt idx="5">
                  <c:v>7.1</c:v>
                </c:pt>
                <c:pt idx="6">
                  <c:v>8.1</c:v>
                </c:pt>
                <c:pt idx="7">
                  <c:v>7.7</c:v>
                </c:pt>
                <c:pt idx="8">
                  <c:v>6.7</c:v>
                </c:pt>
                <c:pt idx="9">
                  <c:v>7.5</c:v>
                </c:pt>
                <c:pt idx="10">
                  <c:v>6.6</c:v>
                </c:pt>
                <c:pt idx="11">
                  <c:v>2.8</c:v>
                </c:pt>
              </c:numCache>
            </c:numRef>
          </c:val>
        </c:ser>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8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Reweighs % of target by month · 2026</a:t>
            </a:r>
          </a:p>
        </c:rich>
      </c:tx>
      <c:layout/>
      <c:overlay val="0"/>
    </c:title>
    <c:autoTitleDeleted val="0"/>
    <c:plotArea>
      <c:layout/>
      <c:barChart>
        <c:barDir val="col"/>
        <c:grouping val="clustered"/>
        <c:varyColors val="0"/>
        <c:ser>
          <c:idx val="0"/>
          <c:order val="0"/>
          <c:tx>
            <c:strRef>
              <c:f>Sheet1!$B$1</c:f>
              <c:strCache>
                <c:ptCount val="1"/>
                <c:pt idx="0">
                  <c:v>Reweighs % of target</c:v>
                </c:pt>
              </c:strCache>
            </c:strRef>
          </c:tx>
          <c:spPr>
            <a:solidFill>
              <a:srgbClr val="A78BF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A78BFA"/>
              </a:solidFill>
              <a:effectLst/>
            </c:spPr>
          </c:dPt>
          <c:dPt>
            <c:idx val="3"/>
            <c:invertIfNegative val="0"/>
            <c:bubble3D val="0"/>
            <c:spPr>
              <a:solidFill>
                <a:srgbClr val="A78BFA"/>
              </a:solidFill>
              <a:effectLst/>
            </c:spPr>
          </c:dPt>
          <c:dPt>
            <c:idx val="4"/>
            <c:invertIfNegative val="0"/>
            <c:bubble3D val="0"/>
            <c:spPr>
              <a:solidFill>
                <a:srgbClr val="7C3AED"/>
              </a:solidFill>
              <a:effectLst/>
            </c:spPr>
          </c:dPt>
          <c:dPt>
            <c:idx val="5"/>
            <c:invertIfNegative val="0"/>
            <c:bubble3D val="0"/>
            <c:spPr>
              <a:solidFill>
                <a:srgbClr val="7C3AED"/>
              </a:solidFill>
              <a:effectLst/>
            </c:spPr>
          </c:dPt>
          <c:dPt>
            <c:idx val="6"/>
            <c:invertIfNegative val="0"/>
            <c:bubble3D val="0"/>
            <c:spPr>
              <a:solidFill>
                <a:srgbClr val="7C3AED"/>
              </a:solidFill>
              <a:effectLst/>
            </c:spPr>
          </c:dPt>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Sheet1!$B$2:$B$8</c:f>
              <c:numCache>
                <c:formatCode>General</c:formatCode>
                <c:ptCount val="7"/>
                <c:pt idx="0">
                  <c:v>75.4</c:v>
                </c:pt>
                <c:pt idx="1">
                  <c:v>144.3</c:v>
                </c:pt>
                <c:pt idx="2">
                  <c:v>111.5</c:v>
                </c:pt>
                <c:pt idx="3">
                  <c:v>124.1</c:v>
                </c:pt>
                <c:pt idx="4">
                  <c:v>143.9</c:v>
                </c:pt>
                <c:pt idx="5">
                  <c:v>126.4</c:v>
                </c:pt>
                <c:pt idx="6">
                  <c:v>131.8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Target 100%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Sheet1!$C$2:$C$8</c:f>
              <c:numCache>
                <c:formatCode>General</c:formatCode>
                <c:ptCount val="7"/>
                <c:pt idx="0">
                  <c:v>100</c:v>
                </c:pt>
                <c:pt idx="1">
                  <c:v>100</c:v>
                </c:pt>
                <c:pt idx="2">
                  <c:v>100</c:v>
                </c:pt>
                <c:pt idx="3">
                  <c:v>100</c:v>
                </c:pt>
                <c:pt idx="4">
                  <c:v>100</c:v>
                </c:pt>
                <c:pt idx="5">
                  <c:v>100</c:v>
                </c:pt>
                <c:pt idx="6">
                  <c:v>100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6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7C3AED"/>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Monthly LF score · all lanes vs ex-Moncton</a:t>
            </a:r>
          </a:p>
        </c:rich>
      </c:tx>
      <c:layout/>
      <c:overlay val="0"/>
    </c:title>
    <c:autoTitleDeleted val="0"/>
    <c:plotArea>
      <c:layout/>
      <c:barChart>
        <c:barDir val="col"/>
        <c:grouping val="clustered"/>
        <c:varyColors val="0"/>
        <c:ser>
          <c:idx val="0"/>
          <c:order val="0"/>
          <c:tx>
            <c:strRef>
              <c:f>Sheet1!$B$1</c:f>
              <c:strCache>
                <c:ptCount val="1"/>
                <c:pt idx="0">
                  <c:v>All lanes</c:v>
                </c:pt>
              </c:strCache>
            </c:strRef>
          </c:tx>
          <c:spPr>
            <a:solidFill>
              <a:srgbClr val="C4B5F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Sheet1!$B$2:$B$4</c:f>
              <c:numCache>
                <c:formatCode>General</c:formatCode>
                <c:ptCount val="3"/>
                <c:pt idx="0">
                  <c:v>38.9</c:v>
                </c:pt>
                <c:pt idx="1">
                  <c:v>33.4</c:v>
                </c:pt>
                <c:pt idx="2">
                  <c:v>36.7</c:v>
                </c:pt>
              </c:numCache>
            </c:numRef>
          </c:val>
        </c:ser>
        <c:ser>
          <c:idx val="1"/>
          <c:order val="1"/>
          <c:tx>
            <c:strRef>
              <c:f>Sheet1!$C$1</c:f>
              <c:strCache>
                <c:ptCount val="1"/>
                <c:pt idx="0">
                  <c:v>Ex-Moncton</c:v>
                </c:pt>
              </c:strCache>
            </c:strRef>
          </c:tx>
          <c:spPr>
            <a:solidFill>
              <a:srgbClr val="7C3AE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Sheet1!$C$2:$C$4</c:f>
              <c:numCache>
                <c:formatCode>General</c:formatCode>
                <c:ptCount val="3"/>
                <c:pt idx="0">
                  <c:v>42</c:v>
                </c:pt>
                <c:pt idx="1">
                  <c:v>38.5</c:v>
                </c:pt>
                <c:pt idx="2">
                  <c:v>37.6</c:v>
                </c:pt>
              </c:numCache>
            </c:numRef>
          </c:val>
        </c:ser>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following the same structure Brampton used yesterday: safety, service, SCA, productivity, and the status of the building. Our September month-to-date headlines: adjusted on-time service is 93.7 percent, we are at 91.1 percent of our SCA hour allowance, cost per unit is down 16.7 percent and units per hour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topics today, in the same order as the other terminals.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had zero recordable incidents in F27 to date, July and August, so our F27 TRIR is 0.00 against 1.21 for F26 and a 12-month average of 1.21, a 100 percent improvement, and it has been 384 days since our last recordable on September 10, 2025.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our safety work stands. Completed: the roofing work zones are barricaded with N95 masks available, and the new shunt pre-trip checklist is used every shift. Our ongoing practices include incident reporting: incidents are reported promptly and supervisors work directly with OHS on WSIB forms and a safe return to work; we document detailed descriptions, identify root cause with OHS, and follow up corrective actions so controls prevent recurrence; and forklift and TDG training is completed before expiry. Planned are load securement and decking with ANCRA decks and divider deck-board kits, and freight-handling equipment such as panel trucks and racks for windows, panels and car parts to improve handling and cut damages, and the ideas list is where we go next, including agency onboarding and a safety plan for the new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 Damaged freight bills averaged 1.61 percent over the last seven days, trending down from 3.34 percent on September 22 to 0.31 percent on September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September 1 to 28, 91.37 percent of freight bills were scanned in and out of the terminal, 90.50 percent were completely scanned, and 90.66 percent of items were scanned. September is in line with fiscal year to date, at 91.4 against 91.6 percent of freight bills scanned, and slightly down on the last period. That still leaves about 4,550 freight bills not scanned this month, and closing that gap also reduces the already-serviced false positives we saw in missed pickups.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 labour cost month to date is 133.7 thousand against 199.7 thousand for all of last September, with the biggest drop in agency wages. Remember F27 is 18 of 21 working days, so the like-for-like signal is cost per unit: 2.19 against 2.64, down 16.7 percent, which on this month's units is roughly 26.9 thousand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company-employee labour only, first quarter F26 against first quarter F27 to date. Company dock operations hours are essentially flat, 5,205 against 5,207, so the hour reduction on the SCA slides has come from agency labour. Terminal admin hours roughly doubled, from 446 to 909, and admin cost doubled against F26, but it is still below F24 and F25; F26 was the unusually low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Our workforce mix is shifting toward D&amp;R employees: agency is 61.4 percent of dock hours this September against 70.5 percent last September, or 1.59 agency hours per D&amp;R hour against 2.39. Per-shift headcount by agency and D&amp;R is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Accessorials are revenue we only get if the service is coded on the freight bill. This month private-residence, tailgate and appointment deliveries make up about 91 percent of roughly 32,900 accessorial units. Weekly volume has run between about 6 and 8 thousand units; the week of September 28 is only partial.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 truck reweighs protect revenue by correcting under-declared weights on freight we originate. Every month since April has been above the 100 percent reweigh target, and F27 has run between 126 and 144 percent, with 123 percent over the last seven days. The overall 85.16 percent, 44,283 reweighs against a 52 thousand target, is lower because it covers all selected dates including the March ramp-up month at 75.4 percent; week 40 is only a partial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confirmed F27 saving so far is 61,000 dollars a year from eliminating the dispatcher role and centralizing dispatch. Additional initiatives are in development and will be added as they are confirmed; the F27 take-out target is being confirmed with Finance. Cargo claims on the claims report for our terminal, T-0502, total 13,432.53 dollars for August 2026, as September has not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Closing the PPH gap is tied to the 1,181-hour reduction target for the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is down on last year and the hourly rate is up 5.5 percent, which pushes cost per CWT up about 5 percent. Offsetting that, units per hour are up 26.7 percent: at last year's rate, this month's units would have needed roughly 1,066 more hours, worth about 35.6 thousand dollars. And at the current pace we are ahead of the 1,181-hour reduction target, at roughly 139 percent of it; both values are calculated from report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pickup and delivery measures for the first quarter of F27, July to September, from the P&amp;D daily totals dashboard. We ran 4,608 trips averaging just under 10 stops and about 14 bills per trip, at 2.09 stops per hour. These give us the baseline to track P&amp;D productivity through the rest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factor is our biggest open opportunity: 36.4 percent of outbound loads so far in F27 are above 80 percent full, rising to 39.5 percent if we exclude Moncton. Moncton is understated because Toyota loads our trailer at Bowmanville and that footage is not being captured correctly; 20.5 percent of Moncton bills have no cube against 3 percent elsewhere, and the fix is under way. Our long western lanes load well, while Windsor, Quebec City and Dartmouth run light and need a consolidation and frequency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good and bad loads look like on our dock. The target loads use a deck beam or deck board to build a second tier and are strapped; the fix examples are loose freight on a diagonal and MAAX glass shower doors on improvised wooden A-frames or leaning in transit. We plan to add ANCRA knock-down pallet decks and divider deck-board kits, panel trucks and racks for windows, doors, panels and car parts, and load bars and straps on every mixed load, to lift load factor, reduce damages and claims, and make unloading safer. For example, MAAX shower doors and bases and 75-inch TVs currently ride standing loose, as on trailer 47520; slotting them into panel carts, the yellow cart by hand or the grey cage by forklift, secures them in transit, speeds loading and unloading, and cuts breakage.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Clock-in and clock-out discipline turns late starts, missed lunches and early releases into hours we do not pay for. Weekly hours saved are being confirmed; once entered, dollars are calculated at the September month-to-date rate of 33.43 per hour from the productivity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Mississauga is relocating to a new building by year end, most likely before 2027. Because of that, we are not planning any major repair spend at the current site; our focus is a clean transition for the team and our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use only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image" Target="../media/image-13-1.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image" Target="../media/image-20-3.jpg"/><Relationship Id="rId4" Type="http://schemas.openxmlformats.org/officeDocument/2006/relationships/image" Target="../media/image-20-4.jpg"/><Relationship Id="rId5" Type="http://schemas.openxmlformats.org/officeDocument/2006/relationships/image" Target="../media/image-20-5.jp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731520" y="1417320"/>
            <a:ext cx="7315200" cy="320040"/>
          </a:xfrm>
          <a:prstGeom prst="rect">
            <a:avLst/>
          </a:prstGeom>
          <a:noFill/>
          <a:ln/>
        </p:spPr>
        <p:txBody>
          <a:bodyPr wrap="square" lIns="0" tIns="0" rIns="0" bIns="0" rtlCol="0" anchor="ctr"/>
          <a:lstStyle/>
          <a:p>
            <a:pPr indent="0" marL="0">
              <a:buNone/>
            </a:pPr>
            <a:r>
              <a:rPr lang="en-US" sz="1400" b="1" spc="300" kern="0" dirty="0">
                <a:solidFill>
                  <a:srgbClr val="A78BFA"/>
                </a:solidFill>
                <a:latin typeface="Calibri" pitchFamily="34" charset="0"/>
                <a:ea typeface="Calibri" pitchFamily="34" charset="-122"/>
                <a:cs typeface="Calibri" pitchFamily="34" charset="-120"/>
              </a:rPr>
              <a:t>DAY &amp; ROSS · MISSISSAUGA TERMINAL</a:t>
            </a:r>
            <a:endParaRPr lang="en-US" sz="1400" dirty="0"/>
          </a:p>
        </p:txBody>
      </p:sp>
      <p:sp>
        <p:nvSpPr>
          <p:cNvPr id="3" name="Text 1"/>
          <p:cNvSpPr txBox="1"/>
          <p:nvPr/>
        </p:nvSpPr>
        <p:spPr>
          <a:xfrm>
            <a:off x="731520" y="1828800"/>
            <a:ext cx="7498080" cy="128016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Mississauga Terminal ·</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F27 Senior Leadership Review</a:t>
            </a:r>
            <a:endParaRPr lang="en-US" sz="3400" dirty="0"/>
          </a:p>
        </p:txBody>
      </p:sp>
      <p:sp>
        <p:nvSpPr>
          <p:cNvPr id="4" name="Text 2"/>
          <p:cNvSpPr txBox="1"/>
          <p:nvPr/>
        </p:nvSpPr>
        <p:spPr>
          <a:xfrm>
            <a:off x="731520" y="3429000"/>
            <a:ext cx="7498080" cy="457200"/>
          </a:xfrm>
          <a:prstGeom prst="rect">
            <a:avLst/>
          </a:prstGeom>
          <a:noFill/>
          <a:ln/>
        </p:spPr>
        <p:txBody>
          <a:bodyPr wrap="square" lIns="0" tIns="0" rIns="0" bIns="0" rtlCol="0" anchor="ctr"/>
          <a:lstStyle/>
          <a:p>
            <a:pPr indent="0" marL="0">
              <a:buNone/>
            </a:pPr>
            <a:r>
              <a:rPr lang="en-US" sz="2000" dirty="0">
                <a:solidFill>
                  <a:srgbClr val="D1D5DB"/>
                </a:solidFill>
                <a:latin typeface="Calibri" pitchFamily="34" charset="0"/>
                <a:ea typeface="Calibri" pitchFamily="34" charset="-122"/>
                <a:cs typeface="Calibri" pitchFamily="34" charset="-120"/>
              </a:rPr>
              <a:t>Safety · Service · SCA · Productivity · Terminal</a:t>
            </a:r>
            <a:endParaRPr lang="en-US" sz="2000" dirty="0"/>
          </a:p>
        </p:txBody>
      </p:sp>
      <p:sp>
        <p:nvSpPr>
          <p:cNvPr id="5" name="Text 3"/>
          <p:cNvSpPr txBox="1"/>
          <p:nvPr/>
        </p:nvSpPr>
        <p:spPr>
          <a:xfrm>
            <a:off x="731520" y="4343400"/>
            <a:ext cx="749808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Sep 29, 2026</a:t>
            </a:r>
            <a:pPr indent="0" marL="0">
              <a:buNone/>
            </a:pPr>
            <a:r>
              <a:rPr lang="en-US" sz="1600" dirty="0">
                <a:solidFill>
                  <a:srgbClr val="9CA3AF"/>
                </a:solidFill>
                <a:latin typeface="Calibri" pitchFamily="34" charset="0"/>
                <a:ea typeface="Calibri" pitchFamily="34" charset="-122"/>
                <a:cs typeface="Calibri" pitchFamily="34" charset="-120"/>
              </a:rPr>
              <a:t>   ·   SVP &amp; Senior Leadership</a:t>
            </a:r>
            <a:endParaRPr lang="en-US" sz="1600" dirty="0"/>
          </a:p>
        </p:txBody>
      </p:sp>
      <p:sp>
        <p:nvSpPr>
          <p:cNvPr id="6" name="Text 4"/>
          <p:cNvSpPr txBox="1"/>
          <p:nvPr/>
        </p:nvSpPr>
        <p:spPr>
          <a:xfrm>
            <a:off x="731520" y="4754880"/>
            <a:ext cx="7498080" cy="320040"/>
          </a:xfrm>
          <a:prstGeom prst="rect">
            <a:avLst/>
          </a:prstGeom>
          <a:noFill/>
          <a:ln/>
        </p:spPr>
        <p:txBody>
          <a:bodyPr wrap="square" lIns="0" tIns="0" rIns="0" bIns="0" rtlCol="0" anchor="ctr"/>
          <a:lstStyle/>
          <a:p>
            <a:pPr indent="0" marL="0">
              <a:buNone/>
            </a:pPr>
            <a:r>
              <a:rPr lang="en-US" sz="1400" dirty="0">
                <a:solidFill>
                  <a:srgbClr val="9CA3AF"/>
                </a:solidFill>
                <a:latin typeface="Calibri" pitchFamily="34" charset="0"/>
                <a:ea typeface="Calibri" pitchFamily="34" charset="-122"/>
                <a:cs typeface="Calibri" pitchFamily="34" charset="-120"/>
              </a:rPr>
              <a:t>Fiscal F27 · Jul 1, 2026 – Jun 30, 2027</a:t>
            </a:r>
            <a:endParaRPr lang="en-US" sz="1400" dirty="0"/>
          </a:p>
        </p:txBody>
      </p:sp>
      <p:sp>
        <p:nvSpPr>
          <p:cNvPr id="7" name="Shape 5"/>
          <p:cNvSpPr/>
          <p:nvPr/>
        </p:nvSpPr>
        <p:spPr>
          <a:xfrm>
            <a:off x="8412480" y="1280160"/>
            <a:ext cx="3227832" cy="4434840"/>
          </a:xfrm>
          <a:prstGeom prst="roundRect">
            <a:avLst>
              <a:gd name="adj" fmla="val 2266"/>
            </a:avLst>
          </a:prstGeom>
          <a:solidFill>
            <a:srgbClr val="1F2937"/>
          </a:solidFill>
          <a:ln w="12700">
            <a:solidFill>
              <a:srgbClr val="1F2937"/>
            </a:solidFill>
            <a:prstDash val="solid"/>
          </a:ln>
        </p:spPr>
      </p:sp>
      <p:sp>
        <p:nvSpPr>
          <p:cNvPr id="8" name="Text 6"/>
          <p:cNvSpPr txBox="1"/>
          <p:nvPr/>
        </p:nvSpPr>
        <p:spPr>
          <a:xfrm>
            <a:off x="8641080" y="1463040"/>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F27 HEADLINES · LATEST</a:t>
            </a:r>
            <a:endParaRPr lang="en-US" sz="1100" dirty="0"/>
          </a:p>
        </p:txBody>
      </p:sp>
      <p:sp>
        <p:nvSpPr>
          <p:cNvPr id="9" name="Text 7"/>
          <p:cNvSpPr txBox="1"/>
          <p:nvPr/>
        </p:nvSpPr>
        <p:spPr>
          <a:xfrm>
            <a:off x="8641080" y="1719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0.00</a:t>
            </a:r>
            <a:endParaRPr lang="en-US" sz="2100" dirty="0"/>
          </a:p>
        </p:txBody>
      </p:sp>
      <p:sp>
        <p:nvSpPr>
          <p:cNvPr id="10" name="Text 8"/>
          <p:cNvSpPr txBox="1"/>
          <p:nvPr/>
        </p:nvSpPr>
        <p:spPr>
          <a:xfrm>
            <a:off x="10012680" y="1719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TRIR F27 YTD (Jul–Aug)</a:t>
            </a:r>
            <a:endParaRPr lang="en-US" sz="1100" dirty="0"/>
          </a:p>
        </p:txBody>
      </p:sp>
      <p:sp>
        <p:nvSpPr>
          <p:cNvPr id="11" name="Text 9"/>
          <p:cNvSpPr txBox="1"/>
          <p:nvPr/>
        </p:nvSpPr>
        <p:spPr>
          <a:xfrm>
            <a:off x="8641080" y="21762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93.7%</a:t>
            </a:r>
            <a:endParaRPr lang="en-US" sz="2100" dirty="0"/>
          </a:p>
        </p:txBody>
      </p:sp>
      <p:sp>
        <p:nvSpPr>
          <p:cNvPr id="12" name="Text 10"/>
          <p:cNvSpPr txBox="1"/>
          <p:nvPr/>
        </p:nvSpPr>
        <p:spPr>
          <a:xfrm>
            <a:off x="10012680" y="21762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OTS Sept (adj., incl. partners)</a:t>
            </a:r>
            <a:endParaRPr lang="en-US" sz="1100" dirty="0"/>
          </a:p>
        </p:txBody>
      </p:sp>
      <p:sp>
        <p:nvSpPr>
          <p:cNvPr id="13" name="Text 11"/>
          <p:cNvSpPr txBox="1"/>
          <p:nvPr/>
        </p:nvSpPr>
        <p:spPr>
          <a:xfrm>
            <a:off x="8641080" y="26334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91.1%</a:t>
            </a:r>
            <a:endParaRPr lang="en-US" sz="2100" dirty="0"/>
          </a:p>
        </p:txBody>
      </p:sp>
      <p:sp>
        <p:nvSpPr>
          <p:cNvPr id="14" name="Text 12"/>
          <p:cNvSpPr txBox="1"/>
          <p:nvPr/>
        </p:nvSpPr>
        <p:spPr>
          <a:xfrm>
            <a:off x="10012680" y="26334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of SCA hour allowance</a:t>
            </a:r>
            <a:endParaRPr lang="en-US" sz="1100" dirty="0"/>
          </a:p>
        </p:txBody>
      </p:sp>
      <p:sp>
        <p:nvSpPr>
          <p:cNvPr id="15" name="Text 13"/>
          <p:cNvSpPr txBox="1"/>
          <p:nvPr/>
        </p:nvSpPr>
        <p:spPr>
          <a:xfrm>
            <a:off x="8641080" y="30906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−16.7%</a:t>
            </a:r>
            <a:endParaRPr lang="en-US" sz="2100" dirty="0"/>
          </a:p>
        </p:txBody>
      </p:sp>
      <p:sp>
        <p:nvSpPr>
          <p:cNvPr id="16" name="Text 14"/>
          <p:cNvSpPr txBox="1"/>
          <p:nvPr/>
        </p:nvSpPr>
        <p:spPr>
          <a:xfrm>
            <a:off x="10012680" y="30906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cost per unit vs F26</a:t>
            </a:r>
            <a:endParaRPr lang="en-US" sz="1100" dirty="0"/>
          </a:p>
        </p:txBody>
      </p:sp>
      <p:sp>
        <p:nvSpPr>
          <p:cNvPr id="17" name="Text 15"/>
          <p:cNvSpPr txBox="1"/>
          <p:nvPr/>
        </p:nvSpPr>
        <p:spPr>
          <a:xfrm>
            <a:off x="8641080" y="35478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+26.7%</a:t>
            </a:r>
            <a:endParaRPr lang="en-US" sz="2100" dirty="0"/>
          </a:p>
        </p:txBody>
      </p:sp>
      <p:sp>
        <p:nvSpPr>
          <p:cNvPr id="18" name="Text 16"/>
          <p:cNvSpPr txBox="1"/>
          <p:nvPr/>
        </p:nvSpPr>
        <p:spPr>
          <a:xfrm>
            <a:off x="10012680" y="35478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units per hour vs F26</a:t>
            </a:r>
            <a:endParaRPr lang="en-US" sz="1100" dirty="0"/>
          </a:p>
        </p:txBody>
      </p:sp>
      <p:sp>
        <p:nvSpPr>
          <p:cNvPr id="19" name="Text 17"/>
          <p:cNvSpPr txBox="1"/>
          <p:nvPr/>
        </p:nvSpPr>
        <p:spPr>
          <a:xfrm>
            <a:off x="8641080" y="4005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 hrs</a:t>
            </a:r>
            <a:endParaRPr lang="en-US" sz="2100" dirty="0"/>
          </a:p>
        </p:txBody>
      </p:sp>
      <p:sp>
        <p:nvSpPr>
          <p:cNvPr id="20" name="Text 18"/>
          <p:cNvSpPr txBox="1"/>
          <p:nvPr/>
        </p:nvSpPr>
        <p:spPr>
          <a:xfrm>
            <a:off x="10012680" y="4005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overtime MTD</a:t>
            </a:r>
            <a:endParaRPr lang="en-US" sz="1100" dirty="0"/>
          </a:p>
        </p:txBody>
      </p:sp>
      <p:sp>
        <p:nvSpPr>
          <p:cNvPr id="21" name="Text 19"/>
          <p:cNvSpPr txBox="1"/>
          <p:nvPr/>
        </p:nvSpPr>
        <p:spPr>
          <a:xfrm>
            <a:off x="8641080" y="4507992"/>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FOCUS</a:t>
            </a:r>
            <a:endParaRPr lang="en-US" sz="1100" dirty="0"/>
          </a:p>
        </p:txBody>
      </p:sp>
      <p:sp>
        <p:nvSpPr>
          <p:cNvPr id="22" name="Text 20"/>
          <p:cNvSpPr txBox="1"/>
          <p:nvPr/>
        </p:nvSpPr>
        <p:spPr>
          <a:xfrm>
            <a:off x="8641080" y="4754880"/>
            <a:ext cx="2834640" cy="457200"/>
          </a:xfrm>
          <a:prstGeom prst="rect">
            <a:avLst/>
          </a:prstGeom>
          <a:noFill/>
          <a:ln/>
        </p:spPr>
        <p:txBody>
          <a:bodyPr wrap="square" lIns="0" tIns="0" rIns="0" bIns="0" rtlCol="0" anchor="ctr"/>
          <a:lstStyle/>
          <a:p>
            <a:pPr indent="0" marL="0">
              <a:buNone/>
            </a:pPr>
            <a:r>
              <a:rPr lang="en-US" sz="2200" b="1" dirty="0">
                <a:solidFill>
                  <a:srgbClr val="F87171"/>
                </a:solidFill>
                <a:latin typeface="Calibri" pitchFamily="34" charset="0"/>
                <a:ea typeface="Calibri" pitchFamily="34" charset="-122"/>
                <a:cs typeface="Calibri" pitchFamily="34" charset="-120"/>
              </a:rPr>
              <a:t>−21.9%</a:t>
            </a:r>
            <a:pPr indent="0" marL="0">
              <a:buNone/>
            </a:pPr>
            <a:r>
              <a:rPr lang="en-US" sz="1300" dirty="0">
                <a:solidFill>
                  <a:srgbClr val="D1D5DB"/>
                </a:solidFill>
                <a:latin typeface="Calibri" pitchFamily="34" charset="0"/>
                <a:ea typeface="Calibri" pitchFamily="34" charset="-122"/>
                <a:cs typeface="Calibri" pitchFamily="34" charset="-120"/>
              </a:rPr>
              <a:t>  PPH gap to goal</a:t>
            </a:r>
            <a:endParaRPr lang="en-US" sz="2200" dirty="0"/>
          </a:p>
        </p:txBody>
      </p:sp>
      <p:sp>
        <p:nvSpPr>
          <p:cNvPr id="23" name="Text 21"/>
          <p:cNvSpPr txBox="1"/>
          <p:nvPr/>
        </p:nvSpPr>
        <p:spPr>
          <a:xfrm>
            <a:off x="8641080" y="5212080"/>
            <a:ext cx="2834640" cy="274320"/>
          </a:xfrm>
          <a:prstGeom prst="rect">
            <a:avLst/>
          </a:prstGeom>
          <a:noFill/>
          <a:ln/>
        </p:spPr>
        <p:txBody>
          <a:bodyPr wrap="square" lIns="0" tIns="0" rIns="0" bIns="0" rtlCol="0" anchor="ctr"/>
          <a:lstStyle/>
          <a:p>
            <a:pPr indent="0" marL="0">
              <a:buNone/>
            </a:pPr>
            <a:r>
              <a:rPr lang="en-US" sz="1100" dirty="0">
                <a:solidFill>
                  <a:srgbClr val="9CA3AF"/>
                </a:solidFill>
                <a:latin typeface="Calibri" pitchFamily="34" charset="0"/>
                <a:ea typeface="Calibri" pitchFamily="34" charset="-122"/>
                <a:cs typeface="Calibri" pitchFamily="34" charset="-120"/>
              </a:rPr>
              <a:t>3,327 vs 4,258 goal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508760"/>
            <a:ext cx="566928" cy="566928"/>
          </a:xfrm>
          <a:prstGeom prst="ellipse">
            <a:avLst/>
          </a:prstGeom>
          <a:solidFill>
            <a:srgbClr val="7C3AED"/>
          </a:solidFill>
          <a:ln w="12700">
            <a:solidFill>
              <a:srgbClr val="7C3AED"/>
            </a:solidFill>
            <a:prstDash val="solid"/>
          </a:ln>
        </p:spPr>
      </p:sp>
      <p:sp>
        <p:nvSpPr>
          <p:cNvPr id="5" name="Text 3"/>
          <p:cNvSpPr txBox="1"/>
          <p:nvPr/>
        </p:nvSpPr>
        <p:spPr>
          <a:xfrm>
            <a:off x="548640" y="15087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508760"/>
            <a:ext cx="566928" cy="566928"/>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1421892" y="1650492"/>
            <a:ext cx="283464" cy="283464"/>
          </a:xfrm>
          <a:prstGeom prst="rect">
            <a:avLst/>
          </a:prstGeom>
        </p:spPr>
      </p:pic>
      <p:sp>
        <p:nvSpPr>
          <p:cNvPr id="8" name="Text 5"/>
          <p:cNvSpPr txBox="1"/>
          <p:nvPr/>
        </p:nvSpPr>
        <p:spPr>
          <a:xfrm>
            <a:off x="2103120" y="14721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8196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safety initiatives</a:t>
            </a:r>
            <a:endParaRPr lang="en-US" sz="1300" dirty="0"/>
          </a:p>
        </p:txBody>
      </p:sp>
      <p:sp>
        <p:nvSpPr>
          <p:cNvPr id="10" name="Shape 7"/>
          <p:cNvSpPr/>
          <p:nvPr/>
        </p:nvSpPr>
        <p:spPr>
          <a:xfrm>
            <a:off x="548640" y="2423160"/>
            <a:ext cx="566928" cy="566928"/>
          </a:xfrm>
          <a:prstGeom prst="ellipse">
            <a:avLst/>
          </a:prstGeom>
          <a:solidFill>
            <a:srgbClr val="7C3AED"/>
          </a:solidFill>
          <a:ln w="12700">
            <a:solidFill>
              <a:srgbClr val="7C3AED"/>
            </a:solidFill>
            <a:prstDash val="solid"/>
          </a:ln>
        </p:spPr>
      </p:sp>
      <p:sp>
        <p:nvSpPr>
          <p:cNvPr id="11" name="Text 8"/>
          <p:cNvSpPr txBox="1"/>
          <p:nvPr/>
        </p:nvSpPr>
        <p:spPr>
          <a:xfrm>
            <a:off x="548640" y="24231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423160"/>
            <a:ext cx="566928" cy="566928"/>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1421892" y="2564892"/>
            <a:ext cx="283464" cy="283464"/>
          </a:xfrm>
          <a:prstGeom prst="rect">
            <a:avLst/>
          </a:prstGeom>
        </p:spPr>
      </p:pic>
      <p:sp>
        <p:nvSpPr>
          <p:cNvPr id="14" name="Text 10"/>
          <p:cNvSpPr txBox="1"/>
          <p:nvPr/>
        </p:nvSpPr>
        <p:spPr>
          <a:xfrm>
            <a:off x="2103120" y="23865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7340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missed pickups, scanning compliance</a:t>
            </a:r>
            <a:endParaRPr lang="en-US" sz="1300" dirty="0"/>
          </a:p>
        </p:txBody>
      </p:sp>
      <p:sp>
        <p:nvSpPr>
          <p:cNvPr id="16" name="Shape 12"/>
          <p:cNvSpPr/>
          <p:nvPr/>
        </p:nvSpPr>
        <p:spPr>
          <a:xfrm>
            <a:off x="548640" y="3337560"/>
            <a:ext cx="566928" cy="566928"/>
          </a:xfrm>
          <a:prstGeom prst="ellipse">
            <a:avLst/>
          </a:prstGeom>
          <a:solidFill>
            <a:srgbClr val="7C3AED"/>
          </a:solidFill>
          <a:ln w="12700">
            <a:solidFill>
              <a:srgbClr val="7C3AED"/>
            </a:solidFill>
            <a:prstDash val="solid"/>
          </a:ln>
        </p:spPr>
      </p:sp>
      <p:sp>
        <p:nvSpPr>
          <p:cNvPr id="17" name="Text 13"/>
          <p:cNvSpPr txBox="1"/>
          <p:nvPr/>
        </p:nvSpPr>
        <p:spPr>
          <a:xfrm>
            <a:off x="548640" y="33375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3337560"/>
            <a:ext cx="566928" cy="566928"/>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1421892" y="3479292"/>
            <a:ext cx="283464" cy="283464"/>
          </a:xfrm>
          <a:prstGeom prst="rect">
            <a:avLst/>
          </a:prstGeom>
        </p:spPr>
      </p:pic>
      <p:sp>
        <p:nvSpPr>
          <p:cNvPr id="20" name="Text 15"/>
          <p:cNvSpPr txBox="1"/>
          <p:nvPr/>
        </p:nvSpPr>
        <p:spPr>
          <a:xfrm>
            <a:off x="2103120" y="33009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SCA</a:t>
            </a:r>
            <a:endParaRPr lang="en-US" sz="1900" dirty="0"/>
          </a:p>
        </p:txBody>
      </p:sp>
      <p:sp>
        <p:nvSpPr>
          <p:cNvPr id="21" name="Text 16"/>
          <p:cNvSpPr txBox="1"/>
          <p:nvPr/>
        </p:nvSpPr>
        <p:spPr>
          <a:xfrm>
            <a:off x="2103120" y="36484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Cost per PRO, hours, labour, accessorials, savings plan</a:t>
            </a:r>
            <a:endParaRPr lang="en-US" sz="1300" dirty="0"/>
          </a:p>
        </p:txBody>
      </p:sp>
      <p:sp>
        <p:nvSpPr>
          <p:cNvPr id="22" name="Shape 17"/>
          <p:cNvSpPr/>
          <p:nvPr/>
        </p:nvSpPr>
        <p:spPr>
          <a:xfrm>
            <a:off x="548640" y="4251960"/>
            <a:ext cx="566928" cy="566928"/>
          </a:xfrm>
          <a:prstGeom prst="ellipse">
            <a:avLst/>
          </a:prstGeom>
          <a:solidFill>
            <a:srgbClr val="7C3AED"/>
          </a:solidFill>
          <a:ln w="12700">
            <a:solidFill>
              <a:srgbClr val="7C3AED"/>
            </a:solidFill>
            <a:prstDash val="solid"/>
          </a:ln>
        </p:spPr>
      </p:sp>
      <p:sp>
        <p:nvSpPr>
          <p:cNvPr id="23" name="Text 18"/>
          <p:cNvSpPr txBox="1"/>
          <p:nvPr/>
        </p:nvSpPr>
        <p:spPr>
          <a:xfrm>
            <a:off x="548640" y="42519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4251960"/>
            <a:ext cx="566928" cy="566928"/>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1421892" y="4393692"/>
            <a:ext cx="283464" cy="283464"/>
          </a:xfrm>
          <a:prstGeom prst="rect">
            <a:avLst/>
          </a:prstGeom>
        </p:spPr>
      </p:pic>
      <p:sp>
        <p:nvSpPr>
          <p:cNvPr id="26" name="Text 20"/>
          <p:cNvSpPr txBox="1"/>
          <p:nvPr/>
        </p:nvSpPr>
        <p:spPr>
          <a:xfrm>
            <a:off x="2103120" y="42153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a:t>
            </a:r>
            <a:endParaRPr lang="en-US" sz="1900" dirty="0"/>
          </a:p>
        </p:txBody>
      </p:sp>
      <p:sp>
        <p:nvSpPr>
          <p:cNvPr id="27" name="Text 21"/>
          <p:cNvSpPr txBox="1"/>
          <p:nvPr/>
        </p:nvSpPr>
        <p:spPr>
          <a:xfrm>
            <a:off x="2103120" y="45628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cost &amp; volume, P&amp;D measures, load factor, CICO</a:t>
            </a:r>
            <a:endParaRPr lang="en-US" sz="1300" dirty="0"/>
          </a:p>
        </p:txBody>
      </p:sp>
      <p:sp>
        <p:nvSpPr>
          <p:cNvPr id="28" name="Shape 22"/>
          <p:cNvSpPr/>
          <p:nvPr/>
        </p:nvSpPr>
        <p:spPr>
          <a:xfrm>
            <a:off x="548640" y="5166360"/>
            <a:ext cx="566928" cy="566928"/>
          </a:xfrm>
          <a:prstGeom prst="ellipse">
            <a:avLst/>
          </a:prstGeom>
          <a:solidFill>
            <a:srgbClr val="7C3AED"/>
          </a:solidFill>
          <a:ln w="12700">
            <a:solidFill>
              <a:srgbClr val="7C3AED"/>
            </a:solidFill>
            <a:prstDash val="solid"/>
          </a:ln>
        </p:spPr>
      </p:sp>
      <p:sp>
        <p:nvSpPr>
          <p:cNvPr id="29" name="Text 23"/>
          <p:cNvSpPr txBox="1"/>
          <p:nvPr/>
        </p:nvSpPr>
        <p:spPr>
          <a:xfrm>
            <a:off x="548640" y="5166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5166360"/>
            <a:ext cx="566928" cy="566928"/>
          </a:xfrm>
          <a:prstGeom prst="ellipse">
            <a:avLst/>
          </a:prstGeom>
          <a:solidFill>
            <a:srgbClr val="EDE9FE"/>
          </a:solidFill>
          <a:ln w="12700">
            <a:solidFill>
              <a:srgbClr val="EDE9FE"/>
            </a:solidFill>
            <a:prstDash val="solid"/>
          </a:ln>
        </p:spPr>
      </p:sp>
      <p:pic>
        <p:nvPicPr>
          <p:cNvPr id="31" name="Image 4" descr="preencoded.png">    </p:cNvPr>
          <p:cNvPicPr>
            <a:picLocks noChangeAspect="1"/>
          </p:cNvPicPr>
          <p:nvPr/>
        </p:nvPicPr>
        <p:blipFill>
          <a:blip r:embed="rId5"/>
          <a:stretch>
            <a:fillRect/>
          </a:stretch>
        </p:blipFill>
        <p:spPr>
          <a:xfrm>
            <a:off x="1421892" y="5308092"/>
            <a:ext cx="283464" cy="283464"/>
          </a:xfrm>
          <a:prstGeom prst="rect">
            <a:avLst/>
          </a:prstGeom>
        </p:spPr>
      </p:pic>
      <p:sp>
        <p:nvSpPr>
          <p:cNvPr id="32" name="Text 25"/>
          <p:cNvSpPr txBox="1"/>
          <p:nvPr/>
        </p:nvSpPr>
        <p:spPr>
          <a:xfrm>
            <a:off x="2103120" y="51297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Status of the physical terminal</a:t>
            </a:r>
            <a:endParaRPr lang="en-US" sz="1900" dirty="0"/>
          </a:p>
        </p:txBody>
      </p:sp>
      <p:sp>
        <p:nvSpPr>
          <p:cNvPr id="33" name="Text 26"/>
          <p:cNvSpPr txBox="1"/>
          <p:nvPr/>
        </p:nvSpPr>
        <p:spPr>
          <a:xfrm>
            <a:off x="2103120" y="54772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Relocation to a new building by year end</a:t>
            </a:r>
            <a:endParaRPr lang="en-US" sz="1300" dirty="0"/>
          </a:p>
        </p:txBody>
      </p:sp>
      <p:sp>
        <p:nvSpPr>
          <p:cNvPr id="34" name="Shape 2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35" name="Shape 28"/>
          <p:cNvSpPr/>
          <p:nvPr/>
        </p:nvSpPr>
        <p:spPr>
          <a:xfrm>
            <a:off x="8275320" y="1783080"/>
            <a:ext cx="502920" cy="502920"/>
          </a:xfrm>
          <a:prstGeom prst="ellipse">
            <a:avLst/>
          </a:prstGeom>
          <a:solidFill>
            <a:srgbClr val="EDE9FE"/>
          </a:solidFill>
          <a:ln w="12700">
            <a:solidFill>
              <a:srgbClr val="EDE9FE"/>
            </a:solidFill>
            <a:prstDash val="solid"/>
          </a:ln>
        </p:spPr>
      </p:sp>
      <p:pic>
        <p:nvPicPr>
          <p:cNvPr id="36" name="Image 5" descr="preencoded.png">    </p:cNvPr>
          <p:cNvPicPr>
            <a:picLocks noChangeAspect="1"/>
          </p:cNvPicPr>
          <p:nvPr/>
        </p:nvPicPr>
        <p:blipFill>
          <a:blip r:embed="rId6"/>
          <a:stretch>
            <a:fillRect/>
          </a:stretch>
        </p:blipFill>
        <p:spPr>
          <a:xfrm>
            <a:off x="8401050" y="1908810"/>
            <a:ext cx="251460" cy="251460"/>
          </a:xfrm>
          <a:prstGeom prst="rect">
            <a:avLst/>
          </a:prstGeom>
        </p:spPr>
      </p:pic>
      <p:sp>
        <p:nvSpPr>
          <p:cNvPr id="37" name="Text 2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38" name="Text 3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39"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0"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24</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2588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0.00</a:t>
            </a:r>
            <a:endParaRPr lang="en-US" sz="2800" dirty="0"/>
          </a:p>
        </p:txBody>
      </p:sp>
      <p:sp>
        <p:nvSpPr>
          <p:cNvPr id="7" name="Text 5"/>
          <p:cNvSpPr txBox="1"/>
          <p:nvPr/>
        </p:nvSpPr>
        <p:spPr>
          <a:xfrm>
            <a:off x="73152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Jul–Aug 2026</a:t>
            </a:r>
            <a:endParaRPr lang="en-US" sz="1050" dirty="0"/>
          </a:p>
        </p:txBody>
      </p:sp>
      <p:sp>
        <p:nvSpPr>
          <p:cNvPr id="8" name="Shape 6"/>
          <p:cNvSpPr/>
          <p:nvPr/>
        </p:nvSpPr>
        <p:spPr>
          <a:xfrm>
            <a:off x="2803550" y="132588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1" name="Text 9"/>
          <p:cNvSpPr txBox="1"/>
          <p:nvPr/>
        </p:nvSpPr>
        <p:spPr>
          <a:xfrm>
            <a:off x="298643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2588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12-month avg</a:t>
            </a:r>
            <a:endParaRPr lang="en-US" sz="950" dirty="0"/>
          </a:p>
        </p:txBody>
      </p:sp>
      <p:sp>
        <p:nvSpPr>
          <p:cNvPr id="14" name="Text 12"/>
          <p:cNvSpPr txBox="1"/>
          <p:nvPr/>
        </p:nvSpPr>
        <p:spPr>
          <a:xfrm>
            <a:off x="5241341"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5" name="Text 13"/>
          <p:cNvSpPr txBox="1"/>
          <p:nvPr/>
        </p:nvSpPr>
        <p:spPr>
          <a:xfrm>
            <a:off x="524134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Rolling 12 months</a:t>
            </a:r>
            <a:endParaRPr lang="en-US" sz="1050" dirty="0"/>
          </a:p>
        </p:txBody>
      </p:sp>
      <p:sp>
        <p:nvSpPr>
          <p:cNvPr id="16" name="Shape 14"/>
          <p:cNvSpPr/>
          <p:nvPr/>
        </p:nvSpPr>
        <p:spPr>
          <a:xfrm>
            <a:off x="7313371" y="132588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F27 YTD</a:t>
            </a:r>
            <a:endParaRPr lang="en-US" sz="950" dirty="0"/>
          </a:p>
        </p:txBody>
      </p:sp>
      <p:sp>
        <p:nvSpPr>
          <p:cNvPr id="18" name="Text 16"/>
          <p:cNvSpPr txBox="1"/>
          <p:nvPr/>
        </p:nvSpPr>
        <p:spPr>
          <a:xfrm>
            <a:off x="7496251"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a:t>
            </a:r>
            <a:endParaRPr lang="en-US" sz="2800" dirty="0"/>
          </a:p>
        </p:txBody>
      </p:sp>
      <p:sp>
        <p:nvSpPr>
          <p:cNvPr id="19" name="Text 17"/>
          <p:cNvSpPr txBox="1"/>
          <p:nvPr/>
        </p:nvSpPr>
        <p:spPr>
          <a:xfrm>
            <a:off x="749625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Employee + contractor</a:t>
            </a:r>
            <a:endParaRPr lang="en-US" sz="1050" dirty="0"/>
          </a:p>
        </p:txBody>
      </p:sp>
      <p:sp>
        <p:nvSpPr>
          <p:cNvPr id="20" name="Shape 18"/>
          <p:cNvSpPr/>
          <p:nvPr/>
        </p:nvSpPr>
        <p:spPr>
          <a:xfrm>
            <a:off x="9568282" y="132588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384</a:t>
            </a:r>
            <a:endParaRPr lang="en-US" sz="2800" dirty="0"/>
          </a:p>
        </p:txBody>
      </p:sp>
      <p:sp>
        <p:nvSpPr>
          <p:cNvPr id="23" name="Text 21"/>
          <p:cNvSpPr txBox="1"/>
          <p:nvPr/>
        </p:nvSpPr>
        <p:spPr>
          <a:xfrm>
            <a:off x="9751162"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Last: Sep 10, 2025</a:t>
            </a:r>
            <a:endParaRPr lang="en-US" sz="1050" dirty="0"/>
          </a:p>
        </p:txBody>
      </p:sp>
      <p:sp>
        <p:nvSpPr>
          <p:cNvPr id="24" name="Shape 22"/>
          <p:cNvSpPr/>
          <p:nvPr/>
        </p:nvSpPr>
        <p:spPr>
          <a:xfrm>
            <a:off x="548640" y="2651760"/>
            <a:ext cx="11091672" cy="384048"/>
          </a:xfrm>
          <a:prstGeom prst="roundRect">
            <a:avLst>
              <a:gd name="adj" fmla="val 19048"/>
            </a:avLst>
          </a:prstGeom>
          <a:solidFill>
            <a:srgbClr val="D1FAE5"/>
          </a:solidFill>
          <a:ln w="12700">
            <a:solidFill>
              <a:srgbClr val="D1FAE5"/>
            </a:solidFill>
            <a:prstDash val="solid"/>
          </a:ln>
        </p:spPr>
      </p:sp>
      <p:sp>
        <p:nvSpPr>
          <p:cNvPr id="25" name="Text 23"/>
          <p:cNvSpPr txBox="1"/>
          <p:nvPr/>
        </p:nvSpPr>
        <p:spPr>
          <a:xfrm>
            <a:off x="731520" y="2651760"/>
            <a:ext cx="10789920" cy="384048"/>
          </a:xfrm>
          <a:prstGeom prst="rect">
            <a:avLst/>
          </a:prstGeom>
          <a:noFill/>
          <a:ln/>
        </p:spPr>
        <p:txBody>
          <a:bodyPr wrap="square" lIns="0" tIns="0" rIns="0" bIns="0" rtlCol="0" anchor="ctr"/>
          <a:lstStyle/>
          <a:p>
            <a:pPr indent="0" marL="0">
              <a:buNone/>
            </a:pPr>
            <a:r>
              <a:rPr lang="en-US" sz="1400" b="1" dirty="0">
                <a:solidFill>
                  <a:srgbClr val="059669"/>
                </a:solidFill>
                <a:latin typeface="Calibri" pitchFamily="34" charset="0"/>
                <a:ea typeface="Calibri" pitchFamily="34" charset="-122"/>
                <a:cs typeface="Calibri" pitchFamily="34" charset="-120"/>
              </a:rPr>
              <a:t>Zero recordable incidents in F27 to date (Jul–Aug) — 100% improvement vs F26 TRIR of 1.21.</a:t>
            </a:r>
            <a:endParaRPr lang="en-US" sz="1400" dirty="0"/>
          </a:p>
        </p:txBody>
      </p:sp>
      <p:sp>
        <p:nvSpPr>
          <p:cNvPr id="26" name="Text 24"/>
          <p:cNvSpPr txBox="1"/>
          <p:nvPr/>
        </p:nvSpPr>
        <p:spPr>
          <a:xfrm>
            <a:off x="548640" y="3127248"/>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shift</a:t>
            </a:r>
            <a:endParaRPr lang="en-US" sz="1800" dirty="0"/>
          </a:p>
        </p:txBody>
      </p:sp>
      <p:sp>
        <p:nvSpPr>
          <p:cNvPr id="27" name="Shape 25"/>
          <p:cNvSpPr/>
          <p:nvPr/>
        </p:nvSpPr>
        <p:spPr>
          <a:xfrm>
            <a:off x="548640" y="3575304"/>
            <a:ext cx="384048" cy="384048"/>
          </a:xfrm>
          <a:prstGeom prst="ellipse">
            <a:avLst/>
          </a:prstGeom>
          <a:solidFill>
            <a:srgbClr val="EDE9FE"/>
          </a:solidFill>
          <a:ln w="12700">
            <a:solidFill>
              <a:srgbClr val="EDE9FE"/>
            </a:solidFill>
            <a:prstDash val="solid"/>
          </a:ln>
        </p:spPr>
      </p:sp>
      <p:pic>
        <p:nvPicPr>
          <p:cNvPr id="28" name="Image 0" descr="preencoded.png">    </p:cNvPr>
          <p:cNvPicPr>
            <a:picLocks noChangeAspect="1"/>
          </p:cNvPicPr>
          <p:nvPr/>
        </p:nvPicPr>
        <p:blipFill>
          <a:blip r:embed="rId1"/>
          <a:stretch>
            <a:fillRect/>
          </a:stretch>
        </p:blipFill>
        <p:spPr>
          <a:xfrm>
            <a:off x="644652" y="3671316"/>
            <a:ext cx="192024" cy="192024"/>
          </a:xfrm>
          <a:prstGeom prst="rect">
            <a:avLst/>
          </a:prstGeom>
        </p:spPr>
      </p:pic>
      <p:sp>
        <p:nvSpPr>
          <p:cNvPr id="29" name="Text 26"/>
          <p:cNvSpPr txBox="1"/>
          <p:nvPr/>
        </p:nvSpPr>
        <p:spPr>
          <a:xfrm>
            <a:off x="1097280" y="3520440"/>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300" dirty="0"/>
          </a:p>
        </p:txBody>
      </p:sp>
      <p:sp>
        <p:nvSpPr>
          <p:cNvPr id="30" name="Shape 27"/>
          <p:cNvSpPr/>
          <p:nvPr/>
        </p:nvSpPr>
        <p:spPr>
          <a:xfrm>
            <a:off x="548640" y="4096512"/>
            <a:ext cx="384048" cy="384048"/>
          </a:xfrm>
          <a:prstGeom prst="ellipse">
            <a:avLst/>
          </a:prstGeom>
          <a:solidFill>
            <a:srgbClr val="EDE9FE"/>
          </a:solidFill>
          <a:ln w="12700">
            <a:solidFill>
              <a:srgbClr val="EDE9FE"/>
            </a:solidFill>
            <a:prstDash val="solid"/>
          </a:ln>
        </p:spPr>
      </p:sp>
      <p:pic>
        <p:nvPicPr>
          <p:cNvPr id="31" name="Image 1" descr="preencoded.png">    </p:cNvPr>
          <p:cNvPicPr>
            <a:picLocks noChangeAspect="1"/>
          </p:cNvPicPr>
          <p:nvPr/>
        </p:nvPicPr>
        <p:blipFill>
          <a:blip r:embed="rId2"/>
          <a:stretch>
            <a:fillRect/>
          </a:stretch>
        </p:blipFill>
        <p:spPr>
          <a:xfrm>
            <a:off x="644652" y="4192524"/>
            <a:ext cx="192024" cy="192024"/>
          </a:xfrm>
          <a:prstGeom prst="rect">
            <a:avLst/>
          </a:prstGeom>
        </p:spPr>
      </p:pic>
      <p:sp>
        <p:nvSpPr>
          <p:cNvPr id="32" name="Text 28"/>
          <p:cNvSpPr txBox="1"/>
          <p:nvPr/>
        </p:nvSpPr>
        <p:spPr>
          <a:xfrm>
            <a:off x="1097280" y="4041648"/>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300" dirty="0"/>
          </a:p>
        </p:txBody>
      </p:sp>
      <p:sp>
        <p:nvSpPr>
          <p:cNvPr id="33" name="Shape 29"/>
          <p:cNvSpPr/>
          <p:nvPr/>
        </p:nvSpPr>
        <p:spPr>
          <a:xfrm>
            <a:off x="548640" y="4617720"/>
            <a:ext cx="384048" cy="384048"/>
          </a:xfrm>
          <a:prstGeom prst="ellipse">
            <a:avLst/>
          </a:prstGeom>
          <a:solidFill>
            <a:srgbClr val="EDE9FE"/>
          </a:solidFill>
          <a:ln w="12700">
            <a:solidFill>
              <a:srgbClr val="EDE9FE"/>
            </a:solidFill>
            <a:prstDash val="solid"/>
          </a:ln>
        </p:spPr>
      </p:sp>
      <p:pic>
        <p:nvPicPr>
          <p:cNvPr id="34" name="Image 2" descr="preencoded.png">    </p:cNvPr>
          <p:cNvPicPr>
            <a:picLocks noChangeAspect="1"/>
          </p:cNvPicPr>
          <p:nvPr/>
        </p:nvPicPr>
        <p:blipFill>
          <a:blip r:embed="rId3"/>
          <a:stretch>
            <a:fillRect/>
          </a:stretch>
        </p:blipFill>
        <p:spPr>
          <a:xfrm>
            <a:off x="644652" y="4713732"/>
            <a:ext cx="192024" cy="192024"/>
          </a:xfrm>
          <a:prstGeom prst="rect">
            <a:avLst/>
          </a:prstGeom>
        </p:spPr>
      </p:pic>
      <p:sp>
        <p:nvSpPr>
          <p:cNvPr id="35" name="Text 30"/>
          <p:cNvSpPr txBox="1"/>
          <p:nvPr/>
        </p:nvSpPr>
        <p:spPr>
          <a:xfrm>
            <a:off x="1097280" y="4562856"/>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300" dirty="0"/>
          </a:p>
        </p:txBody>
      </p:sp>
      <p:sp>
        <p:nvSpPr>
          <p:cNvPr id="36" name="Shape 31"/>
          <p:cNvSpPr/>
          <p:nvPr/>
        </p:nvSpPr>
        <p:spPr>
          <a:xfrm>
            <a:off x="548640" y="5138928"/>
            <a:ext cx="384048" cy="384048"/>
          </a:xfrm>
          <a:prstGeom prst="ellipse">
            <a:avLst/>
          </a:prstGeom>
          <a:solidFill>
            <a:srgbClr val="EDE9FE"/>
          </a:solidFill>
          <a:ln w="12700">
            <a:solidFill>
              <a:srgbClr val="EDE9FE"/>
            </a:solidFill>
            <a:prstDash val="solid"/>
          </a:ln>
        </p:spPr>
      </p:sp>
      <p:pic>
        <p:nvPicPr>
          <p:cNvPr id="37" name="Image 3" descr="preencoded.png">    </p:cNvPr>
          <p:cNvPicPr>
            <a:picLocks noChangeAspect="1"/>
          </p:cNvPicPr>
          <p:nvPr/>
        </p:nvPicPr>
        <p:blipFill>
          <a:blip r:embed="rId4"/>
          <a:stretch>
            <a:fillRect/>
          </a:stretch>
        </p:blipFill>
        <p:spPr>
          <a:xfrm>
            <a:off x="644652" y="5234940"/>
            <a:ext cx="192024" cy="192024"/>
          </a:xfrm>
          <a:prstGeom prst="rect">
            <a:avLst/>
          </a:prstGeom>
        </p:spPr>
      </p:pic>
      <p:sp>
        <p:nvSpPr>
          <p:cNvPr id="38" name="Text 32"/>
          <p:cNvSpPr txBox="1"/>
          <p:nvPr/>
        </p:nvSpPr>
        <p:spPr>
          <a:xfrm>
            <a:off x="1097280" y="5084064"/>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300" dirty="0"/>
          </a:p>
        </p:txBody>
      </p:sp>
      <p:sp>
        <p:nvSpPr>
          <p:cNvPr id="39" name="Shape 33"/>
          <p:cNvSpPr/>
          <p:nvPr/>
        </p:nvSpPr>
        <p:spPr>
          <a:xfrm>
            <a:off x="548640" y="5660136"/>
            <a:ext cx="384048" cy="384048"/>
          </a:xfrm>
          <a:prstGeom prst="ellipse">
            <a:avLst/>
          </a:prstGeom>
          <a:solidFill>
            <a:srgbClr val="EDE9FE"/>
          </a:solidFill>
          <a:ln w="12700">
            <a:solidFill>
              <a:srgbClr val="EDE9FE"/>
            </a:solidFill>
            <a:prstDash val="solid"/>
          </a:ln>
        </p:spPr>
      </p:sp>
      <p:pic>
        <p:nvPicPr>
          <p:cNvPr id="40" name="Image 4" descr="preencoded.png">    </p:cNvPr>
          <p:cNvPicPr>
            <a:picLocks noChangeAspect="1"/>
          </p:cNvPicPr>
          <p:nvPr/>
        </p:nvPicPr>
        <p:blipFill>
          <a:blip r:embed="rId5"/>
          <a:stretch>
            <a:fillRect/>
          </a:stretch>
        </p:blipFill>
        <p:spPr>
          <a:xfrm>
            <a:off x="644652" y="5756148"/>
            <a:ext cx="192024" cy="192024"/>
          </a:xfrm>
          <a:prstGeom prst="rect">
            <a:avLst/>
          </a:prstGeom>
        </p:spPr>
      </p:pic>
      <p:sp>
        <p:nvSpPr>
          <p:cNvPr id="41" name="Text 34"/>
          <p:cNvSpPr txBox="1"/>
          <p:nvPr/>
        </p:nvSpPr>
        <p:spPr>
          <a:xfrm>
            <a:off x="1097280" y="5605272"/>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300" dirty="0"/>
          </a:p>
        </p:txBody>
      </p:sp>
      <p:sp>
        <p:nvSpPr>
          <p:cNvPr id="42" name="Text 35"/>
          <p:cNvSpPr txBox="1"/>
          <p:nvPr/>
        </p:nvSpPr>
        <p:spPr>
          <a:xfrm>
            <a:off x="548640" y="6172200"/>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Management Control Report — F27 TRIR, Aug-26 (Mississauga). Days since last recordable as of Sep 29, 2026 (last recordable Sep 10, 2025).</a:t>
            </a:r>
            <a:endParaRPr lang="en-US" sz="900" dirty="0"/>
          </a:p>
        </p:txBody>
      </p:sp>
      <p:sp>
        <p:nvSpPr>
          <p:cNvPr id="43" name="Text 3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4" name="Text 3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24</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2500" b="1" dirty="0">
                <a:solidFill>
                  <a:srgbClr val="111827"/>
                </a:solidFill>
                <a:latin typeface="Calibri" pitchFamily="34" charset="0"/>
                <a:ea typeface="Calibri" pitchFamily="34" charset="-122"/>
                <a:cs typeface="Calibri" pitchFamily="34" charset="-120"/>
              </a:rPr>
              <a:t>Safety initiatives — completed · active · planned · ideas</a:t>
            </a:r>
            <a:endParaRPr lang="en-US" sz="2500" dirty="0"/>
          </a:p>
        </p:txBody>
      </p:sp>
      <p:sp>
        <p:nvSpPr>
          <p:cNvPr id="4" name="Shape 2"/>
          <p:cNvSpPr/>
          <p:nvPr/>
        </p:nvSpPr>
        <p:spPr>
          <a:xfrm>
            <a:off x="548640" y="1371600"/>
            <a:ext cx="5431536" cy="2240280"/>
          </a:xfrm>
          <a:prstGeom prst="roundRect">
            <a:avLst>
              <a:gd name="adj" fmla="val 3265"/>
            </a:avLst>
          </a:prstGeom>
          <a:solidFill>
            <a:srgbClr val="F3F4F6"/>
          </a:solidFill>
          <a:ln w="12700">
            <a:solidFill>
              <a:srgbClr val="F3F4F6"/>
            </a:solidFill>
            <a:prstDash val="solid"/>
          </a:ln>
        </p:spPr>
      </p:sp>
      <p:sp>
        <p:nvSpPr>
          <p:cNvPr id="5" name="Shape 3"/>
          <p:cNvSpPr/>
          <p:nvPr/>
        </p:nvSpPr>
        <p:spPr>
          <a:xfrm>
            <a:off x="731520" y="1536192"/>
            <a:ext cx="1920240" cy="329184"/>
          </a:xfrm>
          <a:prstGeom prst="roundRect">
            <a:avLst>
              <a:gd name="adj" fmla="val 22222"/>
            </a:avLst>
          </a:prstGeom>
          <a:solidFill>
            <a:srgbClr val="D1FAE5"/>
          </a:solidFill>
          <a:ln w="12700">
            <a:solidFill>
              <a:srgbClr val="D1FAE5"/>
            </a:solidFill>
            <a:prstDash val="solid"/>
          </a:ln>
        </p:spPr>
      </p:sp>
      <p:sp>
        <p:nvSpPr>
          <p:cNvPr id="6" name="Text 4"/>
          <p:cNvSpPr txBox="1"/>
          <p:nvPr/>
        </p:nvSpPr>
        <p:spPr>
          <a:xfrm>
            <a:off x="731520"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059669"/>
                </a:solidFill>
                <a:latin typeface="Calibri" pitchFamily="34" charset="0"/>
                <a:ea typeface="Calibri" pitchFamily="34" charset="-122"/>
                <a:cs typeface="Calibri" pitchFamily="34" charset="-120"/>
              </a:rPr>
              <a:t>COMPLETED</a:t>
            </a:r>
            <a:endParaRPr lang="en-US" sz="1150" dirty="0"/>
          </a:p>
        </p:txBody>
      </p:sp>
      <p:sp>
        <p:nvSpPr>
          <p:cNvPr id="7" name="Text 5"/>
          <p:cNvSpPr txBox="1"/>
          <p:nvPr/>
        </p:nvSpPr>
        <p:spPr>
          <a:xfrm>
            <a:off x="2788920"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3 done</a:t>
            </a:r>
            <a:endParaRPr lang="en-US" sz="1050" dirty="0"/>
          </a:p>
        </p:txBody>
      </p:sp>
      <p:sp>
        <p:nvSpPr>
          <p:cNvPr id="8" name="Text 6"/>
          <p:cNvSpPr txBox="1"/>
          <p:nvPr/>
        </p:nvSpPr>
        <p:spPr>
          <a:xfrm>
            <a:off x="777240"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Roofing work zones barricaded — no access under overhead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N95 masks available on the dock during roofing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New shunt pre-trip checklist rolled out — used every shift.</a:t>
            </a:r>
            <a:endParaRPr lang="en-US" sz="1250" dirty="0"/>
          </a:p>
        </p:txBody>
      </p:sp>
      <p:sp>
        <p:nvSpPr>
          <p:cNvPr id="9" name="Shape 7"/>
          <p:cNvSpPr/>
          <p:nvPr/>
        </p:nvSpPr>
        <p:spPr>
          <a:xfrm>
            <a:off x="6208776" y="1371600"/>
            <a:ext cx="5431536" cy="2240280"/>
          </a:xfrm>
          <a:prstGeom prst="roundRect">
            <a:avLst>
              <a:gd name="adj" fmla="val 3265"/>
            </a:avLst>
          </a:prstGeom>
          <a:solidFill>
            <a:srgbClr val="F3F4F6"/>
          </a:solidFill>
          <a:ln w="12700">
            <a:solidFill>
              <a:srgbClr val="F3F4F6"/>
            </a:solidFill>
            <a:prstDash val="solid"/>
          </a:ln>
        </p:spPr>
      </p:sp>
      <p:sp>
        <p:nvSpPr>
          <p:cNvPr id="10" name="Shape 8"/>
          <p:cNvSpPr/>
          <p:nvPr/>
        </p:nvSpPr>
        <p:spPr>
          <a:xfrm>
            <a:off x="6391656" y="1536192"/>
            <a:ext cx="1920240" cy="329184"/>
          </a:xfrm>
          <a:prstGeom prst="roundRect">
            <a:avLst>
              <a:gd name="adj" fmla="val 22222"/>
            </a:avLst>
          </a:prstGeom>
          <a:solidFill>
            <a:srgbClr val="DBEAFE"/>
          </a:solidFill>
          <a:ln w="12700">
            <a:solidFill>
              <a:srgbClr val="DBEAFE"/>
            </a:solidFill>
            <a:prstDash val="solid"/>
          </a:ln>
        </p:spPr>
      </p:sp>
      <p:sp>
        <p:nvSpPr>
          <p:cNvPr id="11" name="Text 9"/>
          <p:cNvSpPr txBox="1"/>
          <p:nvPr/>
        </p:nvSpPr>
        <p:spPr>
          <a:xfrm>
            <a:off x="6391656"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2563EB"/>
                </a:solidFill>
                <a:latin typeface="Calibri" pitchFamily="34" charset="0"/>
                <a:ea typeface="Calibri" pitchFamily="34" charset="-122"/>
                <a:cs typeface="Calibri" pitchFamily="34" charset="-120"/>
              </a:rPr>
              <a:t>ACTIVE</a:t>
            </a:r>
            <a:endParaRPr lang="en-US" sz="1150" dirty="0"/>
          </a:p>
        </p:txBody>
      </p:sp>
      <p:sp>
        <p:nvSpPr>
          <p:cNvPr id="12" name="Text 10"/>
          <p:cNvSpPr txBox="1"/>
          <p:nvPr/>
        </p:nvSpPr>
        <p:spPr>
          <a:xfrm>
            <a:off x="8449056"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7 ongoing</a:t>
            </a:r>
            <a:endParaRPr lang="en-US" sz="1050" dirty="0"/>
          </a:p>
        </p:txBody>
      </p:sp>
      <p:sp>
        <p:nvSpPr>
          <p:cNvPr id="13" name="Text 11"/>
          <p:cNvSpPr txBox="1"/>
          <p:nvPr/>
        </p:nvSpPr>
        <p:spPr>
          <a:xfrm>
            <a:off x="6437376"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Tailgates + safety moments after incidents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Forklift pre/post inspections — every operator</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No forklifts loaded on straight trucks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H&amp;S inspections → OHS / JHSC review</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STEP observations — non-compliance addressed on the spot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Incident root cause + corrective-action follow-up with OHS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e-learning; forklift / TDG renewed before expiry</a:t>
            </a:r>
            <a:endParaRPr lang="en-US" sz="1050" dirty="0"/>
          </a:p>
        </p:txBody>
      </p:sp>
      <p:sp>
        <p:nvSpPr>
          <p:cNvPr id="14" name="Shape 12"/>
          <p:cNvSpPr/>
          <p:nvPr/>
        </p:nvSpPr>
        <p:spPr>
          <a:xfrm>
            <a:off x="548640" y="3749040"/>
            <a:ext cx="5431536" cy="2240280"/>
          </a:xfrm>
          <a:prstGeom prst="roundRect">
            <a:avLst>
              <a:gd name="adj" fmla="val 3265"/>
            </a:avLst>
          </a:prstGeom>
          <a:solidFill>
            <a:srgbClr val="F3F4F6"/>
          </a:solidFill>
          <a:ln w="12700">
            <a:solidFill>
              <a:srgbClr val="F3F4F6"/>
            </a:solidFill>
            <a:prstDash val="solid"/>
          </a:ln>
        </p:spPr>
      </p:sp>
      <p:sp>
        <p:nvSpPr>
          <p:cNvPr id="15" name="Shape 13"/>
          <p:cNvSpPr/>
          <p:nvPr/>
        </p:nvSpPr>
        <p:spPr>
          <a:xfrm>
            <a:off x="731520" y="3913632"/>
            <a:ext cx="1920240" cy="329184"/>
          </a:xfrm>
          <a:prstGeom prst="roundRect">
            <a:avLst>
              <a:gd name="adj" fmla="val 22222"/>
            </a:avLst>
          </a:prstGeom>
          <a:solidFill>
            <a:srgbClr val="FEF3C7"/>
          </a:solidFill>
          <a:ln w="12700">
            <a:solidFill>
              <a:srgbClr val="FEF3C7"/>
            </a:solidFill>
            <a:prstDash val="solid"/>
          </a:ln>
        </p:spPr>
      </p:sp>
      <p:sp>
        <p:nvSpPr>
          <p:cNvPr id="16" name="Text 14"/>
          <p:cNvSpPr txBox="1"/>
          <p:nvPr/>
        </p:nvSpPr>
        <p:spPr>
          <a:xfrm>
            <a:off x="731520"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B45309"/>
                </a:solidFill>
                <a:latin typeface="Calibri" pitchFamily="34" charset="0"/>
                <a:ea typeface="Calibri" pitchFamily="34" charset="-122"/>
                <a:cs typeface="Calibri" pitchFamily="34" charset="-120"/>
              </a:rPr>
              <a:t>PLANNED</a:t>
            </a:r>
            <a:endParaRPr lang="en-US" sz="1150" dirty="0"/>
          </a:p>
        </p:txBody>
      </p:sp>
      <p:sp>
        <p:nvSpPr>
          <p:cNvPr id="17" name="Text 15"/>
          <p:cNvSpPr txBox="1"/>
          <p:nvPr/>
        </p:nvSpPr>
        <p:spPr>
          <a:xfrm>
            <a:off x="2788920" y="391363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2 planned</a:t>
            </a:r>
            <a:endParaRPr lang="en-US" sz="1050" dirty="0"/>
          </a:p>
        </p:txBody>
      </p:sp>
      <p:sp>
        <p:nvSpPr>
          <p:cNvPr id="18" name="Text 16"/>
          <p:cNvSpPr txBox="1"/>
          <p:nvPr/>
        </p:nvSpPr>
        <p:spPr>
          <a:xfrm>
            <a:off x="777240" y="4343400"/>
            <a:ext cx="5020056" cy="1554480"/>
          </a:xfrm>
          <a:prstGeom prst="rect">
            <a:avLst/>
          </a:prstGeom>
          <a:noFill/>
          <a:ln/>
        </p:spPr>
        <p:txBody>
          <a:bodyPr wrap="square" lIns="0" tIns="0" rIns="0" bIns="0" rtlCol="0" anchor="t"/>
          <a:lstStyle/>
          <a:p>
            <a:pPr indent="0" marL="0">
              <a:buNone/>
            </a:pPr>
            <a:r>
              <a:rPr lang="en-US" sz="1100" b="1" dirty="0">
                <a:solidFill>
                  <a:srgbClr val="111827"/>
                </a:solidFill>
                <a:latin typeface="Calibri" pitchFamily="34" charset="0"/>
                <a:ea typeface="Calibri" pitchFamily="34" charset="-122"/>
                <a:cs typeface="Calibri" pitchFamily="34" charset="-120"/>
              </a:rPr>
              <a:t>Load securement &amp; decking </a:t>
            </a:r>
            <a:pPr indent="0" marL="0">
              <a:buNone/>
            </a:pPr>
            <a:r>
              <a:rPr lang="en-US" sz="1100" dirty="0">
                <a:solidFill>
                  <a:srgbClr val="1F2937"/>
                </a:solidFill>
                <a:latin typeface="Calibri" pitchFamily="34" charset="0"/>
                <a:ea typeface="Calibri" pitchFamily="34" charset="-122"/>
                <a:cs typeface="Calibri" pitchFamily="34" charset="-120"/>
              </a:rPr>
              <a:t>(ANCRA decks, divider deck-board kits).</a:t>
            </a:r>
            <a:endParaRPr lang="en-US" sz="1100" dirty="0"/>
          </a:p>
          <a:p>
            <a:pPr indent="0" marL="0">
              <a:buNone/>
            </a:pPr>
            <a:r>
              <a:rPr lang="en-US" sz="1100" b="1" dirty="0">
                <a:solidFill>
                  <a:srgbClr val="111827"/>
                </a:solidFill>
                <a:latin typeface="Calibri" pitchFamily="34" charset="0"/>
                <a:ea typeface="Calibri" pitchFamily="34" charset="-122"/>
                <a:cs typeface="Calibri" pitchFamily="34" charset="-120"/>
              </a:rPr>
              <a:t>Freight-handling equipment: </a:t>
            </a:r>
            <a:pPr indent="0" marL="0">
              <a:buNone/>
            </a:pPr>
            <a:r>
              <a:rPr lang="en-US" sz="1100" dirty="0">
                <a:solidFill>
                  <a:srgbClr val="1F2937"/>
                </a:solidFill>
                <a:latin typeface="Calibri" pitchFamily="34" charset="0"/>
                <a:ea typeface="Calibri" pitchFamily="34" charset="-122"/>
                <a:cs typeface="Calibri" pitchFamily="34" charset="-120"/>
              </a:rPr>
              <a:t>panel trucks &amp; reconfigurable racks for windows, panels and car parts (Sawtrax, Rack and Shelf, Grainger vertical panel truck 1,800 lb, Uline carpeted panel truck).</a:t>
            </a:r>
            <a:endParaRPr lang="en-US" sz="1100" dirty="0"/>
          </a:p>
          <a:p>
            <a:pPr indent="0" marL="0">
              <a:buNone/>
            </a:pPr>
            <a:r>
              <a:rPr lang="en-US" sz="1100" b="1" dirty="0">
                <a:solidFill>
                  <a:srgbClr val="059669"/>
                </a:solidFill>
                <a:latin typeface="Calibri" pitchFamily="34" charset="0"/>
                <a:ea typeface="Calibri" pitchFamily="34" charset="-122"/>
                <a:cs typeface="Calibri" pitchFamily="34" charset="-120"/>
              </a:rPr>
              <a:t>→ Safer handling, better load quality, fewer damages (damaged FB 1.61%, 7-day avg).</a:t>
            </a:r>
            <a:endParaRPr lang="en-US" sz="1100" dirty="0"/>
          </a:p>
        </p:txBody>
      </p:sp>
      <p:sp>
        <p:nvSpPr>
          <p:cNvPr id="19" name="Shape 17"/>
          <p:cNvSpPr/>
          <p:nvPr/>
        </p:nvSpPr>
        <p:spPr>
          <a:xfrm>
            <a:off x="6208776" y="3749040"/>
            <a:ext cx="5431536" cy="2240280"/>
          </a:xfrm>
          <a:prstGeom prst="roundRect">
            <a:avLst>
              <a:gd name="adj" fmla="val 3265"/>
            </a:avLst>
          </a:prstGeom>
          <a:solidFill>
            <a:srgbClr val="F5F3FF"/>
          </a:solidFill>
          <a:ln w="12700">
            <a:solidFill>
              <a:srgbClr val="F5F3FF"/>
            </a:solidFill>
            <a:prstDash val="solid"/>
          </a:ln>
        </p:spPr>
      </p:sp>
      <p:sp>
        <p:nvSpPr>
          <p:cNvPr id="20" name="Shape 18"/>
          <p:cNvSpPr/>
          <p:nvPr/>
        </p:nvSpPr>
        <p:spPr>
          <a:xfrm>
            <a:off x="6391656" y="3913632"/>
            <a:ext cx="1920240" cy="329184"/>
          </a:xfrm>
          <a:prstGeom prst="roundRect">
            <a:avLst>
              <a:gd name="adj" fmla="val 22222"/>
            </a:avLst>
          </a:prstGeom>
          <a:solidFill>
            <a:srgbClr val="EDE9FE"/>
          </a:solidFill>
          <a:ln w="12700">
            <a:solidFill>
              <a:srgbClr val="EDE9FE"/>
            </a:solidFill>
            <a:prstDash val="solid"/>
          </a:ln>
        </p:spPr>
      </p:sp>
      <p:sp>
        <p:nvSpPr>
          <p:cNvPr id="21" name="Text 19"/>
          <p:cNvSpPr txBox="1"/>
          <p:nvPr/>
        </p:nvSpPr>
        <p:spPr>
          <a:xfrm>
            <a:off x="6391656"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7C3AED"/>
                </a:solidFill>
                <a:latin typeface="Calibri" pitchFamily="34" charset="0"/>
                <a:ea typeface="Calibri" pitchFamily="34" charset="-122"/>
                <a:cs typeface="Calibri" pitchFamily="34" charset="-120"/>
              </a:rPr>
              <a:t>IDEAS TO ACTION</a:t>
            </a:r>
            <a:endParaRPr lang="en-US" sz="1150" dirty="0"/>
          </a:p>
        </p:txBody>
      </p:sp>
      <p:sp>
        <p:nvSpPr>
          <p:cNvPr id="22" name="Text 20"/>
          <p:cNvSpPr txBox="1"/>
          <p:nvPr/>
        </p:nvSpPr>
        <p:spPr>
          <a:xfrm>
            <a:off x="6437376"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Agency safety onboarding (agency ~61% of dock hours)</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New-building safety plan before the move</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Near-miss reporting</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Pedestrian–forklift separation</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Trailer securement audit each shift</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Winter yard readiness</a:t>
            </a:r>
            <a:endParaRPr lang="en-US" sz="1100" dirty="0"/>
          </a:p>
        </p:txBody>
      </p:sp>
      <p:sp>
        <p:nvSpPr>
          <p:cNvPr id="23" name="Text 2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2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24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 95.8% incl. · 97.8% excl.</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5F3FF"/>
          </a:solidFill>
          <a:ln w="12700">
            <a:solidFill>
              <a:srgbClr val="F5F3FF"/>
            </a:solidFill>
            <a:prstDash val="solid"/>
          </a:ln>
        </p:spPr>
      </p:sp>
      <p:sp>
        <p:nvSpPr>
          <p:cNvPr id="23" name="Shape 20"/>
          <p:cNvSpPr/>
          <p:nvPr/>
        </p:nvSpPr>
        <p:spPr>
          <a:xfrm>
            <a:off x="731520" y="5404104"/>
            <a:ext cx="475488" cy="475488"/>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 (see Scanning slide).</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TF (terminal) and P&amp;D working collectively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Interline (IN) and transborder (TB) lates reviewed with the interline team — outside terminal control.</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Adj On Time dashboard — Mississauga, calendar 2026 through Sep 28. Partner carriers = "beyond interliner" freight. Late codes by reason: </a:t>
            </a:r>
            <a:pPr indent="0" marL="0">
              <a:buNone/>
            </a:pPr>
            <a:r>
              <a:rPr lang="en-US" sz="950" b="1" i="1" dirty="0">
                <a:solidFill>
                  <a:srgbClr val="D97706"/>
                </a:solidFill>
                <a:latin typeface="Calibri" pitchFamily="34" charset="0"/>
                <a:ea typeface="Calibri" pitchFamily="34" charset="-122"/>
                <a:cs typeface="Calibri" pitchFamily="34" charset="-120"/>
              </a:rPr>
              <a:t>TBC</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24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1481328"/>
          </a:xfrm>
          <a:prstGeom prst="roundRect">
            <a:avLst>
              <a:gd name="adj" fmla="val 4938"/>
            </a:avLst>
          </a:prstGeom>
          <a:solidFill>
            <a:srgbClr val="F5F3FF"/>
          </a:solidFill>
          <a:ln w="12700">
            <a:solidFill>
              <a:srgbClr val="F5F3FF"/>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11680"/>
            <a:ext cx="3337560" cy="1078992"/>
          </a:xfrm>
          <a:prstGeom prst="rect">
            <a:avLst/>
          </a:prstGeom>
          <a:noFill/>
          <a:ln/>
        </p:spPr>
        <p:txBody>
          <a:bodyPr wrap="square" lIns="0" tIns="0" rIns="0" bIns="0" rtlCol="0" anchor="t"/>
          <a:lstStyle/>
          <a:p>
            <a:pPr indent="0" marL="0">
              <a:spcAft>
                <a:spcPts val="600"/>
              </a:spcAft>
              <a:buNone/>
            </a:pPr>
            <a:r>
              <a:rPr lang="en-US" sz="10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000" dirty="0"/>
          </a:p>
          <a:p>
            <a:pPr indent="0" marL="0">
              <a:buNone/>
            </a:pPr>
            <a:r>
              <a:rPr lang="en-US" sz="1000" b="1" dirty="0">
                <a:solidFill>
                  <a:srgbClr val="059669"/>
                </a:solidFill>
                <a:latin typeface="Calibri" pitchFamily="34" charset="0"/>
                <a:ea typeface="Calibri" pitchFamily="34" charset="-122"/>
                <a:cs typeface="Calibri" pitchFamily="34" charset="-120"/>
              </a:rPr>
              <a:t>Excluding false positives, missed PU % would be ≈2.6%.</a:t>
            </a:r>
            <a:endParaRPr lang="en-US" sz="10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955280" y="4160520"/>
          <a:ext cx="3685032" cy="914400"/>
        </p:xfrm>
        <a:graphic>
          <a:graphicData uri="http://schemas.openxmlformats.org/drawingml/2006/table">
            <a:tbl>
              <a:tblPr/>
              <a:tblGrid>
                <a:gridCol w="2130552"/>
                <a:gridCol w="731520"/>
                <a:gridCol w="822960"/>
              </a:tblGrid>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CCC / made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 issue – log…</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Shape 18"/>
          <p:cNvSpPr/>
          <p:nvPr/>
        </p:nvSpPr>
        <p:spPr>
          <a:xfrm>
            <a:off x="7955280" y="3218688"/>
            <a:ext cx="3685032" cy="841248"/>
          </a:xfrm>
          <a:prstGeom prst="roundRect">
            <a:avLst>
              <a:gd name="adj" fmla="val 8696"/>
            </a:avLst>
          </a:prstGeom>
          <a:solidFill>
            <a:srgbClr val="FEF2F2"/>
          </a:solidFill>
          <a:ln w="12700">
            <a:solidFill>
              <a:srgbClr val="FEF2F2"/>
            </a:solidFill>
            <a:prstDash val="solid"/>
          </a:ln>
        </p:spPr>
      </p:sp>
      <p:sp>
        <p:nvSpPr>
          <p:cNvPr id="24" name="Text 19"/>
          <p:cNvSpPr txBox="1"/>
          <p:nvPr/>
        </p:nvSpPr>
        <p:spPr>
          <a:xfrm>
            <a:off x="8119872" y="3255264"/>
            <a:ext cx="3383280" cy="219456"/>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Damaged FB % · 7-day avg to Sep 28</a:t>
            </a:r>
            <a:endParaRPr lang="en-US" sz="1050" dirty="0"/>
          </a:p>
        </p:txBody>
      </p:sp>
      <p:sp>
        <p:nvSpPr>
          <p:cNvPr id="25" name="Text 20"/>
          <p:cNvSpPr txBox="1"/>
          <p:nvPr/>
        </p:nvSpPr>
        <p:spPr>
          <a:xfrm>
            <a:off x="8119872" y="3474720"/>
            <a:ext cx="3383280" cy="310896"/>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1.61%</a:t>
            </a:r>
            <a:pPr indent="0" marL="0">
              <a:buNone/>
            </a:pPr>
            <a:r>
              <a:rPr lang="en-US" sz="1050" dirty="0">
                <a:solidFill>
                  <a:srgbClr val="6B7280"/>
                </a:solidFill>
                <a:latin typeface="Calibri" pitchFamily="34" charset="0"/>
                <a:ea typeface="Calibri" pitchFamily="34" charset="-122"/>
                <a:cs typeface="Calibri" pitchFamily="34" charset="-120"/>
              </a:rPr>
              <a:t>   week 39: 2.10%</a:t>
            </a:r>
            <a:endParaRPr lang="en-US" sz="1800" dirty="0"/>
          </a:p>
        </p:txBody>
      </p:sp>
      <p:sp>
        <p:nvSpPr>
          <p:cNvPr id="26" name="Text 21"/>
          <p:cNvSpPr txBox="1"/>
          <p:nvPr/>
        </p:nvSpPr>
        <p:spPr>
          <a:xfrm>
            <a:off x="8119872" y="3785616"/>
            <a:ext cx="3383280" cy="219456"/>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Trending down: 3.34% (Sep 22) → 0.31% (Sep 28)</a:t>
            </a:r>
            <a:endParaRPr lang="en-US" sz="950" dirty="0"/>
          </a:p>
        </p:txBody>
      </p:sp>
      <p:sp>
        <p:nvSpPr>
          <p:cNvPr id="27" name="Text 22"/>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(through Sep 26) &amp; % Damaged FB dashboard (to Sep 28) — Mississauga. Sep 7 spike (85.7%) = Labour Day. *wk 39 partial.</a:t>
            </a:r>
            <a:endParaRPr lang="en-US" sz="950" dirty="0"/>
          </a:p>
        </p:txBody>
      </p:sp>
      <p:sp>
        <p:nvSpPr>
          <p:cNvPr id="28"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24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Scanning compliance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Scanning efficiency in/out of terminals · Sep 1–28, 2026 (28 days) · all trip types</a:t>
            </a:r>
            <a:endParaRPr lang="en-US" sz="1300" dirty="0"/>
          </a:p>
        </p:txBody>
      </p:sp>
      <p:sp>
        <p:nvSpPr>
          <p:cNvPr id="5" name="Shape 3"/>
          <p:cNvSpPr/>
          <p:nvPr/>
        </p:nvSpPr>
        <p:spPr>
          <a:xfrm>
            <a:off x="548640" y="1691640"/>
            <a:ext cx="3514344" cy="3154680"/>
          </a:xfrm>
          <a:prstGeom prst="roundRect">
            <a:avLst>
              <a:gd name="adj" fmla="val 2319"/>
            </a:avLst>
          </a:prstGeom>
          <a:solidFill>
            <a:srgbClr val="F3F4F6"/>
          </a:solidFill>
          <a:ln w="12700">
            <a:solidFill>
              <a:srgbClr val="F3F4F6"/>
            </a:solidFill>
            <a:prstDash val="solid"/>
          </a:ln>
        </p:spPr>
      </p:sp>
      <p:sp>
        <p:nvSpPr>
          <p:cNvPr id="6" name="Shape 4"/>
          <p:cNvSpPr/>
          <p:nvPr/>
        </p:nvSpPr>
        <p:spPr>
          <a:xfrm>
            <a:off x="777240" y="1920240"/>
            <a:ext cx="502920" cy="502920"/>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902970" y="2045970"/>
            <a:ext cx="251460" cy="251460"/>
          </a:xfrm>
          <a:prstGeom prst="rect">
            <a:avLst/>
          </a:prstGeom>
        </p:spPr>
      </p:pic>
      <p:sp>
        <p:nvSpPr>
          <p:cNvPr id="8" name="Text 5"/>
          <p:cNvSpPr txBox="1"/>
          <p:nvPr/>
        </p:nvSpPr>
        <p:spPr>
          <a:xfrm>
            <a:off x="1417320"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scanned</a:t>
            </a:r>
            <a:endParaRPr lang="en-US" sz="1500" dirty="0"/>
          </a:p>
        </p:txBody>
      </p:sp>
      <p:sp>
        <p:nvSpPr>
          <p:cNvPr id="9" name="Text 6"/>
          <p:cNvSpPr txBox="1"/>
          <p:nvPr/>
        </p:nvSpPr>
        <p:spPr>
          <a:xfrm>
            <a:off x="777240"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91.37%</a:t>
            </a:r>
            <a:endParaRPr lang="en-US" sz="4400" dirty="0"/>
          </a:p>
        </p:txBody>
      </p:sp>
      <p:sp>
        <p:nvSpPr>
          <p:cNvPr id="10" name="Text 7"/>
          <p:cNvSpPr txBox="1"/>
          <p:nvPr/>
        </p:nvSpPr>
        <p:spPr>
          <a:xfrm>
            <a:off x="731520"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48.22K of 52.77K FBs · fiscal YTD 91.55%</a:t>
            </a:r>
            <a:endParaRPr lang="en-US" sz="1050" dirty="0"/>
          </a:p>
        </p:txBody>
      </p:sp>
      <p:sp>
        <p:nvSpPr>
          <p:cNvPr id="11" name="Shape 8"/>
          <p:cNvSpPr/>
          <p:nvPr/>
        </p:nvSpPr>
        <p:spPr>
          <a:xfrm>
            <a:off x="777240" y="3703320"/>
            <a:ext cx="1600200" cy="329184"/>
          </a:xfrm>
          <a:prstGeom prst="roundRect">
            <a:avLst>
              <a:gd name="adj" fmla="val 22222"/>
            </a:avLst>
          </a:prstGeom>
          <a:solidFill>
            <a:srgbClr val="FEE2E2"/>
          </a:solidFill>
          <a:ln w="12700">
            <a:solidFill>
              <a:srgbClr val="FEE2E2"/>
            </a:solidFill>
            <a:prstDash val="solid"/>
          </a:ln>
        </p:spPr>
      </p:sp>
      <p:sp>
        <p:nvSpPr>
          <p:cNvPr id="12" name="Text 9"/>
          <p:cNvSpPr txBox="1"/>
          <p:nvPr/>
        </p:nvSpPr>
        <p:spPr>
          <a:xfrm>
            <a:off x="777240"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−0.22 pts</a:t>
            </a:r>
            <a:endParaRPr lang="en-US" sz="1200" dirty="0"/>
          </a:p>
        </p:txBody>
      </p:sp>
      <p:sp>
        <p:nvSpPr>
          <p:cNvPr id="13" name="Text 10"/>
          <p:cNvSpPr txBox="1"/>
          <p:nvPr/>
        </p:nvSpPr>
        <p:spPr>
          <a:xfrm>
            <a:off x="2468880"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14" name="Shape 11"/>
          <p:cNvSpPr/>
          <p:nvPr/>
        </p:nvSpPr>
        <p:spPr>
          <a:xfrm>
            <a:off x="777240" y="4123944"/>
            <a:ext cx="1600200" cy="329184"/>
          </a:xfrm>
          <a:prstGeom prst="roundRect">
            <a:avLst>
              <a:gd name="adj" fmla="val 22222"/>
            </a:avLst>
          </a:prstGeom>
          <a:solidFill>
            <a:srgbClr val="D1FAE5"/>
          </a:solidFill>
          <a:ln w="12700">
            <a:solidFill>
              <a:srgbClr val="D1FAE5"/>
            </a:solidFill>
            <a:prstDash val="solid"/>
          </a:ln>
        </p:spPr>
      </p:sp>
      <p:sp>
        <p:nvSpPr>
          <p:cNvPr id="15" name="Text 12"/>
          <p:cNvSpPr txBox="1"/>
          <p:nvPr/>
        </p:nvSpPr>
        <p:spPr>
          <a:xfrm>
            <a:off x="777240"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+0.47 pts</a:t>
            </a:r>
            <a:endParaRPr lang="en-US" sz="1200" dirty="0"/>
          </a:p>
        </p:txBody>
      </p:sp>
      <p:sp>
        <p:nvSpPr>
          <p:cNvPr id="16" name="Text 13"/>
          <p:cNvSpPr txBox="1"/>
          <p:nvPr/>
        </p:nvSpPr>
        <p:spPr>
          <a:xfrm>
            <a:off x="2468880"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17" name="Shape 14"/>
          <p:cNvSpPr/>
          <p:nvPr/>
        </p:nvSpPr>
        <p:spPr>
          <a:xfrm>
            <a:off x="4337304" y="1691640"/>
            <a:ext cx="3514344" cy="3154680"/>
          </a:xfrm>
          <a:prstGeom prst="roundRect">
            <a:avLst>
              <a:gd name="adj" fmla="val 2319"/>
            </a:avLst>
          </a:prstGeom>
          <a:solidFill>
            <a:srgbClr val="F3F4F6"/>
          </a:solidFill>
          <a:ln w="12700">
            <a:solidFill>
              <a:srgbClr val="F3F4F6"/>
            </a:solidFill>
            <a:prstDash val="solid"/>
          </a:ln>
        </p:spPr>
      </p:sp>
      <p:sp>
        <p:nvSpPr>
          <p:cNvPr id="18" name="Shape 15"/>
          <p:cNvSpPr/>
          <p:nvPr/>
        </p:nvSpPr>
        <p:spPr>
          <a:xfrm>
            <a:off x="4565904" y="1920240"/>
            <a:ext cx="502920" cy="502920"/>
          </a:xfrm>
          <a:prstGeom prst="ellipse">
            <a:avLst/>
          </a:prstGeom>
          <a:solidFill>
            <a:srgbClr val="EDE9FE"/>
          </a:solidFill>
          <a:ln w="12700">
            <a:solidFill>
              <a:srgbClr val="EDE9FE"/>
            </a:solidFill>
            <a:prstDash val="solid"/>
          </a:ln>
        </p:spPr>
      </p:sp>
      <p:pic>
        <p:nvPicPr>
          <p:cNvPr id="19" name="Image 1" descr="preencoded.png">    </p:cNvPr>
          <p:cNvPicPr>
            <a:picLocks noChangeAspect="1"/>
          </p:cNvPicPr>
          <p:nvPr/>
        </p:nvPicPr>
        <p:blipFill>
          <a:blip r:embed="rId2"/>
          <a:stretch>
            <a:fillRect/>
          </a:stretch>
        </p:blipFill>
        <p:spPr>
          <a:xfrm>
            <a:off x="4691634" y="2045970"/>
            <a:ext cx="251460" cy="251460"/>
          </a:xfrm>
          <a:prstGeom prst="rect">
            <a:avLst/>
          </a:prstGeom>
        </p:spPr>
      </p:pic>
      <p:sp>
        <p:nvSpPr>
          <p:cNvPr id="20" name="Text 16"/>
          <p:cNvSpPr txBox="1"/>
          <p:nvPr/>
        </p:nvSpPr>
        <p:spPr>
          <a:xfrm>
            <a:off x="5205984"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completely scanned</a:t>
            </a:r>
            <a:endParaRPr lang="en-US" sz="1500" dirty="0"/>
          </a:p>
        </p:txBody>
      </p:sp>
      <p:sp>
        <p:nvSpPr>
          <p:cNvPr id="21" name="Text 17"/>
          <p:cNvSpPr txBox="1"/>
          <p:nvPr/>
        </p:nvSpPr>
        <p:spPr>
          <a:xfrm>
            <a:off x="4565904"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90.50%</a:t>
            </a:r>
            <a:endParaRPr lang="en-US" sz="4400" dirty="0"/>
          </a:p>
        </p:txBody>
      </p:sp>
      <p:sp>
        <p:nvSpPr>
          <p:cNvPr id="22" name="Text 18"/>
          <p:cNvSpPr txBox="1"/>
          <p:nvPr/>
        </p:nvSpPr>
        <p:spPr>
          <a:xfrm>
            <a:off x="4520184"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47.76K of 52.77K FBs · fiscal YTD 90.54%</a:t>
            </a:r>
            <a:endParaRPr lang="en-US" sz="1050" dirty="0"/>
          </a:p>
        </p:txBody>
      </p:sp>
      <p:sp>
        <p:nvSpPr>
          <p:cNvPr id="23" name="Shape 19"/>
          <p:cNvSpPr/>
          <p:nvPr/>
        </p:nvSpPr>
        <p:spPr>
          <a:xfrm>
            <a:off x="4565904" y="3703320"/>
            <a:ext cx="1600200" cy="329184"/>
          </a:xfrm>
          <a:prstGeom prst="roundRect">
            <a:avLst>
              <a:gd name="adj" fmla="val 22222"/>
            </a:avLst>
          </a:prstGeom>
          <a:solidFill>
            <a:srgbClr val="FEE2E2"/>
          </a:solidFill>
          <a:ln w="12700">
            <a:solidFill>
              <a:srgbClr val="FEE2E2"/>
            </a:solidFill>
            <a:prstDash val="solid"/>
          </a:ln>
        </p:spPr>
      </p:sp>
      <p:sp>
        <p:nvSpPr>
          <p:cNvPr id="24" name="Text 20"/>
          <p:cNvSpPr txBox="1"/>
          <p:nvPr/>
        </p:nvSpPr>
        <p:spPr>
          <a:xfrm>
            <a:off x="4565904"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−0.20 pts</a:t>
            </a:r>
            <a:endParaRPr lang="en-US" sz="1200" dirty="0"/>
          </a:p>
        </p:txBody>
      </p:sp>
      <p:sp>
        <p:nvSpPr>
          <p:cNvPr id="25" name="Text 21"/>
          <p:cNvSpPr txBox="1"/>
          <p:nvPr/>
        </p:nvSpPr>
        <p:spPr>
          <a:xfrm>
            <a:off x="6257544"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26" name="Shape 22"/>
          <p:cNvSpPr/>
          <p:nvPr/>
        </p:nvSpPr>
        <p:spPr>
          <a:xfrm>
            <a:off x="4565904" y="4123944"/>
            <a:ext cx="1600200" cy="329184"/>
          </a:xfrm>
          <a:prstGeom prst="roundRect">
            <a:avLst>
              <a:gd name="adj" fmla="val 22222"/>
            </a:avLst>
          </a:prstGeom>
          <a:solidFill>
            <a:srgbClr val="D1FAE5"/>
          </a:solidFill>
          <a:ln w="12700">
            <a:solidFill>
              <a:srgbClr val="D1FAE5"/>
            </a:solidFill>
            <a:prstDash val="solid"/>
          </a:ln>
        </p:spPr>
      </p:sp>
      <p:sp>
        <p:nvSpPr>
          <p:cNvPr id="27" name="Text 23"/>
          <p:cNvSpPr txBox="1"/>
          <p:nvPr/>
        </p:nvSpPr>
        <p:spPr>
          <a:xfrm>
            <a:off x="4565904"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+0.60 pts</a:t>
            </a:r>
            <a:endParaRPr lang="en-US" sz="1200" dirty="0"/>
          </a:p>
        </p:txBody>
      </p:sp>
      <p:sp>
        <p:nvSpPr>
          <p:cNvPr id="28" name="Text 24"/>
          <p:cNvSpPr txBox="1"/>
          <p:nvPr/>
        </p:nvSpPr>
        <p:spPr>
          <a:xfrm>
            <a:off x="6257544"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29" name="Shape 25"/>
          <p:cNvSpPr/>
          <p:nvPr/>
        </p:nvSpPr>
        <p:spPr>
          <a:xfrm>
            <a:off x="8125968" y="1691640"/>
            <a:ext cx="3514344" cy="3154680"/>
          </a:xfrm>
          <a:prstGeom prst="roundRect">
            <a:avLst>
              <a:gd name="adj" fmla="val 2319"/>
            </a:avLst>
          </a:prstGeom>
          <a:solidFill>
            <a:srgbClr val="F3F4F6"/>
          </a:solidFill>
          <a:ln w="12700">
            <a:solidFill>
              <a:srgbClr val="F3F4F6"/>
            </a:solidFill>
            <a:prstDash val="solid"/>
          </a:ln>
        </p:spPr>
      </p:sp>
      <p:sp>
        <p:nvSpPr>
          <p:cNvPr id="30" name="Shape 26"/>
          <p:cNvSpPr/>
          <p:nvPr/>
        </p:nvSpPr>
        <p:spPr>
          <a:xfrm>
            <a:off x="8354568" y="1920240"/>
            <a:ext cx="502920" cy="502920"/>
          </a:xfrm>
          <a:prstGeom prst="ellipse">
            <a:avLst/>
          </a:prstGeom>
          <a:solidFill>
            <a:srgbClr val="EDE9FE"/>
          </a:solidFill>
          <a:ln w="12700">
            <a:solidFill>
              <a:srgbClr val="EDE9FE"/>
            </a:solidFill>
            <a:prstDash val="solid"/>
          </a:ln>
        </p:spPr>
      </p:sp>
      <p:pic>
        <p:nvPicPr>
          <p:cNvPr id="31" name="Image 2" descr="preencoded.png">    </p:cNvPr>
          <p:cNvPicPr>
            <a:picLocks noChangeAspect="1"/>
          </p:cNvPicPr>
          <p:nvPr/>
        </p:nvPicPr>
        <p:blipFill>
          <a:blip r:embed="rId3"/>
          <a:stretch>
            <a:fillRect/>
          </a:stretch>
        </p:blipFill>
        <p:spPr>
          <a:xfrm>
            <a:off x="8480298" y="2045970"/>
            <a:ext cx="251460" cy="251460"/>
          </a:xfrm>
          <a:prstGeom prst="rect">
            <a:avLst/>
          </a:prstGeom>
        </p:spPr>
      </p:pic>
      <p:sp>
        <p:nvSpPr>
          <p:cNvPr id="32" name="Text 27"/>
          <p:cNvSpPr txBox="1"/>
          <p:nvPr/>
        </p:nvSpPr>
        <p:spPr>
          <a:xfrm>
            <a:off x="8994648"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Items scanned</a:t>
            </a:r>
            <a:endParaRPr lang="en-US" sz="1500" dirty="0"/>
          </a:p>
        </p:txBody>
      </p:sp>
      <p:sp>
        <p:nvSpPr>
          <p:cNvPr id="33" name="Text 28"/>
          <p:cNvSpPr txBox="1"/>
          <p:nvPr/>
        </p:nvSpPr>
        <p:spPr>
          <a:xfrm>
            <a:off x="8354568"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90.66%</a:t>
            </a:r>
            <a:endParaRPr lang="en-US" sz="4400" dirty="0"/>
          </a:p>
        </p:txBody>
      </p:sp>
      <p:sp>
        <p:nvSpPr>
          <p:cNvPr id="34" name="Text 29"/>
          <p:cNvSpPr txBox="1"/>
          <p:nvPr/>
        </p:nvSpPr>
        <p:spPr>
          <a:xfrm>
            <a:off x="8308848"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73.85K of 81.46K items · fiscal YTD 90.61%</a:t>
            </a:r>
            <a:endParaRPr lang="en-US" sz="1050" dirty="0"/>
          </a:p>
        </p:txBody>
      </p:sp>
      <p:sp>
        <p:nvSpPr>
          <p:cNvPr id="35" name="Shape 30"/>
          <p:cNvSpPr/>
          <p:nvPr/>
        </p:nvSpPr>
        <p:spPr>
          <a:xfrm>
            <a:off x="8354568" y="3703320"/>
            <a:ext cx="1600200" cy="329184"/>
          </a:xfrm>
          <a:prstGeom prst="roundRect">
            <a:avLst>
              <a:gd name="adj" fmla="val 22222"/>
            </a:avLst>
          </a:prstGeom>
          <a:solidFill>
            <a:srgbClr val="FEE2E2"/>
          </a:solidFill>
          <a:ln w="12700">
            <a:solidFill>
              <a:srgbClr val="FEE2E2"/>
            </a:solidFill>
            <a:prstDash val="solid"/>
          </a:ln>
        </p:spPr>
      </p:sp>
      <p:sp>
        <p:nvSpPr>
          <p:cNvPr id="36" name="Text 31"/>
          <p:cNvSpPr txBox="1"/>
          <p:nvPr/>
        </p:nvSpPr>
        <p:spPr>
          <a:xfrm>
            <a:off x="8354568"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−0.13 pts</a:t>
            </a:r>
            <a:endParaRPr lang="en-US" sz="1200" dirty="0"/>
          </a:p>
        </p:txBody>
      </p:sp>
      <p:sp>
        <p:nvSpPr>
          <p:cNvPr id="37" name="Text 32"/>
          <p:cNvSpPr txBox="1"/>
          <p:nvPr/>
        </p:nvSpPr>
        <p:spPr>
          <a:xfrm>
            <a:off x="10046208"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38" name="Shape 33"/>
          <p:cNvSpPr/>
          <p:nvPr/>
        </p:nvSpPr>
        <p:spPr>
          <a:xfrm>
            <a:off x="8354568" y="4123944"/>
            <a:ext cx="1600200" cy="329184"/>
          </a:xfrm>
          <a:prstGeom prst="roundRect">
            <a:avLst>
              <a:gd name="adj" fmla="val 22222"/>
            </a:avLst>
          </a:prstGeom>
          <a:solidFill>
            <a:srgbClr val="D1FAE5"/>
          </a:solidFill>
          <a:ln w="12700">
            <a:solidFill>
              <a:srgbClr val="D1FAE5"/>
            </a:solidFill>
            <a:prstDash val="solid"/>
          </a:ln>
        </p:spPr>
      </p:sp>
      <p:sp>
        <p:nvSpPr>
          <p:cNvPr id="39" name="Text 34"/>
          <p:cNvSpPr txBox="1"/>
          <p:nvPr/>
        </p:nvSpPr>
        <p:spPr>
          <a:xfrm>
            <a:off x="8354568"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+1.54 pts</a:t>
            </a:r>
            <a:endParaRPr lang="en-US" sz="1200" dirty="0"/>
          </a:p>
        </p:txBody>
      </p:sp>
      <p:sp>
        <p:nvSpPr>
          <p:cNvPr id="40" name="Text 35"/>
          <p:cNvSpPr txBox="1"/>
          <p:nvPr/>
        </p:nvSpPr>
        <p:spPr>
          <a:xfrm>
            <a:off x="10046208"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41" name="Shape 36"/>
          <p:cNvSpPr/>
          <p:nvPr/>
        </p:nvSpPr>
        <p:spPr>
          <a:xfrm>
            <a:off x="548640" y="5029200"/>
            <a:ext cx="11091672" cy="960120"/>
          </a:xfrm>
          <a:prstGeom prst="roundRect">
            <a:avLst>
              <a:gd name="adj" fmla="val 7619"/>
            </a:avLst>
          </a:prstGeom>
          <a:solidFill>
            <a:srgbClr val="F5F3FF"/>
          </a:solidFill>
          <a:ln w="12700">
            <a:solidFill>
              <a:srgbClr val="F5F3FF"/>
            </a:solidFill>
            <a:prstDash val="solid"/>
          </a:ln>
        </p:spPr>
      </p:sp>
      <p:sp>
        <p:nvSpPr>
          <p:cNvPr id="42" name="Shape 37"/>
          <p:cNvSpPr/>
          <p:nvPr/>
        </p:nvSpPr>
        <p:spPr>
          <a:xfrm>
            <a:off x="777240" y="5239512"/>
            <a:ext cx="548640" cy="548640"/>
          </a:xfrm>
          <a:prstGeom prst="ellipse">
            <a:avLst/>
          </a:prstGeom>
          <a:solidFill>
            <a:srgbClr val="7C3AED"/>
          </a:solidFill>
          <a:ln w="12700">
            <a:solidFill>
              <a:srgbClr val="7C3AED"/>
            </a:solidFill>
            <a:prstDash val="solid"/>
          </a:ln>
        </p:spPr>
      </p:sp>
      <p:pic>
        <p:nvPicPr>
          <p:cNvPr id="43" name="Image 3" descr="preencoded.png">    </p:cNvPr>
          <p:cNvPicPr>
            <a:picLocks noChangeAspect="1"/>
          </p:cNvPicPr>
          <p:nvPr/>
        </p:nvPicPr>
        <p:blipFill>
          <a:blip r:embed="rId4"/>
          <a:stretch>
            <a:fillRect/>
          </a:stretch>
        </p:blipFill>
        <p:spPr>
          <a:xfrm>
            <a:off x="914400" y="5376672"/>
            <a:ext cx="274320" cy="274320"/>
          </a:xfrm>
          <a:prstGeom prst="rect">
            <a:avLst/>
          </a:prstGeom>
        </p:spPr>
      </p:pic>
      <p:sp>
        <p:nvSpPr>
          <p:cNvPr id="44" name="Text 38"/>
          <p:cNvSpPr txBox="1"/>
          <p:nvPr/>
        </p:nvSpPr>
        <p:spPr>
          <a:xfrm>
            <a:off x="1508760" y="5029200"/>
            <a:ext cx="9966960" cy="960120"/>
          </a:xfrm>
          <a:prstGeom prst="rect">
            <a:avLst/>
          </a:prstGeom>
          <a:noFill/>
          <a:ln/>
        </p:spPr>
        <p:txBody>
          <a:bodyPr wrap="square" lIns="0" tIns="0" rIns="0" bIns="0" rtlCol="0" anchor="ctr"/>
          <a:lstStyle/>
          <a:p>
            <a:pPr indent="0" marL="0">
              <a:buNone/>
            </a:pPr>
            <a:r>
              <a:rPr lang="en-US" sz="1350" b="1" dirty="0">
                <a:solidFill>
                  <a:srgbClr val="111827"/>
                </a:solidFill>
                <a:latin typeface="Calibri" pitchFamily="34" charset="0"/>
                <a:ea typeface="Calibri" pitchFamily="34" charset="-122"/>
                <a:cs typeface="Calibri" pitchFamily="34" charset="-120"/>
              </a:rPr>
              <a:t>September is in line with fiscal YTD (91.4% vs 91.6% of freight bills scanned). ≈4.55K freight bills were not scanned in/out Sep 1–28 — closing that gap also cuts 'already serviced' missed-PU false positives.</a:t>
            </a:r>
            <a:endParaRPr lang="en-US" sz="1350" dirty="0"/>
          </a:p>
          <a:p>
            <a:pPr indent="0" marL="0">
              <a:buNone/>
            </a:pPr>
            <a:r>
              <a:rPr lang="en-US" sz="1000" i="1" dirty="0">
                <a:solidFill>
                  <a:srgbClr val="6B7280"/>
                </a:solidFill>
                <a:latin typeface="Calibri" pitchFamily="34" charset="0"/>
                <a:ea typeface="Calibri" pitchFamily="34" charset="-122"/>
                <a:cs typeface="Calibri" pitchFamily="34" charset="-120"/>
              </a:rPr>
              <a:t>Calculated: 52.77K − 48.22K = 4.55K FBs not scanned (Sep 1–28)</a:t>
            </a:r>
            <a:endParaRPr lang="en-US" sz="1350" dirty="0"/>
          </a:p>
        </p:txBody>
      </p:sp>
      <p:sp>
        <p:nvSpPr>
          <p:cNvPr id="45" name="Text 39"/>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Compliance Reporting — Scanning Efficiency In/Out of Terminals · D&amp;R Commerce Mississauga · Sep 1–28, 2026 (28 days) · all trip types</a:t>
            </a:r>
            <a:endParaRPr lang="en-US" sz="950" dirty="0"/>
          </a:p>
        </p:txBody>
      </p:sp>
      <p:sp>
        <p:nvSpPr>
          <p:cNvPr id="46" name="Text 4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7" name="Text 4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24</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WATCH</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Monthly input</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5F3FF"/>
          </a:solidFill>
          <a:ln w="12700">
            <a:solidFill>
              <a:srgbClr val="F5F3FF"/>
            </a:solidFill>
            <a:prstDash val="solid"/>
          </a:ln>
        </p:spPr>
      </p:sp>
      <p:sp>
        <p:nvSpPr>
          <p:cNvPr id="30" name="Shape 28"/>
          <p:cNvSpPr/>
          <p:nvPr/>
        </p:nvSpPr>
        <p:spPr>
          <a:xfrm>
            <a:off x="6217920" y="4965192"/>
            <a:ext cx="566928" cy="566928"/>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24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24</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Dock labour cost &amp; cost per unit</a:t>
            </a:r>
            <a:endParaRPr lang="en-US" sz="3000" dirty="0"/>
          </a:p>
        </p:txBody>
      </p:sp>
      <p:graphicFrame>
        <p:nvGraphicFramePr>
          <p:cNvPr id="4" name="Chart 0" descr=""/>
          <p:cNvGraphicFramePr/>
          <p:nvPr/>
        </p:nvGraphicFramePr>
        <p:xfrm>
          <a:off x="548640" y="1325880"/>
          <a:ext cx="585216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4754880"/>
            <a:ext cx="5852160" cy="1234440"/>
          </a:xfrm>
          <a:prstGeom prst="roundRect">
            <a:avLst>
              <a:gd name="adj" fmla="val 5926"/>
            </a:avLst>
          </a:prstGeom>
          <a:solidFill>
            <a:srgbClr val="ECFDF5"/>
          </a:solidFill>
          <a:ln w="12700">
            <a:solidFill>
              <a:srgbClr val="ECFDF5"/>
            </a:solidFill>
            <a:prstDash val="solid"/>
          </a:ln>
        </p:spPr>
      </p:sp>
      <p:sp>
        <p:nvSpPr>
          <p:cNvPr id="6" name="Shape 3"/>
          <p:cNvSpPr/>
          <p:nvPr/>
        </p:nvSpPr>
        <p:spPr>
          <a:xfrm>
            <a:off x="731520" y="4956048"/>
            <a:ext cx="502920" cy="50292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2"/>
          <a:stretch>
            <a:fillRect/>
          </a:stretch>
        </p:blipFill>
        <p:spPr>
          <a:xfrm>
            <a:off x="857250" y="5081778"/>
            <a:ext cx="251460" cy="251460"/>
          </a:xfrm>
          <a:prstGeom prst="rect">
            <a:avLst/>
          </a:prstGeom>
        </p:spPr>
      </p:pic>
      <p:sp>
        <p:nvSpPr>
          <p:cNvPr id="8" name="Text 4"/>
          <p:cNvSpPr txBox="1"/>
          <p:nvPr/>
        </p:nvSpPr>
        <p:spPr>
          <a:xfrm>
            <a:off x="1417320" y="4846320"/>
            <a:ext cx="4846320" cy="22860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Cost per unit</a:t>
            </a:r>
            <a:endParaRPr lang="en-US" sz="1200" dirty="0"/>
          </a:p>
        </p:txBody>
      </p:sp>
      <p:sp>
        <p:nvSpPr>
          <p:cNvPr id="9" name="Text 5"/>
          <p:cNvSpPr txBox="1"/>
          <p:nvPr/>
        </p:nvSpPr>
        <p:spPr>
          <a:xfrm>
            <a:off x="1417320" y="5074920"/>
            <a:ext cx="4846320" cy="384048"/>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$2.64 → $2.19</a:t>
            </a:r>
            <a:pPr indent="0" marL="0">
              <a:buNone/>
            </a:pPr>
            <a:r>
              <a:rPr lang="en-US" sz="1500" b="1" dirty="0">
                <a:solidFill>
                  <a:srgbClr val="059669"/>
                </a:solidFill>
                <a:latin typeface="Calibri" pitchFamily="34" charset="0"/>
                <a:ea typeface="Calibri" pitchFamily="34" charset="-122"/>
                <a:cs typeface="Calibri" pitchFamily="34" charset="-120"/>
              </a:rPr>
              <a:t>   −$0.44 (−16.7%)</a:t>
            </a:r>
            <a:endParaRPr lang="en-US" sz="2200" dirty="0"/>
          </a:p>
        </p:txBody>
      </p:sp>
      <p:sp>
        <p:nvSpPr>
          <p:cNvPr id="10" name="Text 6"/>
          <p:cNvSpPr txBox="1"/>
          <p:nvPr/>
        </p:nvSpPr>
        <p:spPr>
          <a:xfrm>
            <a:off x="1417320" y="5468112"/>
            <a:ext cx="4892040" cy="246888"/>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At F26's CPU, F27's 60,933 units would have cost ≈$26.9K more.</a:t>
            </a:r>
            <a:endParaRPr lang="en-US" sz="1050" dirty="0"/>
          </a:p>
        </p:txBody>
      </p:sp>
      <p:sp>
        <p:nvSpPr>
          <p:cNvPr id="11" name="Text 7"/>
          <p:cNvSpPr txBox="1"/>
          <p:nvPr/>
        </p:nvSpPr>
        <p:spPr>
          <a:xfrm>
            <a:off x="1417320" y="5715000"/>
            <a:ext cx="484632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(F26 CPU − F27 CPU) × F27 units</a:t>
            </a:r>
            <a:endParaRPr lang="en-US" sz="900" dirty="0"/>
          </a:p>
        </p:txBody>
      </p:sp>
      <p:sp>
        <p:nvSpPr>
          <p:cNvPr id="12" name="Shape 8"/>
          <p:cNvSpPr/>
          <p:nvPr/>
        </p:nvSpPr>
        <p:spPr>
          <a:xfrm>
            <a:off x="6675120" y="1371600"/>
            <a:ext cx="4965192" cy="987552"/>
          </a:xfrm>
          <a:prstGeom prst="roundRect">
            <a:avLst>
              <a:gd name="adj" fmla="val 7407"/>
            </a:avLst>
          </a:prstGeom>
          <a:solidFill>
            <a:srgbClr val="F3F4F6"/>
          </a:solidFill>
          <a:ln w="12700">
            <a:solidFill>
              <a:srgbClr val="F3F4F6"/>
            </a:solidFill>
            <a:prstDash val="solid"/>
          </a:ln>
        </p:spPr>
      </p:sp>
      <p:sp>
        <p:nvSpPr>
          <p:cNvPr id="13" name="Text 9"/>
          <p:cNvSpPr txBox="1"/>
          <p:nvPr/>
        </p:nvSpPr>
        <p:spPr>
          <a:xfrm>
            <a:off x="6858000" y="149961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Total dock labour</a:t>
            </a:r>
            <a:endParaRPr lang="en-US" sz="1300" dirty="0"/>
          </a:p>
        </p:txBody>
      </p:sp>
      <p:sp>
        <p:nvSpPr>
          <p:cNvPr id="14" name="Text 10"/>
          <p:cNvSpPr txBox="1"/>
          <p:nvPr/>
        </p:nvSpPr>
        <p:spPr>
          <a:xfrm>
            <a:off x="6858000" y="1938528"/>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$133,692 MTD vs $199,739 F26</a:t>
            </a:r>
            <a:endParaRPr lang="en-US" sz="1100" dirty="0"/>
          </a:p>
        </p:txBody>
      </p:sp>
      <p:sp>
        <p:nvSpPr>
          <p:cNvPr id="15" name="Text 11"/>
          <p:cNvSpPr txBox="1"/>
          <p:nvPr/>
        </p:nvSpPr>
        <p:spPr>
          <a:xfrm>
            <a:off x="9418320" y="1371600"/>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−$66,047</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−33.1%</a:t>
            </a:r>
            <a:endParaRPr lang="en-US" sz="2400" dirty="0"/>
          </a:p>
        </p:txBody>
      </p:sp>
      <p:sp>
        <p:nvSpPr>
          <p:cNvPr id="16" name="Shape 12"/>
          <p:cNvSpPr/>
          <p:nvPr/>
        </p:nvSpPr>
        <p:spPr>
          <a:xfrm>
            <a:off x="6675120" y="2496312"/>
            <a:ext cx="4965192" cy="987552"/>
          </a:xfrm>
          <a:prstGeom prst="roundRect">
            <a:avLst>
              <a:gd name="adj" fmla="val 7407"/>
            </a:avLst>
          </a:prstGeom>
          <a:solidFill>
            <a:srgbClr val="F3F4F6"/>
          </a:solidFill>
          <a:ln w="12700">
            <a:solidFill>
              <a:srgbClr val="F3F4F6"/>
            </a:solidFill>
            <a:prstDash val="solid"/>
          </a:ln>
        </p:spPr>
      </p:sp>
      <p:sp>
        <p:nvSpPr>
          <p:cNvPr id="17" name="Text 13"/>
          <p:cNvSpPr txBox="1"/>
          <p:nvPr/>
        </p:nvSpPr>
        <p:spPr>
          <a:xfrm>
            <a:off x="6858000" y="2624328"/>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Agency wages</a:t>
            </a:r>
            <a:endParaRPr lang="en-US" sz="1300" dirty="0"/>
          </a:p>
        </p:txBody>
      </p:sp>
      <p:sp>
        <p:nvSpPr>
          <p:cNvPr id="18" name="Text 14"/>
          <p:cNvSpPr txBox="1"/>
          <p:nvPr/>
        </p:nvSpPr>
        <p:spPr>
          <a:xfrm>
            <a:off x="6858000" y="3063240"/>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$74,775 MTD vs $130,458 F26</a:t>
            </a:r>
            <a:endParaRPr lang="en-US" sz="1100" dirty="0"/>
          </a:p>
        </p:txBody>
      </p:sp>
      <p:sp>
        <p:nvSpPr>
          <p:cNvPr id="19" name="Text 15"/>
          <p:cNvSpPr txBox="1"/>
          <p:nvPr/>
        </p:nvSpPr>
        <p:spPr>
          <a:xfrm>
            <a:off x="9418320" y="2496312"/>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−$55,683</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−42.7%</a:t>
            </a:r>
            <a:endParaRPr lang="en-US" sz="2400" dirty="0"/>
          </a:p>
        </p:txBody>
      </p:sp>
      <p:sp>
        <p:nvSpPr>
          <p:cNvPr id="20" name="Shape 16"/>
          <p:cNvSpPr/>
          <p:nvPr/>
        </p:nvSpPr>
        <p:spPr>
          <a:xfrm>
            <a:off x="6675120" y="3621024"/>
            <a:ext cx="4965192" cy="987552"/>
          </a:xfrm>
          <a:prstGeom prst="roundRect">
            <a:avLst>
              <a:gd name="adj" fmla="val 7407"/>
            </a:avLst>
          </a:prstGeom>
          <a:solidFill>
            <a:srgbClr val="F3F4F6"/>
          </a:solidFill>
          <a:ln w="12700">
            <a:solidFill>
              <a:srgbClr val="F3F4F6"/>
            </a:solidFill>
            <a:prstDash val="solid"/>
          </a:ln>
        </p:spPr>
      </p:sp>
      <p:sp>
        <p:nvSpPr>
          <p:cNvPr id="21" name="Text 17"/>
          <p:cNvSpPr txBox="1"/>
          <p:nvPr/>
        </p:nvSpPr>
        <p:spPr>
          <a:xfrm>
            <a:off x="6858000" y="3749040"/>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Company wages</a:t>
            </a:r>
            <a:endParaRPr lang="en-US" sz="1300" dirty="0"/>
          </a:p>
        </p:txBody>
      </p:sp>
      <p:sp>
        <p:nvSpPr>
          <p:cNvPr id="22" name="Text 18"/>
          <p:cNvSpPr txBox="1"/>
          <p:nvPr/>
        </p:nvSpPr>
        <p:spPr>
          <a:xfrm>
            <a:off x="6858000" y="4187952"/>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$58,917 MTD vs $69,281 F26</a:t>
            </a:r>
            <a:endParaRPr lang="en-US" sz="1100" dirty="0"/>
          </a:p>
        </p:txBody>
      </p:sp>
      <p:sp>
        <p:nvSpPr>
          <p:cNvPr id="23" name="Text 19"/>
          <p:cNvSpPr txBox="1"/>
          <p:nvPr/>
        </p:nvSpPr>
        <p:spPr>
          <a:xfrm>
            <a:off x="9418320" y="3621024"/>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−$10,364</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−15.0%</a:t>
            </a:r>
            <a:endParaRPr lang="en-US" sz="2400" dirty="0"/>
          </a:p>
        </p:txBody>
      </p:sp>
      <p:sp>
        <p:nvSpPr>
          <p:cNvPr id="24" name="Shape 20"/>
          <p:cNvSpPr/>
          <p:nvPr/>
        </p:nvSpPr>
        <p:spPr>
          <a:xfrm>
            <a:off x="6675120" y="4754880"/>
            <a:ext cx="4965192" cy="1234440"/>
          </a:xfrm>
          <a:prstGeom prst="roundRect">
            <a:avLst>
              <a:gd name="adj" fmla="val 5926"/>
            </a:avLst>
          </a:prstGeom>
          <a:solidFill>
            <a:srgbClr val="F3F4F6"/>
          </a:solidFill>
          <a:ln w="12700">
            <a:solidFill>
              <a:srgbClr val="F3F4F6"/>
            </a:solidFill>
            <a:prstDash val="solid"/>
          </a:ln>
        </p:spPr>
      </p:sp>
      <p:sp>
        <p:nvSpPr>
          <p:cNvPr id="25" name="Text 21"/>
          <p:cNvSpPr txBox="1"/>
          <p:nvPr/>
        </p:nvSpPr>
        <p:spPr>
          <a:xfrm>
            <a:off x="6858000" y="488289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 handled</a:t>
            </a:r>
            <a:endParaRPr lang="en-US" sz="1300" dirty="0"/>
          </a:p>
        </p:txBody>
      </p:sp>
      <p:sp>
        <p:nvSpPr>
          <p:cNvPr id="26" name="Text 22"/>
          <p:cNvSpPr txBox="1"/>
          <p:nvPr/>
        </p:nvSpPr>
        <p:spPr>
          <a:xfrm>
            <a:off x="6858000" y="5568696"/>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60,933 MTD vs 75,801 F26</a:t>
            </a:r>
            <a:endParaRPr lang="en-US" sz="1100" dirty="0"/>
          </a:p>
        </p:txBody>
      </p:sp>
      <p:sp>
        <p:nvSpPr>
          <p:cNvPr id="27" name="Text 23"/>
          <p:cNvSpPr txBox="1"/>
          <p:nvPr/>
        </p:nvSpPr>
        <p:spPr>
          <a:xfrm>
            <a:off x="9418320" y="4754880"/>
            <a:ext cx="2039112" cy="1234440"/>
          </a:xfrm>
          <a:prstGeom prst="rect">
            <a:avLst/>
          </a:prstGeom>
          <a:noFill/>
          <a:ln/>
        </p:spPr>
        <p:txBody>
          <a:bodyPr wrap="square" lIns="0" tIns="0" rIns="0" bIns="0" rtlCol="0" anchor="ctr"/>
          <a:lstStyle/>
          <a:p>
            <a:pPr algn="r" indent="0" marL="0">
              <a:buNone/>
            </a:pPr>
            <a:r>
              <a:rPr lang="en-US" sz="2400" b="1" dirty="0">
                <a:solidFill>
                  <a:srgbClr val="1F2937"/>
                </a:solidFill>
                <a:latin typeface="Calibri" pitchFamily="34" charset="0"/>
                <a:ea typeface="Calibri" pitchFamily="34" charset="-122"/>
                <a:cs typeface="Calibri" pitchFamily="34" charset="-120"/>
              </a:rPr>
              <a:t>−14,868</a:t>
            </a:r>
            <a:endParaRPr lang="en-US" sz="2400" dirty="0"/>
          </a:p>
          <a:p>
            <a:pPr algn="r" indent="0" marL="0">
              <a:buNone/>
            </a:pPr>
            <a:r>
              <a:rPr lang="en-US" sz="1300" b="1" dirty="0">
                <a:solidFill>
                  <a:srgbClr val="1F2937"/>
                </a:solidFill>
                <a:latin typeface="Calibri" pitchFamily="34" charset="0"/>
                <a:ea typeface="Calibri" pitchFamily="34" charset="-122"/>
                <a:cs typeface="Calibri" pitchFamily="34" charset="-120"/>
              </a:rPr>
              <a:t>−19.6%</a:t>
            </a:r>
            <a:endParaRPr lang="en-US" sz="2400" dirty="0"/>
          </a:p>
        </p:txBody>
      </p:sp>
      <p:sp>
        <p:nvSpPr>
          <p:cNvPr id="28" name="Text 24"/>
          <p:cNvSpPr txBox="1"/>
          <p:nvPr/>
        </p:nvSpPr>
        <p:spPr>
          <a:xfrm>
            <a:off x="548640" y="6089904"/>
            <a:ext cx="11091672" cy="274320"/>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F26 = full September; F27 = MTD to Sep 26 (18 of 21 working days). Source: SCA Cost-per-PRO report &amp; productivity dashboard — Mississauga, Sep 26, 2026.</a:t>
            </a:r>
            <a:endParaRPr lang="en-US" sz="950" dirty="0"/>
          </a:p>
        </p:txBody>
      </p:sp>
      <p:sp>
        <p:nvSpPr>
          <p:cNvPr id="29"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24</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Labour distribution — company employees</a:t>
            </a:r>
            <a:endParaRPr lang="en-US" sz="3000" dirty="0"/>
          </a:p>
        </p:txBody>
      </p:sp>
      <p:sp>
        <p:nvSpPr>
          <p:cNvPr id="4" name="Text 2"/>
          <p:cNvSpPr txBox="1"/>
          <p:nvPr/>
        </p:nvSpPr>
        <p:spPr>
          <a:xfrm>
            <a:off x="548640" y="1243584"/>
            <a:ext cx="73152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Q1 F26 vs Q1 F27 (Jul–Sep; F27 to date)</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132320" cy="914400"/>
        </p:xfrm>
        <a:graphic>
          <a:graphicData uri="http://schemas.openxmlformats.org/drawingml/2006/table">
            <a:tbl>
              <a:tblPr/>
              <a:tblGrid>
                <a:gridCol w="2743200"/>
                <a:gridCol w="1463040"/>
                <a:gridCol w="1600200"/>
                <a:gridCol w="1325880"/>
              </a:tblGrid>
              <a:tr h="30175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Metric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F27 (to date)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Hours worked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5.7K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6.1K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Total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$143.5K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$155.3K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+$11.8K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Regular cost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$140.9K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$152.3K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56.7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62.3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Head count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 of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Dock Operations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5,205.40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5,207.42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+2.02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$131,452.77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$133,939.99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+$2,487.22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OT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$2,203.88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$2,386.86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+$182.98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lead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112.85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Terminal Admin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446.35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908.55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+462.20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Terminal Admin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$9,490.76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$18,400.58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+$8,909.82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6" name="Shape 3"/>
          <p:cNvSpPr/>
          <p:nvPr/>
        </p:nvSpPr>
        <p:spPr>
          <a:xfrm>
            <a:off x="8275320" y="1645920"/>
            <a:ext cx="3364992" cy="960120"/>
          </a:xfrm>
          <a:prstGeom prst="roundRect">
            <a:avLst>
              <a:gd name="adj" fmla="val 7619"/>
            </a:avLst>
          </a:prstGeom>
          <a:solidFill>
            <a:srgbClr val="F3F4F6"/>
          </a:solidFill>
          <a:ln w="12700">
            <a:solidFill>
              <a:srgbClr val="F3F4F6"/>
            </a:solidFill>
            <a:prstDash val="solid"/>
          </a:ln>
        </p:spPr>
      </p:sp>
      <p:sp>
        <p:nvSpPr>
          <p:cNvPr id="7" name="Text 4"/>
          <p:cNvSpPr txBox="1"/>
          <p:nvPr/>
        </p:nvSpPr>
        <p:spPr>
          <a:xfrm>
            <a:off x="8458200" y="173736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Company dock hours</a:t>
            </a:r>
            <a:endParaRPr lang="en-US" sz="1100" dirty="0"/>
          </a:p>
        </p:txBody>
      </p:sp>
      <p:sp>
        <p:nvSpPr>
          <p:cNvPr id="8" name="Text 5"/>
          <p:cNvSpPr txBox="1"/>
          <p:nvPr/>
        </p:nvSpPr>
        <p:spPr>
          <a:xfrm>
            <a:off x="8458200" y="197510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5,205 → 5,207</a:t>
            </a:r>
            <a:endParaRPr lang="en-US" sz="2000" dirty="0"/>
          </a:p>
        </p:txBody>
      </p:sp>
      <p:sp>
        <p:nvSpPr>
          <p:cNvPr id="9" name="Text 6"/>
          <p:cNvSpPr txBox="1"/>
          <p:nvPr/>
        </p:nvSpPr>
        <p:spPr>
          <a:xfrm>
            <a:off x="8458200" y="2340864"/>
            <a:ext cx="3017520" cy="219456"/>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Flat year over year (+0.04%)</a:t>
            </a:r>
            <a:endParaRPr lang="en-US" sz="1050" dirty="0"/>
          </a:p>
        </p:txBody>
      </p:sp>
      <p:sp>
        <p:nvSpPr>
          <p:cNvPr id="10" name="Shape 7"/>
          <p:cNvSpPr/>
          <p:nvPr/>
        </p:nvSpPr>
        <p:spPr>
          <a:xfrm>
            <a:off x="8275320" y="2697480"/>
            <a:ext cx="3364992" cy="960120"/>
          </a:xfrm>
          <a:prstGeom prst="roundRect">
            <a:avLst>
              <a:gd name="adj" fmla="val 7619"/>
            </a:avLst>
          </a:prstGeom>
          <a:solidFill>
            <a:srgbClr val="F3F4F6"/>
          </a:solidFill>
          <a:ln w="12700">
            <a:solidFill>
              <a:srgbClr val="F3F4F6"/>
            </a:solidFill>
            <a:prstDash val="solid"/>
          </a:ln>
        </p:spPr>
      </p:sp>
      <p:sp>
        <p:nvSpPr>
          <p:cNvPr id="11" name="Text 8"/>
          <p:cNvSpPr txBox="1"/>
          <p:nvPr/>
        </p:nvSpPr>
        <p:spPr>
          <a:xfrm>
            <a:off x="8458200" y="278892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Terminal admin hours</a:t>
            </a:r>
            <a:endParaRPr lang="en-US" sz="1100" dirty="0"/>
          </a:p>
        </p:txBody>
      </p:sp>
      <p:sp>
        <p:nvSpPr>
          <p:cNvPr id="12" name="Text 9"/>
          <p:cNvSpPr txBox="1"/>
          <p:nvPr/>
        </p:nvSpPr>
        <p:spPr>
          <a:xfrm>
            <a:off x="8458200" y="302666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446 → 909</a:t>
            </a:r>
            <a:endParaRPr lang="en-US" sz="2000" dirty="0"/>
          </a:p>
        </p:txBody>
      </p:sp>
      <p:sp>
        <p:nvSpPr>
          <p:cNvPr id="13" name="Text 10"/>
          <p:cNvSpPr txBox="1"/>
          <p:nvPr/>
        </p:nvSpPr>
        <p:spPr>
          <a:xfrm>
            <a:off x="8458200" y="3392424"/>
            <a:ext cx="3017520" cy="219456"/>
          </a:xfrm>
          <a:prstGeom prst="rect">
            <a:avLst/>
          </a:prstGeom>
          <a:noFill/>
          <a:ln/>
        </p:spPr>
        <p:txBody>
          <a:bodyPr wrap="square" lIns="0" tIns="0" rIns="0" bIns="0"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+104% hours — staffing change</a:t>
            </a:r>
            <a:endParaRPr lang="en-US" sz="1050" dirty="0"/>
          </a:p>
        </p:txBody>
      </p:sp>
      <p:graphicFrame>
        <p:nvGraphicFramePr>
          <p:cNvPr id="14" name="Chart 0" descr=""/>
          <p:cNvGraphicFramePr/>
          <p:nvPr/>
        </p:nvGraphicFramePr>
        <p:xfrm>
          <a:off x="8275320" y="3749040"/>
          <a:ext cx="3364992" cy="146304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5303520"/>
            <a:ext cx="3364992" cy="713232"/>
          </a:xfrm>
          <a:prstGeom prst="roundRect">
            <a:avLst>
              <a:gd name="adj" fmla="val 10256"/>
            </a:avLst>
          </a:prstGeom>
          <a:solidFill>
            <a:srgbClr val="F5F3FF"/>
          </a:solidFill>
          <a:ln w="12700">
            <a:solidFill>
              <a:srgbClr val="F5F3FF"/>
            </a:solidFill>
            <a:prstDash val="solid"/>
          </a:ln>
        </p:spPr>
      </p:sp>
      <p:sp>
        <p:nvSpPr>
          <p:cNvPr id="16" name="Text 12"/>
          <p:cNvSpPr txBox="1"/>
          <p:nvPr/>
        </p:nvSpPr>
        <p:spPr>
          <a:xfrm>
            <a:off x="8412480" y="5330952"/>
            <a:ext cx="3108960" cy="658368"/>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Admin cost doubled vs F26 but is still below F24 (≈$21.5K) and F25 (≈$22.7K) — F26 was the unusually low year.</a:t>
            </a:r>
            <a:endParaRPr lang="en-US" sz="1050" dirty="0"/>
          </a:p>
        </p:txBody>
      </p:sp>
      <p:sp>
        <p:nvSpPr>
          <p:cNvPr id="17" name="Text 1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Terminal Labor Distribution Report — Mississauga; changes calculated. Q1 admin cost F24–F26 calculated from the weekly Terminal Admin cost report (fiscal weeks 1–13).</a:t>
            </a:r>
            <a:endParaRPr lang="en-US" sz="950" dirty="0"/>
          </a:p>
        </p:txBody>
      </p:sp>
      <p:sp>
        <p:nvSpPr>
          <p:cNvPr id="18" name="Text 1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24</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EDE9FE"/>
          </a:solidFill>
          <a:ln w="12700">
            <a:solidFill>
              <a:srgbClr val="EDE9FE"/>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EDE9FE"/>
          </a:solidFill>
          <a:ln w="12700">
            <a:solidFill>
              <a:srgbClr val="EDE9FE"/>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with target dock-hour bands per shift.</a:t>
            </a:r>
            <a:endParaRPr lang="en-US" sz="1400" dirty="0"/>
          </a:p>
        </p:txBody>
      </p:sp>
      <p:sp>
        <p:nvSpPr>
          <p:cNvPr id="10" name="Shape 6"/>
          <p:cNvSpPr/>
          <p:nvPr/>
        </p:nvSpPr>
        <p:spPr>
          <a:xfrm>
            <a:off x="548640" y="3044952"/>
            <a:ext cx="475488" cy="475488"/>
          </a:xfrm>
          <a:prstGeom prst="ellipse">
            <a:avLst/>
          </a:prstGeom>
          <a:solidFill>
            <a:srgbClr val="EDE9FE"/>
          </a:solidFill>
          <a:ln w="12700">
            <a:solidFill>
              <a:srgbClr val="EDE9FE"/>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Consolidating large-customer freight into fewer trailers.</a:t>
            </a:r>
            <a:endParaRPr lang="en-US" sz="1400" dirty="0"/>
          </a:p>
        </p:txBody>
      </p:sp>
      <p:sp>
        <p:nvSpPr>
          <p:cNvPr id="13" name="Shape 8"/>
          <p:cNvSpPr/>
          <p:nvPr/>
        </p:nvSpPr>
        <p:spPr>
          <a:xfrm>
            <a:off x="548640" y="3813048"/>
            <a:ext cx="475488" cy="475488"/>
          </a:xfrm>
          <a:prstGeom prst="ellipse">
            <a:avLst/>
          </a:prstGeom>
          <a:solidFill>
            <a:srgbClr val="EDE9FE"/>
          </a:solidFill>
          <a:ln w="12700">
            <a:solidFill>
              <a:srgbClr val="EDE9FE"/>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Demurrage and TL billing captured on every eligible shipment.</a:t>
            </a:r>
            <a:endParaRPr lang="en-US" sz="1400" dirty="0"/>
          </a:p>
        </p:txBody>
      </p:sp>
      <p:sp>
        <p:nvSpPr>
          <p:cNvPr id="16" name="Shape 10"/>
          <p:cNvSpPr/>
          <p:nvPr/>
        </p:nvSpPr>
        <p:spPr>
          <a:xfrm>
            <a:off x="548640" y="4581144"/>
            <a:ext cx="475488" cy="475488"/>
          </a:xfrm>
          <a:prstGeom prst="ellipse">
            <a:avLst/>
          </a:prstGeom>
          <a:solidFill>
            <a:srgbClr val="EDE9FE"/>
          </a:solidFill>
          <a:ln w="12700">
            <a:solidFill>
              <a:srgbClr val="EDE9FE"/>
            </a:solidFill>
            <a:prstDash val="solid"/>
          </a:ln>
        </p:spPr>
      </p:sp>
      <p:pic>
        <p:nvPicPr>
          <p:cNvPr id="17" name="Image 4" descr="preencoded.png">    </p:cNvPr>
          <p:cNvPicPr>
            <a:picLocks noChangeAspect="1"/>
          </p:cNvPicPr>
          <p:nvPr/>
        </p:nvPicPr>
        <p:blipFill>
          <a:blip r:embed="rId5"/>
          <a:stretch>
            <a:fillRect/>
          </a:stretch>
        </p:blipFill>
        <p:spPr>
          <a:xfrm>
            <a:off x="667512" y="4700016"/>
            <a:ext cx="237744" cy="237744"/>
          </a:xfrm>
          <a:prstGeom prst="rect">
            <a:avLst/>
          </a:prstGeom>
        </p:spPr>
      </p:pic>
      <p:sp>
        <p:nvSpPr>
          <p:cNvPr id="18" name="Text 11"/>
          <p:cNvSpPr txBox="1"/>
          <p:nvPr/>
        </p:nvSpPr>
        <p:spPr>
          <a:xfrm>
            <a:off x="1234440" y="4489704"/>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 audit on freight bills (appointment, tailgate, storage, inside delivery) before invoicing.</a:t>
            </a:r>
            <a:endParaRPr lang="en-US" sz="1400" dirty="0"/>
          </a:p>
        </p:txBody>
      </p:sp>
      <p:sp>
        <p:nvSpPr>
          <p:cNvPr id="19" name="Shape 12"/>
          <p:cNvSpPr/>
          <p:nvPr/>
        </p:nvSpPr>
        <p:spPr>
          <a:xfrm>
            <a:off x="548640" y="5349240"/>
            <a:ext cx="475488" cy="475488"/>
          </a:xfrm>
          <a:prstGeom prst="ellipse">
            <a:avLst/>
          </a:prstGeom>
          <a:solidFill>
            <a:srgbClr val="EDE9FE"/>
          </a:solidFill>
          <a:ln w="12700">
            <a:solidFill>
              <a:srgbClr val="EDE9FE"/>
            </a:solidFill>
            <a:prstDash val="solid"/>
          </a:ln>
        </p:spPr>
      </p:sp>
      <p:pic>
        <p:nvPicPr>
          <p:cNvPr id="20" name="Image 5" descr="preencoded.png">    </p:cNvPr>
          <p:cNvPicPr>
            <a:picLocks noChangeAspect="1"/>
          </p:cNvPicPr>
          <p:nvPr/>
        </p:nvPicPr>
        <p:blipFill>
          <a:blip r:embed="rId6"/>
          <a:stretch>
            <a:fillRect/>
          </a:stretch>
        </p:blipFill>
        <p:spPr>
          <a:xfrm>
            <a:off x="667512" y="5468112"/>
            <a:ext cx="237744" cy="237744"/>
          </a:xfrm>
          <a:prstGeom prst="rect">
            <a:avLst/>
          </a:prstGeom>
        </p:spPr>
      </p:pic>
      <p:sp>
        <p:nvSpPr>
          <p:cNvPr id="21" name="Text 13"/>
          <p:cNvSpPr txBox="1"/>
          <p:nvPr/>
        </p:nvSpPr>
        <p:spPr>
          <a:xfrm>
            <a:off x="1234440" y="525780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400" dirty="0"/>
          </a:p>
        </p:txBody>
      </p:sp>
      <p:sp>
        <p:nvSpPr>
          <p:cNvPr id="22" name="Shape 14"/>
          <p:cNvSpPr/>
          <p:nvPr/>
        </p:nvSpPr>
        <p:spPr>
          <a:xfrm>
            <a:off x="7772400" y="1417320"/>
            <a:ext cx="3867912" cy="4526280"/>
          </a:xfrm>
          <a:prstGeom prst="roundRect">
            <a:avLst>
              <a:gd name="adj" fmla="val 1891"/>
            </a:avLst>
          </a:prstGeom>
          <a:solidFill>
            <a:srgbClr val="F5F3FF"/>
          </a:solidFill>
          <a:ln w="12700">
            <a:solidFill>
              <a:srgbClr val="F5F3FF"/>
            </a:solidFill>
            <a:prstDash val="solid"/>
          </a:ln>
        </p:spPr>
      </p:sp>
      <p:sp>
        <p:nvSpPr>
          <p:cNvPr id="23" name="Shape 15"/>
          <p:cNvSpPr/>
          <p:nvPr/>
        </p:nvSpPr>
        <p:spPr>
          <a:xfrm>
            <a:off x="8001000" y="1645920"/>
            <a:ext cx="502920" cy="502920"/>
          </a:xfrm>
          <a:prstGeom prst="ellipse">
            <a:avLst/>
          </a:prstGeom>
          <a:solidFill>
            <a:srgbClr val="7C3AED"/>
          </a:solidFill>
          <a:ln w="12700">
            <a:solidFill>
              <a:srgbClr val="7C3AED"/>
            </a:solidFill>
            <a:prstDash val="solid"/>
          </a:ln>
        </p:spPr>
      </p:sp>
      <p:pic>
        <p:nvPicPr>
          <p:cNvPr id="24" name="Image 6" descr="preencoded.png">    </p:cNvPr>
          <p:cNvPicPr>
            <a:picLocks noChangeAspect="1"/>
          </p:cNvPicPr>
          <p:nvPr/>
        </p:nvPicPr>
        <p:blipFill>
          <a:blip r:embed="rId7"/>
          <a:stretch>
            <a:fillRect/>
          </a:stretch>
        </p:blipFill>
        <p:spPr>
          <a:xfrm>
            <a:off x="8126730" y="1771650"/>
            <a:ext cx="251460" cy="251460"/>
          </a:xfrm>
          <a:prstGeom prst="rect">
            <a:avLst/>
          </a:prstGeom>
        </p:spPr>
      </p:pic>
      <p:sp>
        <p:nvSpPr>
          <p:cNvPr id="25" name="Text 16"/>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Workforce mix — agency vs D&amp;R</a:t>
            </a:r>
            <a:endParaRPr lang="en-US" sz="1500" dirty="0"/>
          </a:p>
        </p:txBody>
      </p:sp>
      <p:sp>
        <p:nvSpPr>
          <p:cNvPr id="26" name="Text 17"/>
          <p:cNvSpPr txBox="1"/>
          <p:nvPr/>
        </p:nvSpPr>
        <p:spPr>
          <a:xfrm>
            <a:off x="8001000" y="2240280"/>
            <a:ext cx="3474720"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Dock hours · SCA hours report, Mississauga</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2606040"/>
          <a:ext cx="3429000" cy="914400"/>
        </p:xfrm>
        <a:graphic>
          <a:graphicData uri="http://schemas.openxmlformats.org/drawingml/2006/table">
            <a:tbl>
              <a:tblPr/>
              <a:tblGrid>
                <a:gridCol w="1600200"/>
                <a:gridCol w="914400"/>
                <a:gridCol w="914400"/>
              </a:tblGrid>
              <a:tr h="365760">
                <a:tc>
                  <a:txBody>
                    <a:bodyPr/>
                    <a:lstStyle/>
                    <a:p>
                      <a:pP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Sept MTD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F26 Sept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4,443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D&amp;R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share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61.4%</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70.5%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 per D&amp;R hr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1.59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2.39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8" name="Text 18"/>
          <p:cNvSpPr txBox="1"/>
          <p:nvPr/>
        </p:nvSpPr>
        <p:spPr>
          <a:xfrm>
            <a:off x="8001000" y="4480560"/>
            <a:ext cx="34290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Share and ratio calculated from report hours.</a:t>
            </a:r>
            <a:endParaRPr lang="en-US" sz="900" dirty="0"/>
          </a:p>
        </p:txBody>
      </p:sp>
      <p:sp>
        <p:nvSpPr>
          <p:cNvPr id="29" name="Text 19"/>
          <p:cNvSpPr txBox="1"/>
          <p:nvPr/>
        </p:nvSpPr>
        <p:spPr>
          <a:xfrm>
            <a:off x="8001000" y="4800600"/>
            <a:ext cx="3429000" cy="91440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Per-shift headcount (days / afternoons / midnights, dock + admin, agency vs D&amp;R): </a:t>
            </a:r>
            <a:pP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p>
        </p:txBody>
      </p:sp>
      <p:sp>
        <p:nvSpPr>
          <p:cNvPr id="30" name="Text 2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1" name="Text 2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24</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Accessorial capture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Accessorial unit volume report · Mississauga · current month (reactive)</a:t>
            </a:r>
            <a:endParaRPr lang="en-US" sz="1300" dirty="0"/>
          </a:p>
        </p:txBody>
      </p:sp>
      <p:graphicFrame>
        <p:nvGraphicFramePr>
          <p:cNvPr id="5" name="Chart 0" descr=""/>
          <p:cNvGraphicFramePr/>
          <p:nvPr/>
        </p:nvGraphicFramePr>
        <p:xfrm>
          <a:off x="548640" y="1645920"/>
          <a:ext cx="5577840" cy="30632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355080" y="1645920"/>
          <a:ext cx="5285232" cy="306324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548640" y="4892040"/>
            <a:ext cx="2468880" cy="1097280"/>
          </a:xfrm>
          <a:prstGeom prst="roundRect">
            <a:avLst>
              <a:gd name="adj" fmla="val 6667"/>
            </a:avLst>
          </a:prstGeom>
          <a:solidFill>
            <a:srgbClr val="F3F4F6"/>
          </a:solidFill>
          <a:ln w="12700">
            <a:solidFill>
              <a:srgbClr val="F3F4F6"/>
            </a:solidFill>
            <a:prstDash val="solid"/>
          </a:ln>
        </p:spPr>
      </p:sp>
      <p:sp>
        <p:nvSpPr>
          <p:cNvPr id="8" name="Text 4"/>
          <p:cNvSpPr txBox="1"/>
          <p:nvPr/>
        </p:nvSpPr>
        <p:spPr>
          <a:xfrm>
            <a:off x="731520" y="4983480"/>
            <a:ext cx="210312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units this month</a:t>
            </a:r>
            <a:endParaRPr lang="en-US" sz="1100" dirty="0"/>
          </a:p>
        </p:txBody>
      </p:sp>
      <p:sp>
        <p:nvSpPr>
          <p:cNvPr id="9" name="Text 5"/>
          <p:cNvSpPr txBox="1"/>
          <p:nvPr/>
        </p:nvSpPr>
        <p:spPr>
          <a:xfrm>
            <a:off x="731520" y="5239512"/>
            <a:ext cx="2103120" cy="45720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≈32,921</a:t>
            </a:r>
            <a:endParaRPr lang="en-US" sz="2600" dirty="0"/>
          </a:p>
        </p:txBody>
      </p:sp>
      <p:sp>
        <p:nvSpPr>
          <p:cNvPr id="10" name="Text 6"/>
          <p:cNvSpPr txBox="1"/>
          <p:nvPr/>
        </p:nvSpPr>
        <p:spPr>
          <a:xfrm>
            <a:off x="731520" y="5687568"/>
            <a:ext cx="210312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sum of 14 types</a:t>
            </a:r>
            <a:endParaRPr lang="en-US" sz="900" dirty="0"/>
          </a:p>
        </p:txBody>
      </p:sp>
      <p:sp>
        <p:nvSpPr>
          <p:cNvPr id="11" name="Shape 7"/>
          <p:cNvSpPr/>
          <p:nvPr/>
        </p:nvSpPr>
        <p:spPr>
          <a:xfrm>
            <a:off x="3200400" y="4892040"/>
            <a:ext cx="3931920" cy="1097280"/>
          </a:xfrm>
          <a:prstGeom prst="roundRect">
            <a:avLst>
              <a:gd name="adj" fmla="val 6667"/>
            </a:avLst>
          </a:prstGeom>
          <a:solidFill>
            <a:srgbClr val="F3F4F6"/>
          </a:solidFill>
          <a:ln w="12700">
            <a:solidFill>
              <a:srgbClr val="F3F4F6"/>
            </a:solidFill>
            <a:prstDash val="solid"/>
          </a:ln>
        </p:spPr>
      </p:sp>
      <p:sp>
        <p:nvSpPr>
          <p:cNvPr id="12" name="Text 8"/>
          <p:cNvSpPr txBox="1"/>
          <p:nvPr/>
        </p:nvSpPr>
        <p:spPr>
          <a:xfrm>
            <a:off x="3383280" y="4956048"/>
            <a:ext cx="3611880" cy="96926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Other types: </a:t>
            </a:r>
            <a:pPr indent="0" marL="0">
              <a:buNone/>
            </a:pPr>
            <a:r>
              <a:rPr lang="en-US" sz="950" dirty="0">
                <a:solidFill>
                  <a:srgbClr val="6B7280"/>
                </a:solidFill>
                <a:latin typeface="Calibri" pitchFamily="34" charset="0"/>
                <a:ea typeface="Calibri" pitchFamily="34" charset="-122"/>
                <a:cs typeface="Calibri" pitchFamily="34" charset="-120"/>
              </a:rPr>
              <a:t>Inside delivery 315 · Storage 279 · Limited access delivery 90 · Tradeshow delivery 82 · Inside pick-up 64 · Detention w/ power at delivery 17 · Limited access pick-up 14 · Tradeshow pick-up 3</a:t>
            </a:r>
            <a:endParaRPr lang="en-US" sz="950" dirty="0"/>
          </a:p>
        </p:txBody>
      </p:sp>
      <p:sp>
        <p:nvSpPr>
          <p:cNvPr id="13" name="Shape 9"/>
          <p:cNvSpPr/>
          <p:nvPr/>
        </p:nvSpPr>
        <p:spPr>
          <a:xfrm>
            <a:off x="7315200" y="4892040"/>
            <a:ext cx="4325112" cy="1097280"/>
          </a:xfrm>
          <a:prstGeom prst="roundRect">
            <a:avLst>
              <a:gd name="adj" fmla="val 6667"/>
            </a:avLst>
          </a:prstGeom>
          <a:solidFill>
            <a:srgbClr val="F5F3FF"/>
          </a:solidFill>
          <a:ln w="12700">
            <a:solidFill>
              <a:srgbClr val="F5F3FF"/>
            </a:solidFill>
            <a:prstDash val="solid"/>
          </a:ln>
        </p:spPr>
      </p:sp>
      <p:sp>
        <p:nvSpPr>
          <p:cNvPr id="14" name="Shape 10"/>
          <p:cNvSpPr/>
          <p:nvPr/>
        </p:nvSpPr>
        <p:spPr>
          <a:xfrm>
            <a:off x="7498080" y="5184648"/>
            <a:ext cx="502920" cy="502920"/>
          </a:xfrm>
          <a:prstGeom prst="ellipse">
            <a:avLst/>
          </a:prstGeom>
          <a:solidFill>
            <a:srgbClr val="7C3AED"/>
          </a:solidFill>
          <a:ln w="12700">
            <a:solidFill>
              <a:srgbClr val="7C3AED"/>
            </a:solidFill>
            <a:prstDash val="solid"/>
          </a:ln>
        </p:spPr>
      </p:sp>
      <p:pic>
        <p:nvPicPr>
          <p:cNvPr id="15" name="Image 0" descr="preencoded.png">    </p:cNvPr>
          <p:cNvPicPr>
            <a:picLocks noChangeAspect="1"/>
          </p:cNvPicPr>
          <p:nvPr/>
        </p:nvPicPr>
        <p:blipFill>
          <a:blip r:embed="rId3"/>
          <a:stretch>
            <a:fillRect/>
          </a:stretch>
        </p:blipFill>
        <p:spPr>
          <a:xfrm>
            <a:off x="7623810" y="5310378"/>
            <a:ext cx="251460" cy="251460"/>
          </a:xfrm>
          <a:prstGeom prst="rect">
            <a:avLst/>
          </a:prstGeom>
        </p:spPr>
      </p:pic>
      <p:sp>
        <p:nvSpPr>
          <p:cNvPr id="16" name="Text 11"/>
          <p:cNvSpPr txBox="1"/>
          <p:nvPr/>
        </p:nvSpPr>
        <p:spPr>
          <a:xfrm>
            <a:off x="8138160" y="4892040"/>
            <a:ext cx="3383280" cy="109728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accessorial coded = revenue captured; private-residence, tailgate and appointment deliveries are ~91% of volume.</a:t>
            </a:r>
            <a:endParaRPr lang="en-US" sz="1200" dirty="0"/>
          </a:p>
        </p:txBody>
      </p:sp>
      <p:sp>
        <p:nvSpPr>
          <p:cNvPr id="17" name="Text 12"/>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Accessorial unit volume report — Mississauga. Weekly values in thousands of units; week of Sep 28 is partial.</a:t>
            </a:r>
            <a:endParaRPr lang="en-US" sz="950" dirty="0"/>
          </a:p>
        </p:txBody>
      </p:sp>
      <p:sp>
        <p:nvSpPr>
          <p:cNvPr id="18" name="Text 1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24</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Revenue protection — Fork truck reweighs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Mississauga as origin terminal · reweighs as % of target (target 100%)</a:t>
            </a:r>
            <a:endParaRPr lang="en-US" sz="1300" dirty="0"/>
          </a:p>
        </p:txBody>
      </p:sp>
      <p:sp>
        <p:nvSpPr>
          <p:cNvPr id="5" name="Shape 3"/>
          <p:cNvSpPr/>
          <p:nvPr/>
        </p:nvSpPr>
        <p:spPr>
          <a:xfrm>
            <a:off x="548640" y="1645920"/>
            <a:ext cx="2635758" cy="1188720"/>
          </a:xfrm>
          <a:prstGeom prst="roundRect">
            <a:avLst>
              <a:gd name="adj" fmla="val 6154"/>
            </a:avLst>
          </a:prstGeom>
          <a:solidFill>
            <a:srgbClr val="F3F4F6"/>
          </a:solidFill>
          <a:ln w="12700">
            <a:solidFill>
              <a:srgbClr val="F3F4F6"/>
            </a:solidFill>
            <a:prstDash val="solid"/>
          </a:ln>
        </p:spPr>
      </p:sp>
      <p:sp>
        <p:nvSpPr>
          <p:cNvPr id="6" name="Text 4"/>
          <p:cNvSpPr txBox="1"/>
          <p:nvPr/>
        </p:nvSpPr>
        <p:spPr>
          <a:xfrm>
            <a:off x="731520"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7" name="Text 5"/>
          <p:cNvSpPr txBox="1"/>
          <p:nvPr/>
        </p:nvSpPr>
        <p:spPr>
          <a:xfrm>
            <a:off x="731520"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123.28%</a:t>
            </a:r>
            <a:endParaRPr lang="en-US" sz="2600" dirty="0"/>
          </a:p>
        </p:txBody>
      </p:sp>
      <p:sp>
        <p:nvSpPr>
          <p:cNvPr id="8" name="Text 6"/>
          <p:cNvSpPr txBox="1"/>
          <p:nvPr/>
        </p:nvSpPr>
        <p:spPr>
          <a:xfrm>
            <a:off x="731520"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9" name="Shape 7"/>
          <p:cNvSpPr/>
          <p:nvPr/>
        </p:nvSpPr>
        <p:spPr>
          <a:xfrm>
            <a:off x="3367278" y="1645920"/>
            <a:ext cx="2635758" cy="1188720"/>
          </a:xfrm>
          <a:prstGeom prst="roundRect">
            <a:avLst>
              <a:gd name="adj" fmla="val 6154"/>
            </a:avLst>
          </a:prstGeom>
          <a:solidFill>
            <a:srgbClr val="F3F4F6"/>
          </a:solidFill>
          <a:ln w="12700">
            <a:solidFill>
              <a:srgbClr val="F3F4F6"/>
            </a:solidFill>
            <a:prstDash val="solid"/>
          </a:ln>
        </p:spPr>
      </p:sp>
      <p:sp>
        <p:nvSpPr>
          <p:cNvPr id="10" name="Text 8"/>
          <p:cNvSpPr txBox="1"/>
          <p:nvPr/>
        </p:nvSpPr>
        <p:spPr>
          <a:xfrm>
            <a:off x="3550158"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F27</a:t>
            </a:r>
            <a:endParaRPr lang="en-US" sz="1100" dirty="0"/>
          </a:p>
        </p:txBody>
      </p:sp>
      <p:sp>
        <p:nvSpPr>
          <p:cNvPr id="11" name="Text 9"/>
          <p:cNvSpPr txBox="1"/>
          <p:nvPr/>
        </p:nvSpPr>
        <p:spPr>
          <a:xfrm>
            <a:off x="3550158"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131.8%</a:t>
            </a:r>
            <a:endParaRPr lang="en-US" sz="2600" dirty="0"/>
          </a:p>
        </p:txBody>
      </p:sp>
      <p:sp>
        <p:nvSpPr>
          <p:cNvPr id="12" name="Text 10"/>
          <p:cNvSpPr txBox="1"/>
          <p:nvPr/>
        </p:nvSpPr>
        <p:spPr>
          <a:xfrm>
            <a:off x="3550158"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13" name="Shape 11"/>
          <p:cNvSpPr/>
          <p:nvPr/>
        </p:nvSpPr>
        <p:spPr>
          <a:xfrm>
            <a:off x="6185916" y="1645920"/>
            <a:ext cx="2635758" cy="1188720"/>
          </a:xfrm>
          <a:prstGeom prst="roundRect">
            <a:avLst>
              <a:gd name="adj" fmla="val 6154"/>
            </a:avLst>
          </a:prstGeom>
          <a:solidFill>
            <a:srgbClr val="F3F4F6"/>
          </a:solidFill>
          <a:ln w="12700">
            <a:solidFill>
              <a:srgbClr val="F3F4F6"/>
            </a:solidFill>
            <a:prstDash val="solid"/>
          </a:ln>
        </p:spPr>
      </p:sp>
      <p:sp>
        <p:nvSpPr>
          <p:cNvPr id="14" name="Text 12"/>
          <p:cNvSpPr txBox="1"/>
          <p:nvPr/>
        </p:nvSpPr>
        <p:spPr>
          <a:xfrm>
            <a:off x="6368796"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months</a:t>
            </a:r>
            <a:endParaRPr lang="en-US" sz="1100" dirty="0"/>
          </a:p>
        </p:txBody>
      </p:sp>
      <p:sp>
        <p:nvSpPr>
          <p:cNvPr id="15" name="Text 13"/>
          <p:cNvSpPr txBox="1"/>
          <p:nvPr/>
        </p:nvSpPr>
        <p:spPr>
          <a:xfrm>
            <a:off x="6368796"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t>
            </a:r>
            <a:endParaRPr lang="en-US" sz="1050" dirty="0"/>
          </a:p>
        </p:txBody>
      </p:sp>
      <p:sp>
        <p:nvSpPr>
          <p:cNvPr id="16" name="Text 14"/>
          <p:cNvSpPr txBox="1"/>
          <p:nvPr/>
        </p:nvSpPr>
        <p:spPr>
          <a:xfrm>
            <a:off x="6368796"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143.9%</a:t>
            </a:r>
            <a:endParaRPr lang="en-US" sz="1300" dirty="0"/>
          </a:p>
        </p:txBody>
      </p:sp>
      <p:sp>
        <p:nvSpPr>
          <p:cNvPr id="17" name="Text 15"/>
          <p:cNvSpPr txBox="1"/>
          <p:nvPr/>
        </p:nvSpPr>
        <p:spPr>
          <a:xfrm>
            <a:off x="7125462"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Aug</a:t>
            </a:r>
            <a:endParaRPr lang="en-US" sz="1050" dirty="0"/>
          </a:p>
        </p:txBody>
      </p:sp>
      <p:sp>
        <p:nvSpPr>
          <p:cNvPr id="18" name="Text 16"/>
          <p:cNvSpPr txBox="1"/>
          <p:nvPr/>
        </p:nvSpPr>
        <p:spPr>
          <a:xfrm>
            <a:off x="7125462"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126.4%</a:t>
            </a:r>
            <a:endParaRPr lang="en-US" sz="1300" dirty="0"/>
          </a:p>
        </p:txBody>
      </p:sp>
      <p:sp>
        <p:nvSpPr>
          <p:cNvPr id="19" name="Text 17"/>
          <p:cNvSpPr txBox="1"/>
          <p:nvPr/>
        </p:nvSpPr>
        <p:spPr>
          <a:xfrm>
            <a:off x="7882128"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a:t>
            </a:r>
            <a:endParaRPr lang="en-US" sz="1050" dirty="0"/>
          </a:p>
        </p:txBody>
      </p:sp>
      <p:sp>
        <p:nvSpPr>
          <p:cNvPr id="20" name="Text 18"/>
          <p:cNvSpPr txBox="1"/>
          <p:nvPr/>
        </p:nvSpPr>
        <p:spPr>
          <a:xfrm>
            <a:off x="7882128"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131.8%</a:t>
            </a:r>
            <a:endParaRPr lang="en-US" sz="1300" dirty="0"/>
          </a:p>
        </p:txBody>
      </p:sp>
      <p:sp>
        <p:nvSpPr>
          <p:cNvPr id="21" name="Shape 19"/>
          <p:cNvSpPr/>
          <p:nvPr/>
        </p:nvSpPr>
        <p:spPr>
          <a:xfrm>
            <a:off x="9004554" y="1645920"/>
            <a:ext cx="2635758" cy="1188720"/>
          </a:xfrm>
          <a:prstGeom prst="roundRect">
            <a:avLst>
              <a:gd name="adj" fmla="val 6154"/>
            </a:avLst>
          </a:prstGeom>
          <a:solidFill>
            <a:srgbClr val="F3F4F6"/>
          </a:solidFill>
          <a:ln w="12700">
            <a:solidFill>
              <a:srgbClr val="F3F4F6"/>
            </a:solidFill>
            <a:prstDash val="solid"/>
          </a:ln>
        </p:spPr>
      </p:sp>
      <p:sp>
        <p:nvSpPr>
          <p:cNvPr id="22" name="Text 20"/>
          <p:cNvSpPr txBox="1"/>
          <p:nvPr/>
        </p:nvSpPr>
        <p:spPr>
          <a:xfrm>
            <a:off x="9187434" y="1783080"/>
            <a:ext cx="2269998" cy="274320"/>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Total reweighs · all dates</a:t>
            </a:r>
            <a:endParaRPr lang="en-US" sz="1050" dirty="0"/>
          </a:p>
        </p:txBody>
      </p:sp>
      <p:sp>
        <p:nvSpPr>
          <p:cNvPr id="23" name="Text 21"/>
          <p:cNvSpPr txBox="1"/>
          <p:nvPr/>
        </p:nvSpPr>
        <p:spPr>
          <a:xfrm>
            <a:off x="9187434" y="2057400"/>
            <a:ext cx="2269998" cy="320040"/>
          </a:xfrm>
          <a:prstGeom prst="rect">
            <a:avLst/>
          </a:prstGeom>
          <a:noFill/>
          <a:ln/>
        </p:spPr>
        <p:txBody>
          <a:bodyPr wrap="square" lIns="0" tIns="0" rIns="0" bIns="0" rtlCol="0" anchor="ctr"/>
          <a:lstStyle/>
          <a:p>
            <a:pPr indent="0" marL="0">
              <a:buNone/>
            </a:pPr>
            <a:r>
              <a:rPr lang="en-US" sz="2600" b="1" dirty="0">
                <a:solidFill>
                  <a:srgbClr val="B45309"/>
                </a:solidFill>
                <a:latin typeface="Calibri" pitchFamily="34" charset="0"/>
                <a:ea typeface="Calibri" pitchFamily="34" charset="-122"/>
                <a:cs typeface="Calibri" pitchFamily="34" charset="-120"/>
              </a:rPr>
              <a:t>85.16%</a:t>
            </a:r>
            <a:endParaRPr lang="en-US" sz="2600" dirty="0"/>
          </a:p>
        </p:txBody>
      </p:sp>
      <p:sp>
        <p:nvSpPr>
          <p:cNvPr id="24" name="Text 22"/>
          <p:cNvSpPr txBox="1"/>
          <p:nvPr/>
        </p:nvSpPr>
        <p:spPr>
          <a:xfrm>
            <a:off x="9187434"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44,283 vs 52K · incl. Mar ramp-up</a:t>
            </a:r>
            <a:endParaRPr lang="en-US" sz="1050" dirty="0"/>
          </a:p>
        </p:txBody>
      </p:sp>
      <p:graphicFrame>
        <p:nvGraphicFramePr>
          <p:cNvPr id="25" name="Chart 0" descr=""/>
          <p:cNvGraphicFramePr/>
          <p:nvPr/>
        </p:nvGraphicFramePr>
        <p:xfrm>
          <a:off x="548640" y="3017520"/>
          <a:ext cx="6766560" cy="2743200"/>
        </p:xfrm>
        <a:graphic xmlns:a="http://schemas.openxmlformats.org/drawingml/2006/main">
          <a:graphicData uri="http://schemas.openxmlformats.org/drawingml/2006/chart">
            <c:chart xmlns:c="http://schemas.openxmlformats.org/drawingml/2006/chart" r:id="rId1"/>
          </a:graphicData>
        </a:graphic>
      </p:graphicFrame>
      <p:sp>
        <p:nvSpPr>
          <p:cNvPr id="26" name="Text 23"/>
          <p:cNvSpPr txBox="1"/>
          <p:nvPr/>
        </p:nvSpPr>
        <p:spPr>
          <a:xfrm>
            <a:off x="548640" y="5760720"/>
            <a:ext cx="6766560" cy="256032"/>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Dark bars = F27 (Jul–Sep) · light bars = F26 (Mar–Jun) · March = ramp-up month (75.4%)</a:t>
            </a:r>
            <a:endParaRPr lang="en-US" sz="950" dirty="0"/>
          </a:p>
        </p:txBody>
      </p:sp>
      <p:sp>
        <p:nvSpPr>
          <p:cNvPr id="27" name="Shape 24"/>
          <p:cNvSpPr/>
          <p:nvPr/>
        </p:nvSpPr>
        <p:spPr>
          <a:xfrm>
            <a:off x="7589520" y="3017520"/>
            <a:ext cx="4050792" cy="1325880"/>
          </a:xfrm>
          <a:prstGeom prst="roundRect">
            <a:avLst>
              <a:gd name="adj" fmla="val 5517"/>
            </a:avLst>
          </a:prstGeom>
          <a:solidFill>
            <a:srgbClr val="F3F4F6"/>
          </a:solidFill>
          <a:ln w="12700">
            <a:solidFill>
              <a:srgbClr val="F3F4F6"/>
            </a:solidFill>
            <a:prstDash val="solid"/>
          </a:ln>
        </p:spPr>
      </p:sp>
      <p:sp>
        <p:nvSpPr>
          <p:cNvPr id="28" name="Text 25"/>
          <p:cNvSpPr txBox="1"/>
          <p:nvPr/>
        </p:nvSpPr>
        <p:spPr>
          <a:xfrm>
            <a:off x="7772400" y="3108960"/>
            <a:ext cx="3657600" cy="25603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Recent weeks</a:t>
            </a:r>
            <a:endParaRPr lang="en-US" sz="1200" dirty="0"/>
          </a:p>
        </p:txBody>
      </p:sp>
      <p:sp>
        <p:nvSpPr>
          <p:cNvPr id="29" name="Text 26"/>
          <p:cNvSpPr txBox="1"/>
          <p:nvPr/>
        </p:nvSpPr>
        <p:spPr>
          <a:xfrm>
            <a:off x="777240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38</a:t>
            </a:r>
            <a:endParaRPr lang="en-US" sz="1050" dirty="0"/>
          </a:p>
        </p:txBody>
      </p:sp>
      <p:sp>
        <p:nvSpPr>
          <p:cNvPr id="30" name="Text 27"/>
          <p:cNvSpPr txBox="1"/>
          <p:nvPr/>
        </p:nvSpPr>
        <p:spPr>
          <a:xfrm>
            <a:off x="777240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128.2%</a:t>
            </a:r>
            <a:endParaRPr lang="en-US" sz="1800" dirty="0"/>
          </a:p>
        </p:txBody>
      </p:sp>
      <p:sp>
        <p:nvSpPr>
          <p:cNvPr id="31" name="Text 28"/>
          <p:cNvSpPr txBox="1"/>
          <p:nvPr/>
        </p:nvSpPr>
        <p:spPr>
          <a:xfrm>
            <a:off x="900684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39</a:t>
            </a:r>
            <a:endParaRPr lang="en-US" sz="1050" dirty="0"/>
          </a:p>
        </p:txBody>
      </p:sp>
      <p:sp>
        <p:nvSpPr>
          <p:cNvPr id="32" name="Text 29"/>
          <p:cNvSpPr txBox="1"/>
          <p:nvPr/>
        </p:nvSpPr>
        <p:spPr>
          <a:xfrm>
            <a:off x="900684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130.8%</a:t>
            </a:r>
            <a:endParaRPr lang="en-US" sz="1800" dirty="0"/>
          </a:p>
        </p:txBody>
      </p:sp>
      <p:sp>
        <p:nvSpPr>
          <p:cNvPr id="33" name="Text 30"/>
          <p:cNvSpPr txBox="1"/>
          <p:nvPr/>
        </p:nvSpPr>
        <p:spPr>
          <a:xfrm>
            <a:off x="1024128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a:t>
            </a:r>
            <a:endParaRPr lang="en-US" sz="1050" dirty="0"/>
          </a:p>
        </p:txBody>
      </p:sp>
      <p:sp>
        <p:nvSpPr>
          <p:cNvPr id="34" name="Text 31"/>
          <p:cNvSpPr txBox="1"/>
          <p:nvPr/>
        </p:nvSpPr>
        <p:spPr>
          <a:xfrm>
            <a:off x="10241280" y="3630168"/>
            <a:ext cx="1188720" cy="411480"/>
          </a:xfrm>
          <a:prstGeom prst="rect">
            <a:avLst/>
          </a:prstGeom>
          <a:noFill/>
          <a:ln/>
        </p:spPr>
        <p:txBody>
          <a:bodyPr wrap="square" lIns="0" tIns="0" rIns="0" bIns="0" rtlCol="0" anchor="ctr"/>
          <a:lstStyle/>
          <a:p>
            <a:pPr indent="0" marL="0">
              <a:buNone/>
            </a:pPr>
            <a:r>
              <a:rPr lang="en-US" sz="1800" b="1" dirty="0">
                <a:solidFill>
                  <a:srgbClr val="B45309"/>
                </a:solidFill>
                <a:latin typeface="Calibri" pitchFamily="34" charset="0"/>
                <a:ea typeface="Calibri" pitchFamily="34" charset="-122"/>
                <a:cs typeface="Calibri" pitchFamily="34" charset="-120"/>
              </a:rPr>
              <a:t>93.2%</a:t>
            </a:r>
            <a:endParaRPr lang="en-US" sz="1800" dirty="0"/>
          </a:p>
        </p:txBody>
      </p:sp>
      <p:sp>
        <p:nvSpPr>
          <p:cNvPr id="35" name="Text 32"/>
          <p:cNvSpPr txBox="1"/>
          <p:nvPr/>
        </p:nvSpPr>
        <p:spPr>
          <a:xfrm>
            <a:off x="7772400" y="4041648"/>
            <a:ext cx="36576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*Week 40 partial</a:t>
            </a:r>
            <a:endParaRPr lang="en-US" sz="900" dirty="0"/>
          </a:p>
        </p:txBody>
      </p:sp>
      <p:sp>
        <p:nvSpPr>
          <p:cNvPr id="36" name="Shape 33"/>
          <p:cNvSpPr/>
          <p:nvPr/>
        </p:nvSpPr>
        <p:spPr>
          <a:xfrm>
            <a:off x="7589520" y="4480560"/>
            <a:ext cx="4050792" cy="1536192"/>
          </a:xfrm>
          <a:prstGeom prst="roundRect">
            <a:avLst>
              <a:gd name="adj" fmla="val 4762"/>
            </a:avLst>
          </a:prstGeom>
          <a:solidFill>
            <a:srgbClr val="F5F3FF"/>
          </a:solidFill>
          <a:ln w="12700">
            <a:solidFill>
              <a:srgbClr val="F5F3FF"/>
            </a:solidFill>
            <a:prstDash val="solid"/>
          </a:ln>
        </p:spPr>
      </p:sp>
      <p:sp>
        <p:nvSpPr>
          <p:cNvPr id="37" name="Shape 34"/>
          <p:cNvSpPr/>
          <p:nvPr/>
        </p:nvSpPr>
        <p:spPr>
          <a:xfrm>
            <a:off x="7772400" y="4663440"/>
            <a:ext cx="457200" cy="457200"/>
          </a:xfrm>
          <a:prstGeom prst="ellipse">
            <a:avLst/>
          </a:prstGeom>
          <a:solidFill>
            <a:srgbClr val="7C3AED"/>
          </a:solidFill>
          <a:ln w="12700">
            <a:solidFill>
              <a:srgbClr val="7C3AED"/>
            </a:solidFill>
            <a:prstDash val="solid"/>
          </a:ln>
        </p:spPr>
      </p:sp>
      <p:pic>
        <p:nvPicPr>
          <p:cNvPr id="38" name="Image 0" descr="preencoded.png">    </p:cNvPr>
          <p:cNvPicPr>
            <a:picLocks noChangeAspect="1"/>
          </p:cNvPicPr>
          <p:nvPr/>
        </p:nvPicPr>
        <p:blipFill>
          <a:blip r:embed="rId2"/>
          <a:stretch>
            <a:fillRect/>
          </a:stretch>
        </p:blipFill>
        <p:spPr>
          <a:xfrm>
            <a:off x="7886700" y="4777740"/>
            <a:ext cx="228600" cy="228600"/>
          </a:xfrm>
          <a:prstGeom prst="rect">
            <a:avLst/>
          </a:prstGeom>
        </p:spPr>
      </p:pic>
      <p:sp>
        <p:nvSpPr>
          <p:cNvPr id="39" name="Text 35"/>
          <p:cNvSpPr txBox="1"/>
          <p:nvPr/>
        </p:nvSpPr>
        <p:spPr>
          <a:xfrm>
            <a:off x="8366760" y="4526280"/>
            <a:ext cx="3154680" cy="144475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month since April is above the reweigh target — F27 running 126–144%. Reweighs correct under-declared weights, protecting revenue on every bill.</a:t>
            </a:r>
            <a:endParaRPr lang="en-US" sz="1200" dirty="0"/>
          </a:p>
        </p:txBody>
      </p:sp>
      <p:sp>
        <p:nvSpPr>
          <p:cNvPr id="40" name="Text 36"/>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Fork Truck Reweighs dashboard — Mississauga. Target 100% (80–100% amber, &lt;80% red).</a:t>
            </a:r>
            <a:endParaRPr lang="en-US" sz="950" dirty="0"/>
          </a:p>
        </p:txBody>
      </p:sp>
      <p:sp>
        <p:nvSpPr>
          <p:cNvPr id="41" name="Text 3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2" name="Text 3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24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plan</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229600" cy="914400"/>
        </p:xfrm>
        <a:graphic>
          <a:graphicData uri="http://schemas.openxmlformats.org/drawingml/2006/table">
            <a:tbl>
              <a:tblPr/>
              <a:tblGrid>
                <a:gridCol w="411480"/>
                <a:gridCol w="3611880"/>
                <a:gridCol w="1325880"/>
                <a:gridCol w="1325880"/>
                <a:gridCol w="1554480"/>
              </a:tblGrid>
              <a:tr h="50292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Initiative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plan ($/yr)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Realized YTD ($)</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50292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Dispatcher role eliminated — dispatch centralized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$61,000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200" b="1" dirty="0">
                          <a:solidFill>
                            <a:srgbClr val="059669"/>
                          </a:solidFill>
                          <a:latin typeface="Calibri" pitchFamily="34" charset="0"/>
                          <a:ea typeface="Calibri" pitchFamily="34" charset="-122"/>
                          <a:cs typeface="Calibri" pitchFamily="34" charset="-120"/>
                        </a:rPr>
                        <a:t>Confirmed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50292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i="1" dirty="0">
                          <a:solidFill>
                            <a:srgbClr val="6B7280"/>
                          </a:solidFill>
                          <a:latin typeface="Calibri" pitchFamily="34" charset="0"/>
                          <a:ea typeface="Calibri" pitchFamily="34" charset="-122"/>
                          <a:cs typeface="Calibri" pitchFamily="34" charset="-120"/>
                        </a:rPr>
                        <a:t>Additional initiatives in development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6B7280"/>
                          </a:solidFill>
                          <a:latin typeface="Calibri" pitchFamily="34" charset="0"/>
                          <a:ea typeface="Calibri" pitchFamily="34" charset="-122"/>
                          <a:cs typeface="Calibri" pitchFamily="34" charset="-120"/>
                        </a:rPr>
                        <a:t>In development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50292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Identified so far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$61,000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Shape 2"/>
          <p:cNvSpPr/>
          <p:nvPr/>
        </p:nvSpPr>
        <p:spPr>
          <a:xfrm>
            <a:off x="548640" y="3657600"/>
            <a:ext cx="8229600" cy="1874520"/>
          </a:xfrm>
          <a:prstGeom prst="roundRect">
            <a:avLst>
              <a:gd name="adj" fmla="val 3902"/>
            </a:avLst>
          </a:prstGeom>
          <a:solidFill>
            <a:srgbClr val="ECFDF5"/>
          </a:solidFill>
          <a:ln w="12700">
            <a:solidFill>
              <a:srgbClr val="ECFDF5"/>
            </a:solidFill>
            <a:prstDash val="solid"/>
          </a:ln>
        </p:spPr>
      </p:sp>
      <p:sp>
        <p:nvSpPr>
          <p:cNvPr id="6" name="Shape 3"/>
          <p:cNvSpPr/>
          <p:nvPr/>
        </p:nvSpPr>
        <p:spPr>
          <a:xfrm>
            <a:off x="822960" y="3977640"/>
            <a:ext cx="685800" cy="68580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1"/>
          <a:stretch>
            <a:fillRect/>
          </a:stretch>
        </p:blipFill>
        <p:spPr>
          <a:xfrm>
            <a:off x="994410" y="4149090"/>
            <a:ext cx="342900" cy="342900"/>
          </a:xfrm>
          <a:prstGeom prst="rect">
            <a:avLst/>
          </a:prstGeom>
        </p:spPr>
      </p:pic>
      <p:sp>
        <p:nvSpPr>
          <p:cNvPr id="8" name="Text 4"/>
          <p:cNvSpPr txBox="1"/>
          <p:nvPr/>
        </p:nvSpPr>
        <p:spPr>
          <a:xfrm>
            <a:off x="1737360" y="3840480"/>
            <a:ext cx="6766560" cy="274320"/>
          </a:xfrm>
          <a:prstGeom prst="rect">
            <a:avLst/>
          </a:prstGeom>
          <a:noFill/>
          <a:ln/>
        </p:spPr>
        <p:txBody>
          <a:bodyPr wrap="square" lIns="0" tIns="0" rIns="0" bIns="0" rtlCol="0" anchor="ctr"/>
          <a:lstStyle/>
          <a:p>
            <a:pPr indent="0" marL="0">
              <a:buNone/>
            </a:pPr>
            <a:r>
              <a:rPr lang="en-US" sz="1300" b="1" dirty="0">
                <a:solidFill>
                  <a:srgbClr val="6B7280"/>
                </a:solidFill>
                <a:latin typeface="Calibri" pitchFamily="34" charset="0"/>
                <a:ea typeface="Calibri" pitchFamily="34" charset="-122"/>
                <a:cs typeface="Calibri" pitchFamily="34" charset="-120"/>
              </a:rPr>
              <a:t>Confirmed saving</a:t>
            </a:r>
            <a:endParaRPr lang="en-US" sz="1300" dirty="0"/>
          </a:p>
        </p:txBody>
      </p:sp>
      <p:sp>
        <p:nvSpPr>
          <p:cNvPr id="9" name="Text 5"/>
          <p:cNvSpPr txBox="1"/>
          <p:nvPr/>
        </p:nvSpPr>
        <p:spPr>
          <a:xfrm>
            <a:off x="1737360" y="4114800"/>
            <a:ext cx="6766560" cy="731520"/>
          </a:xfrm>
          <a:prstGeom prst="rect">
            <a:avLst/>
          </a:prstGeom>
          <a:noFill/>
          <a:ln/>
        </p:spPr>
        <p:txBody>
          <a:bodyPr wrap="square" lIns="0" tIns="0" rIns="0" bIns="0" rtlCol="0" anchor="ctr"/>
          <a:lstStyle/>
          <a:p>
            <a:pPr indent="0" marL="0">
              <a:buNone/>
            </a:pPr>
            <a:r>
              <a:rPr lang="en-US" sz="4000" b="1" dirty="0">
                <a:solidFill>
                  <a:srgbClr val="059669"/>
                </a:solidFill>
                <a:latin typeface="Calibri" pitchFamily="34" charset="0"/>
                <a:ea typeface="Calibri" pitchFamily="34" charset="-122"/>
                <a:cs typeface="Calibri" pitchFamily="34" charset="-120"/>
              </a:rPr>
              <a:t>$61,000</a:t>
            </a:r>
            <a:pPr indent="0" marL="0">
              <a:buNone/>
            </a:pPr>
            <a:r>
              <a:rPr lang="en-US" sz="1600" dirty="0">
                <a:solidFill>
                  <a:srgbClr val="1F2937"/>
                </a:solidFill>
                <a:latin typeface="Calibri" pitchFamily="34" charset="0"/>
                <a:ea typeface="Calibri" pitchFamily="34" charset="-122"/>
                <a:cs typeface="Calibri" pitchFamily="34" charset="-120"/>
              </a:rPr>
              <a:t>  per year</a:t>
            </a:r>
            <a:endParaRPr lang="en-US" sz="4000" dirty="0"/>
          </a:p>
        </p:txBody>
      </p:sp>
      <p:sp>
        <p:nvSpPr>
          <p:cNvPr id="10" name="Text 6"/>
          <p:cNvSpPr txBox="1"/>
          <p:nvPr/>
        </p:nvSpPr>
        <p:spPr>
          <a:xfrm>
            <a:off x="1737360" y="4892040"/>
            <a:ext cx="6766560" cy="3657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Dispatcher role eliminated — dispatch centralized.</a:t>
            </a:r>
            <a:endParaRPr lang="en-US" sz="1500" dirty="0"/>
          </a:p>
        </p:txBody>
      </p:sp>
      <p:sp>
        <p:nvSpPr>
          <p:cNvPr id="11" name="Text 7"/>
          <p:cNvSpPr txBox="1"/>
          <p:nvPr/>
        </p:nvSpPr>
        <p:spPr>
          <a:xfrm>
            <a:off x="548640" y="5806440"/>
            <a:ext cx="11091672" cy="27432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F27 plan = full-year $; realized = Jul 1, 2026 to date. Cargo claims: Claims report — terminal T-0502 (Mississauga).</a:t>
            </a:r>
            <a:endParaRPr lang="en-US" sz="1000" dirty="0"/>
          </a:p>
        </p:txBody>
      </p:sp>
      <p:sp>
        <p:nvSpPr>
          <p:cNvPr id="12" name="Shape 8"/>
          <p:cNvSpPr/>
          <p:nvPr/>
        </p:nvSpPr>
        <p:spPr>
          <a:xfrm>
            <a:off x="9052560" y="1371600"/>
            <a:ext cx="2587752" cy="1005840"/>
          </a:xfrm>
          <a:prstGeom prst="roundRect">
            <a:avLst>
              <a:gd name="adj" fmla="val 7273"/>
            </a:avLst>
          </a:prstGeom>
          <a:solidFill>
            <a:srgbClr val="F5F3FF"/>
          </a:solidFill>
          <a:ln w="12700">
            <a:solidFill>
              <a:srgbClr val="F5F3FF"/>
            </a:solidFill>
            <a:prstDash val="solid"/>
          </a:ln>
        </p:spPr>
      </p:sp>
      <p:sp>
        <p:nvSpPr>
          <p:cNvPr id="13" name="Text 9"/>
          <p:cNvSpPr txBox="1"/>
          <p:nvPr/>
        </p:nvSpPr>
        <p:spPr>
          <a:xfrm>
            <a:off x="9217152" y="1463040"/>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14" name="Text 10"/>
          <p:cNvSpPr txBox="1"/>
          <p:nvPr/>
        </p:nvSpPr>
        <p:spPr>
          <a:xfrm>
            <a:off x="9217152" y="1700784"/>
            <a:ext cx="2286000" cy="384048"/>
          </a:xfrm>
          <a:prstGeom prst="rect">
            <a:avLst/>
          </a:prstGeom>
          <a:noFill/>
          <a:ln/>
        </p:spPr>
        <p:txBody>
          <a:bodyPr wrap="square" lIns="0" tIns="0" rIns="0" bIns="0" rtlCol="0" anchor="ctr"/>
          <a:lstStyle/>
          <a:p>
            <a:pPr indent="0" marL="0">
              <a:buNone/>
            </a:pPr>
            <a:r>
              <a:rPr lang="en-US" sz="2000" b="1" dirty="0">
                <a:solidFill>
                  <a:srgbClr val="D97706"/>
                </a:solidFill>
                <a:latin typeface="Calibri" pitchFamily="34" charset="0"/>
                <a:ea typeface="Calibri" pitchFamily="34" charset="-122"/>
                <a:cs typeface="Calibri" pitchFamily="34" charset="-120"/>
              </a:rPr>
              <a:t>TBC</a:t>
            </a:r>
            <a:endParaRPr lang="en-US" sz="2000" dirty="0"/>
          </a:p>
        </p:txBody>
      </p:sp>
      <p:sp>
        <p:nvSpPr>
          <p:cNvPr id="15" name="Text 11"/>
          <p:cNvSpPr txBox="1"/>
          <p:nvPr/>
        </p:nvSpPr>
        <p:spPr>
          <a:xfrm>
            <a:off x="9217152" y="2103120"/>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16" name="Shape 12"/>
          <p:cNvSpPr/>
          <p:nvPr/>
        </p:nvSpPr>
        <p:spPr>
          <a:xfrm>
            <a:off x="9052560" y="2487168"/>
            <a:ext cx="2587752" cy="1005840"/>
          </a:xfrm>
          <a:prstGeom prst="roundRect">
            <a:avLst>
              <a:gd name="adj" fmla="val 7273"/>
            </a:avLst>
          </a:prstGeom>
          <a:solidFill>
            <a:srgbClr val="F3F4F6"/>
          </a:solidFill>
          <a:ln w="12700">
            <a:solidFill>
              <a:srgbClr val="F3F4F6"/>
            </a:solidFill>
            <a:prstDash val="solid"/>
          </a:ln>
        </p:spPr>
      </p:sp>
      <p:sp>
        <p:nvSpPr>
          <p:cNvPr id="17" name="Text 13"/>
          <p:cNvSpPr txBox="1"/>
          <p:nvPr/>
        </p:nvSpPr>
        <p:spPr>
          <a:xfrm>
            <a:off x="9217152" y="2578608"/>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 so far</a:t>
            </a:r>
            <a:endParaRPr lang="en-US" sz="1100" dirty="0"/>
          </a:p>
        </p:txBody>
      </p:sp>
      <p:sp>
        <p:nvSpPr>
          <p:cNvPr id="18" name="Text 14"/>
          <p:cNvSpPr txBox="1"/>
          <p:nvPr/>
        </p:nvSpPr>
        <p:spPr>
          <a:xfrm>
            <a:off x="9217152" y="2816352"/>
            <a:ext cx="2286000" cy="384048"/>
          </a:xfrm>
          <a:prstGeom prst="rect">
            <a:avLst/>
          </a:prstGeom>
          <a:noFill/>
          <a:ln/>
        </p:spPr>
        <p:txBody>
          <a:bodyPr wrap="square" lIns="0" tIns="0" rIns="0" bIns="0" rtlCol="0" anchor="ctr"/>
          <a:lstStyle/>
          <a:p>
            <a:pPr indent="0" marL="0">
              <a:buNone/>
            </a:pPr>
            <a:r>
              <a:rPr lang="en-US" sz="2000" b="1" dirty="0">
                <a:solidFill>
                  <a:srgbClr val="059669"/>
                </a:solidFill>
                <a:latin typeface="Calibri" pitchFamily="34" charset="0"/>
                <a:ea typeface="Calibri" pitchFamily="34" charset="-122"/>
                <a:cs typeface="Calibri" pitchFamily="34" charset="-120"/>
              </a:rPr>
              <a:t>$61,000</a:t>
            </a:r>
            <a:endParaRPr lang="en-US" sz="2000" dirty="0"/>
          </a:p>
        </p:txBody>
      </p:sp>
      <p:sp>
        <p:nvSpPr>
          <p:cNvPr id="19" name="Text 15"/>
          <p:cNvSpPr txBox="1"/>
          <p:nvPr/>
        </p:nvSpPr>
        <p:spPr>
          <a:xfrm>
            <a:off x="9217152" y="3218688"/>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 of target: </a:t>
            </a:r>
            <a:pPr indent="0" marL="0">
              <a:buNone/>
            </a:pPr>
            <a:r>
              <a:rPr lang="en-US" sz="1000" b="1" dirty="0">
                <a:solidFill>
                  <a:srgbClr val="D97706"/>
                </a:solidFill>
                <a:latin typeface="Calibri" pitchFamily="34" charset="0"/>
                <a:ea typeface="Calibri" pitchFamily="34" charset="-122"/>
                <a:cs typeface="Calibri" pitchFamily="34" charset="-120"/>
              </a:rPr>
              <a:t>TBC</a:t>
            </a:r>
            <a:endParaRPr lang="en-US" sz="1000" dirty="0"/>
          </a:p>
        </p:txBody>
      </p:sp>
      <p:sp>
        <p:nvSpPr>
          <p:cNvPr id="20" name="Shape 16"/>
          <p:cNvSpPr/>
          <p:nvPr/>
        </p:nvSpPr>
        <p:spPr>
          <a:xfrm>
            <a:off x="9052560" y="3602736"/>
            <a:ext cx="2587752" cy="1005840"/>
          </a:xfrm>
          <a:prstGeom prst="roundRect">
            <a:avLst>
              <a:gd name="adj" fmla="val 7273"/>
            </a:avLst>
          </a:prstGeom>
          <a:solidFill>
            <a:srgbClr val="F3F4F6"/>
          </a:solidFill>
          <a:ln w="12700">
            <a:solidFill>
              <a:srgbClr val="F3F4F6"/>
            </a:solidFill>
            <a:prstDash val="solid"/>
          </a:ln>
        </p:spPr>
      </p:sp>
      <p:sp>
        <p:nvSpPr>
          <p:cNvPr id="21" name="Text 17"/>
          <p:cNvSpPr txBox="1"/>
          <p:nvPr/>
        </p:nvSpPr>
        <p:spPr>
          <a:xfrm>
            <a:off x="9217152" y="3694176"/>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22" name="Text 18"/>
          <p:cNvSpPr txBox="1"/>
          <p:nvPr/>
        </p:nvSpPr>
        <p:spPr>
          <a:xfrm>
            <a:off x="9217152" y="3931920"/>
            <a:ext cx="2286000" cy="384048"/>
          </a:xfrm>
          <a:prstGeom prst="rect">
            <a:avLst/>
          </a:prstGeom>
          <a:noFill/>
          <a:ln/>
        </p:spPr>
        <p:txBody>
          <a:bodyPr wrap="square" lIns="0" tIns="0" rIns="0" bIns="0" rtlCol="0" anchor="ctr"/>
          <a:lstStyle/>
          <a:p>
            <a:pPr indent="0" marL="0">
              <a:buNone/>
            </a:pPr>
            <a:r>
              <a:rPr lang="en-US" sz="2000" b="1" dirty="0">
                <a:solidFill>
                  <a:srgbClr val="D97706"/>
                </a:solidFill>
                <a:latin typeface="Calibri" pitchFamily="34" charset="0"/>
                <a:ea typeface="Calibri" pitchFamily="34" charset="-122"/>
                <a:cs typeface="Calibri" pitchFamily="34" charset="-120"/>
              </a:rPr>
              <a:t>TBC</a:t>
            </a:r>
            <a:endParaRPr lang="en-US" sz="2000" dirty="0"/>
          </a:p>
        </p:txBody>
      </p:sp>
      <p:sp>
        <p:nvSpPr>
          <p:cNvPr id="23" name="Text 19"/>
          <p:cNvSpPr txBox="1"/>
          <p:nvPr/>
        </p:nvSpPr>
        <p:spPr>
          <a:xfrm>
            <a:off x="9217152" y="4334256"/>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sp>
        <p:nvSpPr>
          <p:cNvPr id="24" name="Shape 20"/>
          <p:cNvSpPr/>
          <p:nvPr/>
        </p:nvSpPr>
        <p:spPr>
          <a:xfrm>
            <a:off x="9052560" y="4718304"/>
            <a:ext cx="2587752" cy="1005840"/>
          </a:xfrm>
          <a:prstGeom prst="roundRect">
            <a:avLst>
              <a:gd name="adj" fmla="val 7273"/>
            </a:avLst>
          </a:prstGeom>
          <a:solidFill>
            <a:srgbClr val="F3F4F6"/>
          </a:solidFill>
          <a:ln w="12700">
            <a:solidFill>
              <a:srgbClr val="F3F4F6"/>
            </a:solidFill>
            <a:prstDash val="solid"/>
          </a:ln>
        </p:spPr>
      </p:sp>
      <p:sp>
        <p:nvSpPr>
          <p:cNvPr id="25" name="Text 21"/>
          <p:cNvSpPr txBox="1"/>
          <p:nvPr/>
        </p:nvSpPr>
        <p:spPr>
          <a:xfrm>
            <a:off x="9217152" y="4809744"/>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Cargo claims · T-0502</a:t>
            </a:r>
            <a:endParaRPr lang="en-US" sz="1100" dirty="0"/>
          </a:p>
        </p:txBody>
      </p:sp>
      <p:sp>
        <p:nvSpPr>
          <p:cNvPr id="26" name="Text 22"/>
          <p:cNvSpPr txBox="1"/>
          <p:nvPr/>
        </p:nvSpPr>
        <p:spPr>
          <a:xfrm>
            <a:off x="9217152" y="5047488"/>
            <a:ext cx="2286000" cy="384048"/>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$13,432.53</a:t>
            </a:r>
            <a:endParaRPr lang="en-US" sz="2000" dirty="0"/>
          </a:p>
        </p:txBody>
      </p:sp>
      <p:sp>
        <p:nvSpPr>
          <p:cNvPr id="27" name="Text 23"/>
          <p:cNvSpPr txBox="1"/>
          <p:nvPr/>
        </p:nvSpPr>
        <p:spPr>
          <a:xfrm>
            <a:off x="9217152" y="5449824"/>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August 2026 (Sept not closed)</a:t>
            </a:r>
            <a:endParaRPr lang="en-US" sz="1000" dirty="0"/>
          </a:p>
        </p:txBody>
      </p:sp>
      <p:sp>
        <p:nvSpPr>
          <p:cNvPr id="28"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24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5F3FF"/>
          </a:solidFill>
          <a:ln w="12700">
            <a:solidFill>
              <a:srgbClr val="F5F3FF"/>
            </a:solidFill>
            <a:prstDash val="solid"/>
          </a:ln>
        </p:spPr>
      </p:sp>
      <p:sp>
        <p:nvSpPr>
          <p:cNvPr id="22" name="Shape 19"/>
          <p:cNvSpPr/>
          <p:nvPr/>
        </p:nvSpPr>
        <p:spPr>
          <a:xfrm>
            <a:off x="6217920" y="3584448"/>
            <a:ext cx="457200" cy="457200"/>
          </a:xfrm>
          <a:prstGeom prst="ellipse">
            <a:avLst/>
          </a:prstGeom>
          <a:solidFill>
            <a:srgbClr val="7C3AED"/>
          </a:solidFill>
          <a:ln w="12700">
            <a:solidFill>
              <a:srgbClr val="7C3AED"/>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hour-reduction target for the month is 1,181 hours.</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24</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Cost &amp; Volume (Sept MTD)</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828800"/>
                <a:gridCol w="1463040"/>
                <a:gridCol w="1417320"/>
                <a:gridCol w="1325880"/>
                <a:gridCol w="91440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Sept MTD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F26 Sept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Change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Weight (lbs)*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13,305,876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20,881,181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−7,575,305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−36.3%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$33.43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$31.69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+$1.74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Cost per CWT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$1.0048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$0.9566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+$0.0482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Units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15.24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12.03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+3.21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+26.7%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5" name="Text 2"/>
          <p:cNvSpPr txBox="1"/>
          <p:nvPr/>
        </p:nvSpPr>
        <p:spPr>
          <a:xfrm>
            <a:off x="548640" y="3630168"/>
            <a:ext cx="6949440" cy="25603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 F27 weight is MTD to Sep 26; F26 is the September total.</a:t>
            </a:r>
            <a:endParaRPr lang="en-US" sz="1050" dirty="0"/>
          </a:p>
        </p:txBody>
      </p:sp>
      <p:sp>
        <p:nvSpPr>
          <p:cNvPr id="6" name="Text 3"/>
          <p:cNvSpPr txBox="1"/>
          <p:nvPr/>
        </p:nvSpPr>
        <p:spPr>
          <a:xfrm>
            <a:off x="548640" y="4023360"/>
            <a:ext cx="6949440"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F27 September MTD</a:t>
            </a:r>
            <a:endParaRPr lang="en-US" sz="1500" dirty="0"/>
          </a:p>
        </p:txBody>
      </p:sp>
      <p:sp>
        <p:nvSpPr>
          <p:cNvPr id="7" name="Shape 4"/>
          <p:cNvSpPr/>
          <p:nvPr/>
        </p:nvSpPr>
        <p:spPr>
          <a:xfrm>
            <a:off x="548640" y="4434840"/>
            <a:ext cx="1600200" cy="1188720"/>
          </a:xfrm>
          <a:prstGeom prst="roundRect">
            <a:avLst>
              <a:gd name="adj" fmla="val 6154"/>
            </a:avLst>
          </a:prstGeom>
          <a:solidFill>
            <a:srgbClr val="F3F4F6"/>
          </a:solidFill>
          <a:ln w="12700">
            <a:solidFill>
              <a:srgbClr val="F3F4F6"/>
            </a:solidFill>
            <a:prstDash val="solid"/>
          </a:ln>
        </p:spPr>
      </p:sp>
      <p:sp>
        <p:nvSpPr>
          <p:cNvPr id="8" name="Text 5"/>
          <p:cNvSpPr txBox="1"/>
          <p:nvPr/>
        </p:nvSpPr>
        <p:spPr>
          <a:xfrm>
            <a:off x="71323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hours</a:t>
            </a:r>
            <a:endParaRPr lang="en-US" sz="1100" dirty="0"/>
          </a:p>
        </p:txBody>
      </p:sp>
      <p:sp>
        <p:nvSpPr>
          <p:cNvPr id="9" name="Text 6"/>
          <p:cNvSpPr txBox="1"/>
          <p:nvPr/>
        </p:nvSpPr>
        <p:spPr>
          <a:xfrm>
            <a:off x="71323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3,999</a:t>
            </a:r>
            <a:endParaRPr lang="en-US" sz="1800" dirty="0"/>
          </a:p>
        </p:txBody>
      </p:sp>
      <p:sp>
        <p:nvSpPr>
          <p:cNvPr id="10" name="Shape 7"/>
          <p:cNvSpPr/>
          <p:nvPr/>
        </p:nvSpPr>
        <p:spPr>
          <a:xfrm>
            <a:off x="2331720" y="4434840"/>
            <a:ext cx="1600200" cy="1188720"/>
          </a:xfrm>
          <a:prstGeom prst="roundRect">
            <a:avLst>
              <a:gd name="adj" fmla="val 6154"/>
            </a:avLst>
          </a:prstGeom>
          <a:solidFill>
            <a:srgbClr val="F3F4F6"/>
          </a:solidFill>
          <a:ln w="12700">
            <a:solidFill>
              <a:srgbClr val="F3F4F6"/>
            </a:solidFill>
            <a:prstDash val="solid"/>
          </a:ln>
        </p:spPr>
      </p:sp>
      <p:sp>
        <p:nvSpPr>
          <p:cNvPr id="11" name="Text 8"/>
          <p:cNvSpPr txBox="1"/>
          <p:nvPr/>
        </p:nvSpPr>
        <p:spPr>
          <a:xfrm>
            <a:off x="249631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a:t>
            </a:r>
            <a:endParaRPr lang="en-US" sz="1100" dirty="0"/>
          </a:p>
        </p:txBody>
      </p:sp>
      <p:sp>
        <p:nvSpPr>
          <p:cNvPr id="12" name="Text 9"/>
          <p:cNvSpPr txBox="1"/>
          <p:nvPr/>
        </p:nvSpPr>
        <p:spPr>
          <a:xfrm>
            <a:off x="249631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60,933</a:t>
            </a:r>
            <a:endParaRPr lang="en-US" sz="1800" dirty="0"/>
          </a:p>
        </p:txBody>
      </p:sp>
      <p:sp>
        <p:nvSpPr>
          <p:cNvPr id="13" name="Shape 10"/>
          <p:cNvSpPr/>
          <p:nvPr/>
        </p:nvSpPr>
        <p:spPr>
          <a:xfrm>
            <a:off x="4114800" y="4434840"/>
            <a:ext cx="1600200" cy="1188720"/>
          </a:xfrm>
          <a:prstGeom prst="roundRect">
            <a:avLst>
              <a:gd name="adj" fmla="val 6154"/>
            </a:avLst>
          </a:prstGeom>
          <a:solidFill>
            <a:srgbClr val="F3F4F6"/>
          </a:solidFill>
          <a:ln w="12700">
            <a:solidFill>
              <a:srgbClr val="F3F4F6"/>
            </a:solidFill>
            <a:prstDash val="solid"/>
          </a:ln>
        </p:spPr>
      </p:sp>
      <p:sp>
        <p:nvSpPr>
          <p:cNvPr id="14" name="Text 11"/>
          <p:cNvSpPr txBox="1"/>
          <p:nvPr/>
        </p:nvSpPr>
        <p:spPr>
          <a:xfrm>
            <a:off x="427939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Costs</a:t>
            </a:r>
            <a:endParaRPr lang="en-US" sz="1100" dirty="0"/>
          </a:p>
        </p:txBody>
      </p:sp>
      <p:sp>
        <p:nvSpPr>
          <p:cNvPr id="15" name="Text 12"/>
          <p:cNvSpPr txBox="1"/>
          <p:nvPr/>
        </p:nvSpPr>
        <p:spPr>
          <a:xfrm>
            <a:off x="427939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$133,692</a:t>
            </a:r>
            <a:endParaRPr lang="en-US" sz="1800" dirty="0"/>
          </a:p>
        </p:txBody>
      </p:sp>
      <p:sp>
        <p:nvSpPr>
          <p:cNvPr id="16" name="Shape 13"/>
          <p:cNvSpPr/>
          <p:nvPr/>
        </p:nvSpPr>
        <p:spPr>
          <a:xfrm>
            <a:off x="5897880" y="4434840"/>
            <a:ext cx="1600200" cy="1188720"/>
          </a:xfrm>
          <a:prstGeom prst="roundRect">
            <a:avLst>
              <a:gd name="adj" fmla="val 6154"/>
            </a:avLst>
          </a:prstGeom>
          <a:solidFill>
            <a:srgbClr val="F3F4F6"/>
          </a:solidFill>
          <a:ln w="12700">
            <a:solidFill>
              <a:srgbClr val="F3F4F6"/>
            </a:solidFill>
            <a:prstDash val="solid"/>
          </a:ln>
        </p:spPr>
      </p:sp>
      <p:sp>
        <p:nvSpPr>
          <p:cNvPr id="17" name="Text 14"/>
          <p:cNvSpPr txBox="1"/>
          <p:nvPr/>
        </p:nvSpPr>
        <p:spPr>
          <a:xfrm>
            <a:off x="606247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 per unit</a:t>
            </a:r>
            <a:endParaRPr lang="en-US" sz="1100" dirty="0"/>
          </a:p>
        </p:txBody>
      </p:sp>
      <p:sp>
        <p:nvSpPr>
          <p:cNvPr id="18" name="Text 15"/>
          <p:cNvSpPr txBox="1"/>
          <p:nvPr/>
        </p:nvSpPr>
        <p:spPr>
          <a:xfrm>
            <a:off x="606247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$2.19</a:t>
            </a:r>
            <a:endParaRPr lang="en-US" sz="1800" dirty="0"/>
          </a:p>
        </p:txBody>
      </p:sp>
      <p:sp>
        <p:nvSpPr>
          <p:cNvPr id="19" name="Shape 16"/>
          <p:cNvSpPr/>
          <p:nvPr/>
        </p:nvSpPr>
        <p:spPr>
          <a:xfrm>
            <a:off x="7863840" y="1371600"/>
            <a:ext cx="3776472" cy="2011680"/>
          </a:xfrm>
          <a:prstGeom prst="roundRect">
            <a:avLst>
              <a:gd name="adj" fmla="val 3636"/>
            </a:avLst>
          </a:prstGeom>
          <a:solidFill>
            <a:srgbClr val="ECFDF5"/>
          </a:solidFill>
          <a:ln w="12700">
            <a:solidFill>
              <a:srgbClr val="ECFDF5"/>
            </a:solidFill>
            <a:prstDash val="solid"/>
          </a:ln>
        </p:spPr>
      </p:sp>
      <p:sp>
        <p:nvSpPr>
          <p:cNvPr id="20" name="Shape 17"/>
          <p:cNvSpPr/>
          <p:nvPr/>
        </p:nvSpPr>
        <p:spPr>
          <a:xfrm>
            <a:off x="8065008" y="1536192"/>
            <a:ext cx="384048" cy="384048"/>
          </a:xfrm>
          <a:prstGeom prst="ellipse">
            <a:avLst/>
          </a:prstGeom>
          <a:solidFill>
            <a:srgbClr val="059669"/>
          </a:solidFill>
          <a:ln w="12700">
            <a:solidFill>
              <a:srgbClr val="059669"/>
            </a:solidFill>
            <a:prstDash val="solid"/>
          </a:ln>
        </p:spPr>
      </p:sp>
      <p:pic>
        <p:nvPicPr>
          <p:cNvPr id="21" name="Image 0" descr="preencoded.png">    </p:cNvPr>
          <p:cNvPicPr>
            <a:picLocks noChangeAspect="1"/>
          </p:cNvPicPr>
          <p:nvPr/>
        </p:nvPicPr>
        <p:blipFill>
          <a:blip r:embed="rId1"/>
          <a:stretch>
            <a:fillRect/>
          </a:stretch>
        </p:blipFill>
        <p:spPr>
          <a:xfrm>
            <a:off x="8161020" y="1632204"/>
            <a:ext cx="192024" cy="192024"/>
          </a:xfrm>
          <a:prstGeom prst="rect">
            <a:avLst/>
          </a:prstGeom>
        </p:spPr>
      </p:pic>
      <p:sp>
        <p:nvSpPr>
          <p:cNvPr id="22" name="Text 18"/>
          <p:cNvSpPr txBox="1"/>
          <p:nvPr/>
        </p:nvSpPr>
        <p:spPr>
          <a:xfrm>
            <a:off x="8549640" y="153619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Units-basis productivity value</a:t>
            </a:r>
            <a:endParaRPr lang="en-US" sz="1300" dirty="0"/>
          </a:p>
        </p:txBody>
      </p:sp>
      <p:sp>
        <p:nvSpPr>
          <p:cNvPr id="23" name="Text 19"/>
          <p:cNvSpPr txBox="1"/>
          <p:nvPr/>
        </p:nvSpPr>
        <p:spPr>
          <a:xfrm>
            <a:off x="8065008" y="1975104"/>
            <a:ext cx="3383280" cy="50292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$35.6K</a:t>
            </a:r>
            <a:pPr indent="0" marL="0">
              <a:buNone/>
            </a:pPr>
            <a:r>
              <a:rPr lang="en-US" sz="1200" b="1" dirty="0">
                <a:solidFill>
                  <a:srgbClr val="6B7280"/>
                </a:solidFill>
                <a:latin typeface="Calibri" pitchFamily="34" charset="0"/>
                <a:ea typeface="Calibri" pitchFamily="34" charset="-122"/>
                <a:cs typeface="Calibri" pitchFamily="34" charset="-120"/>
              </a:rPr>
              <a:t>   </a:t>
            </a:r>
            <a:endParaRPr lang="en-US" sz="2800" dirty="0"/>
          </a:p>
        </p:txBody>
      </p:sp>
      <p:sp>
        <p:nvSpPr>
          <p:cNvPr id="24" name="Text 20"/>
          <p:cNvSpPr txBox="1"/>
          <p:nvPr/>
        </p:nvSpPr>
        <p:spPr>
          <a:xfrm>
            <a:off x="8065008" y="250545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At F26's 12.03 units/hr, 60,933 units would have needed ≈5,065 hrs vs 3,999 actual → ≈1,066 hrs avoided at $33.43/hr (Sept MTD).</a:t>
            </a:r>
            <a:endParaRPr lang="en-US" sz="1100" dirty="0"/>
          </a:p>
        </p:txBody>
      </p:sp>
      <p:sp>
        <p:nvSpPr>
          <p:cNvPr id="25" name="Text 21"/>
          <p:cNvSpPr txBox="1"/>
          <p:nvPr/>
        </p:nvSpPr>
        <p:spPr>
          <a:xfrm>
            <a:off x="8065008" y="310896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dashboard figures</a:t>
            </a:r>
            <a:endParaRPr lang="en-US" sz="900" dirty="0"/>
          </a:p>
        </p:txBody>
      </p:sp>
      <p:sp>
        <p:nvSpPr>
          <p:cNvPr id="26" name="Shape 22"/>
          <p:cNvSpPr/>
          <p:nvPr/>
        </p:nvSpPr>
        <p:spPr>
          <a:xfrm>
            <a:off x="7863840" y="3566160"/>
            <a:ext cx="3776472" cy="2011680"/>
          </a:xfrm>
          <a:prstGeom prst="roundRect">
            <a:avLst>
              <a:gd name="adj" fmla="val 3636"/>
            </a:avLst>
          </a:prstGeom>
          <a:solidFill>
            <a:srgbClr val="F5F3FF"/>
          </a:solidFill>
          <a:ln w="12700">
            <a:solidFill>
              <a:srgbClr val="F5F3FF"/>
            </a:solidFill>
            <a:prstDash val="solid"/>
          </a:ln>
        </p:spPr>
      </p:sp>
      <p:sp>
        <p:nvSpPr>
          <p:cNvPr id="27" name="Shape 23"/>
          <p:cNvSpPr/>
          <p:nvPr/>
        </p:nvSpPr>
        <p:spPr>
          <a:xfrm>
            <a:off x="8065008" y="3730752"/>
            <a:ext cx="384048" cy="384048"/>
          </a:xfrm>
          <a:prstGeom prst="ellipse">
            <a:avLst/>
          </a:prstGeom>
          <a:solidFill>
            <a:srgbClr val="7C3AED"/>
          </a:solidFill>
          <a:ln w="12700">
            <a:solidFill>
              <a:srgbClr val="7C3AED"/>
            </a:solidFill>
            <a:prstDash val="solid"/>
          </a:ln>
        </p:spPr>
      </p:sp>
      <p:pic>
        <p:nvPicPr>
          <p:cNvPr id="28" name="Image 1" descr="preencoded.png">    </p:cNvPr>
          <p:cNvPicPr>
            <a:picLocks noChangeAspect="1"/>
          </p:cNvPicPr>
          <p:nvPr/>
        </p:nvPicPr>
        <p:blipFill>
          <a:blip r:embed="rId2"/>
          <a:stretch>
            <a:fillRect/>
          </a:stretch>
        </p:blipFill>
        <p:spPr>
          <a:xfrm>
            <a:off x="8161020" y="3826764"/>
            <a:ext cx="192024" cy="192024"/>
          </a:xfrm>
          <a:prstGeom prst="rect">
            <a:avLst/>
          </a:prstGeom>
        </p:spPr>
      </p:pic>
      <p:sp>
        <p:nvSpPr>
          <p:cNvPr id="29" name="Text 24"/>
          <p:cNvSpPr txBox="1"/>
          <p:nvPr/>
        </p:nvSpPr>
        <p:spPr>
          <a:xfrm>
            <a:off x="8549640" y="373075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Pace vs reduction target</a:t>
            </a:r>
            <a:endParaRPr lang="en-US" sz="1300" dirty="0"/>
          </a:p>
        </p:txBody>
      </p:sp>
      <p:sp>
        <p:nvSpPr>
          <p:cNvPr id="30" name="Text 25"/>
          <p:cNvSpPr txBox="1"/>
          <p:nvPr/>
        </p:nvSpPr>
        <p:spPr>
          <a:xfrm>
            <a:off x="8065008" y="4169664"/>
            <a:ext cx="3383280" cy="502920"/>
          </a:xfrm>
          <a:prstGeom prst="rect">
            <a:avLst/>
          </a:prstGeom>
          <a:noFill/>
          <a:ln/>
        </p:spPr>
        <p:txBody>
          <a:bodyPr wrap="square" lIns="0" tIns="0" rIns="0" bIns="0" rtlCol="0" anchor="ctr"/>
          <a:lstStyle/>
          <a:p>
            <a:pPr indent="0" marL="0">
              <a:buNone/>
            </a:pPr>
            <a:r>
              <a:rPr lang="en-US" sz="2800" b="1" dirty="0">
                <a:solidFill>
                  <a:srgbClr val="7C3AED"/>
                </a:solidFill>
                <a:latin typeface="Calibri" pitchFamily="34" charset="0"/>
                <a:ea typeface="Calibri" pitchFamily="34" charset="-122"/>
                <a:cs typeface="Calibri" pitchFamily="34" charset="-120"/>
              </a:rPr>
              <a:t>139%</a:t>
            </a:r>
            <a:pPr indent="0" marL="0">
              <a:buNone/>
            </a:pPr>
            <a:r>
              <a:rPr lang="en-US" sz="1200" b="1" dirty="0">
                <a:solidFill>
                  <a:srgbClr val="6B7280"/>
                </a:solidFill>
                <a:latin typeface="Calibri" pitchFamily="34" charset="0"/>
                <a:ea typeface="Calibri" pitchFamily="34" charset="-122"/>
                <a:cs typeface="Calibri" pitchFamily="34" charset="-120"/>
              </a:rPr>
              <a:t>   of 1,181-hr target</a:t>
            </a:r>
            <a:endParaRPr lang="en-US" sz="2800" dirty="0"/>
          </a:p>
        </p:txBody>
      </p:sp>
      <p:sp>
        <p:nvSpPr>
          <p:cNvPr id="31" name="Text 26"/>
          <p:cNvSpPr txBox="1"/>
          <p:nvPr/>
        </p:nvSpPr>
        <p:spPr>
          <a:xfrm>
            <a:off x="8065008" y="470001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Sept pace ≈4,666 hrs (3,999 ÷ 18/21 working days) vs F26's 6,303 → ≈1,637 hrs lower.</a:t>
            </a:r>
            <a:endParaRPr lang="en-US" sz="1100" dirty="0"/>
          </a:p>
        </p:txBody>
      </p:sp>
      <p:sp>
        <p:nvSpPr>
          <p:cNvPr id="32" name="Text 27"/>
          <p:cNvSpPr txBox="1"/>
          <p:nvPr/>
        </p:nvSpPr>
        <p:spPr>
          <a:xfrm>
            <a:off x="8065008" y="530352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 · at current pace</a:t>
            </a:r>
            <a:endParaRPr lang="en-US" sz="900" dirty="0"/>
          </a:p>
        </p:txBody>
      </p:sp>
      <p:sp>
        <p:nvSpPr>
          <p:cNvPr id="33" name="Text 28"/>
          <p:cNvSpPr txBox="1"/>
          <p:nvPr/>
        </p:nvSpPr>
        <p:spPr>
          <a:xfrm>
            <a:off x="548640" y="603504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34" name="Text 2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24</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P&amp;D — Trip &amp; stop measures (F27 Q1, Jul–Sep)</a:t>
            </a:r>
            <a:endParaRPr lang="en-US" sz="3000" dirty="0"/>
          </a:p>
        </p:txBody>
      </p:sp>
      <p:sp>
        <p:nvSpPr>
          <p:cNvPr id="4" name="Text 2"/>
          <p:cNvSpPr txBox="1"/>
          <p:nvPr/>
        </p:nvSpPr>
        <p:spPr>
          <a:xfrm>
            <a:off x="548640" y="1298448"/>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Q1 totals</a:t>
            </a:r>
            <a:endParaRPr lang="en-US" sz="1500" dirty="0"/>
          </a:p>
        </p:txBody>
      </p:sp>
      <p:sp>
        <p:nvSpPr>
          <p:cNvPr id="5" name="Shape 3"/>
          <p:cNvSpPr/>
          <p:nvPr/>
        </p:nvSpPr>
        <p:spPr>
          <a:xfrm>
            <a:off x="548640" y="1645920"/>
            <a:ext cx="1734312" cy="804672"/>
          </a:xfrm>
          <a:prstGeom prst="roundRect">
            <a:avLst>
              <a:gd name="adj" fmla="val 9091"/>
            </a:avLst>
          </a:prstGeom>
          <a:solidFill>
            <a:srgbClr val="F3F4F6"/>
          </a:solidFill>
          <a:ln w="12700">
            <a:solidFill>
              <a:srgbClr val="F3F4F6"/>
            </a:solidFill>
            <a:prstDash val="solid"/>
          </a:ln>
        </p:spPr>
      </p:sp>
      <p:sp>
        <p:nvSpPr>
          <p:cNvPr id="6" name="Text 4"/>
          <p:cNvSpPr txBox="1"/>
          <p:nvPr/>
        </p:nvSpPr>
        <p:spPr>
          <a:xfrm>
            <a:off x="68580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Trips</a:t>
            </a:r>
            <a:endParaRPr lang="en-US" sz="1050" dirty="0"/>
          </a:p>
        </p:txBody>
      </p:sp>
      <p:sp>
        <p:nvSpPr>
          <p:cNvPr id="7" name="Text 5"/>
          <p:cNvSpPr txBox="1"/>
          <p:nvPr/>
        </p:nvSpPr>
        <p:spPr>
          <a:xfrm>
            <a:off x="68580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4,608</a:t>
            </a:r>
            <a:endParaRPr lang="en-US" sz="1800" dirty="0"/>
          </a:p>
        </p:txBody>
      </p:sp>
      <p:sp>
        <p:nvSpPr>
          <p:cNvPr id="8" name="Shape 6"/>
          <p:cNvSpPr/>
          <p:nvPr/>
        </p:nvSpPr>
        <p:spPr>
          <a:xfrm>
            <a:off x="2420112" y="1645920"/>
            <a:ext cx="1734312" cy="804672"/>
          </a:xfrm>
          <a:prstGeom prst="roundRect">
            <a:avLst>
              <a:gd name="adj" fmla="val 9091"/>
            </a:avLst>
          </a:prstGeom>
          <a:solidFill>
            <a:srgbClr val="F3F4F6"/>
          </a:solidFill>
          <a:ln w="12700">
            <a:solidFill>
              <a:srgbClr val="F3F4F6"/>
            </a:solidFill>
            <a:prstDash val="solid"/>
          </a:ln>
        </p:spPr>
      </p:sp>
      <p:sp>
        <p:nvSpPr>
          <p:cNvPr id="9" name="Text 7"/>
          <p:cNvSpPr txBox="1"/>
          <p:nvPr/>
        </p:nvSpPr>
        <p:spPr>
          <a:xfrm>
            <a:off x="2557272"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a:t>
            </a:r>
            <a:endParaRPr lang="en-US" sz="1050" dirty="0"/>
          </a:p>
        </p:txBody>
      </p:sp>
      <p:sp>
        <p:nvSpPr>
          <p:cNvPr id="10" name="Text 8"/>
          <p:cNvSpPr txBox="1"/>
          <p:nvPr/>
        </p:nvSpPr>
        <p:spPr>
          <a:xfrm>
            <a:off x="2557272"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45,712</a:t>
            </a:r>
            <a:endParaRPr lang="en-US" sz="1800" dirty="0"/>
          </a:p>
        </p:txBody>
      </p:sp>
      <p:sp>
        <p:nvSpPr>
          <p:cNvPr id="11" name="Shape 9"/>
          <p:cNvSpPr/>
          <p:nvPr/>
        </p:nvSpPr>
        <p:spPr>
          <a:xfrm>
            <a:off x="4291584" y="1645920"/>
            <a:ext cx="1734312" cy="804672"/>
          </a:xfrm>
          <a:prstGeom prst="roundRect">
            <a:avLst>
              <a:gd name="adj" fmla="val 9091"/>
            </a:avLst>
          </a:prstGeom>
          <a:solidFill>
            <a:srgbClr val="F3F4F6"/>
          </a:solidFill>
          <a:ln w="12700">
            <a:solidFill>
              <a:srgbClr val="F3F4F6"/>
            </a:solidFill>
            <a:prstDash val="solid"/>
          </a:ln>
        </p:spPr>
      </p:sp>
      <p:sp>
        <p:nvSpPr>
          <p:cNvPr id="12" name="Text 10"/>
          <p:cNvSpPr txBox="1"/>
          <p:nvPr/>
        </p:nvSpPr>
        <p:spPr>
          <a:xfrm>
            <a:off x="4428744"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(lbs)</a:t>
            </a:r>
            <a:endParaRPr lang="en-US" sz="1050" dirty="0"/>
          </a:p>
        </p:txBody>
      </p:sp>
      <p:sp>
        <p:nvSpPr>
          <p:cNvPr id="13" name="Text 11"/>
          <p:cNvSpPr txBox="1"/>
          <p:nvPr/>
        </p:nvSpPr>
        <p:spPr>
          <a:xfrm>
            <a:off x="4428744"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32,330,382</a:t>
            </a:r>
            <a:endParaRPr lang="en-US" sz="1800" dirty="0"/>
          </a:p>
        </p:txBody>
      </p:sp>
      <p:sp>
        <p:nvSpPr>
          <p:cNvPr id="14" name="Shape 12"/>
          <p:cNvSpPr/>
          <p:nvPr/>
        </p:nvSpPr>
        <p:spPr>
          <a:xfrm>
            <a:off x="6163056" y="1645920"/>
            <a:ext cx="1734312" cy="804672"/>
          </a:xfrm>
          <a:prstGeom prst="roundRect">
            <a:avLst>
              <a:gd name="adj" fmla="val 9091"/>
            </a:avLst>
          </a:prstGeom>
          <a:solidFill>
            <a:srgbClr val="F3F4F6"/>
          </a:solidFill>
          <a:ln w="12700">
            <a:solidFill>
              <a:srgbClr val="F3F4F6"/>
            </a:solidFill>
            <a:prstDash val="solid"/>
          </a:ln>
        </p:spPr>
      </p:sp>
      <p:sp>
        <p:nvSpPr>
          <p:cNvPr id="15" name="Text 13"/>
          <p:cNvSpPr txBox="1"/>
          <p:nvPr/>
        </p:nvSpPr>
        <p:spPr>
          <a:xfrm>
            <a:off x="6300216"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a:t>
            </a:r>
            <a:endParaRPr lang="en-US" sz="1050" dirty="0"/>
          </a:p>
        </p:txBody>
      </p:sp>
      <p:sp>
        <p:nvSpPr>
          <p:cNvPr id="16" name="Text 14"/>
          <p:cNvSpPr txBox="1"/>
          <p:nvPr/>
        </p:nvSpPr>
        <p:spPr>
          <a:xfrm>
            <a:off x="6300216"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769,055</a:t>
            </a:r>
            <a:endParaRPr lang="en-US" sz="1800" dirty="0"/>
          </a:p>
        </p:txBody>
      </p:sp>
      <p:sp>
        <p:nvSpPr>
          <p:cNvPr id="17" name="Shape 15"/>
          <p:cNvSpPr/>
          <p:nvPr/>
        </p:nvSpPr>
        <p:spPr>
          <a:xfrm>
            <a:off x="8034528" y="1645920"/>
            <a:ext cx="1734312" cy="804672"/>
          </a:xfrm>
          <a:prstGeom prst="roundRect">
            <a:avLst>
              <a:gd name="adj" fmla="val 9091"/>
            </a:avLst>
          </a:prstGeom>
          <a:solidFill>
            <a:srgbClr val="F3F4F6"/>
          </a:solidFill>
          <a:ln w="12700">
            <a:solidFill>
              <a:srgbClr val="F3F4F6"/>
            </a:solidFill>
            <a:prstDash val="solid"/>
          </a:ln>
        </p:spPr>
      </p:sp>
      <p:sp>
        <p:nvSpPr>
          <p:cNvPr id="18" name="Text 16"/>
          <p:cNvSpPr txBox="1"/>
          <p:nvPr/>
        </p:nvSpPr>
        <p:spPr>
          <a:xfrm>
            <a:off x="8171688"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a:t>
            </a:r>
            <a:endParaRPr lang="en-US" sz="1050" dirty="0"/>
          </a:p>
        </p:txBody>
      </p:sp>
      <p:sp>
        <p:nvSpPr>
          <p:cNvPr id="19" name="Text 17"/>
          <p:cNvSpPr txBox="1"/>
          <p:nvPr/>
        </p:nvSpPr>
        <p:spPr>
          <a:xfrm>
            <a:off x="8171688"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21,889</a:t>
            </a:r>
            <a:endParaRPr lang="en-US" sz="1800" dirty="0"/>
          </a:p>
        </p:txBody>
      </p:sp>
      <p:sp>
        <p:nvSpPr>
          <p:cNvPr id="20" name="Shape 18"/>
          <p:cNvSpPr/>
          <p:nvPr/>
        </p:nvSpPr>
        <p:spPr>
          <a:xfrm>
            <a:off x="9906000" y="1645920"/>
            <a:ext cx="1734312" cy="804672"/>
          </a:xfrm>
          <a:prstGeom prst="roundRect">
            <a:avLst>
              <a:gd name="adj" fmla="val 9091"/>
            </a:avLst>
          </a:prstGeom>
          <a:solidFill>
            <a:srgbClr val="F3F4F6"/>
          </a:solidFill>
          <a:ln w="12700">
            <a:solidFill>
              <a:srgbClr val="F3F4F6"/>
            </a:solidFill>
            <a:prstDash val="solid"/>
          </a:ln>
        </p:spPr>
      </p:sp>
      <p:sp>
        <p:nvSpPr>
          <p:cNvPr id="21" name="Text 19"/>
          <p:cNvSpPr txBox="1"/>
          <p:nvPr/>
        </p:nvSpPr>
        <p:spPr>
          <a:xfrm>
            <a:off x="1004316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a:t>
            </a:r>
            <a:endParaRPr lang="en-US" sz="1050" dirty="0"/>
          </a:p>
        </p:txBody>
      </p:sp>
      <p:sp>
        <p:nvSpPr>
          <p:cNvPr id="22" name="Text 20"/>
          <p:cNvSpPr txBox="1"/>
          <p:nvPr/>
        </p:nvSpPr>
        <p:spPr>
          <a:xfrm>
            <a:off x="1004316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63,738</a:t>
            </a:r>
            <a:endParaRPr lang="en-US" sz="1800" dirty="0"/>
          </a:p>
        </p:txBody>
      </p:sp>
      <p:sp>
        <p:nvSpPr>
          <p:cNvPr id="23" name="Shape 21"/>
          <p:cNvSpPr/>
          <p:nvPr/>
        </p:nvSpPr>
        <p:spPr>
          <a:xfrm>
            <a:off x="548640" y="2560320"/>
            <a:ext cx="1734312" cy="804672"/>
          </a:xfrm>
          <a:prstGeom prst="roundRect">
            <a:avLst>
              <a:gd name="adj" fmla="val 9091"/>
            </a:avLst>
          </a:prstGeom>
          <a:solidFill>
            <a:srgbClr val="F3F4F6"/>
          </a:solidFill>
          <a:ln w="12700">
            <a:solidFill>
              <a:srgbClr val="F3F4F6"/>
            </a:solidFill>
            <a:prstDash val="solid"/>
          </a:ln>
        </p:spPr>
      </p:sp>
      <p:sp>
        <p:nvSpPr>
          <p:cNvPr id="24" name="Text 22"/>
          <p:cNvSpPr txBox="1"/>
          <p:nvPr/>
        </p:nvSpPr>
        <p:spPr>
          <a:xfrm>
            <a:off x="685800"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a:t>
            </a:r>
            <a:endParaRPr lang="en-US" sz="1050" dirty="0"/>
          </a:p>
        </p:txBody>
      </p:sp>
      <p:sp>
        <p:nvSpPr>
          <p:cNvPr id="25" name="Text 23"/>
          <p:cNvSpPr txBox="1"/>
          <p:nvPr/>
        </p:nvSpPr>
        <p:spPr>
          <a:xfrm>
            <a:off x="685800"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41,725</a:t>
            </a:r>
            <a:endParaRPr lang="en-US" sz="1800" dirty="0"/>
          </a:p>
        </p:txBody>
      </p:sp>
      <p:sp>
        <p:nvSpPr>
          <p:cNvPr id="26" name="Shape 24"/>
          <p:cNvSpPr/>
          <p:nvPr/>
        </p:nvSpPr>
        <p:spPr>
          <a:xfrm>
            <a:off x="2420112" y="2560320"/>
            <a:ext cx="1734312" cy="804672"/>
          </a:xfrm>
          <a:prstGeom prst="roundRect">
            <a:avLst>
              <a:gd name="adj" fmla="val 9091"/>
            </a:avLst>
          </a:prstGeom>
          <a:solidFill>
            <a:srgbClr val="F3F4F6"/>
          </a:solidFill>
          <a:ln w="12700">
            <a:solidFill>
              <a:srgbClr val="F3F4F6"/>
            </a:solidFill>
            <a:prstDash val="solid"/>
          </a:ln>
        </p:spPr>
      </p:sp>
      <p:sp>
        <p:nvSpPr>
          <p:cNvPr id="27" name="Text 25"/>
          <p:cNvSpPr txBox="1"/>
          <p:nvPr/>
        </p:nvSpPr>
        <p:spPr>
          <a:xfrm>
            <a:off x="2557272"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a:t>
            </a:r>
            <a:endParaRPr lang="en-US" sz="1050" dirty="0"/>
          </a:p>
        </p:txBody>
      </p:sp>
      <p:sp>
        <p:nvSpPr>
          <p:cNvPr id="28" name="Text 26"/>
          <p:cNvSpPr txBox="1"/>
          <p:nvPr/>
        </p:nvSpPr>
        <p:spPr>
          <a:xfrm>
            <a:off x="2557272"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24,401</a:t>
            </a:r>
            <a:endParaRPr lang="en-US" sz="1800" dirty="0"/>
          </a:p>
        </p:txBody>
      </p:sp>
      <p:sp>
        <p:nvSpPr>
          <p:cNvPr id="29" name="Shape 27"/>
          <p:cNvSpPr/>
          <p:nvPr/>
        </p:nvSpPr>
        <p:spPr>
          <a:xfrm>
            <a:off x="4291584" y="2560320"/>
            <a:ext cx="1734312" cy="804672"/>
          </a:xfrm>
          <a:prstGeom prst="roundRect">
            <a:avLst>
              <a:gd name="adj" fmla="val 9091"/>
            </a:avLst>
          </a:prstGeom>
          <a:solidFill>
            <a:srgbClr val="F3F4F6"/>
          </a:solidFill>
          <a:ln w="12700">
            <a:solidFill>
              <a:srgbClr val="F3F4F6"/>
            </a:solidFill>
            <a:prstDash val="solid"/>
          </a:ln>
        </p:spPr>
      </p:sp>
      <p:sp>
        <p:nvSpPr>
          <p:cNvPr id="30" name="Text 28"/>
          <p:cNvSpPr txBox="1"/>
          <p:nvPr/>
        </p:nvSpPr>
        <p:spPr>
          <a:xfrm>
            <a:off x="4428744"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attempts</a:t>
            </a:r>
            <a:endParaRPr lang="en-US" sz="1050" dirty="0"/>
          </a:p>
        </p:txBody>
      </p:sp>
      <p:sp>
        <p:nvSpPr>
          <p:cNvPr id="31" name="Text 29"/>
          <p:cNvSpPr txBox="1"/>
          <p:nvPr/>
        </p:nvSpPr>
        <p:spPr>
          <a:xfrm>
            <a:off x="4428744"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643</a:t>
            </a:r>
            <a:endParaRPr lang="en-US" sz="1800" dirty="0"/>
          </a:p>
        </p:txBody>
      </p:sp>
      <p:sp>
        <p:nvSpPr>
          <p:cNvPr id="32" name="Shape 30"/>
          <p:cNvSpPr/>
          <p:nvPr/>
        </p:nvSpPr>
        <p:spPr>
          <a:xfrm>
            <a:off x="6163056" y="2560320"/>
            <a:ext cx="1734312" cy="804672"/>
          </a:xfrm>
          <a:prstGeom prst="roundRect">
            <a:avLst>
              <a:gd name="adj" fmla="val 9091"/>
            </a:avLst>
          </a:prstGeom>
          <a:solidFill>
            <a:srgbClr val="F3F4F6"/>
          </a:solidFill>
          <a:ln w="12700">
            <a:solidFill>
              <a:srgbClr val="F3F4F6"/>
            </a:solidFill>
            <a:prstDash val="solid"/>
          </a:ln>
        </p:spPr>
      </p:sp>
      <p:sp>
        <p:nvSpPr>
          <p:cNvPr id="33" name="Text 31"/>
          <p:cNvSpPr txBox="1"/>
          <p:nvPr/>
        </p:nvSpPr>
        <p:spPr>
          <a:xfrm>
            <a:off x="6300216"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attempts</a:t>
            </a:r>
            <a:endParaRPr lang="en-US" sz="1050" dirty="0"/>
          </a:p>
        </p:txBody>
      </p:sp>
      <p:sp>
        <p:nvSpPr>
          <p:cNvPr id="34" name="Text 32"/>
          <p:cNvSpPr txBox="1"/>
          <p:nvPr/>
        </p:nvSpPr>
        <p:spPr>
          <a:xfrm>
            <a:off x="6300216"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1,848</a:t>
            </a:r>
            <a:endParaRPr lang="en-US" sz="1800" dirty="0"/>
          </a:p>
        </p:txBody>
      </p:sp>
      <p:sp>
        <p:nvSpPr>
          <p:cNvPr id="35" name="Shape 33"/>
          <p:cNvSpPr/>
          <p:nvPr/>
        </p:nvSpPr>
        <p:spPr>
          <a:xfrm>
            <a:off x="8034528" y="2560320"/>
            <a:ext cx="1734312" cy="804672"/>
          </a:xfrm>
          <a:prstGeom prst="roundRect">
            <a:avLst>
              <a:gd name="adj" fmla="val 9091"/>
            </a:avLst>
          </a:prstGeom>
          <a:solidFill>
            <a:srgbClr val="F3F4F6"/>
          </a:solidFill>
          <a:ln w="12700">
            <a:solidFill>
              <a:srgbClr val="F3F4F6"/>
            </a:solidFill>
            <a:prstDash val="solid"/>
          </a:ln>
        </p:spPr>
      </p:sp>
      <p:sp>
        <p:nvSpPr>
          <p:cNvPr id="36" name="Text 34"/>
          <p:cNvSpPr txBox="1"/>
          <p:nvPr/>
        </p:nvSpPr>
        <p:spPr>
          <a:xfrm>
            <a:off x="8171688"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Units</a:t>
            </a:r>
            <a:endParaRPr lang="en-US" sz="1050" dirty="0"/>
          </a:p>
        </p:txBody>
      </p:sp>
      <p:sp>
        <p:nvSpPr>
          <p:cNvPr id="37" name="Text 35"/>
          <p:cNvSpPr txBox="1"/>
          <p:nvPr/>
        </p:nvSpPr>
        <p:spPr>
          <a:xfrm>
            <a:off x="8171688"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53</a:t>
            </a:r>
            <a:endParaRPr lang="en-US" sz="1800" dirty="0"/>
          </a:p>
        </p:txBody>
      </p:sp>
      <p:sp>
        <p:nvSpPr>
          <p:cNvPr id="38" name="Text 36"/>
          <p:cNvSpPr txBox="1"/>
          <p:nvPr/>
        </p:nvSpPr>
        <p:spPr>
          <a:xfrm>
            <a:off x="548640" y="3520440"/>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Ratios</a:t>
            </a:r>
            <a:endParaRPr lang="en-US" sz="1500" dirty="0"/>
          </a:p>
        </p:txBody>
      </p:sp>
      <p:sp>
        <p:nvSpPr>
          <p:cNvPr id="39" name="Shape 37"/>
          <p:cNvSpPr/>
          <p:nvPr/>
        </p:nvSpPr>
        <p:spPr>
          <a:xfrm>
            <a:off x="548640" y="3867912"/>
            <a:ext cx="1734312" cy="804672"/>
          </a:xfrm>
          <a:prstGeom prst="roundRect">
            <a:avLst>
              <a:gd name="adj" fmla="val 9091"/>
            </a:avLst>
          </a:prstGeom>
          <a:solidFill>
            <a:srgbClr val="F5F3FF"/>
          </a:solidFill>
          <a:ln w="12700">
            <a:solidFill>
              <a:srgbClr val="F5F3FF"/>
            </a:solidFill>
            <a:prstDash val="solid"/>
          </a:ln>
        </p:spPr>
      </p:sp>
      <p:sp>
        <p:nvSpPr>
          <p:cNvPr id="40" name="Text 38"/>
          <p:cNvSpPr txBox="1"/>
          <p:nvPr/>
        </p:nvSpPr>
        <p:spPr>
          <a:xfrm>
            <a:off x="68580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trip</a:t>
            </a:r>
            <a:endParaRPr lang="en-US" sz="1050" dirty="0"/>
          </a:p>
        </p:txBody>
      </p:sp>
      <p:sp>
        <p:nvSpPr>
          <p:cNvPr id="41" name="Text 39"/>
          <p:cNvSpPr txBox="1"/>
          <p:nvPr/>
        </p:nvSpPr>
        <p:spPr>
          <a:xfrm>
            <a:off x="68580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9.92</a:t>
            </a:r>
            <a:endParaRPr lang="en-US" sz="1800" dirty="0"/>
          </a:p>
        </p:txBody>
      </p:sp>
      <p:sp>
        <p:nvSpPr>
          <p:cNvPr id="42" name="Shape 40"/>
          <p:cNvSpPr/>
          <p:nvPr/>
        </p:nvSpPr>
        <p:spPr>
          <a:xfrm>
            <a:off x="2420112" y="3867912"/>
            <a:ext cx="1734312" cy="804672"/>
          </a:xfrm>
          <a:prstGeom prst="roundRect">
            <a:avLst>
              <a:gd name="adj" fmla="val 9091"/>
            </a:avLst>
          </a:prstGeom>
          <a:solidFill>
            <a:srgbClr val="F5F3FF"/>
          </a:solidFill>
          <a:ln w="12700">
            <a:solidFill>
              <a:srgbClr val="F5F3FF"/>
            </a:solidFill>
            <a:prstDash val="solid"/>
          </a:ln>
        </p:spPr>
      </p:sp>
      <p:sp>
        <p:nvSpPr>
          <p:cNvPr id="43" name="Text 41"/>
          <p:cNvSpPr txBox="1"/>
          <p:nvPr/>
        </p:nvSpPr>
        <p:spPr>
          <a:xfrm>
            <a:off x="2557272"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trip</a:t>
            </a:r>
            <a:endParaRPr lang="en-US" sz="1050" dirty="0"/>
          </a:p>
        </p:txBody>
      </p:sp>
      <p:sp>
        <p:nvSpPr>
          <p:cNvPr id="44" name="Text 42"/>
          <p:cNvSpPr txBox="1"/>
          <p:nvPr/>
        </p:nvSpPr>
        <p:spPr>
          <a:xfrm>
            <a:off x="2557272"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7,017 lbs</a:t>
            </a:r>
            <a:endParaRPr lang="en-US" sz="1800" dirty="0"/>
          </a:p>
        </p:txBody>
      </p:sp>
      <p:sp>
        <p:nvSpPr>
          <p:cNvPr id="45" name="Shape 43"/>
          <p:cNvSpPr/>
          <p:nvPr/>
        </p:nvSpPr>
        <p:spPr>
          <a:xfrm>
            <a:off x="4291584" y="3867912"/>
            <a:ext cx="1734312" cy="804672"/>
          </a:xfrm>
          <a:prstGeom prst="roundRect">
            <a:avLst>
              <a:gd name="adj" fmla="val 9091"/>
            </a:avLst>
          </a:prstGeom>
          <a:solidFill>
            <a:srgbClr val="F5F3FF"/>
          </a:solidFill>
          <a:ln w="12700">
            <a:solidFill>
              <a:srgbClr val="F5F3FF"/>
            </a:solidFill>
            <a:prstDash val="solid"/>
          </a:ln>
        </p:spPr>
      </p:sp>
      <p:sp>
        <p:nvSpPr>
          <p:cNvPr id="46" name="Text 44"/>
          <p:cNvSpPr txBox="1"/>
          <p:nvPr/>
        </p:nvSpPr>
        <p:spPr>
          <a:xfrm>
            <a:off x="4428744"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trip</a:t>
            </a:r>
            <a:endParaRPr lang="en-US" sz="1050" dirty="0"/>
          </a:p>
        </p:txBody>
      </p:sp>
      <p:sp>
        <p:nvSpPr>
          <p:cNvPr id="47" name="Text 45"/>
          <p:cNvSpPr txBox="1"/>
          <p:nvPr/>
        </p:nvSpPr>
        <p:spPr>
          <a:xfrm>
            <a:off x="4428744"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109.1</a:t>
            </a:r>
            <a:endParaRPr lang="en-US" sz="1800" dirty="0"/>
          </a:p>
        </p:txBody>
      </p:sp>
      <p:sp>
        <p:nvSpPr>
          <p:cNvPr id="48" name="Shape 46"/>
          <p:cNvSpPr/>
          <p:nvPr/>
        </p:nvSpPr>
        <p:spPr>
          <a:xfrm>
            <a:off x="6163056" y="3867912"/>
            <a:ext cx="1734312" cy="804672"/>
          </a:xfrm>
          <a:prstGeom prst="roundRect">
            <a:avLst>
              <a:gd name="adj" fmla="val 9091"/>
            </a:avLst>
          </a:prstGeom>
          <a:solidFill>
            <a:srgbClr val="F5F3FF"/>
          </a:solidFill>
          <a:ln w="12700">
            <a:solidFill>
              <a:srgbClr val="F5F3FF"/>
            </a:solidFill>
            <a:prstDash val="solid"/>
          </a:ln>
        </p:spPr>
      </p:sp>
      <p:sp>
        <p:nvSpPr>
          <p:cNvPr id="49" name="Text 47"/>
          <p:cNvSpPr txBox="1"/>
          <p:nvPr/>
        </p:nvSpPr>
        <p:spPr>
          <a:xfrm>
            <a:off x="6300216"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 / trip</a:t>
            </a:r>
            <a:endParaRPr lang="en-US" sz="1050" dirty="0"/>
          </a:p>
        </p:txBody>
      </p:sp>
      <p:sp>
        <p:nvSpPr>
          <p:cNvPr id="50" name="Text 48"/>
          <p:cNvSpPr txBox="1"/>
          <p:nvPr/>
        </p:nvSpPr>
        <p:spPr>
          <a:xfrm>
            <a:off x="6300216"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13.83</a:t>
            </a:r>
            <a:endParaRPr lang="en-US" sz="1800" dirty="0"/>
          </a:p>
        </p:txBody>
      </p:sp>
      <p:sp>
        <p:nvSpPr>
          <p:cNvPr id="51" name="Shape 49"/>
          <p:cNvSpPr/>
          <p:nvPr/>
        </p:nvSpPr>
        <p:spPr>
          <a:xfrm>
            <a:off x="8034528" y="3867912"/>
            <a:ext cx="1734312" cy="804672"/>
          </a:xfrm>
          <a:prstGeom prst="roundRect">
            <a:avLst>
              <a:gd name="adj" fmla="val 9091"/>
            </a:avLst>
          </a:prstGeom>
          <a:solidFill>
            <a:srgbClr val="F5F3FF"/>
          </a:solidFill>
          <a:ln w="12700">
            <a:solidFill>
              <a:srgbClr val="F5F3FF"/>
            </a:solidFill>
            <a:prstDash val="solid"/>
          </a:ln>
        </p:spPr>
      </p:sp>
      <p:sp>
        <p:nvSpPr>
          <p:cNvPr id="52" name="Text 50"/>
          <p:cNvSpPr txBox="1"/>
          <p:nvPr/>
        </p:nvSpPr>
        <p:spPr>
          <a:xfrm>
            <a:off x="8171688"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 / trip</a:t>
            </a:r>
            <a:endParaRPr lang="en-US" sz="1050" dirty="0"/>
          </a:p>
        </p:txBody>
      </p:sp>
      <p:sp>
        <p:nvSpPr>
          <p:cNvPr id="53" name="Text 51"/>
          <p:cNvSpPr txBox="1"/>
          <p:nvPr/>
        </p:nvSpPr>
        <p:spPr>
          <a:xfrm>
            <a:off x="8171688"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9.19</a:t>
            </a:r>
            <a:endParaRPr lang="en-US" sz="1800" dirty="0"/>
          </a:p>
        </p:txBody>
      </p:sp>
      <p:sp>
        <p:nvSpPr>
          <p:cNvPr id="54" name="Shape 52"/>
          <p:cNvSpPr/>
          <p:nvPr/>
        </p:nvSpPr>
        <p:spPr>
          <a:xfrm>
            <a:off x="9906000" y="3867912"/>
            <a:ext cx="1734312" cy="804672"/>
          </a:xfrm>
          <a:prstGeom prst="roundRect">
            <a:avLst>
              <a:gd name="adj" fmla="val 9091"/>
            </a:avLst>
          </a:prstGeom>
          <a:solidFill>
            <a:srgbClr val="F5F3FF"/>
          </a:solidFill>
          <a:ln w="12700">
            <a:solidFill>
              <a:srgbClr val="F5F3FF"/>
            </a:solidFill>
            <a:prstDash val="solid"/>
          </a:ln>
        </p:spPr>
      </p:sp>
      <p:sp>
        <p:nvSpPr>
          <p:cNvPr id="55" name="Text 53"/>
          <p:cNvSpPr txBox="1"/>
          <p:nvPr/>
        </p:nvSpPr>
        <p:spPr>
          <a:xfrm>
            <a:off x="1004316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 / trip</a:t>
            </a:r>
            <a:endParaRPr lang="en-US" sz="1050" dirty="0"/>
          </a:p>
        </p:txBody>
      </p:sp>
      <p:sp>
        <p:nvSpPr>
          <p:cNvPr id="56" name="Text 54"/>
          <p:cNvSpPr txBox="1"/>
          <p:nvPr/>
        </p:nvSpPr>
        <p:spPr>
          <a:xfrm>
            <a:off x="1004316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5.70</a:t>
            </a:r>
            <a:endParaRPr lang="en-US" sz="1800" dirty="0"/>
          </a:p>
        </p:txBody>
      </p:sp>
      <p:sp>
        <p:nvSpPr>
          <p:cNvPr id="57" name="Shape 55"/>
          <p:cNvSpPr/>
          <p:nvPr/>
        </p:nvSpPr>
        <p:spPr>
          <a:xfrm>
            <a:off x="548640" y="4782312"/>
            <a:ext cx="1734312" cy="804672"/>
          </a:xfrm>
          <a:prstGeom prst="roundRect">
            <a:avLst>
              <a:gd name="adj" fmla="val 9091"/>
            </a:avLst>
          </a:prstGeom>
          <a:solidFill>
            <a:srgbClr val="F5F3FF"/>
          </a:solidFill>
          <a:ln w="12700">
            <a:solidFill>
              <a:srgbClr val="F5F3FF"/>
            </a:solidFill>
            <a:prstDash val="solid"/>
          </a:ln>
        </p:spPr>
      </p:sp>
      <p:sp>
        <p:nvSpPr>
          <p:cNvPr id="58" name="Text 56"/>
          <p:cNvSpPr txBox="1"/>
          <p:nvPr/>
        </p:nvSpPr>
        <p:spPr>
          <a:xfrm>
            <a:off x="68580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stop</a:t>
            </a:r>
            <a:endParaRPr lang="en-US" sz="1050" dirty="0"/>
          </a:p>
        </p:txBody>
      </p:sp>
      <p:sp>
        <p:nvSpPr>
          <p:cNvPr id="59" name="Text 57"/>
          <p:cNvSpPr txBox="1"/>
          <p:nvPr/>
        </p:nvSpPr>
        <p:spPr>
          <a:xfrm>
            <a:off x="68580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16.82</a:t>
            </a:r>
            <a:endParaRPr lang="en-US" sz="1800" dirty="0"/>
          </a:p>
        </p:txBody>
      </p:sp>
      <p:sp>
        <p:nvSpPr>
          <p:cNvPr id="60" name="Shape 58"/>
          <p:cNvSpPr/>
          <p:nvPr/>
        </p:nvSpPr>
        <p:spPr>
          <a:xfrm>
            <a:off x="2420112" y="4782312"/>
            <a:ext cx="1734312" cy="804672"/>
          </a:xfrm>
          <a:prstGeom prst="roundRect">
            <a:avLst>
              <a:gd name="adj" fmla="val 9091"/>
            </a:avLst>
          </a:prstGeom>
          <a:solidFill>
            <a:srgbClr val="F5F3FF"/>
          </a:solidFill>
          <a:ln w="12700">
            <a:solidFill>
              <a:srgbClr val="F5F3FF"/>
            </a:solidFill>
            <a:prstDash val="solid"/>
          </a:ln>
        </p:spPr>
      </p:sp>
      <p:sp>
        <p:nvSpPr>
          <p:cNvPr id="61" name="Text 59"/>
          <p:cNvSpPr txBox="1"/>
          <p:nvPr/>
        </p:nvSpPr>
        <p:spPr>
          <a:xfrm>
            <a:off x="2557272"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stop</a:t>
            </a:r>
            <a:endParaRPr lang="en-US" sz="1050" dirty="0"/>
          </a:p>
        </p:txBody>
      </p:sp>
      <p:sp>
        <p:nvSpPr>
          <p:cNvPr id="62" name="Text 60"/>
          <p:cNvSpPr txBox="1"/>
          <p:nvPr/>
        </p:nvSpPr>
        <p:spPr>
          <a:xfrm>
            <a:off x="2557272"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707 lbs</a:t>
            </a:r>
            <a:endParaRPr lang="en-US" sz="1800" dirty="0"/>
          </a:p>
        </p:txBody>
      </p:sp>
      <p:sp>
        <p:nvSpPr>
          <p:cNvPr id="63" name="Shape 61"/>
          <p:cNvSpPr/>
          <p:nvPr/>
        </p:nvSpPr>
        <p:spPr>
          <a:xfrm>
            <a:off x="4291584" y="4782312"/>
            <a:ext cx="1734312" cy="804672"/>
          </a:xfrm>
          <a:prstGeom prst="roundRect">
            <a:avLst>
              <a:gd name="adj" fmla="val 9091"/>
            </a:avLst>
          </a:prstGeom>
          <a:solidFill>
            <a:srgbClr val="F5F3FF"/>
          </a:solidFill>
          <a:ln w="12700">
            <a:solidFill>
              <a:srgbClr val="F5F3FF"/>
            </a:solidFill>
            <a:prstDash val="solid"/>
          </a:ln>
        </p:spPr>
      </p:sp>
      <p:sp>
        <p:nvSpPr>
          <p:cNvPr id="64" name="Text 62"/>
          <p:cNvSpPr txBox="1"/>
          <p:nvPr/>
        </p:nvSpPr>
        <p:spPr>
          <a:xfrm>
            <a:off x="4428744"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bill</a:t>
            </a:r>
            <a:endParaRPr lang="en-US" sz="1050" dirty="0"/>
          </a:p>
        </p:txBody>
      </p:sp>
      <p:sp>
        <p:nvSpPr>
          <p:cNvPr id="65" name="Text 63"/>
          <p:cNvSpPr txBox="1"/>
          <p:nvPr/>
        </p:nvSpPr>
        <p:spPr>
          <a:xfrm>
            <a:off x="4428744"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507 lbs</a:t>
            </a:r>
            <a:endParaRPr lang="en-US" sz="1800" dirty="0"/>
          </a:p>
        </p:txBody>
      </p:sp>
      <p:sp>
        <p:nvSpPr>
          <p:cNvPr id="66" name="Shape 64"/>
          <p:cNvSpPr/>
          <p:nvPr/>
        </p:nvSpPr>
        <p:spPr>
          <a:xfrm>
            <a:off x="6163056" y="4782312"/>
            <a:ext cx="1734312" cy="804672"/>
          </a:xfrm>
          <a:prstGeom prst="roundRect">
            <a:avLst>
              <a:gd name="adj" fmla="val 9091"/>
            </a:avLst>
          </a:prstGeom>
          <a:solidFill>
            <a:srgbClr val="F5F3FF"/>
          </a:solidFill>
          <a:ln w="12700">
            <a:solidFill>
              <a:srgbClr val="F5F3FF"/>
            </a:solidFill>
            <a:prstDash val="solid"/>
          </a:ln>
        </p:spPr>
      </p:sp>
      <p:sp>
        <p:nvSpPr>
          <p:cNvPr id="67" name="Text 65"/>
          <p:cNvSpPr txBox="1"/>
          <p:nvPr/>
        </p:nvSpPr>
        <p:spPr>
          <a:xfrm>
            <a:off x="6300216"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hour</a:t>
            </a:r>
            <a:endParaRPr lang="en-US" sz="1050" dirty="0"/>
          </a:p>
        </p:txBody>
      </p:sp>
      <p:sp>
        <p:nvSpPr>
          <p:cNvPr id="68" name="Text 66"/>
          <p:cNvSpPr txBox="1"/>
          <p:nvPr/>
        </p:nvSpPr>
        <p:spPr>
          <a:xfrm>
            <a:off x="6300216"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35.13</a:t>
            </a:r>
            <a:endParaRPr lang="en-US" sz="1800" dirty="0"/>
          </a:p>
        </p:txBody>
      </p:sp>
      <p:sp>
        <p:nvSpPr>
          <p:cNvPr id="69" name="Shape 67"/>
          <p:cNvSpPr/>
          <p:nvPr/>
        </p:nvSpPr>
        <p:spPr>
          <a:xfrm>
            <a:off x="8034528" y="4782312"/>
            <a:ext cx="1734312" cy="804672"/>
          </a:xfrm>
          <a:prstGeom prst="roundRect">
            <a:avLst>
              <a:gd name="adj" fmla="val 9091"/>
            </a:avLst>
          </a:prstGeom>
          <a:solidFill>
            <a:srgbClr val="F5F3FF"/>
          </a:solidFill>
          <a:ln w="12700">
            <a:solidFill>
              <a:srgbClr val="F5F3FF"/>
            </a:solidFill>
            <a:prstDash val="solid"/>
          </a:ln>
        </p:spPr>
      </p:sp>
      <p:sp>
        <p:nvSpPr>
          <p:cNvPr id="70" name="Text 68"/>
          <p:cNvSpPr txBox="1"/>
          <p:nvPr/>
        </p:nvSpPr>
        <p:spPr>
          <a:xfrm>
            <a:off x="8171688"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hour</a:t>
            </a:r>
            <a:endParaRPr lang="en-US" sz="1050" dirty="0"/>
          </a:p>
        </p:txBody>
      </p:sp>
      <p:sp>
        <p:nvSpPr>
          <p:cNvPr id="71" name="Text 69"/>
          <p:cNvSpPr txBox="1"/>
          <p:nvPr/>
        </p:nvSpPr>
        <p:spPr>
          <a:xfrm>
            <a:off x="8171688"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2.09</a:t>
            </a:r>
            <a:endParaRPr lang="en-US" sz="1800" dirty="0"/>
          </a:p>
        </p:txBody>
      </p:sp>
      <p:sp>
        <p:nvSpPr>
          <p:cNvPr id="72" name="Shape 70"/>
          <p:cNvSpPr/>
          <p:nvPr/>
        </p:nvSpPr>
        <p:spPr>
          <a:xfrm>
            <a:off x="9906000" y="4782312"/>
            <a:ext cx="1734312" cy="804672"/>
          </a:xfrm>
          <a:prstGeom prst="roundRect">
            <a:avLst>
              <a:gd name="adj" fmla="val 9091"/>
            </a:avLst>
          </a:prstGeom>
          <a:solidFill>
            <a:srgbClr val="F5F3FF"/>
          </a:solidFill>
          <a:ln w="12700">
            <a:solidFill>
              <a:srgbClr val="F5F3FF"/>
            </a:solidFill>
            <a:prstDash val="solid"/>
          </a:ln>
        </p:spPr>
      </p:sp>
      <p:sp>
        <p:nvSpPr>
          <p:cNvPr id="73" name="Text 71"/>
          <p:cNvSpPr txBox="1"/>
          <p:nvPr/>
        </p:nvSpPr>
        <p:spPr>
          <a:xfrm>
            <a:off x="1004316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 / trip</a:t>
            </a:r>
            <a:endParaRPr lang="en-US" sz="1050" dirty="0"/>
          </a:p>
        </p:txBody>
      </p:sp>
      <p:sp>
        <p:nvSpPr>
          <p:cNvPr id="74" name="Text 72"/>
          <p:cNvSpPr txBox="1"/>
          <p:nvPr/>
        </p:nvSpPr>
        <p:spPr>
          <a:xfrm>
            <a:off x="1004316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4.75</a:t>
            </a:r>
            <a:endParaRPr lang="en-US" sz="1800" dirty="0"/>
          </a:p>
        </p:txBody>
      </p:sp>
      <p:sp>
        <p:nvSpPr>
          <p:cNvPr id="75" name="Text 7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P&amp;D daily totals dashboard — Mississauga, F27 Q1 (Jul–Sep 2026).</a:t>
            </a:r>
            <a:endParaRPr lang="en-US" sz="950" dirty="0"/>
          </a:p>
        </p:txBody>
      </p:sp>
      <p:sp>
        <p:nvSpPr>
          <p:cNvPr id="76" name="Text 7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77" name="Text 7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24</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outbound, F27 Jul–Sep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LF score = % of loads with load factor &gt;80% · Load % = average load percentage · ex-Moncton and band figures calculated from the report</a:t>
            </a:r>
            <a:endParaRPr lang="en-US" sz="1200" dirty="0"/>
          </a:p>
        </p:txBody>
      </p:sp>
      <p:sp>
        <p:nvSpPr>
          <p:cNvPr id="5" name="Shape 3"/>
          <p:cNvSpPr/>
          <p:nvPr/>
        </p:nvSpPr>
        <p:spPr>
          <a:xfrm>
            <a:off x="548640" y="1600200"/>
            <a:ext cx="2635758" cy="1097280"/>
          </a:xfrm>
          <a:prstGeom prst="roundRect">
            <a:avLst>
              <a:gd name="adj" fmla="val 6667"/>
            </a:avLst>
          </a:prstGeom>
          <a:solidFill>
            <a:srgbClr val="F3F4F6"/>
          </a:solidFill>
          <a:ln w="12700">
            <a:solidFill>
              <a:srgbClr val="F3F4F6"/>
            </a:solidFill>
            <a:prstDash val="solid"/>
          </a:ln>
        </p:spPr>
      </p:sp>
      <p:sp>
        <p:nvSpPr>
          <p:cNvPr id="6" name="Text 4"/>
          <p:cNvSpPr txBox="1"/>
          <p:nvPr/>
        </p:nvSpPr>
        <p:spPr>
          <a:xfrm>
            <a:off x="731520"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a:t>
            </a:r>
            <a:endParaRPr lang="en-US" sz="1100" dirty="0"/>
          </a:p>
        </p:txBody>
      </p:sp>
      <p:sp>
        <p:nvSpPr>
          <p:cNvPr id="7" name="Text 5"/>
          <p:cNvSpPr txBox="1"/>
          <p:nvPr/>
        </p:nvSpPr>
        <p:spPr>
          <a:xfrm>
            <a:off x="731520"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36.4%</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39.5%</a:t>
            </a:r>
            <a:endParaRPr lang="en-US" sz="1600" dirty="0"/>
          </a:p>
        </p:txBody>
      </p:sp>
      <p:sp>
        <p:nvSpPr>
          <p:cNvPr id="8" name="Text 6"/>
          <p:cNvSpPr txBox="1"/>
          <p:nvPr/>
        </p:nvSpPr>
        <p:spPr>
          <a:xfrm>
            <a:off x="731520"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9" name="Shape 7"/>
          <p:cNvSpPr/>
          <p:nvPr/>
        </p:nvSpPr>
        <p:spPr>
          <a:xfrm>
            <a:off x="3367278" y="1600200"/>
            <a:ext cx="2635758" cy="1097280"/>
          </a:xfrm>
          <a:prstGeom prst="roundRect">
            <a:avLst>
              <a:gd name="adj" fmla="val 6667"/>
            </a:avLst>
          </a:prstGeom>
          <a:solidFill>
            <a:srgbClr val="F3F4F6"/>
          </a:solidFill>
          <a:ln w="12700">
            <a:solidFill>
              <a:srgbClr val="F3F4F6"/>
            </a:solidFill>
            <a:prstDash val="solid"/>
          </a:ln>
        </p:spPr>
      </p:sp>
      <p:sp>
        <p:nvSpPr>
          <p:cNvPr id="10" name="Text 8"/>
          <p:cNvSpPr txBox="1"/>
          <p:nvPr/>
        </p:nvSpPr>
        <p:spPr>
          <a:xfrm>
            <a:off x="3550158"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Average load %</a:t>
            </a:r>
            <a:endParaRPr lang="en-US" sz="1100" dirty="0"/>
          </a:p>
        </p:txBody>
      </p:sp>
      <p:sp>
        <p:nvSpPr>
          <p:cNvPr id="11" name="Text 9"/>
          <p:cNvSpPr txBox="1"/>
          <p:nvPr/>
        </p:nvSpPr>
        <p:spPr>
          <a:xfrm>
            <a:off x="3550158"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74.9%</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75.8%</a:t>
            </a:r>
            <a:endParaRPr lang="en-US" sz="1600" dirty="0"/>
          </a:p>
        </p:txBody>
      </p:sp>
      <p:sp>
        <p:nvSpPr>
          <p:cNvPr id="12" name="Text 10"/>
          <p:cNvSpPr txBox="1"/>
          <p:nvPr/>
        </p:nvSpPr>
        <p:spPr>
          <a:xfrm>
            <a:off x="3550158"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13" name="Shape 11"/>
          <p:cNvSpPr/>
          <p:nvPr/>
        </p:nvSpPr>
        <p:spPr>
          <a:xfrm>
            <a:off x="6185916" y="1600200"/>
            <a:ext cx="2635758" cy="1097280"/>
          </a:xfrm>
          <a:prstGeom prst="roundRect">
            <a:avLst>
              <a:gd name="adj" fmla="val 6667"/>
            </a:avLst>
          </a:prstGeom>
          <a:solidFill>
            <a:srgbClr val="F3F4F6"/>
          </a:solidFill>
          <a:ln w="12700">
            <a:solidFill>
              <a:srgbClr val="F3F4F6"/>
            </a:solidFill>
            <a:prstDash val="solid"/>
          </a:ln>
        </p:spPr>
      </p:sp>
      <p:sp>
        <p:nvSpPr>
          <p:cNvPr id="14" name="Text 12"/>
          <p:cNvSpPr txBox="1"/>
          <p:nvPr/>
        </p:nvSpPr>
        <p:spPr>
          <a:xfrm>
            <a:off x="6368796"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 by distance band</a:t>
            </a:r>
            <a:endParaRPr lang="en-US" sz="1100" dirty="0"/>
          </a:p>
        </p:txBody>
      </p:sp>
      <p:sp>
        <p:nvSpPr>
          <p:cNvPr id="15" name="Text 13"/>
          <p:cNvSpPr txBox="1"/>
          <p:nvPr/>
        </p:nvSpPr>
        <p:spPr>
          <a:xfrm>
            <a:off x="6368796" y="1947672"/>
            <a:ext cx="2269998" cy="438912"/>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53.8%</a:t>
            </a:r>
            <a:pPr indent="0" marL="0">
              <a:buNone/>
            </a:pPr>
            <a:r>
              <a:rPr lang="en-US" sz="1100" dirty="0">
                <a:solidFill>
                  <a:srgbClr val="6B7280"/>
                </a:solidFill>
                <a:latin typeface="Calibri" pitchFamily="34" charset="0"/>
                <a:ea typeface="Calibri" pitchFamily="34" charset="-122"/>
                <a:cs typeface="Calibri" pitchFamily="34" charset="-120"/>
              </a:rPr>
              <a:t>  &gt;1,000</a:t>
            </a:r>
            <a:endParaRPr lang="en-US" sz="2200" dirty="0"/>
          </a:p>
        </p:txBody>
      </p:sp>
      <p:sp>
        <p:nvSpPr>
          <p:cNvPr id="16" name="Text 14"/>
          <p:cNvSpPr txBox="1"/>
          <p:nvPr/>
        </p:nvSpPr>
        <p:spPr>
          <a:xfrm>
            <a:off x="6368796"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&lt;500: 32.1% · &lt;1,000: 18.9%</a:t>
            </a:r>
            <a:endParaRPr lang="en-US" sz="1000" dirty="0"/>
          </a:p>
        </p:txBody>
      </p:sp>
      <p:sp>
        <p:nvSpPr>
          <p:cNvPr id="17" name="Shape 15"/>
          <p:cNvSpPr/>
          <p:nvPr/>
        </p:nvSpPr>
        <p:spPr>
          <a:xfrm>
            <a:off x="9004554" y="1600200"/>
            <a:ext cx="2635758" cy="1097280"/>
          </a:xfrm>
          <a:prstGeom prst="roundRect">
            <a:avLst>
              <a:gd name="adj" fmla="val 6667"/>
            </a:avLst>
          </a:prstGeom>
          <a:solidFill>
            <a:srgbClr val="F3F4F6"/>
          </a:solidFill>
          <a:ln w="12700">
            <a:solidFill>
              <a:srgbClr val="F3F4F6"/>
            </a:solidFill>
            <a:prstDash val="solid"/>
          </a:ln>
        </p:spPr>
      </p:sp>
      <p:sp>
        <p:nvSpPr>
          <p:cNvPr id="18" name="Text 16"/>
          <p:cNvSpPr txBox="1"/>
          <p:nvPr/>
        </p:nvSpPr>
        <p:spPr>
          <a:xfrm>
            <a:off x="9187434"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Outbound loads</a:t>
            </a:r>
            <a:endParaRPr lang="en-US" sz="1100" dirty="0"/>
          </a:p>
        </p:txBody>
      </p:sp>
      <p:sp>
        <p:nvSpPr>
          <p:cNvPr id="19" name="Text 17"/>
          <p:cNvSpPr txBox="1"/>
          <p:nvPr/>
        </p:nvSpPr>
        <p:spPr>
          <a:xfrm>
            <a:off x="9187434" y="1947672"/>
            <a:ext cx="2269998" cy="438912"/>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854</a:t>
            </a:r>
            <a:endParaRPr lang="en-US" sz="2400" dirty="0"/>
          </a:p>
        </p:txBody>
      </p:sp>
      <p:sp>
        <p:nvSpPr>
          <p:cNvPr id="20" name="Text 18"/>
          <p:cNvSpPr txBox="1"/>
          <p:nvPr/>
        </p:nvSpPr>
        <p:spPr>
          <a:xfrm>
            <a:off x="9187434"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311 loads &gt;80% · 686 ex-Moncton</a:t>
            </a:r>
            <a:endParaRPr lang="en-US" sz="1000" dirty="0"/>
          </a:p>
        </p:txBody>
      </p:sp>
      <p:graphicFrame>
        <p:nvGraphicFramePr>
          <p:cNvPr id="21" name="Chart 0" descr=""/>
          <p:cNvGraphicFramePr/>
          <p:nvPr/>
        </p:nvGraphicFramePr>
        <p:xfrm>
          <a:off x="548640" y="2880360"/>
          <a:ext cx="5852160" cy="306324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6675120" y="2880360"/>
            <a:ext cx="4965192" cy="914400"/>
          </a:xfrm>
          <a:prstGeom prst="roundRect">
            <a:avLst>
              <a:gd name="adj" fmla="val 8000"/>
            </a:avLst>
          </a:prstGeom>
          <a:solidFill>
            <a:srgbClr val="F3F4F6"/>
          </a:solidFill>
          <a:ln w="12700">
            <a:solidFill>
              <a:srgbClr val="F3F4F6"/>
            </a:solidFill>
            <a:prstDash val="solid"/>
          </a:ln>
        </p:spPr>
      </p:sp>
      <p:sp>
        <p:nvSpPr>
          <p:cNvPr id="23" name="Text 20"/>
          <p:cNvSpPr txBox="1"/>
          <p:nvPr/>
        </p:nvSpPr>
        <p:spPr>
          <a:xfrm>
            <a:off x="6858000" y="2880360"/>
            <a:ext cx="4663440" cy="914400"/>
          </a:xfrm>
          <a:prstGeom prst="rect">
            <a:avLst/>
          </a:prstGeom>
          <a:noFill/>
          <a:ln/>
        </p:spPr>
        <p:txBody>
          <a:bodyPr wrap="square" lIns="0" tIns="0" rIns="0" bIns="0" rtlCol="0" anchor="ctr"/>
          <a:lstStyle/>
          <a:p>
            <a:pPr indent="0" marL="0">
              <a:spcAft>
                <a:spcPts val="400"/>
              </a:spcAft>
              <a:buNone/>
            </a:pPr>
            <a:r>
              <a:rPr lang="en-US" sz="1300" b="1" dirty="0">
                <a:solidFill>
                  <a:srgbClr val="059669"/>
                </a:solidFill>
                <a:latin typeface="Calibri" pitchFamily="34" charset="0"/>
                <a:ea typeface="Calibri" pitchFamily="34" charset="-122"/>
                <a:cs typeface="Calibri" pitchFamily="34" charset="-120"/>
              </a:rPr>
              <a:t>Strong: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Burnaby · Winnipeg · Calgary</a:t>
            </a:r>
            <a:endParaRPr lang="en-US" sz="1300" dirty="0"/>
          </a:p>
          <a:p>
            <a:pPr indent="0" marL="0">
              <a:spcAft>
                <a:spcPts val="400"/>
              </a:spcAft>
              <a:buNone/>
            </a:pPr>
            <a:r>
              <a:rPr lang="en-US" sz="1300" b="1" dirty="0">
                <a:solidFill>
                  <a:srgbClr val="DC2626"/>
                </a:solidFill>
                <a:latin typeface="Calibri" pitchFamily="34" charset="0"/>
                <a:ea typeface="Calibri" pitchFamily="34" charset="-122"/>
                <a:cs typeface="Calibri" pitchFamily="34" charset="-120"/>
              </a:rPr>
              <a:t>Light: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Windsor · Quebec City · Dartmouth</a:t>
            </a:r>
            <a:endParaRPr lang="en-US" sz="1300" dirty="0"/>
          </a:p>
        </p:txBody>
      </p:sp>
      <p:sp>
        <p:nvSpPr>
          <p:cNvPr id="24" name="Shape 21"/>
          <p:cNvSpPr/>
          <p:nvPr/>
        </p:nvSpPr>
        <p:spPr>
          <a:xfrm>
            <a:off x="6675120" y="3931920"/>
            <a:ext cx="4965192" cy="960120"/>
          </a:xfrm>
          <a:prstGeom prst="roundRect">
            <a:avLst>
              <a:gd name="adj" fmla="val 7619"/>
            </a:avLst>
          </a:prstGeom>
          <a:solidFill>
            <a:srgbClr val="FFFBEB"/>
          </a:solidFill>
          <a:ln w="12700">
            <a:solidFill>
              <a:srgbClr val="FFFBEB"/>
            </a:solidFill>
            <a:prstDash val="solid"/>
          </a:ln>
        </p:spPr>
      </p:sp>
      <p:sp>
        <p:nvSpPr>
          <p:cNvPr id="25" name="Text 22"/>
          <p:cNvSpPr txBox="1"/>
          <p:nvPr/>
        </p:nvSpPr>
        <p:spPr>
          <a:xfrm>
            <a:off x="6858000" y="3931920"/>
            <a:ext cx="4663440" cy="9601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Toyota baseload: </a:t>
            </a:r>
            <a:pPr indent="0" marL="0">
              <a:buNone/>
            </a:pPr>
            <a:r>
              <a:rPr lang="en-US" sz="1200" dirty="0">
                <a:solidFill>
                  <a:srgbClr val="1F2937"/>
                </a:solidFill>
                <a:latin typeface="Calibri" pitchFamily="34" charset="0"/>
                <a:ea typeface="Calibri" pitchFamily="34" charset="-122"/>
                <a:cs typeface="Calibri" pitchFamily="34" charset="-120"/>
              </a:rPr>
              <a:t>footage from Bowmanville not captured correctly — fix under way; Moncton 20.5% of bills no cube vs 3.0% other lanes.</a:t>
            </a:r>
            <a:endParaRPr lang="en-US" sz="1200" dirty="0"/>
          </a:p>
        </p:txBody>
      </p:sp>
      <p:sp>
        <p:nvSpPr>
          <p:cNvPr id="26" name="Shape 23"/>
          <p:cNvSpPr/>
          <p:nvPr/>
        </p:nvSpPr>
        <p:spPr>
          <a:xfrm>
            <a:off x="6675120" y="5029200"/>
            <a:ext cx="4965192" cy="914400"/>
          </a:xfrm>
          <a:prstGeom prst="roundRect">
            <a:avLst>
              <a:gd name="adj" fmla="val 8000"/>
            </a:avLst>
          </a:prstGeom>
          <a:solidFill>
            <a:srgbClr val="F5F3FF"/>
          </a:solidFill>
          <a:ln w="12700">
            <a:solidFill>
              <a:srgbClr val="F5F3FF"/>
            </a:solidFill>
            <a:prstDash val="solid"/>
          </a:ln>
        </p:spPr>
      </p:sp>
      <p:sp>
        <p:nvSpPr>
          <p:cNvPr id="27" name="Text 24"/>
          <p:cNvSpPr txBox="1"/>
          <p:nvPr/>
        </p:nvSpPr>
        <p:spPr>
          <a:xfrm>
            <a:off x="6858000" y="5029200"/>
            <a:ext cx="4663440" cy="914400"/>
          </a:xfrm>
          <a:prstGeom prst="rect">
            <a:avLst/>
          </a:prstGeom>
          <a:noFill/>
          <a:ln/>
        </p:spPr>
        <p:txBody>
          <a:bodyPr wrap="square" lIns="0" tIns="0" rIns="0" bIns="0" rtlCol="0" anchor="ctr"/>
          <a:lstStyle/>
          <a:p>
            <a:pPr indent="0" marL="0">
              <a:buNone/>
            </a:pPr>
            <a:r>
              <a:rPr lang="en-US" sz="1250" b="1" dirty="0">
                <a:solidFill>
                  <a:srgbClr val="111827"/>
                </a:solidFill>
                <a:latin typeface="Calibri" pitchFamily="34" charset="0"/>
                <a:ea typeface="Calibri" pitchFamily="34" charset="-122"/>
                <a:cs typeface="Calibri" pitchFamily="34" charset="-120"/>
              </a:rPr>
              <a:t>Biggest open opportunity: consolidation / frequency review on the light lanes, plus cube capture on Moncton.</a:t>
            </a:r>
            <a:endParaRPr lang="en-US" sz="1250" dirty="0"/>
          </a:p>
        </p:txBody>
      </p:sp>
      <p:sp>
        <p:nvSpPr>
          <p:cNvPr id="28" name="Text 25"/>
          <p:cNvSpPr txBox="1"/>
          <p:nvPr/>
        </p:nvSpPr>
        <p:spPr>
          <a:xfrm>
            <a:off x="548640" y="6144768"/>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Load factor report — Mississauga outbound, F27 Jul–Sep (ready date: all). Distance bands as defined in the report.</a:t>
            </a:r>
            <a:endParaRPr lang="en-US" sz="900" dirty="0"/>
          </a:p>
        </p:txBody>
      </p:sp>
      <p:sp>
        <p:nvSpPr>
          <p:cNvPr id="29" name="Text 2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 / 24</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quality &amp; securement — planned</a:t>
            </a:r>
            <a:endParaRPr lang="en-US" sz="3000" dirty="0"/>
          </a:p>
        </p:txBody>
      </p:sp>
      <p:sp>
        <p:nvSpPr>
          <p:cNvPr id="4" name="Shape 2"/>
          <p:cNvSpPr/>
          <p:nvPr/>
        </p:nvSpPr>
        <p:spPr>
          <a:xfrm>
            <a:off x="548640" y="1371600"/>
            <a:ext cx="1347826" cy="274320"/>
          </a:xfrm>
          <a:prstGeom prst="roundRect">
            <a:avLst>
              <a:gd name="adj" fmla="val 26667"/>
            </a:avLst>
          </a:prstGeom>
          <a:solidFill>
            <a:srgbClr val="D1FAE5"/>
          </a:solidFill>
          <a:ln w="12700">
            <a:solidFill>
              <a:srgbClr val="D1FAE5"/>
            </a:solidFill>
            <a:prstDash val="solid"/>
          </a:ln>
        </p:spPr>
      </p:sp>
      <p:sp>
        <p:nvSpPr>
          <p:cNvPr id="5" name="Text 3"/>
          <p:cNvSpPr txBox="1"/>
          <p:nvPr/>
        </p:nvSpPr>
        <p:spPr>
          <a:xfrm>
            <a:off x="548640"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6" name="Image 0" descr="570260 — deck beam, 2nd tier">    </p:cNvPr>
          <p:cNvPicPr>
            <a:picLocks noChangeAspect="1"/>
          </p:cNvPicPr>
          <p:nvPr/>
        </p:nvPicPr>
        <p:blipFill>
          <a:blip r:embed="rId1"/>
          <a:srcRect l="0" r="0" t="0" b="0"/>
          <a:stretch/>
        </p:blipFill>
        <p:spPr>
          <a:xfrm>
            <a:off x="548640" y="1719072"/>
            <a:ext cx="1347826" cy="1797101"/>
          </a:xfrm>
          <a:prstGeom prst="rect">
            <a:avLst/>
          </a:prstGeom>
        </p:spPr>
      </p:pic>
      <p:sp>
        <p:nvSpPr>
          <p:cNvPr id="7" name="Text 4"/>
          <p:cNvSpPr txBox="1"/>
          <p:nvPr/>
        </p:nvSpPr>
        <p:spPr>
          <a:xfrm>
            <a:off x="548640"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570260 — deck beam, 2nd tier</a:t>
            </a:r>
            <a:endParaRPr lang="en-US" sz="900" dirty="0"/>
          </a:p>
        </p:txBody>
      </p:sp>
      <p:sp>
        <p:nvSpPr>
          <p:cNvPr id="8" name="Shape 5"/>
          <p:cNvSpPr/>
          <p:nvPr/>
        </p:nvSpPr>
        <p:spPr>
          <a:xfrm>
            <a:off x="2006194" y="1371600"/>
            <a:ext cx="1347826" cy="274320"/>
          </a:xfrm>
          <a:prstGeom prst="roundRect">
            <a:avLst>
              <a:gd name="adj" fmla="val 26667"/>
            </a:avLst>
          </a:prstGeom>
          <a:solidFill>
            <a:srgbClr val="D1FAE5"/>
          </a:solidFill>
          <a:ln w="12700">
            <a:solidFill>
              <a:srgbClr val="D1FAE5"/>
            </a:solidFill>
            <a:prstDash val="solid"/>
          </a:ln>
        </p:spPr>
      </p:sp>
      <p:sp>
        <p:nvSpPr>
          <p:cNvPr id="9" name="Text 6"/>
          <p:cNvSpPr txBox="1"/>
          <p:nvPr/>
        </p:nvSpPr>
        <p:spPr>
          <a:xfrm>
            <a:off x="200619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10" name="Image 1" descr="470275 — deck board + strap">    </p:cNvPr>
          <p:cNvPicPr>
            <a:picLocks noChangeAspect="1"/>
          </p:cNvPicPr>
          <p:nvPr/>
        </p:nvPicPr>
        <p:blipFill>
          <a:blip r:embed="rId2"/>
          <a:srcRect l="0" r="0" t="0" b="0"/>
          <a:stretch/>
        </p:blipFill>
        <p:spPr>
          <a:xfrm>
            <a:off x="2006194" y="1719072"/>
            <a:ext cx="1347826" cy="1797101"/>
          </a:xfrm>
          <a:prstGeom prst="rect">
            <a:avLst/>
          </a:prstGeom>
        </p:spPr>
      </p:pic>
      <p:sp>
        <p:nvSpPr>
          <p:cNvPr id="11" name="Text 7"/>
          <p:cNvSpPr txBox="1"/>
          <p:nvPr/>
        </p:nvSpPr>
        <p:spPr>
          <a:xfrm>
            <a:off x="200619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470275 — deck board + strap</a:t>
            </a:r>
            <a:endParaRPr lang="en-US" sz="900" dirty="0"/>
          </a:p>
        </p:txBody>
      </p:sp>
      <p:sp>
        <p:nvSpPr>
          <p:cNvPr id="12" name="Shape 8"/>
          <p:cNvSpPr/>
          <p:nvPr/>
        </p:nvSpPr>
        <p:spPr>
          <a:xfrm>
            <a:off x="3463747" y="1371600"/>
            <a:ext cx="1347826" cy="274320"/>
          </a:xfrm>
          <a:prstGeom prst="roundRect">
            <a:avLst>
              <a:gd name="adj" fmla="val 26667"/>
            </a:avLst>
          </a:prstGeom>
          <a:solidFill>
            <a:srgbClr val="FEE2E2"/>
          </a:solidFill>
          <a:ln w="12700">
            <a:solidFill>
              <a:srgbClr val="FEE2E2"/>
            </a:solidFill>
            <a:prstDash val="solid"/>
          </a:ln>
        </p:spPr>
      </p:sp>
      <p:sp>
        <p:nvSpPr>
          <p:cNvPr id="13" name="Text 9"/>
          <p:cNvSpPr txBox="1"/>
          <p:nvPr/>
        </p:nvSpPr>
        <p:spPr>
          <a:xfrm>
            <a:off x="3463747"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a:t>
            </a:r>
            <a:endParaRPr lang="en-US" sz="1000" dirty="0"/>
          </a:p>
        </p:txBody>
      </p:sp>
      <p:pic>
        <p:nvPicPr>
          <p:cNvPr id="14" name="Image 2" descr="470236 — loose on a diagonal">    </p:cNvPr>
          <p:cNvPicPr>
            <a:picLocks noChangeAspect="1"/>
          </p:cNvPicPr>
          <p:nvPr/>
        </p:nvPicPr>
        <p:blipFill>
          <a:blip r:embed="rId3"/>
          <a:srcRect l="0" r="0" t="0" b="0"/>
          <a:stretch/>
        </p:blipFill>
        <p:spPr>
          <a:xfrm>
            <a:off x="3463747" y="1719072"/>
            <a:ext cx="1347826" cy="1797101"/>
          </a:xfrm>
          <a:prstGeom prst="rect">
            <a:avLst/>
          </a:prstGeom>
        </p:spPr>
      </p:pic>
      <p:sp>
        <p:nvSpPr>
          <p:cNvPr id="15" name="Text 10"/>
          <p:cNvSpPr txBox="1"/>
          <p:nvPr/>
        </p:nvSpPr>
        <p:spPr>
          <a:xfrm>
            <a:off x="3463747"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470236 — loose on a diagonal</a:t>
            </a:r>
            <a:endParaRPr lang="en-US" sz="900" dirty="0"/>
          </a:p>
        </p:txBody>
      </p:sp>
      <p:sp>
        <p:nvSpPr>
          <p:cNvPr id="16" name="Shape 11"/>
          <p:cNvSpPr/>
          <p:nvPr/>
        </p:nvSpPr>
        <p:spPr>
          <a:xfrm>
            <a:off x="4921301" y="1371600"/>
            <a:ext cx="1347826" cy="274320"/>
          </a:xfrm>
          <a:prstGeom prst="roundRect">
            <a:avLst>
              <a:gd name="adj" fmla="val 26667"/>
            </a:avLst>
          </a:prstGeom>
          <a:solidFill>
            <a:srgbClr val="FEE2E2"/>
          </a:solidFill>
          <a:ln w="12700">
            <a:solidFill>
              <a:srgbClr val="FEE2E2"/>
            </a:solidFill>
            <a:prstDash val="solid"/>
          </a:ln>
        </p:spPr>
      </p:sp>
      <p:sp>
        <p:nvSpPr>
          <p:cNvPr id="17" name="Text 12"/>
          <p:cNvSpPr txBox="1"/>
          <p:nvPr/>
        </p:nvSpPr>
        <p:spPr>
          <a:xfrm>
            <a:off x="4921301"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18" name="Image 3" descr="57937 — glass doors on improvised A-frames">    </p:cNvPr>
          <p:cNvPicPr>
            <a:picLocks noChangeAspect="1"/>
          </p:cNvPicPr>
          <p:nvPr/>
        </p:nvPicPr>
        <p:blipFill>
          <a:blip r:embed="rId4"/>
          <a:srcRect l="0" r="0" t="0" b="0"/>
          <a:stretch/>
        </p:blipFill>
        <p:spPr>
          <a:xfrm>
            <a:off x="4921301" y="1719072"/>
            <a:ext cx="1347826" cy="1797101"/>
          </a:xfrm>
          <a:prstGeom prst="rect">
            <a:avLst/>
          </a:prstGeom>
        </p:spPr>
      </p:pic>
      <p:sp>
        <p:nvSpPr>
          <p:cNvPr id="19" name="Text 13"/>
          <p:cNvSpPr txBox="1"/>
          <p:nvPr/>
        </p:nvSpPr>
        <p:spPr>
          <a:xfrm>
            <a:off x="4921301"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57937 — glass doors on improvised A-frames</a:t>
            </a:r>
            <a:endParaRPr lang="en-US" sz="900" dirty="0"/>
          </a:p>
        </p:txBody>
      </p:sp>
      <p:sp>
        <p:nvSpPr>
          <p:cNvPr id="20" name="Shape 14"/>
          <p:cNvSpPr/>
          <p:nvPr/>
        </p:nvSpPr>
        <p:spPr>
          <a:xfrm>
            <a:off x="6378854" y="1371600"/>
            <a:ext cx="1347826" cy="274320"/>
          </a:xfrm>
          <a:prstGeom prst="roundRect">
            <a:avLst>
              <a:gd name="adj" fmla="val 26667"/>
            </a:avLst>
          </a:prstGeom>
          <a:solidFill>
            <a:srgbClr val="FEE2E2"/>
          </a:solidFill>
          <a:ln w="12700">
            <a:solidFill>
              <a:srgbClr val="FEE2E2"/>
            </a:solidFill>
            <a:prstDash val="solid"/>
          </a:ln>
        </p:spPr>
      </p:sp>
      <p:sp>
        <p:nvSpPr>
          <p:cNvPr id="21" name="Text 15"/>
          <p:cNvSpPr txBox="1"/>
          <p:nvPr/>
        </p:nvSpPr>
        <p:spPr>
          <a:xfrm>
            <a:off x="637885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22" name="Image 4" descr="Door boxes leaning / toppling">    </p:cNvPr>
          <p:cNvPicPr>
            <a:picLocks noChangeAspect="1"/>
          </p:cNvPicPr>
          <p:nvPr/>
        </p:nvPicPr>
        <p:blipFill>
          <a:blip r:embed="rId5"/>
          <a:srcRect l="0" r="0" t="0" b="0"/>
          <a:stretch/>
        </p:blipFill>
        <p:spPr>
          <a:xfrm>
            <a:off x="6378854" y="1719072"/>
            <a:ext cx="1347826" cy="1797101"/>
          </a:xfrm>
          <a:prstGeom prst="rect">
            <a:avLst/>
          </a:prstGeom>
        </p:spPr>
      </p:pic>
      <p:sp>
        <p:nvSpPr>
          <p:cNvPr id="23" name="Text 16"/>
          <p:cNvSpPr txBox="1"/>
          <p:nvPr/>
        </p:nvSpPr>
        <p:spPr>
          <a:xfrm>
            <a:off x="637885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Door boxes leaning / toppling</a:t>
            </a:r>
            <a:endParaRPr lang="en-US" sz="900" dirty="0"/>
          </a:p>
        </p:txBody>
      </p:sp>
      <p:sp>
        <p:nvSpPr>
          <p:cNvPr id="24" name="Shape 17"/>
          <p:cNvSpPr/>
          <p:nvPr/>
        </p:nvSpPr>
        <p:spPr>
          <a:xfrm>
            <a:off x="548640" y="4069080"/>
            <a:ext cx="4189781" cy="1965960"/>
          </a:xfrm>
          <a:prstGeom prst="roundRect">
            <a:avLst>
              <a:gd name="adj" fmla="val 3721"/>
            </a:avLst>
          </a:prstGeom>
          <a:solidFill>
            <a:srgbClr val="F5F3FF"/>
          </a:solidFill>
          <a:ln w="12700">
            <a:solidFill>
              <a:srgbClr val="F5F3FF"/>
            </a:solidFill>
            <a:prstDash val="solid"/>
          </a:ln>
        </p:spPr>
      </p:sp>
      <p:sp>
        <p:nvSpPr>
          <p:cNvPr id="25" name="Text 18"/>
          <p:cNvSpPr txBox="1"/>
          <p:nvPr/>
        </p:nvSpPr>
        <p:spPr>
          <a:xfrm>
            <a:off x="731520" y="4114800"/>
            <a:ext cx="3869741" cy="1874520"/>
          </a:xfrm>
          <a:prstGeom prst="rect">
            <a:avLst/>
          </a:prstGeom>
          <a:noFill/>
          <a:ln/>
        </p:spPr>
        <p:txBody>
          <a:bodyPr wrap="square" lIns="0" tIns="0" rIns="0" bIns="0" rtlCol="0" anchor="ctr"/>
          <a:lstStyle/>
          <a:p>
            <a:pPr indent="0" marL="0">
              <a:spcAft>
                <a:spcPts val="400"/>
              </a:spcAft>
              <a:buNone/>
            </a:pPr>
            <a:r>
              <a:rPr lang="en-US" sz="1300" b="1" dirty="0">
                <a:solidFill>
                  <a:srgbClr val="7C3AED"/>
                </a:solidFill>
                <a:latin typeface="Calibri" pitchFamily="34" charset="0"/>
                <a:ea typeface="Calibri" pitchFamily="34" charset="-122"/>
                <a:cs typeface="Calibri" pitchFamily="34" charset="-120"/>
              </a:rPr>
              <a:t>Why</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Uses the top half of the trailer — lifts LF score (36.4% F27).</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Fewer damaged FBs (1.61% 7-day avg) and claims.</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Safer unloading.</a:t>
            </a:r>
            <a:endParaRPr lang="en-US" sz="1200" dirty="0"/>
          </a:p>
        </p:txBody>
      </p:sp>
      <p:sp>
        <p:nvSpPr>
          <p:cNvPr id="26" name="Shape 19"/>
          <p:cNvSpPr/>
          <p:nvPr/>
        </p:nvSpPr>
        <p:spPr>
          <a:xfrm>
            <a:off x="4921301" y="4069080"/>
            <a:ext cx="2805379" cy="1965960"/>
          </a:xfrm>
          <a:prstGeom prst="roundRect">
            <a:avLst>
              <a:gd name="adj" fmla="val 3721"/>
            </a:avLst>
          </a:prstGeom>
          <a:solidFill>
            <a:srgbClr val="FFFBEB"/>
          </a:solidFill>
          <a:ln w="12700">
            <a:solidFill>
              <a:srgbClr val="FFFBEB"/>
            </a:solidFill>
            <a:prstDash val="solid"/>
          </a:ln>
        </p:spPr>
      </p:sp>
      <p:sp>
        <p:nvSpPr>
          <p:cNvPr id="27" name="Text 20"/>
          <p:cNvSpPr txBox="1"/>
          <p:nvPr/>
        </p:nvSpPr>
        <p:spPr>
          <a:xfrm>
            <a:off x="5031029" y="4114800"/>
            <a:ext cx="2585923" cy="1874520"/>
          </a:xfrm>
          <a:prstGeom prst="rect">
            <a:avLst/>
          </a:prstGeom>
          <a:noFill/>
          <a:ln/>
        </p:spPr>
        <p:txBody>
          <a:bodyPr wrap="square" lIns="0" tIns="0" rIns="0" bIns="0" rtlCol="0" anchor="ctr"/>
          <a:lstStyle/>
          <a:p>
            <a:pPr indent="0" marL="0">
              <a:buNone/>
            </a:pPr>
            <a:r>
              <a:rPr lang="en-US" sz="1050" b="1" dirty="0">
                <a:solidFill>
                  <a:srgbClr val="B45309"/>
                </a:solidFill>
                <a:latin typeface="Calibri" pitchFamily="34" charset="0"/>
                <a:ea typeface="Calibri" pitchFamily="34" charset="-122"/>
                <a:cs typeface="Calibri" pitchFamily="34" charset="-120"/>
              </a:rPr>
              <a:t>MAAX example: </a:t>
            </a:r>
            <a:pPr indent="0" marL="0">
              <a:buNone/>
            </a:pPr>
            <a:r>
              <a:rPr lang="en-US" sz="1050" dirty="0">
                <a:solidFill>
                  <a:srgbClr val="1F2937"/>
                </a:solidFill>
                <a:latin typeface="Calibri" pitchFamily="34" charset="0"/>
                <a:ea typeface="Calibri" pitchFamily="34" charset="-122"/>
                <a:cs typeface="Calibri" pitchFamily="34" charset="-120"/>
              </a:rPr>
              <a:t>shower doors and bases (thin, all glass) and 75-inch TVs ride standing loose today (trailer 47520). </a:t>
            </a:r>
            <a:pPr indent="0" marL="0">
              <a:buNone/>
            </a:pPr>
            <a:r>
              <a:rPr lang="en-US" sz="1050" b="1" dirty="0">
                <a:solidFill>
                  <a:srgbClr val="111827"/>
                </a:solidFill>
                <a:latin typeface="Calibri" pitchFamily="34" charset="0"/>
                <a:ea typeface="Calibri" pitchFamily="34" charset="-122"/>
                <a:cs typeface="Calibri" pitchFamily="34" charset="-120"/>
              </a:rPr>
              <a:t>Slot them into panel carts — yellow cart rolls by hand, grey cage lifts by forklift</a:t>
            </a:r>
            <a:pPr indent="0" marL="0">
              <a:buNone/>
            </a:pPr>
            <a:r>
              <a:rPr lang="en-US" sz="1050" dirty="0">
                <a:solidFill>
                  <a:srgbClr val="1F2937"/>
                </a:solidFill>
                <a:latin typeface="Calibri" pitchFamily="34" charset="0"/>
                <a:ea typeface="Calibri" pitchFamily="34" charset="-122"/>
                <a:cs typeface="Calibri" pitchFamily="34" charset="-120"/>
              </a:rPr>
              <a:t>: secured in transit, faster in/out, less breakage.</a:t>
            </a:r>
            <a:endParaRPr lang="en-US" sz="1050" dirty="0"/>
          </a:p>
        </p:txBody>
      </p:sp>
      <p:sp>
        <p:nvSpPr>
          <p:cNvPr id="28" name="Shape 21"/>
          <p:cNvSpPr/>
          <p:nvPr/>
        </p:nvSpPr>
        <p:spPr>
          <a:xfrm>
            <a:off x="8001000" y="1371600"/>
            <a:ext cx="3639312" cy="4663440"/>
          </a:xfrm>
          <a:prstGeom prst="roundRect">
            <a:avLst>
              <a:gd name="adj" fmla="val 2010"/>
            </a:avLst>
          </a:prstGeom>
          <a:solidFill>
            <a:srgbClr val="F3F4F6"/>
          </a:solidFill>
          <a:ln w="12700">
            <a:solidFill>
              <a:srgbClr val="F3F4F6"/>
            </a:solidFill>
            <a:prstDash val="solid"/>
          </a:ln>
        </p:spPr>
      </p:sp>
      <p:sp>
        <p:nvSpPr>
          <p:cNvPr id="29" name="Shape 22"/>
          <p:cNvSpPr/>
          <p:nvPr/>
        </p:nvSpPr>
        <p:spPr>
          <a:xfrm>
            <a:off x="8229600" y="1572768"/>
            <a:ext cx="502920" cy="502920"/>
          </a:xfrm>
          <a:prstGeom prst="ellipse">
            <a:avLst/>
          </a:prstGeom>
          <a:solidFill>
            <a:srgbClr val="7C3AED"/>
          </a:solidFill>
          <a:ln w="12700">
            <a:solidFill>
              <a:srgbClr val="7C3AED"/>
            </a:solidFill>
            <a:prstDash val="solid"/>
          </a:ln>
        </p:spPr>
      </p:sp>
      <p:pic>
        <p:nvPicPr>
          <p:cNvPr id="30" name="Image 5" descr="preencoded.png">    </p:cNvPr>
          <p:cNvPicPr>
            <a:picLocks noChangeAspect="1"/>
          </p:cNvPicPr>
          <p:nvPr/>
        </p:nvPicPr>
        <p:blipFill>
          <a:blip r:embed="rId6"/>
          <a:stretch>
            <a:fillRect/>
          </a:stretch>
        </p:blipFill>
        <p:spPr>
          <a:xfrm>
            <a:off x="8355330" y="1698498"/>
            <a:ext cx="251460" cy="251460"/>
          </a:xfrm>
          <a:prstGeom prst="rect">
            <a:avLst/>
          </a:prstGeom>
        </p:spPr>
      </p:pic>
      <p:sp>
        <p:nvSpPr>
          <p:cNvPr id="31" name="Text 23"/>
          <p:cNvSpPr txBox="1"/>
          <p:nvPr/>
        </p:nvSpPr>
        <p:spPr>
          <a:xfrm>
            <a:off x="8869680" y="1572768"/>
            <a:ext cx="256032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Equipment</a:t>
            </a:r>
            <a:endParaRPr lang="en-US" sz="1700" dirty="0"/>
          </a:p>
        </p:txBody>
      </p:sp>
      <p:sp>
        <p:nvSpPr>
          <p:cNvPr id="32" name="Text 24"/>
          <p:cNvSpPr txBox="1"/>
          <p:nvPr/>
        </p:nvSpPr>
        <p:spPr>
          <a:xfrm>
            <a:off x="8229600" y="2286000"/>
            <a:ext cx="3246120" cy="3566160"/>
          </a:xfrm>
          <a:prstGeom prst="rect">
            <a:avLst/>
          </a:prstGeom>
          <a:noFill/>
          <a:ln/>
        </p:spPr>
        <p:txBody>
          <a:bodyPr wrap="square" lIns="0" tIns="0" rIns="0" bIns="0" rtlCol="0" anchor="t"/>
          <a:lstStyle/>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knock-down pallet decks (intermodal)</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security divider deck-board kits (E-track)</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Panel trucks &amp; reconfigurable racks for windows, doors, panels, car parts (Sawtrax, Rack and Shelf, Grainger, Uline)</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Load bars &amp; straps on every mixed load</a:t>
            </a:r>
            <a:endParaRPr lang="en-US" sz="1300" dirty="0"/>
          </a:p>
        </p:txBody>
      </p:sp>
      <p:sp>
        <p:nvSpPr>
          <p:cNvPr id="33"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4"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 / 24</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hours saved</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2560320"/>
                <a:gridCol w="1645920"/>
                <a:gridCol w="16459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Week</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Hours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1 · Sep 1–5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2 · Sep 6–12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3 · Sep 13–19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4 · Sep 20–26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September 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4133088"/>
            <a:ext cx="5852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 saved = hours saved × </a:t>
            </a:r>
            <a:pPr indent="0" marL="0">
              <a:buNone/>
            </a:pPr>
            <a:r>
              <a:rPr lang="en-US" sz="1100" b="1" dirty="0">
                <a:solidFill>
                  <a:srgbClr val="111827"/>
                </a:solidFill>
                <a:latin typeface="Calibri" pitchFamily="34" charset="0"/>
                <a:ea typeface="Calibri" pitchFamily="34" charset="-122"/>
                <a:cs typeface="Calibri" pitchFamily="34" charset="-120"/>
              </a:rPr>
              <a:t>$33.43</a:t>
            </a:r>
            <a:pPr indent="0" marL="0">
              <a:buNone/>
            </a:pPr>
            <a:r>
              <a:rPr lang="en-US" sz="1100" dirty="0">
                <a:solidFill>
                  <a:srgbClr val="6B7280"/>
                </a:solidFill>
                <a:latin typeface="Calibri" pitchFamily="34" charset="0"/>
                <a:ea typeface="Calibri" pitchFamily="34" charset="-122"/>
                <a:cs typeface="Calibri" pitchFamily="34" charset="-120"/>
              </a:rPr>
              <a:t>/hr (Sept MTD $/hr, productivity dashboard)</a:t>
            </a:r>
            <a:endParaRPr lang="en-US" sz="1100" dirty="0"/>
          </a:p>
        </p:txBody>
      </p:sp>
      <p:sp>
        <p:nvSpPr>
          <p:cNvPr id="6" name="Shape 3"/>
          <p:cNvSpPr/>
          <p:nvPr/>
        </p:nvSpPr>
        <p:spPr>
          <a:xfrm>
            <a:off x="548640" y="4663440"/>
            <a:ext cx="2834640" cy="1463040"/>
          </a:xfrm>
          <a:prstGeom prst="roundRect">
            <a:avLst>
              <a:gd name="adj" fmla="val 5000"/>
            </a:avLst>
          </a:prstGeom>
          <a:solidFill>
            <a:srgbClr val="F3F4F6"/>
          </a:solidFill>
          <a:ln w="12700">
            <a:solidFill>
              <a:srgbClr val="F3F4F6"/>
            </a:solidFill>
            <a:prstDash val="solid"/>
          </a:ln>
        </p:spPr>
      </p:sp>
      <p:sp>
        <p:nvSpPr>
          <p:cNvPr id="7" name="Text 4"/>
          <p:cNvSpPr txBox="1"/>
          <p:nvPr/>
        </p:nvSpPr>
        <p:spPr>
          <a:xfrm>
            <a:off x="73152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hours saved</a:t>
            </a:r>
            <a:endParaRPr lang="en-US" sz="1100" dirty="0"/>
          </a:p>
        </p:txBody>
      </p:sp>
      <p:sp>
        <p:nvSpPr>
          <p:cNvPr id="8" name="Text 5"/>
          <p:cNvSpPr txBox="1"/>
          <p:nvPr/>
        </p:nvSpPr>
        <p:spPr>
          <a:xfrm>
            <a:off x="73152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9" name="Text 6"/>
          <p:cNvSpPr txBox="1"/>
          <p:nvPr/>
        </p:nvSpPr>
        <p:spPr>
          <a:xfrm>
            <a:off x="73152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Late / lunch / early-off</a:t>
            </a:r>
            <a:endParaRPr lang="en-US" sz="1050" dirty="0"/>
          </a:p>
        </p:txBody>
      </p:sp>
      <p:sp>
        <p:nvSpPr>
          <p:cNvPr id="10" name="Shape 7"/>
          <p:cNvSpPr/>
          <p:nvPr/>
        </p:nvSpPr>
        <p:spPr>
          <a:xfrm>
            <a:off x="3566160" y="4663440"/>
            <a:ext cx="2834640" cy="1463040"/>
          </a:xfrm>
          <a:prstGeom prst="roundRect">
            <a:avLst>
              <a:gd name="adj" fmla="val 5000"/>
            </a:avLst>
          </a:prstGeom>
          <a:solidFill>
            <a:srgbClr val="F3F4F6"/>
          </a:solidFill>
          <a:ln w="12700">
            <a:solidFill>
              <a:srgbClr val="F3F4F6"/>
            </a:solidFill>
            <a:prstDash val="solid"/>
          </a:ln>
        </p:spPr>
      </p:sp>
      <p:sp>
        <p:nvSpPr>
          <p:cNvPr id="11" name="Text 8"/>
          <p:cNvSpPr txBox="1"/>
          <p:nvPr/>
        </p:nvSpPr>
        <p:spPr>
          <a:xfrm>
            <a:off x="374904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saved</a:t>
            </a:r>
            <a:endParaRPr lang="en-US" sz="1100" dirty="0"/>
          </a:p>
        </p:txBody>
      </p:sp>
      <p:sp>
        <p:nvSpPr>
          <p:cNvPr id="12" name="Text 9"/>
          <p:cNvSpPr txBox="1"/>
          <p:nvPr/>
        </p:nvSpPr>
        <p:spPr>
          <a:xfrm>
            <a:off x="374904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3" name="Text 10"/>
          <p:cNvSpPr txBox="1"/>
          <p:nvPr/>
        </p:nvSpPr>
        <p:spPr>
          <a:xfrm>
            <a:off x="374904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At </a:t>
            </a:r>
            <a:pPr indent="0" marL="0">
              <a:buNone/>
            </a:pPr>
            <a:r>
              <a:rPr lang="en-US" sz="1050" b="1" dirty="0">
                <a:solidFill>
                  <a:srgbClr val="1F2937"/>
                </a:solidFill>
                <a:latin typeface="Calibri" pitchFamily="34" charset="0"/>
                <a:ea typeface="Calibri" pitchFamily="34" charset="-122"/>
                <a:cs typeface="Calibri" pitchFamily="34" charset="-120"/>
              </a:rPr>
              <a:t>$33.43</a:t>
            </a:r>
            <a:pPr indent="0" marL="0">
              <a:buNone/>
            </a:pPr>
            <a:r>
              <a:rPr lang="en-US" sz="1050" dirty="0">
                <a:solidFill>
                  <a:srgbClr val="6B7280"/>
                </a:solidFill>
                <a:latin typeface="Calibri" pitchFamily="34" charset="0"/>
                <a:ea typeface="Calibri" pitchFamily="34" charset="-122"/>
                <a:cs typeface="Calibri" pitchFamily="34" charset="-120"/>
              </a:rPr>
              <a:t>/hr</a:t>
            </a:r>
            <a:endParaRPr lang="en-US" sz="1050" dirty="0"/>
          </a:p>
        </p:txBody>
      </p:sp>
      <p:sp>
        <p:nvSpPr>
          <p:cNvPr id="14" name="Shape 11"/>
          <p:cNvSpPr/>
          <p:nvPr/>
        </p:nvSpPr>
        <p:spPr>
          <a:xfrm>
            <a:off x="6812280" y="1371600"/>
            <a:ext cx="4828032" cy="4754880"/>
          </a:xfrm>
          <a:prstGeom prst="roundRect">
            <a:avLst>
              <a:gd name="adj" fmla="val 1538"/>
            </a:avLst>
          </a:prstGeom>
          <a:solidFill>
            <a:srgbClr val="F3F4F6"/>
          </a:solidFill>
          <a:ln w="12700">
            <a:solidFill>
              <a:srgbClr val="F3F4F6"/>
            </a:solidFill>
            <a:prstDash val="solid"/>
          </a:ln>
        </p:spPr>
      </p:sp>
      <p:sp>
        <p:nvSpPr>
          <p:cNvPr id="15" name="Text 12"/>
          <p:cNvSpPr txBox="1"/>
          <p:nvPr/>
        </p:nvSpPr>
        <p:spPr>
          <a:xfrm>
            <a:off x="7086600" y="1600200"/>
            <a:ext cx="438912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drives the hours saved</a:t>
            </a:r>
            <a:endParaRPr lang="en-US" sz="1800" dirty="0"/>
          </a:p>
        </p:txBody>
      </p:sp>
      <p:sp>
        <p:nvSpPr>
          <p:cNvPr id="16" name="Shape 13"/>
          <p:cNvSpPr/>
          <p:nvPr/>
        </p:nvSpPr>
        <p:spPr>
          <a:xfrm>
            <a:off x="7086600" y="2286000"/>
            <a:ext cx="548640" cy="548640"/>
          </a:xfrm>
          <a:prstGeom prst="ellipse">
            <a:avLst/>
          </a:prstGeom>
          <a:solidFill>
            <a:srgbClr val="EDE9FE"/>
          </a:solidFill>
          <a:ln w="12700">
            <a:solidFill>
              <a:srgbClr val="EDE9FE"/>
            </a:solidFill>
            <a:prstDash val="solid"/>
          </a:ln>
        </p:spPr>
      </p:sp>
      <p:pic>
        <p:nvPicPr>
          <p:cNvPr id="17" name="Image 0" descr="preencoded.png">    </p:cNvPr>
          <p:cNvPicPr>
            <a:picLocks noChangeAspect="1"/>
          </p:cNvPicPr>
          <p:nvPr/>
        </p:nvPicPr>
        <p:blipFill>
          <a:blip r:embed="rId1"/>
          <a:stretch>
            <a:fillRect/>
          </a:stretch>
        </p:blipFill>
        <p:spPr>
          <a:xfrm>
            <a:off x="7223760" y="2423160"/>
            <a:ext cx="274320" cy="274320"/>
          </a:xfrm>
          <a:prstGeom prst="rect">
            <a:avLst/>
          </a:prstGeom>
        </p:spPr>
      </p:pic>
      <p:sp>
        <p:nvSpPr>
          <p:cNvPr id="18" name="Text 14"/>
          <p:cNvSpPr txBox="1"/>
          <p:nvPr/>
        </p:nvSpPr>
        <p:spPr>
          <a:xfrm>
            <a:off x="7818120" y="219456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Late arrivals — pay starts at actual clock-in, not scheduled start.</a:t>
            </a:r>
            <a:endParaRPr lang="en-US" sz="1500" dirty="0"/>
          </a:p>
        </p:txBody>
      </p:sp>
      <p:sp>
        <p:nvSpPr>
          <p:cNvPr id="19" name="Shape 15"/>
          <p:cNvSpPr/>
          <p:nvPr/>
        </p:nvSpPr>
        <p:spPr>
          <a:xfrm>
            <a:off x="7086600" y="3474720"/>
            <a:ext cx="548640" cy="548640"/>
          </a:xfrm>
          <a:prstGeom prst="ellipse">
            <a:avLst/>
          </a:prstGeom>
          <a:solidFill>
            <a:srgbClr val="EDE9FE"/>
          </a:solidFill>
          <a:ln w="12700">
            <a:solidFill>
              <a:srgbClr val="EDE9FE"/>
            </a:solidFill>
            <a:prstDash val="solid"/>
          </a:ln>
        </p:spPr>
      </p:sp>
      <p:pic>
        <p:nvPicPr>
          <p:cNvPr id="20" name="Image 1" descr="preencoded.png">    </p:cNvPr>
          <p:cNvPicPr>
            <a:picLocks noChangeAspect="1"/>
          </p:cNvPicPr>
          <p:nvPr/>
        </p:nvPicPr>
        <p:blipFill>
          <a:blip r:embed="rId2"/>
          <a:stretch>
            <a:fillRect/>
          </a:stretch>
        </p:blipFill>
        <p:spPr>
          <a:xfrm>
            <a:off x="7223760" y="3611880"/>
            <a:ext cx="274320" cy="274320"/>
          </a:xfrm>
          <a:prstGeom prst="rect">
            <a:avLst/>
          </a:prstGeom>
        </p:spPr>
      </p:pic>
      <p:sp>
        <p:nvSpPr>
          <p:cNvPr id="21" name="Text 16"/>
          <p:cNvSpPr txBox="1"/>
          <p:nvPr/>
        </p:nvSpPr>
        <p:spPr>
          <a:xfrm>
            <a:off x="7818120" y="338328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No-lunch punches reviewed daily by the shift supervisor.</a:t>
            </a:r>
            <a:endParaRPr lang="en-US" sz="1500" dirty="0"/>
          </a:p>
        </p:txBody>
      </p:sp>
      <p:sp>
        <p:nvSpPr>
          <p:cNvPr id="22" name="Shape 17"/>
          <p:cNvSpPr/>
          <p:nvPr/>
        </p:nvSpPr>
        <p:spPr>
          <a:xfrm>
            <a:off x="7086600" y="4663440"/>
            <a:ext cx="548640" cy="548640"/>
          </a:xfrm>
          <a:prstGeom prst="ellipse">
            <a:avLst/>
          </a:prstGeom>
          <a:solidFill>
            <a:srgbClr val="EDE9FE"/>
          </a:solidFill>
          <a:ln w="12700">
            <a:solidFill>
              <a:srgbClr val="EDE9FE"/>
            </a:solidFill>
            <a:prstDash val="solid"/>
          </a:ln>
        </p:spPr>
      </p:sp>
      <p:pic>
        <p:nvPicPr>
          <p:cNvPr id="23" name="Image 2" descr="preencoded.png">    </p:cNvPr>
          <p:cNvPicPr>
            <a:picLocks noChangeAspect="1"/>
          </p:cNvPicPr>
          <p:nvPr/>
        </p:nvPicPr>
        <p:blipFill>
          <a:blip r:embed="rId3"/>
          <a:stretch>
            <a:fillRect/>
          </a:stretch>
        </p:blipFill>
        <p:spPr>
          <a:xfrm>
            <a:off x="7223760" y="4800600"/>
            <a:ext cx="274320" cy="274320"/>
          </a:xfrm>
          <a:prstGeom prst="rect">
            <a:avLst/>
          </a:prstGeom>
        </p:spPr>
      </p:pic>
      <p:sp>
        <p:nvSpPr>
          <p:cNvPr id="24" name="Text 18"/>
          <p:cNvSpPr txBox="1"/>
          <p:nvPr/>
        </p:nvSpPr>
        <p:spPr>
          <a:xfrm>
            <a:off x="7818120" y="457200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Part-time / early-off shifts released when volume is done.</a:t>
            </a:r>
            <a:endParaRPr lang="en-US" sz="1500" dirty="0"/>
          </a:p>
        </p:txBody>
      </p:sp>
      <p:sp>
        <p:nvSpPr>
          <p:cNvPr id="25" name="Text 19"/>
          <p:cNvSpPr txBox="1"/>
          <p:nvPr/>
        </p:nvSpPr>
        <p:spPr>
          <a:xfrm>
            <a:off x="7086600" y="5486400"/>
            <a:ext cx="4389120" cy="502920"/>
          </a:xfrm>
          <a:prstGeom prst="rect">
            <a:avLst/>
          </a:prstGeom>
          <a:noFill/>
          <a:ln/>
        </p:spPr>
        <p:txBody>
          <a:bodyPr wrap="square" lIns="0" tIns="0" rIns="0" bIns="0" rtlCol="0" anchor="t"/>
          <a:lstStyle/>
          <a:p>
            <a:pPr indent="0" marL="0">
              <a:buNone/>
            </a:pPr>
            <a:r>
              <a:rPr lang="en-US" sz="1100" i="1" dirty="0">
                <a:solidFill>
                  <a:srgbClr val="6B7280"/>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100" dirty="0"/>
          </a:p>
        </p:txBody>
      </p:sp>
      <p:sp>
        <p:nvSpPr>
          <p:cNvPr id="26" name="Text 2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7" name="Text 2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 / 24</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Physical terminal — relocation</a:t>
            </a:r>
            <a:endParaRPr lang="en-US" sz="3000" dirty="0"/>
          </a:p>
        </p:txBody>
      </p:sp>
      <p:sp>
        <p:nvSpPr>
          <p:cNvPr id="4" name="Shape 2"/>
          <p:cNvSpPr/>
          <p:nvPr/>
        </p:nvSpPr>
        <p:spPr>
          <a:xfrm>
            <a:off x="548640" y="1463040"/>
            <a:ext cx="11091672" cy="2103120"/>
          </a:xfrm>
          <a:prstGeom prst="roundRect">
            <a:avLst>
              <a:gd name="adj" fmla="val 3478"/>
            </a:avLst>
          </a:prstGeom>
          <a:solidFill>
            <a:srgbClr val="F5F3FF"/>
          </a:solidFill>
          <a:ln w="12700">
            <a:solidFill>
              <a:srgbClr val="F5F3FF"/>
            </a:solidFill>
            <a:prstDash val="solid"/>
          </a:ln>
        </p:spPr>
      </p:sp>
      <p:sp>
        <p:nvSpPr>
          <p:cNvPr id="5" name="Shape 3"/>
          <p:cNvSpPr/>
          <p:nvPr/>
        </p:nvSpPr>
        <p:spPr>
          <a:xfrm>
            <a:off x="868680" y="2011680"/>
            <a:ext cx="1005840" cy="1005840"/>
          </a:xfrm>
          <a:prstGeom prst="ellipse">
            <a:avLst/>
          </a:prstGeom>
          <a:solidFill>
            <a:srgbClr val="7C3AED"/>
          </a:solidFill>
          <a:ln w="12700">
            <a:solidFill>
              <a:srgbClr val="7C3AED"/>
            </a:solidFill>
            <a:prstDash val="solid"/>
          </a:ln>
        </p:spPr>
      </p:sp>
      <p:pic>
        <p:nvPicPr>
          <p:cNvPr id="6" name="Image 0" descr="preencoded.png">    </p:cNvPr>
          <p:cNvPicPr>
            <a:picLocks noChangeAspect="1"/>
          </p:cNvPicPr>
          <p:nvPr/>
        </p:nvPicPr>
        <p:blipFill>
          <a:blip r:embed="rId1"/>
          <a:stretch>
            <a:fillRect/>
          </a:stretch>
        </p:blipFill>
        <p:spPr>
          <a:xfrm>
            <a:off x="1120140" y="2263140"/>
            <a:ext cx="502920" cy="502920"/>
          </a:xfrm>
          <a:prstGeom prst="rect">
            <a:avLst/>
          </a:prstGeom>
        </p:spPr>
      </p:pic>
      <p:sp>
        <p:nvSpPr>
          <p:cNvPr id="7" name="Text 4"/>
          <p:cNvSpPr txBox="1"/>
          <p:nvPr/>
        </p:nvSpPr>
        <p:spPr>
          <a:xfrm>
            <a:off x="2148840" y="1737360"/>
            <a:ext cx="9144000" cy="320040"/>
          </a:xfrm>
          <a:prstGeom prst="rect">
            <a:avLst/>
          </a:prstGeom>
          <a:noFill/>
          <a:ln/>
        </p:spPr>
        <p:txBody>
          <a:bodyPr wrap="square" lIns="0" tIns="0" rIns="0" bIns="0" rtlCol="0" anchor="ctr"/>
          <a:lstStyle/>
          <a:p>
            <a:pPr indent="0" marL="0">
              <a:buNone/>
            </a:pPr>
            <a:r>
              <a:rPr lang="en-US" sz="1400" b="1" spc="100" kern="0" dirty="0">
                <a:solidFill>
                  <a:srgbClr val="7C3AED"/>
                </a:solidFill>
                <a:latin typeface="Calibri" pitchFamily="34" charset="0"/>
                <a:ea typeface="Calibri" pitchFamily="34" charset="-122"/>
                <a:cs typeface="Calibri" pitchFamily="34" charset="-120"/>
              </a:rPr>
              <a:t>Terminal relocation</a:t>
            </a:r>
            <a:endParaRPr lang="en-US" sz="1400" dirty="0"/>
          </a:p>
        </p:txBody>
      </p:sp>
      <p:sp>
        <p:nvSpPr>
          <p:cNvPr id="8" name="Text 5"/>
          <p:cNvSpPr txBox="1"/>
          <p:nvPr/>
        </p:nvSpPr>
        <p:spPr>
          <a:xfrm>
            <a:off x="2148840" y="2103120"/>
            <a:ext cx="9235440" cy="685800"/>
          </a:xfrm>
          <a:prstGeom prst="rect">
            <a:avLst/>
          </a:prstGeom>
          <a:noFill/>
          <a:ln/>
        </p:spPr>
        <p:txBody>
          <a:bodyPr wrap="square" lIns="0" tIns="0" rIns="0" bIns="0" rtlCol="0" anchor="ctr"/>
          <a:lstStyle/>
          <a:p>
            <a:pPr indent="0" marL="0">
              <a:buNone/>
            </a:pPr>
            <a:r>
              <a:rPr lang="en-US" sz="3200" b="1" dirty="0">
                <a:solidFill>
                  <a:srgbClr val="111827"/>
                </a:solidFill>
                <a:latin typeface="Calibri" pitchFamily="34" charset="0"/>
                <a:ea typeface="Calibri" pitchFamily="34" charset="-122"/>
                <a:cs typeface="Calibri" pitchFamily="34" charset="-120"/>
              </a:rPr>
              <a:t>Moving to a new building by year end</a:t>
            </a:r>
            <a:endParaRPr lang="en-US" sz="3200" dirty="0"/>
          </a:p>
        </p:txBody>
      </p:sp>
      <p:sp>
        <p:nvSpPr>
          <p:cNvPr id="9" name="Text 6"/>
          <p:cNvSpPr txBox="1"/>
          <p:nvPr/>
        </p:nvSpPr>
        <p:spPr>
          <a:xfrm>
            <a:off x="2148840" y="2834640"/>
            <a:ext cx="9144000" cy="36576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Most likely before 2027</a:t>
            </a:r>
            <a:endParaRPr lang="en-US" sz="1800" dirty="0"/>
          </a:p>
        </p:txBody>
      </p:sp>
      <p:sp>
        <p:nvSpPr>
          <p:cNvPr id="10" name="Shape 7"/>
          <p:cNvSpPr/>
          <p:nvPr/>
        </p:nvSpPr>
        <p:spPr>
          <a:xfrm>
            <a:off x="548640" y="3840480"/>
            <a:ext cx="5408676" cy="2103120"/>
          </a:xfrm>
          <a:prstGeom prst="roundRect">
            <a:avLst>
              <a:gd name="adj" fmla="val 3478"/>
            </a:avLst>
          </a:prstGeom>
          <a:solidFill>
            <a:srgbClr val="F3F4F6"/>
          </a:solidFill>
          <a:ln w="12700">
            <a:solidFill>
              <a:srgbClr val="F3F4F6"/>
            </a:solidFill>
            <a:prstDash val="solid"/>
          </a:ln>
        </p:spPr>
      </p:sp>
      <p:sp>
        <p:nvSpPr>
          <p:cNvPr id="11" name="Shape 8"/>
          <p:cNvSpPr/>
          <p:nvPr/>
        </p:nvSpPr>
        <p:spPr>
          <a:xfrm>
            <a:off x="868680" y="4160520"/>
            <a:ext cx="640080" cy="640080"/>
          </a:xfrm>
          <a:prstGeom prst="ellipse">
            <a:avLst/>
          </a:prstGeom>
          <a:solidFill>
            <a:srgbClr val="EDE9FE"/>
          </a:solidFill>
          <a:ln w="12700">
            <a:solidFill>
              <a:srgbClr val="EDE9FE"/>
            </a:solidFill>
            <a:prstDash val="solid"/>
          </a:ln>
        </p:spPr>
      </p:sp>
      <p:pic>
        <p:nvPicPr>
          <p:cNvPr id="12" name="Image 1" descr="preencoded.png">    </p:cNvPr>
          <p:cNvPicPr>
            <a:picLocks noChangeAspect="1"/>
          </p:cNvPicPr>
          <p:nvPr/>
        </p:nvPicPr>
        <p:blipFill>
          <a:blip r:embed="rId2"/>
          <a:stretch>
            <a:fillRect/>
          </a:stretch>
        </p:blipFill>
        <p:spPr>
          <a:xfrm>
            <a:off x="1028700" y="4320540"/>
            <a:ext cx="320040" cy="320040"/>
          </a:xfrm>
          <a:prstGeom prst="rect">
            <a:avLst/>
          </a:prstGeom>
        </p:spPr>
      </p:pic>
      <p:sp>
        <p:nvSpPr>
          <p:cNvPr id="13" name="Text 9"/>
          <p:cNvSpPr txBox="1"/>
          <p:nvPr/>
        </p:nvSpPr>
        <p:spPr>
          <a:xfrm>
            <a:off x="1737360"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Current site</a:t>
            </a:r>
            <a:endParaRPr lang="en-US" sz="1400" dirty="0"/>
          </a:p>
        </p:txBody>
      </p:sp>
      <p:sp>
        <p:nvSpPr>
          <p:cNvPr id="14" name="Text 10"/>
          <p:cNvSpPr txBox="1"/>
          <p:nvPr/>
        </p:nvSpPr>
        <p:spPr>
          <a:xfrm>
            <a:off x="1737360"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No major repair spend planned at the current site.</a:t>
            </a:r>
            <a:endParaRPr lang="en-US" sz="2000" dirty="0"/>
          </a:p>
        </p:txBody>
      </p:sp>
      <p:sp>
        <p:nvSpPr>
          <p:cNvPr id="15" name="Shape 11"/>
          <p:cNvSpPr/>
          <p:nvPr/>
        </p:nvSpPr>
        <p:spPr>
          <a:xfrm>
            <a:off x="6231636" y="3840480"/>
            <a:ext cx="5408676" cy="2103120"/>
          </a:xfrm>
          <a:prstGeom prst="roundRect">
            <a:avLst>
              <a:gd name="adj" fmla="val 3478"/>
            </a:avLst>
          </a:prstGeom>
          <a:solidFill>
            <a:srgbClr val="F3F4F6"/>
          </a:solidFill>
          <a:ln w="12700">
            <a:solidFill>
              <a:srgbClr val="F3F4F6"/>
            </a:solidFill>
            <a:prstDash val="solid"/>
          </a:ln>
        </p:spPr>
      </p:sp>
      <p:sp>
        <p:nvSpPr>
          <p:cNvPr id="16" name="Shape 12"/>
          <p:cNvSpPr/>
          <p:nvPr/>
        </p:nvSpPr>
        <p:spPr>
          <a:xfrm>
            <a:off x="6551676" y="4160520"/>
            <a:ext cx="640080" cy="640080"/>
          </a:xfrm>
          <a:prstGeom prst="ellipse">
            <a:avLst/>
          </a:prstGeom>
          <a:solidFill>
            <a:srgbClr val="EDE9FE"/>
          </a:solidFill>
          <a:ln w="12700">
            <a:solidFill>
              <a:srgbClr val="EDE9FE"/>
            </a:solidFill>
            <a:prstDash val="solid"/>
          </a:ln>
        </p:spPr>
      </p:sp>
      <p:pic>
        <p:nvPicPr>
          <p:cNvPr id="17" name="Image 2" descr="preencoded.png">    </p:cNvPr>
          <p:cNvPicPr>
            <a:picLocks noChangeAspect="1"/>
          </p:cNvPicPr>
          <p:nvPr/>
        </p:nvPicPr>
        <p:blipFill>
          <a:blip r:embed="rId3"/>
          <a:stretch>
            <a:fillRect/>
          </a:stretch>
        </p:blipFill>
        <p:spPr>
          <a:xfrm>
            <a:off x="6711696" y="4320540"/>
            <a:ext cx="320040" cy="320040"/>
          </a:xfrm>
          <a:prstGeom prst="rect">
            <a:avLst/>
          </a:prstGeom>
        </p:spPr>
      </p:pic>
      <p:sp>
        <p:nvSpPr>
          <p:cNvPr id="18" name="Text 13"/>
          <p:cNvSpPr txBox="1"/>
          <p:nvPr/>
        </p:nvSpPr>
        <p:spPr>
          <a:xfrm>
            <a:off x="7420356"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Focus</a:t>
            </a:r>
            <a:endParaRPr lang="en-US" sz="1400" dirty="0"/>
          </a:p>
        </p:txBody>
      </p:sp>
      <p:sp>
        <p:nvSpPr>
          <p:cNvPr id="19" name="Text 14"/>
          <p:cNvSpPr txBox="1"/>
          <p:nvPr/>
        </p:nvSpPr>
        <p:spPr>
          <a:xfrm>
            <a:off x="7420356"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A clean transition to the new building.</a:t>
            </a:r>
            <a:endParaRPr lang="en-US" sz="2000" dirty="0"/>
          </a:p>
        </p:txBody>
      </p:sp>
      <p:sp>
        <p:nvSpPr>
          <p:cNvPr id="20"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1"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22 / 24</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377440"/>
            <a:ext cx="3291840" cy="3611880"/>
          </a:xfrm>
          <a:prstGeom prst="rect">
            <a:avLst/>
          </a:prstGeom>
          <a:noFill/>
          <a:ln/>
        </p:spPr>
        <p:txBody>
          <a:bodyPr wrap="square" lIns="0" tIns="0" rIns="0" bIns="0" rtlCol="0" anchor="t"/>
          <a:lstStyle/>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91.1% of SCA hour allowance — 391 hrs under (≈$13.1K).</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Cost per PRO $6.60 vs $6.85 target (96.3%, watch).</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Cost per unit −16.7%; units/hr +26.7%; OT 9 hrs.</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Focus: PPH 3,327 vs 4,258 goal (−21.9%).</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Savings: $61,000/yr confirmed (dispatcher role eliminated — dispatch centralized); more in development.</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F27 take-out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23 / 24</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Backup — key numbers for Q&amp;A</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Mississauga · September MTD to Sep 26 unless noted · (calc.) = calculated from report figures</a:t>
            </a:r>
            <a:endParaRPr lang="en-US" sz="1200" dirty="0"/>
          </a:p>
        </p:txBody>
      </p:sp>
      <p:sp>
        <p:nvSpPr>
          <p:cNvPr id="5" name="Shape 3"/>
          <p:cNvSpPr/>
          <p:nvPr/>
        </p:nvSpPr>
        <p:spPr>
          <a:xfrm>
            <a:off x="548640" y="1627632"/>
            <a:ext cx="5431536" cy="822960"/>
          </a:xfrm>
          <a:prstGeom prst="roundRect">
            <a:avLst>
              <a:gd name="adj" fmla="val 8889"/>
            </a:avLst>
          </a:prstGeom>
          <a:solidFill>
            <a:srgbClr val="F3F4F6"/>
          </a:solidFill>
          <a:ln w="12700">
            <a:solidFill>
              <a:srgbClr val="F3F4F6"/>
            </a:solidFill>
            <a:prstDash val="solid"/>
          </a:ln>
        </p:spPr>
      </p:sp>
      <p:sp>
        <p:nvSpPr>
          <p:cNvPr id="6" name="Text 4"/>
          <p:cNvSpPr txBox="1"/>
          <p:nvPr/>
        </p:nvSpPr>
        <p:spPr>
          <a:xfrm>
            <a:off x="685800" y="1627632"/>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SCA target?</a:t>
            </a:r>
            <a:endParaRPr lang="en-US" sz="1100" dirty="0"/>
          </a:p>
        </p:txBody>
      </p:sp>
      <p:sp>
        <p:nvSpPr>
          <p:cNvPr id="7" name="Text 5"/>
          <p:cNvSpPr txBox="1"/>
          <p:nvPr/>
        </p:nvSpPr>
        <p:spPr>
          <a:xfrm>
            <a:off x="1965960" y="1664208"/>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Sept SCA target 5,122 dock hrs (F26 Sept 6,303 − 1,181-hr reduction target) · 244 hrs per working day · cost per PRO target $6.85.</a:t>
            </a:r>
            <a:endParaRPr lang="en-US" sz="1000" dirty="0"/>
          </a:p>
        </p:txBody>
      </p:sp>
      <p:sp>
        <p:nvSpPr>
          <p:cNvPr id="8" name="Shape 6"/>
          <p:cNvSpPr/>
          <p:nvPr/>
        </p:nvSpPr>
        <p:spPr>
          <a:xfrm>
            <a:off x="548640" y="2523744"/>
            <a:ext cx="5431536" cy="822960"/>
          </a:xfrm>
          <a:prstGeom prst="roundRect">
            <a:avLst>
              <a:gd name="adj" fmla="val 8889"/>
            </a:avLst>
          </a:prstGeom>
          <a:solidFill>
            <a:srgbClr val="F9FAFB"/>
          </a:solidFill>
          <a:ln w="12700">
            <a:solidFill>
              <a:srgbClr val="F9FAFB"/>
            </a:solidFill>
            <a:prstDash val="solid"/>
          </a:ln>
        </p:spPr>
      </p:sp>
      <p:sp>
        <p:nvSpPr>
          <p:cNvPr id="9" name="Text 7"/>
          <p:cNvSpPr txBox="1"/>
          <p:nvPr/>
        </p:nvSpPr>
        <p:spPr>
          <a:xfrm>
            <a:off x="685800" y="2523744"/>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Tracking?</a:t>
            </a:r>
            <a:endParaRPr lang="en-US" sz="1100" dirty="0"/>
          </a:p>
        </p:txBody>
      </p:sp>
      <p:sp>
        <p:nvSpPr>
          <p:cNvPr id="10" name="Text 8"/>
          <p:cNvSpPr txBox="1"/>
          <p:nvPr/>
        </p:nvSpPr>
        <p:spPr>
          <a:xfrm>
            <a:off x="1965960" y="2560320"/>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3,999 hrs used vs 4,390 allowed MTD = 91.1% (391 hrs under ≈ $13.1K) · pace ≈4,666 hrs vs 5,122 target = 139% of reduction target · cost per PRO $6.60 = 96.3% of target (amber).</a:t>
            </a:r>
            <a:endParaRPr lang="en-US" sz="1000" dirty="0"/>
          </a:p>
        </p:txBody>
      </p:sp>
      <p:sp>
        <p:nvSpPr>
          <p:cNvPr id="11" name="Shape 9"/>
          <p:cNvSpPr/>
          <p:nvPr/>
        </p:nvSpPr>
        <p:spPr>
          <a:xfrm>
            <a:off x="548640" y="3419856"/>
            <a:ext cx="5431536" cy="822960"/>
          </a:xfrm>
          <a:prstGeom prst="roundRect">
            <a:avLst>
              <a:gd name="adj" fmla="val 8889"/>
            </a:avLst>
          </a:prstGeom>
          <a:solidFill>
            <a:srgbClr val="F3F4F6"/>
          </a:solidFill>
          <a:ln w="12700">
            <a:solidFill>
              <a:srgbClr val="F3F4F6"/>
            </a:solidFill>
            <a:prstDash val="solid"/>
          </a:ln>
        </p:spPr>
      </p:sp>
      <p:sp>
        <p:nvSpPr>
          <p:cNvPr id="12" name="Text 10"/>
          <p:cNvSpPr txBox="1"/>
          <p:nvPr/>
        </p:nvSpPr>
        <p:spPr>
          <a:xfrm>
            <a:off x="685800" y="3419856"/>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Spend rate?</a:t>
            </a:r>
            <a:endParaRPr lang="en-US" sz="1100" dirty="0"/>
          </a:p>
        </p:txBody>
      </p:sp>
      <p:sp>
        <p:nvSpPr>
          <p:cNvPr id="13" name="Text 11"/>
          <p:cNvSpPr txBox="1"/>
          <p:nvPr/>
        </p:nvSpPr>
        <p:spPr>
          <a:xfrm>
            <a:off x="1965960" y="3456432"/>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Dock labour $133,692 MTD over 18 working days ≈ $7,427 per working day (calc.) · projected Sept ≈ $156K vs $199.7K F26 Sept (≈ −22%, calc.) · $33.43/hr (+5.5% YoY wage rate) · cost per unit $2.19 vs $2.64 (−16.7%).</a:t>
            </a:r>
            <a:endParaRPr lang="en-US" sz="1000" dirty="0"/>
          </a:p>
        </p:txBody>
      </p:sp>
      <p:sp>
        <p:nvSpPr>
          <p:cNvPr id="14" name="Shape 12"/>
          <p:cNvSpPr/>
          <p:nvPr/>
        </p:nvSpPr>
        <p:spPr>
          <a:xfrm>
            <a:off x="548640" y="4315968"/>
            <a:ext cx="5431536" cy="822960"/>
          </a:xfrm>
          <a:prstGeom prst="roundRect">
            <a:avLst>
              <a:gd name="adj" fmla="val 8889"/>
            </a:avLst>
          </a:prstGeom>
          <a:solidFill>
            <a:srgbClr val="F9FAFB"/>
          </a:solidFill>
          <a:ln w="12700">
            <a:solidFill>
              <a:srgbClr val="F9FAFB"/>
            </a:solidFill>
            <a:prstDash val="solid"/>
          </a:ln>
        </p:spPr>
      </p:sp>
      <p:sp>
        <p:nvSpPr>
          <p:cNvPr id="15" name="Text 13"/>
          <p:cNvSpPr txBox="1"/>
          <p:nvPr/>
        </p:nvSpPr>
        <p:spPr>
          <a:xfrm>
            <a:off x="685800" y="4315968"/>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Agency mix?</a:t>
            </a:r>
            <a:endParaRPr lang="en-US" sz="1100" dirty="0"/>
          </a:p>
        </p:txBody>
      </p:sp>
      <p:sp>
        <p:nvSpPr>
          <p:cNvPr id="16" name="Text 14"/>
          <p:cNvSpPr txBox="1"/>
          <p:nvPr/>
        </p:nvSpPr>
        <p:spPr>
          <a:xfrm>
            <a:off x="1965960" y="4352544"/>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Agency 61% of dock hours (2,457 of 3,999) vs 70.5% F26 · agency cost $74,775 = 56% of dock labour vs 65% F26 (calc.).</a:t>
            </a:r>
            <a:endParaRPr lang="en-US" sz="1000" dirty="0"/>
          </a:p>
        </p:txBody>
      </p:sp>
      <p:sp>
        <p:nvSpPr>
          <p:cNvPr id="17" name="Shape 15"/>
          <p:cNvSpPr/>
          <p:nvPr/>
        </p:nvSpPr>
        <p:spPr>
          <a:xfrm>
            <a:off x="548640" y="5212080"/>
            <a:ext cx="5431536" cy="822960"/>
          </a:xfrm>
          <a:prstGeom prst="roundRect">
            <a:avLst>
              <a:gd name="adj" fmla="val 8889"/>
            </a:avLst>
          </a:prstGeom>
          <a:solidFill>
            <a:srgbClr val="F3F4F6"/>
          </a:solidFill>
          <a:ln w="12700">
            <a:solidFill>
              <a:srgbClr val="F3F4F6"/>
            </a:solidFill>
            <a:prstDash val="solid"/>
          </a:ln>
        </p:spPr>
      </p:sp>
      <p:sp>
        <p:nvSpPr>
          <p:cNvPr id="18" name="Text 16"/>
          <p:cNvSpPr txBox="1"/>
          <p:nvPr/>
        </p:nvSpPr>
        <p:spPr>
          <a:xfrm>
            <a:off x="685800" y="5212080"/>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Year-end goal?</a:t>
            </a:r>
            <a:endParaRPr lang="en-US" sz="1100" dirty="0"/>
          </a:p>
        </p:txBody>
      </p:sp>
      <p:sp>
        <p:nvSpPr>
          <p:cNvPr id="19" name="Text 17"/>
          <p:cNvSpPr txBox="1"/>
          <p:nvPr/>
        </p:nvSpPr>
        <p:spPr>
          <a:xfrm>
            <a:off x="1965960" y="5248656"/>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F27 cost take-out target: </a:t>
            </a:r>
            <a:pPr indent="0" marL="0">
              <a:buNone/>
            </a:pPr>
            <a:r>
              <a:rPr lang="en-US" sz="1000" b="1" dirty="0">
                <a:solidFill>
                  <a:srgbClr val="D97706"/>
                </a:solidFill>
                <a:latin typeface="Calibri" pitchFamily="34" charset="0"/>
                <a:ea typeface="Calibri" pitchFamily="34" charset="-122"/>
                <a:cs typeface="Calibri" pitchFamily="34" charset="-120"/>
              </a:rPr>
              <a:t>TBC</a:t>
            </a:r>
            <a:pPr indent="0" marL="0">
              <a:buNone/>
            </a:pPr>
            <a:r>
              <a:rPr lang="en-US" sz="1000" dirty="0">
                <a:solidFill>
                  <a:srgbClr val="1F2937"/>
                </a:solidFill>
                <a:latin typeface="Calibri" pitchFamily="34" charset="0"/>
                <a:ea typeface="Calibri" pitchFamily="34" charset="-122"/>
                <a:cs typeface="Calibri" pitchFamily="34" charset="-120"/>
              </a:rPr>
              <a:t> · identified so far $61K/yr (dispatcher role eliminated).</a:t>
            </a:r>
            <a:endParaRPr lang="en-US" sz="1000" dirty="0"/>
          </a:p>
        </p:txBody>
      </p:sp>
      <p:sp>
        <p:nvSpPr>
          <p:cNvPr id="20" name="Shape 18"/>
          <p:cNvSpPr/>
          <p:nvPr/>
        </p:nvSpPr>
        <p:spPr>
          <a:xfrm>
            <a:off x="6208776" y="1627632"/>
            <a:ext cx="5431536" cy="822960"/>
          </a:xfrm>
          <a:prstGeom prst="roundRect">
            <a:avLst>
              <a:gd name="adj" fmla="val 8889"/>
            </a:avLst>
          </a:prstGeom>
          <a:solidFill>
            <a:srgbClr val="F3F4F6"/>
          </a:solidFill>
          <a:ln w="12700">
            <a:solidFill>
              <a:srgbClr val="F3F4F6"/>
            </a:solidFill>
            <a:prstDash val="solid"/>
          </a:ln>
        </p:spPr>
      </p:sp>
      <p:sp>
        <p:nvSpPr>
          <p:cNvPr id="21" name="Text 19"/>
          <p:cNvSpPr txBox="1"/>
          <p:nvPr/>
        </p:nvSpPr>
        <p:spPr>
          <a:xfrm>
            <a:off x="6345936" y="1627632"/>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Overtime?</a:t>
            </a:r>
            <a:endParaRPr lang="en-US" sz="1100" dirty="0"/>
          </a:p>
        </p:txBody>
      </p:sp>
      <p:sp>
        <p:nvSpPr>
          <p:cNvPr id="22" name="Text 20"/>
          <p:cNvSpPr txBox="1"/>
          <p:nvPr/>
        </p:nvSpPr>
        <p:spPr>
          <a:xfrm>
            <a:off x="7626096" y="1664208"/>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9 hrs Sept (0.2%) · Q1 OT 62.3 hrs, 1.0% of hours.</a:t>
            </a:r>
            <a:endParaRPr lang="en-US" sz="1000" dirty="0"/>
          </a:p>
        </p:txBody>
      </p:sp>
      <p:sp>
        <p:nvSpPr>
          <p:cNvPr id="23" name="Shape 21"/>
          <p:cNvSpPr/>
          <p:nvPr/>
        </p:nvSpPr>
        <p:spPr>
          <a:xfrm>
            <a:off x="6208776" y="2523744"/>
            <a:ext cx="5431536" cy="822960"/>
          </a:xfrm>
          <a:prstGeom prst="roundRect">
            <a:avLst>
              <a:gd name="adj" fmla="val 8889"/>
            </a:avLst>
          </a:prstGeom>
          <a:solidFill>
            <a:srgbClr val="F9FAFB"/>
          </a:solidFill>
          <a:ln w="12700">
            <a:solidFill>
              <a:srgbClr val="F9FAFB"/>
            </a:solidFill>
            <a:prstDash val="solid"/>
          </a:ln>
        </p:spPr>
      </p:sp>
      <p:sp>
        <p:nvSpPr>
          <p:cNvPr id="24" name="Text 22"/>
          <p:cNvSpPr txBox="1"/>
          <p:nvPr/>
        </p:nvSpPr>
        <p:spPr>
          <a:xfrm>
            <a:off x="6345936" y="2523744"/>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PPH gap?</a:t>
            </a:r>
            <a:endParaRPr lang="en-US" sz="1100" dirty="0"/>
          </a:p>
        </p:txBody>
      </p:sp>
      <p:sp>
        <p:nvSpPr>
          <p:cNvPr id="25" name="Text 23"/>
          <p:cNvSpPr txBox="1"/>
          <p:nvPr/>
        </p:nvSpPr>
        <p:spPr>
          <a:xfrm>
            <a:off x="7626096" y="2560320"/>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3,327 vs 4,258 goal (−21.9%); flat YoY on lighter freight (218 vs ≈275 lbs/unit); levers: load factor, Toyota footage capture, shift alignment.</a:t>
            </a:r>
            <a:endParaRPr lang="en-US" sz="1000" dirty="0"/>
          </a:p>
        </p:txBody>
      </p:sp>
      <p:sp>
        <p:nvSpPr>
          <p:cNvPr id="26" name="Shape 24"/>
          <p:cNvSpPr/>
          <p:nvPr/>
        </p:nvSpPr>
        <p:spPr>
          <a:xfrm>
            <a:off x="6208776" y="3419856"/>
            <a:ext cx="5431536" cy="822960"/>
          </a:xfrm>
          <a:prstGeom prst="roundRect">
            <a:avLst>
              <a:gd name="adj" fmla="val 8889"/>
            </a:avLst>
          </a:prstGeom>
          <a:solidFill>
            <a:srgbClr val="F3F4F6"/>
          </a:solidFill>
          <a:ln w="12700">
            <a:solidFill>
              <a:srgbClr val="F3F4F6"/>
            </a:solidFill>
            <a:prstDash val="solid"/>
          </a:ln>
        </p:spPr>
      </p:sp>
      <p:sp>
        <p:nvSpPr>
          <p:cNvPr id="27" name="Text 25"/>
          <p:cNvSpPr txBox="1"/>
          <p:nvPr/>
        </p:nvSpPr>
        <p:spPr>
          <a:xfrm>
            <a:off x="6345936" y="3419856"/>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Admin hours up?</a:t>
            </a:r>
            <a:endParaRPr lang="en-US" sz="1100" dirty="0"/>
          </a:p>
        </p:txBody>
      </p:sp>
      <p:sp>
        <p:nvSpPr>
          <p:cNvPr id="28" name="Text 26"/>
          <p:cNvSpPr txBox="1"/>
          <p:nvPr/>
        </p:nvSpPr>
        <p:spPr>
          <a:xfrm>
            <a:off x="7626096" y="3456432"/>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446 → 909 hrs Q1; admin cost $18.4K vs $9.2K F26, but below F24 $21.5K / F25 $22.7K.</a:t>
            </a:r>
            <a:endParaRPr lang="en-US" sz="1000" dirty="0"/>
          </a:p>
        </p:txBody>
      </p:sp>
      <p:sp>
        <p:nvSpPr>
          <p:cNvPr id="29" name="Shape 27"/>
          <p:cNvSpPr/>
          <p:nvPr/>
        </p:nvSpPr>
        <p:spPr>
          <a:xfrm>
            <a:off x="6208776" y="4315968"/>
            <a:ext cx="5431536" cy="822960"/>
          </a:xfrm>
          <a:prstGeom prst="roundRect">
            <a:avLst>
              <a:gd name="adj" fmla="val 8889"/>
            </a:avLst>
          </a:prstGeom>
          <a:solidFill>
            <a:srgbClr val="F9FAFB"/>
          </a:solidFill>
          <a:ln w="12700">
            <a:solidFill>
              <a:srgbClr val="F9FAFB"/>
            </a:solidFill>
            <a:prstDash val="solid"/>
          </a:ln>
        </p:spPr>
      </p:sp>
      <p:sp>
        <p:nvSpPr>
          <p:cNvPr id="30" name="Text 28"/>
          <p:cNvSpPr txBox="1"/>
          <p:nvPr/>
        </p:nvSpPr>
        <p:spPr>
          <a:xfrm>
            <a:off x="6345936" y="4315968"/>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Service?</a:t>
            </a:r>
            <a:endParaRPr lang="en-US" sz="1100" dirty="0"/>
          </a:p>
        </p:txBody>
      </p:sp>
      <p:sp>
        <p:nvSpPr>
          <p:cNvPr id="31" name="Text 29"/>
          <p:cNvSpPr txBox="1"/>
          <p:nvPr/>
        </p:nvSpPr>
        <p:spPr>
          <a:xfrm>
            <a:off x="7626096" y="4352544"/>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Adj OTS Sept 93.7% (96.7% excl. partner carriers), target 90% · missed PU 4.70% all dates, 3.75% last 7 days, 45% false positives.</a:t>
            </a:r>
            <a:endParaRPr lang="en-US" sz="1000" dirty="0"/>
          </a:p>
        </p:txBody>
      </p:sp>
      <p:sp>
        <p:nvSpPr>
          <p:cNvPr id="32" name="Shape 30"/>
          <p:cNvSpPr/>
          <p:nvPr/>
        </p:nvSpPr>
        <p:spPr>
          <a:xfrm>
            <a:off x="6208776" y="5212080"/>
            <a:ext cx="5431536" cy="822960"/>
          </a:xfrm>
          <a:prstGeom prst="roundRect">
            <a:avLst>
              <a:gd name="adj" fmla="val 8889"/>
            </a:avLst>
          </a:prstGeom>
          <a:solidFill>
            <a:srgbClr val="F3F4F6"/>
          </a:solidFill>
          <a:ln w="12700">
            <a:solidFill>
              <a:srgbClr val="F3F4F6"/>
            </a:solidFill>
            <a:prstDash val="solid"/>
          </a:ln>
        </p:spPr>
      </p:sp>
      <p:sp>
        <p:nvSpPr>
          <p:cNvPr id="33" name="Text 31"/>
          <p:cNvSpPr txBox="1"/>
          <p:nvPr/>
        </p:nvSpPr>
        <p:spPr>
          <a:xfrm>
            <a:off x="6345936" y="5212080"/>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Safety?</a:t>
            </a:r>
            <a:endParaRPr lang="en-US" sz="1100" dirty="0"/>
          </a:p>
        </p:txBody>
      </p:sp>
      <p:sp>
        <p:nvSpPr>
          <p:cNvPr id="34" name="Text 32"/>
          <p:cNvSpPr txBox="1"/>
          <p:nvPr/>
        </p:nvSpPr>
        <p:spPr>
          <a:xfrm>
            <a:off x="7626096" y="5248656"/>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0 recordables F27, TRIR 0.00 vs 1.21 F26 · 384 days since last recordable · Initiatives: 3 completed · 7 active · 2 planned (load securement &amp; decking; freight-handling equipment).</a:t>
            </a:r>
            <a:endParaRPr lang="en-US" sz="1000" dirty="0"/>
          </a:p>
        </p:txBody>
      </p:sp>
      <p:sp>
        <p:nvSpPr>
          <p:cNvPr id="35" name="Text 3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24 / 24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2026-09-29T15:07:13Z</dcterms:created>
  <dcterms:modified xsi:type="dcterms:W3CDTF">2026-09-29T15:07:13Z</dcterms:modified>
</cp:coreProperties>
</file>