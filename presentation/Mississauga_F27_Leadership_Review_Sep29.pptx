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7C3AE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C4B5F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D&amp;R</c:v>
                </c:pt>
              </c:strCache>
            </c:strRef>
          </c:tx>
          <c:spPr>
            <a:solidFill>
              <a:srgbClr val="7C3AED"/>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7C3AED"/>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Monthly LF score · all lanes vs ex-Moncton</a:t>
            </a:r>
          </a:p>
        </c:rich>
      </c:tx>
      <c:layout/>
      <c:overlay val="0"/>
    </c:title>
    <c:autoTitleDeleted val="0"/>
    <c:plotArea>
      <c:layout/>
      <c:barChart>
        <c:barDir val="col"/>
        <c:grouping val="clustered"/>
        <c:varyColors val="0"/>
        <c:ser>
          <c:idx val="0"/>
          <c:order val="0"/>
          <c:tx>
            <c:strRef>
              <c:f>Sheet1!$B$1</c:f>
              <c:strCache>
                <c:ptCount val="1"/>
                <c:pt idx="0">
                  <c:v>All lanes</c:v>
                </c:pt>
              </c:strCache>
            </c:strRef>
          </c:tx>
          <c:spPr>
            <a:solidFill>
              <a:srgbClr val="C4B5F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Sheet1!$B$2:$B$4</c:f>
              <c:numCache>
                <c:formatCode>General</c:formatCode>
                <c:ptCount val="3"/>
                <c:pt idx="0">
                  <c:v>38.9</c:v>
                </c:pt>
                <c:pt idx="1">
                  <c:v>33.4</c:v>
                </c:pt>
                <c:pt idx="2">
                  <c:v>36.7</c:v>
                </c:pt>
              </c:numCache>
            </c:numRef>
          </c:val>
        </c:ser>
        <c:ser>
          <c:idx val="1"/>
          <c:order val="1"/>
          <c:tx>
            <c:strRef>
              <c:f>Sheet1!$C$1</c:f>
              <c:strCache>
                <c:ptCount val="1"/>
                <c:pt idx="0">
                  <c:v>Ex-Moncton</c:v>
                </c:pt>
              </c:strCache>
            </c:strRef>
          </c:tx>
          <c:spPr>
            <a:solidFill>
              <a:srgbClr val="7C3AE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Sheet1!$C$2:$C$4</c:f>
              <c:numCache>
                <c:formatCode>General</c:formatCode>
                <c:ptCount val="3"/>
                <c:pt idx="0">
                  <c:v>42</c:v>
                </c:pt>
                <c:pt idx="1">
                  <c:v>38.5</c:v>
                </c:pt>
                <c:pt idx="2">
                  <c:v>37.6</c:v>
                </c:pt>
              </c:numCache>
            </c:numRef>
          </c:val>
        </c:ser>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safety, service, SCA, productivity, and the status of the building. Our September month-to-date headlines: adjusted on-time service is 93.7 percent, we are at 91.1 percent of our SCA hour allowance, units per hour are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topics today, then a recap: safety, service, the F27 savings outlook and SCA, productivity, load quality and equipment, and the physical terminal.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and it has been 384 days since our last recordable on September 10, 2025.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our safety work stands. Completed: the roofing work zones are barricaded with N95 masks available, and the new shunt pre-trip checklist is used every shift. Our ongoing practices include incident reporting: incidents are reported promptly and supervisors work directly with OHS on WSIB forms and a safe return to work; we document detailed descriptions, identify root cause with OHS, and follow up corrective actions so controls prevent recurrence; and forklift and TDG training is completed before expiry. Planned are load securement and decking with ANCRA decks and divider deck-board kits, and freight-handling equipment such as panel trucks and racks for windows, panels and car parts to improve handling and cut damages, and two people-led initiatives we will take to Safety: driver safety reps — our top safety-score drivers join the monthly safety meeting and speak for drivers, because drivers follow respected peers, people protect standards they help set, and drivers raise concerns with a peer they would not raise with a manager — and manager and supervisor route ride-alongs with a quarterly quota that ramps up to every driver once a year, so leaders see road challenges first-hand. For the November and spring/summer e-commerce peaks we add 10 percent or more new temp staff on every shift, and the Safety team has agreed to be part of phasing them in: safe work practices, lifting technique, truck and trailer pull safety, forklift safety and seat belts, and the right to refuse unsafe work, with short check-ins such as whether they wear the seat belt getting on and off the forklift and what to do if there is a spill. People who feel cared for, care. If we prioritize safety, then service, productivity and cost all fall into place. The ideas list is where we go next, including near-miss reporting and a safety plan for the new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people-led safety initiatives for F27. First, driver safety reps: our top safety-score drivers join the monthly safety meeting and speak for drivers — peers carry more weight than policy and drivers raise concerns with a peer they would not raise with a manager. Second, manager and supervisor route ride-alongs with a quarterly quota that ramps from 8 to 11 to 13, so leaders see road challenges first-hand. Third, peak onboarding with the Safety team, which Safety supports: for the November and spring/summer e-commerce peaks we add 10 percent or more new temp staff on every shift, and Safety will help phase them in — safe work practices, lifting technique, truck and trailer pull safety, forklift safety and the seat belt, and the right to refuse unsafe work — with short check-ins. People who feel cared for, care. If we prioritize safety, then service, productivity and cost all fall into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 Damaged freight bills averaged 1.61 percent over the last seven days; the latest day was 0.31 percent on September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today's rates hold, our F27 savings outlook is about 451 thousand dollars for the year — roughly 38 thousand dollars a month against the same months of F26. It is built on our two contract labour buckets: Admin contract labour is down about 25 percent, worth about 298 thousand a year, and Dock contract labour is down about 6 percent, worth about 92 thousand, plus the confirmed 61 thousand dollar dispatcher saving. Every extra 1 percent off contract labour is worth about 28 thousand a year. These are estimates if the current rate holds, not booked savings; load securement, handling equipment, accessorials and Toyota footage capture come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F27 initiative tracker. One initiative is confirmed: eliminating the dispatcher role and centralizing dispatch saves 61,000 dollars a year. Six more are in progress or planned — agency labour mix, running under the SCA hour allowance, load securement and decking, freight-handling equipment, accessorial capture and Toyota footage capture — and their dollar values and the F27 take-out target are being confirmed with Finance. Cargo claims for August 2026 were 13,432.53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SCA dock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Our workforce mix is shifting toward D&amp;R employees: agency is 61.4 percent of dock hours this September against 70.5 percent last September, or 1.59 agency hours per D&amp;R hour against 2.39. On our example day, Wednesday September 9, dock headcount was 22 agency to 11 D&amp;R, a 2 to 1 ratio — 3 to 1 on AM, 1.4 to 1 on days, 2.3 to 1 on PM — and dock hours were 207.33 against a 208-hour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Because the goal is weight-based, lighter freight holds PPH down even as units per hour 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factor is our biggest open opportunity: 36.4 percent of outbound loads so far in F27 are above 80 percent full, rising to 39.5 percent if we exclude Moncton. Moncton is understated because Toyota loads our trailer at Bowmanville and that footage is not being captured correctly; 20.5 percent of Moncton bills have no cube against 3 percent elsewhere, and the fix is under way. Our long western lanes load well, while Windsor, Quebec City and Dartmouth run light and need a consolidation and frequency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CICO, the SCA team has reviewed us and CICO is currently OK for our freight-bill volume, building size and operation. I completed the form for all admin roles and their duties. It is still under review, and any changes will come out of that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good and bad loads look like on our dock. The target loads use a deck beam or deck board to build a second tier and are strapped; the fix examples are loose freight on a diagonal and MAAX glass shower doors on improvised wooden A-frames or leaning in transit. We plan to add ANCRA knock-down pallet decks and divider deck-board kits, panel trucks and racks for windows, doors, panels and car parts, and load bars and straps on every mixed load, to lift load factor, reduce damages and claims, and make unloading safer. For example, MAAX shower doors and bases and 75-inch TVs currently ride standing loose, as on ; slotting them into panel carts, the yellow cart by hand or the grey cage by forklift, secures them in transit, speeds loading and unloading, and cuts breakage.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collapsible load tables. Extended, they build a second tier in the trailer; folded, a forklift lifts them; when empty they stack in a small footprint. Today our load tables are big fixed metal tables that take up dock space, and most terminals are much smaller than ours and could not store them. The benefit goes beyond Mississauga: we send outbound trailers to terminals across the country, and well-loaded trailers with collapsible tables and bin carts are faster and safer for them to unload and stage for final mile or transfer, and the same applies to inbound trailers to us. Less handling, fewer damages and claims, and safer unloading.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Mississauga is moving to a new building, expected before the end of calendar 2026. Because of that, we are not planning any major repair spend at the current site; our focus is a clean transition for the team and our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jpg"/><Relationship Id="rId5" Type="http://schemas.openxmlformats.org/officeDocument/2006/relationships/image" Target="../media/image-16-5.jp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claude-0/-home-user-mississauga-terminal-f26-cost-transformation-dashboard/6b011158-ae27-5f52-8fca-d7600eb7a2cd/scratchpad/deck/dr_title.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463040"/>
            <a:ext cx="566928" cy="566928"/>
          </a:xfrm>
          <a:prstGeom prst="ellipse">
            <a:avLst/>
          </a:prstGeom>
          <a:solidFill>
            <a:srgbClr val="7C3AED"/>
          </a:solidFill>
          <a:ln w="12700">
            <a:solidFill>
              <a:srgbClr val="7C3AED"/>
            </a:solidFill>
            <a:prstDash val="solid"/>
          </a:ln>
        </p:spPr>
      </p:sp>
      <p:sp>
        <p:nvSpPr>
          <p:cNvPr id="5" name="Text 3"/>
          <p:cNvSpPr txBox="1"/>
          <p:nvPr/>
        </p:nvSpPr>
        <p:spPr>
          <a:xfrm>
            <a:off x="548640" y="14630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463040"/>
            <a:ext cx="566928" cy="566928"/>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1421892" y="1604772"/>
            <a:ext cx="283464" cy="283464"/>
          </a:xfrm>
          <a:prstGeom prst="rect">
            <a:avLst/>
          </a:prstGeom>
        </p:spPr>
      </p:pic>
      <p:sp>
        <p:nvSpPr>
          <p:cNvPr id="8" name="Text 5"/>
          <p:cNvSpPr txBox="1"/>
          <p:nvPr/>
        </p:nvSpPr>
        <p:spPr>
          <a:xfrm>
            <a:off x="2103120" y="142646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77393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safety initiatives</a:t>
            </a:r>
            <a:endParaRPr lang="en-US" sz="1300" dirty="0"/>
          </a:p>
        </p:txBody>
      </p:sp>
      <p:sp>
        <p:nvSpPr>
          <p:cNvPr id="10" name="Shape 7"/>
          <p:cNvSpPr/>
          <p:nvPr/>
        </p:nvSpPr>
        <p:spPr>
          <a:xfrm>
            <a:off x="548640" y="2139696"/>
            <a:ext cx="566928" cy="566928"/>
          </a:xfrm>
          <a:prstGeom prst="ellipse">
            <a:avLst/>
          </a:prstGeom>
          <a:solidFill>
            <a:srgbClr val="7C3AED"/>
          </a:solidFill>
          <a:ln w="12700">
            <a:solidFill>
              <a:srgbClr val="7C3AED"/>
            </a:solidFill>
            <a:prstDash val="solid"/>
          </a:ln>
        </p:spPr>
      </p:sp>
      <p:sp>
        <p:nvSpPr>
          <p:cNvPr id="11" name="Text 8"/>
          <p:cNvSpPr txBox="1"/>
          <p:nvPr/>
        </p:nvSpPr>
        <p:spPr>
          <a:xfrm>
            <a:off x="548640" y="213969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139696"/>
            <a:ext cx="566928" cy="566928"/>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1421892" y="2281428"/>
            <a:ext cx="283464" cy="283464"/>
          </a:xfrm>
          <a:prstGeom prst="rect">
            <a:avLst/>
          </a:prstGeom>
        </p:spPr>
      </p:pic>
      <p:sp>
        <p:nvSpPr>
          <p:cNvPr id="14" name="Text 10"/>
          <p:cNvSpPr txBox="1"/>
          <p:nvPr/>
        </p:nvSpPr>
        <p:spPr>
          <a:xfrm>
            <a:off x="2103120" y="210312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45059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service failures, missed pickups</a:t>
            </a:r>
            <a:endParaRPr lang="en-US" sz="1300" dirty="0"/>
          </a:p>
        </p:txBody>
      </p:sp>
      <p:sp>
        <p:nvSpPr>
          <p:cNvPr id="16" name="Shape 12"/>
          <p:cNvSpPr/>
          <p:nvPr/>
        </p:nvSpPr>
        <p:spPr>
          <a:xfrm>
            <a:off x="548640" y="2816352"/>
            <a:ext cx="566928" cy="566928"/>
          </a:xfrm>
          <a:prstGeom prst="ellipse">
            <a:avLst/>
          </a:prstGeom>
          <a:solidFill>
            <a:srgbClr val="7C3AED"/>
          </a:solidFill>
          <a:ln w="12700">
            <a:solidFill>
              <a:srgbClr val="7C3AED"/>
            </a:solidFill>
            <a:prstDash val="solid"/>
          </a:ln>
        </p:spPr>
      </p:sp>
      <p:sp>
        <p:nvSpPr>
          <p:cNvPr id="17" name="Text 13"/>
          <p:cNvSpPr txBox="1"/>
          <p:nvPr/>
        </p:nvSpPr>
        <p:spPr>
          <a:xfrm>
            <a:off x="548640" y="2816352"/>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2816352"/>
            <a:ext cx="566928" cy="566928"/>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1421892" y="2958084"/>
            <a:ext cx="283464" cy="283464"/>
          </a:xfrm>
          <a:prstGeom prst="rect">
            <a:avLst/>
          </a:prstGeom>
        </p:spPr>
      </p:pic>
      <p:sp>
        <p:nvSpPr>
          <p:cNvPr id="20" name="Text 15"/>
          <p:cNvSpPr txBox="1"/>
          <p:nvPr/>
        </p:nvSpPr>
        <p:spPr>
          <a:xfrm>
            <a:off x="2103120" y="2779776"/>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F27 savings outlook &amp; SCA</a:t>
            </a:r>
            <a:endParaRPr lang="en-US" sz="1900" dirty="0"/>
          </a:p>
        </p:txBody>
      </p:sp>
      <p:sp>
        <p:nvSpPr>
          <p:cNvPr id="21" name="Text 16"/>
          <p:cNvSpPr txBox="1"/>
          <p:nvPr/>
        </p:nvSpPr>
        <p:spPr>
          <a:xfrm>
            <a:off x="2103120" y="3127248"/>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Savings outlook &amp; tracker, cost per PRO, hours, staffing by shift</a:t>
            </a:r>
            <a:endParaRPr lang="en-US" sz="1300" dirty="0"/>
          </a:p>
        </p:txBody>
      </p:sp>
      <p:sp>
        <p:nvSpPr>
          <p:cNvPr id="22" name="Shape 17"/>
          <p:cNvSpPr/>
          <p:nvPr/>
        </p:nvSpPr>
        <p:spPr>
          <a:xfrm>
            <a:off x="548640" y="3493008"/>
            <a:ext cx="566928" cy="566928"/>
          </a:xfrm>
          <a:prstGeom prst="ellipse">
            <a:avLst/>
          </a:prstGeom>
          <a:solidFill>
            <a:srgbClr val="7C3AED"/>
          </a:solidFill>
          <a:ln w="12700">
            <a:solidFill>
              <a:srgbClr val="7C3AED"/>
            </a:solidFill>
            <a:prstDash val="solid"/>
          </a:ln>
        </p:spPr>
      </p:sp>
      <p:sp>
        <p:nvSpPr>
          <p:cNvPr id="23" name="Text 18"/>
          <p:cNvSpPr txBox="1"/>
          <p:nvPr/>
        </p:nvSpPr>
        <p:spPr>
          <a:xfrm>
            <a:off x="548640" y="349300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3493008"/>
            <a:ext cx="566928" cy="566928"/>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1421892" y="3634740"/>
            <a:ext cx="283464" cy="283464"/>
          </a:xfrm>
          <a:prstGeom prst="rect">
            <a:avLst/>
          </a:prstGeom>
        </p:spPr>
      </p:pic>
      <p:sp>
        <p:nvSpPr>
          <p:cNvPr id="26" name="Text 20"/>
          <p:cNvSpPr txBox="1"/>
          <p:nvPr/>
        </p:nvSpPr>
        <p:spPr>
          <a:xfrm>
            <a:off x="2103120" y="3456432"/>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 (PPH, load factor, CICO)</a:t>
            </a:r>
            <a:endParaRPr lang="en-US" sz="1900" dirty="0"/>
          </a:p>
        </p:txBody>
      </p:sp>
      <p:sp>
        <p:nvSpPr>
          <p:cNvPr id="27" name="Text 21"/>
          <p:cNvSpPr txBox="1"/>
          <p:nvPr/>
        </p:nvSpPr>
        <p:spPr>
          <a:xfrm>
            <a:off x="2103120" y="3803904"/>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&amp; units/hr, load factor, CICO</a:t>
            </a:r>
            <a:endParaRPr lang="en-US" sz="1300" dirty="0"/>
          </a:p>
        </p:txBody>
      </p:sp>
      <p:sp>
        <p:nvSpPr>
          <p:cNvPr id="28" name="Shape 22"/>
          <p:cNvSpPr/>
          <p:nvPr/>
        </p:nvSpPr>
        <p:spPr>
          <a:xfrm>
            <a:off x="548640" y="4169664"/>
            <a:ext cx="566928" cy="566928"/>
          </a:xfrm>
          <a:prstGeom prst="ellipse">
            <a:avLst/>
          </a:prstGeom>
          <a:solidFill>
            <a:srgbClr val="7C3AED"/>
          </a:solidFill>
          <a:ln w="12700">
            <a:solidFill>
              <a:srgbClr val="7C3AED"/>
            </a:solidFill>
            <a:prstDash val="solid"/>
          </a:ln>
        </p:spPr>
      </p:sp>
      <p:sp>
        <p:nvSpPr>
          <p:cNvPr id="29" name="Text 23"/>
          <p:cNvSpPr txBox="1"/>
          <p:nvPr/>
        </p:nvSpPr>
        <p:spPr>
          <a:xfrm>
            <a:off x="548640" y="4169664"/>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4169664"/>
            <a:ext cx="566928" cy="566928"/>
          </a:xfrm>
          <a:prstGeom prst="ellipse">
            <a:avLst/>
          </a:prstGeom>
          <a:solidFill>
            <a:srgbClr val="EDE9FE"/>
          </a:solidFill>
          <a:ln w="12700">
            <a:solidFill>
              <a:srgbClr val="EDE9FE"/>
            </a:solidFill>
            <a:prstDash val="solid"/>
          </a:ln>
        </p:spPr>
      </p:sp>
      <p:pic>
        <p:nvPicPr>
          <p:cNvPr id="31" name="Image 4" descr="preencoded.png">    </p:cNvPr>
          <p:cNvPicPr>
            <a:picLocks noChangeAspect="1"/>
          </p:cNvPicPr>
          <p:nvPr/>
        </p:nvPicPr>
        <p:blipFill>
          <a:blip r:embed="rId5"/>
          <a:stretch>
            <a:fillRect/>
          </a:stretch>
        </p:blipFill>
        <p:spPr>
          <a:xfrm>
            <a:off x="1421892" y="4311396"/>
            <a:ext cx="283464" cy="283464"/>
          </a:xfrm>
          <a:prstGeom prst="rect">
            <a:avLst/>
          </a:prstGeom>
        </p:spPr>
      </p:pic>
      <p:sp>
        <p:nvSpPr>
          <p:cNvPr id="32" name="Text 25"/>
          <p:cNvSpPr txBox="1"/>
          <p:nvPr/>
        </p:nvSpPr>
        <p:spPr>
          <a:xfrm>
            <a:off x="2103120" y="4133088"/>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Load quality &amp; equipment</a:t>
            </a:r>
            <a:endParaRPr lang="en-US" sz="1900" dirty="0"/>
          </a:p>
        </p:txBody>
      </p:sp>
      <p:sp>
        <p:nvSpPr>
          <p:cNvPr id="33" name="Text 26"/>
          <p:cNvSpPr txBox="1"/>
          <p:nvPr/>
        </p:nvSpPr>
        <p:spPr>
          <a:xfrm>
            <a:off x="2103120" y="4480560"/>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Load securement &amp; decking, collapsible load tables</a:t>
            </a:r>
            <a:endParaRPr lang="en-US" sz="1300" dirty="0"/>
          </a:p>
        </p:txBody>
      </p:sp>
      <p:sp>
        <p:nvSpPr>
          <p:cNvPr id="34" name="Shape 27"/>
          <p:cNvSpPr/>
          <p:nvPr/>
        </p:nvSpPr>
        <p:spPr>
          <a:xfrm>
            <a:off x="548640" y="4846320"/>
            <a:ext cx="566928" cy="566928"/>
          </a:xfrm>
          <a:prstGeom prst="ellipse">
            <a:avLst/>
          </a:prstGeom>
          <a:solidFill>
            <a:srgbClr val="7C3AED"/>
          </a:solidFill>
          <a:ln w="12700">
            <a:solidFill>
              <a:srgbClr val="7C3AED"/>
            </a:solidFill>
            <a:prstDash val="solid"/>
          </a:ln>
        </p:spPr>
      </p:sp>
      <p:sp>
        <p:nvSpPr>
          <p:cNvPr id="35" name="Text 28"/>
          <p:cNvSpPr txBox="1"/>
          <p:nvPr/>
        </p:nvSpPr>
        <p:spPr>
          <a:xfrm>
            <a:off x="548640" y="48463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6" name="Shape 29"/>
          <p:cNvSpPr/>
          <p:nvPr/>
        </p:nvSpPr>
        <p:spPr>
          <a:xfrm>
            <a:off x="1280160" y="4846320"/>
            <a:ext cx="566928" cy="566928"/>
          </a:xfrm>
          <a:prstGeom prst="ellipse">
            <a:avLst/>
          </a:prstGeom>
          <a:solidFill>
            <a:srgbClr val="EDE9FE"/>
          </a:solidFill>
          <a:ln w="12700">
            <a:solidFill>
              <a:srgbClr val="EDE9FE"/>
            </a:solidFill>
            <a:prstDash val="solid"/>
          </a:ln>
        </p:spPr>
      </p:sp>
      <p:pic>
        <p:nvPicPr>
          <p:cNvPr id="37" name="Image 5" descr="preencoded.png">    </p:cNvPr>
          <p:cNvPicPr>
            <a:picLocks noChangeAspect="1"/>
          </p:cNvPicPr>
          <p:nvPr/>
        </p:nvPicPr>
        <p:blipFill>
          <a:blip r:embed="rId6"/>
          <a:stretch>
            <a:fillRect/>
          </a:stretch>
        </p:blipFill>
        <p:spPr>
          <a:xfrm>
            <a:off x="1421892" y="4988052"/>
            <a:ext cx="283464" cy="283464"/>
          </a:xfrm>
          <a:prstGeom prst="rect">
            <a:avLst/>
          </a:prstGeom>
        </p:spPr>
      </p:pic>
      <p:sp>
        <p:nvSpPr>
          <p:cNvPr id="38" name="Text 30"/>
          <p:cNvSpPr txBox="1"/>
          <p:nvPr/>
        </p:nvSpPr>
        <p:spPr>
          <a:xfrm>
            <a:off x="2103120" y="480974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Physical terminal</a:t>
            </a:r>
            <a:endParaRPr lang="en-US" sz="1900" dirty="0"/>
          </a:p>
        </p:txBody>
      </p:sp>
      <p:sp>
        <p:nvSpPr>
          <p:cNvPr id="39" name="Text 31"/>
          <p:cNvSpPr txBox="1"/>
          <p:nvPr/>
        </p:nvSpPr>
        <p:spPr>
          <a:xfrm>
            <a:off x="2103120" y="515721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New building — expected before end of calendar 2026</a:t>
            </a:r>
            <a:endParaRPr lang="en-US" sz="1300" dirty="0"/>
          </a:p>
        </p:txBody>
      </p:sp>
      <p:sp>
        <p:nvSpPr>
          <p:cNvPr id="40" name="Shape 32"/>
          <p:cNvSpPr/>
          <p:nvPr/>
        </p:nvSpPr>
        <p:spPr>
          <a:xfrm>
            <a:off x="548640" y="5522976"/>
            <a:ext cx="566928" cy="566928"/>
          </a:xfrm>
          <a:prstGeom prst="ellipse">
            <a:avLst/>
          </a:prstGeom>
          <a:solidFill>
            <a:srgbClr val="7C3AED"/>
          </a:solidFill>
          <a:ln w="12700">
            <a:solidFill>
              <a:srgbClr val="7C3AED"/>
            </a:solidFill>
            <a:prstDash val="solid"/>
          </a:ln>
        </p:spPr>
      </p:sp>
      <p:sp>
        <p:nvSpPr>
          <p:cNvPr id="41" name="Text 33"/>
          <p:cNvSpPr txBox="1"/>
          <p:nvPr/>
        </p:nvSpPr>
        <p:spPr>
          <a:xfrm>
            <a:off x="548640" y="552297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7</a:t>
            </a:r>
            <a:endParaRPr lang="en-US" sz="1800" dirty="0"/>
          </a:p>
        </p:txBody>
      </p:sp>
      <p:sp>
        <p:nvSpPr>
          <p:cNvPr id="42" name="Shape 34"/>
          <p:cNvSpPr/>
          <p:nvPr/>
        </p:nvSpPr>
        <p:spPr>
          <a:xfrm>
            <a:off x="1280160" y="5522976"/>
            <a:ext cx="566928" cy="566928"/>
          </a:xfrm>
          <a:prstGeom prst="ellipse">
            <a:avLst/>
          </a:prstGeom>
          <a:solidFill>
            <a:srgbClr val="EDE9FE"/>
          </a:solidFill>
          <a:ln w="12700">
            <a:solidFill>
              <a:srgbClr val="EDE9FE"/>
            </a:solidFill>
            <a:prstDash val="solid"/>
          </a:ln>
        </p:spPr>
      </p:sp>
      <p:pic>
        <p:nvPicPr>
          <p:cNvPr id="43" name="Image 6" descr="preencoded.png">    </p:cNvPr>
          <p:cNvPicPr>
            <a:picLocks noChangeAspect="1"/>
          </p:cNvPicPr>
          <p:nvPr/>
        </p:nvPicPr>
        <p:blipFill>
          <a:blip r:embed="rId7"/>
          <a:stretch>
            <a:fillRect/>
          </a:stretch>
        </p:blipFill>
        <p:spPr>
          <a:xfrm>
            <a:off x="1421892" y="5664708"/>
            <a:ext cx="283464" cy="283464"/>
          </a:xfrm>
          <a:prstGeom prst="rect">
            <a:avLst/>
          </a:prstGeom>
        </p:spPr>
      </p:pic>
      <p:sp>
        <p:nvSpPr>
          <p:cNvPr id="44" name="Text 35"/>
          <p:cNvSpPr txBox="1"/>
          <p:nvPr/>
        </p:nvSpPr>
        <p:spPr>
          <a:xfrm>
            <a:off x="2103120" y="548640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Recap &amp; questions</a:t>
            </a:r>
            <a:endParaRPr lang="en-US" sz="1900" dirty="0"/>
          </a:p>
        </p:txBody>
      </p:sp>
      <p:sp>
        <p:nvSpPr>
          <p:cNvPr id="45" name="Text 36"/>
          <p:cNvSpPr txBox="1"/>
          <p:nvPr/>
        </p:nvSpPr>
        <p:spPr>
          <a:xfrm>
            <a:off x="2103120" y="583387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F27 so far — full detail is on the website</a:t>
            </a:r>
            <a:endParaRPr lang="en-US" sz="1300" dirty="0"/>
          </a:p>
        </p:txBody>
      </p:sp>
      <p:sp>
        <p:nvSpPr>
          <p:cNvPr id="46" name="Shape 3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47" name="Shape 38"/>
          <p:cNvSpPr/>
          <p:nvPr/>
        </p:nvSpPr>
        <p:spPr>
          <a:xfrm>
            <a:off x="8275320" y="1783080"/>
            <a:ext cx="502920" cy="502920"/>
          </a:xfrm>
          <a:prstGeom prst="ellipse">
            <a:avLst/>
          </a:prstGeom>
          <a:solidFill>
            <a:srgbClr val="EDE9FE"/>
          </a:solidFill>
          <a:ln w="12700">
            <a:solidFill>
              <a:srgbClr val="EDE9FE"/>
            </a:solidFill>
            <a:prstDash val="solid"/>
          </a:ln>
        </p:spPr>
      </p:sp>
      <p:pic>
        <p:nvPicPr>
          <p:cNvPr id="48" name="Image 7" descr="preencoded.png">    </p:cNvPr>
          <p:cNvPicPr>
            <a:picLocks noChangeAspect="1"/>
          </p:cNvPicPr>
          <p:nvPr/>
        </p:nvPicPr>
        <p:blipFill>
          <a:blip r:embed="rId8"/>
          <a:stretch>
            <a:fillRect/>
          </a:stretch>
        </p:blipFill>
        <p:spPr>
          <a:xfrm>
            <a:off x="8401050" y="1908810"/>
            <a:ext cx="251460" cy="251460"/>
          </a:xfrm>
          <a:prstGeom prst="rect">
            <a:avLst/>
          </a:prstGeom>
        </p:spPr>
      </p:pic>
      <p:sp>
        <p:nvSpPr>
          <p:cNvPr id="49" name="Text 3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50" name="Text 4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51" name="Text 4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52" name="Text 4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19</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384</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Last: Sep 10, 2025</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0 recordables Jul–Aug; TRIR 0.00 vs 1.21 F26.   </a:t>
            </a:r>
            <a:pPr indent="0" marL="0">
              <a:buNone/>
            </a:pPr>
            <a:r>
              <a:rPr lang="en-US" sz="1300" i="1" dirty="0">
                <a:solidFill>
                  <a:srgbClr val="065F46"/>
                </a:solidFill>
                <a:latin typeface="Calibri" pitchFamily="34" charset="0"/>
                <a:ea typeface="Calibri" pitchFamily="34" charset="-122"/>
                <a:cs typeface="Calibri" pitchFamily="34" charset="-120"/>
              </a:rPr>
              <a:t>“If we prioritize safety, then service, productivity and cost all fall into place.”</a:t>
            </a:r>
            <a:endParaRPr lang="en-US" sz="13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day</a:t>
            </a:r>
            <a:endParaRPr lang="en-US" sz="1800" dirty="0"/>
          </a:p>
        </p:txBody>
      </p:sp>
      <p:sp>
        <p:nvSpPr>
          <p:cNvPr id="27" name="Shape 25"/>
          <p:cNvSpPr/>
          <p:nvPr/>
        </p:nvSpPr>
        <p:spPr>
          <a:xfrm>
            <a:off x="548640" y="3575304"/>
            <a:ext cx="384048" cy="384048"/>
          </a:xfrm>
          <a:prstGeom prst="ellipse">
            <a:avLst/>
          </a:prstGeom>
          <a:solidFill>
            <a:srgbClr val="EDE9FE"/>
          </a:solidFill>
          <a:ln w="12700">
            <a:solidFill>
              <a:srgbClr val="EDE9FE"/>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EDE9FE"/>
          </a:solidFill>
          <a:ln w="12700">
            <a:solidFill>
              <a:srgbClr val="EDE9FE"/>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EDE9FE"/>
          </a:solidFill>
          <a:ln w="12700">
            <a:solidFill>
              <a:srgbClr val="EDE9FE"/>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EDE9FE"/>
          </a:solidFill>
          <a:ln w="12700">
            <a:solidFill>
              <a:srgbClr val="EDE9FE"/>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EDE9FE"/>
          </a:solidFill>
          <a:ln w="12700">
            <a:solidFill>
              <a:srgbClr val="EDE9FE"/>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as of Sep 29, 2026 (last recordable Sep 10, 2025).</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19</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2500" b="1" dirty="0">
                <a:solidFill>
                  <a:srgbClr val="111827"/>
                </a:solidFill>
                <a:latin typeface="Calibri" pitchFamily="34" charset="0"/>
                <a:ea typeface="Calibri" pitchFamily="34" charset="-122"/>
                <a:cs typeface="Calibri" pitchFamily="34" charset="-120"/>
              </a:rPr>
              <a:t>Safety initiatives — completed · active · planned · ideas</a:t>
            </a:r>
            <a:endParaRPr lang="en-US" sz="2500" dirty="0"/>
          </a:p>
        </p:txBody>
      </p:sp>
      <p:sp>
        <p:nvSpPr>
          <p:cNvPr id="4" name="Shape 2"/>
          <p:cNvSpPr/>
          <p:nvPr/>
        </p:nvSpPr>
        <p:spPr>
          <a:xfrm>
            <a:off x="548640" y="1371600"/>
            <a:ext cx="5431536" cy="2240280"/>
          </a:xfrm>
          <a:prstGeom prst="roundRect">
            <a:avLst>
              <a:gd name="adj" fmla="val 3265"/>
            </a:avLst>
          </a:prstGeom>
          <a:solidFill>
            <a:srgbClr val="F3F4F6"/>
          </a:solidFill>
          <a:ln w="12700">
            <a:solidFill>
              <a:srgbClr val="F3F4F6"/>
            </a:solidFill>
            <a:prstDash val="solid"/>
          </a:ln>
        </p:spPr>
      </p:sp>
      <p:sp>
        <p:nvSpPr>
          <p:cNvPr id="5" name="Shape 3"/>
          <p:cNvSpPr/>
          <p:nvPr/>
        </p:nvSpPr>
        <p:spPr>
          <a:xfrm>
            <a:off x="731520" y="1536192"/>
            <a:ext cx="1920240" cy="329184"/>
          </a:xfrm>
          <a:prstGeom prst="roundRect">
            <a:avLst>
              <a:gd name="adj" fmla="val 22222"/>
            </a:avLst>
          </a:prstGeom>
          <a:solidFill>
            <a:srgbClr val="D1FAE5"/>
          </a:solidFill>
          <a:ln w="12700">
            <a:solidFill>
              <a:srgbClr val="D1FAE5"/>
            </a:solidFill>
            <a:prstDash val="solid"/>
          </a:ln>
        </p:spPr>
      </p:sp>
      <p:sp>
        <p:nvSpPr>
          <p:cNvPr id="6" name="Text 4"/>
          <p:cNvSpPr txBox="1"/>
          <p:nvPr/>
        </p:nvSpPr>
        <p:spPr>
          <a:xfrm>
            <a:off x="731520"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059669"/>
                </a:solidFill>
                <a:latin typeface="Calibri" pitchFamily="34" charset="0"/>
                <a:ea typeface="Calibri" pitchFamily="34" charset="-122"/>
                <a:cs typeface="Calibri" pitchFamily="34" charset="-120"/>
              </a:rPr>
              <a:t>COMPLETED</a:t>
            </a:r>
            <a:endParaRPr lang="en-US" sz="1150" dirty="0"/>
          </a:p>
        </p:txBody>
      </p:sp>
      <p:sp>
        <p:nvSpPr>
          <p:cNvPr id="7" name="Text 5"/>
          <p:cNvSpPr txBox="1"/>
          <p:nvPr/>
        </p:nvSpPr>
        <p:spPr>
          <a:xfrm>
            <a:off x="2788920"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3 done</a:t>
            </a:r>
            <a:endParaRPr lang="en-US" sz="1050" dirty="0"/>
          </a:p>
        </p:txBody>
      </p:sp>
      <p:sp>
        <p:nvSpPr>
          <p:cNvPr id="8" name="Text 6"/>
          <p:cNvSpPr txBox="1"/>
          <p:nvPr/>
        </p:nvSpPr>
        <p:spPr>
          <a:xfrm>
            <a:off x="777240"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Roofing work zones barricaded — no access under overhead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N95 masks available on the dock during roofing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New shunt pre-trip checklist rolled out — used every shift.</a:t>
            </a:r>
            <a:endParaRPr lang="en-US" sz="1250" dirty="0"/>
          </a:p>
        </p:txBody>
      </p:sp>
      <p:sp>
        <p:nvSpPr>
          <p:cNvPr id="9" name="Shape 7"/>
          <p:cNvSpPr/>
          <p:nvPr/>
        </p:nvSpPr>
        <p:spPr>
          <a:xfrm>
            <a:off x="6208776" y="1371600"/>
            <a:ext cx="5431536" cy="2240280"/>
          </a:xfrm>
          <a:prstGeom prst="roundRect">
            <a:avLst>
              <a:gd name="adj" fmla="val 3265"/>
            </a:avLst>
          </a:prstGeom>
          <a:solidFill>
            <a:srgbClr val="F3F4F6"/>
          </a:solidFill>
          <a:ln w="12700">
            <a:solidFill>
              <a:srgbClr val="F3F4F6"/>
            </a:solidFill>
            <a:prstDash val="solid"/>
          </a:ln>
        </p:spPr>
      </p:sp>
      <p:sp>
        <p:nvSpPr>
          <p:cNvPr id="10" name="Shape 8"/>
          <p:cNvSpPr/>
          <p:nvPr/>
        </p:nvSpPr>
        <p:spPr>
          <a:xfrm>
            <a:off x="6391656" y="1536192"/>
            <a:ext cx="1920240" cy="329184"/>
          </a:xfrm>
          <a:prstGeom prst="roundRect">
            <a:avLst>
              <a:gd name="adj" fmla="val 22222"/>
            </a:avLst>
          </a:prstGeom>
          <a:solidFill>
            <a:srgbClr val="DBEAFE"/>
          </a:solidFill>
          <a:ln w="12700">
            <a:solidFill>
              <a:srgbClr val="DBEAFE"/>
            </a:solidFill>
            <a:prstDash val="solid"/>
          </a:ln>
        </p:spPr>
      </p:sp>
      <p:sp>
        <p:nvSpPr>
          <p:cNvPr id="11" name="Text 9"/>
          <p:cNvSpPr txBox="1"/>
          <p:nvPr/>
        </p:nvSpPr>
        <p:spPr>
          <a:xfrm>
            <a:off x="6391656"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2563EB"/>
                </a:solidFill>
                <a:latin typeface="Calibri" pitchFamily="34" charset="0"/>
                <a:ea typeface="Calibri" pitchFamily="34" charset="-122"/>
                <a:cs typeface="Calibri" pitchFamily="34" charset="-120"/>
              </a:rPr>
              <a:t>ACTIVE</a:t>
            </a:r>
            <a:endParaRPr lang="en-US" sz="1150" dirty="0"/>
          </a:p>
        </p:txBody>
      </p:sp>
      <p:sp>
        <p:nvSpPr>
          <p:cNvPr id="12" name="Text 10"/>
          <p:cNvSpPr txBox="1"/>
          <p:nvPr/>
        </p:nvSpPr>
        <p:spPr>
          <a:xfrm>
            <a:off x="8449056"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7 ongoing</a:t>
            </a:r>
            <a:endParaRPr lang="en-US" sz="1050" dirty="0"/>
          </a:p>
        </p:txBody>
      </p:sp>
      <p:sp>
        <p:nvSpPr>
          <p:cNvPr id="13" name="Text 11"/>
          <p:cNvSpPr txBox="1"/>
          <p:nvPr/>
        </p:nvSpPr>
        <p:spPr>
          <a:xfrm>
            <a:off x="6437376"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Tailgates + safety moments after incidents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Forklift pre/post inspections — every operator</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No forklifts loaded on straight trucks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H&amp;S inspections → OHS / JHSC review</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STEP observations — non-compliance addressed on the spot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Incident root cause + corrective-action follow-up with OHS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e-learning; forklift / TDG renewed before expiry</a:t>
            </a:r>
            <a:endParaRPr lang="en-US" sz="1050" dirty="0"/>
          </a:p>
        </p:txBody>
      </p:sp>
      <p:sp>
        <p:nvSpPr>
          <p:cNvPr id="14" name="Shape 12"/>
          <p:cNvSpPr/>
          <p:nvPr/>
        </p:nvSpPr>
        <p:spPr>
          <a:xfrm>
            <a:off x="548640" y="3749040"/>
            <a:ext cx="5431536" cy="2240280"/>
          </a:xfrm>
          <a:prstGeom prst="roundRect">
            <a:avLst>
              <a:gd name="adj" fmla="val 3265"/>
            </a:avLst>
          </a:prstGeom>
          <a:solidFill>
            <a:srgbClr val="F3F4F6"/>
          </a:solidFill>
          <a:ln w="12700">
            <a:solidFill>
              <a:srgbClr val="F3F4F6"/>
            </a:solidFill>
            <a:prstDash val="solid"/>
          </a:ln>
        </p:spPr>
      </p:sp>
      <p:sp>
        <p:nvSpPr>
          <p:cNvPr id="15" name="Shape 13"/>
          <p:cNvSpPr/>
          <p:nvPr/>
        </p:nvSpPr>
        <p:spPr>
          <a:xfrm>
            <a:off x="731520" y="3913632"/>
            <a:ext cx="1920240" cy="329184"/>
          </a:xfrm>
          <a:prstGeom prst="roundRect">
            <a:avLst>
              <a:gd name="adj" fmla="val 22222"/>
            </a:avLst>
          </a:prstGeom>
          <a:solidFill>
            <a:srgbClr val="FEF3C7"/>
          </a:solidFill>
          <a:ln w="12700">
            <a:solidFill>
              <a:srgbClr val="FEF3C7"/>
            </a:solidFill>
            <a:prstDash val="solid"/>
          </a:ln>
        </p:spPr>
      </p:sp>
      <p:sp>
        <p:nvSpPr>
          <p:cNvPr id="16" name="Text 14"/>
          <p:cNvSpPr txBox="1"/>
          <p:nvPr/>
        </p:nvSpPr>
        <p:spPr>
          <a:xfrm>
            <a:off x="731520"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B45309"/>
                </a:solidFill>
                <a:latin typeface="Calibri" pitchFamily="34" charset="0"/>
                <a:ea typeface="Calibri" pitchFamily="34" charset="-122"/>
                <a:cs typeface="Calibri" pitchFamily="34" charset="-120"/>
              </a:rPr>
              <a:t>PLANNED</a:t>
            </a:r>
            <a:endParaRPr lang="en-US" sz="1150" dirty="0"/>
          </a:p>
        </p:txBody>
      </p:sp>
      <p:sp>
        <p:nvSpPr>
          <p:cNvPr id="17" name="Text 15"/>
          <p:cNvSpPr txBox="1"/>
          <p:nvPr/>
        </p:nvSpPr>
        <p:spPr>
          <a:xfrm>
            <a:off x="2788920" y="391363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5 planned</a:t>
            </a:r>
            <a:endParaRPr lang="en-US" sz="1050" dirty="0"/>
          </a:p>
        </p:txBody>
      </p:sp>
      <p:sp>
        <p:nvSpPr>
          <p:cNvPr id="18" name="Text 16"/>
          <p:cNvSpPr txBox="1"/>
          <p:nvPr/>
        </p:nvSpPr>
        <p:spPr>
          <a:xfrm>
            <a:off x="777240"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 safety reps — top safety-score drivers at the monthly safety meeting</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Manager &amp; supervisor route ride-alongs — quarterly quota</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Peak onboarding supported by Safety — safe work practices, lifting, forklift &amp; seat belt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Load securement &amp; decking (ANCRA, collapsible tables)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Freight-handling equipment — panel trucks &amp; racks</a:t>
            </a:r>
            <a:endParaRPr lang="en-US" sz="1050" dirty="0"/>
          </a:p>
        </p:txBody>
      </p:sp>
      <p:sp>
        <p:nvSpPr>
          <p:cNvPr id="19" name="Shape 17"/>
          <p:cNvSpPr/>
          <p:nvPr/>
        </p:nvSpPr>
        <p:spPr>
          <a:xfrm>
            <a:off x="6208776" y="3749040"/>
            <a:ext cx="5431536" cy="2240280"/>
          </a:xfrm>
          <a:prstGeom prst="roundRect">
            <a:avLst>
              <a:gd name="adj" fmla="val 3265"/>
            </a:avLst>
          </a:prstGeom>
          <a:solidFill>
            <a:srgbClr val="F5F3FF"/>
          </a:solidFill>
          <a:ln w="12700">
            <a:solidFill>
              <a:srgbClr val="F5F3FF"/>
            </a:solidFill>
            <a:prstDash val="solid"/>
          </a:ln>
        </p:spPr>
      </p:sp>
      <p:sp>
        <p:nvSpPr>
          <p:cNvPr id="20" name="Shape 18"/>
          <p:cNvSpPr/>
          <p:nvPr/>
        </p:nvSpPr>
        <p:spPr>
          <a:xfrm>
            <a:off x="6391656" y="3913632"/>
            <a:ext cx="1920240" cy="329184"/>
          </a:xfrm>
          <a:prstGeom prst="roundRect">
            <a:avLst>
              <a:gd name="adj" fmla="val 22222"/>
            </a:avLst>
          </a:prstGeom>
          <a:solidFill>
            <a:srgbClr val="EDE9FE"/>
          </a:solidFill>
          <a:ln w="12700">
            <a:solidFill>
              <a:srgbClr val="EDE9FE"/>
            </a:solidFill>
            <a:prstDash val="solid"/>
          </a:ln>
        </p:spPr>
      </p:sp>
      <p:sp>
        <p:nvSpPr>
          <p:cNvPr id="21" name="Text 19"/>
          <p:cNvSpPr txBox="1"/>
          <p:nvPr/>
        </p:nvSpPr>
        <p:spPr>
          <a:xfrm>
            <a:off x="6391656"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7C3AED"/>
                </a:solidFill>
                <a:latin typeface="Calibri" pitchFamily="34" charset="0"/>
                <a:ea typeface="Calibri" pitchFamily="34" charset="-122"/>
                <a:cs typeface="Calibri" pitchFamily="34" charset="-120"/>
              </a:rPr>
              <a:t>IDEAS TO ACTION</a:t>
            </a:r>
            <a:endParaRPr lang="en-US" sz="1150" dirty="0"/>
          </a:p>
        </p:txBody>
      </p:sp>
      <p:sp>
        <p:nvSpPr>
          <p:cNvPr id="22" name="Text 20"/>
          <p:cNvSpPr txBox="1"/>
          <p:nvPr/>
        </p:nvSpPr>
        <p:spPr>
          <a:xfrm>
            <a:off x="6437376"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New-building safety plan before the move</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Near-miss reporting</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Pedestrian–forklift separation</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Trailer securement audit each shift</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Winter yard readiness</a:t>
            </a:r>
            <a:endParaRPr lang="en-US" sz="1100" dirty="0"/>
          </a:p>
        </p:txBody>
      </p:sp>
      <p:sp>
        <p:nvSpPr>
          <p:cNvPr id="23" name="Text 2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2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19</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People-led safety — F27 proposals with Safety</a:t>
            </a:r>
            <a:endParaRPr lang="en-US" sz="3000" dirty="0"/>
          </a:p>
        </p:txBody>
      </p:sp>
      <p:sp>
        <p:nvSpPr>
          <p:cNvPr id="4" name="Shape 2"/>
          <p:cNvSpPr/>
          <p:nvPr/>
        </p:nvSpPr>
        <p:spPr>
          <a:xfrm>
            <a:off x="548640" y="1325880"/>
            <a:ext cx="3544824" cy="3977640"/>
          </a:xfrm>
          <a:prstGeom prst="roundRect">
            <a:avLst>
              <a:gd name="adj" fmla="val 2064"/>
            </a:avLst>
          </a:prstGeom>
          <a:solidFill>
            <a:srgbClr val="F3F4F6"/>
          </a:solidFill>
          <a:ln w="12700">
            <a:solidFill>
              <a:srgbClr val="F3F4F6"/>
            </a:solidFill>
            <a:prstDash val="solid"/>
          </a:ln>
        </p:spPr>
      </p:sp>
      <p:sp>
        <p:nvSpPr>
          <p:cNvPr id="5" name="Shape 3"/>
          <p:cNvSpPr/>
          <p:nvPr/>
        </p:nvSpPr>
        <p:spPr>
          <a:xfrm>
            <a:off x="777240" y="1508760"/>
            <a:ext cx="502920" cy="502920"/>
          </a:xfrm>
          <a:prstGeom prst="ellipse">
            <a:avLst/>
          </a:prstGeom>
          <a:solidFill>
            <a:srgbClr val="7C3AED"/>
          </a:solidFill>
          <a:ln w="12700">
            <a:solidFill>
              <a:srgbClr val="7C3AED"/>
            </a:solidFill>
            <a:prstDash val="solid"/>
          </a:ln>
        </p:spPr>
      </p:sp>
      <p:pic>
        <p:nvPicPr>
          <p:cNvPr id="6" name="Image 0" descr="preencoded.png">    </p:cNvPr>
          <p:cNvPicPr>
            <a:picLocks noChangeAspect="1"/>
          </p:cNvPicPr>
          <p:nvPr/>
        </p:nvPicPr>
        <p:blipFill>
          <a:blip r:embed="rId1"/>
          <a:stretch>
            <a:fillRect/>
          </a:stretch>
        </p:blipFill>
        <p:spPr>
          <a:xfrm>
            <a:off x="902970" y="1634490"/>
            <a:ext cx="251460" cy="251460"/>
          </a:xfrm>
          <a:prstGeom prst="rect">
            <a:avLst/>
          </a:prstGeom>
        </p:spPr>
      </p:pic>
      <p:sp>
        <p:nvSpPr>
          <p:cNvPr id="7" name="Text 4"/>
          <p:cNvSpPr txBox="1"/>
          <p:nvPr/>
        </p:nvSpPr>
        <p:spPr>
          <a:xfrm>
            <a:off x="1417320"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Driver safety reps</a:t>
            </a:r>
            <a:endParaRPr lang="en-US" sz="1500" dirty="0"/>
          </a:p>
        </p:txBody>
      </p:sp>
      <p:sp>
        <p:nvSpPr>
          <p:cNvPr id="8" name="Shape 5"/>
          <p:cNvSpPr/>
          <p:nvPr/>
        </p:nvSpPr>
        <p:spPr>
          <a:xfrm>
            <a:off x="777240" y="2148840"/>
            <a:ext cx="3087624" cy="292608"/>
          </a:xfrm>
          <a:prstGeom prst="roundRect">
            <a:avLst>
              <a:gd name="adj" fmla="val 25000"/>
            </a:avLst>
          </a:prstGeom>
          <a:solidFill>
            <a:srgbClr val="FEF3C7"/>
          </a:solidFill>
          <a:ln w="12700">
            <a:solidFill>
              <a:srgbClr val="FEF3C7"/>
            </a:solidFill>
            <a:prstDash val="solid"/>
          </a:ln>
        </p:spPr>
      </p:sp>
      <p:sp>
        <p:nvSpPr>
          <p:cNvPr id="9" name="Text 6"/>
          <p:cNvSpPr txBox="1"/>
          <p:nvPr/>
        </p:nvSpPr>
        <p:spPr>
          <a:xfrm>
            <a:off x="777240"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B45309"/>
                </a:solidFill>
                <a:latin typeface="Calibri" pitchFamily="34" charset="0"/>
                <a:ea typeface="Calibri" pitchFamily="34" charset="-122"/>
                <a:cs typeface="Calibri" pitchFamily="34" charset="-120"/>
              </a:rPr>
              <a:t>PLANNED</a:t>
            </a:r>
            <a:endParaRPr lang="en-US" sz="1000" dirty="0"/>
          </a:p>
        </p:txBody>
      </p:sp>
      <p:sp>
        <p:nvSpPr>
          <p:cNvPr id="10" name="Text 7"/>
          <p:cNvSpPr txBox="1"/>
          <p:nvPr/>
        </p:nvSpPr>
        <p:spPr>
          <a:xfrm>
            <a:off x="777240"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Top safety-score drivers join the monthly safety meeting</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Speak for drivers on road and yard concerns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Bring ideas that help leadership fix issues sooner</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Peers carry more weight than policy; being chosen creates ownership</a:t>
            </a:r>
            <a:endParaRPr lang="en-US" sz="1200" dirty="0"/>
          </a:p>
        </p:txBody>
      </p:sp>
      <p:sp>
        <p:nvSpPr>
          <p:cNvPr id="11" name="Shape 8"/>
          <p:cNvSpPr/>
          <p:nvPr/>
        </p:nvSpPr>
        <p:spPr>
          <a:xfrm>
            <a:off x="4322064" y="1325880"/>
            <a:ext cx="3544824" cy="3977640"/>
          </a:xfrm>
          <a:prstGeom prst="roundRect">
            <a:avLst>
              <a:gd name="adj" fmla="val 2064"/>
            </a:avLst>
          </a:prstGeom>
          <a:solidFill>
            <a:srgbClr val="F3F4F6"/>
          </a:solidFill>
          <a:ln w="12700">
            <a:solidFill>
              <a:srgbClr val="F3F4F6"/>
            </a:solidFill>
            <a:prstDash val="solid"/>
          </a:ln>
        </p:spPr>
      </p:sp>
      <p:sp>
        <p:nvSpPr>
          <p:cNvPr id="12" name="Shape 9"/>
          <p:cNvSpPr/>
          <p:nvPr/>
        </p:nvSpPr>
        <p:spPr>
          <a:xfrm>
            <a:off x="4550664" y="1508760"/>
            <a:ext cx="502920" cy="502920"/>
          </a:xfrm>
          <a:prstGeom prst="ellipse">
            <a:avLst/>
          </a:prstGeom>
          <a:solidFill>
            <a:srgbClr val="7C3AED"/>
          </a:solidFill>
          <a:ln w="12700">
            <a:solidFill>
              <a:srgbClr val="7C3AED"/>
            </a:solidFill>
            <a:prstDash val="solid"/>
          </a:ln>
        </p:spPr>
      </p:sp>
      <p:pic>
        <p:nvPicPr>
          <p:cNvPr id="13" name="Image 1" descr="preencoded.png">    </p:cNvPr>
          <p:cNvPicPr>
            <a:picLocks noChangeAspect="1"/>
          </p:cNvPicPr>
          <p:nvPr/>
        </p:nvPicPr>
        <p:blipFill>
          <a:blip r:embed="rId2"/>
          <a:stretch>
            <a:fillRect/>
          </a:stretch>
        </p:blipFill>
        <p:spPr>
          <a:xfrm>
            <a:off x="4676394" y="1634490"/>
            <a:ext cx="251460" cy="251460"/>
          </a:xfrm>
          <a:prstGeom prst="rect">
            <a:avLst/>
          </a:prstGeom>
        </p:spPr>
      </p:pic>
      <p:sp>
        <p:nvSpPr>
          <p:cNvPr id="14" name="Text 10"/>
          <p:cNvSpPr txBox="1"/>
          <p:nvPr/>
        </p:nvSpPr>
        <p:spPr>
          <a:xfrm>
            <a:off x="5190744"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Manager &amp; supervisor ride-alongs</a:t>
            </a:r>
            <a:endParaRPr lang="en-US" sz="1500" dirty="0"/>
          </a:p>
        </p:txBody>
      </p:sp>
      <p:sp>
        <p:nvSpPr>
          <p:cNvPr id="15" name="Shape 11"/>
          <p:cNvSpPr/>
          <p:nvPr/>
        </p:nvSpPr>
        <p:spPr>
          <a:xfrm>
            <a:off x="4550664" y="2148840"/>
            <a:ext cx="3087624" cy="292608"/>
          </a:xfrm>
          <a:prstGeom prst="roundRect">
            <a:avLst>
              <a:gd name="adj" fmla="val 25000"/>
            </a:avLst>
          </a:prstGeom>
          <a:solidFill>
            <a:srgbClr val="FEF3C7"/>
          </a:solidFill>
          <a:ln w="12700">
            <a:solidFill>
              <a:srgbClr val="FEF3C7"/>
            </a:solidFill>
            <a:prstDash val="solid"/>
          </a:ln>
        </p:spPr>
      </p:sp>
      <p:sp>
        <p:nvSpPr>
          <p:cNvPr id="16" name="Text 12"/>
          <p:cNvSpPr txBox="1"/>
          <p:nvPr/>
        </p:nvSpPr>
        <p:spPr>
          <a:xfrm>
            <a:off x="4550664"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B45309"/>
                </a:solidFill>
                <a:latin typeface="Calibri" pitchFamily="34" charset="0"/>
                <a:ea typeface="Calibri" pitchFamily="34" charset="-122"/>
                <a:cs typeface="Calibri" pitchFamily="34" charset="-120"/>
              </a:rPr>
              <a:t>PLANNED</a:t>
            </a:r>
            <a:endParaRPr lang="en-US" sz="1000" dirty="0"/>
          </a:p>
        </p:txBody>
      </p:sp>
      <p:sp>
        <p:nvSpPr>
          <p:cNvPr id="17" name="Text 13"/>
          <p:cNvSpPr txBox="1"/>
          <p:nvPr/>
        </p:nvSpPr>
        <p:spPr>
          <a:xfrm>
            <a:off x="4550664"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See driver challenges on the road first-hand</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Ride-alongs per quarter ramp up: 8 → 11 → 13 (of 50 drivers)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F28: ride with every driver once a year</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Start with new drivers and lower safety scores</a:t>
            </a:r>
            <a:endParaRPr lang="en-US" sz="1200" dirty="0"/>
          </a:p>
        </p:txBody>
      </p:sp>
      <p:sp>
        <p:nvSpPr>
          <p:cNvPr id="18" name="Shape 14"/>
          <p:cNvSpPr/>
          <p:nvPr/>
        </p:nvSpPr>
        <p:spPr>
          <a:xfrm>
            <a:off x="8095488" y="1325880"/>
            <a:ext cx="3544824" cy="3977640"/>
          </a:xfrm>
          <a:prstGeom prst="roundRect">
            <a:avLst>
              <a:gd name="adj" fmla="val 2064"/>
            </a:avLst>
          </a:prstGeom>
          <a:solidFill>
            <a:srgbClr val="F3F4F6"/>
          </a:solidFill>
          <a:ln w="12700">
            <a:solidFill>
              <a:srgbClr val="F3F4F6"/>
            </a:solidFill>
            <a:prstDash val="solid"/>
          </a:ln>
        </p:spPr>
      </p:sp>
      <p:sp>
        <p:nvSpPr>
          <p:cNvPr id="19" name="Shape 15"/>
          <p:cNvSpPr/>
          <p:nvPr/>
        </p:nvSpPr>
        <p:spPr>
          <a:xfrm>
            <a:off x="8324088" y="1508760"/>
            <a:ext cx="502920" cy="502920"/>
          </a:xfrm>
          <a:prstGeom prst="ellipse">
            <a:avLst/>
          </a:prstGeom>
          <a:solidFill>
            <a:srgbClr val="7C3AED"/>
          </a:solidFill>
          <a:ln w="12700">
            <a:solidFill>
              <a:srgbClr val="7C3AED"/>
            </a:solidFill>
            <a:prstDash val="solid"/>
          </a:ln>
        </p:spPr>
      </p:sp>
      <p:pic>
        <p:nvPicPr>
          <p:cNvPr id="20" name="Image 2" descr="preencoded.png">    </p:cNvPr>
          <p:cNvPicPr>
            <a:picLocks noChangeAspect="1"/>
          </p:cNvPicPr>
          <p:nvPr/>
        </p:nvPicPr>
        <p:blipFill>
          <a:blip r:embed="rId3"/>
          <a:stretch>
            <a:fillRect/>
          </a:stretch>
        </p:blipFill>
        <p:spPr>
          <a:xfrm>
            <a:off x="8449818" y="1634490"/>
            <a:ext cx="251460" cy="251460"/>
          </a:xfrm>
          <a:prstGeom prst="rect">
            <a:avLst/>
          </a:prstGeom>
        </p:spPr>
      </p:pic>
      <p:sp>
        <p:nvSpPr>
          <p:cNvPr id="21" name="Text 16"/>
          <p:cNvSpPr txBox="1"/>
          <p:nvPr/>
        </p:nvSpPr>
        <p:spPr>
          <a:xfrm>
            <a:off x="8964168"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Peak onboarding with Safety</a:t>
            </a:r>
            <a:endParaRPr lang="en-US" sz="1500" dirty="0"/>
          </a:p>
        </p:txBody>
      </p:sp>
      <p:sp>
        <p:nvSpPr>
          <p:cNvPr id="22" name="Shape 17"/>
          <p:cNvSpPr/>
          <p:nvPr/>
        </p:nvSpPr>
        <p:spPr>
          <a:xfrm>
            <a:off x="8324088" y="2148840"/>
            <a:ext cx="3087624" cy="292608"/>
          </a:xfrm>
          <a:prstGeom prst="roundRect">
            <a:avLst>
              <a:gd name="adj" fmla="val 25000"/>
            </a:avLst>
          </a:prstGeom>
          <a:solidFill>
            <a:srgbClr val="D1FAE5"/>
          </a:solidFill>
          <a:ln w="12700">
            <a:solidFill>
              <a:srgbClr val="D1FAE5"/>
            </a:solidFill>
            <a:prstDash val="solid"/>
          </a:ln>
        </p:spPr>
      </p:sp>
      <p:sp>
        <p:nvSpPr>
          <p:cNvPr id="23" name="Text 18"/>
          <p:cNvSpPr txBox="1"/>
          <p:nvPr/>
        </p:nvSpPr>
        <p:spPr>
          <a:xfrm>
            <a:off x="8324088"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SUPPORTED BY SAFETY</a:t>
            </a:r>
            <a:endParaRPr lang="en-US" sz="1000" dirty="0"/>
          </a:p>
        </p:txBody>
      </p:sp>
      <p:sp>
        <p:nvSpPr>
          <p:cNvPr id="24" name="Text 19"/>
          <p:cNvSpPr txBox="1"/>
          <p:nvPr/>
        </p:nvSpPr>
        <p:spPr>
          <a:xfrm>
            <a:off x="8324088"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Nov and spring/summer e-commerce peaks: 10%+ new temp (agency) staff, all shifts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Safety covers safe work practices, lifting technique, truck &amp; trailer pull, forklift safety &amp; seat belt, right to refuse</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Short check-ins: seat belt on the forklift; what to do if there is a spill</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Added layer on top of operations checks</a:t>
            </a:r>
            <a:endParaRPr lang="en-US" sz="1200" dirty="0"/>
          </a:p>
        </p:txBody>
      </p:sp>
      <p:sp>
        <p:nvSpPr>
          <p:cNvPr id="25" name="Shape 20"/>
          <p:cNvSpPr/>
          <p:nvPr/>
        </p:nvSpPr>
        <p:spPr>
          <a:xfrm>
            <a:off x="548640" y="5440680"/>
            <a:ext cx="11091672" cy="685800"/>
          </a:xfrm>
          <a:prstGeom prst="roundRect">
            <a:avLst>
              <a:gd name="adj" fmla="val 10667"/>
            </a:avLst>
          </a:prstGeom>
          <a:solidFill>
            <a:srgbClr val="F5F3FF"/>
          </a:solidFill>
          <a:ln w="12700">
            <a:solidFill>
              <a:srgbClr val="F5F3FF"/>
            </a:solidFill>
            <a:prstDash val="solid"/>
          </a:ln>
        </p:spPr>
      </p:sp>
      <p:sp>
        <p:nvSpPr>
          <p:cNvPr id="26" name="Text 21"/>
          <p:cNvSpPr txBox="1"/>
          <p:nvPr/>
        </p:nvSpPr>
        <p:spPr>
          <a:xfrm>
            <a:off x="777240" y="5440680"/>
            <a:ext cx="10698480" cy="68580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Why it works: </a:t>
            </a:r>
            <a:pPr indent="0" marL="0">
              <a:buNone/>
            </a:pPr>
            <a:r>
              <a:rPr lang="en-US" sz="1300" dirty="0">
                <a:solidFill>
                  <a:srgbClr val="1F2937"/>
                </a:solidFill>
                <a:latin typeface="Calibri" pitchFamily="34" charset="0"/>
                <a:ea typeface="Calibri" pitchFamily="34" charset="-122"/>
                <a:cs typeface="Calibri" pitchFamily="34" charset="-120"/>
              </a:rPr>
              <a:t>people who feel cared for, care. When the workplace is safe and people feel heard and respected, service, productivity and cost follow.</a:t>
            </a:r>
            <a:endParaRPr lang="en-US" sz="1300" dirty="0"/>
          </a:p>
        </p:txBody>
      </p:sp>
      <p:sp>
        <p:nvSpPr>
          <p:cNvPr id="27" name="Text 22"/>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3"/>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19</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Week 39 adj 94.8% · week 40 (Sun–Mon) 96.6%</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5F3FF"/>
          </a:solidFill>
          <a:ln w="12700">
            <a:solidFill>
              <a:srgbClr val="F5F3FF"/>
            </a:solidFill>
            <a:prstDash val="solid"/>
          </a:ln>
        </p:spPr>
      </p:sp>
      <p:sp>
        <p:nvSpPr>
          <p:cNvPr id="23" name="Shape 20"/>
          <p:cNvSpPr/>
          <p:nvPr/>
        </p:nvSpPr>
        <p:spPr>
          <a:xfrm>
            <a:off x="731520" y="5404104"/>
            <a:ext cx="475488" cy="475488"/>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Terminal and P&amp;D teams working together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Partner-carrier (beyond interliner) lates reviewed weekly with the interline team — largely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b="1" i="1" dirty="0">
                <a:solidFill>
                  <a:srgbClr val="1F2937"/>
                </a:solidFill>
                <a:latin typeface="Calibri" pitchFamily="34" charset="0"/>
                <a:ea typeface="Calibri" pitchFamily="34" charset="-122"/>
                <a:cs typeface="Calibri" pitchFamily="34" charset="-120"/>
              </a:rPr>
              <a:t>Service failures (AS code excluded — not a service failure): week 39 = 66 (top: TF 22); week 40 (Sun–Mon) = 8. </a:t>
            </a:r>
            <a:pPr indent="0" marL="0">
              <a:buNone/>
            </a:pPr>
            <a:r>
              <a:rPr lang="en-US" sz="950" i="1" dirty="0">
                <a:solidFill>
                  <a:srgbClr val="6B7280"/>
                </a:solidFill>
                <a:latin typeface="Calibri" pitchFamily="34" charset="0"/>
                <a:ea typeface="Calibri" pitchFamily="34" charset="-122"/>
                <a:cs typeface="Calibri" pitchFamily="34" charset="-120"/>
              </a:rPr>
              <a:t>Source: Adj On Time dashboard and Terminal OTS report — Mississauga, through Sep 28. Partner carriers = "beyond interliner" freight.</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19</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1481328"/>
          </a:xfrm>
          <a:prstGeom prst="roundRect">
            <a:avLst>
              <a:gd name="adj" fmla="val 4938"/>
            </a:avLst>
          </a:prstGeom>
          <a:solidFill>
            <a:srgbClr val="F5F3FF"/>
          </a:solidFill>
          <a:ln w="12700">
            <a:solidFill>
              <a:srgbClr val="F5F3FF"/>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11680"/>
            <a:ext cx="3337560" cy="1078992"/>
          </a:xfrm>
          <a:prstGeom prst="rect">
            <a:avLst/>
          </a:prstGeom>
          <a:noFill/>
          <a:ln/>
        </p:spPr>
        <p:txBody>
          <a:bodyPr wrap="square" lIns="0" tIns="0" rIns="0" bIns="0" rtlCol="0" anchor="t"/>
          <a:lstStyle/>
          <a:p>
            <a:pPr indent="0" marL="0">
              <a:spcAft>
                <a:spcPts val="600"/>
              </a:spcAft>
              <a:buNone/>
            </a:pPr>
            <a:r>
              <a:rPr lang="en-US" sz="10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000" dirty="0"/>
          </a:p>
          <a:p>
            <a:pPr indent="0" marL="0">
              <a:buNone/>
            </a:pPr>
            <a:r>
              <a:rPr lang="en-US" sz="1000" b="1" dirty="0">
                <a:solidFill>
                  <a:srgbClr val="059669"/>
                </a:solidFill>
                <a:latin typeface="Calibri" pitchFamily="34" charset="0"/>
                <a:ea typeface="Calibri" pitchFamily="34" charset="-122"/>
                <a:cs typeface="Calibri" pitchFamily="34" charset="-120"/>
              </a:rPr>
              <a:t>Excluding false positives, missed PU % would be ≈2.6%.</a:t>
            </a:r>
            <a:endParaRPr lang="en-US" sz="10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955280" y="4160520"/>
          <a:ext cx="3685032" cy="914400"/>
        </p:xfrm>
        <a:graphic>
          <a:graphicData uri="http://schemas.openxmlformats.org/drawingml/2006/table">
            <a:tbl>
              <a:tblPr/>
              <a:tblGrid>
                <a:gridCol w="2130552"/>
                <a:gridCol w="731520"/>
                <a:gridCol w="822960"/>
              </a:tblGrid>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other</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 – other</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Shape 18"/>
          <p:cNvSpPr/>
          <p:nvPr/>
        </p:nvSpPr>
        <p:spPr>
          <a:xfrm>
            <a:off x="7955280" y="3218688"/>
            <a:ext cx="3685032" cy="841248"/>
          </a:xfrm>
          <a:prstGeom prst="roundRect">
            <a:avLst>
              <a:gd name="adj" fmla="val 8696"/>
            </a:avLst>
          </a:prstGeom>
          <a:solidFill>
            <a:srgbClr val="FEF2F2"/>
          </a:solidFill>
          <a:ln w="12700">
            <a:solidFill>
              <a:srgbClr val="FEF2F2"/>
            </a:solidFill>
            <a:prstDash val="solid"/>
          </a:ln>
        </p:spPr>
      </p:sp>
      <p:sp>
        <p:nvSpPr>
          <p:cNvPr id="24" name="Text 19"/>
          <p:cNvSpPr txBox="1"/>
          <p:nvPr/>
        </p:nvSpPr>
        <p:spPr>
          <a:xfrm>
            <a:off x="8119872" y="3255264"/>
            <a:ext cx="3383280" cy="219456"/>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Damaged FB % · 7-day avg to Sep 28</a:t>
            </a:r>
            <a:endParaRPr lang="en-US" sz="1050" dirty="0"/>
          </a:p>
        </p:txBody>
      </p:sp>
      <p:sp>
        <p:nvSpPr>
          <p:cNvPr id="25" name="Text 20"/>
          <p:cNvSpPr txBox="1"/>
          <p:nvPr/>
        </p:nvSpPr>
        <p:spPr>
          <a:xfrm>
            <a:off x="8119872" y="3474720"/>
            <a:ext cx="3383280" cy="310896"/>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1.61%</a:t>
            </a:r>
            <a:pPr indent="0" marL="0">
              <a:buNone/>
            </a:pPr>
            <a:r>
              <a:rPr lang="en-US" sz="1050" dirty="0">
                <a:solidFill>
                  <a:srgbClr val="6B7280"/>
                </a:solidFill>
                <a:latin typeface="Calibri" pitchFamily="34" charset="0"/>
                <a:ea typeface="Calibri" pitchFamily="34" charset="-122"/>
                <a:cs typeface="Calibri" pitchFamily="34" charset="-120"/>
              </a:rPr>
              <a:t>   week 39: 2.10%</a:t>
            </a:r>
            <a:endParaRPr lang="en-US" sz="1800" dirty="0"/>
          </a:p>
        </p:txBody>
      </p:sp>
      <p:sp>
        <p:nvSpPr>
          <p:cNvPr id="26" name="Text 21"/>
          <p:cNvSpPr txBox="1"/>
          <p:nvPr/>
        </p:nvSpPr>
        <p:spPr>
          <a:xfrm>
            <a:off x="8119872" y="3785616"/>
            <a:ext cx="3383280" cy="219456"/>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7-day avg 1.61%; latest day 0.31% (Sep 28)</a:t>
            </a:r>
            <a:endParaRPr lang="en-US" sz="950" dirty="0"/>
          </a:p>
        </p:txBody>
      </p:sp>
      <p:sp>
        <p:nvSpPr>
          <p:cNvPr id="27" name="Text 22"/>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(through Sep 26) &amp; % Damaged FB dashboard (to Sep 28) — Mississauga. *Week 39 partial.</a:t>
            </a:r>
            <a:endParaRPr lang="en-US" sz="950" dirty="0"/>
          </a:p>
        </p:txBody>
      </p:sp>
      <p:sp>
        <p:nvSpPr>
          <p:cNvPr id="28"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19</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outlook — monthly and yearly roll-up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Jul–Aug actual · Sep–Jun outlook at the current rate · savings vs the same month in F26</a:t>
            </a:r>
            <a:endParaRPr lang="en-US" sz="1300" dirty="0"/>
          </a:p>
        </p:txBody>
      </p:sp>
      <p:sp>
        <p:nvSpPr>
          <p:cNvPr id="5" name="Shape 3"/>
          <p:cNvSpPr/>
          <p:nvPr/>
        </p:nvSpPr>
        <p:spPr>
          <a:xfrm>
            <a:off x="548640" y="1627632"/>
            <a:ext cx="2635758" cy="987552"/>
          </a:xfrm>
          <a:prstGeom prst="roundRect">
            <a:avLst>
              <a:gd name="adj" fmla="val 7407"/>
            </a:avLst>
          </a:prstGeom>
          <a:solidFill>
            <a:srgbClr val="F3F4F6"/>
          </a:solidFill>
          <a:ln w="12700">
            <a:solidFill>
              <a:srgbClr val="F3F4F6"/>
            </a:solidFill>
            <a:prstDash val="solid"/>
          </a:ln>
        </p:spPr>
      </p:sp>
      <p:sp>
        <p:nvSpPr>
          <p:cNvPr id="6" name="Text 4"/>
          <p:cNvSpPr txBox="1"/>
          <p:nvPr/>
        </p:nvSpPr>
        <p:spPr>
          <a:xfrm>
            <a:off x="731520"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Admin contract labour</a:t>
            </a:r>
            <a:endParaRPr lang="en-US" sz="1100" dirty="0"/>
          </a:p>
        </p:txBody>
      </p:sp>
      <p:sp>
        <p:nvSpPr>
          <p:cNvPr id="7" name="Text 5"/>
          <p:cNvSpPr txBox="1"/>
          <p:nvPr/>
        </p:nvSpPr>
        <p:spPr>
          <a:xfrm>
            <a:off x="731520"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$298.1K</a:t>
            </a:r>
            <a:endParaRPr lang="en-US" sz="2400" dirty="0"/>
          </a:p>
        </p:txBody>
      </p:sp>
      <p:sp>
        <p:nvSpPr>
          <p:cNvPr id="8" name="Text 6"/>
          <p:cNvSpPr txBox="1"/>
          <p:nvPr/>
        </p:nvSpPr>
        <p:spPr>
          <a:xfrm>
            <a:off x="731520"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≈$24.8K per month</a:t>
            </a:r>
            <a:endParaRPr lang="en-US" sz="1050" dirty="0"/>
          </a:p>
        </p:txBody>
      </p:sp>
      <p:sp>
        <p:nvSpPr>
          <p:cNvPr id="9" name="Shape 7"/>
          <p:cNvSpPr/>
          <p:nvPr/>
        </p:nvSpPr>
        <p:spPr>
          <a:xfrm>
            <a:off x="3367278" y="1627632"/>
            <a:ext cx="2635758" cy="987552"/>
          </a:xfrm>
          <a:prstGeom prst="roundRect">
            <a:avLst>
              <a:gd name="adj" fmla="val 7407"/>
            </a:avLst>
          </a:prstGeom>
          <a:solidFill>
            <a:srgbClr val="F3F4F6"/>
          </a:solidFill>
          <a:ln w="12700">
            <a:solidFill>
              <a:srgbClr val="F3F4F6"/>
            </a:solidFill>
            <a:prstDash val="solid"/>
          </a:ln>
        </p:spPr>
      </p:sp>
      <p:sp>
        <p:nvSpPr>
          <p:cNvPr id="10" name="Text 8"/>
          <p:cNvSpPr txBox="1"/>
          <p:nvPr/>
        </p:nvSpPr>
        <p:spPr>
          <a:xfrm>
            <a:off x="3550158"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contract labour</a:t>
            </a:r>
            <a:endParaRPr lang="en-US" sz="1100" dirty="0"/>
          </a:p>
        </p:txBody>
      </p:sp>
      <p:sp>
        <p:nvSpPr>
          <p:cNvPr id="11" name="Text 9"/>
          <p:cNvSpPr txBox="1"/>
          <p:nvPr/>
        </p:nvSpPr>
        <p:spPr>
          <a:xfrm>
            <a:off x="3550158"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$92.2K</a:t>
            </a:r>
            <a:endParaRPr lang="en-US" sz="2400" dirty="0"/>
          </a:p>
        </p:txBody>
      </p:sp>
      <p:sp>
        <p:nvSpPr>
          <p:cNvPr id="12" name="Text 10"/>
          <p:cNvSpPr txBox="1"/>
          <p:nvPr/>
        </p:nvSpPr>
        <p:spPr>
          <a:xfrm>
            <a:off x="3550158"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≈$7.7K per month</a:t>
            </a:r>
            <a:endParaRPr lang="en-US" sz="1050" dirty="0"/>
          </a:p>
        </p:txBody>
      </p:sp>
      <p:sp>
        <p:nvSpPr>
          <p:cNvPr id="13" name="Shape 11"/>
          <p:cNvSpPr/>
          <p:nvPr/>
        </p:nvSpPr>
        <p:spPr>
          <a:xfrm>
            <a:off x="6185916" y="1627632"/>
            <a:ext cx="2635758" cy="987552"/>
          </a:xfrm>
          <a:prstGeom prst="roundRect">
            <a:avLst>
              <a:gd name="adj" fmla="val 7407"/>
            </a:avLst>
          </a:prstGeom>
          <a:solidFill>
            <a:srgbClr val="F3F4F6"/>
          </a:solidFill>
          <a:ln w="12700">
            <a:solidFill>
              <a:srgbClr val="F3F4F6"/>
            </a:solidFill>
            <a:prstDash val="solid"/>
          </a:ln>
        </p:spPr>
      </p:sp>
      <p:sp>
        <p:nvSpPr>
          <p:cNvPr id="14" name="Text 12"/>
          <p:cNvSpPr txBox="1"/>
          <p:nvPr/>
        </p:nvSpPr>
        <p:spPr>
          <a:xfrm>
            <a:off x="6368796"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Dispatcher role (confirmed)</a:t>
            </a:r>
            <a:endParaRPr lang="en-US" sz="1100" dirty="0"/>
          </a:p>
        </p:txBody>
      </p:sp>
      <p:sp>
        <p:nvSpPr>
          <p:cNvPr id="15" name="Text 13"/>
          <p:cNvSpPr txBox="1"/>
          <p:nvPr/>
        </p:nvSpPr>
        <p:spPr>
          <a:xfrm>
            <a:off x="6368796"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$61.0K</a:t>
            </a:r>
            <a:endParaRPr lang="en-US" sz="2400" dirty="0"/>
          </a:p>
        </p:txBody>
      </p:sp>
      <p:sp>
        <p:nvSpPr>
          <p:cNvPr id="16" name="Text 14"/>
          <p:cNvSpPr txBox="1"/>
          <p:nvPr/>
        </p:nvSpPr>
        <p:spPr>
          <a:xfrm>
            <a:off x="6368796"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≈$5.1K per month</a:t>
            </a:r>
            <a:endParaRPr lang="en-US" sz="1050" dirty="0"/>
          </a:p>
        </p:txBody>
      </p:sp>
      <p:sp>
        <p:nvSpPr>
          <p:cNvPr id="17" name="Shape 15"/>
          <p:cNvSpPr/>
          <p:nvPr/>
        </p:nvSpPr>
        <p:spPr>
          <a:xfrm>
            <a:off x="9004554" y="1627632"/>
            <a:ext cx="2635758" cy="987552"/>
          </a:xfrm>
          <a:prstGeom prst="roundRect">
            <a:avLst>
              <a:gd name="adj" fmla="val 7407"/>
            </a:avLst>
          </a:prstGeom>
          <a:solidFill>
            <a:srgbClr val="111827"/>
          </a:solidFill>
          <a:ln w="12700">
            <a:solidFill>
              <a:srgbClr val="111827"/>
            </a:solidFill>
            <a:prstDash val="solid"/>
          </a:ln>
        </p:spPr>
      </p:sp>
      <p:sp>
        <p:nvSpPr>
          <p:cNvPr id="18" name="Text 16"/>
          <p:cNvSpPr txBox="1"/>
          <p:nvPr/>
        </p:nvSpPr>
        <p:spPr>
          <a:xfrm>
            <a:off x="9187434" y="1719072"/>
            <a:ext cx="2269998" cy="237744"/>
          </a:xfrm>
          <a:prstGeom prst="rect">
            <a:avLst/>
          </a:prstGeom>
          <a:noFill/>
          <a:ln/>
        </p:spPr>
        <p:txBody>
          <a:bodyPr wrap="square" lIns="0" tIns="0" rIns="0" bIns="0" rtlCol="0" anchor="ctr"/>
          <a:lstStyle/>
          <a:p>
            <a:pPr indent="0" marL="0">
              <a:buNone/>
            </a:pPr>
            <a:r>
              <a:rPr lang="en-US" sz="1000" b="1" dirty="0">
                <a:solidFill>
                  <a:srgbClr val="9CA3AF"/>
                </a:solidFill>
                <a:latin typeface="Calibri" pitchFamily="34" charset="0"/>
                <a:ea typeface="Calibri" pitchFamily="34" charset="-122"/>
                <a:cs typeface="Calibri" pitchFamily="34" charset="-120"/>
              </a:rPr>
              <a:t>F27 total outlook</a:t>
            </a:r>
            <a:endParaRPr lang="en-US" sz="1000" dirty="0"/>
          </a:p>
        </p:txBody>
      </p:sp>
      <p:sp>
        <p:nvSpPr>
          <p:cNvPr id="19" name="Text 17"/>
          <p:cNvSpPr txBox="1"/>
          <p:nvPr/>
        </p:nvSpPr>
        <p:spPr>
          <a:xfrm>
            <a:off x="9187434" y="1956816"/>
            <a:ext cx="2269998" cy="384048"/>
          </a:xfrm>
          <a:prstGeom prst="rect">
            <a:avLst/>
          </a:prstGeom>
          <a:noFill/>
          <a:ln/>
        </p:spPr>
        <p:txBody>
          <a:bodyPr wrap="square" lIns="0" tIns="0" rIns="0" bIns="0" rtlCol="0" anchor="ctr"/>
          <a:lstStyle/>
          <a:p>
            <a:pPr indent="0" marL="0">
              <a:buNone/>
            </a:pPr>
            <a:r>
              <a:rPr lang="en-US" sz="2400" b="1" dirty="0">
                <a:solidFill>
                  <a:srgbClr val="FACC15"/>
                </a:solidFill>
                <a:latin typeface="Calibri" pitchFamily="34" charset="0"/>
                <a:ea typeface="Calibri" pitchFamily="34" charset="-122"/>
                <a:cs typeface="Calibri" pitchFamily="34" charset="-120"/>
              </a:rPr>
              <a:t>$451.2K</a:t>
            </a:r>
            <a:endParaRPr lang="en-US" sz="2400" dirty="0"/>
          </a:p>
        </p:txBody>
      </p:sp>
      <p:sp>
        <p:nvSpPr>
          <p:cNvPr id="20" name="Text 18"/>
          <p:cNvSpPr txBox="1"/>
          <p:nvPr/>
        </p:nvSpPr>
        <p:spPr>
          <a:xfrm>
            <a:off x="9187434" y="2340864"/>
            <a:ext cx="2269998" cy="219456"/>
          </a:xfrm>
          <a:prstGeom prst="rect">
            <a:avLst/>
          </a:prstGeom>
          <a:noFill/>
          <a:ln/>
        </p:spPr>
        <p:txBody>
          <a:bodyPr wrap="square" lIns="0" tIns="0" rIns="0" bIns="0" rtlCol="0" anchor="ctr"/>
          <a:lstStyle/>
          <a:p>
            <a:pPr indent="0" marL="0">
              <a:buNone/>
            </a:pPr>
            <a:r>
              <a:rPr lang="en-US" sz="1050" dirty="0">
                <a:solidFill>
                  <a:srgbClr val="D1D5DB"/>
                </a:solidFill>
                <a:latin typeface="Calibri" pitchFamily="34" charset="0"/>
                <a:ea typeface="Calibri" pitchFamily="34" charset="-122"/>
                <a:cs typeface="Calibri" pitchFamily="34" charset="-120"/>
              </a:rPr>
              <a:t>≈$37.6K per month · target </a:t>
            </a:r>
            <a:pPr indent="0" marL="0">
              <a:buNone/>
            </a:pPr>
            <a:r>
              <a:rPr lang="en-US" sz="1050" b="1" dirty="0">
                <a:solidFill>
                  <a:srgbClr val="FBBF24"/>
                </a:solidFill>
                <a:latin typeface="Calibri" pitchFamily="34" charset="0"/>
                <a:ea typeface="Calibri" pitchFamily="34" charset="-122"/>
                <a:cs typeface="Calibri" pitchFamily="34" charset="-120"/>
              </a:rPr>
              <a:t>TBC</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761488"/>
          <a:ext cx="7040880" cy="914400"/>
        </p:xfrm>
        <a:graphic>
          <a:graphicData uri="http://schemas.openxmlformats.org/drawingml/2006/table">
            <a:tbl>
              <a:tblPr/>
              <a:tblGrid>
                <a:gridCol w="3520440"/>
                <a:gridCol w="1188720"/>
                <a:gridCol w="1097280"/>
                <a:gridCol w="1234440"/>
              </a:tblGrid>
              <a:tr h="23774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Line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Jul–Aug rate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month</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F27 year</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Contract labour — Admin</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−25.3%</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$24.8K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$298.1K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Contract labour — Dock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−5.6%</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$7.7K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$92.2K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Contract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$32.5K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$390.2K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Dispatcher role (confirmed, annual value)</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$61.0K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F27 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$37.6K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$451.2K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2" name="Shape 19"/>
          <p:cNvSpPr/>
          <p:nvPr/>
        </p:nvSpPr>
        <p:spPr>
          <a:xfrm>
            <a:off x="7818120" y="2761488"/>
            <a:ext cx="3822192" cy="3145536"/>
          </a:xfrm>
          <a:prstGeom prst="roundRect">
            <a:avLst>
              <a:gd name="adj" fmla="val 2326"/>
            </a:avLst>
          </a:prstGeom>
          <a:solidFill>
            <a:srgbClr val="F5F3FF"/>
          </a:solidFill>
          <a:ln w="12700">
            <a:solidFill>
              <a:srgbClr val="F5F3FF"/>
            </a:solidFill>
            <a:prstDash val="solid"/>
          </a:ln>
        </p:spPr>
      </p:sp>
      <p:sp>
        <p:nvSpPr>
          <p:cNvPr id="23" name="Shape 20"/>
          <p:cNvSpPr/>
          <p:nvPr/>
        </p:nvSpPr>
        <p:spPr>
          <a:xfrm>
            <a:off x="8046720" y="2971800"/>
            <a:ext cx="502920" cy="502920"/>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1"/>
          <a:stretch>
            <a:fillRect/>
          </a:stretch>
        </p:blipFill>
        <p:spPr>
          <a:xfrm>
            <a:off x="8172450" y="3097530"/>
            <a:ext cx="251460" cy="251460"/>
          </a:xfrm>
          <a:prstGeom prst="rect">
            <a:avLst/>
          </a:prstGeom>
        </p:spPr>
      </p:pic>
      <p:sp>
        <p:nvSpPr>
          <p:cNvPr id="25" name="Text 21"/>
          <p:cNvSpPr txBox="1"/>
          <p:nvPr/>
        </p:nvSpPr>
        <p:spPr>
          <a:xfrm>
            <a:off x="8686800" y="3017520"/>
            <a:ext cx="2834640" cy="41148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How we hold and grow the outlook</a:t>
            </a:r>
            <a:endParaRPr lang="en-US" sz="1600" dirty="0"/>
          </a:p>
        </p:txBody>
      </p:sp>
      <p:sp>
        <p:nvSpPr>
          <p:cNvPr id="26" name="Text 22"/>
          <p:cNvSpPr txBox="1"/>
          <p:nvPr/>
        </p:nvSpPr>
        <p:spPr>
          <a:xfrm>
            <a:off x="8046720" y="3611880"/>
            <a:ext cx="3383280" cy="2148840"/>
          </a:xfrm>
          <a:prstGeom prst="rect">
            <a:avLst/>
          </a:prstGeom>
          <a:noFill/>
          <a:ln/>
        </p:spPr>
        <p:txBody>
          <a:bodyPr wrap="square" lIns="0" tIns="0" rIns="0" bIns="0" rtlCol="0" anchor="t"/>
          <a:lstStyle/>
          <a:p>
            <a:pPr indent="0" marL="0">
              <a:spcAft>
                <a:spcPts val="800"/>
              </a:spcAft>
              <a:buNone/>
            </a:pPr>
            <a:r>
              <a:rPr lang="en-US" sz="1250" b="1" dirty="0">
                <a:solidFill>
                  <a:srgbClr val="111827"/>
                </a:solidFill>
                <a:latin typeface="Calibri" pitchFamily="34" charset="0"/>
                <a:ea typeface="Calibri" pitchFamily="34" charset="-122"/>
                <a:cs typeface="Calibri" pitchFamily="34" charset="-120"/>
              </a:rPr>
              <a:t>Hold the Jul–Aug rates: Admin contract labour −25%, Dock contract labour −6%.</a:t>
            </a:r>
            <a:endParaRPr lang="en-US" sz="1250" dirty="0"/>
          </a:p>
          <a:p>
            <a:pPr indent="0" marL="0">
              <a:spcAft>
                <a:spcPts val="800"/>
              </a:spcAft>
              <a:buNone/>
            </a:pPr>
            <a:r>
              <a:rPr lang="en-US" sz="1250" dirty="0">
                <a:solidFill>
                  <a:srgbClr val="1F2937"/>
                </a:solidFill>
                <a:latin typeface="Calibri" pitchFamily="34" charset="0"/>
                <a:ea typeface="Calibri" pitchFamily="34" charset="-122"/>
                <a:cs typeface="Calibri" pitchFamily="34" charset="-120"/>
              </a:rPr>
              <a:t>Every extra 1% off contract labour ≈ $28.2K/yr (Admin $11.8K, Dock $16.4K).</a:t>
            </a:r>
            <a:endParaRPr lang="en-US" sz="1250" dirty="0"/>
          </a:p>
          <a:p>
            <a:pPr indent="0" marL="0">
              <a:buNone/>
            </a:pPr>
            <a:r>
              <a:rPr lang="en-US" sz="1250" b="1" dirty="0">
                <a:solidFill>
                  <a:srgbClr val="7C3AED"/>
                </a:solidFill>
                <a:latin typeface="Calibri" pitchFamily="34" charset="0"/>
                <a:ea typeface="Calibri" pitchFamily="34" charset="-122"/>
                <a:cs typeface="Calibri" pitchFamily="34" charset="-120"/>
              </a:rPr>
              <a:t>Next levers on top: </a:t>
            </a:r>
            <a:pPr indent="0" marL="0">
              <a:buNone/>
            </a:pPr>
            <a:r>
              <a:rPr lang="en-US" sz="1250" dirty="0">
                <a:solidFill>
                  <a:srgbClr val="1F2937"/>
                </a:solidFill>
                <a:latin typeface="Calibri" pitchFamily="34" charset="0"/>
                <a:ea typeface="Calibri" pitchFamily="34" charset="-122"/>
                <a:cs typeface="Calibri" pitchFamily="34" charset="-120"/>
              </a:rPr>
              <a:t>load securement &amp; decking, freight-handling equipment, accessorial capture, Toyota footage capture.</a:t>
            </a:r>
            <a:endParaRPr lang="en-US" sz="1250" dirty="0"/>
          </a:p>
        </p:txBody>
      </p:sp>
      <p:sp>
        <p:nvSpPr>
          <p:cNvPr id="27" name="Text 23"/>
          <p:cNvSpPr txBox="1"/>
          <p:nvPr/>
        </p:nvSpPr>
        <p:spPr>
          <a:xfrm>
            <a:off x="548640" y="6016752"/>
            <a:ext cx="11091672" cy="384048"/>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Outlook = the two contract labour buckets (Admin, Dock): each bucket's Jul–Aug % change vs the same months of F26, applied to the remaining F26 months if the rate holds, plus the confirmed dispatcher saving. Estimates, not booked savings. Company wages &amp; benefits tracked separately. Source: net-amount P&amp;L pivot.</a:t>
            </a:r>
            <a:endParaRPr lang="en-US" sz="950" dirty="0"/>
          </a:p>
        </p:txBody>
      </p:sp>
      <p:sp>
        <p:nvSpPr>
          <p:cNvPr id="28"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19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 initiative tracker</a:t>
            </a:r>
            <a:endParaRPr lang="en-US" sz="3000" dirty="0"/>
          </a:p>
        </p:txBody>
      </p:sp>
      <p:sp>
        <p:nvSpPr>
          <p:cNvPr id="4" name="Shape 2"/>
          <p:cNvSpPr/>
          <p:nvPr/>
        </p:nvSpPr>
        <p:spPr>
          <a:xfrm>
            <a:off x="548640" y="1371600"/>
            <a:ext cx="2635758" cy="1005840"/>
          </a:xfrm>
          <a:prstGeom prst="roundRect">
            <a:avLst>
              <a:gd name="adj" fmla="val 7273"/>
            </a:avLst>
          </a:prstGeom>
          <a:solidFill>
            <a:srgbClr val="F5F3FF"/>
          </a:solidFill>
          <a:ln w="12700">
            <a:solidFill>
              <a:srgbClr val="F5F3FF"/>
            </a:solidFill>
            <a:prstDash val="solid"/>
          </a:ln>
        </p:spPr>
      </p:sp>
      <p:sp>
        <p:nvSpPr>
          <p:cNvPr id="5" name="Text 3"/>
          <p:cNvSpPr txBox="1"/>
          <p:nvPr/>
        </p:nvSpPr>
        <p:spPr>
          <a:xfrm>
            <a:off x="731520"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6" name="Text 4"/>
          <p:cNvSpPr txBox="1"/>
          <p:nvPr/>
        </p:nvSpPr>
        <p:spPr>
          <a:xfrm>
            <a:off x="731520"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7" name="Text 5"/>
          <p:cNvSpPr txBox="1"/>
          <p:nvPr/>
        </p:nvSpPr>
        <p:spPr>
          <a:xfrm>
            <a:off x="731520"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8" name="Shape 6"/>
          <p:cNvSpPr/>
          <p:nvPr/>
        </p:nvSpPr>
        <p:spPr>
          <a:xfrm>
            <a:off x="3367278" y="1371600"/>
            <a:ext cx="2635758" cy="1005840"/>
          </a:xfrm>
          <a:prstGeom prst="roundRect">
            <a:avLst>
              <a:gd name="adj" fmla="val 7273"/>
            </a:avLst>
          </a:prstGeom>
          <a:solidFill>
            <a:srgbClr val="F3F4F6"/>
          </a:solidFill>
          <a:ln w="12700">
            <a:solidFill>
              <a:srgbClr val="F3F4F6"/>
            </a:solidFill>
            <a:prstDash val="solid"/>
          </a:ln>
        </p:spPr>
      </p:sp>
      <p:sp>
        <p:nvSpPr>
          <p:cNvPr id="9" name="Text 7"/>
          <p:cNvSpPr txBox="1"/>
          <p:nvPr/>
        </p:nvSpPr>
        <p:spPr>
          <a:xfrm>
            <a:off x="3550158"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a:t>
            </a:r>
            <a:endParaRPr lang="en-US" sz="1100" dirty="0"/>
          </a:p>
        </p:txBody>
      </p:sp>
      <p:sp>
        <p:nvSpPr>
          <p:cNvPr id="10" name="Text 8"/>
          <p:cNvSpPr txBox="1"/>
          <p:nvPr/>
        </p:nvSpPr>
        <p:spPr>
          <a:xfrm>
            <a:off x="3550158" y="1700784"/>
            <a:ext cx="2269998" cy="384048"/>
          </a:xfrm>
          <a:prstGeom prst="rect">
            <a:avLst/>
          </a:prstGeom>
          <a:noFill/>
          <a:ln/>
        </p:spPr>
        <p:txBody>
          <a:bodyPr wrap="square" lIns="0" tIns="0" rIns="0" bIns="0" rtlCol="0" anchor="ctr"/>
          <a:lstStyle/>
          <a:p>
            <a:pPr indent="0" marL="0">
              <a:buNone/>
            </a:pPr>
            <a:r>
              <a:rPr lang="en-US" sz="2200" b="1" dirty="0">
                <a:solidFill>
                  <a:srgbClr val="059669"/>
                </a:solidFill>
                <a:latin typeface="Calibri" pitchFamily="34" charset="0"/>
                <a:ea typeface="Calibri" pitchFamily="34" charset="-122"/>
                <a:cs typeface="Calibri" pitchFamily="34" charset="-120"/>
              </a:rPr>
              <a:t>$61,000/yr</a:t>
            </a:r>
            <a:endParaRPr lang="en-US" sz="2200" dirty="0"/>
          </a:p>
        </p:txBody>
      </p:sp>
      <p:sp>
        <p:nvSpPr>
          <p:cNvPr id="11" name="Text 9"/>
          <p:cNvSpPr txBox="1"/>
          <p:nvPr/>
        </p:nvSpPr>
        <p:spPr>
          <a:xfrm>
            <a:off x="3550158"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1 confirmed initiative</a:t>
            </a:r>
            <a:endParaRPr lang="en-US" sz="1000" dirty="0"/>
          </a:p>
        </p:txBody>
      </p:sp>
      <p:sp>
        <p:nvSpPr>
          <p:cNvPr id="12" name="Shape 10"/>
          <p:cNvSpPr/>
          <p:nvPr/>
        </p:nvSpPr>
        <p:spPr>
          <a:xfrm>
            <a:off x="6185916" y="1371600"/>
            <a:ext cx="2635758" cy="1005840"/>
          </a:xfrm>
          <a:prstGeom prst="roundRect">
            <a:avLst>
              <a:gd name="adj" fmla="val 7273"/>
            </a:avLst>
          </a:prstGeom>
          <a:solidFill>
            <a:srgbClr val="F3F4F6"/>
          </a:solidFill>
          <a:ln w="12700">
            <a:solidFill>
              <a:srgbClr val="F3F4F6"/>
            </a:solidFill>
            <a:prstDash val="solid"/>
          </a:ln>
        </p:spPr>
      </p:sp>
      <p:sp>
        <p:nvSpPr>
          <p:cNvPr id="13" name="Text 11"/>
          <p:cNvSpPr txBox="1"/>
          <p:nvPr/>
        </p:nvSpPr>
        <p:spPr>
          <a:xfrm>
            <a:off x="6368796"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Still to identify</a:t>
            </a:r>
            <a:endParaRPr lang="en-US" sz="1100" dirty="0"/>
          </a:p>
        </p:txBody>
      </p:sp>
      <p:sp>
        <p:nvSpPr>
          <p:cNvPr id="14" name="Text 12"/>
          <p:cNvSpPr txBox="1"/>
          <p:nvPr/>
        </p:nvSpPr>
        <p:spPr>
          <a:xfrm>
            <a:off x="6368796"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5" name="Text 13"/>
          <p:cNvSpPr txBox="1"/>
          <p:nvPr/>
        </p:nvSpPr>
        <p:spPr>
          <a:xfrm>
            <a:off x="6368796"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Target − identified</a:t>
            </a:r>
            <a:endParaRPr lang="en-US" sz="1000" dirty="0"/>
          </a:p>
        </p:txBody>
      </p:sp>
      <p:sp>
        <p:nvSpPr>
          <p:cNvPr id="16" name="Shape 14"/>
          <p:cNvSpPr/>
          <p:nvPr/>
        </p:nvSpPr>
        <p:spPr>
          <a:xfrm>
            <a:off x="9004554" y="1371600"/>
            <a:ext cx="2635758" cy="1005840"/>
          </a:xfrm>
          <a:prstGeom prst="roundRect">
            <a:avLst>
              <a:gd name="adj" fmla="val 7273"/>
            </a:avLst>
          </a:prstGeom>
          <a:solidFill>
            <a:srgbClr val="F3F4F6"/>
          </a:solidFill>
          <a:ln w="12700">
            <a:solidFill>
              <a:srgbClr val="F3F4F6"/>
            </a:solidFill>
            <a:prstDash val="solid"/>
          </a:ln>
        </p:spPr>
      </p:sp>
      <p:sp>
        <p:nvSpPr>
          <p:cNvPr id="17" name="Text 15"/>
          <p:cNvSpPr txBox="1"/>
          <p:nvPr/>
        </p:nvSpPr>
        <p:spPr>
          <a:xfrm>
            <a:off x="9187434"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8" name="Text 16"/>
          <p:cNvSpPr txBox="1"/>
          <p:nvPr/>
        </p:nvSpPr>
        <p:spPr>
          <a:xfrm>
            <a:off x="9187434"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9" name="Text 17"/>
          <p:cNvSpPr txBox="1"/>
          <p:nvPr/>
        </p:nvSpPr>
        <p:spPr>
          <a:xfrm>
            <a:off x="9187434"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91672" cy="914400"/>
        </p:xfrm>
        <a:graphic>
          <a:graphicData uri="http://schemas.openxmlformats.org/drawingml/2006/table">
            <a:tbl>
              <a:tblPr/>
              <a:tblGrid>
                <a:gridCol w="411480"/>
                <a:gridCol w="5120640"/>
                <a:gridCol w="2148840"/>
                <a:gridCol w="1463040"/>
                <a:gridCol w="1947672"/>
              </a:tblGrid>
              <a:tr h="36576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Initiative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 yr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Dispatcher role eliminated (dispatch centralized)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Admin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59669"/>
                          </a:solidFill>
                          <a:latin typeface="Calibri" pitchFamily="34" charset="0"/>
                          <a:ea typeface="Calibri" pitchFamily="34" charset="-122"/>
                          <a:cs typeface="Calibri" pitchFamily="34" charset="-120"/>
                        </a:rPr>
                        <a:t>Confirmed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Agency labour mix (61.4% of dock hours Sept vs 70.5% F26)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Hours under SCA allowance (391 hrs Sept MTD)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Load securement &amp; decking (ANCRA)</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Linehaul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Freight-handling equipment (panel carts)</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Claims &amp; damage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Accessorial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protection</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Toyota baseload footage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gridSpan="3">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Total identified $61,000/yr · Target </a:t>
                      </a:r>
                      <a:pP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hMerge="1">
                  <a:tcPr/>
                </a:tc>
                <a:tc hMerge="1">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1" name="Text 18"/>
          <p:cNvSpPr txBox="1"/>
          <p:nvPr/>
        </p:nvSpPr>
        <p:spPr>
          <a:xfrm>
            <a:off x="548640" y="594360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$/yr = full-year F27 run-rate. Only the dispatcher saving is confirmed; other values TBC.</a:t>
            </a:r>
            <a:endParaRPr lang="en-US" sz="950" dirty="0"/>
          </a:p>
        </p:txBody>
      </p:sp>
      <p:sp>
        <p:nvSpPr>
          <p:cNvPr id="22"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19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dock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SCA dock 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95–100% OF TARGET</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Dock salaries &amp; benefits (month)</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5F3FF"/>
          </a:solidFill>
          <a:ln w="12700">
            <a:solidFill>
              <a:srgbClr val="F5F3FF"/>
            </a:solidFill>
            <a:prstDash val="solid"/>
          </a:ln>
        </p:spPr>
      </p:sp>
      <p:sp>
        <p:nvSpPr>
          <p:cNvPr id="30" name="Shape 28"/>
          <p:cNvSpPr/>
          <p:nvPr/>
        </p:nvSpPr>
        <p:spPr>
          <a:xfrm>
            <a:off x="6217920" y="4965192"/>
            <a:ext cx="566928" cy="566928"/>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19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19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EDE9FE"/>
          </a:solidFill>
          <a:ln w="12700">
            <a:solidFill>
              <a:srgbClr val="EDE9FE"/>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EDE9FE"/>
          </a:solidFill>
          <a:ln w="12700">
            <a:solidFill>
              <a:srgbClr val="EDE9FE"/>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agency vs D&amp;R mix managed per shift.</a:t>
            </a:r>
            <a:endParaRPr lang="en-US" sz="1400" dirty="0"/>
          </a:p>
        </p:txBody>
      </p:sp>
      <p:sp>
        <p:nvSpPr>
          <p:cNvPr id="10" name="Shape 6"/>
          <p:cNvSpPr/>
          <p:nvPr/>
        </p:nvSpPr>
        <p:spPr>
          <a:xfrm>
            <a:off x="548640" y="3044952"/>
            <a:ext cx="475488" cy="475488"/>
          </a:xfrm>
          <a:prstGeom prst="ellipse">
            <a:avLst/>
          </a:prstGeom>
          <a:solidFill>
            <a:srgbClr val="EDE9FE"/>
          </a:solidFill>
          <a:ln w="12700">
            <a:solidFill>
              <a:srgbClr val="EDE9FE"/>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Accessorials checked on freight bills (appointment, tailgate, storage, inside delivery) before invoicing.</a:t>
            </a:r>
            <a:endParaRPr lang="en-US" sz="1400" dirty="0"/>
          </a:p>
        </p:txBody>
      </p:sp>
      <p:sp>
        <p:nvSpPr>
          <p:cNvPr id="13" name="Shape 8"/>
          <p:cNvSpPr/>
          <p:nvPr/>
        </p:nvSpPr>
        <p:spPr>
          <a:xfrm>
            <a:off x="548640" y="3813048"/>
            <a:ext cx="475488" cy="475488"/>
          </a:xfrm>
          <a:prstGeom prst="ellipse">
            <a:avLst/>
          </a:prstGeom>
          <a:solidFill>
            <a:srgbClr val="EDE9FE"/>
          </a:solidFill>
          <a:ln w="12700">
            <a:solidFill>
              <a:srgbClr val="EDE9FE"/>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tracked every shift.</a:t>
            </a:r>
            <a:endParaRPr lang="en-US" sz="1400" dirty="0"/>
          </a:p>
        </p:txBody>
      </p:sp>
      <p:sp>
        <p:nvSpPr>
          <p:cNvPr id="16" name="Shape 10"/>
          <p:cNvSpPr/>
          <p:nvPr/>
        </p:nvSpPr>
        <p:spPr>
          <a:xfrm>
            <a:off x="7772400" y="1417320"/>
            <a:ext cx="3867912" cy="4526280"/>
          </a:xfrm>
          <a:prstGeom prst="roundRect">
            <a:avLst>
              <a:gd name="adj" fmla="val 1891"/>
            </a:avLst>
          </a:prstGeom>
          <a:solidFill>
            <a:srgbClr val="F5F3FF"/>
          </a:solidFill>
          <a:ln w="12700">
            <a:solidFill>
              <a:srgbClr val="F5F3FF"/>
            </a:solidFill>
            <a:prstDash val="solid"/>
          </a:ln>
        </p:spPr>
      </p:sp>
      <p:sp>
        <p:nvSpPr>
          <p:cNvPr id="17" name="Shape 11"/>
          <p:cNvSpPr/>
          <p:nvPr/>
        </p:nvSpPr>
        <p:spPr>
          <a:xfrm>
            <a:off x="8001000" y="1645920"/>
            <a:ext cx="502920" cy="502920"/>
          </a:xfrm>
          <a:prstGeom prst="ellipse">
            <a:avLst/>
          </a:prstGeom>
          <a:solidFill>
            <a:srgbClr val="7C3AED"/>
          </a:solidFill>
          <a:ln w="12700">
            <a:solidFill>
              <a:srgbClr val="7C3AED"/>
            </a:solidFill>
            <a:prstDash val="solid"/>
          </a:ln>
        </p:spPr>
      </p:sp>
      <p:pic>
        <p:nvPicPr>
          <p:cNvPr id="18" name="Image 4" descr="preencoded.png">    </p:cNvPr>
          <p:cNvPicPr>
            <a:picLocks noChangeAspect="1"/>
          </p:cNvPicPr>
          <p:nvPr/>
        </p:nvPicPr>
        <p:blipFill>
          <a:blip r:embed="rId5"/>
          <a:stretch>
            <a:fillRect/>
          </a:stretch>
        </p:blipFill>
        <p:spPr>
          <a:xfrm>
            <a:off x="8126730" y="1771650"/>
            <a:ext cx="251460" cy="251460"/>
          </a:xfrm>
          <a:prstGeom prst="rect">
            <a:avLst/>
          </a:prstGeom>
        </p:spPr>
      </p:pic>
      <p:sp>
        <p:nvSpPr>
          <p:cNvPr id="19" name="Text 12"/>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Workforce mix — agency vs D&amp;R</a:t>
            </a:r>
            <a:endParaRPr lang="en-US" sz="1500" dirty="0"/>
          </a:p>
        </p:txBody>
      </p:sp>
      <p:sp>
        <p:nvSpPr>
          <p:cNvPr id="20" name="Text 13"/>
          <p:cNvSpPr txBox="1"/>
          <p:nvPr/>
        </p:nvSpPr>
        <p:spPr>
          <a:xfrm>
            <a:off x="8001000" y="2240280"/>
            <a:ext cx="3474720"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Dock hours · SCA hours report, Mississauga</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2606040"/>
          <a:ext cx="3429000" cy="914400"/>
        </p:xfrm>
        <a:graphic>
          <a:graphicData uri="http://schemas.openxmlformats.org/drawingml/2006/table">
            <a:tbl>
              <a:tblPr/>
              <a:tblGrid>
                <a:gridCol w="1600200"/>
                <a:gridCol w="914400"/>
                <a:gridCol w="914400"/>
              </a:tblGrid>
              <a:tr h="365760">
                <a:tc>
                  <a:txBody>
                    <a:bodyPr/>
                    <a:lstStyle/>
                    <a:p>
                      <a:pP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Sept MTD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F26 Sept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4,443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D&amp;R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share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61.4%</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70.5%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 per D&amp;R hr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1.59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2.39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2" name="Text 14"/>
          <p:cNvSpPr txBox="1"/>
          <p:nvPr/>
        </p:nvSpPr>
        <p:spPr>
          <a:xfrm>
            <a:off x="8001000" y="4480560"/>
            <a:ext cx="34290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Share and ratio calculated from report hours.</a:t>
            </a:r>
            <a:endParaRPr lang="en-US" sz="900" dirty="0"/>
          </a:p>
        </p:txBody>
      </p:sp>
      <p:sp>
        <p:nvSpPr>
          <p:cNvPr id="23" name="Text 15"/>
          <p:cNvSpPr txBox="1"/>
          <p:nvPr/>
        </p:nvSpPr>
        <p:spPr>
          <a:xfrm>
            <a:off x="8001000" y="4800600"/>
            <a:ext cx="3429000" cy="45720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Per-shift example (Wed Sep 9) in the table below.</a:t>
            </a:r>
            <a:endParaRPr lang="en-US" sz="110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548640" y="4553712"/>
          <a:ext cx="6903720" cy="914400"/>
        </p:xfrm>
        <a:graphic>
          <a:graphicData uri="http://schemas.openxmlformats.org/drawingml/2006/table">
            <a:tbl>
              <a:tblPr/>
              <a:tblGrid>
                <a:gridCol w="1508760"/>
                <a:gridCol w="914400"/>
                <a:gridCol w="914400"/>
                <a:gridCol w="1325880"/>
                <a:gridCol w="914400"/>
                <a:gridCol w="1325880"/>
              </a:tblGrid>
              <a:tr h="24688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Shift · Wed Sep 9</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Budget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Actual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ratio</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Admin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AM (Inbound)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DC2626"/>
                          </a:solidFill>
                          <a:latin typeface="Calibri" pitchFamily="34" charset="0"/>
                          <a:ea typeface="Calibri" pitchFamily="34" charset="-122"/>
                          <a:cs typeface="Calibri" pitchFamily="34" charset="-120"/>
                        </a:rPr>
                        <a:t>42.63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 / 2</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2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Day</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64.0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62.67</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5</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13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PM (Outbound)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96.0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95.03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 / 4</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2.3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Driver loaders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7.00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Total</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059669"/>
                          </a:solidFill>
                          <a:latin typeface="Calibri" pitchFamily="34" charset="0"/>
                          <a:ea typeface="Calibri" pitchFamily="34" charset="-122"/>
                          <a:cs typeface="Calibri" pitchFamily="34" charset="-120"/>
                        </a:rPr>
                        <a:t>207.33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bl>
          </a:graphicData>
        </a:graphic>
      </p:graphicFrame>
      <p:sp>
        <p:nvSpPr>
          <p:cNvPr id="25" name="Text 1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6" name="Text 1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19</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5F3FF"/>
          </a:solidFill>
          <a:ln w="12700">
            <a:solidFill>
              <a:srgbClr val="F5F3FF"/>
            </a:solidFill>
            <a:prstDash val="solid"/>
          </a:ln>
        </p:spPr>
      </p:sp>
      <p:sp>
        <p:nvSpPr>
          <p:cNvPr id="22" name="Shape 19"/>
          <p:cNvSpPr/>
          <p:nvPr/>
        </p:nvSpPr>
        <p:spPr>
          <a:xfrm>
            <a:off x="6217920" y="3584448"/>
            <a:ext cx="457200" cy="457200"/>
          </a:xfrm>
          <a:prstGeom prst="ellipse">
            <a:avLst/>
          </a:prstGeom>
          <a:solidFill>
            <a:srgbClr val="7C3AED"/>
          </a:solidFill>
          <a:ln w="12700">
            <a:solidFill>
              <a:srgbClr val="7C3AED"/>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The goal is weight-based, so lighter freight holds PPH down even as units per hour rise.</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19</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outbound, F27 Jul–Sep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LF score = % of outbound loads more than 80% full · ex-Moncton and band figures calculated from the report</a:t>
            </a:r>
            <a:endParaRPr lang="en-US" sz="1200" dirty="0"/>
          </a:p>
        </p:txBody>
      </p:sp>
      <p:sp>
        <p:nvSpPr>
          <p:cNvPr id="5" name="Shape 3"/>
          <p:cNvSpPr/>
          <p:nvPr/>
        </p:nvSpPr>
        <p:spPr>
          <a:xfrm>
            <a:off x="548640" y="1600200"/>
            <a:ext cx="2635758" cy="1097280"/>
          </a:xfrm>
          <a:prstGeom prst="roundRect">
            <a:avLst>
              <a:gd name="adj" fmla="val 6667"/>
            </a:avLst>
          </a:prstGeom>
          <a:solidFill>
            <a:srgbClr val="F3F4F6"/>
          </a:solidFill>
          <a:ln w="12700">
            <a:solidFill>
              <a:srgbClr val="F3F4F6"/>
            </a:solidFill>
            <a:prstDash val="solid"/>
          </a:ln>
        </p:spPr>
      </p:sp>
      <p:sp>
        <p:nvSpPr>
          <p:cNvPr id="6" name="Text 4"/>
          <p:cNvSpPr txBox="1"/>
          <p:nvPr/>
        </p:nvSpPr>
        <p:spPr>
          <a:xfrm>
            <a:off x="731520"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a:t>
            </a:r>
            <a:endParaRPr lang="en-US" sz="1100" dirty="0"/>
          </a:p>
        </p:txBody>
      </p:sp>
      <p:sp>
        <p:nvSpPr>
          <p:cNvPr id="7" name="Text 5"/>
          <p:cNvSpPr txBox="1"/>
          <p:nvPr/>
        </p:nvSpPr>
        <p:spPr>
          <a:xfrm>
            <a:off x="731520"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36.4%</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39.5%</a:t>
            </a:r>
            <a:endParaRPr lang="en-US" sz="1600" dirty="0"/>
          </a:p>
        </p:txBody>
      </p:sp>
      <p:sp>
        <p:nvSpPr>
          <p:cNvPr id="8" name="Text 6"/>
          <p:cNvSpPr txBox="1"/>
          <p:nvPr/>
        </p:nvSpPr>
        <p:spPr>
          <a:xfrm>
            <a:off x="731520"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9" name="Shape 7"/>
          <p:cNvSpPr/>
          <p:nvPr/>
        </p:nvSpPr>
        <p:spPr>
          <a:xfrm>
            <a:off x="3367278" y="1600200"/>
            <a:ext cx="2635758" cy="1097280"/>
          </a:xfrm>
          <a:prstGeom prst="roundRect">
            <a:avLst>
              <a:gd name="adj" fmla="val 6667"/>
            </a:avLst>
          </a:prstGeom>
          <a:solidFill>
            <a:srgbClr val="F3F4F6"/>
          </a:solidFill>
          <a:ln w="12700">
            <a:solidFill>
              <a:srgbClr val="F3F4F6"/>
            </a:solidFill>
            <a:prstDash val="solid"/>
          </a:ln>
        </p:spPr>
      </p:sp>
      <p:sp>
        <p:nvSpPr>
          <p:cNvPr id="10" name="Text 8"/>
          <p:cNvSpPr txBox="1"/>
          <p:nvPr/>
        </p:nvSpPr>
        <p:spPr>
          <a:xfrm>
            <a:off x="3550158"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50158"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74.9%</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75.7%</a:t>
            </a:r>
            <a:endParaRPr lang="en-US" sz="1600" dirty="0"/>
          </a:p>
        </p:txBody>
      </p:sp>
      <p:sp>
        <p:nvSpPr>
          <p:cNvPr id="12" name="Text 10"/>
          <p:cNvSpPr txBox="1"/>
          <p:nvPr/>
        </p:nvSpPr>
        <p:spPr>
          <a:xfrm>
            <a:off x="3550158"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13" name="Shape 11"/>
          <p:cNvSpPr/>
          <p:nvPr/>
        </p:nvSpPr>
        <p:spPr>
          <a:xfrm>
            <a:off x="6185916" y="1600200"/>
            <a:ext cx="2635758" cy="1097280"/>
          </a:xfrm>
          <a:prstGeom prst="roundRect">
            <a:avLst>
              <a:gd name="adj" fmla="val 6667"/>
            </a:avLst>
          </a:prstGeom>
          <a:solidFill>
            <a:srgbClr val="F3F4F6"/>
          </a:solidFill>
          <a:ln w="12700">
            <a:solidFill>
              <a:srgbClr val="F3F4F6"/>
            </a:solidFill>
            <a:prstDash val="solid"/>
          </a:ln>
        </p:spPr>
      </p:sp>
      <p:sp>
        <p:nvSpPr>
          <p:cNvPr id="14" name="Text 12"/>
          <p:cNvSpPr txBox="1"/>
          <p:nvPr/>
        </p:nvSpPr>
        <p:spPr>
          <a:xfrm>
            <a:off x="6368796"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 by distance band</a:t>
            </a:r>
            <a:endParaRPr lang="en-US" sz="1100" dirty="0"/>
          </a:p>
        </p:txBody>
      </p:sp>
      <p:sp>
        <p:nvSpPr>
          <p:cNvPr id="15" name="Text 13"/>
          <p:cNvSpPr txBox="1"/>
          <p:nvPr/>
        </p:nvSpPr>
        <p:spPr>
          <a:xfrm>
            <a:off x="6368796" y="1947672"/>
            <a:ext cx="2269998" cy="438912"/>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53.8%</a:t>
            </a:r>
            <a:pPr indent="0" marL="0">
              <a:buNone/>
            </a:pPr>
            <a:r>
              <a:rPr lang="en-US" sz="1100" dirty="0">
                <a:solidFill>
                  <a:srgbClr val="6B7280"/>
                </a:solidFill>
                <a:latin typeface="Calibri" pitchFamily="34" charset="0"/>
                <a:ea typeface="Calibri" pitchFamily="34" charset="-122"/>
                <a:cs typeface="Calibri" pitchFamily="34" charset="-120"/>
              </a:rPr>
              <a:t>  &gt;1,000 band</a:t>
            </a:r>
            <a:endParaRPr lang="en-US" sz="2200" dirty="0"/>
          </a:p>
        </p:txBody>
      </p:sp>
      <p:sp>
        <p:nvSpPr>
          <p:cNvPr id="16" name="Text 14"/>
          <p:cNvSpPr txBox="1"/>
          <p:nvPr/>
        </p:nvSpPr>
        <p:spPr>
          <a:xfrm>
            <a:off x="6368796"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&lt;500: 32.1% · 500–1,000: 18.9%</a:t>
            </a:r>
            <a:endParaRPr lang="en-US" sz="1000" dirty="0"/>
          </a:p>
        </p:txBody>
      </p:sp>
      <p:sp>
        <p:nvSpPr>
          <p:cNvPr id="17" name="Shape 15"/>
          <p:cNvSpPr/>
          <p:nvPr/>
        </p:nvSpPr>
        <p:spPr>
          <a:xfrm>
            <a:off x="9004554" y="1600200"/>
            <a:ext cx="2635758" cy="1097280"/>
          </a:xfrm>
          <a:prstGeom prst="roundRect">
            <a:avLst>
              <a:gd name="adj" fmla="val 6667"/>
            </a:avLst>
          </a:prstGeom>
          <a:solidFill>
            <a:srgbClr val="F3F4F6"/>
          </a:solidFill>
          <a:ln w="12700">
            <a:solidFill>
              <a:srgbClr val="F3F4F6"/>
            </a:solidFill>
            <a:prstDash val="solid"/>
          </a:ln>
        </p:spPr>
      </p:sp>
      <p:sp>
        <p:nvSpPr>
          <p:cNvPr id="18" name="Text 16"/>
          <p:cNvSpPr txBox="1"/>
          <p:nvPr/>
        </p:nvSpPr>
        <p:spPr>
          <a:xfrm>
            <a:off x="9187434"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Outbound loads</a:t>
            </a:r>
            <a:endParaRPr lang="en-US" sz="1100" dirty="0"/>
          </a:p>
        </p:txBody>
      </p:sp>
      <p:sp>
        <p:nvSpPr>
          <p:cNvPr id="19" name="Text 17"/>
          <p:cNvSpPr txBox="1"/>
          <p:nvPr/>
        </p:nvSpPr>
        <p:spPr>
          <a:xfrm>
            <a:off x="9187434" y="1947672"/>
            <a:ext cx="2269998" cy="438912"/>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854</a:t>
            </a:r>
            <a:endParaRPr lang="en-US" sz="2400" dirty="0"/>
          </a:p>
        </p:txBody>
      </p:sp>
      <p:sp>
        <p:nvSpPr>
          <p:cNvPr id="20" name="Text 18"/>
          <p:cNvSpPr txBox="1"/>
          <p:nvPr/>
        </p:nvSpPr>
        <p:spPr>
          <a:xfrm>
            <a:off x="9187434"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311 &gt;80% · ex-Moncton 271 of 686</a:t>
            </a:r>
            <a:endParaRPr lang="en-US" sz="1000" dirty="0"/>
          </a:p>
        </p:txBody>
      </p:sp>
      <p:graphicFrame>
        <p:nvGraphicFramePr>
          <p:cNvPr id="21" name="Chart 0" descr=""/>
          <p:cNvGraphicFramePr/>
          <p:nvPr/>
        </p:nvGraphicFramePr>
        <p:xfrm>
          <a:off x="548640" y="2880360"/>
          <a:ext cx="5852160" cy="30632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675120" y="2880360"/>
            <a:ext cx="4965192" cy="914400"/>
          </a:xfrm>
          <a:prstGeom prst="roundRect">
            <a:avLst>
              <a:gd name="adj" fmla="val 8000"/>
            </a:avLst>
          </a:prstGeom>
          <a:solidFill>
            <a:srgbClr val="F3F4F6"/>
          </a:solidFill>
          <a:ln w="12700">
            <a:solidFill>
              <a:srgbClr val="F3F4F6"/>
            </a:solidFill>
            <a:prstDash val="solid"/>
          </a:ln>
        </p:spPr>
      </p:sp>
      <p:sp>
        <p:nvSpPr>
          <p:cNvPr id="23" name="Text 20"/>
          <p:cNvSpPr txBox="1"/>
          <p:nvPr/>
        </p:nvSpPr>
        <p:spPr>
          <a:xfrm>
            <a:off x="6858000" y="2880360"/>
            <a:ext cx="4663440" cy="914400"/>
          </a:xfrm>
          <a:prstGeom prst="rect">
            <a:avLst/>
          </a:prstGeom>
          <a:noFill/>
          <a:ln/>
        </p:spPr>
        <p:txBody>
          <a:bodyPr wrap="square" lIns="0" tIns="0" rIns="0" bIns="0" rtlCol="0" anchor="ctr"/>
          <a:lstStyle/>
          <a:p>
            <a:pPr indent="0" marL="0">
              <a:spcAft>
                <a:spcPts val="400"/>
              </a:spcAft>
              <a:buNone/>
            </a:pPr>
            <a:r>
              <a:rPr lang="en-US" sz="1300" b="1" dirty="0">
                <a:solidFill>
                  <a:srgbClr val="059669"/>
                </a:solidFill>
                <a:latin typeface="Calibri" pitchFamily="34" charset="0"/>
                <a:ea typeface="Calibri" pitchFamily="34" charset="-122"/>
                <a:cs typeface="Calibri" pitchFamily="34" charset="-120"/>
              </a:rPr>
              <a:t>Strong: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Burnaby · Winnipeg · Calgary</a:t>
            </a:r>
            <a:endParaRPr lang="en-US" sz="1300" dirty="0"/>
          </a:p>
          <a:p>
            <a:pPr indent="0" marL="0">
              <a:spcAft>
                <a:spcPts val="400"/>
              </a:spcAft>
              <a:buNone/>
            </a:pPr>
            <a:r>
              <a:rPr lang="en-US" sz="1300" b="1" dirty="0">
                <a:solidFill>
                  <a:srgbClr val="DC2626"/>
                </a:solidFill>
                <a:latin typeface="Calibri" pitchFamily="34" charset="0"/>
                <a:ea typeface="Calibri" pitchFamily="34" charset="-122"/>
                <a:cs typeface="Calibri" pitchFamily="34" charset="-120"/>
              </a:rPr>
              <a:t>Light: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Windsor · Quebec City · Dartmouth</a:t>
            </a:r>
            <a:endParaRPr lang="en-US" sz="1300" dirty="0"/>
          </a:p>
        </p:txBody>
      </p:sp>
      <p:sp>
        <p:nvSpPr>
          <p:cNvPr id="24" name="Shape 21"/>
          <p:cNvSpPr/>
          <p:nvPr/>
        </p:nvSpPr>
        <p:spPr>
          <a:xfrm>
            <a:off x="6675120" y="3931920"/>
            <a:ext cx="4965192" cy="960120"/>
          </a:xfrm>
          <a:prstGeom prst="roundRect">
            <a:avLst>
              <a:gd name="adj" fmla="val 7619"/>
            </a:avLst>
          </a:prstGeom>
          <a:solidFill>
            <a:srgbClr val="FFFBEB"/>
          </a:solidFill>
          <a:ln w="12700">
            <a:solidFill>
              <a:srgbClr val="FFFBEB"/>
            </a:solidFill>
            <a:prstDash val="solid"/>
          </a:ln>
        </p:spPr>
      </p:sp>
      <p:sp>
        <p:nvSpPr>
          <p:cNvPr id="25" name="Text 22"/>
          <p:cNvSpPr txBox="1"/>
          <p:nvPr/>
        </p:nvSpPr>
        <p:spPr>
          <a:xfrm>
            <a:off x="6858000" y="3931920"/>
            <a:ext cx="4663440" cy="9601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Toyota baseload: </a:t>
            </a:r>
            <a:pPr indent="0" marL="0">
              <a:buNone/>
            </a:pPr>
            <a:r>
              <a:rPr lang="en-US" sz="1200" dirty="0">
                <a:solidFill>
                  <a:srgbClr val="1F2937"/>
                </a:solidFill>
                <a:latin typeface="Calibri" pitchFamily="34" charset="0"/>
                <a:ea typeface="Calibri" pitchFamily="34" charset="-122"/>
                <a:cs typeface="Calibri" pitchFamily="34" charset="-120"/>
              </a:rPr>
              <a:t>trailer floor footage loaded at Bowmanville not captured correctly — fix under way; 20.5% of Moncton bills have no cube recorded vs 3.0% on other lanes.</a:t>
            </a:r>
            <a:endParaRPr lang="en-US" sz="1200" dirty="0"/>
          </a:p>
        </p:txBody>
      </p:sp>
      <p:sp>
        <p:nvSpPr>
          <p:cNvPr id="26" name="Shape 23"/>
          <p:cNvSpPr/>
          <p:nvPr/>
        </p:nvSpPr>
        <p:spPr>
          <a:xfrm>
            <a:off x="6675120" y="5029200"/>
            <a:ext cx="4965192" cy="914400"/>
          </a:xfrm>
          <a:prstGeom prst="roundRect">
            <a:avLst>
              <a:gd name="adj" fmla="val 8000"/>
            </a:avLst>
          </a:prstGeom>
          <a:solidFill>
            <a:srgbClr val="F5F3FF"/>
          </a:solidFill>
          <a:ln w="12700">
            <a:solidFill>
              <a:srgbClr val="F5F3FF"/>
            </a:solidFill>
            <a:prstDash val="solid"/>
          </a:ln>
        </p:spPr>
      </p:sp>
      <p:sp>
        <p:nvSpPr>
          <p:cNvPr id="27" name="Text 24"/>
          <p:cNvSpPr txBox="1"/>
          <p:nvPr/>
        </p:nvSpPr>
        <p:spPr>
          <a:xfrm>
            <a:off x="6858000" y="5029200"/>
            <a:ext cx="4663440" cy="9144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Biggest open opportunity: frequency review on the light lanes, plus cube capture on Moncton.</a:t>
            </a:r>
            <a:endParaRPr lang="en-US" sz="1250" dirty="0"/>
          </a:p>
        </p:txBody>
      </p:sp>
      <p:sp>
        <p:nvSpPr>
          <p:cNvPr id="28" name="Text 25"/>
          <p:cNvSpPr txBox="1"/>
          <p:nvPr/>
        </p:nvSpPr>
        <p:spPr>
          <a:xfrm>
            <a:off x="548640" y="6144768"/>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(ready date: all). Distance bands as defined in the report.</a:t>
            </a:r>
            <a:endParaRPr lang="en-US" sz="900" dirty="0"/>
          </a:p>
        </p:txBody>
      </p:sp>
      <p:sp>
        <p:nvSpPr>
          <p:cNvPr id="29" name="Text 2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19</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clock-in / clock-out</a:t>
            </a:r>
            <a:endParaRPr lang="en-US" sz="3000" dirty="0"/>
          </a:p>
        </p:txBody>
      </p:sp>
      <p:sp>
        <p:nvSpPr>
          <p:cNvPr id="4" name="Shape 2"/>
          <p:cNvSpPr/>
          <p:nvPr/>
        </p:nvSpPr>
        <p:spPr>
          <a:xfrm>
            <a:off x="548640" y="1371600"/>
            <a:ext cx="4572000" cy="4663440"/>
          </a:xfrm>
          <a:prstGeom prst="roundRect">
            <a:avLst>
              <a:gd name="adj" fmla="val 1600"/>
            </a:avLst>
          </a:prstGeom>
          <a:solidFill>
            <a:srgbClr val="D1FAE5"/>
          </a:solidFill>
          <a:ln w="12700">
            <a:solidFill>
              <a:srgbClr val="D1FAE5"/>
            </a:solidFill>
            <a:prstDash val="solid"/>
          </a:ln>
        </p:spPr>
      </p:sp>
      <p:sp>
        <p:nvSpPr>
          <p:cNvPr id="5" name="Shape 3"/>
          <p:cNvSpPr/>
          <p:nvPr/>
        </p:nvSpPr>
        <p:spPr>
          <a:xfrm>
            <a:off x="822960" y="1645920"/>
            <a:ext cx="640080" cy="640080"/>
          </a:xfrm>
          <a:prstGeom prst="ellipse">
            <a:avLst/>
          </a:prstGeom>
          <a:solidFill>
            <a:srgbClr val="059669"/>
          </a:solidFill>
          <a:ln w="12700">
            <a:solidFill>
              <a:srgbClr val="059669"/>
            </a:solidFill>
            <a:prstDash val="solid"/>
          </a:ln>
        </p:spPr>
      </p:sp>
      <p:pic>
        <p:nvPicPr>
          <p:cNvPr id="6" name="Image 0" descr="preencoded.png">    </p:cNvPr>
          <p:cNvPicPr>
            <a:picLocks noChangeAspect="1"/>
          </p:cNvPicPr>
          <p:nvPr/>
        </p:nvPicPr>
        <p:blipFill>
          <a:blip r:embed="rId1"/>
          <a:stretch>
            <a:fillRect/>
          </a:stretch>
        </p:blipFill>
        <p:spPr>
          <a:xfrm>
            <a:off x="982980" y="1805940"/>
            <a:ext cx="320040" cy="320040"/>
          </a:xfrm>
          <a:prstGeom prst="rect">
            <a:avLst/>
          </a:prstGeom>
        </p:spPr>
      </p:pic>
      <p:sp>
        <p:nvSpPr>
          <p:cNvPr id="7" name="Text 4"/>
          <p:cNvSpPr txBox="1"/>
          <p:nvPr/>
        </p:nvSpPr>
        <p:spPr>
          <a:xfrm>
            <a:off x="1645920" y="1645920"/>
            <a:ext cx="320040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Status</a:t>
            </a:r>
            <a:endParaRPr lang="en-US" sz="1400" dirty="0"/>
          </a:p>
        </p:txBody>
      </p:sp>
      <p:sp>
        <p:nvSpPr>
          <p:cNvPr id="8" name="Text 5"/>
          <p:cNvSpPr txBox="1"/>
          <p:nvPr/>
        </p:nvSpPr>
        <p:spPr>
          <a:xfrm>
            <a:off x="1645920" y="1938528"/>
            <a:ext cx="3383280" cy="457200"/>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OK — under review</a:t>
            </a:r>
            <a:endParaRPr lang="en-US" sz="2400" dirty="0"/>
          </a:p>
        </p:txBody>
      </p:sp>
      <p:sp>
        <p:nvSpPr>
          <p:cNvPr id="9" name="Text 6"/>
          <p:cNvSpPr txBox="1"/>
          <p:nvPr/>
        </p:nvSpPr>
        <p:spPr>
          <a:xfrm>
            <a:off x="822960" y="2651760"/>
            <a:ext cx="4114800" cy="73152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SCA team review of clock-in / clock-out for Mississauga.</a:t>
            </a:r>
            <a:endParaRPr lang="en-US" sz="1400" dirty="0"/>
          </a:p>
        </p:txBody>
      </p:sp>
      <p:sp>
        <p:nvSpPr>
          <p:cNvPr id="10" name="Shape 7"/>
          <p:cNvSpPr/>
          <p:nvPr/>
        </p:nvSpPr>
        <p:spPr>
          <a:xfrm>
            <a:off x="5394960" y="1371600"/>
            <a:ext cx="6245352" cy="4663440"/>
          </a:xfrm>
          <a:prstGeom prst="roundRect">
            <a:avLst>
              <a:gd name="adj" fmla="val 1569"/>
            </a:avLst>
          </a:prstGeom>
          <a:solidFill>
            <a:srgbClr val="F3F4F6"/>
          </a:solidFill>
          <a:ln w="12700">
            <a:solidFill>
              <a:srgbClr val="F3F4F6"/>
            </a:solidFill>
            <a:prstDash val="solid"/>
          </a:ln>
        </p:spPr>
      </p:sp>
      <p:sp>
        <p:nvSpPr>
          <p:cNvPr id="11" name="Text 8"/>
          <p:cNvSpPr txBox="1"/>
          <p:nvPr/>
        </p:nvSpPr>
        <p:spPr>
          <a:xfrm>
            <a:off x="5669280" y="1600200"/>
            <a:ext cx="566928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Where it stands</a:t>
            </a:r>
            <a:endParaRPr lang="en-US" sz="1800" dirty="0"/>
          </a:p>
        </p:txBody>
      </p:sp>
      <p:sp>
        <p:nvSpPr>
          <p:cNvPr id="12" name="Shape 9"/>
          <p:cNvSpPr/>
          <p:nvPr/>
        </p:nvSpPr>
        <p:spPr>
          <a:xfrm>
            <a:off x="5669280" y="2286000"/>
            <a:ext cx="548640" cy="548640"/>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5806440" y="2423160"/>
            <a:ext cx="274320" cy="274320"/>
          </a:xfrm>
          <a:prstGeom prst="rect">
            <a:avLst/>
          </a:prstGeom>
        </p:spPr>
      </p:pic>
      <p:sp>
        <p:nvSpPr>
          <p:cNvPr id="14" name="Text 10"/>
          <p:cNvSpPr txBox="1"/>
          <p:nvPr/>
        </p:nvSpPr>
        <p:spPr>
          <a:xfrm>
            <a:off x="6400800" y="2194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SCA team: CICO is currently OK for our freight-bill volume, building size and operation.</a:t>
            </a:r>
            <a:endParaRPr lang="en-US" sz="1500" dirty="0"/>
          </a:p>
        </p:txBody>
      </p:sp>
      <p:sp>
        <p:nvSpPr>
          <p:cNvPr id="15" name="Shape 11"/>
          <p:cNvSpPr/>
          <p:nvPr/>
        </p:nvSpPr>
        <p:spPr>
          <a:xfrm>
            <a:off x="5669280" y="3429000"/>
            <a:ext cx="548640" cy="548640"/>
          </a:xfrm>
          <a:prstGeom prst="ellipse">
            <a:avLst/>
          </a:prstGeom>
          <a:solidFill>
            <a:srgbClr val="EDE9FE"/>
          </a:solidFill>
          <a:ln w="12700">
            <a:solidFill>
              <a:srgbClr val="EDE9FE"/>
            </a:solidFill>
            <a:prstDash val="solid"/>
          </a:ln>
        </p:spPr>
      </p:sp>
      <p:pic>
        <p:nvPicPr>
          <p:cNvPr id="16" name="Image 2" descr="preencoded.png">    </p:cNvPr>
          <p:cNvPicPr>
            <a:picLocks noChangeAspect="1"/>
          </p:cNvPicPr>
          <p:nvPr/>
        </p:nvPicPr>
        <p:blipFill>
          <a:blip r:embed="rId3"/>
          <a:stretch>
            <a:fillRect/>
          </a:stretch>
        </p:blipFill>
        <p:spPr>
          <a:xfrm>
            <a:off x="5806440" y="3566160"/>
            <a:ext cx="274320" cy="274320"/>
          </a:xfrm>
          <a:prstGeom prst="rect">
            <a:avLst/>
          </a:prstGeom>
        </p:spPr>
      </p:pic>
      <p:sp>
        <p:nvSpPr>
          <p:cNvPr id="17" name="Text 12"/>
          <p:cNvSpPr txBox="1"/>
          <p:nvPr/>
        </p:nvSpPr>
        <p:spPr>
          <a:xfrm>
            <a:off x="6400800" y="3337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Admin roles form completed for the SCA team — every admin role and its duties documented.</a:t>
            </a:r>
            <a:endParaRPr lang="en-US" sz="1500" dirty="0"/>
          </a:p>
        </p:txBody>
      </p:sp>
      <p:sp>
        <p:nvSpPr>
          <p:cNvPr id="18" name="Shape 13"/>
          <p:cNvSpPr/>
          <p:nvPr/>
        </p:nvSpPr>
        <p:spPr>
          <a:xfrm>
            <a:off x="5669280" y="4572000"/>
            <a:ext cx="548640" cy="548640"/>
          </a:xfrm>
          <a:prstGeom prst="ellipse">
            <a:avLst/>
          </a:prstGeom>
          <a:solidFill>
            <a:srgbClr val="EDE9FE"/>
          </a:solidFill>
          <a:ln w="12700">
            <a:solidFill>
              <a:srgbClr val="EDE9FE"/>
            </a:solidFill>
            <a:prstDash val="solid"/>
          </a:ln>
        </p:spPr>
      </p:sp>
      <p:pic>
        <p:nvPicPr>
          <p:cNvPr id="19" name="Image 3" descr="preencoded.png">    </p:cNvPr>
          <p:cNvPicPr>
            <a:picLocks noChangeAspect="1"/>
          </p:cNvPicPr>
          <p:nvPr/>
        </p:nvPicPr>
        <p:blipFill>
          <a:blip r:embed="rId4"/>
          <a:stretch>
            <a:fillRect/>
          </a:stretch>
        </p:blipFill>
        <p:spPr>
          <a:xfrm>
            <a:off x="5806440" y="4709160"/>
            <a:ext cx="274320" cy="274320"/>
          </a:xfrm>
          <a:prstGeom prst="rect">
            <a:avLst/>
          </a:prstGeom>
        </p:spPr>
      </p:pic>
      <p:sp>
        <p:nvSpPr>
          <p:cNvPr id="20" name="Text 14"/>
          <p:cNvSpPr txBox="1"/>
          <p:nvPr/>
        </p:nvSpPr>
        <p:spPr>
          <a:xfrm>
            <a:off x="6400800" y="4480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Still under review — any changes will come out of that review.</a:t>
            </a:r>
            <a:endParaRPr lang="en-US" sz="1500" dirty="0"/>
          </a:p>
        </p:txBody>
      </p:sp>
      <p:sp>
        <p:nvSpPr>
          <p:cNvPr id="21"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2"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19</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quality &amp; securement — today and the plan</a:t>
            </a:r>
            <a:endParaRPr lang="en-US" sz="3000" dirty="0"/>
          </a:p>
        </p:txBody>
      </p:sp>
      <p:sp>
        <p:nvSpPr>
          <p:cNvPr id="4" name="Shape 2"/>
          <p:cNvSpPr/>
          <p:nvPr/>
        </p:nvSpPr>
        <p:spPr>
          <a:xfrm>
            <a:off x="548640" y="1371600"/>
            <a:ext cx="1347826" cy="274320"/>
          </a:xfrm>
          <a:prstGeom prst="roundRect">
            <a:avLst>
              <a:gd name="adj" fmla="val 26667"/>
            </a:avLst>
          </a:prstGeom>
          <a:solidFill>
            <a:srgbClr val="D1FAE5"/>
          </a:solidFill>
          <a:ln w="12700">
            <a:solidFill>
              <a:srgbClr val="D1FAE5"/>
            </a:solidFill>
            <a:prstDash val="solid"/>
          </a:ln>
        </p:spPr>
      </p:sp>
      <p:sp>
        <p:nvSpPr>
          <p:cNvPr id="5" name="Text 3"/>
          <p:cNvSpPr txBox="1"/>
          <p:nvPr/>
        </p:nvSpPr>
        <p:spPr>
          <a:xfrm>
            <a:off x="548640"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6" name="Image 0" descr="Deck beam, 2nd tier">    </p:cNvPr>
          <p:cNvPicPr>
            <a:picLocks noChangeAspect="1"/>
          </p:cNvPicPr>
          <p:nvPr/>
        </p:nvPicPr>
        <p:blipFill>
          <a:blip r:embed="rId1"/>
          <a:srcRect l="0" r="0" t="0" b="0"/>
          <a:stretch/>
        </p:blipFill>
        <p:spPr>
          <a:xfrm>
            <a:off x="548640" y="1719072"/>
            <a:ext cx="1347826" cy="1797101"/>
          </a:xfrm>
          <a:prstGeom prst="rect">
            <a:avLst/>
          </a:prstGeom>
        </p:spPr>
      </p:pic>
      <p:sp>
        <p:nvSpPr>
          <p:cNvPr id="7" name="Text 4"/>
          <p:cNvSpPr txBox="1"/>
          <p:nvPr/>
        </p:nvSpPr>
        <p:spPr>
          <a:xfrm>
            <a:off x="548640"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Deck beam, 2nd tier</a:t>
            </a:r>
            <a:endParaRPr lang="en-US" sz="900" dirty="0"/>
          </a:p>
        </p:txBody>
      </p:sp>
      <p:sp>
        <p:nvSpPr>
          <p:cNvPr id="8" name="Shape 5"/>
          <p:cNvSpPr/>
          <p:nvPr/>
        </p:nvSpPr>
        <p:spPr>
          <a:xfrm>
            <a:off x="2006194" y="1371600"/>
            <a:ext cx="1347826" cy="274320"/>
          </a:xfrm>
          <a:prstGeom prst="roundRect">
            <a:avLst>
              <a:gd name="adj" fmla="val 26667"/>
            </a:avLst>
          </a:prstGeom>
          <a:solidFill>
            <a:srgbClr val="D1FAE5"/>
          </a:solidFill>
          <a:ln w="12700">
            <a:solidFill>
              <a:srgbClr val="D1FAE5"/>
            </a:solidFill>
            <a:prstDash val="solid"/>
          </a:ln>
        </p:spPr>
      </p:sp>
      <p:sp>
        <p:nvSpPr>
          <p:cNvPr id="9" name="Text 6"/>
          <p:cNvSpPr txBox="1"/>
          <p:nvPr/>
        </p:nvSpPr>
        <p:spPr>
          <a:xfrm>
            <a:off x="200619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10" name="Image 1" descr="Deck board + strap">    </p:cNvPr>
          <p:cNvPicPr>
            <a:picLocks noChangeAspect="1"/>
          </p:cNvPicPr>
          <p:nvPr/>
        </p:nvPicPr>
        <p:blipFill>
          <a:blip r:embed="rId2"/>
          <a:srcRect l="0" r="0" t="0" b="0"/>
          <a:stretch/>
        </p:blipFill>
        <p:spPr>
          <a:xfrm>
            <a:off x="2006194" y="1719072"/>
            <a:ext cx="1347826" cy="1797101"/>
          </a:xfrm>
          <a:prstGeom prst="rect">
            <a:avLst/>
          </a:prstGeom>
        </p:spPr>
      </p:pic>
      <p:sp>
        <p:nvSpPr>
          <p:cNvPr id="11" name="Text 7"/>
          <p:cNvSpPr txBox="1"/>
          <p:nvPr/>
        </p:nvSpPr>
        <p:spPr>
          <a:xfrm>
            <a:off x="200619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Deck board + strap</a:t>
            </a:r>
            <a:endParaRPr lang="en-US" sz="900" dirty="0"/>
          </a:p>
        </p:txBody>
      </p:sp>
      <p:sp>
        <p:nvSpPr>
          <p:cNvPr id="12" name="Shape 8"/>
          <p:cNvSpPr/>
          <p:nvPr/>
        </p:nvSpPr>
        <p:spPr>
          <a:xfrm>
            <a:off x="3463747" y="1371600"/>
            <a:ext cx="1347826" cy="274320"/>
          </a:xfrm>
          <a:prstGeom prst="roundRect">
            <a:avLst>
              <a:gd name="adj" fmla="val 26667"/>
            </a:avLst>
          </a:prstGeom>
          <a:solidFill>
            <a:srgbClr val="FEE2E2"/>
          </a:solidFill>
          <a:ln w="12700">
            <a:solidFill>
              <a:srgbClr val="FEE2E2"/>
            </a:solidFill>
            <a:prstDash val="solid"/>
          </a:ln>
        </p:spPr>
      </p:sp>
      <p:sp>
        <p:nvSpPr>
          <p:cNvPr id="13" name="Text 9"/>
          <p:cNvSpPr txBox="1"/>
          <p:nvPr/>
        </p:nvSpPr>
        <p:spPr>
          <a:xfrm>
            <a:off x="3463747"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a:t>
            </a:r>
            <a:endParaRPr lang="en-US" sz="1000" dirty="0"/>
          </a:p>
        </p:txBody>
      </p:sp>
      <p:pic>
        <p:nvPicPr>
          <p:cNvPr id="14" name="Image 2" descr="Loose on a diagonal">    </p:cNvPr>
          <p:cNvPicPr>
            <a:picLocks noChangeAspect="1"/>
          </p:cNvPicPr>
          <p:nvPr/>
        </p:nvPicPr>
        <p:blipFill>
          <a:blip r:embed="rId3"/>
          <a:srcRect l="0" r="0" t="0" b="0"/>
          <a:stretch/>
        </p:blipFill>
        <p:spPr>
          <a:xfrm>
            <a:off x="3463747" y="1719072"/>
            <a:ext cx="1347826" cy="1797101"/>
          </a:xfrm>
          <a:prstGeom prst="rect">
            <a:avLst/>
          </a:prstGeom>
        </p:spPr>
      </p:pic>
      <p:sp>
        <p:nvSpPr>
          <p:cNvPr id="15" name="Text 10"/>
          <p:cNvSpPr txBox="1"/>
          <p:nvPr/>
        </p:nvSpPr>
        <p:spPr>
          <a:xfrm>
            <a:off x="3463747"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Loose on a diagonal</a:t>
            </a:r>
            <a:endParaRPr lang="en-US" sz="900" dirty="0"/>
          </a:p>
        </p:txBody>
      </p:sp>
      <p:sp>
        <p:nvSpPr>
          <p:cNvPr id="16" name="Shape 11"/>
          <p:cNvSpPr/>
          <p:nvPr/>
        </p:nvSpPr>
        <p:spPr>
          <a:xfrm>
            <a:off x="4921301" y="1371600"/>
            <a:ext cx="1347826" cy="274320"/>
          </a:xfrm>
          <a:prstGeom prst="roundRect">
            <a:avLst>
              <a:gd name="adj" fmla="val 26667"/>
            </a:avLst>
          </a:prstGeom>
          <a:solidFill>
            <a:srgbClr val="FEE2E2"/>
          </a:solidFill>
          <a:ln w="12700">
            <a:solidFill>
              <a:srgbClr val="FEE2E2"/>
            </a:solidFill>
            <a:prstDash val="solid"/>
          </a:ln>
        </p:spPr>
      </p:sp>
      <p:sp>
        <p:nvSpPr>
          <p:cNvPr id="17" name="Text 12"/>
          <p:cNvSpPr txBox="1"/>
          <p:nvPr/>
        </p:nvSpPr>
        <p:spPr>
          <a:xfrm>
            <a:off x="4921301"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18" name="Image 3" descr="Glass doors on makeshift frames">    </p:cNvPr>
          <p:cNvPicPr>
            <a:picLocks noChangeAspect="1"/>
          </p:cNvPicPr>
          <p:nvPr/>
        </p:nvPicPr>
        <p:blipFill>
          <a:blip r:embed="rId4"/>
          <a:srcRect l="0" r="0" t="0" b="0"/>
          <a:stretch/>
        </p:blipFill>
        <p:spPr>
          <a:xfrm>
            <a:off x="4921301" y="1719072"/>
            <a:ext cx="1347826" cy="1797101"/>
          </a:xfrm>
          <a:prstGeom prst="rect">
            <a:avLst/>
          </a:prstGeom>
        </p:spPr>
      </p:pic>
      <p:sp>
        <p:nvSpPr>
          <p:cNvPr id="19" name="Text 13"/>
          <p:cNvSpPr txBox="1"/>
          <p:nvPr/>
        </p:nvSpPr>
        <p:spPr>
          <a:xfrm>
            <a:off x="4921301"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Glass doors on makeshift frames</a:t>
            </a:r>
            <a:endParaRPr lang="en-US" sz="900" dirty="0"/>
          </a:p>
        </p:txBody>
      </p:sp>
      <p:sp>
        <p:nvSpPr>
          <p:cNvPr id="20" name="Shape 14"/>
          <p:cNvSpPr/>
          <p:nvPr/>
        </p:nvSpPr>
        <p:spPr>
          <a:xfrm>
            <a:off x="6378854" y="1371600"/>
            <a:ext cx="1347826" cy="274320"/>
          </a:xfrm>
          <a:prstGeom prst="roundRect">
            <a:avLst>
              <a:gd name="adj" fmla="val 26667"/>
            </a:avLst>
          </a:prstGeom>
          <a:solidFill>
            <a:srgbClr val="FEE2E2"/>
          </a:solidFill>
          <a:ln w="12700">
            <a:solidFill>
              <a:srgbClr val="FEE2E2"/>
            </a:solidFill>
            <a:prstDash val="solid"/>
          </a:ln>
        </p:spPr>
      </p:sp>
      <p:sp>
        <p:nvSpPr>
          <p:cNvPr id="21" name="Text 15"/>
          <p:cNvSpPr txBox="1"/>
          <p:nvPr/>
        </p:nvSpPr>
        <p:spPr>
          <a:xfrm>
            <a:off x="637885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22" name="Image 4" descr="Door boxes leaning / toppling">    </p:cNvPr>
          <p:cNvPicPr>
            <a:picLocks noChangeAspect="1"/>
          </p:cNvPicPr>
          <p:nvPr/>
        </p:nvPicPr>
        <p:blipFill>
          <a:blip r:embed="rId5"/>
          <a:srcRect l="0" r="0" t="0" b="0"/>
          <a:stretch/>
        </p:blipFill>
        <p:spPr>
          <a:xfrm>
            <a:off x="6378854" y="1719072"/>
            <a:ext cx="1347826" cy="1797101"/>
          </a:xfrm>
          <a:prstGeom prst="rect">
            <a:avLst/>
          </a:prstGeom>
        </p:spPr>
      </p:pic>
      <p:sp>
        <p:nvSpPr>
          <p:cNvPr id="23" name="Text 16"/>
          <p:cNvSpPr txBox="1"/>
          <p:nvPr/>
        </p:nvSpPr>
        <p:spPr>
          <a:xfrm>
            <a:off x="637885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Door boxes leaning / toppling</a:t>
            </a:r>
            <a:endParaRPr lang="en-US" sz="900" dirty="0"/>
          </a:p>
        </p:txBody>
      </p:sp>
      <p:sp>
        <p:nvSpPr>
          <p:cNvPr id="24" name="Shape 17"/>
          <p:cNvSpPr/>
          <p:nvPr/>
        </p:nvSpPr>
        <p:spPr>
          <a:xfrm>
            <a:off x="548640" y="4069080"/>
            <a:ext cx="4189781" cy="1965960"/>
          </a:xfrm>
          <a:prstGeom prst="roundRect">
            <a:avLst>
              <a:gd name="adj" fmla="val 3721"/>
            </a:avLst>
          </a:prstGeom>
          <a:solidFill>
            <a:srgbClr val="F5F3FF"/>
          </a:solidFill>
          <a:ln w="12700">
            <a:solidFill>
              <a:srgbClr val="F5F3FF"/>
            </a:solidFill>
            <a:prstDash val="solid"/>
          </a:ln>
        </p:spPr>
      </p:sp>
      <p:sp>
        <p:nvSpPr>
          <p:cNvPr id="25" name="Text 18"/>
          <p:cNvSpPr txBox="1"/>
          <p:nvPr/>
        </p:nvSpPr>
        <p:spPr>
          <a:xfrm>
            <a:off x="731520" y="4114800"/>
            <a:ext cx="3869741" cy="1874520"/>
          </a:xfrm>
          <a:prstGeom prst="rect">
            <a:avLst/>
          </a:prstGeom>
          <a:noFill/>
          <a:ln/>
        </p:spPr>
        <p:txBody>
          <a:bodyPr wrap="square" lIns="0" tIns="0" rIns="0" bIns="0" rtlCol="0" anchor="ctr"/>
          <a:lstStyle/>
          <a:p>
            <a:pPr indent="0" marL="0">
              <a:spcAft>
                <a:spcPts val="400"/>
              </a:spcAft>
              <a:buNone/>
            </a:pPr>
            <a:r>
              <a:rPr lang="en-US" sz="1300" b="1" dirty="0">
                <a:solidFill>
                  <a:srgbClr val="7C3AED"/>
                </a:solidFill>
                <a:latin typeface="Calibri" pitchFamily="34" charset="0"/>
                <a:ea typeface="Calibri" pitchFamily="34" charset="-122"/>
                <a:cs typeface="Calibri" pitchFamily="34" charset="-120"/>
              </a:rPr>
              <a:t>Why</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Uses the top half of the trailer — lifts LF score (36.4% F27).</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Fewer damaged FBs (1.61% 7-day avg) and claims.</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Safer unloading.</a:t>
            </a:r>
            <a:endParaRPr lang="en-US" sz="1200" dirty="0"/>
          </a:p>
        </p:txBody>
      </p:sp>
      <p:sp>
        <p:nvSpPr>
          <p:cNvPr id="26" name="Shape 19"/>
          <p:cNvSpPr/>
          <p:nvPr/>
        </p:nvSpPr>
        <p:spPr>
          <a:xfrm>
            <a:off x="4921301" y="4069080"/>
            <a:ext cx="2805379" cy="1965960"/>
          </a:xfrm>
          <a:prstGeom prst="roundRect">
            <a:avLst>
              <a:gd name="adj" fmla="val 3721"/>
            </a:avLst>
          </a:prstGeom>
          <a:solidFill>
            <a:srgbClr val="FFFBEB"/>
          </a:solidFill>
          <a:ln w="12700">
            <a:solidFill>
              <a:srgbClr val="FFFBEB"/>
            </a:solidFill>
            <a:prstDash val="solid"/>
          </a:ln>
        </p:spPr>
      </p:sp>
      <p:sp>
        <p:nvSpPr>
          <p:cNvPr id="27" name="Text 20"/>
          <p:cNvSpPr txBox="1"/>
          <p:nvPr/>
        </p:nvSpPr>
        <p:spPr>
          <a:xfrm>
            <a:off x="5031029" y="4114800"/>
            <a:ext cx="2585923" cy="187452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MAAX example: </a:t>
            </a:r>
            <a:pPr indent="0" marL="0">
              <a:buNone/>
            </a:pPr>
            <a:r>
              <a:rPr lang="en-US" sz="1050" dirty="0">
                <a:solidFill>
                  <a:srgbClr val="1F2937"/>
                </a:solidFill>
                <a:latin typeface="Calibri" pitchFamily="34" charset="0"/>
                <a:ea typeface="Calibri" pitchFamily="34" charset="-122"/>
                <a:cs typeface="Calibri" pitchFamily="34" charset="-120"/>
              </a:rPr>
              <a:t>shower doors and bases (thin, all glass) and 75-inch TVs ride standing loose today. </a:t>
            </a:r>
            <a:pPr indent="0" marL="0">
              <a:buNone/>
            </a:pPr>
            <a:r>
              <a:rPr lang="en-US" sz="1050" b="1" dirty="0">
                <a:solidFill>
                  <a:srgbClr val="111827"/>
                </a:solidFill>
                <a:latin typeface="Calibri" pitchFamily="34" charset="0"/>
                <a:ea typeface="Calibri" pitchFamily="34" charset="-122"/>
                <a:cs typeface="Calibri" pitchFamily="34" charset="-120"/>
              </a:rPr>
              <a:t>Slot them into panel carts — yellow cart rolls by hand, grey cage lifts by forklift</a:t>
            </a:r>
            <a:pPr indent="0" marL="0">
              <a:buNone/>
            </a:pPr>
            <a:r>
              <a:rPr lang="en-US" sz="1050" dirty="0">
                <a:solidFill>
                  <a:srgbClr val="1F2937"/>
                </a:solidFill>
                <a:latin typeface="Calibri" pitchFamily="34" charset="0"/>
                <a:ea typeface="Calibri" pitchFamily="34" charset="-122"/>
                <a:cs typeface="Calibri" pitchFamily="34" charset="-120"/>
              </a:rPr>
              <a:t>: secured in transit, faster in/out, less breakage.</a:t>
            </a:r>
            <a:endParaRPr lang="en-US" sz="1050" dirty="0"/>
          </a:p>
        </p:txBody>
      </p:sp>
      <p:sp>
        <p:nvSpPr>
          <p:cNvPr id="28" name="Shape 21"/>
          <p:cNvSpPr/>
          <p:nvPr/>
        </p:nvSpPr>
        <p:spPr>
          <a:xfrm>
            <a:off x="8001000" y="1371600"/>
            <a:ext cx="3639312" cy="4663440"/>
          </a:xfrm>
          <a:prstGeom prst="roundRect">
            <a:avLst>
              <a:gd name="adj" fmla="val 2010"/>
            </a:avLst>
          </a:prstGeom>
          <a:solidFill>
            <a:srgbClr val="F3F4F6"/>
          </a:solidFill>
          <a:ln w="12700">
            <a:solidFill>
              <a:srgbClr val="F3F4F6"/>
            </a:solidFill>
            <a:prstDash val="solid"/>
          </a:ln>
        </p:spPr>
      </p:sp>
      <p:sp>
        <p:nvSpPr>
          <p:cNvPr id="29" name="Shape 22"/>
          <p:cNvSpPr/>
          <p:nvPr/>
        </p:nvSpPr>
        <p:spPr>
          <a:xfrm>
            <a:off x="8229600" y="1572768"/>
            <a:ext cx="502920" cy="502920"/>
          </a:xfrm>
          <a:prstGeom prst="ellipse">
            <a:avLst/>
          </a:prstGeom>
          <a:solidFill>
            <a:srgbClr val="7C3AED"/>
          </a:solidFill>
          <a:ln w="12700">
            <a:solidFill>
              <a:srgbClr val="7C3AED"/>
            </a:solidFill>
            <a:prstDash val="solid"/>
          </a:ln>
        </p:spPr>
      </p:sp>
      <p:pic>
        <p:nvPicPr>
          <p:cNvPr id="30" name="Image 5" descr="preencoded.png">    </p:cNvPr>
          <p:cNvPicPr>
            <a:picLocks noChangeAspect="1"/>
          </p:cNvPicPr>
          <p:nvPr/>
        </p:nvPicPr>
        <p:blipFill>
          <a:blip r:embed="rId6"/>
          <a:stretch>
            <a:fillRect/>
          </a:stretch>
        </p:blipFill>
        <p:spPr>
          <a:xfrm>
            <a:off x="8355330" y="1698498"/>
            <a:ext cx="251460" cy="251460"/>
          </a:xfrm>
          <a:prstGeom prst="rect">
            <a:avLst/>
          </a:prstGeom>
        </p:spPr>
      </p:pic>
      <p:sp>
        <p:nvSpPr>
          <p:cNvPr id="31" name="Text 23"/>
          <p:cNvSpPr txBox="1"/>
          <p:nvPr/>
        </p:nvSpPr>
        <p:spPr>
          <a:xfrm>
            <a:off x="8869680" y="1572768"/>
            <a:ext cx="256032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Equipment</a:t>
            </a:r>
            <a:endParaRPr lang="en-US" sz="1700" dirty="0"/>
          </a:p>
        </p:txBody>
      </p:sp>
      <p:sp>
        <p:nvSpPr>
          <p:cNvPr id="32" name="Text 24"/>
          <p:cNvSpPr txBox="1"/>
          <p:nvPr/>
        </p:nvSpPr>
        <p:spPr>
          <a:xfrm>
            <a:off x="8229600" y="2286000"/>
            <a:ext cx="3246120" cy="3566160"/>
          </a:xfrm>
          <a:prstGeom prst="rect">
            <a:avLst/>
          </a:prstGeom>
          <a:noFill/>
          <a:ln/>
        </p:spPr>
        <p:txBody>
          <a:bodyPr wrap="square" lIns="0" tIns="0" rIns="0" bIns="0" rtlCol="0" anchor="t"/>
          <a:lstStyle/>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knock-down pallet decks (intermodal)</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security divider deck-board kits (E-track)</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Panel carts &amp; reconfigurable racks for windows, doors, panels, car parts</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Load bars &amp; straps on every mixed load</a:t>
            </a:r>
            <a:endParaRPr lang="en-US" sz="1300" dirty="0"/>
          </a:p>
        </p:txBody>
      </p:sp>
      <p:sp>
        <p:nvSpPr>
          <p:cNvPr id="33"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4"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19</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Collapsible load tables — network benefit</a:t>
            </a:r>
            <a:endParaRPr lang="en-US" sz="3000" dirty="0"/>
          </a:p>
        </p:txBody>
      </p:sp>
      <p:sp>
        <p:nvSpPr>
          <p:cNvPr id="4" name="Shape 2"/>
          <p:cNvSpPr/>
          <p:nvPr/>
        </p:nvSpPr>
        <p:spPr>
          <a:xfrm>
            <a:off x="548640" y="1371600"/>
            <a:ext cx="2194560" cy="292608"/>
          </a:xfrm>
          <a:prstGeom prst="roundRect">
            <a:avLst>
              <a:gd name="adj" fmla="val 25000"/>
            </a:avLst>
          </a:prstGeom>
          <a:solidFill>
            <a:srgbClr val="EDE9FE"/>
          </a:solidFill>
          <a:ln w="12700">
            <a:solidFill>
              <a:srgbClr val="EDE9FE"/>
            </a:solidFill>
            <a:prstDash val="solid"/>
          </a:ln>
        </p:spPr>
      </p:sp>
      <p:sp>
        <p:nvSpPr>
          <p:cNvPr id="5" name="Text 3"/>
          <p:cNvSpPr txBox="1"/>
          <p:nvPr/>
        </p:nvSpPr>
        <p:spPr>
          <a:xfrm>
            <a:off x="54864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EXTENDED</a:t>
            </a:r>
            <a:endParaRPr lang="en-US" sz="1100" dirty="0"/>
          </a:p>
        </p:txBody>
      </p:sp>
      <p:pic>
        <p:nvPicPr>
          <p:cNvPr id="6" name="Image 0" descr="Second tier in the trailer">    </p:cNvPr>
          <p:cNvPicPr>
            <a:picLocks noChangeAspect="1"/>
          </p:cNvPicPr>
          <p:nvPr/>
        </p:nvPicPr>
        <p:blipFill>
          <a:blip r:embed="rId1"/>
          <a:srcRect l="0" r="0" t="0" b="0"/>
          <a:stretch/>
        </p:blipFill>
        <p:spPr>
          <a:xfrm>
            <a:off x="548640" y="1737360"/>
            <a:ext cx="2194560" cy="2392070"/>
          </a:xfrm>
          <a:prstGeom prst="rect">
            <a:avLst/>
          </a:prstGeom>
        </p:spPr>
      </p:pic>
      <p:sp>
        <p:nvSpPr>
          <p:cNvPr id="7" name="Text 4"/>
          <p:cNvSpPr txBox="1"/>
          <p:nvPr/>
        </p:nvSpPr>
        <p:spPr>
          <a:xfrm>
            <a:off x="54864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Second tier in the trailer</a:t>
            </a:r>
            <a:endParaRPr lang="en-US" sz="1100" dirty="0"/>
          </a:p>
        </p:txBody>
      </p:sp>
      <p:sp>
        <p:nvSpPr>
          <p:cNvPr id="8" name="Shape 5"/>
          <p:cNvSpPr/>
          <p:nvPr/>
        </p:nvSpPr>
        <p:spPr>
          <a:xfrm>
            <a:off x="2926080" y="1371600"/>
            <a:ext cx="2194560" cy="292608"/>
          </a:xfrm>
          <a:prstGeom prst="roundRect">
            <a:avLst>
              <a:gd name="adj" fmla="val 25000"/>
            </a:avLst>
          </a:prstGeom>
          <a:solidFill>
            <a:srgbClr val="EDE9FE"/>
          </a:solidFill>
          <a:ln w="12700">
            <a:solidFill>
              <a:srgbClr val="EDE9FE"/>
            </a:solidFill>
            <a:prstDash val="solid"/>
          </a:ln>
        </p:spPr>
      </p:sp>
      <p:sp>
        <p:nvSpPr>
          <p:cNvPr id="9" name="Text 6"/>
          <p:cNvSpPr txBox="1"/>
          <p:nvPr/>
        </p:nvSpPr>
        <p:spPr>
          <a:xfrm>
            <a:off x="292608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FOLDED</a:t>
            </a:r>
            <a:endParaRPr lang="en-US" sz="1100" dirty="0"/>
          </a:p>
        </p:txBody>
      </p:sp>
      <p:pic>
        <p:nvPicPr>
          <p:cNvPr id="10" name="Image 1" descr="Lifted by forklift">    </p:cNvPr>
          <p:cNvPicPr>
            <a:picLocks noChangeAspect="1"/>
          </p:cNvPicPr>
          <p:nvPr/>
        </p:nvPicPr>
        <p:blipFill>
          <a:blip r:embed="rId2"/>
          <a:srcRect l="0" r="0" t="0" b="0"/>
          <a:stretch/>
        </p:blipFill>
        <p:spPr>
          <a:xfrm>
            <a:off x="2926080" y="1737360"/>
            <a:ext cx="2194560" cy="2392070"/>
          </a:xfrm>
          <a:prstGeom prst="rect">
            <a:avLst/>
          </a:prstGeom>
        </p:spPr>
      </p:pic>
      <p:sp>
        <p:nvSpPr>
          <p:cNvPr id="11" name="Text 7"/>
          <p:cNvSpPr txBox="1"/>
          <p:nvPr/>
        </p:nvSpPr>
        <p:spPr>
          <a:xfrm>
            <a:off x="292608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Lifted by forklift</a:t>
            </a:r>
            <a:endParaRPr lang="en-US" sz="1100" dirty="0"/>
          </a:p>
        </p:txBody>
      </p:sp>
      <p:sp>
        <p:nvSpPr>
          <p:cNvPr id="12" name="Shape 8"/>
          <p:cNvSpPr/>
          <p:nvPr/>
        </p:nvSpPr>
        <p:spPr>
          <a:xfrm>
            <a:off x="5303520" y="1371600"/>
            <a:ext cx="2194560" cy="292608"/>
          </a:xfrm>
          <a:prstGeom prst="roundRect">
            <a:avLst>
              <a:gd name="adj" fmla="val 25000"/>
            </a:avLst>
          </a:prstGeom>
          <a:solidFill>
            <a:srgbClr val="EDE9FE"/>
          </a:solidFill>
          <a:ln w="12700">
            <a:solidFill>
              <a:srgbClr val="EDE9FE"/>
            </a:solidFill>
            <a:prstDash val="solid"/>
          </a:ln>
        </p:spPr>
      </p:sp>
      <p:sp>
        <p:nvSpPr>
          <p:cNvPr id="13" name="Text 9"/>
          <p:cNvSpPr txBox="1"/>
          <p:nvPr/>
        </p:nvSpPr>
        <p:spPr>
          <a:xfrm>
            <a:off x="530352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STACKABLE</a:t>
            </a:r>
            <a:endParaRPr lang="en-US" sz="1100" dirty="0"/>
          </a:p>
        </p:txBody>
      </p:sp>
      <p:pic>
        <p:nvPicPr>
          <p:cNvPr id="14" name="Image 2" descr="Small footprint when not in use">    </p:cNvPr>
          <p:cNvPicPr>
            <a:picLocks noChangeAspect="1"/>
          </p:cNvPicPr>
          <p:nvPr/>
        </p:nvPicPr>
        <p:blipFill>
          <a:blip r:embed="rId3"/>
          <a:srcRect l="0" r="0" t="0" b="0"/>
          <a:stretch/>
        </p:blipFill>
        <p:spPr>
          <a:xfrm>
            <a:off x="5303520" y="1737360"/>
            <a:ext cx="2194560" cy="2392070"/>
          </a:xfrm>
          <a:prstGeom prst="rect">
            <a:avLst/>
          </a:prstGeom>
        </p:spPr>
      </p:pic>
      <p:sp>
        <p:nvSpPr>
          <p:cNvPr id="15" name="Text 10"/>
          <p:cNvSpPr txBox="1"/>
          <p:nvPr/>
        </p:nvSpPr>
        <p:spPr>
          <a:xfrm>
            <a:off x="530352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Small footprint when not in use</a:t>
            </a:r>
            <a:endParaRPr lang="en-US" sz="1100" dirty="0"/>
          </a:p>
        </p:txBody>
      </p:sp>
      <p:sp>
        <p:nvSpPr>
          <p:cNvPr id="16" name="Shape 11"/>
          <p:cNvSpPr/>
          <p:nvPr/>
        </p:nvSpPr>
        <p:spPr>
          <a:xfrm>
            <a:off x="548640" y="4754880"/>
            <a:ext cx="6949440" cy="1280160"/>
          </a:xfrm>
          <a:prstGeom prst="roundRect">
            <a:avLst>
              <a:gd name="adj" fmla="val 5714"/>
            </a:avLst>
          </a:prstGeom>
          <a:solidFill>
            <a:srgbClr val="FFFBEB"/>
          </a:solidFill>
          <a:ln w="12700">
            <a:solidFill>
              <a:srgbClr val="FFFBEB"/>
            </a:solidFill>
            <a:prstDash val="solid"/>
          </a:ln>
        </p:spPr>
      </p:sp>
      <p:sp>
        <p:nvSpPr>
          <p:cNvPr id="17" name="Text 12"/>
          <p:cNvSpPr txBox="1"/>
          <p:nvPr/>
        </p:nvSpPr>
        <p:spPr>
          <a:xfrm>
            <a:off x="731520" y="4800600"/>
            <a:ext cx="6583680" cy="1188720"/>
          </a:xfrm>
          <a:prstGeom prst="rect">
            <a:avLst/>
          </a:prstGeom>
          <a:noFill/>
          <a:ln/>
        </p:spPr>
        <p:txBody>
          <a:bodyPr wrap="square" lIns="0" tIns="0" rIns="0" bIns="0" rtlCol="0" anchor="ctr"/>
          <a:lstStyle/>
          <a:p>
            <a:pPr indent="0" marL="0">
              <a:buNone/>
            </a:pPr>
            <a:r>
              <a:rPr lang="en-US" sz="1250" b="1" dirty="0">
                <a:solidFill>
                  <a:srgbClr val="B45309"/>
                </a:solidFill>
                <a:latin typeface="Calibri" pitchFamily="34" charset="0"/>
                <a:ea typeface="Calibri" pitchFamily="34" charset="-122"/>
                <a:cs typeface="Calibri" pitchFamily="34" charset="-120"/>
              </a:rPr>
              <a:t>Today: </a:t>
            </a:r>
            <a:pPr indent="0" marL="0">
              <a:buNone/>
            </a:pPr>
            <a:r>
              <a:rPr lang="en-US" sz="1250" dirty="0">
                <a:solidFill>
                  <a:srgbClr val="1F2937"/>
                </a:solidFill>
                <a:latin typeface="Calibri" pitchFamily="34" charset="0"/>
                <a:ea typeface="Calibri" pitchFamily="34" charset="-122"/>
                <a:cs typeface="Calibri" pitchFamily="34" charset="-120"/>
              </a:rPr>
              <a:t>large fixed metal load tables take up dock space when not in use, and smaller terminals have no room to store them.</a:t>
            </a:r>
            <a:endParaRPr lang="en-US" sz="1250" dirty="0"/>
          </a:p>
        </p:txBody>
      </p:sp>
      <p:sp>
        <p:nvSpPr>
          <p:cNvPr id="18" name="Shape 13"/>
          <p:cNvSpPr/>
          <p:nvPr/>
        </p:nvSpPr>
        <p:spPr>
          <a:xfrm>
            <a:off x="7772400" y="1371600"/>
            <a:ext cx="3867912" cy="4663440"/>
          </a:xfrm>
          <a:prstGeom prst="roundRect">
            <a:avLst>
              <a:gd name="adj" fmla="val 1891"/>
            </a:avLst>
          </a:prstGeom>
          <a:solidFill>
            <a:srgbClr val="F3F4F6"/>
          </a:solidFill>
          <a:ln w="12700">
            <a:solidFill>
              <a:srgbClr val="F3F4F6"/>
            </a:solidFill>
            <a:prstDash val="solid"/>
          </a:ln>
        </p:spPr>
      </p:sp>
      <p:sp>
        <p:nvSpPr>
          <p:cNvPr id="19" name="Shape 14"/>
          <p:cNvSpPr/>
          <p:nvPr/>
        </p:nvSpPr>
        <p:spPr>
          <a:xfrm>
            <a:off x="8001000" y="1572768"/>
            <a:ext cx="502920" cy="502920"/>
          </a:xfrm>
          <a:prstGeom prst="ellipse">
            <a:avLst/>
          </a:prstGeom>
          <a:solidFill>
            <a:srgbClr val="7C3AED"/>
          </a:solidFill>
          <a:ln w="12700">
            <a:solidFill>
              <a:srgbClr val="7C3AED"/>
            </a:solidFill>
            <a:prstDash val="solid"/>
          </a:ln>
        </p:spPr>
      </p:sp>
      <p:pic>
        <p:nvPicPr>
          <p:cNvPr id="20" name="Image 3" descr="preencoded.png">    </p:cNvPr>
          <p:cNvPicPr>
            <a:picLocks noChangeAspect="1"/>
          </p:cNvPicPr>
          <p:nvPr/>
        </p:nvPicPr>
        <p:blipFill>
          <a:blip r:embed="rId4"/>
          <a:stretch>
            <a:fillRect/>
          </a:stretch>
        </p:blipFill>
        <p:spPr>
          <a:xfrm>
            <a:off x="8126730" y="1698498"/>
            <a:ext cx="251460" cy="251460"/>
          </a:xfrm>
          <a:prstGeom prst="rect">
            <a:avLst/>
          </a:prstGeom>
        </p:spPr>
      </p:pic>
      <p:sp>
        <p:nvSpPr>
          <p:cNvPr id="21" name="Text 15"/>
          <p:cNvSpPr txBox="1"/>
          <p:nvPr/>
        </p:nvSpPr>
        <p:spPr>
          <a:xfrm>
            <a:off x="8641080" y="1572768"/>
            <a:ext cx="283464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Why it matters</a:t>
            </a:r>
            <a:endParaRPr lang="en-US" sz="1700" dirty="0"/>
          </a:p>
        </p:txBody>
      </p:sp>
      <p:sp>
        <p:nvSpPr>
          <p:cNvPr id="22" name="Text 16"/>
          <p:cNvSpPr txBox="1"/>
          <p:nvPr/>
        </p:nvSpPr>
        <p:spPr>
          <a:xfrm>
            <a:off x="8001000" y="2240280"/>
            <a:ext cx="3474720" cy="3657600"/>
          </a:xfrm>
          <a:prstGeom prst="rect">
            <a:avLst/>
          </a:prstGeom>
          <a:noFill/>
          <a:ln/>
        </p:spPr>
        <p:txBody>
          <a:bodyPr wrap="square" lIns="0" tIns="0" rIns="0" bIns="0" rtlCol="0" anchor="t"/>
          <a:lstStyle/>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Fold flat and stack when empty — frees dock space</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Forklift picks them up — less manual handling, faster unload</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Receiving terminals across the country unload our trailers faster and cleaner — and theirs to us</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With yellow / grey bin carts, freight rolls out and is staged for final mile or transfer</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Fewer damages and claims; safer unloading</a:t>
            </a:r>
            <a:endParaRPr lang="en-US" sz="1250" dirty="0"/>
          </a:p>
        </p:txBody>
      </p:sp>
      <p:sp>
        <p:nvSpPr>
          <p:cNvPr id="23" name="Text 1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1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19</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Physical terminal — relocation</a:t>
            </a:r>
            <a:endParaRPr lang="en-US" sz="3000" dirty="0"/>
          </a:p>
        </p:txBody>
      </p:sp>
      <p:sp>
        <p:nvSpPr>
          <p:cNvPr id="4" name="Shape 2"/>
          <p:cNvSpPr/>
          <p:nvPr/>
        </p:nvSpPr>
        <p:spPr>
          <a:xfrm>
            <a:off x="548640" y="1463040"/>
            <a:ext cx="11091672" cy="2103120"/>
          </a:xfrm>
          <a:prstGeom prst="roundRect">
            <a:avLst>
              <a:gd name="adj" fmla="val 3478"/>
            </a:avLst>
          </a:prstGeom>
          <a:solidFill>
            <a:srgbClr val="F5F3FF"/>
          </a:solidFill>
          <a:ln w="12700">
            <a:solidFill>
              <a:srgbClr val="F5F3FF"/>
            </a:solidFill>
            <a:prstDash val="solid"/>
          </a:ln>
        </p:spPr>
      </p:sp>
      <p:sp>
        <p:nvSpPr>
          <p:cNvPr id="5" name="Shape 3"/>
          <p:cNvSpPr/>
          <p:nvPr/>
        </p:nvSpPr>
        <p:spPr>
          <a:xfrm>
            <a:off x="868680" y="2011680"/>
            <a:ext cx="1005840" cy="1005840"/>
          </a:xfrm>
          <a:prstGeom prst="ellipse">
            <a:avLst/>
          </a:prstGeom>
          <a:solidFill>
            <a:srgbClr val="7C3AED"/>
          </a:solidFill>
          <a:ln w="12700">
            <a:solidFill>
              <a:srgbClr val="7C3AED"/>
            </a:solidFill>
            <a:prstDash val="solid"/>
          </a:ln>
        </p:spPr>
      </p:sp>
      <p:pic>
        <p:nvPicPr>
          <p:cNvPr id="6" name="Image 0" descr="preencoded.png">    </p:cNvPr>
          <p:cNvPicPr>
            <a:picLocks noChangeAspect="1"/>
          </p:cNvPicPr>
          <p:nvPr/>
        </p:nvPicPr>
        <p:blipFill>
          <a:blip r:embed="rId1"/>
          <a:stretch>
            <a:fillRect/>
          </a:stretch>
        </p:blipFill>
        <p:spPr>
          <a:xfrm>
            <a:off x="1120140" y="2263140"/>
            <a:ext cx="502920" cy="502920"/>
          </a:xfrm>
          <a:prstGeom prst="rect">
            <a:avLst/>
          </a:prstGeom>
        </p:spPr>
      </p:pic>
      <p:sp>
        <p:nvSpPr>
          <p:cNvPr id="7" name="Text 4"/>
          <p:cNvSpPr txBox="1"/>
          <p:nvPr/>
        </p:nvSpPr>
        <p:spPr>
          <a:xfrm>
            <a:off x="2148840" y="1737360"/>
            <a:ext cx="9144000" cy="320040"/>
          </a:xfrm>
          <a:prstGeom prst="rect">
            <a:avLst/>
          </a:prstGeom>
          <a:noFill/>
          <a:ln/>
        </p:spPr>
        <p:txBody>
          <a:bodyPr wrap="square" lIns="0" tIns="0" rIns="0" bIns="0" rtlCol="0" anchor="ctr"/>
          <a:lstStyle/>
          <a:p>
            <a:pPr indent="0" marL="0">
              <a:buNone/>
            </a:pPr>
            <a:r>
              <a:rPr lang="en-US" sz="1400" b="1" spc="100" kern="0" dirty="0">
                <a:solidFill>
                  <a:srgbClr val="7C3AED"/>
                </a:solidFill>
                <a:latin typeface="Calibri" pitchFamily="34" charset="0"/>
                <a:ea typeface="Calibri" pitchFamily="34" charset="-122"/>
                <a:cs typeface="Calibri" pitchFamily="34" charset="-120"/>
              </a:rPr>
              <a:t>Terminal relocation</a:t>
            </a:r>
            <a:endParaRPr lang="en-US" sz="1400" dirty="0"/>
          </a:p>
        </p:txBody>
      </p:sp>
      <p:sp>
        <p:nvSpPr>
          <p:cNvPr id="8" name="Text 5"/>
          <p:cNvSpPr txBox="1"/>
          <p:nvPr/>
        </p:nvSpPr>
        <p:spPr>
          <a:xfrm>
            <a:off x="2148840" y="2103120"/>
            <a:ext cx="9235440" cy="685800"/>
          </a:xfrm>
          <a:prstGeom prst="rect">
            <a:avLst/>
          </a:prstGeom>
          <a:noFill/>
          <a:ln/>
        </p:spPr>
        <p:txBody>
          <a:bodyPr wrap="square" lIns="0" tIns="0" rIns="0" bIns="0" rtlCol="0" anchor="ctr"/>
          <a:lstStyle/>
          <a:p>
            <a:pPr indent="0" marL="0">
              <a:buNone/>
            </a:pPr>
            <a:r>
              <a:rPr lang="en-US" sz="3200" b="1" dirty="0">
                <a:solidFill>
                  <a:srgbClr val="111827"/>
                </a:solidFill>
                <a:latin typeface="Calibri" pitchFamily="34" charset="0"/>
                <a:ea typeface="Calibri" pitchFamily="34" charset="-122"/>
                <a:cs typeface="Calibri" pitchFamily="34" charset="-120"/>
              </a:rPr>
              <a:t>Moving to a new building</a:t>
            </a:r>
            <a:endParaRPr lang="en-US" sz="3200" dirty="0"/>
          </a:p>
        </p:txBody>
      </p:sp>
      <p:sp>
        <p:nvSpPr>
          <p:cNvPr id="9" name="Text 6"/>
          <p:cNvSpPr txBox="1"/>
          <p:nvPr/>
        </p:nvSpPr>
        <p:spPr>
          <a:xfrm>
            <a:off x="2148840" y="2834640"/>
            <a:ext cx="9144000" cy="36576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Expected before end of calendar 2026.</a:t>
            </a:r>
            <a:endParaRPr lang="en-US" sz="1800" dirty="0"/>
          </a:p>
        </p:txBody>
      </p:sp>
      <p:sp>
        <p:nvSpPr>
          <p:cNvPr id="10" name="Shape 7"/>
          <p:cNvSpPr/>
          <p:nvPr/>
        </p:nvSpPr>
        <p:spPr>
          <a:xfrm>
            <a:off x="548640" y="3840480"/>
            <a:ext cx="5408676" cy="2103120"/>
          </a:xfrm>
          <a:prstGeom prst="roundRect">
            <a:avLst>
              <a:gd name="adj" fmla="val 3478"/>
            </a:avLst>
          </a:prstGeom>
          <a:solidFill>
            <a:srgbClr val="F3F4F6"/>
          </a:solidFill>
          <a:ln w="12700">
            <a:solidFill>
              <a:srgbClr val="F3F4F6"/>
            </a:solidFill>
            <a:prstDash val="solid"/>
          </a:ln>
        </p:spPr>
      </p:sp>
      <p:sp>
        <p:nvSpPr>
          <p:cNvPr id="11" name="Shape 8"/>
          <p:cNvSpPr/>
          <p:nvPr/>
        </p:nvSpPr>
        <p:spPr>
          <a:xfrm>
            <a:off x="868680" y="4160520"/>
            <a:ext cx="640080" cy="640080"/>
          </a:xfrm>
          <a:prstGeom prst="ellipse">
            <a:avLst/>
          </a:prstGeom>
          <a:solidFill>
            <a:srgbClr val="EDE9FE"/>
          </a:solidFill>
          <a:ln w="12700">
            <a:solidFill>
              <a:srgbClr val="EDE9FE"/>
            </a:solidFill>
            <a:prstDash val="solid"/>
          </a:ln>
        </p:spPr>
      </p:sp>
      <p:pic>
        <p:nvPicPr>
          <p:cNvPr id="12" name="Image 1" descr="preencoded.png">    </p:cNvPr>
          <p:cNvPicPr>
            <a:picLocks noChangeAspect="1"/>
          </p:cNvPicPr>
          <p:nvPr/>
        </p:nvPicPr>
        <p:blipFill>
          <a:blip r:embed="rId2"/>
          <a:stretch>
            <a:fillRect/>
          </a:stretch>
        </p:blipFill>
        <p:spPr>
          <a:xfrm>
            <a:off x="1028700" y="4320540"/>
            <a:ext cx="320040" cy="320040"/>
          </a:xfrm>
          <a:prstGeom prst="rect">
            <a:avLst/>
          </a:prstGeom>
        </p:spPr>
      </p:pic>
      <p:sp>
        <p:nvSpPr>
          <p:cNvPr id="13" name="Text 9"/>
          <p:cNvSpPr txBox="1"/>
          <p:nvPr/>
        </p:nvSpPr>
        <p:spPr>
          <a:xfrm>
            <a:off x="1737360"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Current site</a:t>
            </a:r>
            <a:endParaRPr lang="en-US" sz="1400" dirty="0"/>
          </a:p>
        </p:txBody>
      </p:sp>
      <p:sp>
        <p:nvSpPr>
          <p:cNvPr id="14" name="Text 10"/>
          <p:cNvSpPr txBox="1"/>
          <p:nvPr/>
        </p:nvSpPr>
        <p:spPr>
          <a:xfrm>
            <a:off x="1737360"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No major repair spend planned at the current site.</a:t>
            </a:r>
            <a:endParaRPr lang="en-US" sz="2000" dirty="0"/>
          </a:p>
        </p:txBody>
      </p:sp>
      <p:sp>
        <p:nvSpPr>
          <p:cNvPr id="15" name="Shape 11"/>
          <p:cNvSpPr/>
          <p:nvPr/>
        </p:nvSpPr>
        <p:spPr>
          <a:xfrm>
            <a:off x="6231636" y="3840480"/>
            <a:ext cx="5408676" cy="2103120"/>
          </a:xfrm>
          <a:prstGeom prst="roundRect">
            <a:avLst>
              <a:gd name="adj" fmla="val 3478"/>
            </a:avLst>
          </a:prstGeom>
          <a:solidFill>
            <a:srgbClr val="F3F4F6"/>
          </a:solidFill>
          <a:ln w="12700">
            <a:solidFill>
              <a:srgbClr val="F3F4F6"/>
            </a:solidFill>
            <a:prstDash val="solid"/>
          </a:ln>
        </p:spPr>
      </p:sp>
      <p:sp>
        <p:nvSpPr>
          <p:cNvPr id="16" name="Shape 12"/>
          <p:cNvSpPr/>
          <p:nvPr/>
        </p:nvSpPr>
        <p:spPr>
          <a:xfrm>
            <a:off x="6551676" y="4160520"/>
            <a:ext cx="640080" cy="640080"/>
          </a:xfrm>
          <a:prstGeom prst="ellipse">
            <a:avLst/>
          </a:prstGeom>
          <a:solidFill>
            <a:srgbClr val="EDE9FE"/>
          </a:solidFill>
          <a:ln w="12700">
            <a:solidFill>
              <a:srgbClr val="EDE9FE"/>
            </a:solidFill>
            <a:prstDash val="solid"/>
          </a:ln>
        </p:spPr>
      </p:sp>
      <p:pic>
        <p:nvPicPr>
          <p:cNvPr id="17" name="Image 2" descr="preencoded.png">    </p:cNvPr>
          <p:cNvPicPr>
            <a:picLocks noChangeAspect="1"/>
          </p:cNvPicPr>
          <p:nvPr/>
        </p:nvPicPr>
        <p:blipFill>
          <a:blip r:embed="rId3"/>
          <a:stretch>
            <a:fillRect/>
          </a:stretch>
        </p:blipFill>
        <p:spPr>
          <a:xfrm>
            <a:off x="6711696" y="4320540"/>
            <a:ext cx="320040" cy="320040"/>
          </a:xfrm>
          <a:prstGeom prst="rect">
            <a:avLst/>
          </a:prstGeom>
        </p:spPr>
      </p:pic>
      <p:sp>
        <p:nvSpPr>
          <p:cNvPr id="18" name="Text 13"/>
          <p:cNvSpPr txBox="1"/>
          <p:nvPr/>
        </p:nvSpPr>
        <p:spPr>
          <a:xfrm>
            <a:off x="7420356"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Focus</a:t>
            </a:r>
            <a:endParaRPr lang="en-US" sz="1400" dirty="0"/>
          </a:p>
        </p:txBody>
      </p:sp>
      <p:sp>
        <p:nvSpPr>
          <p:cNvPr id="19" name="Text 14"/>
          <p:cNvSpPr txBox="1"/>
          <p:nvPr/>
        </p:nvSpPr>
        <p:spPr>
          <a:xfrm>
            <a:off x="7420356"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A clean transition to the new building.</a:t>
            </a:r>
            <a:endParaRPr lang="en-US" sz="2000" dirty="0"/>
          </a:p>
        </p:txBody>
      </p:sp>
      <p:sp>
        <p:nvSpPr>
          <p:cNvPr id="20"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1"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19</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377440"/>
            <a:ext cx="3291840" cy="3611880"/>
          </a:xfrm>
          <a:prstGeom prst="rect">
            <a:avLst/>
          </a:prstGeom>
          <a:noFill/>
          <a:ln/>
        </p:spPr>
        <p:txBody>
          <a:bodyPr wrap="square" lIns="0" tIns="0" rIns="0" bIns="0" rtlCol="0" anchor="t"/>
          <a:lstStyle/>
          <a:p>
            <a:pPr marL="177800" indent="-177800">
              <a:spcAft>
                <a:spcPts val="900"/>
              </a:spcAft>
              <a:buSzPct val="100000"/>
              <a:buChar char="•"/>
            </a:pPr>
            <a:r>
              <a:rPr lang="en-US" sz="1200" b="1" dirty="0">
                <a:solidFill>
                  <a:srgbClr val="E5E7EB"/>
                </a:solidFill>
                <a:latin typeface="Calibri" pitchFamily="34" charset="0"/>
                <a:ea typeface="Calibri" pitchFamily="34" charset="-122"/>
                <a:cs typeface="Calibri" pitchFamily="34" charset="-120"/>
              </a:rPr>
              <a:t>Estimated ≈$451.2K below F26 if current rates hold (≈$37.6K/mo; contract labour + $61K dispatcher; estimate, not booked).</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Sept MTD: 91.1% of SCA hour allowance — 391 hrs under.</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SCA dock cost per PRO $6.60 vs $6.85 target (96.3%, watch).</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Units/hr +26.7%; OT 9 hrs.</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Focus: PPH 3,327 vs 4,258 goal (−21.9%).</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Savings: 7 initiatives tracked; $61K/yr confirmed (dispatcher role eliminated — dispatch centralized).</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F27 take-out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19 / 19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2026-09-29T17:10:17Z</dcterms:created>
  <dcterms:modified xsi:type="dcterms:W3CDTF">2026-09-29T17:10:17Z</dcterms:modified>
</cp:coreProperties>
</file>