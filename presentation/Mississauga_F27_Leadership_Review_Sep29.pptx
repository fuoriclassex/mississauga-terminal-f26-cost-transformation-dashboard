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563 thousand dollars for the year — roughly 47 thousand dollars a month against the same months of F26. Labour is the engine: Admin agency labour is down about 25 percent and Dock labour about 4 percent, and every extra 1 percent we take out of labour is worth roughly 50 thousand dollars a year. The 61 thousand dollar dispatcher saving is confirmed, and the next levers — load securement, freight-handling equipment, accessorial capture and Toyota footage capture — are being sized and come on top. To be clear, these are estimates based on the current run-rate, not booked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jp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cost per PRO, hours, staffing by shift</a:t>
            </a:r>
            <a:endParaRPr lang="en-US" sz="1300" dirty="0"/>
          </a:p>
        </p:txBody>
      </p:sp>
      <p:sp>
        <p:nvSpPr>
          <p:cNvPr id="22" name="Shape 17"/>
          <p:cNvSpPr/>
          <p:nvPr/>
        </p:nvSpPr>
        <p:spPr>
          <a:xfrm>
            <a:off x="548640" y="3493008"/>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7C3AED"/>
          </a:solidFill>
          <a:ln w="12700">
            <a:solidFill>
              <a:srgbClr val="7C3AED"/>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EDE9FE"/>
          </a:solidFill>
          <a:ln w="12700">
            <a:solidFill>
              <a:srgbClr val="EDE9FE"/>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7C3AED"/>
          </a:solidFill>
          <a:ln w="12700">
            <a:solidFill>
              <a:srgbClr val="7C3AED"/>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EDE9FE"/>
          </a:solidFill>
          <a:ln w="12700">
            <a:solidFill>
              <a:srgbClr val="EDE9FE"/>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EDE9FE"/>
          </a:solidFill>
          <a:ln w="12700">
            <a:solidFill>
              <a:srgbClr val="EDE9FE"/>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7C3AED"/>
          </a:solidFill>
          <a:ln w="12700">
            <a:solidFill>
              <a:srgbClr val="7C3AED"/>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5F3FF"/>
          </a:solidFill>
          <a:ln w="12700">
            <a:solidFill>
              <a:srgbClr val="F5F3FF"/>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 — largely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*Week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$211.0K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≈$17.6K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$125.9K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≈$10.5K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Other lines (net of claims)</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$164.9K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≈$13.7K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 + dispatcher</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$562.9K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≈$46.9K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Admin</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+12.7%</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($7.3K)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($87.0K)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Admin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$211.0K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Agency labour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Company wages &amp; benefits — Dock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$33.8K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Dock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$10.5K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$125.9K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Dock owner-operator base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−97.4%</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$14.1K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$169.5K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Rentals (dock + building)</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−96.9%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$4.3K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$52.0K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Cargo claims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DC2626"/>
                          </a:solidFill>
                          <a:latin typeface="Calibri" pitchFamily="34" charset="0"/>
                          <a:ea typeface="Calibri" pitchFamily="34" charset="-122"/>
                          <a:cs typeface="Calibri" pitchFamily="34" charset="-120"/>
                        </a:rPr>
                        <a:t>($4.7K)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($56.7K)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Other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$13.7K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$164.9K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$46.9K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$562.9K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5F3FF"/>
          </a:solidFill>
          <a:ln w="12700">
            <a:solidFill>
              <a:srgbClr val="F5F3FF"/>
            </a:solidFill>
            <a:prstDash val="solid"/>
          </a:ln>
        </p:spPr>
      </p:sp>
      <p:sp>
        <p:nvSpPr>
          <p:cNvPr id="23" name="Shape 20"/>
          <p:cNvSpPr/>
          <p:nvPr/>
        </p:nvSpPr>
        <p:spPr>
          <a:xfrm>
            <a:off x="8046720" y="2971800"/>
            <a:ext cx="502920" cy="502920"/>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agency −25%, Dock labour −4%.</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 $18.6K/yr Admin, ≈ $31.7K/yr Dock.</a:t>
            </a:r>
            <a:endParaRPr lang="en-US" sz="1250" dirty="0"/>
          </a:p>
          <a:p>
            <a:pPr indent="0" marL="0">
              <a:buNone/>
            </a:pPr>
            <a:r>
              <a:rPr lang="en-US" sz="1250" b="1" dirty="0">
                <a:solidFill>
                  <a:srgbClr val="7C3AED"/>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each line's Jul–Aug % change vs the same months of F26, applied to the remaining F26 months if the rate holds. Estimates, not booked savings. Source: net-amount P&amp;L pivot; claims use the claims report for August ($13,432.53).</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17" name="Shape 11"/>
          <p:cNvSpPr/>
          <p:nvPr/>
        </p:nvSpPr>
        <p:spPr>
          <a:xfrm>
            <a:off x="8001000" y="1645920"/>
            <a:ext cx="502920" cy="502920"/>
          </a:xfrm>
          <a:prstGeom prst="ellipse">
            <a:avLst/>
          </a:prstGeom>
          <a:solidFill>
            <a:srgbClr val="7C3AED"/>
          </a:solidFill>
          <a:ln w="12700">
            <a:solidFill>
              <a:srgbClr val="7C3AED"/>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EDE9FE"/>
          </a:solidFill>
          <a:ln w="12700">
            <a:solidFill>
              <a:srgbClr val="EDE9FE"/>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EDE9FE"/>
          </a:solidFill>
          <a:ln w="12700">
            <a:solidFill>
              <a:srgbClr val="EDE9FE"/>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EDE9FE"/>
          </a:solidFill>
          <a:ln w="12700">
            <a:solidFill>
              <a:srgbClr val="EDE9FE"/>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EDE9FE"/>
          </a:solidFill>
          <a:ln w="12700">
            <a:solidFill>
              <a:srgbClr val="EDE9FE"/>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7C3AED"/>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7C3AED"/>
          </a:solidFill>
          <a:ln w="12700">
            <a:solidFill>
              <a:srgbClr val="7C3AED"/>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19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Estimated ≈$562.9K below F26 if current rates hold (≈$46.9K/mo; estimate, not booked), incl. $61K dispatcher.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2026-09-29T17:03:50Z</dcterms:created>
  <dcterms:modified xsi:type="dcterms:W3CDTF">2026-09-29T17:03:50Z</dcterms:modified>
</cp:coreProperties>
</file>