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9.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7C3AE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C4B5F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labour cost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Sheet1!$B$2:$B$3</c:f>
              <c:numCache>
                <c:formatCode>General</c:formatCode>
                <c:ptCount val="2"/>
                <c:pt idx="0">
                  <c:v>69281.3</c:v>
                </c:pt>
                <c:pt idx="1">
                  <c:v>58917.47</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Sheet1!$C$2:$C$3</c:f>
              <c:numCache>
                <c:formatCode>General</c:formatCode>
                <c:ptCount val="2"/>
                <c:pt idx="0">
                  <c:v>130457.82</c:v>
                </c:pt>
                <c:pt idx="1">
                  <c:v>74774.87</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11827"/>
                </a:solidFill>
                <a:latin typeface="Calibri"/>
              </a:defRPr>
            </a:pPr>
            <a:r>
              <a:rPr sz="1000" b="0" i="0" u="none" strike="noStrike">
                <a:solidFill>
                  <a:srgbClr val="111827"/>
                </a:solidFill>
                <a:latin typeface="Calibri"/>
              </a:rPr>
              <a:t>Terminal Admin cost — Q1 by fiscal year</a:t>
            </a:r>
          </a:p>
        </c:rich>
      </c:tx>
      <c:layout/>
      <c:overlay val="0"/>
    </c:title>
    <c:autoTitleDeleted val="0"/>
    <c:plotArea>
      <c:layout/>
      <c:barChart>
        <c:barDir val="col"/>
        <c:grouping val="clustered"/>
        <c:varyColors val="0"/>
        <c:ser>
          <c:idx val="0"/>
          <c:order val="0"/>
          <c:tx>
            <c:strRef>
              <c:f>Sheet1!$B$1</c:f>
              <c:strCache>
                <c:ptCount val="1"/>
                <c:pt idx="0">
                  <c:v>Terminal Admin cost</c:v>
                </c:pt>
              </c:strCache>
            </c:strRef>
          </c:tx>
          <c:spPr>
            <a:solidFill>
              <a:srgbClr val="A78BFA"/>
            </a:solidFill>
            <a:effectLst/>
          </c:spPr>
          <c:invertIfNegative val="0"/>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9CA3AF"/>
              </a:solidFill>
              <a:effectLst/>
            </c:spPr>
          </c:dPt>
          <c:dPt>
            <c:idx val="3"/>
            <c:invertIfNegative val="0"/>
            <c:bubble3D val="0"/>
            <c:spPr>
              <a:solidFill>
                <a:srgbClr val="7C3AED"/>
              </a:solidFill>
              <a:effectLst/>
            </c:spPr>
          </c:dPt>
          <c:cat>
            <c:multiLvlStrRef>
              <c:f>Sheet1!$A$2:$A$5</c:f>
              <c:multiLvlStrCache>
                <c:ptCount val="4"/>
                <c:lvl>
                  <c:pt idx="0">
                    <c:v>F24</c:v>
                  </c:pt>
                  <c:pt idx="1">
                    <c:v>F25</c:v>
                  </c:pt>
                  <c:pt idx="2">
                    <c:v>F26</c:v>
                  </c:pt>
                  <c:pt idx="3">
                    <c:v>F27</c:v>
                  </c:pt>
                </c:lvl>
              </c:multiLvlStrCache>
            </c:multiLvlStrRef>
          </c:cat>
          <c:val>
            <c:numRef>
              <c:f>Sheet1!$B$2:$B$5</c:f>
              <c:numCache>
                <c:formatCode>General</c:formatCode>
                <c:ptCount val="4"/>
                <c:pt idx="0">
                  <c:v>21.5</c:v>
                </c:pt>
                <c:pt idx="1">
                  <c:v>22.7</c:v>
                </c:pt>
                <c:pt idx="2">
                  <c:v>9.2</c:v>
                </c:pt>
                <c:pt idx="3">
                  <c:v>18.4</c:v>
                </c:pt>
              </c:numCache>
            </c:numRef>
          </c:val>
        </c:ser>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Top 6 accessorials · units this month</a:t>
            </a:r>
          </a:p>
        </c:rich>
      </c:tx>
      <c:layout/>
      <c:overlay val="0"/>
    </c:title>
    <c:autoTitleDeleted val="0"/>
    <c:plotArea>
      <c:layout/>
      <c:barChart>
        <c:barDir val="bar"/>
        <c:grouping val="clustered"/>
        <c:varyColors val="0"/>
        <c:ser>
          <c:idx val="0"/>
          <c:order val="0"/>
          <c:tx>
            <c:strRef>
              <c:f>Sheet1!$B$1</c:f>
              <c:strCache>
                <c:ptCount val="1"/>
                <c:pt idx="0">
                  <c:v>Units</c:v>
                </c:pt>
              </c:strCache>
            </c:strRef>
          </c:tx>
          <c:spPr>
            <a:solidFill>
              <a:srgbClr val="7C3AED"/>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Private residence delivery</c:v>
                  </c:pt>
                  <c:pt idx="1">
                    <c:v>Tailgate delivery</c:v>
                  </c:pt>
                  <c:pt idx="2">
                    <c:v>Appointment delivery</c:v>
                  </c:pt>
                  <c:pt idx="3">
                    <c:v>Appointment pick-up</c:v>
                  </c:pt>
                  <c:pt idx="4">
                    <c:v>Tailgate pick-up</c:v>
                  </c:pt>
                  <c:pt idx="5">
                    <c:v>Private residence pick-up</c:v>
                  </c:pt>
                </c:lvl>
              </c:multiLvlStrCache>
            </c:multiLvlStrRef>
          </c:cat>
          <c:val>
            <c:numRef>
              <c:f>Sheet1!$B$2:$B$7</c:f>
              <c:numCache>
                <c:formatCode>General</c:formatCode>
                <c:ptCount val="6"/>
                <c:pt idx="0">
                  <c:v>18400</c:v>
                </c:pt>
                <c:pt idx="1">
                  <c:v>6174</c:v>
                </c:pt>
                <c:pt idx="2">
                  <c:v>5468</c:v>
                </c:pt>
                <c:pt idx="3">
                  <c:v>807</c:v>
                </c:pt>
                <c:pt idx="4">
                  <c:v>630</c:v>
                </c:pt>
                <c:pt idx="5">
                  <c:v>578</c:v>
                </c:pt>
              </c:numCache>
            </c:numRef>
          </c:val>
        </c:ser>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2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Weekly accessorial units · 12 weeks (*partial)</a:t>
            </a:r>
          </a:p>
        </c:rich>
      </c:tx>
      <c:layout/>
      <c:overlay val="0"/>
    </c:title>
    <c:autoTitleDeleted val="0"/>
    <c:plotArea>
      <c:layout/>
      <c:barChart>
        <c:barDir val="col"/>
        <c:grouping val="clustered"/>
        <c:varyColors val="0"/>
        <c:ser>
          <c:idx val="0"/>
          <c:order val="0"/>
          <c:tx>
            <c:strRef>
              <c:f>Sheet1!$B$1</c:f>
              <c:strCache>
                <c:ptCount val="1"/>
                <c:pt idx="0">
                  <c:v>Units (K)</c:v>
                </c:pt>
              </c:strCache>
            </c:strRef>
          </c:tx>
          <c:spPr>
            <a:solidFill>
              <a:srgbClr val="A78BFA"/>
            </a:solidFill>
            <a:effectLst/>
          </c:spPr>
          <c:invertIfNegative val="0"/>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Jul 13</c:v>
                  </c:pt>
                  <c:pt idx="1">
                    <c:v>Jul 20</c:v>
                  </c:pt>
                  <c:pt idx="2">
                    <c:v>Jul 27</c:v>
                  </c:pt>
                  <c:pt idx="3">
                    <c:v>Aug 3</c:v>
                  </c:pt>
                  <c:pt idx="4">
                    <c:v>Aug 10</c:v>
                  </c:pt>
                  <c:pt idx="5">
                    <c:v>Aug 17</c:v>
                  </c:pt>
                  <c:pt idx="6">
                    <c:v>Aug 24</c:v>
                  </c:pt>
                  <c:pt idx="7">
                    <c:v>Aug 31</c:v>
                  </c:pt>
                  <c:pt idx="8">
                    <c:v>Sep 7</c:v>
                  </c:pt>
                  <c:pt idx="9">
                    <c:v>Sep 14</c:v>
                  </c:pt>
                  <c:pt idx="10">
                    <c:v>Sep 21</c:v>
                  </c:pt>
                  <c:pt idx="11">
                    <c:v>Sep 28*</c:v>
                  </c:pt>
                </c:lvl>
              </c:multiLvlStrCache>
            </c:multiLvlStrRef>
          </c:cat>
          <c:val>
            <c:numRef>
              <c:f>Sheet1!$B$2:$B$13</c:f>
              <c:numCache>
                <c:formatCode>General</c:formatCode>
                <c:ptCount val="12"/>
                <c:pt idx="0">
                  <c:v>8</c:v>
                </c:pt>
                <c:pt idx="1">
                  <c:v>7.9</c:v>
                </c:pt>
                <c:pt idx="2">
                  <c:v>7.2</c:v>
                </c:pt>
                <c:pt idx="3">
                  <c:v>6.3</c:v>
                </c:pt>
                <c:pt idx="4">
                  <c:v>7.6</c:v>
                </c:pt>
                <c:pt idx="5">
                  <c:v>7.1</c:v>
                </c:pt>
                <c:pt idx="6">
                  <c:v>8.1</c:v>
                </c:pt>
                <c:pt idx="7">
                  <c:v>7.7</c:v>
                </c:pt>
                <c:pt idx="8">
                  <c:v>6.7</c:v>
                </c:pt>
                <c:pt idx="9">
                  <c:v>7.5</c:v>
                </c:pt>
                <c:pt idx="10">
                  <c:v>6.6</c:v>
                </c:pt>
                <c:pt idx="11">
                  <c:v>2.8</c:v>
                </c:pt>
              </c:numCache>
            </c:numRef>
          </c:val>
        </c:ser>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8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7C3AED"/>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following the same structure Brampton used yesterday: safety, service, SCA, productivity, and the status of the building. Our September month-to-date headlines: adjusted on-time service is 93.7 percent, we are at 91.1 percent of our SCA hour allowance, cost per unit is down 16.7 percent and units per hour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topics today, in the same order as the other terminals.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TRIR figures for F27 year to date are being confirmed with OHS and will be filled in before distribution.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incident is reported promptly and investigated with OHS for root cause, with corrective actions followed up so controls prevent a repeat; forklift and TDG training is completed before it expires. Specific to our site, roofing work over the dock is barricaded so no one works under overhead activity, and N95 masks are available on the dock for airborne debris. After every incident we hold a safety moment so the whole team learns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September 1 to 28, 91.37 percent of freight bills were scanned in and out of the terminal, 90.50 percent were completely scanned, and 90.66 percent of items were scanned. September is in line with fiscal year to date, at 91.4 against 91.6 percent of freight bills scanned, and slightly down on the last period. That still leaves about 4,550 freight bills not scanned this month, and closing that gap also reduces the already-serviced false positives we saw in missed pickups.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 labour cost month to date is 133.7 thousand against 199.7 thousand for all of last September, with the biggest drop in agency wages. Remember F27 is 18 of 21 working days, so the like-for-like signal is cost per unit: 2.19 against 2.64, down 16.7 percent, which on this month's units is roughly 26.9 thousand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company-employee labour only, first quarter F26 against first quarter F27 to date. Company dock operations hours are essentially flat, 5,205 against 5,207, so the hour reduction on the SCA slides has come from agency labour. Terminal admin hours roughly doubled, from 446 to 909, and admin cost doubled against F26, but it is still below F24 and F25; F26 was the unusually low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with a target band of dock hours for each shift. The bands are being finalized and will be filled in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Accessorials are revenue we only get if the service is coded on the freight bill. This month private-residence, tailgate and appointment deliveries make up about 91 percent of roughly 32,900 accessorial units. Weekly volume has run between about 6 and 8 thousand units; the week of September 28 is only partial.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initiatives in the F27 savings plan, carrying forward three that were sustained from F26 and adding accessorial recovery and load factor consolidation. Dollar amounts and the F27 take-out target are being confirmed with Finance and will be filled in before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Closing the PPH gap is tied to the 1,181-hour reduction target for the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is down on last year and the hourly rate is up 5.5 percent, which pushes cost per CWT up about 5 percent. Offsetting that, units per hour are up 26.7 percent: at last year's rate, this month's units would have needed roughly 1,066 more hours, worth about 35.6 thousand dollars. And at the current pace we are ahead of the 1,181-hour reduction target, at roughly 139 percent of it; both values are calculated from report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pickup and delivery measures for the first quarter of F27, July to September, from the P&amp;D daily totals dashboard. We ran 4,608 trips averaging just under 10 stops and about 14 bills per trip, at 2.09 stops per hour. These give us the baseline to track P&amp;D productivity through the rest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September weeks for load factor score and load percentage against the 80 and 98 percent targets; the weekly figures are being confirmed. Consolidating large-customer freight into fewer trailers is the main lever here and is part of the F27 savings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Clock-in and clock-out discipline turns late starts, missed lunches and early releases into hours we do not pay for. Weekly hours saved are being confirmed; once entered, dollars are calculated at the September month-to-date rate of 33.43 per hour from the productivity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covers the state of the building: how many dock doors we have, how many are out of service, and the repairs we need, by priority. The list and cost estimates are being finalized with facilities and will be filled in before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image" Target="../media/image-13-1.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image" Target="../media/image-15-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731520" y="1417320"/>
            <a:ext cx="7315200" cy="320040"/>
          </a:xfrm>
          <a:prstGeom prst="rect">
            <a:avLst/>
          </a:prstGeom>
          <a:noFill/>
          <a:ln/>
        </p:spPr>
        <p:txBody>
          <a:bodyPr wrap="square" lIns="0" tIns="0" rIns="0" bIns="0" rtlCol="0" anchor="ctr"/>
          <a:lstStyle/>
          <a:p>
            <a:pPr indent="0" marL="0">
              <a:buNone/>
            </a:pPr>
            <a:r>
              <a:rPr lang="en-US" sz="1400" b="1" spc="300" kern="0" dirty="0">
                <a:solidFill>
                  <a:srgbClr val="A78BFA"/>
                </a:solidFill>
                <a:latin typeface="Calibri" pitchFamily="34" charset="0"/>
                <a:ea typeface="Calibri" pitchFamily="34" charset="-122"/>
                <a:cs typeface="Calibri" pitchFamily="34" charset="-120"/>
              </a:rPr>
              <a:t>DAY &amp; ROSS · MISSISSAUGA TERMINAL</a:t>
            </a:r>
            <a:endParaRPr lang="en-US" sz="1400" dirty="0"/>
          </a:p>
        </p:txBody>
      </p:sp>
      <p:sp>
        <p:nvSpPr>
          <p:cNvPr id="3" name="Text 1"/>
          <p:cNvSpPr txBox="1"/>
          <p:nvPr/>
        </p:nvSpPr>
        <p:spPr>
          <a:xfrm>
            <a:off x="731520" y="1828800"/>
            <a:ext cx="7498080" cy="128016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Mississauga Terminal ·</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F27 Senior Leadership Review</a:t>
            </a:r>
            <a:endParaRPr lang="en-US" sz="3400" dirty="0"/>
          </a:p>
        </p:txBody>
      </p:sp>
      <p:sp>
        <p:nvSpPr>
          <p:cNvPr id="4" name="Text 2"/>
          <p:cNvSpPr txBox="1"/>
          <p:nvPr/>
        </p:nvSpPr>
        <p:spPr>
          <a:xfrm>
            <a:off x="731520" y="3429000"/>
            <a:ext cx="7498080" cy="457200"/>
          </a:xfrm>
          <a:prstGeom prst="rect">
            <a:avLst/>
          </a:prstGeom>
          <a:noFill/>
          <a:ln/>
        </p:spPr>
        <p:txBody>
          <a:bodyPr wrap="square" lIns="0" tIns="0" rIns="0" bIns="0" rtlCol="0" anchor="ctr"/>
          <a:lstStyle/>
          <a:p>
            <a:pPr indent="0" marL="0">
              <a:buNone/>
            </a:pPr>
            <a:r>
              <a:rPr lang="en-US" sz="2000" dirty="0">
                <a:solidFill>
                  <a:srgbClr val="D1D5DB"/>
                </a:solidFill>
                <a:latin typeface="Calibri" pitchFamily="34" charset="0"/>
                <a:ea typeface="Calibri" pitchFamily="34" charset="-122"/>
                <a:cs typeface="Calibri" pitchFamily="34" charset="-120"/>
              </a:rPr>
              <a:t>Safety · Service · SCA · Productivity · Terminal</a:t>
            </a:r>
            <a:endParaRPr lang="en-US" sz="2000" dirty="0"/>
          </a:p>
        </p:txBody>
      </p:sp>
      <p:sp>
        <p:nvSpPr>
          <p:cNvPr id="5" name="Text 3"/>
          <p:cNvSpPr txBox="1"/>
          <p:nvPr/>
        </p:nvSpPr>
        <p:spPr>
          <a:xfrm>
            <a:off x="731520" y="4343400"/>
            <a:ext cx="749808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Sep 29, 2026</a:t>
            </a:r>
            <a:pPr indent="0" marL="0">
              <a:buNone/>
            </a:pPr>
            <a:r>
              <a:rPr lang="en-US" sz="1600" dirty="0">
                <a:solidFill>
                  <a:srgbClr val="9CA3AF"/>
                </a:solidFill>
                <a:latin typeface="Calibri" pitchFamily="34" charset="0"/>
                <a:ea typeface="Calibri" pitchFamily="34" charset="-122"/>
                <a:cs typeface="Calibri" pitchFamily="34" charset="-120"/>
              </a:rPr>
              <a:t>   ·   SVP &amp; Senior Leadership</a:t>
            </a:r>
            <a:endParaRPr lang="en-US" sz="1600" dirty="0"/>
          </a:p>
        </p:txBody>
      </p:sp>
      <p:sp>
        <p:nvSpPr>
          <p:cNvPr id="6" name="Text 4"/>
          <p:cNvSpPr txBox="1"/>
          <p:nvPr/>
        </p:nvSpPr>
        <p:spPr>
          <a:xfrm>
            <a:off x="731520" y="4754880"/>
            <a:ext cx="7498080" cy="320040"/>
          </a:xfrm>
          <a:prstGeom prst="rect">
            <a:avLst/>
          </a:prstGeom>
          <a:noFill/>
          <a:ln/>
        </p:spPr>
        <p:txBody>
          <a:bodyPr wrap="square" lIns="0" tIns="0" rIns="0" bIns="0" rtlCol="0" anchor="ctr"/>
          <a:lstStyle/>
          <a:p>
            <a:pPr indent="0" marL="0">
              <a:buNone/>
            </a:pPr>
            <a:r>
              <a:rPr lang="en-US" sz="1400" dirty="0">
                <a:solidFill>
                  <a:srgbClr val="9CA3AF"/>
                </a:solidFill>
                <a:latin typeface="Calibri" pitchFamily="34" charset="0"/>
                <a:ea typeface="Calibri" pitchFamily="34" charset="-122"/>
                <a:cs typeface="Calibri" pitchFamily="34" charset="-120"/>
              </a:rPr>
              <a:t>Fiscal F27 · Jul 1, 2026 – Jun 30, 2027</a:t>
            </a:r>
            <a:endParaRPr lang="en-US" sz="1400" dirty="0"/>
          </a:p>
        </p:txBody>
      </p:sp>
      <p:sp>
        <p:nvSpPr>
          <p:cNvPr id="7" name="Shape 5"/>
          <p:cNvSpPr/>
          <p:nvPr/>
        </p:nvSpPr>
        <p:spPr>
          <a:xfrm>
            <a:off x="8412480" y="1280160"/>
            <a:ext cx="3227832" cy="4434840"/>
          </a:xfrm>
          <a:prstGeom prst="roundRect">
            <a:avLst>
              <a:gd name="adj" fmla="val 2266"/>
            </a:avLst>
          </a:prstGeom>
          <a:solidFill>
            <a:srgbClr val="1F2937"/>
          </a:solidFill>
          <a:ln w="12700">
            <a:solidFill>
              <a:srgbClr val="1F2937"/>
            </a:solidFill>
            <a:prstDash val="solid"/>
          </a:ln>
        </p:spPr>
      </p:sp>
      <p:sp>
        <p:nvSpPr>
          <p:cNvPr id="8" name="Text 6"/>
          <p:cNvSpPr txBox="1"/>
          <p:nvPr/>
        </p:nvSpPr>
        <p:spPr>
          <a:xfrm>
            <a:off x="8641080" y="1463040"/>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SEPT MTD · AS OF SEP 26</a:t>
            </a:r>
            <a:endParaRPr lang="en-US" sz="1100" dirty="0"/>
          </a:p>
        </p:txBody>
      </p:sp>
      <p:sp>
        <p:nvSpPr>
          <p:cNvPr id="9" name="Text 7"/>
          <p:cNvSpPr txBox="1"/>
          <p:nvPr/>
        </p:nvSpPr>
        <p:spPr>
          <a:xfrm>
            <a:off x="8641080" y="1783080"/>
            <a:ext cx="1325880" cy="457200"/>
          </a:xfrm>
          <a:prstGeom prst="rect">
            <a:avLst/>
          </a:prstGeom>
          <a:noFill/>
          <a:ln/>
        </p:spPr>
        <p:txBody>
          <a:bodyPr wrap="square" lIns="0" tIns="0" rIns="0" bIns="0" rtlCol="0" anchor="ctr"/>
          <a:lstStyle/>
          <a:p>
            <a:pPr indent="0" marL="0">
              <a:buNone/>
            </a:pPr>
            <a:r>
              <a:rPr lang="en-US" sz="2200" b="1" dirty="0">
                <a:solidFill>
                  <a:srgbClr val="34D399"/>
                </a:solidFill>
                <a:latin typeface="Calibri" pitchFamily="34" charset="0"/>
                <a:ea typeface="Calibri" pitchFamily="34" charset="-122"/>
                <a:cs typeface="Calibri" pitchFamily="34" charset="-120"/>
              </a:rPr>
              <a:t>93.7%</a:t>
            </a:r>
            <a:endParaRPr lang="en-US" sz="2200" dirty="0"/>
          </a:p>
        </p:txBody>
      </p:sp>
      <p:sp>
        <p:nvSpPr>
          <p:cNvPr id="10" name="Text 8"/>
          <p:cNvSpPr txBox="1"/>
          <p:nvPr/>
        </p:nvSpPr>
        <p:spPr>
          <a:xfrm>
            <a:off x="10012680" y="1783080"/>
            <a:ext cx="1508760" cy="457200"/>
          </a:xfrm>
          <a:prstGeom prst="rect">
            <a:avLst/>
          </a:prstGeom>
          <a:noFill/>
          <a:ln/>
        </p:spPr>
        <p:txBody>
          <a:bodyPr wrap="square" lIns="0" tIns="0" rIns="0" bIns="0" rtlCol="0" anchor="ctr"/>
          <a:lstStyle/>
          <a:p>
            <a:pPr indent="0" marL="0">
              <a:buNone/>
            </a:pPr>
            <a:r>
              <a:rPr lang="en-US" sz="1150" dirty="0">
                <a:solidFill>
                  <a:srgbClr val="D1D5DB"/>
                </a:solidFill>
                <a:latin typeface="Calibri" pitchFamily="34" charset="0"/>
                <a:ea typeface="Calibri" pitchFamily="34" charset="-122"/>
                <a:cs typeface="Calibri" pitchFamily="34" charset="-120"/>
              </a:rPr>
              <a:t>OTS Sept (adj., incl. partners)</a:t>
            </a:r>
            <a:endParaRPr lang="en-US" sz="1150" dirty="0"/>
          </a:p>
        </p:txBody>
      </p:sp>
      <p:sp>
        <p:nvSpPr>
          <p:cNvPr id="11" name="Text 9"/>
          <p:cNvSpPr txBox="1"/>
          <p:nvPr/>
        </p:nvSpPr>
        <p:spPr>
          <a:xfrm>
            <a:off x="8641080" y="2286000"/>
            <a:ext cx="1325880" cy="457200"/>
          </a:xfrm>
          <a:prstGeom prst="rect">
            <a:avLst/>
          </a:prstGeom>
          <a:noFill/>
          <a:ln/>
        </p:spPr>
        <p:txBody>
          <a:bodyPr wrap="square" lIns="0" tIns="0" rIns="0" bIns="0" rtlCol="0" anchor="ctr"/>
          <a:lstStyle/>
          <a:p>
            <a:pPr indent="0" marL="0">
              <a:buNone/>
            </a:pPr>
            <a:r>
              <a:rPr lang="en-US" sz="2200" b="1" dirty="0">
                <a:solidFill>
                  <a:srgbClr val="34D399"/>
                </a:solidFill>
                <a:latin typeface="Calibri" pitchFamily="34" charset="0"/>
                <a:ea typeface="Calibri" pitchFamily="34" charset="-122"/>
                <a:cs typeface="Calibri" pitchFamily="34" charset="-120"/>
              </a:rPr>
              <a:t>91.1%</a:t>
            </a:r>
            <a:endParaRPr lang="en-US" sz="2200" dirty="0"/>
          </a:p>
        </p:txBody>
      </p:sp>
      <p:sp>
        <p:nvSpPr>
          <p:cNvPr id="12" name="Text 10"/>
          <p:cNvSpPr txBox="1"/>
          <p:nvPr/>
        </p:nvSpPr>
        <p:spPr>
          <a:xfrm>
            <a:off x="10012680" y="2286000"/>
            <a:ext cx="1508760" cy="457200"/>
          </a:xfrm>
          <a:prstGeom prst="rect">
            <a:avLst/>
          </a:prstGeom>
          <a:noFill/>
          <a:ln/>
        </p:spPr>
        <p:txBody>
          <a:bodyPr wrap="square" lIns="0" tIns="0" rIns="0" bIns="0" rtlCol="0" anchor="ctr"/>
          <a:lstStyle/>
          <a:p>
            <a:pPr indent="0" marL="0">
              <a:buNone/>
            </a:pPr>
            <a:r>
              <a:rPr lang="en-US" sz="1150" dirty="0">
                <a:solidFill>
                  <a:srgbClr val="D1D5DB"/>
                </a:solidFill>
                <a:latin typeface="Calibri" pitchFamily="34" charset="0"/>
                <a:ea typeface="Calibri" pitchFamily="34" charset="-122"/>
                <a:cs typeface="Calibri" pitchFamily="34" charset="-120"/>
              </a:rPr>
              <a:t>of SCA hour allowance</a:t>
            </a:r>
            <a:endParaRPr lang="en-US" sz="1150" dirty="0"/>
          </a:p>
        </p:txBody>
      </p:sp>
      <p:sp>
        <p:nvSpPr>
          <p:cNvPr id="13" name="Text 11"/>
          <p:cNvSpPr txBox="1"/>
          <p:nvPr/>
        </p:nvSpPr>
        <p:spPr>
          <a:xfrm>
            <a:off x="8641080" y="2788920"/>
            <a:ext cx="1325880" cy="457200"/>
          </a:xfrm>
          <a:prstGeom prst="rect">
            <a:avLst/>
          </a:prstGeom>
          <a:noFill/>
          <a:ln/>
        </p:spPr>
        <p:txBody>
          <a:bodyPr wrap="square" lIns="0" tIns="0" rIns="0" bIns="0" rtlCol="0" anchor="ctr"/>
          <a:lstStyle/>
          <a:p>
            <a:pPr indent="0" marL="0">
              <a:buNone/>
            </a:pPr>
            <a:r>
              <a:rPr lang="en-US" sz="2200" b="1" dirty="0">
                <a:solidFill>
                  <a:srgbClr val="34D399"/>
                </a:solidFill>
                <a:latin typeface="Calibri" pitchFamily="34" charset="0"/>
                <a:ea typeface="Calibri" pitchFamily="34" charset="-122"/>
                <a:cs typeface="Calibri" pitchFamily="34" charset="-120"/>
              </a:rPr>
              <a:t>−16.7%</a:t>
            </a:r>
            <a:endParaRPr lang="en-US" sz="2200" dirty="0"/>
          </a:p>
        </p:txBody>
      </p:sp>
      <p:sp>
        <p:nvSpPr>
          <p:cNvPr id="14" name="Text 12"/>
          <p:cNvSpPr txBox="1"/>
          <p:nvPr/>
        </p:nvSpPr>
        <p:spPr>
          <a:xfrm>
            <a:off x="10012680" y="2788920"/>
            <a:ext cx="1508760" cy="457200"/>
          </a:xfrm>
          <a:prstGeom prst="rect">
            <a:avLst/>
          </a:prstGeom>
          <a:noFill/>
          <a:ln/>
        </p:spPr>
        <p:txBody>
          <a:bodyPr wrap="square" lIns="0" tIns="0" rIns="0" bIns="0" rtlCol="0" anchor="ctr"/>
          <a:lstStyle/>
          <a:p>
            <a:pPr indent="0" marL="0">
              <a:buNone/>
            </a:pPr>
            <a:r>
              <a:rPr lang="en-US" sz="1150" dirty="0">
                <a:solidFill>
                  <a:srgbClr val="D1D5DB"/>
                </a:solidFill>
                <a:latin typeface="Calibri" pitchFamily="34" charset="0"/>
                <a:ea typeface="Calibri" pitchFamily="34" charset="-122"/>
                <a:cs typeface="Calibri" pitchFamily="34" charset="-120"/>
              </a:rPr>
              <a:t>cost per unit vs F26</a:t>
            </a:r>
            <a:endParaRPr lang="en-US" sz="1150" dirty="0"/>
          </a:p>
        </p:txBody>
      </p:sp>
      <p:sp>
        <p:nvSpPr>
          <p:cNvPr id="15" name="Text 13"/>
          <p:cNvSpPr txBox="1"/>
          <p:nvPr/>
        </p:nvSpPr>
        <p:spPr>
          <a:xfrm>
            <a:off x="8641080" y="3291840"/>
            <a:ext cx="1325880" cy="457200"/>
          </a:xfrm>
          <a:prstGeom prst="rect">
            <a:avLst/>
          </a:prstGeom>
          <a:noFill/>
          <a:ln/>
        </p:spPr>
        <p:txBody>
          <a:bodyPr wrap="square" lIns="0" tIns="0" rIns="0" bIns="0" rtlCol="0" anchor="ctr"/>
          <a:lstStyle/>
          <a:p>
            <a:pPr indent="0" marL="0">
              <a:buNone/>
            </a:pPr>
            <a:r>
              <a:rPr lang="en-US" sz="2200" b="1" dirty="0">
                <a:solidFill>
                  <a:srgbClr val="34D399"/>
                </a:solidFill>
                <a:latin typeface="Calibri" pitchFamily="34" charset="0"/>
                <a:ea typeface="Calibri" pitchFamily="34" charset="-122"/>
                <a:cs typeface="Calibri" pitchFamily="34" charset="-120"/>
              </a:rPr>
              <a:t>+26.7%</a:t>
            </a:r>
            <a:endParaRPr lang="en-US" sz="2200" dirty="0"/>
          </a:p>
        </p:txBody>
      </p:sp>
      <p:sp>
        <p:nvSpPr>
          <p:cNvPr id="16" name="Text 14"/>
          <p:cNvSpPr txBox="1"/>
          <p:nvPr/>
        </p:nvSpPr>
        <p:spPr>
          <a:xfrm>
            <a:off x="10012680" y="3291840"/>
            <a:ext cx="1508760" cy="457200"/>
          </a:xfrm>
          <a:prstGeom prst="rect">
            <a:avLst/>
          </a:prstGeom>
          <a:noFill/>
          <a:ln/>
        </p:spPr>
        <p:txBody>
          <a:bodyPr wrap="square" lIns="0" tIns="0" rIns="0" bIns="0" rtlCol="0" anchor="ctr"/>
          <a:lstStyle/>
          <a:p>
            <a:pPr indent="0" marL="0">
              <a:buNone/>
            </a:pPr>
            <a:r>
              <a:rPr lang="en-US" sz="1150" dirty="0">
                <a:solidFill>
                  <a:srgbClr val="D1D5DB"/>
                </a:solidFill>
                <a:latin typeface="Calibri" pitchFamily="34" charset="0"/>
                <a:ea typeface="Calibri" pitchFamily="34" charset="-122"/>
                <a:cs typeface="Calibri" pitchFamily="34" charset="-120"/>
              </a:rPr>
              <a:t>units per hour vs F26</a:t>
            </a:r>
            <a:endParaRPr lang="en-US" sz="1150" dirty="0"/>
          </a:p>
        </p:txBody>
      </p:sp>
      <p:sp>
        <p:nvSpPr>
          <p:cNvPr id="17" name="Text 15"/>
          <p:cNvSpPr txBox="1"/>
          <p:nvPr/>
        </p:nvSpPr>
        <p:spPr>
          <a:xfrm>
            <a:off x="8641080" y="3794760"/>
            <a:ext cx="1325880" cy="457200"/>
          </a:xfrm>
          <a:prstGeom prst="rect">
            <a:avLst/>
          </a:prstGeom>
          <a:noFill/>
          <a:ln/>
        </p:spPr>
        <p:txBody>
          <a:bodyPr wrap="square" lIns="0" tIns="0" rIns="0" bIns="0" rtlCol="0" anchor="ctr"/>
          <a:lstStyle/>
          <a:p>
            <a:pPr indent="0" marL="0">
              <a:buNone/>
            </a:pPr>
            <a:r>
              <a:rPr lang="en-US" sz="2200" b="1" dirty="0">
                <a:solidFill>
                  <a:srgbClr val="34D399"/>
                </a:solidFill>
                <a:latin typeface="Calibri" pitchFamily="34" charset="0"/>
                <a:ea typeface="Calibri" pitchFamily="34" charset="-122"/>
                <a:cs typeface="Calibri" pitchFamily="34" charset="-120"/>
              </a:rPr>
              <a:t>9 hrs</a:t>
            </a:r>
            <a:endParaRPr lang="en-US" sz="2200" dirty="0"/>
          </a:p>
        </p:txBody>
      </p:sp>
      <p:sp>
        <p:nvSpPr>
          <p:cNvPr id="18" name="Text 16"/>
          <p:cNvSpPr txBox="1"/>
          <p:nvPr/>
        </p:nvSpPr>
        <p:spPr>
          <a:xfrm>
            <a:off x="10012680" y="3794760"/>
            <a:ext cx="1508760" cy="457200"/>
          </a:xfrm>
          <a:prstGeom prst="rect">
            <a:avLst/>
          </a:prstGeom>
          <a:noFill/>
          <a:ln/>
        </p:spPr>
        <p:txBody>
          <a:bodyPr wrap="square" lIns="0" tIns="0" rIns="0" bIns="0" rtlCol="0" anchor="ctr"/>
          <a:lstStyle/>
          <a:p>
            <a:pPr indent="0" marL="0">
              <a:buNone/>
            </a:pPr>
            <a:r>
              <a:rPr lang="en-US" sz="1150" dirty="0">
                <a:solidFill>
                  <a:srgbClr val="D1D5DB"/>
                </a:solidFill>
                <a:latin typeface="Calibri" pitchFamily="34" charset="0"/>
                <a:ea typeface="Calibri" pitchFamily="34" charset="-122"/>
                <a:cs typeface="Calibri" pitchFamily="34" charset="-120"/>
              </a:rPr>
              <a:t>overtime MTD</a:t>
            </a:r>
            <a:endParaRPr lang="en-US" sz="1150" dirty="0"/>
          </a:p>
        </p:txBody>
      </p:sp>
      <p:sp>
        <p:nvSpPr>
          <p:cNvPr id="19" name="Text 17"/>
          <p:cNvSpPr txBox="1"/>
          <p:nvPr/>
        </p:nvSpPr>
        <p:spPr>
          <a:xfrm>
            <a:off x="8641080" y="4370832"/>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FOCUS</a:t>
            </a:r>
            <a:endParaRPr lang="en-US" sz="1100" dirty="0"/>
          </a:p>
        </p:txBody>
      </p:sp>
      <p:sp>
        <p:nvSpPr>
          <p:cNvPr id="20" name="Text 18"/>
          <p:cNvSpPr txBox="1"/>
          <p:nvPr/>
        </p:nvSpPr>
        <p:spPr>
          <a:xfrm>
            <a:off x="8641080" y="4626864"/>
            <a:ext cx="2834640" cy="457200"/>
          </a:xfrm>
          <a:prstGeom prst="rect">
            <a:avLst/>
          </a:prstGeom>
          <a:noFill/>
          <a:ln/>
        </p:spPr>
        <p:txBody>
          <a:bodyPr wrap="square" lIns="0" tIns="0" rIns="0" bIns="0" rtlCol="0" anchor="ctr"/>
          <a:lstStyle/>
          <a:p>
            <a:pPr indent="0" marL="0">
              <a:buNone/>
            </a:pPr>
            <a:r>
              <a:rPr lang="en-US" sz="2200" b="1" dirty="0">
                <a:solidFill>
                  <a:srgbClr val="F87171"/>
                </a:solidFill>
                <a:latin typeface="Calibri" pitchFamily="34" charset="0"/>
                <a:ea typeface="Calibri" pitchFamily="34" charset="-122"/>
                <a:cs typeface="Calibri" pitchFamily="34" charset="-120"/>
              </a:rPr>
              <a:t>−21.9%</a:t>
            </a:r>
            <a:pPr indent="0" marL="0">
              <a:buNone/>
            </a:pPr>
            <a:r>
              <a:rPr lang="en-US" sz="1300" dirty="0">
                <a:solidFill>
                  <a:srgbClr val="D1D5DB"/>
                </a:solidFill>
                <a:latin typeface="Calibri" pitchFamily="34" charset="0"/>
                <a:ea typeface="Calibri" pitchFamily="34" charset="-122"/>
                <a:cs typeface="Calibri" pitchFamily="34" charset="-120"/>
              </a:rPr>
              <a:t>  PPH gap to goal</a:t>
            </a:r>
            <a:endParaRPr lang="en-US" sz="2200" dirty="0"/>
          </a:p>
        </p:txBody>
      </p:sp>
      <p:sp>
        <p:nvSpPr>
          <p:cNvPr id="21" name="Text 19"/>
          <p:cNvSpPr txBox="1"/>
          <p:nvPr/>
        </p:nvSpPr>
        <p:spPr>
          <a:xfrm>
            <a:off x="8641080" y="5084064"/>
            <a:ext cx="2834640" cy="274320"/>
          </a:xfrm>
          <a:prstGeom prst="rect">
            <a:avLst/>
          </a:prstGeom>
          <a:noFill/>
          <a:ln/>
        </p:spPr>
        <p:txBody>
          <a:bodyPr wrap="square" lIns="0" tIns="0" rIns="0" bIns="0" rtlCol="0" anchor="ctr"/>
          <a:lstStyle/>
          <a:p>
            <a:pPr indent="0" marL="0">
              <a:buNone/>
            </a:pPr>
            <a:r>
              <a:rPr lang="en-US" sz="1100" dirty="0">
                <a:solidFill>
                  <a:srgbClr val="9CA3AF"/>
                </a:solidFill>
                <a:latin typeface="Calibri" pitchFamily="34" charset="0"/>
                <a:ea typeface="Calibri" pitchFamily="34" charset="-122"/>
                <a:cs typeface="Calibri" pitchFamily="34" charset="-120"/>
              </a:rPr>
              <a:t>3,327 vs 4,258 goal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508760"/>
            <a:ext cx="566928" cy="566928"/>
          </a:xfrm>
          <a:prstGeom prst="ellipse">
            <a:avLst/>
          </a:prstGeom>
          <a:solidFill>
            <a:srgbClr val="7C3AED"/>
          </a:solidFill>
          <a:ln w="12700">
            <a:solidFill>
              <a:srgbClr val="7C3AED"/>
            </a:solidFill>
            <a:prstDash val="solid"/>
          </a:ln>
        </p:spPr>
      </p:sp>
      <p:sp>
        <p:nvSpPr>
          <p:cNvPr id="5" name="Text 3"/>
          <p:cNvSpPr txBox="1"/>
          <p:nvPr/>
        </p:nvSpPr>
        <p:spPr>
          <a:xfrm>
            <a:off x="548640" y="15087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508760"/>
            <a:ext cx="566928" cy="566928"/>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1421892" y="1650492"/>
            <a:ext cx="283464" cy="283464"/>
          </a:xfrm>
          <a:prstGeom prst="rect">
            <a:avLst/>
          </a:prstGeom>
        </p:spPr>
      </p:pic>
      <p:sp>
        <p:nvSpPr>
          <p:cNvPr id="8" name="Text 5"/>
          <p:cNvSpPr txBox="1"/>
          <p:nvPr/>
        </p:nvSpPr>
        <p:spPr>
          <a:xfrm>
            <a:off x="2103120" y="14721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8196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incident reporting, site initiatives</a:t>
            </a:r>
            <a:endParaRPr lang="en-US" sz="1300" dirty="0"/>
          </a:p>
        </p:txBody>
      </p:sp>
      <p:sp>
        <p:nvSpPr>
          <p:cNvPr id="10" name="Shape 7"/>
          <p:cNvSpPr/>
          <p:nvPr/>
        </p:nvSpPr>
        <p:spPr>
          <a:xfrm>
            <a:off x="548640" y="2423160"/>
            <a:ext cx="566928" cy="566928"/>
          </a:xfrm>
          <a:prstGeom prst="ellipse">
            <a:avLst/>
          </a:prstGeom>
          <a:solidFill>
            <a:srgbClr val="7C3AED"/>
          </a:solidFill>
          <a:ln w="12700">
            <a:solidFill>
              <a:srgbClr val="7C3AED"/>
            </a:solidFill>
            <a:prstDash val="solid"/>
          </a:ln>
        </p:spPr>
      </p:sp>
      <p:sp>
        <p:nvSpPr>
          <p:cNvPr id="11" name="Text 8"/>
          <p:cNvSpPr txBox="1"/>
          <p:nvPr/>
        </p:nvSpPr>
        <p:spPr>
          <a:xfrm>
            <a:off x="548640" y="24231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423160"/>
            <a:ext cx="566928" cy="566928"/>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1421892" y="2564892"/>
            <a:ext cx="283464" cy="283464"/>
          </a:xfrm>
          <a:prstGeom prst="rect">
            <a:avLst/>
          </a:prstGeom>
        </p:spPr>
      </p:pic>
      <p:sp>
        <p:nvSpPr>
          <p:cNvPr id="14" name="Text 10"/>
          <p:cNvSpPr txBox="1"/>
          <p:nvPr/>
        </p:nvSpPr>
        <p:spPr>
          <a:xfrm>
            <a:off x="2103120" y="23865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7340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missed pickups, scanning compliance</a:t>
            </a:r>
            <a:endParaRPr lang="en-US" sz="1300" dirty="0"/>
          </a:p>
        </p:txBody>
      </p:sp>
      <p:sp>
        <p:nvSpPr>
          <p:cNvPr id="16" name="Shape 12"/>
          <p:cNvSpPr/>
          <p:nvPr/>
        </p:nvSpPr>
        <p:spPr>
          <a:xfrm>
            <a:off x="548640" y="3337560"/>
            <a:ext cx="566928" cy="566928"/>
          </a:xfrm>
          <a:prstGeom prst="ellipse">
            <a:avLst/>
          </a:prstGeom>
          <a:solidFill>
            <a:srgbClr val="7C3AED"/>
          </a:solidFill>
          <a:ln w="12700">
            <a:solidFill>
              <a:srgbClr val="7C3AED"/>
            </a:solidFill>
            <a:prstDash val="solid"/>
          </a:ln>
        </p:spPr>
      </p:sp>
      <p:sp>
        <p:nvSpPr>
          <p:cNvPr id="17" name="Text 13"/>
          <p:cNvSpPr txBox="1"/>
          <p:nvPr/>
        </p:nvSpPr>
        <p:spPr>
          <a:xfrm>
            <a:off x="548640" y="33375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3337560"/>
            <a:ext cx="566928" cy="566928"/>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1421892" y="3479292"/>
            <a:ext cx="283464" cy="283464"/>
          </a:xfrm>
          <a:prstGeom prst="rect">
            <a:avLst/>
          </a:prstGeom>
        </p:spPr>
      </p:pic>
      <p:sp>
        <p:nvSpPr>
          <p:cNvPr id="20" name="Text 15"/>
          <p:cNvSpPr txBox="1"/>
          <p:nvPr/>
        </p:nvSpPr>
        <p:spPr>
          <a:xfrm>
            <a:off x="2103120" y="33009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SCA</a:t>
            </a:r>
            <a:endParaRPr lang="en-US" sz="1900" dirty="0"/>
          </a:p>
        </p:txBody>
      </p:sp>
      <p:sp>
        <p:nvSpPr>
          <p:cNvPr id="21" name="Text 16"/>
          <p:cNvSpPr txBox="1"/>
          <p:nvPr/>
        </p:nvSpPr>
        <p:spPr>
          <a:xfrm>
            <a:off x="2103120" y="36484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Cost per PRO, hours, labour, accessorials, savings plan</a:t>
            </a:r>
            <a:endParaRPr lang="en-US" sz="1300" dirty="0"/>
          </a:p>
        </p:txBody>
      </p:sp>
      <p:sp>
        <p:nvSpPr>
          <p:cNvPr id="22" name="Shape 17"/>
          <p:cNvSpPr/>
          <p:nvPr/>
        </p:nvSpPr>
        <p:spPr>
          <a:xfrm>
            <a:off x="548640" y="4251960"/>
            <a:ext cx="566928" cy="566928"/>
          </a:xfrm>
          <a:prstGeom prst="ellipse">
            <a:avLst/>
          </a:prstGeom>
          <a:solidFill>
            <a:srgbClr val="7C3AED"/>
          </a:solidFill>
          <a:ln w="12700">
            <a:solidFill>
              <a:srgbClr val="7C3AED"/>
            </a:solidFill>
            <a:prstDash val="solid"/>
          </a:ln>
        </p:spPr>
      </p:sp>
      <p:sp>
        <p:nvSpPr>
          <p:cNvPr id="23" name="Text 18"/>
          <p:cNvSpPr txBox="1"/>
          <p:nvPr/>
        </p:nvSpPr>
        <p:spPr>
          <a:xfrm>
            <a:off x="548640" y="42519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4251960"/>
            <a:ext cx="566928" cy="566928"/>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1421892" y="4393692"/>
            <a:ext cx="283464" cy="283464"/>
          </a:xfrm>
          <a:prstGeom prst="rect">
            <a:avLst/>
          </a:prstGeom>
        </p:spPr>
      </p:pic>
      <p:sp>
        <p:nvSpPr>
          <p:cNvPr id="26" name="Text 20"/>
          <p:cNvSpPr txBox="1"/>
          <p:nvPr/>
        </p:nvSpPr>
        <p:spPr>
          <a:xfrm>
            <a:off x="2103120" y="42153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a:t>
            </a:r>
            <a:endParaRPr lang="en-US" sz="1900" dirty="0"/>
          </a:p>
        </p:txBody>
      </p:sp>
      <p:sp>
        <p:nvSpPr>
          <p:cNvPr id="27" name="Text 21"/>
          <p:cNvSpPr txBox="1"/>
          <p:nvPr/>
        </p:nvSpPr>
        <p:spPr>
          <a:xfrm>
            <a:off x="2103120" y="45628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cost &amp; volume, P&amp;D measures, load factor, CICO</a:t>
            </a:r>
            <a:endParaRPr lang="en-US" sz="1300" dirty="0"/>
          </a:p>
        </p:txBody>
      </p:sp>
      <p:sp>
        <p:nvSpPr>
          <p:cNvPr id="28" name="Shape 22"/>
          <p:cNvSpPr/>
          <p:nvPr/>
        </p:nvSpPr>
        <p:spPr>
          <a:xfrm>
            <a:off x="548640" y="5166360"/>
            <a:ext cx="566928" cy="566928"/>
          </a:xfrm>
          <a:prstGeom prst="ellipse">
            <a:avLst/>
          </a:prstGeom>
          <a:solidFill>
            <a:srgbClr val="7C3AED"/>
          </a:solidFill>
          <a:ln w="12700">
            <a:solidFill>
              <a:srgbClr val="7C3AED"/>
            </a:solidFill>
            <a:prstDash val="solid"/>
          </a:ln>
        </p:spPr>
      </p:sp>
      <p:sp>
        <p:nvSpPr>
          <p:cNvPr id="29" name="Text 23"/>
          <p:cNvSpPr txBox="1"/>
          <p:nvPr/>
        </p:nvSpPr>
        <p:spPr>
          <a:xfrm>
            <a:off x="548640" y="5166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5166360"/>
            <a:ext cx="566928" cy="566928"/>
          </a:xfrm>
          <a:prstGeom prst="ellipse">
            <a:avLst/>
          </a:prstGeom>
          <a:solidFill>
            <a:srgbClr val="EDE9FE"/>
          </a:solidFill>
          <a:ln w="12700">
            <a:solidFill>
              <a:srgbClr val="EDE9FE"/>
            </a:solidFill>
            <a:prstDash val="solid"/>
          </a:ln>
        </p:spPr>
      </p:sp>
      <p:pic>
        <p:nvPicPr>
          <p:cNvPr id="31" name="Image 4" descr="preencoded.png">    </p:cNvPr>
          <p:cNvPicPr>
            <a:picLocks noChangeAspect="1"/>
          </p:cNvPicPr>
          <p:nvPr/>
        </p:nvPicPr>
        <p:blipFill>
          <a:blip r:embed="rId5"/>
          <a:stretch>
            <a:fillRect/>
          </a:stretch>
        </p:blipFill>
        <p:spPr>
          <a:xfrm>
            <a:off x="1421892" y="5308092"/>
            <a:ext cx="283464" cy="283464"/>
          </a:xfrm>
          <a:prstGeom prst="rect">
            <a:avLst/>
          </a:prstGeom>
        </p:spPr>
      </p:pic>
      <p:sp>
        <p:nvSpPr>
          <p:cNvPr id="32" name="Text 25"/>
          <p:cNvSpPr txBox="1"/>
          <p:nvPr/>
        </p:nvSpPr>
        <p:spPr>
          <a:xfrm>
            <a:off x="2103120" y="51297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Status of the physical terminal</a:t>
            </a:r>
            <a:endParaRPr lang="en-US" sz="1900" dirty="0"/>
          </a:p>
        </p:txBody>
      </p:sp>
      <p:sp>
        <p:nvSpPr>
          <p:cNvPr id="33" name="Text 26"/>
          <p:cNvSpPr txBox="1"/>
          <p:nvPr/>
        </p:nvSpPr>
        <p:spPr>
          <a:xfrm>
            <a:off x="2103120" y="54772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Dock doors and urgent repairs</a:t>
            </a:r>
            <a:endParaRPr lang="en-US" sz="1300" dirty="0"/>
          </a:p>
        </p:txBody>
      </p:sp>
      <p:sp>
        <p:nvSpPr>
          <p:cNvPr id="34" name="Shape 2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35" name="Shape 28"/>
          <p:cNvSpPr/>
          <p:nvPr/>
        </p:nvSpPr>
        <p:spPr>
          <a:xfrm>
            <a:off x="8275320" y="1783080"/>
            <a:ext cx="502920" cy="502920"/>
          </a:xfrm>
          <a:prstGeom prst="ellipse">
            <a:avLst/>
          </a:prstGeom>
          <a:solidFill>
            <a:srgbClr val="EDE9FE"/>
          </a:solidFill>
          <a:ln w="12700">
            <a:solidFill>
              <a:srgbClr val="EDE9FE"/>
            </a:solidFill>
            <a:prstDash val="solid"/>
          </a:ln>
        </p:spPr>
      </p:sp>
      <p:pic>
        <p:nvPicPr>
          <p:cNvPr id="36" name="Image 5" descr="preencoded.png">    </p:cNvPr>
          <p:cNvPicPr>
            <a:picLocks noChangeAspect="1"/>
          </p:cNvPicPr>
          <p:nvPr/>
        </p:nvPicPr>
        <p:blipFill>
          <a:blip r:embed="rId6"/>
          <a:stretch>
            <a:fillRect/>
          </a:stretch>
        </p:blipFill>
        <p:spPr>
          <a:xfrm>
            <a:off x="8401050" y="1908810"/>
            <a:ext cx="251460" cy="251460"/>
          </a:xfrm>
          <a:prstGeom prst="rect">
            <a:avLst/>
          </a:prstGeom>
        </p:spPr>
      </p:pic>
      <p:sp>
        <p:nvSpPr>
          <p:cNvPr id="37" name="Text 2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38" name="Text 3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39"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0"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21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71600"/>
            <a:ext cx="2072030" cy="1280160"/>
          </a:xfrm>
          <a:prstGeom prst="roundRect">
            <a:avLst>
              <a:gd name="adj" fmla="val 5714"/>
            </a:avLst>
          </a:prstGeom>
          <a:solidFill>
            <a:srgbClr val="F3F4F6"/>
          </a:solidFill>
          <a:ln w="12700">
            <a:solidFill>
              <a:srgbClr val="F3F4F6"/>
            </a:solidFill>
            <a:prstDash val="solid"/>
          </a:ln>
        </p:spPr>
      </p:sp>
      <p:sp>
        <p:nvSpPr>
          <p:cNvPr id="5" name="Text 3"/>
          <p:cNvSpPr txBox="1"/>
          <p:nvPr/>
        </p:nvSpPr>
        <p:spPr>
          <a:xfrm>
            <a:off x="731520" y="150876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83080"/>
            <a:ext cx="1706270" cy="41148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7" name="Text 5"/>
          <p:cNvSpPr txBox="1"/>
          <p:nvPr/>
        </p:nvSpPr>
        <p:spPr>
          <a:xfrm>
            <a:off x="731520" y="222199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 1 – Sep 29, 2026</a:t>
            </a:r>
            <a:endParaRPr lang="en-US" sz="1050" dirty="0"/>
          </a:p>
        </p:txBody>
      </p:sp>
      <p:sp>
        <p:nvSpPr>
          <p:cNvPr id="8" name="Shape 6"/>
          <p:cNvSpPr/>
          <p:nvPr/>
        </p:nvSpPr>
        <p:spPr>
          <a:xfrm>
            <a:off x="2803550" y="1371600"/>
            <a:ext cx="2072030" cy="1280160"/>
          </a:xfrm>
          <a:prstGeom prst="roundRect">
            <a:avLst>
              <a:gd name="adj" fmla="val 5714"/>
            </a:avLst>
          </a:prstGeom>
          <a:solidFill>
            <a:srgbClr val="F3F4F6"/>
          </a:solidFill>
          <a:ln w="12700">
            <a:solidFill>
              <a:srgbClr val="F3F4F6"/>
            </a:solidFill>
            <a:prstDash val="solid"/>
          </a:ln>
        </p:spPr>
      </p:sp>
      <p:sp>
        <p:nvSpPr>
          <p:cNvPr id="9" name="Text 7"/>
          <p:cNvSpPr txBox="1"/>
          <p:nvPr/>
        </p:nvSpPr>
        <p:spPr>
          <a:xfrm>
            <a:off x="2986430" y="150876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83080"/>
            <a:ext cx="1706270" cy="41148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1" name="Text 9"/>
          <p:cNvSpPr txBox="1"/>
          <p:nvPr/>
        </p:nvSpPr>
        <p:spPr>
          <a:xfrm>
            <a:off x="2986430" y="222199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71600"/>
            <a:ext cx="2072030" cy="1280160"/>
          </a:xfrm>
          <a:prstGeom prst="roundRect">
            <a:avLst>
              <a:gd name="adj" fmla="val 5714"/>
            </a:avLst>
          </a:prstGeom>
          <a:solidFill>
            <a:srgbClr val="F3F4F6"/>
          </a:solidFill>
          <a:ln w="12700">
            <a:solidFill>
              <a:srgbClr val="F3F4F6"/>
            </a:solidFill>
            <a:prstDash val="solid"/>
          </a:ln>
        </p:spPr>
      </p:sp>
      <p:sp>
        <p:nvSpPr>
          <p:cNvPr id="13" name="Text 11"/>
          <p:cNvSpPr txBox="1"/>
          <p:nvPr/>
        </p:nvSpPr>
        <p:spPr>
          <a:xfrm>
            <a:off x="5241341" y="150876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target</a:t>
            </a:r>
            <a:endParaRPr lang="en-US" sz="950" dirty="0"/>
          </a:p>
        </p:txBody>
      </p:sp>
      <p:sp>
        <p:nvSpPr>
          <p:cNvPr id="14" name="Text 12"/>
          <p:cNvSpPr txBox="1"/>
          <p:nvPr/>
        </p:nvSpPr>
        <p:spPr>
          <a:xfrm>
            <a:off x="5241341" y="1783080"/>
            <a:ext cx="1706270" cy="41148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5" name="Text 13"/>
          <p:cNvSpPr txBox="1"/>
          <p:nvPr/>
        </p:nvSpPr>
        <p:spPr>
          <a:xfrm>
            <a:off x="5241341" y="222199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F27 target</a:t>
            </a:r>
            <a:endParaRPr lang="en-US" sz="1050" dirty="0"/>
          </a:p>
        </p:txBody>
      </p:sp>
      <p:sp>
        <p:nvSpPr>
          <p:cNvPr id="16" name="Shape 14"/>
          <p:cNvSpPr/>
          <p:nvPr/>
        </p:nvSpPr>
        <p:spPr>
          <a:xfrm>
            <a:off x="7313371" y="1371600"/>
            <a:ext cx="2072030" cy="1280160"/>
          </a:xfrm>
          <a:prstGeom prst="roundRect">
            <a:avLst>
              <a:gd name="adj" fmla="val 5714"/>
            </a:avLst>
          </a:prstGeom>
          <a:solidFill>
            <a:srgbClr val="F3F4F6"/>
          </a:solidFill>
          <a:ln w="12700">
            <a:solidFill>
              <a:srgbClr val="F3F4F6"/>
            </a:solidFill>
            <a:prstDash val="solid"/>
          </a:ln>
        </p:spPr>
      </p:sp>
      <p:sp>
        <p:nvSpPr>
          <p:cNvPr id="17" name="Text 15"/>
          <p:cNvSpPr txBox="1"/>
          <p:nvPr/>
        </p:nvSpPr>
        <p:spPr>
          <a:xfrm>
            <a:off x="7496251" y="150876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YTD</a:t>
            </a:r>
            <a:endParaRPr lang="en-US" sz="950" dirty="0"/>
          </a:p>
        </p:txBody>
      </p:sp>
      <p:sp>
        <p:nvSpPr>
          <p:cNvPr id="18" name="Text 16"/>
          <p:cNvSpPr txBox="1"/>
          <p:nvPr/>
        </p:nvSpPr>
        <p:spPr>
          <a:xfrm>
            <a:off x="7496251" y="1783080"/>
            <a:ext cx="1706270" cy="41148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9" name="Text 17"/>
          <p:cNvSpPr txBox="1"/>
          <p:nvPr/>
        </p:nvSpPr>
        <p:spPr>
          <a:xfrm>
            <a:off x="7496251" y="222199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 1 to date</a:t>
            </a:r>
            <a:endParaRPr lang="en-US" sz="1050" dirty="0"/>
          </a:p>
        </p:txBody>
      </p:sp>
      <p:sp>
        <p:nvSpPr>
          <p:cNvPr id="20" name="Shape 18"/>
          <p:cNvSpPr/>
          <p:nvPr/>
        </p:nvSpPr>
        <p:spPr>
          <a:xfrm>
            <a:off x="9568282" y="1371600"/>
            <a:ext cx="2072030" cy="1280160"/>
          </a:xfrm>
          <a:prstGeom prst="roundRect">
            <a:avLst>
              <a:gd name="adj" fmla="val 5714"/>
            </a:avLst>
          </a:prstGeom>
          <a:solidFill>
            <a:srgbClr val="F3F4F6"/>
          </a:solidFill>
          <a:ln w="12700">
            <a:solidFill>
              <a:srgbClr val="F3F4F6"/>
            </a:solidFill>
            <a:prstDash val="solid"/>
          </a:ln>
        </p:spPr>
      </p:sp>
      <p:sp>
        <p:nvSpPr>
          <p:cNvPr id="21" name="Text 19"/>
          <p:cNvSpPr txBox="1"/>
          <p:nvPr/>
        </p:nvSpPr>
        <p:spPr>
          <a:xfrm>
            <a:off x="9751162" y="150876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83080"/>
            <a:ext cx="1706270" cy="41148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23" name="Text 21"/>
          <p:cNvSpPr txBox="1"/>
          <p:nvPr/>
        </p:nvSpPr>
        <p:spPr>
          <a:xfrm>
            <a:off x="9751162" y="222199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As of Sep 29, 2026</a:t>
            </a:r>
            <a:endParaRPr lang="en-US" sz="1050" dirty="0"/>
          </a:p>
        </p:txBody>
      </p:sp>
      <p:sp>
        <p:nvSpPr>
          <p:cNvPr id="24" name="Text 22"/>
          <p:cNvSpPr txBox="1"/>
          <p:nvPr/>
        </p:nvSpPr>
        <p:spPr>
          <a:xfrm>
            <a:off x="548640" y="2907792"/>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shift</a:t>
            </a:r>
            <a:endParaRPr lang="en-US" sz="1800" dirty="0"/>
          </a:p>
        </p:txBody>
      </p:sp>
      <p:sp>
        <p:nvSpPr>
          <p:cNvPr id="25" name="Shape 23"/>
          <p:cNvSpPr/>
          <p:nvPr/>
        </p:nvSpPr>
        <p:spPr>
          <a:xfrm>
            <a:off x="548640" y="3429000"/>
            <a:ext cx="420624" cy="420624"/>
          </a:xfrm>
          <a:prstGeom prst="ellipse">
            <a:avLst/>
          </a:prstGeom>
          <a:solidFill>
            <a:srgbClr val="EDE9FE"/>
          </a:solidFill>
          <a:ln w="12700">
            <a:solidFill>
              <a:srgbClr val="EDE9FE"/>
            </a:solidFill>
            <a:prstDash val="solid"/>
          </a:ln>
        </p:spPr>
      </p:sp>
      <p:pic>
        <p:nvPicPr>
          <p:cNvPr id="26" name="Image 0" descr="preencoded.png">    </p:cNvPr>
          <p:cNvPicPr>
            <a:picLocks noChangeAspect="1"/>
          </p:cNvPicPr>
          <p:nvPr/>
        </p:nvPicPr>
        <p:blipFill>
          <a:blip r:embed="rId1"/>
          <a:stretch>
            <a:fillRect/>
          </a:stretch>
        </p:blipFill>
        <p:spPr>
          <a:xfrm>
            <a:off x="653796" y="3534156"/>
            <a:ext cx="210312" cy="210312"/>
          </a:xfrm>
          <a:prstGeom prst="rect">
            <a:avLst/>
          </a:prstGeom>
        </p:spPr>
      </p:pic>
      <p:sp>
        <p:nvSpPr>
          <p:cNvPr id="27" name="Text 24"/>
          <p:cNvSpPr txBox="1"/>
          <p:nvPr/>
        </p:nvSpPr>
        <p:spPr>
          <a:xfrm>
            <a:off x="1170432" y="3364992"/>
            <a:ext cx="10469880" cy="54864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400" dirty="0"/>
          </a:p>
        </p:txBody>
      </p:sp>
      <p:sp>
        <p:nvSpPr>
          <p:cNvPr id="28" name="Shape 25"/>
          <p:cNvSpPr/>
          <p:nvPr/>
        </p:nvSpPr>
        <p:spPr>
          <a:xfrm>
            <a:off x="548640" y="4032504"/>
            <a:ext cx="420624" cy="420624"/>
          </a:xfrm>
          <a:prstGeom prst="ellipse">
            <a:avLst/>
          </a:prstGeom>
          <a:solidFill>
            <a:srgbClr val="EDE9FE"/>
          </a:solidFill>
          <a:ln w="12700">
            <a:solidFill>
              <a:srgbClr val="EDE9FE"/>
            </a:solidFill>
            <a:prstDash val="solid"/>
          </a:ln>
        </p:spPr>
      </p:sp>
      <p:pic>
        <p:nvPicPr>
          <p:cNvPr id="29" name="Image 1" descr="preencoded.png">    </p:cNvPr>
          <p:cNvPicPr>
            <a:picLocks noChangeAspect="1"/>
          </p:cNvPicPr>
          <p:nvPr/>
        </p:nvPicPr>
        <p:blipFill>
          <a:blip r:embed="rId2"/>
          <a:stretch>
            <a:fillRect/>
          </a:stretch>
        </p:blipFill>
        <p:spPr>
          <a:xfrm>
            <a:off x="653796" y="4137660"/>
            <a:ext cx="210312" cy="210312"/>
          </a:xfrm>
          <a:prstGeom prst="rect">
            <a:avLst/>
          </a:prstGeom>
        </p:spPr>
      </p:pic>
      <p:sp>
        <p:nvSpPr>
          <p:cNvPr id="30" name="Text 26"/>
          <p:cNvSpPr txBox="1"/>
          <p:nvPr/>
        </p:nvSpPr>
        <p:spPr>
          <a:xfrm>
            <a:off x="1170432" y="3968496"/>
            <a:ext cx="10469880" cy="54864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400" dirty="0"/>
          </a:p>
        </p:txBody>
      </p:sp>
      <p:sp>
        <p:nvSpPr>
          <p:cNvPr id="31" name="Shape 27"/>
          <p:cNvSpPr/>
          <p:nvPr/>
        </p:nvSpPr>
        <p:spPr>
          <a:xfrm>
            <a:off x="548640" y="4636008"/>
            <a:ext cx="420624" cy="420624"/>
          </a:xfrm>
          <a:prstGeom prst="ellipse">
            <a:avLst/>
          </a:prstGeom>
          <a:solidFill>
            <a:srgbClr val="EDE9FE"/>
          </a:solidFill>
          <a:ln w="12700">
            <a:solidFill>
              <a:srgbClr val="EDE9FE"/>
            </a:solidFill>
            <a:prstDash val="solid"/>
          </a:ln>
        </p:spPr>
      </p:sp>
      <p:pic>
        <p:nvPicPr>
          <p:cNvPr id="32" name="Image 2" descr="preencoded.png">    </p:cNvPr>
          <p:cNvPicPr>
            <a:picLocks noChangeAspect="1"/>
          </p:cNvPicPr>
          <p:nvPr/>
        </p:nvPicPr>
        <p:blipFill>
          <a:blip r:embed="rId3"/>
          <a:stretch>
            <a:fillRect/>
          </a:stretch>
        </p:blipFill>
        <p:spPr>
          <a:xfrm>
            <a:off x="653796" y="4741164"/>
            <a:ext cx="210312" cy="210312"/>
          </a:xfrm>
          <a:prstGeom prst="rect">
            <a:avLst/>
          </a:prstGeom>
        </p:spPr>
      </p:pic>
      <p:sp>
        <p:nvSpPr>
          <p:cNvPr id="33" name="Text 28"/>
          <p:cNvSpPr txBox="1"/>
          <p:nvPr/>
        </p:nvSpPr>
        <p:spPr>
          <a:xfrm>
            <a:off x="1170432" y="4572000"/>
            <a:ext cx="10469880" cy="54864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400" dirty="0"/>
          </a:p>
        </p:txBody>
      </p:sp>
      <p:sp>
        <p:nvSpPr>
          <p:cNvPr id="34" name="Shape 29"/>
          <p:cNvSpPr/>
          <p:nvPr/>
        </p:nvSpPr>
        <p:spPr>
          <a:xfrm>
            <a:off x="548640" y="5239512"/>
            <a:ext cx="420624" cy="420624"/>
          </a:xfrm>
          <a:prstGeom prst="ellipse">
            <a:avLst/>
          </a:prstGeom>
          <a:solidFill>
            <a:srgbClr val="EDE9FE"/>
          </a:solidFill>
          <a:ln w="12700">
            <a:solidFill>
              <a:srgbClr val="EDE9FE"/>
            </a:solidFill>
            <a:prstDash val="solid"/>
          </a:ln>
        </p:spPr>
      </p:sp>
      <p:pic>
        <p:nvPicPr>
          <p:cNvPr id="35" name="Image 3" descr="preencoded.png">    </p:cNvPr>
          <p:cNvPicPr>
            <a:picLocks noChangeAspect="1"/>
          </p:cNvPicPr>
          <p:nvPr/>
        </p:nvPicPr>
        <p:blipFill>
          <a:blip r:embed="rId4"/>
          <a:stretch>
            <a:fillRect/>
          </a:stretch>
        </p:blipFill>
        <p:spPr>
          <a:xfrm>
            <a:off x="653796" y="5344668"/>
            <a:ext cx="210312" cy="210312"/>
          </a:xfrm>
          <a:prstGeom prst="rect">
            <a:avLst/>
          </a:prstGeom>
        </p:spPr>
      </p:pic>
      <p:sp>
        <p:nvSpPr>
          <p:cNvPr id="36" name="Text 30"/>
          <p:cNvSpPr txBox="1"/>
          <p:nvPr/>
        </p:nvSpPr>
        <p:spPr>
          <a:xfrm>
            <a:off x="1170432" y="5175504"/>
            <a:ext cx="10469880" cy="54864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400" dirty="0"/>
          </a:p>
        </p:txBody>
      </p:sp>
      <p:sp>
        <p:nvSpPr>
          <p:cNvPr id="37" name="Shape 31"/>
          <p:cNvSpPr/>
          <p:nvPr/>
        </p:nvSpPr>
        <p:spPr>
          <a:xfrm>
            <a:off x="548640" y="5843016"/>
            <a:ext cx="420624" cy="420624"/>
          </a:xfrm>
          <a:prstGeom prst="ellipse">
            <a:avLst/>
          </a:prstGeom>
          <a:solidFill>
            <a:srgbClr val="EDE9FE"/>
          </a:solidFill>
          <a:ln w="12700">
            <a:solidFill>
              <a:srgbClr val="EDE9FE"/>
            </a:solidFill>
            <a:prstDash val="solid"/>
          </a:ln>
        </p:spPr>
      </p:sp>
      <p:pic>
        <p:nvPicPr>
          <p:cNvPr id="38" name="Image 4" descr="preencoded.png">    </p:cNvPr>
          <p:cNvPicPr>
            <a:picLocks noChangeAspect="1"/>
          </p:cNvPicPr>
          <p:nvPr/>
        </p:nvPicPr>
        <p:blipFill>
          <a:blip r:embed="rId5"/>
          <a:stretch>
            <a:fillRect/>
          </a:stretch>
        </p:blipFill>
        <p:spPr>
          <a:xfrm>
            <a:off x="653796" y="5948172"/>
            <a:ext cx="210312" cy="210312"/>
          </a:xfrm>
          <a:prstGeom prst="rect">
            <a:avLst/>
          </a:prstGeom>
        </p:spPr>
      </p:pic>
      <p:sp>
        <p:nvSpPr>
          <p:cNvPr id="39" name="Text 32"/>
          <p:cNvSpPr txBox="1"/>
          <p:nvPr/>
        </p:nvSpPr>
        <p:spPr>
          <a:xfrm>
            <a:off x="1170432" y="5779008"/>
            <a:ext cx="10469880" cy="548640"/>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400" dirty="0"/>
          </a:p>
        </p:txBody>
      </p:sp>
      <p:sp>
        <p:nvSpPr>
          <p:cNvPr id="40" name="Text 3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1" name="Text 3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21</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Incident reporting &amp; site-specific initiatives</a:t>
            </a:r>
            <a:endParaRPr lang="en-US" sz="3000" dirty="0"/>
          </a:p>
        </p:txBody>
      </p:sp>
      <p:sp>
        <p:nvSpPr>
          <p:cNvPr id="4" name="Shape 2"/>
          <p:cNvSpPr/>
          <p:nvPr/>
        </p:nvSpPr>
        <p:spPr>
          <a:xfrm>
            <a:off x="548640" y="1371600"/>
            <a:ext cx="5486400" cy="4846320"/>
          </a:xfrm>
          <a:prstGeom prst="roundRect">
            <a:avLst>
              <a:gd name="adj" fmla="val 1509"/>
            </a:avLst>
          </a:prstGeom>
          <a:solidFill>
            <a:srgbClr val="F3F4F6"/>
          </a:solidFill>
          <a:ln w="12700">
            <a:solidFill>
              <a:srgbClr val="F3F4F6"/>
            </a:solidFill>
            <a:prstDash val="solid"/>
          </a:ln>
        </p:spPr>
      </p:sp>
      <p:sp>
        <p:nvSpPr>
          <p:cNvPr id="5" name="Shape 3"/>
          <p:cNvSpPr/>
          <p:nvPr/>
        </p:nvSpPr>
        <p:spPr>
          <a:xfrm>
            <a:off x="822960" y="1645920"/>
            <a:ext cx="548640" cy="548640"/>
          </a:xfrm>
          <a:prstGeom prst="ellipse">
            <a:avLst/>
          </a:prstGeom>
          <a:solidFill>
            <a:srgbClr val="EDE9FE"/>
          </a:solidFill>
          <a:ln w="12700">
            <a:solidFill>
              <a:srgbClr val="EDE9FE"/>
            </a:solidFill>
            <a:prstDash val="solid"/>
          </a:ln>
        </p:spPr>
      </p:sp>
      <p:pic>
        <p:nvPicPr>
          <p:cNvPr id="6" name="Image 0" descr="preencoded.png">    </p:cNvPr>
          <p:cNvPicPr>
            <a:picLocks noChangeAspect="1"/>
          </p:cNvPicPr>
          <p:nvPr/>
        </p:nvPicPr>
        <p:blipFill>
          <a:blip r:embed="rId1"/>
          <a:stretch>
            <a:fillRect/>
          </a:stretch>
        </p:blipFill>
        <p:spPr>
          <a:xfrm>
            <a:off x="960120" y="1783080"/>
            <a:ext cx="274320" cy="274320"/>
          </a:xfrm>
          <a:prstGeom prst="rect">
            <a:avLst/>
          </a:prstGeom>
        </p:spPr>
      </p:pic>
      <p:sp>
        <p:nvSpPr>
          <p:cNvPr id="7" name="Text 4"/>
          <p:cNvSpPr txBox="1"/>
          <p:nvPr/>
        </p:nvSpPr>
        <p:spPr>
          <a:xfrm>
            <a:off x="1554480" y="1719072"/>
            <a:ext cx="429768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Incident reporting &amp; training</a:t>
            </a:r>
            <a:endParaRPr lang="en-US" sz="2000" dirty="0"/>
          </a:p>
        </p:txBody>
      </p:sp>
      <p:sp>
        <p:nvSpPr>
          <p:cNvPr id="8" name="Text 5"/>
          <p:cNvSpPr txBox="1"/>
          <p:nvPr/>
        </p:nvSpPr>
        <p:spPr>
          <a:xfrm>
            <a:off x="868680" y="2423160"/>
            <a:ext cx="4892040" cy="361188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Incidents reported promptly — supervisors and managers work directly with OHS on WSIB forms and a safe return to work.</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Detailed incident descriptions; root cause identified with OHS; corrective action plans implemented and follow-up prioritized so controls prevent recurrence.</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Monthly safety e-learning for managers and supervisors on topics tied to our operation.</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Forklift and TDG training completed before expiry.</a:t>
            </a:r>
            <a:endParaRPr lang="en-US" sz="1400" dirty="0"/>
          </a:p>
        </p:txBody>
      </p:sp>
      <p:sp>
        <p:nvSpPr>
          <p:cNvPr id="9" name="Shape 6"/>
          <p:cNvSpPr/>
          <p:nvPr/>
        </p:nvSpPr>
        <p:spPr>
          <a:xfrm>
            <a:off x="6336792" y="1371600"/>
            <a:ext cx="5303520" cy="4846320"/>
          </a:xfrm>
          <a:prstGeom prst="roundRect">
            <a:avLst>
              <a:gd name="adj" fmla="val 1509"/>
            </a:avLst>
          </a:prstGeom>
          <a:solidFill>
            <a:srgbClr val="F5F3FF"/>
          </a:solidFill>
          <a:ln w="12700">
            <a:solidFill>
              <a:srgbClr val="F5F3FF"/>
            </a:solidFill>
            <a:prstDash val="solid"/>
          </a:ln>
        </p:spPr>
      </p:sp>
      <p:sp>
        <p:nvSpPr>
          <p:cNvPr id="10" name="Shape 7"/>
          <p:cNvSpPr/>
          <p:nvPr/>
        </p:nvSpPr>
        <p:spPr>
          <a:xfrm>
            <a:off x="6611112" y="1645920"/>
            <a:ext cx="548640" cy="548640"/>
          </a:xfrm>
          <a:prstGeom prst="ellipse">
            <a:avLst/>
          </a:prstGeom>
          <a:solidFill>
            <a:srgbClr val="7C3AED"/>
          </a:solidFill>
          <a:ln w="12700">
            <a:solidFill>
              <a:srgbClr val="7C3AED"/>
            </a:solidFill>
            <a:prstDash val="solid"/>
          </a:ln>
        </p:spPr>
      </p:sp>
      <p:pic>
        <p:nvPicPr>
          <p:cNvPr id="11" name="Image 1" descr="preencoded.png">    </p:cNvPr>
          <p:cNvPicPr>
            <a:picLocks noChangeAspect="1"/>
          </p:cNvPicPr>
          <p:nvPr/>
        </p:nvPicPr>
        <p:blipFill>
          <a:blip r:embed="rId2"/>
          <a:stretch>
            <a:fillRect/>
          </a:stretch>
        </p:blipFill>
        <p:spPr>
          <a:xfrm>
            <a:off x="6748272" y="1783080"/>
            <a:ext cx="274320" cy="274320"/>
          </a:xfrm>
          <a:prstGeom prst="rect">
            <a:avLst/>
          </a:prstGeom>
        </p:spPr>
      </p:pic>
      <p:sp>
        <p:nvSpPr>
          <p:cNvPr id="12" name="Text 8"/>
          <p:cNvSpPr txBox="1"/>
          <p:nvPr/>
        </p:nvSpPr>
        <p:spPr>
          <a:xfrm>
            <a:off x="7342632" y="1719072"/>
            <a:ext cx="402336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Site-specific initiatives</a:t>
            </a:r>
            <a:endParaRPr lang="en-US" sz="2000" dirty="0"/>
          </a:p>
        </p:txBody>
      </p:sp>
      <p:sp>
        <p:nvSpPr>
          <p:cNvPr id="13" name="Shape 9"/>
          <p:cNvSpPr/>
          <p:nvPr/>
        </p:nvSpPr>
        <p:spPr>
          <a:xfrm>
            <a:off x="6611112" y="2450592"/>
            <a:ext cx="384048" cy="384048"/>
          </a:xfrm>
          <a:prstGeom prst="ellipse">
            <a:avLst/>
          </a:prstGeom>
          <a:solidFill>
            <a:srgbClr val="7C3AED"/>
          </a:solidFill>
          <a:ln w="12700">
            <a:solidFill>
              <a:srgbClr val="7C3AED"/>
            </a:solidFill>
            <a:prstDash val="solid"/>
          </a:ln>
        </p:spPr>
      </p:sp>
      <p:sp>
        <p:nvSpPr>
          <p:cNvPr id="14" name="Text 10"/>
          <p:cNvSpPr txBox="1"/>
          <p:nvPr/>
        </p:nvSpPr>
        <p:spPr>
          <a:xfrm>
            <a:off x="6611112" y="24505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5" name="Text 11"/>
          <p:cNvSpPr txBox="1"/>
          <p:nvPr/>
        </p:nvSpPr>
        <p:spPr>
          <a:xfrm>
            <a:off x="7178040" y="2423160"/>
            <a:ext cx="4206240" cy="169164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Roofing work over the dock: work areas identified and barricaded so no one enters zones under overhead work (falling-debris risk); N95 masks readily available on the dock to minimize airborne debris exposure.</a:t>
            </a:r>
            <a:endParaRPr lang="en-US" sz="1400" dirty="0"/>
          </a:p>
        </p:txBody>
      </p:sp>
      <p:sp>
        <p:nvSpPr>
          <p:cNvPr id="16" name="Shape 12"/>
          <p:cNvSpPr/>
          <p:nvPr/>
        </p:nvSpPr>
        <p:spPr>
          <a:xfrm>
            <a:off x="6611112" y="4233672"/>
            <a:ext cx="384048" cy="384048"/>
          </a:xfrm>
          <a:prstGeom prst="ellipse">
            <a:avLst/>
          </a:prstGeom>
          <a:solidFill>
            <a:srgbClr val="7C3AED"/>
          </a:solidFill>
          <a:ln w="12700">
            <a:solidFill>
              <a:srgbClr val="7C3AED"/>
            </a:solidFill>
            <a:prstDash val="solid"/>
          </a:ln>
        </p:spPr>
      </p:sp>
      <p:sp>
        <p:nvSpPr>
          <p:cNvPr id="17" name="Text 13"/>
          <p:cNvSpPr txBox="1"/>
          <p:nvPr/>
        </p:nvSpPr>
        <p:spPr>
          <a:xfrm>
            <a:off x="6611112" y="42336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8" name="Text 14"/>
          <p:cNvSpPr txBox="1"/>
          <p:nvPr/>
        </p:nvSpPr>
        <p:spPr>
          <a:xfrm>
            <a:off x="7178040" y="4206240"/>
            <a:ext cx="4206240" cy="77724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Safety moments after every incident to share the specific learning with the whole team.</a:t>
            </a:r>
            <a:endParaRPr lang="en-US" sz="1400" dirty="0"/>
          </a:p>
        </p:txBody>
      </p:sp>
      <p:sp>
        <p:nvSpPr>
          <p:cNvPr id="19" name="Shape 15"/>
          <p:cNvSpPr/>
          <p:nvPr/>
        </p:nvSpPr>
        <p:spPr>
          <a:xfrm>
            <a:off x="6611112" y="5120640"/>
            <a:ext cx="4754880" cy="868680"/>
          </a:xfrm>
          <a:prstGeom prst="roundRect">
            <a:avLst>
              <a:gd name="adj" fmla="val 8421"/>
            </a:avLst>
          </a:prstGeom>
          <a:solidFill>
            <a:srgbClr val="FFFFFF"/>
          </a:solidFill>
          <a:ln w="12700">
            <a:solidFill>
              <a:srgbClr val="FFFFFF"/>
            </a:solidFill>
            <a:prstDash val="solid"/>
          </a:ln>
        </p:spPr>
      </p:sp>
      <p:sp>
        <p:nvSpPr>
          <p:cNvPr id="20" name="Text 16"/>
          <p:cNvSpPr txBox="1"/>
          <p:nvPr/>
        </p:nvSpPr>
        <p:spPr>
          <a:xfrm>
            <a:off x="6812280" y="5120640"/>
            <a:ext cx="2926080" cy="868680"/>
          </a:xfrm>
          <a:prstGeom prst="rect">
            <a:avLst/>
          </a:prstGeom>
          <a:noFill/>
          <a:ln/>
        </p:spPr>
        <p:txBody>
          <a:bodyPr wrap="square" lIns="0" tIns="0" rIns="0" bIns="0" rtlCol="0" anchor="ctr"/>
          <a:lstStyle/>
          <a:p>
            <a:pPr indent="0" marL="0">
              <a:buNone/>
            </a:pPr>
            <a:r>
              <a:rPr lang="en-US" sz="1300" b="1" dirty="0">
                <a:solidFill>
                  <a:srgbClr val="6B7280"/>
                </a:solidFill>
                <a:latin typeface="Calibri" pitchFamily="34" charset="0"/>
                <a:ea typeface="Calibri" pitchFamily="34" charset="-122"/>
                <a:cs typeface="Calibri" pitchFamily="34" charset="-120"/>
              </a:rPr>
              <a:t>STEP observations · MTD</a:t>
            </a:r>
            <a:endParaRPr lang="en-US" sz="1300" dirty="0"/>
          </a:p>
        </p:txBody>
      </p:sp>
      <p:sp>
        <p:nvSpPr>
          <p:cNvPr id="21" name="Text 17"/>
          <p:cNvSpPr txBox="1"/>
          <p:nvPr/>
        </p:nvSpPr>
        <p:spPr>
          <a:xfrm>
            <a:off x="9555480" y="5120640"/>
            <a:ext cx="1645920" cy="868680"/>
          </a:xfrm>
          <a:prstGeom prst="rect">
            <a:avLst/>
          </a:prstGeom>
          <a:noFill/>
          <a:ln/>
        </p:spPr>
        <p:txBody>
          <a:bodyPr wrap="square" lIns="0" tIns="0" rIns="0" bIns="0" rtlCol="0" anchor="ctr"/>
          <a:lstStyle/>
          <a:p>
            <a:pPr algn="r" indent="0" marL="0">
              <a:buNone/>
            </a:pPr>
            <a:r>
              <a:rPr lang="en-US" sz="2600" b="1" dirty="0">
                <a:solidFill>
                  <a:srgbClr val="D97706"/>
                </a:solidFill>
                <a:latin typeface="Calibri" pitchFamily="34" charset="0"/>
                <a:ea typeface="Calibri" pitchFamily="34" charset="-122"/>
                <a:cs typeface="Calibri" pitchFamily="34" charset="-120"/>
              </a:rPr>
              <a:t>TBC</a:t>
            </a:r>
            <a:endParaRPr lang="en-US" sz="2600" dirty="0"/>
          </a:p>
        </p:txBody>
      </p:sp>
      <p:sp>
        <p:nvSpPr>
          <p:cNvPr id="22" name="Text 18"/>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19"/>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21</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 95.8% incl. · 97.8% excl.</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5F3FF"/>
          </a:solidFill>
          <a:ln w="12700">
            <a:solidFill>
              <a:srgbClr val="F5F3FF"/>
            </a:solidFill>
            <a:prstDash val="solid"/>
          </a:ln>
        </p:spPr>
      </p:sp>
      <p:sp>
        <p:nvSpPr>
          <p:cNvPr id="23" name="Shape 20"/>
          <p:cNvSpPr/>
          <p:nvPr/>
        </p:nvSpPr>
        <p:spPr>
          <a:xfrm>
            <a:off x="731520" y="5404104"/>
            <a:ext cx="475488" cy="475488"/>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 (see Scanning slide).</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TF (terminal) and P&amp;D working collectively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Interline (IN) and transborder (TB) lates reviewed with the interline team — outside terminal control.</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Adj On Time dashboard — Mississauga, calendar 2026 through Sep 28. Partner carriers = "beyond interliner" freight. Late codes by reason: </a:t>
            </a:r>
            <a:pPr indent="0" marL="0">
              <a:buNone/>
            </a:pPr>
            <a:r>
              <a:rPr lang="en-US" sz="950" b="1" i="1" dirty="0">
                <a:solidFill>
                  <a:srgbClr val="D97706"/>
                </a:solidFill>
                <a:latin typeface="Calibri" pitchFamily="34" charset="0"/>
                <a:ea typeface="Calibri" pitchFamily="34" charset="-122"/>
                <a:cs typeface="Calibri" pitchFamily="34" charset="-120"/>
              </a:rPr>
              <a:t>TBC</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21</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2103120"/>
          </a:xfrm>
          <a:prstGeom prst="roundRect">
            <a:avLst>
              <a:gd name="adj" fmla="val 3478"/>
            </a:avLst>
          </a:prstGeom>
          <a:solidFill>
            <a:srgbClr val="F5F3FF"/>
          </a:solidFill>
          <a:ln w="12700">
            <a:solidFill>
              <a:srgbClr val="F5F3FF"/>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48256"/>
            <a:ext cx="3310128" cy="1627632"/>
          </a:xfrm>
          <a:prstGeom prst="rect">
            <a:avLst/>
          </a:prstGeom>
          <a:noFill/>
          <a:ln/>
        </p:spPr>
        <p:txBody>
          <a:bodyPr wrap="square" lIns="0" tIns="0" rIns="0" bIns="0" rtlCol="0" anchor="t"/>
          <a:lstStyle/>
          <a:p>
            <a:pPr indent="0" marL="0">
              <a:spcAft>
                <a:spcPts val="600"/>
              </a:spcAft>
              <a:buNone/>
            </a:pPr>
            <a:r>
              <a:rPr lang="en-US" sz="11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100" dirty="0"/>
          </a:p>
          <a:p>
            <a:pPr indent="0" marL="0">
              <a:buNone/>
            </a:pPr>
            <a:r>
              <a:rPr lang="en-US" sz="1100" b="1" dirty="0">
                <a:solidFill>
                  <a:srgbClr val="059669"/>
                </a:solidFill>
                <a:latin typeface="Calibri" pitchFamily="34" charset="0"/>
                <a:ea typeface="Calibri" pitchFamily="34" charset="-122"/>
                <a:cs typeface="Calibri" pitchFamily="34" charset="-120"/>
              </a:rPr>
              <a:t>Excluding false positives, missed PU % would be ≈2.6%.</a:t>
            </a:r>
            <a:endParaRPr lang="en-US" sz="11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955280" y="3886200"/>
          <a:ext cx="3685032" cy="914400"/>
        </p:xfrm>
        <a:graphic>
          <a:graphicData uri="http://schemas.openxmlformats.org/drawingml/2006/table">
            <a:tbl>
              <a:tblPr/>
              <a:tblGrid>
                <a:gridCol w="2130552"/>
                <a:gridCol w="731520"/>
                <a:gridCol w="822960"/>
              </a:tblGrid>
              <a:tr h="2057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CCC / made</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 issue – log…</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20574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Text 18"/>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 Mississauga, all dates through Sep 26, 2026. Sep 7 spike (85.7%) = Labour Day, low volume. *wk 39 partial.</a:t>
            </a:r>
            <a:endParaRPr lang="en-US" sz="950" dirty="0"/>
          </a:p>
        </p:txBody>
      </p:sp>
      <p:sp>
        <p:nvSpPr>
          <p:cNvPr id="24"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5"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21</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Scanning compliance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Scanning efficiency in/out of terminals · Sep 1–28, 2026 (28 days) · all trip types</a:t>
            </a:r>
            <a:endParaRPr lang="en-US" sz="1300" dirty="0"/>
          </a:p>
        </p:txBody>
      </p:sp>
      <p:sp>
        <p:nvSpPr>
          <p:cNvPr id="5" name="Shape 3"/>
          <p:cNvSpPr/>
          <p:nvPr/>
        </p:nvSpPr>
        <p:spPr>
          <a:xfrm>
            <a:off x="548640" y="1691640"/>
            <a:ext cx="3514344" cy="3154680"/>
          </a:xfrm>
          <a:prstGeom prst="roundRect">
            <a:avLst>
              <a:gd name="adj" fmla="val 2319"/>
            </a:avLst>
          </a:prstGeom>
          <a:solidFill>
            <a:srgbClr val="F3F4F6"/>
          </a:solidFill>
          <a:ln w="12700">
            <a:solidFill>
              <a:srgbClr val="F3F4F6"/>
            </a:solidFill>
            <a:prstDash val="solid"/>
          </a:ln>
        </p:spPr>
      </p:sp>
      <p:sp>
        <p:nvSpPr>
          <p:cNvPr id="6" name="Shape 4"/>
          <p:cNvSpPr/>
          <p:nvPr/>
        </p:nvSpPr>
        <p:spPr>
          <a:xfrm>
            <a:off x="777240" y="1920240"/>
            <a:ext cx="502920" cy="502920"/>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902970" y="2045970"/>
            <a:ext cx="251460" cy="251460"/>
          </a:xfrm>
          <a:prstGeom prst="rect">
            <a:avLst/>
          </a:prstGeom>
        </p:spPr>
      </p:pic>
      <p:sp>
        <p:nvSpPr>
          <p:cNvPr id="8" name="Text 5"/>
          <p:cNvSpPr txBox="1"/>
          <p:nvPr/>
        </p:nvSpPr>
        <p:spPr>
          <a:xfrm>
            <a:off x="1417320"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scanned</a:t>
            </a:r>
            <a:endParaRPr lang="en-US" sz="1500" dirty="0"/>
          </a:p>
        </p:txBody>
      </p:sp>
      <p:sp>
        <p:nvSpPr>
          <p:cNvPr id="9" name="Text 6"/>
          <p:cNvSpPr txBox="1"/>
          <p:nvPr/>
        </p:nvSpPr>
        <p:spPr>
          <a:xfrm>
            <a:off x="777240"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91.37%</a:t>
            </a:r>
            <a:endParaRPr lang="en-US" sz="4400" dirty="0"/>
          </a:p>
        </p:txBody>
      </p:sp>
      <p:sp>
        <p:nvSpPr>
          <p:cNvPr id="10" name="Text 7"/>
          <p:cNvSpPr txBox="1"/>
          <p:nvPr/>
        </p:nvSpPr>
        <p:spPr>
          <a:xfrm>
            <a:off x="731520"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48.22K of 52.77K FBs · fiscal YTD 91.55%</a:t>
            </a:r>
            <a:endParaRPr lang="en-US" sz="1050" dirty="0"/>
          </a:p>
        </p:txBody>
      </p:sp>
      <p:sp>
        <p:nvSpPr>
          <p:cNvPr id="11" name="Shape 8"/>
          <p:cNvSpPr/>
          <p:nvPr/>
        </p:nvSpPr>
        <p:spPr>
          <a:xfrm>
            <a:off x="777240" y="3703320"/>
            <a:ext cx="1600200" cy="329184"/>
          </a:xfrm>
          <a:prstGeom prst="roundRect">
            <a:avLst>
              <a:gd name="adj" fmla="val 22222"/>
            </a:avLst>
          </a:prstGeom>
          <a:solidFill>
            <a:srgbClr val="FEE2E2"/>
          </a:solidFill>
          <a:ln w="12700">
            <a:solidFill>
              <a:srgbClr val="FEE2E2"/>
            </a:solidFill>
            <a:prstDash val="solid"/>
          </a:ln>
        </p:spPr>
      </p:sp>
      <p:sp>
        <p:nvSpPr>
          <p:cNvPr id="12" name="Text 9"/>
          <p:cNvSpPr txBox="1"/>
          <p:nvPr/>
        </p:nvSpPr>
        <p:spPr>
          <a:xfrm>
            <a:off x="777240"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−0.22 pts</a:t>
            </a:r>
            <a:endParaRPr lang="en-US" sz="1200" dirty="0"/>
          </a:p>
        </p:txBody>
      </p:sp>
      <p:sp>
        <p:nvSpPr>
          <p:cNvPr id="13" name="Text 10"/>
          <p:cNvSpPr txBox="1"/>
          <p:nvPr/>
        </p:nvSpPr>
        <p:spPr>
          <a:xfrm>
            <a:off x="2468880"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14" name="Shape 11"/>
          <p:cNvSpPr/>
          <p:nvPr/>
        </p:nvSpPr>
        <p:spPr>
          <a:xfrm>
            <a:off x="777240" y="4123944"/>
            <a:ext cx="1600200" cy="329184"/>
          </a:xfrm>
          <a:prstGeom prst="roundRect">
            <a:avLst>
              <a:gd name="adj" fmla="val 22222"/>
            </a:avLst>
          </a:prstGeom>
          <a:solidFill>
            <a:srgbClr val="D1FAE5"/>
          </a:solidFill>
          <a:ln w="12700">
            <a:solidFill>
              <a:srgbClr val="D1FAE5"/>
            </a:solidFill>
            <a:prstDash val="solid"/>
          </a:ln>
        </p:spPr>
      </p:sp>
      <p:sp>
        <p:nvSpPr>
          <p:cNvPr id="15" name="Text 12"/>
          <p:cNvSpPr txBox="1"/>
          <p:nvPr/>
        </p:nvSpPr>
        <p:spPr>
          <a:xfrm>
            <a:off x="777240"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+0.47 pts</a:t>
            </a:r>
            <a:endParaRPr lang="en-US" sz="1200" dirty="0"/>
          </a:p>
        </p:txBody>
      </p:sp>
      <p:sp>
        <p:nvSpPr>
          <p:cNvPr id="16" name="Text 13"/>
          <p:cNvSpPr txBox="1"/>
          <p:nvPr/>
        </p:nvSpPr>
        <p:spPr>
          <a:xfrm>
            <a:off x="2468880"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17" name="Shape 14"/>
          <p:cNvSpPr/>
          <p:nvPr/>
        </p:nvSpPr>
        <p:spPr>
          <a:xfrm>
            <a:off x="4337304" y="1691640"/>
            <a:ext cx="3514344" cy="3154680"/>
          </a:xfrm>
          <a:prstGeom prst="roundRect">
            <a:avLst>
              <a:gd name="adj" fmla="val 2319"/>
            </a:avLst>
          </a:prstGeom>
          <a:solidFill>
            <a:srgbClr val="F3F4F6"/>
          </a:solidFill>
          <a:ln w="12700">
            <a:solidFill>
              <a:srgbClr val="F3F4F6"/>
            </a:solidFill>
            <a:prstDash val="solid"/>
          </a:ln>
        </p:spPr>
      </p:sp>
      <p:sp>
        <p:nvSpPr>
          <p:cNvPr id="18" name="Shape 15"/>
          <p:cNvSpPr/>
          <p:nvPr/>
        </p:nvSpPr>
        <p:spPr>
          <a:xfrm>
            <a:off x="4565904" y="1920240"/>
            <a:ext cx="502920" cy="502920"/>
          </a:xfrm>
          <a:prstGeom prst="ellipse">
            <a:avLst/>
          </a:prstGeom>
          <a:solidFill>
            <a:srgbClr val="EDE9FE"/>
          </a:solidFill>
          <a:ln w="12700">
            <a:solidFill>
              <a:srgbClr val="EDE9FE"/>
            </a:solidFill>
            <a:prstDash val="solid"/>
          </a:ln>
        </p:spPr>
      </p:sp>
      <p:pic>
        <p:nvPicPr>
          <p:cNvPr id="19" name="Image 1" descr="preencoded.png">    </p:cNvPr>
          <p:cNvPicPr>
            <a:picLocks noChangeAspect="1"/>
          </p:cNvPicPr>
          <p:nvPr/>
        </p:nvPicPr>
        <p:blipFill>
          <a:blip r:embed="rId2"/>
          <a:stretch>
            <a:fillRect/>
          </a:stretch>
        </p:blipFill>
        <p:spPr>
          <a:xfrm>
            <a:off x="4691634" y="2045970"/>
            <a:ext cx="251460" cy="251460"/>
          </a:xfrm>
          <a:prstGeom prst="rect">
            <a:avLst/>
          </a:prstGeom>
        </p:spPr>
      </p:pic>
      <p:sp>
        <p:nvSpPr>
          <p:cNvPr id="20" name="Text 16"/>
          <p:cNvSpPr txBox="1"/>
          <p:nvPr/>
        </p:nvSpPr>
        <p:spPr>
          <a:xfrm>
            <a:off x="5205984"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completely scanned</a:t>
            </a:r>
            <a:endParaRPr lang="en-US" sz="1500" dirty="0"/>
          </a:p>
        </p:txBody>
      </p:sp>
      <p:sp>
        <p:nvSpPr>
          <p:cNvPr id="21" name="Text 17"/>
          <p:cNvSpPr txBox="1"/>
          <p:nvPr/>
        </p:nvSpPr>
        <p:spPr>
          <a:xfrm>
            <a:off x="4565904"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90.50%</a:t>
            </a:r>
            <a:endParaRPr lang="en-US" sz="4400" dirty="0"/>
          </a:p>
        </p:txBody>
      </p:sp>
      <p:sp>
        <p:nvSpPr>
          <p:cNvPr id="22" name="Text 18"/>
          <p:cNvSpPr txBox="1"/>
          <p:nvPr/>
        </p:nvSpPr>
        <p:spPr>
          <a:xfrm>
            <a:off x="4520184"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47.76K of 52.77K FBs · fiscal YTD 90.54%</a:t>
            </a:r>
            <a:endParaRPr lang="en-US" sz="1050" dirty="0"/>
          </a:p>
        </p:txBody>
      </p:sp>
      <p:sp>
        <p:nvSpPr>
          <p:cNvPr id="23" name="Shape 19"/>
          <p:cNvSpPr/>
          <p:nvPr/>
        </p:nvSpPr>
        <p:spPr>
          <a:xfrm>
            <a:off x="4565904" y="3703320"/>
            <a:ext cx="1600200" cy="329184"/>
          </a:xfrm>
          <a:prstGeom prst="roundRect">
            <a:avLst>
              <a:gd name="adj" fmla="val 22222"/>
            </a:avLst>
          </a:prstGeom>
          <a:solidFill>
            <a:srgbClr val="FEE2E2"/>
          </a:solidFill>
          <a:ln w="12700">
            <a:solidFill>
              <a:srgbClr val="FEE2E2"/>
            </a:solidFill>
            <a:prstDash val="solid"/>
          </a:ln>
        </p:spPr>
      </p:sp>
      <p:sp>
        <p:nvSpPr>
          <p:cNvPr id="24" name="Text 20"/>
          <p:cNvSpPr txBox="1"/>
          <p:nvPr/>
        </p:nvSpPr>
        <p:spPr>
          <a:xfrm>
            <a:off x="4565904"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−0.20 pts</a:t>
            </a:r>
            <a:endParaRPr lang="en-US" sz="1200" dirty="0"/>
          </a:p>
        </p:txBody>
      </p:sp>
      <p:sp>
        <p:nvSpPr>
          <p:cNvPr id="25" name="Text 21"/>
          <p:cNvSpPr txBox="1"/>
          <p:nvPr/>
        </p:nvSpPr>
        <p:spPr>
          <a:xfrm>
            <a:off x="6257544"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26" name="Shape 22"/>
          <p:cNvSpPr/>
          <p:nvPr/>
        </p:nvSpPr>
        <p:spPr>
          <a:xfrm>
            <a:off x="4565904" y="4123944"/>
            <a:ext cx="1600200" cy="329184"/>
          </a:xfrm>
          <a:prstGeom prst="roundRect">
            <a:avLst>
              <a:gd name="adj" fmla="val 22222"/>
            </a:avLst>
          </a:prstGeom>
          <a:solidFill>
            <a:srgbClr val="D1FAE5"/>
          </a:solidFill>
          <a:ln w="12700">
            <a:solidFill>
              <a:srgbClr val="D1FAE5"/>
            </a:solidFill>
            <a:prstDash val="solid"/>
          </a:ln>
        </p:spPr>
      </p:sp>
      <p:sp>
        <p:nvSpPr>
          <p:cNvPr id="27" name="Text 23"/>
          <p:cNvSpPr txBox="1"/>
          <p:nvPr/>
        </p:nvSpPr>
        <p:spPr>
          <a:xfrm>
            <a:off x="4565904"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+0.60 pts</a:t>
            </a:r>
            <a:endParaRPr lang="en-US" sz="1200" dirty="0"/>
          </a:p>
        </p:txBody>
      </p:sp>
      <p:sp>
        <p:nvSpPr>
          <p:cNvPr id="28" name="Text 24"/>
          <p:cNvSpPr txBox="1"/>
          <p:nvPr/>
        </p:nvSpPr>
        <p:spPr>
          <a:xfrm>
            <a:off x="6257544"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29" name="Shape 25"/>
          <p:cNvSpPr/>
          <p:nvPr/>
        </p:nvSpPr>
        <p:spPr>
          <a:xfrm>
            <a:off x="8125968" y="1691640"/>
            <a:ext cx="3514344" cy="3154680"/>
          </a:xfrm>
          <a:prstGeom prst="roundRect">
            <a:avLst>
              <a:gd name="adj" fmla="val 2319"/>
            </a:avLst>
          </a:prstGeom>
          <a:solidFill>
            <a:srgbClr val="F3F4F6"/>
          </a:solidFill>
          <a:ln w="12700">
            <a:solidFill>
              <a:srgbClr val="F3F4F6"/>
            </a:solidFill>
            <a:prstDash val="solid"/>
          </a:ln>
        </p:spPr>
      </p:sp>
      <p:sp>
        <p:nvSpPr>
          <p:cNvPr id="30" name="Shape 26"/>
          <p:cNvSpPr/>
          <p:nvPr/>
        </p:nvSpPr>
        <p:spPr>
          <a:xfrm>
            <a:off x="8354568" y="1920240"/>
            <a:ext cx="502920" cy="502920"/>
          </a:xfrm>
          <a:prstGeom prst="ellipse">
            <a:avLst/>
          </a:prstGeom>
          <a:solidFill>
            <a:srgbClr val="EDE9FE"/>
          </a:solidFill>
          <a:ln w="12700">
            <a:solidFill>
              <a:srgbClr val="EDE9FE"/>
            </a:solidFill>
            <a:prstDash val="solid"/>
          </a:ln>
        </p:spPr>
      </p:sp>
      <p:pic>
        <p:nvPicPr>
          <p:cNvPr id="31" name="Image 2" descr="preencoded.png">    </p:cNvPr>
          <p:cNvPicPr>
            <a:picLocks noChangeAspect="1"/>
          </p:cNvPicPr>
          <p:nvPr/>
        </p:nvPicPr>
        <p:blipFill>
          <a:blip r:embed="rId3"/>
          <a:stretch>
            <a:fillRect/>
          </a:stretch>
        </p:blipFill>
        <p:spPr>
          <a:xfrm>
            <a:off x="8480298" y="2045970"/>
            <a:ext cx="251460" cy="251460"/>
          </a:xfrm>
          <a:prstGeom prst="rect">
            <a:avLst/>
          </a:prstGeom>
        </p:spPr>
      </p:pic>
      <p:sp>
        <p:nvSpPr>
          <p:cNvPr id="32" name="Text 27"/>
          <p:cNvSpPr txBox="1"/>
          <p:nvPr/>
        </p:nvSpPr>
        <p:spPr>
          <a:xfrm>
            <a:off x="8994648"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Items scanned</a:t>
            </a:r>
            <a:endParaRPr lang="en-US" sz="1500" dirty="0"/>
          </a:p>
        </p:txBody>
      </p:sp>
      <p:sp>
        <p:nvSpPr>
          <p:cNvPr id="33" name="Text 28"/>
          <p:cNvSpPr txBox="1"/>
          <p:nvPr/>
        </p:nvSpPr>
        <p:spPr>
          <a:xfrm>
            <a:off x="8354568"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90.66%</a:t>
            </a:r>
            <a:endParaRPr lang="en-US" sz="4400" dirty="0"/>
          </a:p>
        </p:txBody>
      </p:sp>
      <p:sp>
        <p:nvSpPr>
          <p:cNvPr id="34" name="Text 29"/>
          <p:cNvSpPr txBox="1"/>
          <p:nvPr/>
        </p:nvSpPr>
        <p:spPr>
          <a:xfrm>
            <a:off x="8308848"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73.85K of 81.46K items · fiscal YTD 90.61%</a:t>
            </a:r>
            <a:endParaRPr lang="en-US" sz="1050" dirty="0"/>
          </a:p>
        </p:txBody>
      </p:sp>
      <p:sp>
        <p:nvSpPr>
          <p:cNvPr id="35" name="Shape 30"/>
          <p:cNvSpPr/>
          <p:nvPr/>
        </p:nvSpPr>
        <p:spPr>
          <a:xfrm>
            <a:off x="8354568" y="3703320"/>
            <a:ext cx="1600200" cy="329184"/>
          </a:xfrm>
          <a:prstGeom prst="roundRect">
            <a:avLst>
              <a:gd name="adj" fmla="val 22222"/>
            </a:avLst>
          </a:prstGeom>
          <a:solidFill>
            <a:srgbClr val="FEE2E2"/>
          </a:solidFill>
          <a:ln w="12700">
            <a:solidFill>
              <a:srgbClr val="FEE2E2"/>
            </a:solidFill>
            <a:prstDash val="solid"/>
          </a:ln>
        </p:spPr>
      </p:sp>
      <p:sp>
        <p:nvSpPr>
          <p:cNvPr id="36" name="Text 31"/>
          <p:cNvSpPr txBox="1"/>
          <p:nvPr/>
        </p:nvSpPr>
        <p:spPr>
          <a:xfrm>
            <a:off x="8354568"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−0.13 pts</a:t>
            </a:r>
            <a:endParaRPr lang="en-US" sz="1200" dirty="0"/>
          </a:p>
        </p:txBody>
      </p:sp>
      <p:sp>
        <p:nvSpPr>
          <p:cNvPr id="37" name="Text 32"/>
          <p:cNvSpPr txBox="1"/>
          <p:nvPr/>
        </p:nvSpPr>
        <p:spPr>
          <a:xfrm>
            <a:off x="10046208"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38" name="Shape 33"/>
          <p:cNvSpPr/>
          <p:nvPr/>
        </p:nvSpPr>
        <p:spPr>
          <a:xfrm>
            <a:off x="8354568" y="4123944"/>
            <a:ext cx="1600200" cy="329184"/>
          </a:xfrm>
          <a:prstGeom prst="roundRect">
            <a:avLst>
              <a:gd name="adj" fmla="val 22222"/>
            </a:avLst>
          </a:prstGeom>
          <a:solidFill>
            <a:srgbClr val="D1FAE5"/>
          </a:solidFill>
          <a:ln w="12700">
            <a:solidFill>
              <a:srgbClr val="D1FAE5"/>
            </a:solidFill>
            <a:prstDash val="solid"/>
          </a:ln>
        </p:spPr>
      </p:sp>
      <p:sp>
        <p:nvSpPr>
          <p:cNvPr id="39" name="Text 34"/>
          <p:cNvSpPr txBox="1"/>
          <p:nvPr/>
        </p:nvSpPr>
        <p:spPr>
          <a:xfrm>
            <a:off x="8354568"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+1.54 pts</a:t>
            </a:r>
            <a:endParaRPr lang="en-US" sz="1200" dirty="0"/>
          </a:p>
        </p:txBody>
      </p:sp>
      <p:sp>
        <p:nvSpPr>
          <p:cNvPr id="40" name="Text 35"/>
          <p:cNvSpPr txBox="1"/>
          <p:nvPr/>
        </p:nvSpPr>
        <p:spPr>
          <a:xfrm>
            <a:off x="10046208"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41" name="Shape 36"/>
          <p:cNvSpPr/>
          <p:nvPr/>
        </p:nvSpPr>
        <p:spPr>
          <a:xfrm>
            <a:off x="548640" y="5029200"/>
            <a:ext cx="11091672" cy="960120"/>
          </a:xfrm>
          <a:prstGeom prst="roundRect">
            <a:avLst>
              <a:gd name="adj" fmla="val 7619"/>
            </a:avLst>
          </a:prstGeom>
          <a:solidFill>
            <a:srgbClr val="F5F3FF"/>
          </a:solidFill>
          <a:ln w="12700">
            <a:solidFill>
              <a:srgbClr val="F5F3FF"/>
            </a:solidFill>
            <a:prstDash val="solid"/>
          </a:ln>
        </p:spPr>
      </p:sp>
      <p:sp>
        <p:nvSpPr>
          <p:cNvPr id="42" name="Shape 37"/>
          <p:cNvSpPr/>
          <p:nvPr/>
        </p:nvSpPr>
        <p:spPr>
          <a:xfrm>
            <a:off x="777240" y="5239512"/>
            <a:ext cx="548640" cy="548640"/>
          </a:xfrm>
          <a:prstGeom prst="ellipse">
            <a:avLst/>
          </a:prstGeom>
          <a:solidFill>
            <a:srgbClr val="7C3AED"/>
          </a:solidFill>
          <a:ln w="12700">
            <a:solidFill>
              <a:srgbClr val="7C3AED"/>
            </a:solidFill>
            <a:prstDash val="solid"/>
          </a:ln>
        </p:spPr>
      </p:sp>
      <p:pic>
        <p:nvPicPr>
          <p:cNvPr id="43" name="Image 3" descr="preencoded.png">    </p:cNvPr>
          <p:cNvPicPr>
            <a:picLocks noChangeAspect="1"/>
          </p:cNvPicPr>
          <p:nvPr/>
        </p:nvPicPr>
        <p:blipFill>
          <a:blip r:embed="rId4"/>
          <a:stretch>
            <a:fillRect/>
          </a:stretch>
        </p:blipFill>
        <p:spPr>
          <a:xfrm>
            <a:off x="914400" y="5376672"/>
            <a:ext cx="274320" cy="274320"/>
          </a:xfrm>
          <a:prstGeom prst="rect">
            <a:avLst/>
          </a:prstGeom>
        </p:spPr>
      </p:pic>
      <p:sp>
        <p:nvSpPr>
          <p:cNvPr id="44" name="Text 38"/>
          <p:cNvSpPr txBox="1"/>
          <p:nvPr/>
        </p:nvSpPr>
        <p:spPr>
          <a:xfrm>
            <a:off x="1508760" y="5029200"/>
            <a:ext cx="9966960" cy="960120"/>
          </a:xfrm>
          <a:prstGeom prst="rect">
            <a:avLst/>
          </a:prstGeom>
          <a:noFill/>
          <a:ln/>
        </p:spPr>
        <p:txBody>
          <a:bodyPr wrap="square" lIns="0" tIns="0" rIns="0" bIns="0" rtlCol="0" anchor="ctr"/>
          <a:lstStyle/>
          <a:p>
            <a:pPr indent="0" marL="0">
              <a:buNone/>
            </a:pPr>
            <a:r>
              <a:rPr lang="en-US" sz="1350" b="1" dirty="0">
                <a:solidFill>
                  <a:srgbClr val="111827"/>
                </a:solidFill>
                <a:latin typeface="Calibri" pitchFamily="34" charset="0"/>
                <a:ea typeface="Calibri" pitchFamily="34" charset="-122"/>
                <a:cs typeface="Calibri" pitchFamily="34" charset="-120"/>
              </a:rPr>
              <a:t>September is in line with fiscal YTD (91.4% vs 91.6% of freight bills scanned). ≈4.55K freight bills were not scanned in/out Sep 1–28 — closing that gap also cuts 'already serviced' missed-PU false positives.</a:t>
            </a:r>
            <a:endParaRPr lang="en-US" sz="1350" dirty="0"/>
          </a:p>
          <a:p>
            <a:pPr indent="0" marL="0">
              <a:buNone/>
            </a:pPr>
            <a:r>
              <a:rPr lang="en-US" sz="1000" i="1" dirty="0">
                <a:solidFill>
                  <a:srgbClr val="6B7280"/>
                </a:solidFill>
                <a:latin typeface="Calibri" pitchFamily="34" charset="0"/>
                <a:ea typeface="Calibri" pitchFamily="34" charset="-122"/>
                <a:cs typeface="Calibri" pitchFamily="34" charset="-120"/>
              </a:rPr>
              <a:t>Calculated: 52.77K − 48.22K = 4.55K FBs not scanned (Sep 1–28)</a:t>
            </a:r>
            <a:endParaRPr lang="en-US" sz="1350" dirty="0"/>
          </a:p>
        </p:txBody>
      </p:sp>
      <p:sp>
        <p:nvSpPr>
          <p:cNvPr id="45" name="Text 39"/>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Compliance Reporting — Scanning Efficiency In/Out of Terminals · D&amp;R Commerce Mississauga · Sep 1–28, 2026 (28 days) · all trip types</a:t>
            </a:r>
            <a:endParaRPr lang="en-US" sz="950" dirty="0"/>
          </a:p>
        </p:txBody>
      </p:sp>
      <p:sp>
        <p:nvSpPr>
          <p:cNvPr id="46" name="Text 4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7" name="Text 4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21</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WATCH</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Monthly input</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5F3FF"/>
          </a:solidFill>
          <a:ln w="12700">
            <a:solidFill>
              <a:srgbClr val="F5F3FF"/>
            </a:solidFill>
            <a:prstDash val="solid"/>
          </a:ln>
        </p:spPr>
      </p:sp>
      <p:sp>
        <p:nvSpPr>
          <p:cNvPr id="30" name="Shape 28"/>
          <p:cNvSpPr/>
          <p:nvPr/>
        </p:nvSpPr>
        <p:spPr>
          <a:xfrm>
            <a:off x="6217920" y="4965192"/>
            <a:ext cx="566928" cy="566928"/>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21</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21</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Dock labour cost &amp; cost per unit</a:t>
            </a:r>
            <a:endParaRPr lang="en-US" sz="3000" dirty="0"/>
          </a:p>
        </p:txBody>
      </p:sp>
      <p:graphicFrame>
        <p:nvGraphicFramePr>
          <p:cNvPr id="4" name="Chart 0" descr=""/>
          <p:cNvGraphicFramePr/>
          <p:nvPr/>
        </p:nvGraphicFramePr>
        <p:xfrm>
          <a:off x="548640" y="1325880"/>
          <a:ext cx="585216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4754880"/>
            <a:ext cx="5852160" cy="1234440"/>
          </a:xfrm>
          <a:prstGeom prst="roundRect">
            <a:avLst>
              <a:gd name="adj" fmla="val 5926"/>
            </a:avLst>
          </a:prstGeom>
          <a:solidFill>
            <a:srgbClr val="ECFDF5"/>
          </a:solidFill>
          <a:ln w="12700">
            <a:solidFill>
              <a:srgbClr val="ECFDF5"/>
            </a:solidFill>
            <a:prstDash val="solid"/>
          </a:ln>
        </p:spPr>
      </p:sp>
      <p:sp>
        <p:nvSpPr>
          <p:cNvPr id="6" name="Shape 3"/>
          <p:cNvSpPr/>
          <p:nvPr/>
        </p:nvSpPr>
        <p:spPr>
          <a:xfrm>
            <a:off x="731520" y="4956048"/>
            <a:ext cx="502920" cy="50292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2"/>
          <a:stretch>
            <a:fillRect/>
          </a:stretch>
        </p:blipFill>
        <p:spPr>
          <a:xfrm>
            <a:off x="857250" y="5081778"/>
            <a:ext cx="251460" cy="251460"/>
          </a:xfrm>
          <a:prstGeom prst="rect">
            <a:avLst/>
          </a:prstGeom>
        </p:spPr>
      </p:pic>
      <p:sp>
        <p:nvSpPr>
          <p:cNvPr id="8" name="Text 4"/>
          <p:cNvSpPr txBox="1"/>
          <p:nvPr/>
        </p:nvSpPr>
        <p:spPr>
          <a:xfrm>
            <a:off x="1417320" y="4846320"/>
            <a:ext cx="4846320" cy="22860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Cost per unit</a:t>
            </a:r>
            <a:endParaRPr lang="en-US" sz="1200" dirty="0"/>
          </a:p>
        </p:txBody>
      </p:sp>
      <p:sp>
        <p:nvSpPr>
          <p:cNvPr id="9" name="Text 5"/>
          <p:cNvSpPr txBox="1"/>
          <p:nvPr/>
        </p:nvSpPr>
        <p:spPr>
          <a:xfrm>
            <a:off x="1417320" y="5074920"/>
            <a:ext cx="4846320" cy="384048"/>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$2.64 → $2.19</a:t>
            </a:r>
            <a:pPr indent="0" marL="0">
              <a:buNone/>
            </a:pPr>
            <a:r>
              <a:rPr lang="en-US" sz="1500" b="1" dirty="0">
                <a:solidFill>
                  <a:srgbClr val="059669"/>
                </a:solidFill>
                <a:latin typeface="Calibri" pitchFamily="34" charset="0"/>
                <a:ea typeface="Calibri" pitchFamily="34" charset="-122"/>
                <a:cs typeface="Calibri" pitchFamily="34" charset="-120"/>
              </a:rPr>
              <a:t>   −$0.44 (−16.7%)</a:t>
            </a:r>
            <a:endParaRPr lang="en-US" sz="2200" dirty="0"/>
          </a:p>
        </p:txBody>
      </p:sp>
      <p:sp>
        <p:nvSpPr>
          <p:cNvPr id="10" name="Text 6"/>
          <p:cNvSpPr txBox="1"/>
          <p:nvPr/>
        </p:nvSpPr>
        <p:spPr>
          <a:xfrm>
            <a:off x="1417320" y="5468112"/>
            <a:ext cx="4892040" cy="246888"/>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At F26's CPU, F27's 60,933 units would have cost ≈$26.9K more.</a:t>
            </a:r>
            <a:endParaRPr lang="en-US" sz="1050" dirty="0"/>
          </a:p>
        </p:txBody>
      </p:sp>
      <p:sp>
        <p:nvSpPr>
          <p:cNvPr id="11" name="Text 7"/>
          <p:cNvSpPr txBox="1"/>
          <p:nvPr/>
        </p:nvSpPr>
        <p:spPr>
          <a:xfrm>
            <a:off x="1417320" y="5715000"/>
            <a:ext cx="484632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(F26 CPU − F27 CPU) × F27 units</a:t>
            </a:r>
            <a:endParaRPr lang="en-US" sz="900" dirty="0"/>
          </a:p>
        </p:txBody>
      </p:sp>
      <p:sp>
        <p:nvSpPr>
          <p:cNvPr id="12" name="Shape 8"/>
          <p:cNvSpPr/>
          <p:nvPr/>
        </p:nvSpPr>
        <p:spPr>
          <a:xfrm>
            <a:off x="6675120" y="1371600"/>
            <a:ext cx="4965192" cy="987552"/>
          </a:xfrm>
          <a:prstGeom prst="roundRect">
            <a:avLst>
              <a:gd name="adj" fmla="val 7407"/>
            </a:avLst>
          </a:prstGeom>
          <a:solidFill>
            <a:srgbClr val="F3F4F6"/>
          </a:solidFill>
          <a:ln w="12700">
            <a:solidFill>
              <a:srgbClr val="F3F4F6"/>
            </a:solidFill>
            <a:prstDash val="solid"/>
          </a:ln>
        </p:spPr>
      </p:sp>
      <p:sp>
        <p:nvSpPr>
          <p:cNvPr id="13" name="Text 9"/>
          <p:cNvSpPr txBox="1"/>
          <p:nvPr/>
        </p:nvSpPr>
        <p:spPr>
          <a:xfrm>
            <a:off x="6858000" y="149961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Total dock labour</a:t>
            </a:r>
            <a:endParaRPr lang="en-US" sz="1300" dirty="0"/>
          </a:p>
        </p:txBody>
      </p:sp>
      <p:sp>
        <p:nvSpPr>
          <p:cNvPr id="14" name="Text 10"/>
          <p:cNvSpPr txBox="1"/>
          <p:nvPr/>
        </p:nvSpPr>
        <p:spPr>
          <a:xfrm>
            <a:off x="6858000" y="1938528"/>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$133,692 MTD vs $199,739 F26</a:t>
            </a:r>
            <a:endParaRPr lang="en-US" sz="1100" dirty="0"/>
          </a:p>
        </p:txBody>
      </p:sp>
      <p:sp>
        <p:nvSpPr>
          <p:cNvPr id="15" name="Text 11"/>
          <p:cNvSpPr txBox="1"/>
          <p:nvPr/>
        </p:nvSpPr>
        <p:spPr>
          <a:xfrm>
            <a:off x="9418320" y="1371600"/>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−$66,047</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−33.1%</a:t>
            </a:r>
            <a:endParaRPr lang="en-US" sz="2400" dirty="0"/>
          </a:p>
        </p:txBody>
      </p:sp>
      <p:sp>
        <p:nvSpPr>
          <p:cNvPr id="16" name="Shape 12"/>
          <p:cNvSpPr/>
          <p:nvPr/>
        </p:nvSpPr>
        <p:spPr>
          <a:xfrm>
            <a:off x="6675120" y="2496312"/>
            <a:ext cx="4965192" cy="987552"/>
          </a:xfrm>
          <a:prstGeom prst="roundRect">
            <a:avLst>
              <a:gd name="adj" fmla="val 7407"/>
            </a:avLst>
          </a:prstGeom>
          <a:solidFill>
            <a:srgbClr val="F3F4F6"/>
          </a:solidFill>
          <a:ln w="12700">
            <a:solidFill>
              <a:srgbClr val="F3F4F6"/>
            </a:solidFill>
            <a:prstDash val="solid"/>
          </a:ln>
        </p:spPr>
      </p:sp>
      <p:sp>
        <p:nvSpPr>
          <p:cNvPr id="17" name="Text 13"/>
          <p:cNvSpPr txBox="1"/>
          <p:nvPr/>
        </p:nvSpPr>
        <p:spPr>
          <a:xfrm>
            <a:off x="6858000" y="2624328"/>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Agency wages</a:t>
            </a:r>
            <a:endParaRPr lang="en-US" sz="1300" dirty="0"/>
          </a:p>
        </p:txBody>
      </p:sp>
      <p:sp>
        <p:nvSpPr>
          <p:cNvPr id="18" name="Text 14"/>
          <p:cNvSpPr txBox="1"/>
          <p:nvPr/>
        </p:nvSpPr>
        <p:spPr>
          <a:xfrm>
            <a:off x="6858000" y="3063240"/>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$74,775 MTD vs $130,458 F26</a:t>
            </a:r>
            <a:endParaRPr lang="en-US" sz="1100" dirty="0"/>
          </a:p>
        </p:txBody>
      </p:sp>
      <p:sp>
        <p:nvSpPr>
          <p:cNvPr id="19" name="Text 15"/>
          <p:cNvSpPr txBox="1"/>
          <p:nvPr/>
        </p:nvSpPr>
        <p:spPr>
          <a:xfrm>
            <a:off x="9418320" y="2496312"/>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−$55,683</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−42.7%</a:t>
            </a:r>
            <a:endParaRPr lang="en-US" sz="2400" dirty="0"/>
          </a:p>
        </p:txBody>
      </p:sp>
      <p:sp>
        <p:nvSpPr>
          <p:cNvPr id="20" name="Shape 16"/>
          <p:cNvSpPr/>
          <p:nvPr/>
        </p:nvSpPr>
        <p:spPr>
          <a:xfrm>
            <a:off x="6675120" y="3621024"/>
            <a:ext cx="4965192" cy="987552"/>
          </a:xfrm>
          <a:prstGeom prst="roundRect">
            <a:avLst>
              <a:gd name="adj" fmla="val 7407"/>
            </a:avLst>
          </a:prstGeom>
          <a:solidFill>
            <a:srgbClr val="F3F4F6"/>
          </a:solidFill>
          <a:ln w="12700">
            <a:solidFill>
              <a:srgbClr val="F3F4F6"/>
            </a:solidFill>
            <a:prstDash val="solid"/>
          </a:ln>
        </p:spPr>
      </p:sp>
      <p:sp>
        <p:nvSpPr>
          <p:cNvPr id="21" name="Text 17"/>
          <p:cNvSpPr txBox="1"/>
          <p:nvPr/>
        </p:nvSpPr>
        <p:spPr>
          <a:xfrm>
            <a:off x="6858000" y="3749040"/>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Company wages</a:t>
            </a:r>
            <a:endParaRPr lang="en-US" sz="1300" dirty="0"/>
          </a:p>
        </p:txBody>
      </p:sp>
      <p:sp>
        <p:nvSpPr>
          <p:cNvPr id="22" name="Text 18"/>
          <p:cNvSpPr txBox="1"/>
          <p:nvPr/>
        </p:nvSpPr>
        <p:spPr>
          <a:xfrm>
            <a:off x="6858000" y="4187952"/>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$58,917 MTD vs $69,281 F26</a:t>
            </a:r>
            <a:endParaRPr lang="en-US" sz="1100" dirty="0"/>
          </a:p>
        </p:txBody>
      </p:sp>
      <p:sp>
        <p:nvSpPr>
          <p:cNvPr id="23" name="Text 19"/>
          <p:cNvSpPr txBox="1"/>
          <p:nvPr/>
        </p:nvSpPr>
        <p:spPr>
          <a:xfrm>
            <a:off x="9418320" y="3621024"/>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−$10,364</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−15.0%</a:t>
            </a:r>
            <a:endParaRPr lang="en-US" sz="2400" dirty="0"/>
          </a:p>
        </p:txBody>
      </p:sp>
      <p:sp>
        <p:nvSpPr>
          <p:cNvPr id="24" name="Shape 20"/>
          <p:cNvSpPr/>
          <p:nvPr/>
        </p:nvSpPr>
        <p:spPr>
          <a:xfrm>
            <a:off x="6675120" y="4754880"/>
            <a:ext cx="4965192" cy="1234440"/>
          </a:xfrm>
          <a:prstGeom prst="roundRect">
            <a:avLst>
              <a:gd name="adj" fmla="val 5926"/>
            </a:avLst>
          </a:prstGeom>
          <a:solidFill>
            <a:srgbClr val="F3F4F6"/>
          </a:solidFill>
          <a:ln w="12700">
            <a:solidFill>
              <a:srgbClr val="F3F4F6"/>
            </a:solidFill>
            <a:prstDash val="solid"/>
          </a:ln>
        </p:spPr>
      </p:sp>
      <p:sp>
        <p:nvSpPr>
          <p:cNvPr id="25" name="Text 21"/>
          <p:cNvSpPr txBox="1"/>
          <p:nvPr/>
        </p:nvSpPr>
        <p:spPr>
          <a:xfrm>
            <a:off x="6858000" y="488289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 handled</a:t>
            </a:r>
            <a:endParaRPr lang="en-US" sz="1300" dirty="0"/>
          </a:p>
        </p:txBody>
      </p:sp>
      <p:sp>
        <p:nvSpPr>
          <p:cNvPr id="26" name="Text 22"/>
          <p:cNvSpPr txBox="1"/>
          <p:nvPr/>
        </p:nvSpPr>
        <p:spPr>
          <a:xfrm>
            <a:off x="6858000" y="5568696"/>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60,933 MTD vs 75,801 F26</a:t>
            </a:r>
            <a:endParaRPr lang="en-US" sz="1100" dirty="0"/>
          </a:p>
        </p:txBody>
      </p:sp>
      <p:sp>
        <p:nvSpPr>
          <p:cNvPr id="27" name="Text 23"/>
          <p:cNvSpPr txBox="1"/>
          <p:nvPr/>
        </p:nvSpPr>
        <p:spPr>
          <a:xfrm>
            <a:off x="9418320" y="4754880"/>
            <a:ext cx="2039112" cy="1234440"/>
          </a:xfrm>
          <a:prstGeom prst="rect">
            <a:avLst/>
          </a:prstGeom>
          <a:noFill/>
          <a:ln/>
        </p:spPr>
        <p:txBody>
          <a:bodyPr wrap="square" lIns="0" tIns="0" rIns="0" bIns="0" rtlCol="0" anchor="ctr"/>
          <a:lstStyle/>
          <a:p>
            <a:pPr algn="r" indent="0" marL="0">
              <a:buNone/>
            </a:pPr>
            <a:r>
              <a:rPr lang="en-US" sz="2400" b="1" dirty="0">
                <a:solidFill>
                  <a:srgbClr val="1F2937"/>
                </a:solidFill>
                <a:latin typeface="Calibri" pitchFamily="34" charset="0"/>
                <a:ea typeface="Calibri" pitchFamily="34" charset="-122"/>
                <a:cs typeface="Calibri" pitchFamily="34" charset="-120"/>
              </a:rPr>
              <a:t>−14,868</a:t>
            </a:r>
            <a:endParaRPr lang="en-US" sz="2400" dirty="0"/>
          </a:p>
          <a:p>
            <a:pPr algn="r" indent="0" marL="0">
              <a:buNone/>
            </a:pPr>
            <a:r>
              <a:rPr lang="en-US" sz="1300" b="1" dirty="0">
                <a:solidFill>
                  <a:srgbClr val="1F2937"/>
                </a:solidFill>
                <a:latin typeface="Calibri" pitchFamily="34" charset="0"/>
                <a:ea typeface="Calibri" pitchFamily="34" charset="-122"/>
                <a:cs typeface="Calibri" pitchFamily="34" charset="-120"/>
              </a:rPr>
              <a:t>−19.6%</a:t>
            </a:r>
            <a:endParaRPr lang="en-US" sz="2400" dirty="0"/>
          </a:p>
        </p:txBody>
      </p:sp>
      <p:sp>
        <p:nvSpPr>
          <p:cNvPr id="28" name="Text 24"/>
          <p:cNvSpPr txBox="1"/>
          <p:nvPr/>
        </p:nvSpPr>
        <p:spPr>
          <a:xfrm>
            <a:off x="548640" y="6089904"/>
            <a:ext cx="11091672" cy="274320"/>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F26 = full September; F27 = MTD to Sep 26 (18 of 21 working days). Source: SCA Cost-per-PRO report &amp; productivity dashboard — Mississauga, Sep 26, 2026.</a:t>
            </a:r>
            <a:endParaRPr lang="en-US" sz="950" dirty="0"/>
          </a:p>
        </p:txBody>
      </p:sp>
      <p:sp>
        <p:nvSpPr>
          <p:cNvPr id="29"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21</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Labour distribution — company employees</a:t>
            </a:r>
            <a:endParaRPr lang="en-US" sz="3000" dirty="0"/>
          </a:p>
        </p:txBody>
      </p:sp>
      <p:sp>
        <p:nvSpPr>
          <p:cNvPr id="4" name="Text 2"/>
          <p:cNvSpPr txBox="1"/>
          <p:nvPr/>
        </p:nvSpPr>
        <p:spPr>
          <a:xfrm>
            <a:off x="548640" y="1243584"/>
            <a:ext cx="73152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Q1 F26 vs Q1 F27 (Jul–Sep; F27 to date)</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132320" cy="914400"/>
        </p:xfrm>
        <a:graphic>
          <a:graphicData uri="http://schemas.openxmlformats.org/drawingml/2006/table">
            <a:tbl>
              <a:tblPr/>
              <a:tblGrid>
                <a:gridCol w="2743200"/>
                <a:gridCol w="1463040"/>
                <a:gridCol w="1600200"/>
                <a:gridCol w="1325880"/>
              </a:tblGrid>
              <a:tr h="30175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Metric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F27 (to date)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Hours worked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5.7K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6.1K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Total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$143.5K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$155.3K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+$11.8K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Regular cost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$140.9K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$152.3K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56.7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62.3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Head count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 of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Dock Operations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5,205.40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5,207.42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+2.02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$131,452.77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$133,939.99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+$2,487.22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OT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$2,203.88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$2,386.86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+$182.98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lead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112.85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Terminal Admin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446.35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908.55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+462.20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Terminal Admin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$9,490.76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$18,400.58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+$8,909.82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6" name="Shape 3"/>
          <p:cNvSpPr/>
          <p:nvPr/>
        </p:nvSpPr>
        <p:spPr>
          <a:xfrm>
            <a:off x="8275320" y="1645920"/>
            <a:ext cx="3364992" cy="960120"/>
          </a:xfrm>
          <a:prstGeom prst="roundRect">
            <a:avLst>
              <a:gd name="adj" fmla="val 7619"/>
            </a:avLst>
          </a:prstGeom>
          <a:solidFill>
            <a:srgbClr val="F3F4F6"/>
          </a:solidFill>
          <a:ln w="12700">
            <a:solidFill>
              <a:srgbClr val="F3F4F6"/>
            </a:solidFill>
            <a:prstDash val="solid"/>
          </a:ln>
        </p:spPr>
      </p:sp>
      <p:sp>
        <p:nvSpPr>
          <p:cNvPr id="7" name="Text 4"/>
          <p:cNvSpPr txBox="1"/>
          <p:nvPr/>
        </p:nvSpPr>
        <p:spPr>
          <a:xfrm>
            <a:off x="8458200" y="173736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Company dock hours</a:t>
            </a:r>
            <a:endParaRPr lang="en-US" sz="1100" dirty="0"/>
          </a:p>
        </p:txBody>
      </p:sp>
      <p:sp>
        <p:nvSpPr>
          <p:cNvPr id="8" name="Text 5"/>
          <p:cNvSpPr txBox="1"/>
          <p:nvPr/>
        </p:nvSpPr>
        <p:spPr>
          <a:xfrm>
            <a:off x="8458200" y="197510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5,205 → 5,207</a:t>
            </a:r>
            <a:endParaRPr lang="en-US" sz="2000" dirty="0"/>
          </a:p>
        </p:txBody>
      </p:sp>
      <p:sp>
        <p:nvSpPr>
          <p:cNvPr id="9" name="Text 6"/>
          <p:cNvSpPr txBox="1"/>
          <p:nvPr/>
        </p:nvSpPr>
        <p:spPr>
          <a:xfrm>
            <a:off x="8458200" y="2340864"/>
            <a:ext cx="3017520" cy="219456"/>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Flat year over year (+0.04%)</a:t>
            </a:r>
            <a:endParaRPr lang="en-US" sz="1050" dirty="0"/>
          </a:p>
        </p:txBody>
      </p:sp>
      <p:sp>
        <p:nvSpPr>
          <p:cNvPr id="10" name="Shape 7"/>
          <p:cNvSpPr/>
          <p:nvPr/>
        </p:nvSpPr>
        <p:spPr>
          <a:xfrm>
            <a:off x="8275320" y="2697480"/>
            <a:ext cx="3364992" cy="960120"/>
          </a:xfrm>
          <a:prstGeom prst="roundRect">
            <a:avLst>
              <a:gd name="adj" fmla="val 7619"/>
            </a:avLst>
          </a:prstGeom>
          <a:solidFill>
            <a:srgbClr val="F3F4F6"/>
          </a:solidFill>
          <a:ln w="12700">
            <a:solidFill>
              <a:srgbClr val="F3F4F6"/>
            </a:solidFill>
            <a:prstDash val="solid"/>
          </a:ln>
        </p:spPr>
      </p:sp>
      <p:sp>
        <p:nvSpPr>
          <p:cNvPr id="11" name="Text 8"/>
          <p:cNvSpPr txBox="1"/>
          <p:nvPr/>
        </p:nvSpPr>
        <p:spPr>
          <a:xfrm>
            <a:off x="8458200" y="278892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Terminal admin hours</a:t>
            </a:r>
            <a:endParaRPr lang="en-US" sz="1100" dirty="0"/>
          </a:p>
        </p:txBody>
      </p:sp>
      <p:sp>
        <p:nvSpPr>
          <p:cNvPr id="12" name="Text 9"/>
          <p:cNvSpPr txBox="1"/>
          <p:nvPr/>
        </p:nvSpPr>
        <p:spPr>
          <a:xfrm>
            <a:off x="8458200" y="302666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446 → 909</a:t>
            </a:r>
            <a:endParaRPr lang="en-US" sz="2000" dirty="0"/>
          </a:p>
        </p:txBody>
      </p:sp>
      <p:sp>
        <p:nvSpPr>
          <p:cNvPr id="13" name="Text 10"/>
          <p:cNvSpPr txBox="1"/>
          <p:nvPr/>
        </p:nvSpPr>
        <p:spPr>
          <a:xfrm>
            <a:off x="8458200" y="3392424"/>
            <a:ext cx="3017520" cy="219456"/>
          </a:xfrm>
          <a:prstGeom prst="rect">
            <a:avLst/>
          </a:prstGeom>
          <a:noFill/>
          <a:ln/>
        </p:spPr>
        <p:txBody>
          <a:bodyPr wrap="square" lIns="0" tIns="0" rIns="0" bIns="0"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+104% hours — staffing change</a:t>
            </a:r>
            <a:endParaRPr lang="en-US" sz="1050" dirty="0"/>
          </a:p>
        </p:txBody>
      </p:sp>
      <p:graphicFrame>
        <p:nvGraphicFramePr>
          <p:cNvPr id="14" name="Chart 0" descr=""/>
          <p:cNvGraphicFramePr/>
          <p:nvPr/>
        </p:nvGraphicFramePr>
        <p:xfrm>
          <a:off x="8275320" y="3749040"/>
          <a:ext cx="3364992" cy="146304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5303520"/>
            <a:ext cx="3364992" cy="713232"/>
          </a:xfrm>
          <a:prstGeom prst="roundRect">
            <a:avLst>
              <a:gd name="adj" fmla="val 10256"/>
            </a:avLst>
          </a:prstGeom>
          <a:solidFill>
            <a:srgbClr val="F5F3FF"/>
          </a:solidFill>
          <a:ln w="12700">
            <a:solidFill>
              <a:srgbClr val="F5F3FF"/>
            </a:solidFill>
            <a:prstDash val="solid"/>
          </a:ln>
        </p:spPr>
      </p:sp>
      <p:sp>
        <p:nvSpPr>
          <p:cNvPr id="16" name="Text 12"/>
          <p:cNvSpPr txBox="1"/>
          <p:nvPr/>
        </p:nvSpPr>
        <p:spPr>
          <a:xfrm>
            <a:off x="8412480" y="5330952"/>
            <a:ext cx="3108960" cy="658368"/>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Admin cost doubled vs F26 but is still below F24 (≈$21.5K) and F25 (≈$22.7K) — F26 was the unusually low year.</a:t>
            </a:r>
            <a:endParaRPr lang="en-US" sz="1050" dirty="0"/>
          </a:p>
        </p:txBody>
      </p:sp>
      <p:sp>
        <p:nvSpPr>
          <p:cNvPr id="17" name="Text 1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Terminal Labor Distribution Report — Mississauga; changes calculated. Q1 admin cost F24–F26 calculated from the weekly Terminal Admin cost report (fiscal weeks 1–13).</a:t>
            </a:r>
            <a:endParaRPr lang="en-US" sz="950" dirty="0"/>
          </a:p>
        </p:txBody>
      </p:sp>
      <p:sp>
        <p:nvSpPr>
          <p:cNvPr id="18" name="Text 1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21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EDE9FE"/>
          </a:solidFill>
          <a:ln w="12700">
            <a:solidFill>
              <a:srgbClr val="EDE9FE"/>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EDE9FE"/>
          </a:solidFill>
          <a:ln w="12700">
            <a:solidFill>
              <a:srgbClr val="EDE9FE"/>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with target dock-hour bands per shift.</a:t>
            </a:r>
            <a:endParaRPr lang="en-US" sz="1400" dirty="0"/>
          </a:p>
        </p:txBody>
      </p:sp>
      <p:sp>
        <p:nvSpPr>
          <p:cNvPr id="10" name="Shape 6"/>
          <p:cNvSpPr/>
          <p:nvPr/>
        </p:nvSpPr>
        <p:spPr>
          <a:xfrm>
            <a:off x="548640" y="3044952"/>
            <a:ext cx="475488" cy="475488"/>
          </a:xfrm>
          <a:prstGeom prst="ellipse">
            <a:avLst/>
          </a:prstGeom>
          <a:solidFill>
            <a:srgbClr val="EDE9FE"/>
          </a:solidFill>
          <a:ln w="12700">
            <a:solidFill>
              <a:srgbClr val="EDE9FE"/>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Consolidating large-customer freight into fewer trailers.</a:t>
            </a:r>
            <a:endParaRPr lang="en-US" sz="1400" dirty="0"/>
          </a:p>
        </p:txBody>
      </p:sp>
      <p:sp>
        <p:nvSpPr>
          <p:cNvPr id="13" name="Shape 8"/>
          <p:cNvSpPr/>
          <p:nvPr/>
        </p:nvSpPr>
        <p:spPr>
          <a:xfrm>
            <a:off x="548640" y="3813048"/>
            <a:ext cx="475488" cy="475488"/>
          </a:xfrm>
          <a:prstGeom prst="ellipse">
            <a:avLst/>
          </a:prstGeom>
          <a:solidFill>
            <a:srgbClr val="EDE9FE"/>
          </a:solidFill>
          <a:ln w="12700">
            <a:solidFill>
              <a:srgbClr val="EDE9FE"/>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Demurrage and TL billing captured on every eligible shipment.</a:t>
            </a:r>
            <a:endParaRPr lang="en-US" sz="1400" dirty="0"/>
          </a:p>
        </p:txBody>
      </p:sp>
      <p:sp>
        <p:nvSpPr>
          <p:cNvPr id="16" name="Shape 10"/>
          <p:cNvSpPr/>
          <p:nvPr/>
        </p:nvSpPr>
        <p:spPr>
          <a:xfrm>
            <a:off x="548640" y="4581144"/>
            <a:ext cx="475488" cy="475488"/>
          </a:xfrm>
          <a:prstGeom prst="ellipse">
            <a:avLst/>
          </a:prstGeom>
          <a:solidFill>
            <a:srgbClr val="EDE9FE"/>
          </a:solidFill>
          <a:ln w="12700">
            <a:solidFill>
              <a:srgbClr val="EDE9FE"/>
            </a:solidFill>
            <a:prstDash val="solid"/>
          </a:ln>
        </p:spPr>
      </p:sp>
      <p:pic>
        <p:nvPicPr>
          <p:cNvPr id="17" name="Image 4" descr="preencoded.png">    </p:cNvPr>
          <p:cNvPicPr>
            <a:picLocks noChangeAspect="1"/>
          </p:cNvPicPr>
          <p:nvPr/>
        </p:nvPicPr>
        <p:blipFill>
          <a:blip r:embed="rId5"/>
          <a:stretch>
            <a:fillRect/>
          </a:stretch>
        </p:blipFill>
        <p:spPr>
          <a:xfrm>
            <a:off x="667512" y="4700016"/>
            <a:ext cx="237744" cy="237744"/>
          </a:xfrm>
          <a:prstGeom prst="rect">
            <a:avLst/>
          </a:prstGeom>
        </p:spPr>
      </p:pic>
      <p:sp>
        <p:nvSpPr>
          <p:cNvPr id="18" name="Text 11"/>
          <p:cNvSpPr txBox="1"/>
          <p:nvPr/>
        </p:nvSpPr>
        <p:spPr>
          <a:xfrm>
            <a:off x="1234440" y="4489704"/>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 audit on freight bills (appointment, tailgate, storage, inside delivery) before invoicing.</a:t>
            </a:r>
            <a:endParaRPr lang="en-US" sz="1400" dirty="0"/>
          </a:p>
        </p:txBody>
      </p:sp>
      <p:sp>
        <p:nvSpPr>
          <p:cNvPr id="19" name="Shape 12"/>
          <p:cNvSpPr/>
          <p:nvPr/>
        </p:nvSpPr>
        <p:spPr>
          <a:xfrm>
            <a:off x="548640" y="5349240"/>
            <a:ext cx="475488" cy="475488"/>
          </a:xfrm>
          <a:prstGeom prst="ellipse">
            <a:avLst/>
          </a:prstGeom>
          <a:solidFill>
            <a:srgbClr val="EDE9FE"/>
          </a:solidFill>
          <a:ln w="12700">
            <a:solidFill>
              <a:srgbClr val="EDE9FE"/>
            </a:solidFill>
            <a:prstDash val="solid"/>
          </a:ln>
        </p:spPr>
      </p:sp>
      <p:pic>
        <p:nvPicPr>
          <p:cNvPr id="20" name="Image 5" descr="preencoded.png">    </p:cNvPr>
          <p:cNvPicPr>
            <a:picLocks noChangeAspect="1"/>
          </p:cNvPicPr>
          <p:nvPr/>
        </p:nvPicPr>
        <p:blipFill>
          <a:blip r:embed="rId6"/>
          <a:stretch>
            <a:fillRect/>
          </a:stretch>
        </p:blipFill>
        <p:spPr>
          <a:xfrm>
            <a:off x="667512" y="5468112"/>
            <a:ext cx="237744" cy="237744"/>
          </a:xfrm>
          <a:prstGeom prst="rect">
            <a:avLst/>
          </a:prstGeom>
        </p:spPr>
      </p:pic>
      <p:sp>
        <p:nvSpPr>
          <p:cNvPr id="21" name="Text 13"/>
          <p:cNvSpPr txBox="1"/>
          <p:nvPr/>
        </p:nvSpPr>
        <p:spPr>
          <a:xfrm>
            <a:off x="1234440" y="525780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400" dirty="0"/>
          </a:p>
        </p:txBody>
      </p:sp>
      <p:sp>
        <p:nvSpPr>
          <p:cNvPr id="22" name="Shape 14"/>
          <p:cNvSpPr/>
          <p:nvPr/>
        </p:nvSpPr>
        <p:spPr>
          <a:xfrm>
            <a:off x="7772400" y="1417320"/>
            <a:ext cx="3867912" cy="4526280"/>
          </a:xfrm>
          <a:prstGeom prst="roundRect">
            <a:avLst>
              <a:gd name="adj" fmla="val 1891"/>
            </a:avLst>
          </a:prstGeom>
          <a:solidFill>
            <a:srgbClr val="F5F3FF"/>
          </a:solidFill>
          <a:ln w="12700">
            <a:solidFill>
              <a:srgbClr val="F5F3FF"/>
            </a:solidFill>
            <a:prstDash val="solid"/>
          </a:ln>
        </p:spPr>
      </p:sp>
      <p:sp>
        <p:nvSpPr>
          <p:cNvPr id="23" name="Shape 15"/>
          <p:cNvSpPr/>
          <p:nvPr/>
        </p:nvSpPr>
        <p:spPr>
          <a:xfrm>
            <a:off x="8001000" y="1645920"/>
            <a:ext cx="502920" cy="502920"/>
          </a:xfrm>
          <a:prstGeom prst="ellipse">
            <a:avLst/>
          </a:prstGeom>
          <a:solidFill>
            <a:srgbClr val="7C3AED"/>
          </a:solidFill>
          <a:ln w="12700">
            <a:solidFill>
              <a:srgbClr val="7C3AED"/>
            </a:solidFill>
            <a:prstDash val="solid"/>
          </a:ln>
        </p:spPr>
      </p:sp>
      <p:pic>
        <p:nvPicPr>
          <p:cNvPr id="24" name="Image 6" descr="preencoded.png">    </p:cNvPr>
          <p:cNvPicPr>
            <a:picLocks noChangeAspect="1"/>
          </p:cNvPicPr>
          <p:nvPr/>
        </p:nvPicPr>
        <p:blipFill>
          <a:blip r:embed="rId7"/>
          <a:stretch>
            <a:fillRect/>
          </a:stretch>
        </p:blipFill>
        <p:spPr>
          <a:xfrm>
            <a:off x="8126730" y="1771650"/>
            <a:ext cx="251460" cy="251460"/>
          </a:xfrm>
          <a:prstGeom prst="rect">
            <a:avLst/>
          </a:prstGeom>
        </p:spPr>
      </p:pic>
      <p:sp>
        <p:nvSpPr>
          <p:cNvPr id="25" name="Text 16"/>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Target dock hours per shift</a:t>
            </a:r>
            <a:endParaRPr lang="en-US" sz="1600" dirty="0"/>
          </a:p>
        </p:txBody>
      </p:sp>
      <p:sp>
        <p:nvSpPr>
          <p:cNvPr id="26" name="Text 17"/>
          <p:cNvSpPr txBox="1"/>
          <p:nvPr/>
        </p:nvSpPr>
        <p:spPr>
          <a:xfrm>
            <a:off x="8001000" y="2286000"/>
            <a:ext cx="347472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Per day · aligned to P&amp;D activity</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2743200"/>
          <a:ext cx="3429000" cy="914400"/>
        </p:xfrm>
        <a:graphic>
          <a:graphicData uri="http://schemas.openxmlformats.org/drawingml/2006/table">
            <a:tbl>
              <a:tblPr/>
              <a:tblGrid>
                <a:gridCol w="1417320"/>
                <a:gridCol w="1005840"/>
                <a:gridCol w="100584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Shift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50292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Days</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Afternoon</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11827"/>
                          </a:solidFill>
                          <a:latin typeface="Calibri" pitchFamily="34" charset="0"/>
                          <a:ea typeface="Calibri" pitchFamily="34" charset="-122"/>
                          <a:cs typeface="Calibri" pitchFamily="34" charset="-120"/>
                        </a:rPr>
                        <a:t>Midnight</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97706"/>
                          </a:solidFill>
                          <a:latin typeface="Calibri" pitchFamily="34" charset="0"/>
                          <a:ea typeface="Calibri" pitchFamily="34" charset="-122"/>
                          <a:cs typeface="Calibri" pitchFamily="34" charset="-120"/>
                        </a:rPr>
                        <a:t>TBC</a:t>
                      </a:r>
                      <a:endParaRPr lang="en-US" sz="14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8" name="Text 18"/>
          <p:cNvSpPr txBox="1"/>
          <p:nvPr/>
        </p:nvSpPr>
        <p:spPr>
          <a:xfrm>
            <a:off x="8001000" y="4937760"/>
            <a:ext cx="3429000" cy="731520"/>
          </a:xfrm>
          <a:prstGeom prst="rect">
            <a:avLst/>
          </a:prstGeom>
          <a:noFill/>
          <a:ln/>
        </p:spPr>
        <p:txBody>
          <a:bodyPr wrap="square" lIns="0" tIns="0" rIns="0" bIns="0" rtlCol="0" anchor="t"/>
          <a:lstStyle/>
          <a:p>
            <a:pPr indent="0" marL="0">
              <a:buNone/>
            </a:pPr>
            <a:r>
              <a:rPr lang="en-US" sz="1200" i="1" dirty="0">
                <a:solidFill>
                  <a:srgbClr val="6B7280"/>
                </a:solidFill>
                <a:latin typeface="Calibri" pitchFamily="34" charset="0"/>
                <a:ea typeface="Calibri" pitchFamily="34" charset="-122"/>
                <a:cs typeface="Calibri" pitchFamily="34" charset="-120"/>
              </a:rPr>
              <a:t>Dock hours reviewed against these bands in the weekly SCA meeting.</a:t>
            </a:r>
            <a:endParaRPr lang="en-US" sz="1200" dirty="0"/>
          </a:p>
        </p:txBody>
      </p:sp>
      <p:sp>
        <p:nvSpPr>
          <p:cNvPr id="29"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21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Accessorial capture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Accessorial unit volume report · Mississauga · current month (reactive)</a:t>
            </a:r>
            <a:endParaRPr lang="en-US" sz="1300" dirty="0"/>
          </a:p>
        </p:txBody>
      </p:sp>
      <p:graphicFrame>
        <p:nvGraphicFramePr>
          <p:cNvPr id="5" name="Chart 0" descr=""/>
          <p:cNvGraphicFramePr/>
          <p:nvPr/>
        </p:nvGraphicFramePr>
        <p:xfrm>
          <a:off x="548640" y="1645920"/>
          <a:ext cx="5577840" cy="30632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355080" y="1645920"/>
          <a:ext cx="5285232" cy="306324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548640" y="4892040"/>
            <a:ext cx="2468880" cy="1097280"/>
          </a:xfrm>
          <a:prstGeom prst="roundRect">
            <a:avLst>
              <a:gd name="adj" fmla="val 6667"/>
            </a:avLst>
          </a:prstGeom>
          <a:solidFill>
            <a:srgbClr val="F3F4F6"/>
          </a:solidFill>
          <a:ln w="12700">
            <a:solidFill>
              <a:srgbClr val="F3F4F6"/>
            </a:solidFill>
            <a:prstDash val="solid"/>
          </a:ln>
        </p:spPr>
      </p:sp>
      <p:sp>
        <p:nvSpPr>
          <p:cNvPr id="8" name="Text 4"/>
          <p:cNvSpPr txBox="1"/>
          <p:nvPr/>
        </p:nvSpPr>
        <p:spPr>
          <a:xfrm>
            <a:off x="731520" y="4983480"/>
            <a:ext cx="210312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units this month</a:t>
            </a:r>
            <a:endParaRPr lang="en-US" sz="1100" dirty="0"/>
          </a:p>
        </p:txBody>
      </p:sp>
      <p:sp>
        <p:nvSpPr>
          <p:cNvPr id="9" name="Text 5"/>
          <p:cNvSpPr txBox="1"/>
          <p:nvPr/>
        </p:nvSpPr>
        <p:spPr>
          <a:xfrm>
            <a:off x="731520" y="5239512"/>
            <a:ext cx="2103120" cy="45720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≈32,921</a:t>
            </a:r>
            <a:endParaRPr lang="en-US" sz="2600" dirty="0"/>
          </a:p>
        </p:txBody>
      </p:sp>
      <p:sp>
        <p:nvSpPr>
          <p:cNvPr id="10" name="Text 6"/>
          <p:cNvSpPr txBox="1"/>
          <p:nvPr/>
        </p:nvSpPr>
        <p:spPr>
          <a:xfrm>
            <a:off x="731520" y="5687568"/>
            <a:ext cx="210312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sum of 14 types</a:t>
            </a:r>
            <a:endParaRPr lang="en-US" sz="900" dirty="0"/>
          </a:p>
        </p:txBody>
      </p:sp>
      <p:sp>
        <p:nvSpPr>
          <p:cNvPr id="11" name="Shape 7"/>
          <p:cNvSpPr/>
          <p:nvPr/>
        </p:nvSpPr>
        <p:spPr>
          <a:xfrm>
            <a:off x="3200400" y="4892040"/>
            <a:ext cx="3931920" cy="1097280"/>
          </a:xfrm>
          <a:prstGeom prst="roundRect">
            <a:avLst>
              <a:gd name="adj" fmla="val 6667"/>
            </a:avLst>
          </a:prstGeom>
          <a:solidFill>
            <a:srgbClr val="F3F4F6"/>
          </a:solidFill>
          <a:ln w="12700">
            <a:solidFill>
              <a:srgbClr val="F3F4F6"/>
            </a:solidFill>
            <a:prstDash val="solid"/>
          </a:ln>
        </p:spPr>
      </p:sp>
      <p:sp>
        <p:nvSpPr>
          <p:cNvPr id="12" name="Text 8"/>
          <p:cNvSpPr txBox="1"/>
          <p:nvPr/>
        </p:nvSpPr>
        <p:spPr>
          <a:xfrm>
            <a:off x="3383280" y="4956048"/>
            <a:ext cx="3611880" cy="96926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Other types: </a:t>
            </a:r>
            <a:pPr indent="0" marL="0">
              <a:buNone/>
            </a:pPr>
            <a:r>
              <a:rPr lang="en-US" sz="950" dirty="0">
                <a:solidFill>
                  <a:srgbClr val="6B7280"/>
                </a:solidFill>
                <a:latin typeface="Calibri" pitchFamily="34" charset="0"/>
                <a:ea typeface="Calibri" pitchFamily="34" charset="-122"/>
                <a:cs typeface="Calibri" pitchFamily="34" charset="-120"/>
              </a:rPr>
              <a:t>Inside delivery 315 · Storage 279 · Limited access delivery 90 · Tradeshow delivery 82 · Inside pick-up 64 · Detention w/ power at delivery 17 · Limited access pick-up 14 · Tradeshow pick-up 3</a:t>
            </a:r>
            <a:endParaRPr lang="en-US" sz="950" dirty="0"/>
          </a:p>
        </p:txBody>
      </p:sp>
      <p:sp>
        <p:nvSpPr>
          <p:cNvPr id="13" name="Shape 9"/>
          <p:cNvSpPr/>
          <p:nvPr/>
        </p:nvSpPr>
        <p:spPr>
          <a:xfrm>
            <a:off x="7315200" y="4892040"/>
            <a:ext cx="4325112" cy="1097280"/>
          </a:xfrm>
          <a:prstGeom prst="roundRect">
            <a:avLst>
              <a:gd name="adj" fmla="val 6667"/>
            </a:avLst>
          </a:prstGeom>
          <a:solidFill>
            <a:srgbClr val="F5F3FF"/>
          </a:solidFill>
          <a:ln w="12700">
            <a:solidFill>
              <a:srgbClr val="F5F3FF"/>
            </a:solidFill>
            <a:prstDash val="solid"/>
          </a:ln>
        </p:spPr>
      </p:sp>
      <p:sp>
        <p:nvSpPr>
          <p:cNvPr id="14" name="Shape 10"/>
          <p:cNvSpPr/>
          <p:nvPr/>
        </p:nvSpPr>
        <p:spPr>
          <a:xfrm>
            <a:off x="7498080" y="5184648"/>
            <a:ext cx="502920" cy="502920"/>
          </a:xfrm>
          <a:prstGeom prst="ellipse">
            <a:avLst/>
          </a:prstGeom>
          <a:solidFill>
            <a:srgbClr val="7C3AED"/>
          </a:solidFill>
          <a:ln w="12700">
            <a:solidFill>
              <a:srgbClr val="7C3AED"/>
            </a:solidFill>
            <a:prstDash val="solid"/>
          </a:ln>
        </p:spPr>
      </p:sp>
      <p:pic>
        <p:nvPicPr>
          <p:cNvPr id="15" name="Image 0" descr="preencoded.png">    </p:cNvPr>
          <p:cNvPicPr>
            <a:picLocks noChangeAspect="1"/>
          </p:cNvPicPr>
          <p:nvPr/>
        </p:nvPicPr>
        <p:blipFill>
          <a:blip r:embed="rId3"/>
          <a:stretch>
            <a:fillRect/>
          </a:stretch>
        </p:blipFill>
        <p:spPr>
          <a:xfrm>
            <a:off x="7623810" y="5310378"/>
            <a:ext cx="251460" cy="251460"/>
          </a:xfrm>
          <a:prstGeom prst="rect">
            <a:avLst/>
          </a:prstGeom>
        </p:spPr>
      </p:pic>
      <p:sp>
        <p:nvSpPr>
          <p:cNvPr id="16" name="Text 11"/>
          <p:cNvSpPr txBox="1"/>
          <p:nvPr/>
        </p:nvSpPr>
        <p:spPr>
          <a:xfrm>
            <a:off x="8138160" y="4892040"/>
            <a:ext cx="3383280" cy="109728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accessorial coded = revenue captured; private-residence, tailgate and appointment deliveries are ~91% of volume.</a:t>
            </a:r>
            <a:endParaRPr lang="en-US" sz="1200" dirty="0"/>
          </a:p>
        </p:txBody>
      </p:sp>
      <p:sp>
        <p:nvSpPr>
          <p:cNvPr id="17" name="Text 12"/>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Accessorial unit volume report — Mississauga. Weekly values in thousands of units; week of Sep 28 is partial.</a:t>
            </a:r>
            <a:endParaRPr lang="en-US" sz="950" dirty="0"/>
          </a:p>
        </p:txBody>
      </p:sp>
      <p:sp>
        <p:nvSpPr>
          <p:cNvPr id="18" name="Text 1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21</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plan</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229600" cy="914400"/>
        </p:xfrm>
        <a:graphic>
          <a:graphicData uri="http://schemas.openxmlformats.org/drawingml/2006/table">
            <a:tbl>
              <a:tblPr/>
              <a:tblGrid>
                <a:gridCol w="411480"/>
                <a:gridCol w="3611880"/>
                <a:gridCol w="1234440"/>
                <a:gridCol w="1325880"/>
                <a:gridCol w="1645920"/>
              </a:tblGrid>
              <a:tr h="41148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Initiative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plan ($)</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Realized YTD ($)</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Dock labour — shift hours aligned to P&amp;D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Agency / contract labour reduction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CICO hours saved (late / lunch / early-off)</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7C3AED"/>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Accessorial billing recovery</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New</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Load factor &amp; trailer consolidation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1F2937"/>
                          </a:solidFill>
                          <a:latin typeface="Calibri" pitchFamily="34" charset="0"/>
                          <a:ea typeface="Calibri" pitchFamily="34" charset="-122"/>
                          <a:cs typeface="Calibri" pitchFamily="34" charset="-120"/>
                        </a:rPr>
                        <a:t>New</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Shunting optimization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Sustained from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Forklift rentals returned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Sustained from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11480">
                <a:tc>
                  <a:txBody>
                    <a:bodyPr/>
                    <a:lstStyle/>
                    <a:p>
                      <a:pPr algn="ctr" indent="0" marL="0">
                        <a:buNone/>
                      </a:pPr>
                      <a:r>
                        <a:rPr lang="en-US" sz="1200" dirty="0">
                          <a:solidFill>
                            <a:srgbClr val="6B7280"/>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200" dirty="0">
                          <a:solidFill>
                            <a:srgbClr val="111827"/>
                          </a:solidFill>
                          <a:latin typeface="Calibri" pitchFamily="34" charset="0"/>
                          <a:ea typeface="Calibri" pitchFamily="34" charset="-122"/>
                          <a:cs typeface="Calibri" pitchFamily="34" charset="-120"/>
                        </a:rPr>
                        <a:t>Cargo claims reduction</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b="1" dirty="0">
                          <a:solidFill>
                            <a:srgbClr val="059669"/>
                          </a:solidFill>
                          <a:latin typeface="Calibri" pitchFamily="34" charset="0"/>
                          <a:ea typeface="Calibri" pitchFamily="34" charset="-122"/>
                          <a:cs typeface="Calibri" pitchFamily="34" charset="-120"/>
                        </a:rPr>
                        <a:t>Sustained from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1148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5669280"/>
            <a:ext cx="8229600" cy="274320"/>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F27 plan = full-year $; realized = Jul 1, 2026 to date.</a:t>
            </a:r>
            <a:endParaRPr lang="en-US" sz="1050" dirty="0"/>
          </a:p>
        </p:txBody>
      </p:sp>
      <p:sp>
        <p:nvSpPr>
          <p:cNvPr id="6" name="Shape 3"/>
          <p:cNvSpPr/>
          <p:nvPr/>
        </p:nvSpPr>
        <p:spPr>
          <a:xfrm>
            <a:off x="9052560" y="1371600"/>
            <a:ext cx="2587752" cy="1325880"/>
          </a:xfrm>
          <a:prstGeom prst="roundRect">
            <a:avLst>
              <a:gd name="adj" fmla="val 5517"/>
            </a:avLst>
          </a:prstGeom>
          <a:solidFill>
            <a:srgbClr val="F5F3FF"/>
          </a:solidFill>
          <a:ln w="12700">
            <a:solidFill>
              <a:srgbClr val="F5F3FF"/>
            </a:solidFill>
            <a:prstDash val="solid"/>
          </a:ln>
        </p:spPr>
      </p:sp>
      <p:sp>
        <p:nvSpPr>
          <p:cNvPr id="7" name="Text 4"/>
          <p:cNvSpPr txBox="1"/>
          <p:nvPr/>
        </p:nvSpPr>
        <p:spPr>
          <a:xfrm>
            <a:off x="9235440" y="1508760"/>
            <a:ext cx="2221992"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8" name="Text 5"/>
          <p:cNvSpPr txBox="1"/>
          <p:nvPr/>
        </p:nvSpPr>
        <p:spPr>
          <a:xfrm>
            <a:off x="9235440" y="1783080"/>
            <a:ext cx="2221992" cy="457200"/>
          </a:xfrm>
          <a:prstGeom prst="rect">
            <a:avLst/>
          </a:prstGeom>
          <a:noFill/>
          <a:ln/>
        </p:spPr>
        <p:txBody>
          <a:bodyPr wrap="square" lIns="0" tIns="0" rIns="0" bIns="0" rtlCol="0" anchor="ctr"/>
          <a:lstStyle/>
          <a:p>
            <a:pPr indent="0" marL="0">
              <a:buNone/>
            </a:pPr>
            <a:r>
              <a:rPr lang="en-US" sz="2600" b="1" dirty="0">
                <a:solidFill>
                  <a:srgbClr val="D97706"/>
                </a:solidFill>
                <a:latin typeface="Calibri" pitchFamily="34" charset="0"/>
                <a:ea typeface="Calibri" pitchFamily="34" charset="-122"/>
                <a:cs typeface="Calibri" pitchFamily="34" charset="-120"/>
              </a:rPr>
              <a:t>TBC</a:t>
            </a:r>
            <a:endParaRPr lang="en-US" sz="2600" dirty="0"/>
          </a:p>
        </p:txBody>
      </p:sp>
      <p:sp>
        <p:nvSpPr>
          <p:cNvPr id="9" name="Text 6"/>
          <p:cNvSpPr txBox="1"/>
          <p:nvPr/>
        </p:nvSpPr>
        <p:spPr>
          <a:xfrm>
            <a:off x="9235440" y="2267712"/>
            <a:ext cx="2221992"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0" name="Shape 7"/>
          <p:cNvSpPr/>
          <p:nvPr/>
        </p:nvSpPr>
        <p:spPr>
          <a:xfrm>
            <a:off x="9052560" y="2880360"/>
            <a:ext cx="2587752" cy="1325880"/>
          </a:xfrm>
          <a:prstGeom prst="roundRect">
            <a:avLst>
              <a:gd name="adj" fmla="val 5517"/>
            </a:avLst>
          </a:prstGeom>
          <a:solidFill>
            <a:srgbClr val="F3F4F6"/>
          </a:solidFill>
          <a:ln w="12700">
            <a:solidFill>
              <a:srgbClr val="F3F4F6"/>
            </a:solidFill>
            <a:prstDash val="solid"/>
          </a:ln>
        </p:spPr>
      </p:sp>
      <p:sp>
        <p:nvSpPr>
          <p:cNvPr id="11" name="Text 8"/>
          <p:cNvSpPr txBox="1"/>
          <p:nvPr/>
        </p:nvSpPr>
        <p:spPr>
          <a:xfrm>
            <a:off x="9235440" y="3017520"/>
            <a:ext cx="2221992"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 (plan total)</a:t>
            </a:r>
            <a:endParaRPr lang="en-US" sz="1100" dirty="0"/>
          </a:p>
        </p:txBody>
      </p:sp>
      <p:sp>
        <p:nvSpPr>
          <p:cNvPr id="12" name="Text 9"/>
          <p:cNvSpPr txBox="1"/>
          <p:nvPr/>
        </p:nvSpPr>
        <p:spPr>
          <a:xfrm>
            <a:off x="9235440" y="3291840"/>
            <a:ext cx="2221992" cy="457200"/>
          </a:xfrm>
          <a:prstGeom prst="rect">
            <a:avLst/>
          </a:prstGeom>
          <a:noFill/>
          <a:ln/>
        </p:spPr>
        <p:txBody>
          <a:bodyPr wrap="square" lIns="0" tIns="0" rIns="0" bIns="0" rtlCol="0" anchor="ctr"/>
          <a:lstStyle/>
          <a:p>
            <a:pPr indent="0" marL="0">
              <a:buNone/>
            </a:pPr>
            <a:r>
              <a:rPr lang="en-US" sz="2600" b="1" dirty="0">
                <a:solidFill>
                  <a:srgbClr val="D97706"/>
                </a:solidFill>
                <a:latin typeface="Calibri" pitchFamily="34" charset="0"/>
                <a:ea typeface="Calibri" pitchFamily="34" charset="-122"/>
                <a:cs typeface="Calibri" pitchFamily="34" charset="-120"/>
              </a:rPr>
              <a:t>TBC</a:t>
            </a:r>
            <a:endParaRPr lang="en-US" sz="2600" dirty="0"/>
          </a:p>
        </p:txBody>
      </p:sp>
      <p:sp>
        <p:nvSpPr>
          <p:cNvPr id="13" name="Text 10"/>
          <p:cNvSpPr txBox="1"/>
          <p:nvPr/>
        </p:nvSpPr>
        <p:spPr>
          <a:xfrm>
            <a:off x="9235440" y="3776472"/>
            <a:ext cx="2221992"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 of target: </a:t>
            </a:r>
            <a:pPr indent="0" marL="0">
              <a:buNone/>
            </a:pPr>
            <a:r>
              <a:rPr lang="en-US" sz="1050" b="1" dirty="0">
                <a:solidFill>
                  <a:srgbClr val="D97706"/>
                </a:solidFill>
                <a:latin typeface="Calibri" pitchFamily="34" charset="0"/>
                <a:ea typeface="Calibri" pitchFamily="34" charset="-122"/>
                <a:cs typeface="Calibri" pitchFamily="34" charset="-120"/>
              </a:rPr>
              <a:t>TBC</a:t>
            </a:r>
            <a:endParaRPr lang="en-US" sz="1050" dirty="0"/>
          </a:p>
        </p:txBody>
      </p:sp>
      <p:sp>
        <p:nvSpPr>
          <p:cNvPr id="14" name="Shape 11"/>
          <p:cNvSpPr/>
          <p:nvPr/>
        </p:nvSpPr>
        <p:spPr>
          <a:xfrm>
            <a:off x="9052560" y="4389120"/>
            <a:ext cx="2587752" cy="1325880"/>
          </a:xfrm>
          <a:prstGeom prst="roundRect">
            <a:avLst>
              <a:gd name="adj" fmla="val 5517"/>
            </a:avLst>
          </a:prstGeom>
          <a:solidFill>
            <a:srgbClr val="F3F4F6"/>
          </a:solidFill>
          <a:ln w="12700">
            <a:solidFill>
              <a:srgbClr val="F3F4F6"/>
            </a:solidFill>
            <a:prstDash val="solid"/>
          </a:ln>
        </p:spPr>
      </p:sp>
      <p:sp>
        <p:nvSpPr>
          <p:cNvPr id="15" name="Text 12"/>
          <p:cNvSpPr txBox="1"/>
          <p:nvPr/>
        </p:nvSpPr>
        <p:spPr>
          <a:xfrm>
            <a:off x="9235440" y="4526280"/>
            <a:ext cx="2221992"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6" name="Text 13"/>
          <p:cNvSpPr txBox="1"/>
          <p:nvPr/>
        </p:nvSpPr>
        <p:spPr>
          <a:xfrm>
            <a:off x="9235440" y="4800600"/>
            <a:ext cx="2221992" cy="457200"/>
          </a:xfrm>
          <a:prstGeom prst="rect">
            <a:avLst/>
          </a:prstGeom>
          <a:noFill/>
          <a:ln/>
        </p:spPr>
        <p:txBody>
          <a:bodyPr wrap="square" lIns="0" tIns="0" rIns="0" bIns="0" rtlCol="0" anchor="ctr"/>
          <a:lstStyle/>
          <a:p>
            <a:pPr indent="0" marL="0">
              <a:buNone/>
            </a:pPr>
            <a:r>
              <a:rPr lang="en-US" sz="2600" b="1" dirty="0">
                <a:solidFill>
                  <a:srgbClr val="D97706"/>
                </a:solidFill>
                <a:latin typeface="Calibri" pitchFamily="34" charset="0"/>
                <a:ea typeface="Calibri" pitchFamily="34" charset="-122"/>
                <a:cs typeface="Calibri" pitchFamily="34" charset="-120"/>
              </a:rPr>
              <a:t>TBC</a:t>
            </a:r>
            <a:endParaRPr lang="en-US" sz="2600" dirty="0"/>
          </a:p>
        </p:txBody>
      </p:sp>
      <p:sp>
        <p:nvSpPr>
          <p:cNvPr id="17" name="Text 14"/>
          <p:cNvSpPr txBox="1"/>
          <p:nvPr/>
        </p:nvSpPr>
        <p:spPr>
          <a:xfrm>
            <a:off x="9235440" y="5285232"/>
            <a:ext cx="2221992"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 1 to date</a:t>
            </a:r>
            <a:endParaRPr lang="en-US" sz="1050" dirty="0"/>
          </a:p>
        </p:txBody>
      </p:sp>
      <p:sp>
        <p:nvSpPr>
          <p:cNvPr id="18"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21</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5F3FF"/>
          </a:solidFill>
          <a:ln w="12700">
            <a:solidFill>
              <a:srgbClr val="F5F3FF"/>
            </a:solidFill>
            <a:prstDash val="solid"/>
          </a:ln>
        </p:spPr>
      </p:sp>
      <p:sp>
        <p:nvSpPr>
          <p:cNvPr id="22" name="Shape 19"/>
          <p:cNvSpPr/>
          <p:nvPr/>
        </p:nvSpPr>
        <p:spPr>
          <a:xfrm>
            <a:off x="6217920" y="3584448"/>
            <a:ext cx="457200" cy="457200"/>
          </a:xfrm>
          <a:prstGeom prst="ellipse">
            <a:avLst/>
          </a:prstGeom>
          <a:solidFill>
            <a:srgbClr val="7C3AED"/>
          </a:solidFill>
          <a:ln w="12700">
            <a:solidFill>
              <a:srgbClr val="7C3AED"/>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hour-reduction target for the month is 1,181 hours.</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21</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Cost &amp; Volume (Sept MTD)</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828800"/>
                <a:gridCol w="1463040"/>
                <a:gridCol w="1417320"/>
                <a:gridCol w="1325880"/>
                <a:gridCol w="91440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Sept MTD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F26 Sept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Change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Weight (lbs)*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13,305,876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20,881,181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−7,575,305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−36.3%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$33.43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$31.69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+$1.74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Cost per CWT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$1.0048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$0.9566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+$0.0482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Units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15.24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12.03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+3.21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+26.7%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5" name="Text 2"/>
          <p:cNvSpPr txBox="1"/>
          <p:nvPr/>
        </p:nvSpPr>
        <p:spPr>
          <a:xfrm>
            <a:off x="548640" y="3630168"/>
            <a:ext cx="6949440" cy="25603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 F27 weight is MTD to Sep 26; F26 is the September total.</a:t>
            </a:r>
            <a:endParaRPr lang="en-US" sz="1050" dirty="0"/>
          </a:p>
        </p:txBody>
      </p:sp>
      <p:sp>
        <p:nvSpPr>
          <p:cNvPr id="6" name="Text 3"/>
          <p:cNvSpPr txBox="1"/>
          <p:nvPr/>
        </p:nvSpPr>
        <p:spPr>
          <a:xfrm>
            <a:off x="548640" y="4023360"/>
            <a:ext cx="6949440"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F27 September MTD</a:t>
            </a:r>
            <a:endParaRPr lang="en-US" sz="1500" dirty="0"/>
          </a:p>
        </p:txBody>
      </p:sp>
      <p:sp>
        <p:nvSpPr>
          <p:cNvPr id="7" name="Shape 4"/>
          <p:cNvSpPr/>
          <p:nvPr/>
        </p:nvSpPr>
        <p:spPr>
          <a:xfrm>
            <a:off x="548640" y="4434840"/>
            <a:ext cx="1600200" cy="1188720"/>
          </a:xfrm>
          <a:prstGeom prst="roundRect">
            <a:avLst>
              <a:gd name="adj" fmla="val 6154"/>
            </a:avLst>
          </a:prstGeom>
          <a:solidFill>
            <a:srgbClr val="F3F4F6"/>
          </a:solidFill>
          <a:ln w="12700">
            <a:solidFill>
              <a:srgbClr val="F3F4F6"/>
            </a:solidFill>
            <a:prstDash val="solid"/>
          </a:ln>
        </p:spPr>
      </p:sp>
      <p:sp>
        <p:nvSpPr>
          <p:cNvPr id="8" name="Text 5"/>
          <p:cNvSpPr txBox="1"/>
          <p:nvPr/>
        </p:nvSpPr>
        <p:spPr>
          <a:xfrm>
            <a:off x="71323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hours</a:t>
            </a:r>
            <a:endParaRPr lang="en-US" sz="1100" dirty="0"/>
          </a:p>
        </p:txBody>
      </p:sp>
      <p:sp>
        <p:nvSpPr>
          <p:cNvPr id="9" name="Text 6"/>
          <p:cNvSpPr txBox="1"/>
          <p:nvPr/>
        </p:nvSpPr>
        <p:spPr>
          <a:xfrm>
            <a:off x="71323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3,999</a:t>
            </a:r>
            <a:endParaRPr lang="en-US" sz="1800" dirty="0"/>
          </a:p>
        </p:txBody>
      </p:sp>
      <p:sp>
        <p:nvSpPr>
          <p:cNvPr id="10" name="Shape 7"/>
          <p:cNvSpPr/>
          <p:nvPr/>
        </p:nvSpPr>
        <p:spPr>
          <a:xfrm>
            <a:off x="2331720" y="4434840"/>
            <a:ext cx="1600200" cy="1188720"/>
          </a:xfrm>
          <a:prstGeom prst="roundRect">
            <a:avLst>
              <a:gd name="adj" fmla="val 6154"/>
            </a:avLst>
          </a:prstGeom>
          <a:solidFill>
            <a:srgbClr val="F3F4F6"/>
          </a:solidFill>
          <a:ln w="12700">
            <a:solidFill>
              <a:srgbClr val="F3F4F6"/>
            </a:solidFill>
            <a:prstDash val="solid"/>
          </a:ln>
        </p:spPr>
      </p:sp>
      <p:sp>
        <p:nvSpPr>
          <p:cNvPr id="11" name="Text 8"/>
          <p:cNvSpPr txBox="1"/>
          <p:nvPr/>
        </p:nvSpPr>
        <p:spPr>
          <a:xfrm>
            <a:off x="249631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a:t>
            </a:r>
            <a:endParaRPr lang="en-US" sz="1100" dirty="0"/>
          </a:p>
        </p:txBody>
      </p:sp>
      <p:sp>
        <p:nvSpPr>
          <p:cNvPr id="12" name="Text 9"/>
          <p:cNvSpPr txBox="1"/>
          <p:nvPr/>
        </p:nvSpPr>
        <p:spPr>
          <a:xfrm>
            <a:off x="249631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60,933</a:t>
            </a:r>
            <a:endParaRPr lang="en-US" sz="1800" dirty="0"/>
          </a:p>
        </p:txBody>
      </p:sp>
      <p:sp>
        <p:nvSpPr>
          <p:cNvPr id="13" name="Shape 10"/>
          <p:cNvSpPr/>
          <p:nvPr/>
        </p:nvSpPr>
        <p:spPr>
          <a:xfrm>
            <a:off x="4114800" y="4434840"/>
            <a:ext cx="1600200" cy="1188720"/>
          </a:xfrm>
          <a:prstGeom prst="roundRect">
            <a:avLst>
              <a:gd name="adj" fmla="val 6154"/>
            </a:avLst>
          </a:prstGeom>
          <a:solidFill>
            <a:srgbClr val="F3F4F6"/>
          </a:solidFill>
          <a:ln w="12700">
            <a:solidFill>
              <a:srgbClr val="F3F4F6"/>
            </a:solidFill>
            <a:prstDash val="solid"/>
          </a:ln>
        </p:spPr>
      </p:sp>
      <p:sp>
        <p:nvSpPr>
          <p:cNvPr id="14" name="Text 11"/>
          <p:cNvSpPr txBox="1"/>
          <p:nvPr/>
        </p:nvSpPr>
        <p:spPr>
          <a:xfrm>
            <a:off x="427939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Costs</a:t>
            </a:r>
            <a:endParaRPr lang="en-US" sz="1100" dirty="0"/>
          </a:p>
        </p:txBody>
      </p:sp>
      <p:sp>
        <p:nvSpPr>
          <p:cNvPr id="15" name="Text 12"/>
          <p:cNvSpPr txBox="1"/>
          <p:nvPr/>
        </p:nvSpPr>
        <p:spPr>
          <a:xfrm>
            <a:off x="427939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$133,692</a:t>
            </a:r>
            <a:endParaRPr lang="en-US" sz="1800" dirty="0"/>
          </a:p>
        </p:txBody>
      </p:sp>
      <p:sp>
        <p:nvSpPr>
          <p:cNvPr id="16" name="Shape 13"/>
          <p:cNvSpPr/>
          <p:nvPr/>
        </p:nvSpPr>
        <p:spPr>
          <a:xfrm>
            <a:off x="5897880" y="4434840"/>
            <a:ext cx="1600200" cy="1188720"/>
          </a:xfrm>
          <a:prstGeom prst="roundRect">
            <a:avLst>
              <a:gd name="adj" fmla="val 6154"/>
            </a:avLst>
          </a:prstGeom>
          <a:solidFill>
            <a:srgbClr val="F3F4F6"/>
          </a:solidFill>
          <a:ln w="12700">
            <a:solidFill>
              <a:srgbClr val="F3F4F6"/>
            </a:solidFill>
            <a:prstDash val="solid"/>
          </a:ln>
        </p:spPr>
      </p:sp>
      <p:sp>
        <p:nvSpPr>
          <p:cNvPr id="17" name="Text 14"/>
          <p:cNvSpPr txBox="1"/>
          <p:nvPr/>
        </p:nvSpPr>
        <p:spPr>
          <a:xfrm>
            <a:off x="606247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 per unit</a:t>
            </a:r>
            <a:endParaRPr lang="en-US" sz="1100" dirty="0"/>
          </a:p>
        </p:txBody>
      </p:sp>
      <p:sp>
        <p:nvSpPr>
          <p:cNvPr id="18" name="Text 15"/>
          <p:cNvSpPr txBox="1"/>
          <p:nvPr/>
        </p:nvSpPr>
        <p:spPr>
          <a:xfrm>
            <a:off x="606247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$2.19</a:t>
            </a:r>
            <a:endParaRPr lang="en-US" sz="1800" dirty="0"/>
          </a:p>
        </p:txBody>
      </p:sp>
      <p:sp>
        <p:nvSpPr>
          <p:cNvPr id="19" name="Shape 16"/>
          <p:cNvSpPr/>
          <p:nvPr/>
        </p:nvSpPr>
        <p:spPr>
          <a:xfrm>
            <a:off x="7863840" y="1371600"/>
            <a:ext cx="3776472" cy="2011680"/>
          </a:xfrm>
          <a:prstGeom prst="roundRect">
            <a:avLst>
              <a:gd name="adj" fmla="val 3636"/>
            </a:avLst>
          </a:prstGeom>
          <a:solidFill>
            <a:srgbClr val="ECFDF5"/>
          </a:solidFill>
          <a:ln w="12700">
            <a:solidFill>
              <a:srgbClr val="ECFDF5"/>
            </a:solidFill>
            <a:prstDash val="solid"/>
          </a:ln>
        </p:spPr>
      </p:sp>
      <p:sp>
        <p:nvSpPr>
          <p:cNvPr id="20" name="Shape 17"/>
          <p:cNvSpPr/>
          <p:nvPr/>
        </p:nvSpPr>
        <p:spPr>
          <a:xfrm>
            <a:off x="8065008" y="1536192"/>
            <a:ext cx="384048" cy="384048"/>
          </a:xfrm>
          <a:prstGeom prst="ellipse">
            <a:avLst/>
          </a:prstGeom>
          <a:solidFill>
            <a:srgbClr val="059669"/>
          </a:solidFill>
          <a:ln w="12700">
            <a:solidFill>
              <a:srgbClr val="059669"/>
            </a:solidFill>
            <a:prstDash val="solid"/>
          </a:ln>
        </p:spPr>
      </p:sp>
      <p:pic>
        <p:nvPicPr>
          <p:cNvPr id="21" name="Image 0" descr="preencoded.png">    </p:cNvPr>
          <p:cNvPicPr>
            <a:picLocks noChangeAspect="1"/>
          </p:cNvPicPr>
          <p:nvPr/>
        </p:nvPicPr>
        <p:blipFill>
          <a:blip r:embed="rId1"/>
          <a:stretch>
            <a:fillRect/>
          </a:stretch>
        </p:blipFill>
        <p:spPr>
          <a:xfrm>
            <a:off x="8161020" y="1632204"/>
            <a:ext cx="192024" cy="192024"/>
          </a:xfrm>
          <a:prstGeom prst="rect">
            <a:avLst/>
          </a:prstGeom>
        </p:spPr>
      </p:pic>
      <p:sp>
        <p:nvSpPr>
          <p:cNvPr id="22" name="Text 18"/>
          <p:cNvSpPr txBox="1"/>
          <p:nvPr/>
        </p:nvSpPr>
        <p:spPr>
          <a:xfrm>
            <a:off x="8549640" y="153619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Units-basis productivity value</a:t>
            </a:r>
            <a:endParaRPr lang="en-US" sz="1300" dirty="0"/>
          </a:p>
        </p:txBody>
      </p:sp>
      <p:sp>
        <p:nvSpPr>
          <p:cNvPr id="23" name="Text 19"/>
          <p:cNvSpPr txBox="1"/>
          <p:nvPr/>
        </p:nvSpPr>
        <p:spPr>
          <a:xfrm>
            <a:off x="8065008" y="1975104"/>
            <a:ext cx="3383280" cy="50292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$35.6K</a:t>
            </a:r>
            <a:pPr indent="0" marL="0">
              <a:buNone/>
            </a:pPr>
            <a:r>
              <a:rPr lang="en-US" sz="1200" b="1" dirty="0">
                <a:solidFill>
                  <a:srgbClr val="6B7280"/>
                </a:solidFill>
                <a:latin typeface="Calibri" pitchFamily="34" charset="0"/>
                <a:ea typeface="Calibri" pitchFamily="34" charset="-122"/>
                <a:cs typeface="Calibri" pitchFamily="34" charset="-120"/>
              </a:rPr>
              <a:t>   </a:t>
            </a:r>
            <a:endParaRPr lang="en-US" sz="2800" dirty="0"/>
          </a:p>
        </p:txBody>
      </p:sp>
      <p:sp>
        <p:nvSpPr>
          <p:cNvPr id="24" name="Text 20"/>
          <p:cNvSpPr txBox="1"/>
          <p:nvPr/>
        </p:nvSpPr>
        <p:spPr>
          <a:xfrm>
            <a:off x="8065008" y="250545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At F26's 12.03 units/hr, 60,933 units would have needed ≈5,065 hrs vs 3,999 actual → ≈1,066 hrs avoided at $33.43/hr (Sept MTD).</a:t>
            </a:r>
            <a:endParaRPr lang="en-US" sz="1100" dirty="0"/>
          </a:p>
        </p:txBody>
      </p:sp>
      <p:sp>
        <p:nvSpPr>
          <p:cNvPr id="25" name="Text 21"/>
          <p:cNvSpPr txBox="1"/>
          <p:nvPr/>
        </p:nvSpPr>
        <p:spPr>
          <a:xfrm>
            <a:off x="8065008" y="310896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dashboard figures</a:t>
            </a:r>
            <a:endParaRPr lang="en-US" sz="900" dirty="0"/>
          </a:p>
        </p:txBody>
      </p:sp>
      <p:sp>
        <p:nvSpPr>
          <p:cNvPr id="26" name="Shape 22"/>
          <p:cNvSpPr/>
          <p:nvPr/>
        </p:nvSpPr>
        <p:spPr>
          <a:xfrm>
            <a:off x="7863840" y="3566160"/>
            <a:ext cx="3776472" cy="2011680"/>
          </a:xfrm>
          <a:prstGeom prst="roundRect">
            <a:avLst>
              <a:gd name="adj" fmla="val 3636"/>
            </a:avLst>
          </a:prstGeom>
          <a:solidFill>
            <a:srgbClr val="F5F3FF"/>
          </a:solidFill>
          <a:ln w="12700">
            <a:solidFill>
              <a:srgbClr val="F5F3FF"/>
            </a:solidFill>
            <a:prstDash val="solid"/>
          </a:ln>
        </p:spPr>
      </p:sp>
      <p:sp>
        <p:nvSpPr>
          <p:cNvPr id="27" name="Shape 23"/>
          <p:cNvSpPr/>
          <p:nvPr/>
        </p:nvSpPr>
        <p:spPr>
          <a:xfrm>
            <a:off x="8065008" y="3730752"/>
            <a:ext cx="384048" cy="384048"/>
          </a:xfrm>
          <a:prstGeom prst="ellipse">
            <a:avLst/>
          </a:prstGeom>
          <a:solidFill>
            <a:srgbClr val="7C3AED"/>
          </a:solidFill>
          <a:ln w="12700">
            <a:solidFill>
              <a:srgbClr val="7C3AED"/>
            </a:solidFill>
            <a:prstDash val="solid"/>
          </a:ln>
        </p:spPr>
      </p:sp>
      <p:pic>
        <p:nvPicPr>
          <p:cNvPr id="28" name="Image 1" descr="preencoded.png">    </p:cNvPr>
          <p:cNvPicPr>
            <a:picLocks noChangeAspect="1"/>
          </p:cNvPicPr>
          <p:nvPr/>
        </p:nvPicPr>
        <p:blipFill>
          <a:blip r:embed="rId2"/>
          <a:stretch>
            <a:fillRect/>
          </a:stretch>
        </p:blipFill>
        <p:spPr>
          <a:xfrm>
            <a:off x="8161020" y="3826764"/>
            <a:ext cx="192024" cy="192024"/>
          </a:xfrm>
          <a:prstGeom prst="rect">
            <a:avLst/>
          </a:prstGeom>
        </p:spPr>
      </p:pic>
      <p:sp>
        <p:nvSpPr>
          <p:cNvPr id="29" name="Text 24"/>
          <p:cNvSpPr txBox="1"/>
          <p:nvPr/>
        </p:nvSpPr>
        <p:spPr>
          <a:xfrm>
            <a:off x="8549640" y="373075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Pace vs reduction target</a:t>
            </a:r>
            <a:endParaRPr lang="en-US" sz="1300" dirty="0"/>
          </a:p>
        </p:txBody>
      </p:sp>
      <p:sp>
        <p:nvSpPr>
          <p:cNvPr id="30" name="Text 25"/>
          <p:cNvSpPr txBox="1"/>
          <p:nvPr/>
        </p:nvSpPr>
        <p:spPr>
          <a:xfrm>
            <a:off x="8065008" y="4169664"/>
            <a:ext cx="3383280" cy="502920"/>
          </a:xfrm>
          <a:prstGeom prst="rect">
            <a:avLst/>
          </a:prstGeom>
          <a:noFill/>
          <a:ln/>
        </p:spPr>
        <p:txBody>
          <a:bodyPr wrap="square" lIns="0" tIns="0" rIns="0" bIns="0" rtlCol="0" anchor="ctr"/>
          <a:lstStyle/>
          <a:p>
            <a:pPr indent="0" marL="0">
              <a:buNone/>
            </a:pPr>
            <a:r>
              <a:rPr lang="en-US" sz="2800" b="1" dirty="0">
                <a:solidFill>
                  <a:srgbClr val="7C3AED"/>
                </a:solidFill>
                <a:latin typeface="Calibri" pitchFamily="34" charset="0"/>
                <a:ea typeface="Calibri" pitchFamily="34" charset="-122"/>
                <a:cs typeface="Calibri" pitchFamily="34" charset="-120"/>
              </a:rPr>
              <a:t>139%</a:t>
            </a:r>
            <a:pPr indent="0" marL="0">
              <a:buNone/>
            </a:pPr>
            <a:r>
              <a:rPr lang="en-US" sz="1200" b="1" dirty="0">
                <a:solidFill>
                  <a:srgbClr val="6B7280"/>
                </a:solidFill>
                <a:latin typeface="Calibri" pitchFamily="34" charset="0"/>
                <a:ea typeface="Calibri" pitchFamily="34" charset="-122"/>
                <a:cs typeface="Calibri" pitchFamily="34" charset="-120"/>
              </a:rPr>
              <a:t>   of 1,181-hr target</a:t>
            </a:r>
            <a:endParaRPr lang="en-US" sz="2800" dirty="0"/>
          </a:p>
        </p:txBody>
      </p:sp>
      <p:sp>
        <p:nvSpPr>
          <p:cNvPr id="31" name="Text 26"/>
          <p:cNvSpPr txBox="1"/>
          <p:nvPr/>
        </p:nvSpPr>
        <p:spPr>
          <a:xfrm>
            <a:off x="8065008" y="470001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Sept pace ≈4,666 hrs (3,999 ÷ 18/21 working days) vs F26's 6,303 → ≈1,637 hrs lower.</a:t>
            </a:r>
            <a:endParaRPr lang="en-US" sz="1100" dirty="0"/>
          </a:p>
        </p:txBody>
      </p:sp>
      <p:sp>
        <p:nvSpPr>
          <p:cNvPr id="32" name="Text 27"/>
          <p:cNvSpPr txBox="1"/>
          <p:nvPr/>
        </p:nvSpPr>
        <p:spPr>
          <a:xfrm>
            <a:off x="8065008" y="530352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 · at current pace</a:t>
            </a:r>
            <a:endParaRPr lang="en-US" sz="900" dirty="0"/>
          </a:p>
        </p:txBody>
      </p:sp>
      <p:sp>
        <p:nvSpPr>
          <p:cNvPr id="33" name="Text 28"/>
          <p:cNvSpPr txBox="1"/>
          <p:nvPr/>
        </p:nvSpPr>
        <p:spPr>
          <a:xfrm>
            <a:off x="548640" y="603504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34" name="Text 2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21</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P&amp;D — Trip &amp; stop measures (F27 Q1, Jul–Sep)</a:t>
            </a:r>
            <a:endParaRPr lang="en-US" sz="3000" dirty="0"/>
          </a:p>
        </p:txBody>
      </p:sp>
      <p:sp>
        <p:nvSpPr>
          <p:cNvPr id="4" name="Text 2"/>
          <p:cNvSpPr txBox="1"/>
          <p:nvPr/>
        </p:nvSpPr>
        <p:spPr>
          <a:xfrm>
            <a:off x="548640" y="1298448"/>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Q1 totals</a:t>
            </a:r>
            <a:endParaRPr lang="en-US" sz="1500" dirty="0"/>
          </a:p>
        </p:txBody>
      </p:sp>
      <p:sp>
        <p:nvSpPr>
          <p:cNvPr id="5" name="Shape 3"/>
          <p:cNvSpPr/>
          <p:nvPr/>
        </p:nvSpPr>
        <p:spPr>
          <a:xfrm>
            <a:off x="548640" y="1645920"/>
            <a:ext cx="1734312" cy="804672"/>
          </a:xfrm>
          <a:prstGeom prst="roundRect">
            <a:avLst>
              <a:gd name="adj" fmla="val 9091"/>
            </a:avLst>
          </a:prstGeom>
          <a:solidFill>
            <a:srgbClr val="F3F4F6"/>
          </a:solidFill>
          <a:ln w="12700">
            <a:solidFill>
              <a:srgbClr val="F3F4F6"/>
            </a:solidFill>
            <a:prstDash val="solid"/>
          </a:ln>
        </p:spPr>
      </p:sp>
      <p:sp>
        <p:nvSpPr>
          <p:cNvPr id="6" name="Text 4"/>
          <p:cNvSpPr txBox="1"/>
          <p:nvPr/>
        </p:nvSpPr>
        <p:spPr>
          <a:xfrm>
            <a:off x="68580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Trips</a:t>
            </a:r>
            <a:endParaRPr lang="en-US" sz="1050" dirty="0"/>
          </a:p>
        </p:txBody>
      </p:sp>
      <p:sp>
        <p:nvSpPr>
          <p:cNvPr id="7" name="Text 5"/>
          <p:cNvSpPr txBox="1"/>
          <p:nvPr/>
        </p:nvSpPr>
        <p:spPr>
          <a:xfrm>
            <a:off x="68580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4,608</a:t>
            </a:r>
            <a:endParaRPr lang="en-US" sz="1800" dirty="0"/>
          </a:p>
        </p:txBody>
      </p:sp>
      <p:sp>
        <p:nvSpPr>
          <p:cNvPr id="8" name="Shape 6"/>
          <p:cNvSpPr/>
          <p:nvPr/>
        </p:nvSpPr>
        <p:spPr>
          <a:xfrm>
            <a:off x="2420112" y="1645920"/>
            <a:ext cx="1734312" cy="804672"/>
          </a:xfrm>
          <a:prstGeom prst="roundRect">
            <a:avLst>
              <a:gd name="adj" fmla="val 9091"/>
            </a:avLst>
          </a:prstGeom>
          <a:solidFill>
            <a:srgbClr val="F3F4F6"/>
          </a:solidFill>
          <a:ln w="12700">
            <a:solidFill>
              <a:srgbClr val="F3F4F6"/>
            </a:solidFill>
            <a:prstDash val="solid"/>
          </a:ln>
        </p:spPr>
      </p:sp>
      <p:sp>
        <p:nvSpPr>
          <p:cNvPr id="9" name="Text 7"/>
          <p:cNvSpPr txBox="1"/>
          <p:nvPr/>
        </p:nvSpPr>
        <p:spPr>
          <a:xfrm>
            <a:off x="2557272"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a:t>
            </a:r>
            <a:endParaRPr lang="en-US" sz="1050" dirty="0"/>
          </a:p>
        </p:txBody>
      </p:sp>
      <p:sp>
        <p:nvSpPr>
          <p:cNvPr id="10" name="Text 8"/>
          <p:cNvSpPr txBox="1"/>
          <p:nvPr/>
        </p:nvSpPr>
        <p:spPr>
          <a:xfrm>
            <a:off x="2557272"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45,712</a:t>
            </a:r>
            <a:endParaRPr lang="en-US" sz="1800" dirty="0"/>
          </a:p>
        </p:txBody>
      </p:sp>
      <p:sp>
        <p:nvSpPr>
          <p:cNvPr id="11" name="Shape 9"/>
          <p:cNvSpPr/>
          <p:nvPr/>
        </p:nvSpPr>
        <p:spPr>
          <a:xfrm>
            <a:off x="4291584" y="1645920"/>
            <a:ext cx="1734312" cy="804672"/>
          </a:xfrm>
          <a:prstGeom prst="roundRect">
            <a:avLst>
              <a:gd name="adj" fmla="val 9091"/>
            </a:avLst>
          </a:prstGeom>
          <a:solidFill>
            <a:srgbClr val="F3F4F6"/>
          </a:solidFill>
          <a:ln w="12700">
            <a:solidFill>
              <a:srgbClr val="F3F4F6"/>
            </a:solidFill>
            <a:prstDash val="solid"/>
          </a:ln>
        </p:spPr>
      </p:sp>
      <p:sp>
        <p:nvSpPr>
          <p:cNvPr id="12" name="Text 10"/>
          <p:cNvSpPr txBox="1"/>
          <p:nvPr/>
        </p:nvSpPr>
        <p:spPr>
          <a:xfrm>
            <a:off x="4428744"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(lbs)</a:t>
            </a:r>
            <a:endParaRPr lang="en-US" sz="1050" dirty="0"/>
          </a:p>
        </p:txBody>
      </p:sp>
      <p:sp>
        <p:nvSpPr>
          <p:cNvPr id="13" name="Text 11"/>
          <p:cNvSpPr txBox="1"/>
          <p:nvPr/>
        </p:nvSpPr>
        <p:spPr>
          <a:xfrm>
            <a:off x="4428744"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32,330,382</a:t>
            </a:r>
            <a:endParaRPr lang="en-US" sz="1800" dirty="0"/>
          </a:p>
        </p:txBody>
      </p:sp>
      <p:sp>
        <p:nvSpPr>
          <p:cNvPr id="14" name="Shape 12"/>
          <p:cNvSpPr/>
          <p:nvPr/>
        </p:nvSpPr>
        <p:spPr>
          <a:xfrm>
            <a:off x="6163056" y="1645920"/>
            <a:ext cx="1734312" cy="804672"/>
          </a:xfrm>
          <a:prstGeom prst="roundRect">
            <a:avLst>
              <a:gd name="adj" fmla="val 9091"/>
            </a:avLst>
          </a:prstGeom>
          <a:solidFill>
            <a:srgbClr val="F3F4F6"/>
          </a:solidFill>
          <a:ln w="12700">
            <a:solidFill>
              <a:srgbClr val="F3F4F6"/>
            </a:solidFill>
            <a:prstDash val="solid"/>
          </a:ln>
        </p:spPr>
      </p:sp>
      <p:sp>
        <p:nvSpPr>
          <p:cNvPr id="15" name="Text 13"/>
          <p:cNvSpPr txBox="1"/>
          <p:nvPr/>
        </p:nvSpPr>
        <p:spPr>
          <a:xfrm>
            <a:off x="6300216"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a:t>
            </a:r>
            <a:endParaRPr lang="en-US" sz="1050" dirty="0"/>
          </a:p>
        </p:txBody>
      </p:sp>
      <p:sp>
        <p:nvSpPr>
          <p:cNvPr id="16" name="Text 14"/>
          <p:cNvSpPr txBox="1"/>
          <p:nvPr/>
        </p:nvSpPr>
        <p:spPr>
          <a:xfrm>
            <a:off x="6300216"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769,055</a:t>
            </a:r>
            <a:endParaRPr lang="en-US" sz="1800" dirty="0"/>
          </a:p>
        </p:txBody>
      </p:sp>
      <p:sp>
        <p:nvSpPr>
          <p:cNvPr id="17" name="Shape 15"/>
          <p:cNvSpPr/>
          <p:nvPr/>
        </p:nvSpPr>
        <p:spPr>
          <a:xfrm>
            <a:off x="8034528" y="1645920"/>
            <a:ext cx="1734312" cy="804672"/>
          </a:xfrm>
          <a:prstGeom prst="roundRect">
            <a:avLst>
              <a:gd name="adj" fmla="val 9091"/>
            </a:avLst>
          </a:prstGeom>
          <a:solidFill>
            <a:srgbClr val="F3F4F6"/>
          </a:solidFill>
          <a:ln w="12700">
            <a:solidFill>
              <a:srgbClr val="F3F4F6"/>
            </a:solidFill>
            <a:prstDash val="solid"/>
          </a:ln>
        </p:spPr>
      </p:sp>
      <p:sp>
        <p:nvSpPr>
          <p:cNvPr id="18" name="Text 16"/>
          <p:cNvSpPr txBox="1"/>
          <p:nvPr/>
        </p:nvSpPr>
        <p:spPr>
          <a:xfrm>
            <a:off x="8171688"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a:t>
            </a:r>
            <a:endParaRPr lang="en-US" sz="1050" dirty="0"/>
          </a:p>
        </p:txBody>
      </p:sp>
      <p:sp>
        <p:nvSpPr>
          <p:cNvPr id="19" name="Text 17"/>
          <p:cNvSpPr txBox="1"/>
          <p:nvPr/>
        </p:nvSpPr>
        <p:spPr>
          <a:xfrm>
            <a:off x="8171688"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21,889</a:t>
            </a:r>
            <a:endParaRPr lang="en-US" sz="1800" dirty="0"/>
          </a:p>
        </p:txBody>
      </p:sp>
      <p:sp>
        <p:nvSpPr>
          <p:cNvPr id="20" name="Shape 18"/>
          <p:cNvSpPr/>
          <p:nvPr/>
        </p:nvSpPr>
        <p:spPr>
          <a:xfrm>
            <a:off x="9906000" y="1645920"/>
            <a:ext cx="1734312" cy="804672"/>
          </a:xfrm>
          <a:prstGeom prst="roundRect">
            <a:avLst>
              <a:gd name="adj" fmla="val 9091"/>
            </a:avLst>
          </a:prstGeom>
          <a:solidFill>
            <a:srgbClr val="F3F4F6"/>
          </a:solidFill>
          <a:ln w="12700">
            <a:solidFill>
              <a:srgbClr val="F3F4F6"/>
            </a:solidFill>
            <a:prstDash val="solid"/>
          </a:ln>
        </p:spPr>
      </p:sp>
      <p:sp>
        <p:nvSpPr>
          <p:cNvPr id="21" name="Text 19"/>
          <p:cNvSpPr txBox="1"/>
          <p:nvPr/>
        </p:nvSpPr>
        <p:spPr>
          <a:xfrm>
            <a:off x="1004316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a:t>
            </a:r>
            <a:endParaRPr lang="en-US" sz="1050" dirty="0"/>
          </a:p>
        </p:txBody>
      </p:sp>
      <p:sp>
        <p:nvSpPr>
          <p:cNvPr id="22" name="Text 20"/>
          <p:cNvSpPr txBox="1"/>
          <p:nvPr/>
        </p:nvSpPr>
        <p:spPr>
          <a:xfrm>
            <a:off x="1004316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63,738</a:t>
            </a:r>
            <a:endParaRPr lang="en-US" sz="1800" dirty="0"/>
          </a:p>
        </p:txBody>
      </p:sp>
      <p:sp>
        <p:nvSpPr>
          <p:cNvPr id="23" name="Shape 21"/>
          <p:cNvSpPr/>
          <p:nvPr/>
        </p:nvSpPr>
        <p:spPr>
          <a:xfrm>
            <a:off x="548640" y="2560320"/>
            <a:ext cx="1734312" cy="804672"/>
          </a:xfrm>
          <a:prstGeom prst="roundRect">
            <a:avLst>
              <a:gd name="adj" fmla="val 9091"/>
            </a:avLst>
          </a:prstGeom>
          <a:solidFill>
            <a:srgbClr val="F3F4F6"/>
          </a:solidFill>
          <a:ln w="12700">
            <a:solidFill>
              <a:srgbClr val="F3F4F6"/>
            </a:solidFill>
            <a:prstDash val="solid"/>
          </a:ln>
        </p:spPr>
      </p:sp>
      <p:sp>
        <p:nvSpPr>
          <p:cNvPr id="24" name="Text 22"/>
          <p:cNvSpPr txBox="1"/>
          <p:nvPr/>
        </p:nvSpPr>
        <p:spPr>
          <a:xfrm>
            <a:off x="685800"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a:t>
            </a:r>
            <a:endParaRPr lang="en-US" sz="1050" dirty="0"/>
          </a:p>
        </p:txBody>
      </p:sp>
      <p:sp>
        <p:nvSpPr>
          <p:cNvPr id="25" name="Text 23"/>
          <p:cNvSpPr txBox="1"/>
          <p:nvPr/>
        </p:nvSpPr>
        <p:spPr>
          <a:xfrm>
            <a:off x="685800"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41,725</a:t>
            </a:r>
            <a:endParaRPr lang="en-US" sz="1800" dirty="0"/>
          </a:p>
        </p:txBody>
      </p:sp>
      <p:sp>
        <p:nvSpPr>
          <p:cNvPr id="26" name="Shape 24"/>
          <p:cNvSpPr/>
          <p:nvPr/>
        </p:nvSpPr>
        <p:spPr>
          <a:xfrm>
            <a:off x="2420112" y="2560320"/>
            <a:ext cx="1734312" cy="804672"/>
          </a:xfrm>
          <a:prstGeom prst="roundRect">
            <a:avLst>
              <a:gd name="adj" fmla="val 9091"/>
            </a:avLst>
          </a:prstGeom>
          <a:solidFill>
            <a:srgbClr val="F3F4F6"/>
          </a:solidFill>
          <a:ln w="12700">
            <a:solidFill>
              <a:srgbClr val="F3F4F6"/>
            </a:solidFill>
            <a:prstDash val="solid"/>
          </a:ln>
        </p:spPr>
      </p:sp>
      <p:sp>
        <p:nvSpPr>
          <p:cNvPr id="27" name="Text 25"/>
          <p:cNvSpPr txBox="1"/>
          <p:nvPr/>
        </p:nvSpPr>
        <p:spPr>
          <a:xfrm>
            <a:off x="2557272"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a:t>
            </a:r>
            <a:endParaRPr lang="en-US" sz="1050" dirty="0"/>
          </a:p>
        </p:txBody>
      </p:sp>
      <p:sp>
        <p:nvSpPr>
          <p:cNvPr id="28" name="Text 26"/>
          <p:cNvSpPr txBox="1"/>
          <p:nvPr/>
        </p:nvSpPr>
        <p:spPr>
          <a:xfrm>
            <a:off x="2557272"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24,401</a:t>
            </a:r>
            <a:endParaRPr lang="en-US" sz="1800" dirty="0"/>
          </a:p>
        </p:txBody>
      </p:sp>
      <p:sp>
        <p:nvSpPr>
          <p:cNvPr id="29" name="Shape 27"/>
          <p:cNvSpPr/>
          <p:nvPr/>
        </p:nvSpPr>
        <p:spPr>
          <a:xfrm>
            <a:off x="4291584" y="2560320"/>
            <a:ext cx="1734312" cy="804672"/>
          </a:xfrm>
          <a:prstGeom prst="roundRect">
            <a:avLst>
              <a:gd name="adj" fmla="val 9091"/>
            </a:avLst>
          </a:prstGeom>
          <a:solidFill>
            <a:srgbClr val="F3F4F6"/>
          </a:solidFill>
          <a:ln w="12700">
            <a:solidFill>
              <a:srgbClr val="F3F4F6"/>
            </a:solidFill>
            <a:prstDash val="solid"/>
          </a:ln>
        </p:spPr>
      </p:sp>
      <p:sp>
        <p:nvSpPr>
          <p:cNvPr id="30" name="Text 28"/>
          <p:cNvSpPr txBox="1"/>
          <p:nvPr/>
        </p:nvSpPr>
        <p:spPr>
          <a:xfrm>
            <a:off x="4428744"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attempts</a:t>
            </a:r>
            <a:endParaRPr lang="en-US" sz="1050" dirty="0"/>
          </a:p>
        </p:txBody>
      </p:sp>
      <p:sp>
        <p:nvSpPr>
          <p:cNvPr id="31" name="Text 29"/>
          <p:cNvSpPr txBox="1"/>
          <p:nvPr/>
        </p:nvSpPr>
        <p:spPr>
          <a:xfrm>
            <a:off x="4428744"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643</a:t>
            </a:r>
            <a:endParaRPr lang="en-US" sz="1800" dirty="0"/>
          </a:p>
        </p:txBody>
      </p:sp>
      <p:sp>
        <p:nvSpPr>
          <p:cNvPr id="32" name="Shape 30"/>
          <p:cNvSpPr/>
          <p:nvPr/>
        </p:nvSpPr>
        <p:spPr>
          <a:xfrm>
            <a:off x="6163056" y="2560320"/>
            <a:ext cx="1734312" cy="804672"/>
          </a:xfrm>
          <a:prstGeom prst="roundRect">
            <a:avLst>
              <a:gd name="adj" fmla="val 9091"/>
            </a:avLst>
          </a:prstGeom>
          <a:solidFill>
            <a:srgbClr val="F3F4F6"/>
          </a:solidFill>
          <a:ln w="12700">
            <a:solidFill>
              <a:srgbClr val="F3F4F6"/>
            </a:solidFill>
            <a:prstDash val="solid"/>
          </a:ln>
        </p:spPr>
      </p:sp>
      <p:sp>
        <p:nvSpPr>
          <p:cNvPr id="33" name="Text 31"/>
          <p:cNvSpPr txBox="1"/>
          <p:nvPr/>
        </p:nvSpPr>
        <p:spPr>
          <a:xfrm>
            <a:off x="6300216"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attempts</a:t>
            </a:r>
            <a:endParaRPr lang="en-US" sz="1050" dirty="0"/>
          </a:p>
        </p:txBody>
      </p:sp>
      <p:sp>
        <p:nvSpPr>
          <p:cNvPr id="34" name="Text 32"/>
          <p:cNvSpPr txBox="1"/>
          <p:nvPr/>
        </p:nvSpPr>
        <p:spPr>
          <a:xfrm>
            <a:off x="6300216"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1,848</a:t>
            </a:r>
            <a:endParaRPr lang="en-US" sz="1800" dirty="0"/>
          </a:p>
        </p:txBody>
      </p:sp>
      <p:sp>
        <p:nvSpPr>
          <p:cNvPr id="35" name="Shape 33"/>
          <p:cNvSpPr/>
          <p:nvPr/>
        </p:nvSpPr>
        <p:spPr>
          <a:xfrm>
            <a:off x="8034528" y="2560320"/>
            <a:ext cx="1734312" cy="804672"/>
          </a:xfrm>
          <a:prstGeom prst="roundRect">
            <a:avLst>
              <a:gd name="adj" fmla="val 9091"/>
            </a:avLst>
          </a:prstGeom>
          <a:solidFill>
            <a:srgbClr val="F3F4F6"/>
          </a:solidFill>
          <a:ln w="12700">
            <a:solidFill>
              <a:srgbClr val="F3F4F6"/>
            </a:solidFill>
            <a:prstDash val="solid"/>
          </a:ln>
        </p:spPr>
      </p:sp>
      <p:sp>
        <p:nvSpPr>
          <p:cNvPr id="36" name="Text 34"/>
          <p:cNvSpPr txBox="1"/>
          <p:nvPr/>
        </p:nvSpPr>
        <p:spPr>
          <a:xfrm>
            <a:off x="8171688"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Units</a:t>
            </a:r>
            <a:endParaRPr lang="en-US" sz="1050" dirty="0"/>
          </a:p>
        </p:txBody>
      </p:sp>
      <p:sp>
        <p:nvSpPr>
          <p:cNvPr id="37" name="Text 35"/>
          <p:cNvSpPr txBox="1"/>
          <p:nvPr/>
        </p:nvSpPr>
        <p:spPr>
          <a:xfrm>
            <a:off x="8171688"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53</a:t>
            </a:r>
            <a:endParaRPr lang="en-US" sz="1800" dirty="0"/>
          </a:p>
        </p:txBody>
      </p:sp>
      <p:sp>
        <p:nvSpPr>
          <p:cNvPr id="38" name="Text 36"/>
          <p:cNvSpPr txBox="1"/>
          <p:nvPr/>
        </p:nvSpPr>
        <p:spPr>
          <a:xfrm>
            <a:off x="548640" y="3520440"/>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Ratios</a:t>
            </a:r>
            <a:endParaRPr lang="en-US" sz="1500" dirty="0"/>
          </a:p>
        </p:txBody>
      </p:sp>
      <p:sp>
        <p:nvSpPr>
          <p:cNvPr id="39" name="Shape 37"/>
          <p:cNvSpPr/>
          <p:nvPr/>
        </p:nvSpPr>
        <p:spPr>
          <a:xfrm>
            <a:off x="548640" y="3867912"/>
            <a:ext cx="1734312" cy="804672"/>
          </a:xfrm>
          <a:prstGeom prst="roundRect">
            <a:avLst>
              <a:gd name="adj" fmla="val 9091"/>
            </a:avLst>
          </a:prstGeom>
          <a:solidFill>
            <a:srgbClr val="F5F3FF"/>
          </a:solidFill>
          <a:ln w="12700">
            <a:solidFill>
              <a:srgbClr val="F5F3FF"/>
            </a:solidFill>
            <a:prstDash val="solid"/>
          </a:ln>
        </p:spPr>
      </p:sp>
      <p:sp>
        <p:nvSpPr>
          <p:cNvPr id="40" name="Text 38"/>
          <p:cNvSpPr txBox="1"/>
          <p:nvPr/>
        </p:nvSpPr>
        <p:spPr>
          <a:xfrm>
            <a:off x="68580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trip</a:t>
            </a:r>
            <a:endParaRPr lang="en-US" sz="1050" dirty="0"/>
          </a:p>
        </p:txBody>
      </p:sp>
      <p:sp>
        <p:nvSpPr>
          <p:cNvPr id="41" name="Text 39"/>
          <p:cNvSpPr txBox="1"/>
          <p:nvPr/>
        </p:nvSpPr>
        <p:spPr>
          <a:xfrm>
            <a:off x="68580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9.92</a:t>
            </a:r>
            <a:endParaRPr lang="en-US" sz="1800" dirty="0"/>
          </a:p>
        </p:txBody>
      </p:sp>
      <p:sp>
        <p:nvSpPr>
          <p:cNvPr id="42" name="Shape 40"/>
          <p:cNvSpPr/>
          <p:nvPr/>
        </p:nvSpPr>
        <p:spPr>
          <a:xfrm>
            <a:off x="2420112" y="3867912"/>
            <a:ext cx="1734312" cy="804672"/>
          </a:xfrm>
          <a:prstGeom prst="roundRect">
            <a:avLst>
              <a:gd name="adj" fmla="val 9091"/>
            </a:avLst>
          </a:prstGeom>
          <a:solidFill>
            <a:srgbClr val="F5F3FF"/>
          </a:solidFill>
          <a:ln w="12700">
            <a:solidFill>
              <a:srgbClr val="F5F3FF"/>
            </a:solidFill>
            <a:prstDash val="solid"/>
          </a:ln>
        </p:spPr>
      </p:sp>
      <p:sp>
        <p:nvSpPr>
          <p:cNvPr id="43" name="Text 41"/>
          <p:cNvSpPr txBox="1"/>
          <p:nvPr/>
        </p:nvSpPr>
        <p:spPr>
          <a:xfrm>
            <a:off x="2557272"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trip</a:t>
            </a:r>
            <a:endParaRPr lang="en-US" sz="1050" dirty="0"/>
          </a:p>
        </p:txBody>
      </p:sp>
      <p:sp>
        <p:nvSpPr>
          <p:cNvPr id="44" name="Text 42"/>
          <p:cNvSpPr txBox="1"/>
          <p:nvPr/>
        </p:nvSpPr>
        <p:spPr>
          <a:xfrm>
            <a:off x="2557272"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7,017 lbs</a:t>
            </a:r>
            <a:endParaRPr lang="en-US" sz="1800" dirty="0"/>
          </a:p>
        </p:txBody>
      </p:sp>
      <p:sp>
        <p:nvSpPr>
          <p:cNvPr id="45" name="Shape 43"/>
          <p:cNvSpPr/>
          <p:nvPr/>
        </p:nvSpPr>
        <p:spPr>
          <a:xfrm>
            <a:off x="4291584" y="3867912"/>
            <a:ext cx="1734312" cy="804672"/>
          </a:xfrm>
          <a:prstGeom prst="roundRect">
            <a:avLst>
              <a:gd name="adj" fmla="val 9091"/>
            </a:avLst>
          </a:prstGeom>
          <a:solidFill>
            <a:srgbClr val="F5F3FF"/>
          </a:solidFill>
          <a:ln w="12700">
            <a:solidFill>
              <a:srgbClr val="F5F3FF"/>
            </a:solidFill>
            <a:prstDash val="solid"/>
          </a:ln>
        </p:spPr>
      </p:sp>
      <p:sp>
        <p:nvSpPr>
          <p:cNvPr id="46" name="Text 44"/>
          <p:cNvSpPr txBox="1"/>
          <p:nvPr/>
        </p:nvSpPr>
        <p:spPr>
          <a:xfrm>
            <a:off x="4428744"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trip</a:t>
            </a:r>
            <a:endParaRPr lang="en-US" sz="1050" dirty="0"/>
          </a:p>
        </p:txBody>
      </p:sp>
      <p:sp>
        <p:nvSpPr>
          <p:cNvPr id="47" name="Text 45"/>
          <p:cNvSpPr txBox="1"/>
          <p:nvPr/>
        </p:nvSpPr>
        <p:spPr>
          <a:xfrm>
            <a:off x="4428744"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109.1</a:t>
            </a:r>
            <a:endParaRPr lang="en-US" sz="1800" dirty="0"/>
          </a:p>
        </p:txBody>
      </p:sp>
      <p:sp>
        <p:nvSpPr>
          <p:cNvPr id="48" name="Shape 46"/>
          <p:cNvSpPr/>
          <p:nvPr/>
        </p:nvSpPr>
        <p:spPr>
          <a:xfrm>
            <a:off x="6163056" y="3867912"/>
            <a:ext cx="1734312" cy="804672"/>
          </a:xfrm>
          <a:prstGeom prst="roundRect">
            <a:avLst>
              <a:gd name="adj" fmla="val 9091"/>
            </a:avLst>
          </a:prstGeom>
          <a:solidFill>
            <a:srgbClr val="F5F3FF"/>
          </a:solidFill>
          <a:ln w="12700">
            <a:solidFill>
              <a:srgbClr val="F5F3FF"/>
            </a:solidFill>
            <a:prstDash val="solid"/>
          </a:ln>
        </p:spPr>
      </p:sp>
      <p:sp>
        <p:nvSpPr>
          <p:cNvPr id="49" name="Text 47"/>
          <p:cNvSpPr txBox="1"/>
          <p:nvPr/>
        </p:nvSpPr>
        <p:spPr>
          <a:xfrm>
            <a:off x="6300216"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 / trip</a:t>
            </a:r>
            <a:endParaRPr lang="en-US" sz="1050" dirty="0"/>
          </a:p>
        </p:txBody>
      </p:sp>
      <p:sp>
        <p:nvSpPr>
          <p:cNvPr id="50" name="Text 48"/>
          <p:cNvSpPr txBox="1"/>
          <p:nvPr/>
        </p:nvSpPr>
        <p:spPr>
          <a:xfrm>
            <a:off x="6300216"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13.83</a:t>
            </a:r>
            <a:endParaRPr lang="en-US" sz="1800" dirty="0"/>
          </a:p>
        </p:txBody>
      </p:sp>
      <p:sp>
        <p:nvSpPr>
          <p:cNvPr id="51" name="Shape 49"/>
          <p:cNvSpPr/>
          <p:nvPr/>
        </p:nvSpPr>
        <p:spPr>
          <a:xfrm>
            <a:off x="8034528" y="3867912"/>
            <a:ext cx="1734312" cy="804672"/>
          </a:xfrm>
          <a:prstGeom prst="roundRect">
            <a:avLst>
              <a:gd name="adj" fmla="val 9091"/>
            </a:avLst>
          </a:prstGeom>
          <a:solidFill>
            <a:srgbClr val="F5F3FF"/>
          </a:solidFill>
          <a:ln w="12700">
            <a:solidFill>
              <a:srgbClr val="F5F3FF"/>
            </a:solidFill>
            <a:prstDash val="solid"/>
          </a:ln>
        </p:spPr>
      </p:sp>
      <p:sp>
        <p:nvSpPr>
          <p:cNvPr id="52" name="Text 50"/>
          <p:cNvSpPr txBox="1"/>
          <p:nvPr/>
        </p:nvSpPr>
        <p:spPr>
          <a:xfrm>
            <a:off x="8171688"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 / trip</a:t>
            </a:r>
            <a:endParaRPr lang="en-US" sz="1050" dirty="0"/>
          </a:p>
        </p:txBody>
      </p:sp>
      <p:sp>
        <p:nvSpPr>
          <p:cNvPr id="53" name="Text 51"/>
          <p:cNvSpPr txBox="1"/>
          <p:nvPr/>
        </p:nvSpPr>
        <p:spPr>
          <a:xfrm>
            <a:off x="8171688"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9.19</a:t>
            </a:r>
            <a:endParaRPr lang="en-US" sz="1800" dirty="0"/>
          </a:p>
        </p:txBody>
      </p:sp>
      <p:sp>
        <p:nvSpPr>
          <p:cNvPr id="54" name="Shape 52"/>
          <p:cNvSpPr/>
          <p:nvPr/>
        </p:nvSpPr>
        <p:spPr>
          <a:xfrm>
            <a:off x="9906000" y="3867912"/>
            <a:ext cx="1734312" cy="804672"/>
          </a:xfrm>
          <a:prstGeom prst="roundRect">
            <a:avLst>
              <a:gd name="adj" fmla="val 9091"/>
            </a:avLst>
          </a:prstGeom>
          <a:solidFill>
            <a:srgbClr val="F5F3FF"/>
          </a:solidFill>
          <a:ln w="12700">
            <a:solidFill>
              <a:srgbClr val="F5F3FF"/>
            </a:solidFill>
            <a:prstDash val="solid"/>
          </a:ln>
        </p:spPr>
      </p:sp>
      <p:sp>
        <p:nvSpPr>
          <p:cNvPr id="55" name="Text 53"/>
          <p:cNvSpPr txBox="1"/>
          <p:nvPr/>
        </p:nvSpPr>
        <p:spPr>
          <a:xfrm>
            <a:off x="1004316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 / trip</a:t>
            </a:r>
            <a:endParaRPr lang="en-US" sz="1050" dirty="0"/>
          </a:p>
        </p:txBody>
      </p:sp>
      <p:sp>
        <p:nvSpPr>
          <p:cNvPr id="56" name="Text 54"/>
          <p:cNvSpPr txBox="1"/>
          <p:nvPr/>
        </p:nvSpPr>
        <p:spPr>
          <a:xfrm>
            <a:off x="1004316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5.70</a:t>
            </a:r>
            <a:endParaRPr lang="en-US" sz="1800" dirty="0"/>
          </a:p>
        </p:txBody>
      </p:sp>
      <p:sp>
        <p:nvSpPr>
          <p:cNvPr id="57" name="Shape 55"/>
          <p:cNvSpPr/>
          <p:nvPr/>
        </p:nvSpPr>
        <p:spPr>
          <a:xfrm>
            <a:off x="548640" y="4782312"/>
            <a:ext cx="1734312" cy="804672"/>
          </a:xfrm>
          <a:prstGeom prst="roundRect">
            <a:avLst>
              <a:gd name="adj" fmla="val 9091"/>
            </a:avLst>
          </a:prstGeom>
          <a:solidFill>
            <a:srgbClr val="F5F3FF"/>
          </a:solidFill>
          <a:ln w="12700">
            <a:solidFill>
              <a:srgbClr val="F5F3FF"/>
            </a:solidFill>
            <a:prstDash val="solid"/>
          </a:ln>
        </p:spPr>
      </p:sp>
      <p:sp>
        <p:nvSpPr>
          <p:cNvPr id="58" name="Text 56"/>
          <p:cNvSpPr txBox="1"/>
          <p:nvPr/>
        </p:nvSpPr>
        <p:spPr>
          <a:xfrm>
            <a:off x="68580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stop</a:t>
            </a:r>
            <a:endParaRPr lang="en-US" sz="1050" dirty="0"/>
          </a:p>
        </p:txBody>
      </p:sp>
      <p:sp>
        <p:nvSpPr>
          <p:cNvPr id="59" name="Text 57"/>
          <p:cNvSpPr txBox="1"/>
          <p:nvPr/>
        </p:nvSpPr>
        <p:spPr>
          <a:xfrm>
            <a:off x="68580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16.82</a:t>
            </a:r>
            <a:endParaRPr lang="en-US" sz="1800" dirty="0"/>
          </a:p>
        </p:txBody>
      </p:sp>
      <p:sp>
        <p:nvSpPr>
          <p:cNvPr id="60" name="Shape 58"/>
          <p:cNvSpPr/>
          <p:nvPr/>
        </p:nvSpPr>
        <p:spPr>
          <a:xfrm>
            <a:off x="2420112" y="4782312"/>
            <a:ext cx="1734312" cy="804672"/>
          </a:xfrm>
          <a:prstGeom prst="roundRect">
            <a:avLst>
              <a:gd name="adj" fmla="val 9091"/>
            </a:avLst>
          </a:prstGeom>
          <a:solidFill>
            <a:srgbClr val="F5F3FF"/>
          </a:solidFill>
          <a:ln w="12700">
            <a:solidFill>
              <a:srgbClr val="F5F3FF"/>
            </a:solidFill>
            <a:prstDash val="solid"/>
          </a:ln>
        </p:spPr>
      </p:sp>
      <p:sp>
        <p:nvSpPr>
          <p:cNvPr id="61" name="Text 59"/>
          <p:cNvSpPr txBox="1"/>
          <p:nvPr/>
        </p:nvSpPr>
        <p:spPr>
          <a:xfrm>
            <a:off x="2557272"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stop</a:t>
            </a:r>
            <a:endParaRPr lang="en-US" sz="1050" dirty="0"/>
          </a:p>
        </p:txBody>
      </p:sp>
      <p:sp>
        <p:nvSpPr>
          <p:cNvPr id="62" name="Text 60"/>
          <p:cNvSpPr txBox="1"/>
          <p:nvPr/>
        </p:nvSpPr>
        <p:spPr>
          <a:xfrm>
            <a:off x="2557272"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707 lbs</a:t>
            </a:r>
            <a:endParaRPr lang="en-US" sz="1800" dirty="0"/>
          </a:p>
        </p:txBody>
      </p:sp>
      <p:sp>
        <p:nvSpPr>
          <p:cNvPr id="63" name="Shape 61"/>
          <p:cNvSpPr/>
          <p:nvPr/>
        </p:nvSpPr>
        <p:spPr>
          <a:xfrm>
            <a:off x="4291584" y="4782312"/>
            <a:ext cx="1734312" cy="804672"/>
          </a:xfrm>
          <a:prstGeom prst="roundRect">
            <a:avLst>
              <a:gd name="adj" fmla="val 9091"/>
            </a:avLst>
          </a:prstGeom>
          <a:solidFill>
            <a:srgbClr val="F5F3FF"/>
          </a:solidFill>
          <a:ln w="12700">
            <a:solidFill>
              <a:srgbClr val="F5F3FF"/>
            </a:solidFill>
            <a:prstDash val="solid"/>
          </a:ln>
        </p:spPr>
      </p:sp>
      <p:sp>
        <p:nvSpPr>
          <p:cNvPr id="64" name="Text 62"/>
          <p:cNvSpPr txBox="1"/>
          <p:nvPr/>
        </p:nvSpPr>
        <p:spPr>
          <a:xfrm>
            <a:off x="4428744"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bill</a:t>
            </a:r>
            <a:endParaRPr lang="en-US" sz="1050" dirty="0"/>
          </a:p>
        </p:txBody>
      </p:sp>
      <p:sp>
        <p:nvSpPr>
          <p:cNvPr id="65" name="Text 63"/>
          <p:cNvSpPr txBox="1"/>
          <p:nvPr/>
        </p:nvSpPr>
        <p:spPr>
          <a:xfrm>
            <a:off x="4428744"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507 lbs</a:t>
            </a:r>
            <a:endParaRPr lang="en-US" sz="1800" dirty="0"/>
          </a:p>
        </p:txBody>
      </p:sp>
      <p:sp>
        <p:nvSpPr>
          <p:cNvPr id="66" name="Shape 64"/>
          <p:cNvSpPr/>
          <p:nvPr/>
        </p:nvSpPr>
        <p:spPr>
          <a:xfrm>
            <a:off x="6163056" y="4782312"/>
            <a:ext cx="1734312" cy="804672"/>
          </a:xfrm>
          <a:prstGeom prst="roundRect">
            <a:avLst>
              <a:gd name="adj" fmla="val 9091"/>
            </a:avLst>
          </a:prstGeom>
          <a:solidFill>
            <a:srgbClr val="F5F3FF"/>
          </a:solidFill>
          <a:ln w="12700">
            <a:solidFill>
              <a:srgbClr val="F5F3FF"/>
            </a:solidFill>
            <a:prstDash val="solid"/>
          </a:ln>
        </p:spPr>
      </p:sp>
      <p:sp>
        <p:nvSpPr>
          <p:cNvPr id="67" name="Text 65"/>
          <p:cNvSpPr txBox="1"/>
          <p:nvPr/>
        </p:nvSpPr>
        <p:spPr>
          <a:xfrm>
            <a:off x="6300216"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hour</a:t>
            </a:r>
            <a:endParaRPr lang="en-US" sz="1050" dirty="0"/>
          </a:p>
        </p:txBody>
      </p:sp>
      <p:sp>
        <p:nvSpPr>
          <p:cNvPr id="68" name="Text 66"/>
          <p:cNvSpPr txBox="1"/>
          <p:nvPr/>
        </p:nvSpPr>
        <p:spPr>
          <a:xfrm>
            <a:off x="6300216"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35.13</a:t>
            </a:r>
            <a:endParaRPr lang="en-US" sz="1800" dirty="0"/>
          </a:p>
        </p:txBody>
      </p:sp>
      <p:sp>
        <p:nvSpPr>
          <p:cNvPr id="69" name="Shape 67"/>
          <p:cNvSpPr/>
          <p:nvPr/>
        </p:nvSpPr>
        <p:spPr>
          <a:xfrm>
            <a:off x="8034528" y="4782312"/>
            <a:ext cx="1734312" cy="804672"/>
          </a:xfrm>
          <a:prstGeom prst="roundRect">
            <a:avLst>
              <a:gd name="adj" fmla="val 9091"/>
            </a:avLst>
          </a:prstGeom>
          <a:solidFill>
            <a:srgbClr val="F5F3FF"/>
          </a:solidFill>
          <a:ln w="12700">
            <a:solidFill>
              <a:srgbClr val="F5F3FF"/>
            </a:solidFill>
            <a:prstDash val="solid"/>
          </a:ln>
        </p:spPr>
      </p:sp>
      <p:sp>
        <p:nvSpPr>
          <p:cNvPr id="70" name="Text 68"/>
          <p:cNvSpPr txBox="1"/>
          <p:nvPr/>
        </p:nvSpPr>
        <p:spPr>
          <a:xfrm>
            <a:off x="8171688"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hour</a:t>
            </a:r>
            <a:endParaRPr lang="en-US" sz="1050" dirty="0"/>
          </a:p>
        </p:txBody>
      </p:sp>
      <p:sp>
        <p:nvSpPr>
          <p:cNvPr id="71" name="Text 69"/>
          <p:cNvSpPr txBox="1"/>
          <p:nvPr/>
        </p:nvSpPr>
        <p:spPr>
          <a:xfrm>
            <a:off x="8171688"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2.09</a:t>
            </a:r>
            <a:endParaRPr lang="en-US" sz="1800" dirty="0"/>
          </a:p>
        </p:txBody>
      </p:sp>
      <p:sp>
        <p:nvSpPr>
          <p:cNvPr id="72" name="Shape 70"/>
          <p:cNvSpPr/>
          <p:nvPr/>
        </p:nvSpPr>
        <p:spPr>
          <a:xfrm>
            <a:off x="9906000" y="4782312"/>
            <a:ext cx="1734312" cy="804672"/>
          </a:xfrm>
          <a:prstGeom prst="roundRect">
            <a:avLst>
              <a:gd name="adj" fmla="val 9091"/>
            </a:avLst>
          </a:prstGeom>
          <a:solidFill>
            <a:srgbClr val="F5F3FF"/>
          </a:solidFill>
          <a:ln w="12700">
            <a:solidFill>
              <a:srgbClr val="F5F3FF"/>
            </a:solidFill>
            <a:prstDash val="solid"/>
          </a:ln>
        </p:spPr>
      </p:sp>
      <p:sp>
        <p:nvSpPr>
          <p:cNvPr id="73" name="Text 71"/>
          <p:cNvSpPr txBox="1"/>
          <p:nvPr/>
        </p:nvSpPr>
        <p:spPr>
          <a:xfrm>
            <a:off x="1004316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 / trip</a:t>
            </a:r>
            <a:endParaRPr lang="en-US" sz="1050" dirty="0"/>
          </a:p>
        </p:txBody>
      </p:sp>
      <p:sp>
        <p:nvSpPr>
          <p:cNvPr id="74" name="Text 72"/>
          <p:cNvSpPr txBox="1"/>
          <p:nvPr/>
        </p:nvSpPr>
        <p:spPr>
          <a:xfrm>
            <a:off x="1004316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4.75</a:t>
            </a:r>
            <a:endParaRPr lang="en-US" sz="1800" dirty="0"/>
          </a:p>
        </p:txBody>
      </p:sp>
      <p:sp>
        <p:nvSpPr>
          <p:cNvPr id="75" name="Text 7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P&amp;D daily totals dashboard — Mississauga, F27 Q1 (Jul–Sep 2026).</a:t>
            </a:r>
            <a:endParaRPr lang="en-US" sz="950" dirty="0"/>
          </a:p>
        </p:txBody>
      </p:sp>
      <p:sp>
        <p:nvSpPr>
          <p:cNvPr id="76" name="Text 7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77" name="Text 7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21</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September</a:t>
            </a:r>
            <a:endParaRPr lang="en-US" sz="3000" dirty="0"/>
          </a:p>
        </p:txBody>
      </p:sp>
      <p:sp>
        <p:nvSpPr>
          <p:cNvPr id="4" name="Text 2"/>
          <p:cNvSpPr txBox="1"/>
          <p:nvPr/>
        </p:nvSpPr>
        <p:spPr>
          <a:xfrm>
            <a:off x="548640" y="1261872"/>
            <a:ext cx="10972800" cy="320040"/>
          </a:xfrm>
          <a:prstGeom prst="rect">
            <a:avLst/>
          </a:prstGeom>
          <a:noFill/>
          <a:ln/>
        </p:spPr>
        <p:txBody>
          <a:bodyPr wrap="square" lIns="0" tIns="0" rIns="0" bIns="0" rtlCol="0" anchor="ctr"/>
          <a:lstStyle/>
          <a:p>
            <a:pPr indent="0" marL="0">
              <a:buNone/>
            </a:pPr>
            <a:r>
              <a:rPr lang="en-US" sz="1500" dirty="0">
                <a:solidFill>
                  <a:srgbClr val="6B7280"/>
                </a:solidFill>
                <a:latin typeface="Calibri" pitchFamily="34" charset="0"/>
                <a:ea typeface="Calibri" pitchFamily="34" charset="-122"/>
                <a:cs typeface="Calibri" pitchFamily="34" charset="-120"/>
              </a:rPr>
              <a:t>Weekly LF score vs </a:t>
            </a:r>
            <a:pPr indent="0" marL="0">
              <a:buNone/>
            </a:pPr>
            <a:r>
              <a:rPr lang="en-US" sz="1500" b="1" dirty="0">
                <a:solidFill>
                  <a:srgbClr val="111827"/>
                </a:solidFill>
                <a:latin typeface="Calibri" pitchFamily="34" charset="0"/>
                <a:ea typeface="Calibri" pitchFamily="34" charset="-122"/>
                <a:cs typeface="Calibri" pitchFamily="34" charset="-120"/>
              </a:rPr>
              <a:t>80%</a:t>
            </a:r>
            <a:pPr indent="0" marL="0">
              <a:buNone/>
            </a:pPr>
            <a:r>
              <a:rPr lang="en-US" sz="1500" dirty="0">
                <a:solidFill>
                  <a:srgbClr val="6B7280"/>
                </a:solidFill>
                <a:latin typeface="Calibri" pitchFamily="34" charset="0"/>
                <a:ea typeface="Calibri" pitchFamily="34" charset="-122"/>
                <a:cs typeface="Calibri" pitchFamily="34" charset="-120"/>
              </a:rPr>
              <a:t> target  ·  load % vs </a:t>
            </a:r>
            <a:pPr indent="0" marL="0">
              <a:buNone/>
            </a:pPr>
            <a:r>
              <a:rPr lang="en-US" sz="1500" b="1" dirty="0">
                <a:solidFill>
                  <a:srgbClr val="111827"/>
                </a:solidFill>
                <a:latin typeface="Calibri" pitchFamily="34" charset="0"/>
                <a:ea typeface="Calibri" pitchFamily="34" charset="-122"/>
                <a:cs typeface="Calibri" pitchFamily="34" charset="-120"/>
              </a:rPr>
              <a:t>98%</a:t>
            </a:r>
            <a:pPr indent="0" marL="0">
              <a:buNone/>
            </a:pPr>
            <a:r>
              <a:rPr lang="en-US" sz="1500" dirty="0">
                <a:solidFill>
                  <a:srgbClr val="6B7280"/>
                </a:solidFill>
                <a:latin typeface="Calibri" pitchFamily="34" charset="0"/>
                <a:ea typeface="Calibri" pitchFamily="34" charset="-122"/>
                <a:cs typeface="Calibri" pitchFamily="34" charset="-120"/>
              </a:rPr>
              <a:t> target</a:t>
            </a:r>
            <a:endParaRPr lang="en-US" sz="1500" dirty="0"/>
          </a:p>
        </p:txBody>
      </p:sp>
      <p:sp>
        <p:nvSpPr>
          <p:cNvPr id="5" name="Shape 3"/>
          <p:cNvSpPr/>
          <p:nvPr/>
        </p:nvSpPr>
        <p:spPr>
          <a:xfrm>
            <a:off x="548640" y="1783080"/>
            <a:ext cx="2567178" cy="3291840"/>
          </a:xfrm>
          <a:prstGeom prst="roundRect">
            <a:avLst>
              <a:gd name="adj" fmla="val 2850"/>
            </a:avLst>
          </a:prstGeom>
          <a:solidFill>
            <a:srgbClr val="F3F4F6"/>
          </a:solidFill>
          <a:ln w="12700">
            <a:solidFill>
              <a:srgbClr val="F3F4F6"/>
            </a:solidFill>
            <a:prstDash val="solid"/>
          </a:ln>
        </p:spPr>
      </p:sp>
      <p:sp>
        <p:nvSpPr>
          <p:cNvPr id="6" name="Shape 4"/>
          <p:cNvSpPr/>
          <p:nvPr/>
        </p:nvSpPr>
        <p:spPr>
          <a:xfrm>
            <a:off x="777240" y="2011680"/>
            <a:ext cx="457200" cy="457200"/>
          </a:xfrm>
          <a:prstGeom prst="ellipse">
            <a:avLst/>
          </a:prstGeom>
          <a:solidFill>
            <a:srgbClr val="7C3AED"/>
          </a:solidFill>
          <a:ln w="12700">
            <a:solidFill>
              <a:srgbClr val="7C3AED"/>
            </a:solidFill>
            <a:prstDash val="solid"/>
          </a:ln>
        </p:spPr>
      </p:sp>
      <p:sp>
        <p:nvSpPr>
          <p:cNvPr id="7" name="Text 5"/>
          <p:cNvSpPr txBox="1"/>
          <p:nvPr/>
        </p:nvSpPr>
        <p:spPr>
          <a:xfrm>
            <a:off x="777240"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371600" y="2011680"/>
            <a:ext cx="1561338" cy="45720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Sep 1–5</a:t>
            </a:r>
            <a:endParaRPr lang="en-US" sz="1600" dirty="0"/>
          </a:p>
        </p:txBody>
      </p:sp>
      <p:sp>
        <p:nvSpPr>
          <p:cNvPr id="9" name="Text 7"/>
          <p:cNvSpPr txBox="1"/>
          <p:nvPr/>
        </p:nvSpPr>
        <p:spPr>
          <a:xfrm>
            <a:off x="777240" y="265176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LF score</a:t>
            </a:r>
            <a:endParaRPr lang="en-US" sz="1200" dirty="0"/>
          </a:p>
        </p:txBody>
      </p:sp>
      <p:sp>
        <p:nvSpPr>
          <p:cNvPr id="10" name="Text 8"/>
          <p:cNvSpPr txBox="1"/>
          <p:nvPr/>
        </p:nvSpPr>
        <p:spPr>
          <a:xfrm>
            <a:off x="777240" y="289864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1" name="Text 9"/>
          <p:cNvSpPr txBox="1"/>
          <p:nvPr/>
        </p:nvSpPr>
        <p:spPr>
          <a:xfrm>
            <a:off x="777240" y="349300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80%</a:t>
            </a:r>
            <a:endParaRPr lang="en-US" sz="1100" dirty="0"/>
          </a:p>
        </p:txBody>
      </p:sp>
      <p:sp>
        <p:nvSpPr>
          <p:cNvPr id="12" name="Text 10"/>
          <p:cNvSpPr txBox="1"/>
          <p:nvPr/>
        </p:nvSpPr>
        <p:spPr>
          <a:xfrm>
            <a:off x="777240" y="388620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Load %</a:t>
            </a:r>
            <a:endParaRPr lang="en-US" sz="1200" dirty="0"/>
          </a:p>
        </p:txBody>
      </p:sp>
      <p:sp>
        <p:nvSpPr>
          <p:cNvPr id="13" name="Text 11"/>
          <p:cNvSpPr txBox="1"/>
          <p:nvPr/>
        </p:nvSpPr>
        <p:spPr>
          <a:xfrm>
            <a:off x="777240" y="413308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4" name="Text 12"/>
          <p:cNvSpPr txBox="1"/>
          <p:nvPr/>
        </p:nvSpPr>
        <p:spPr>
          <a:xfrm>
            <a:off x="777240" y="472744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98%</a:t>
            </a:r>
            <a:endParaRPr lang="en-US" sz="1100" dirty="0"/>
          </a:p>
        </p:txBody>
      </p:sp>
      <p:sp>
        <p:nvSpPr>
          <p:cNvPr id="15" name="Shape 13"/>
          <p:cNvSpPr/>
          <p:nvPr/>
        </p:nvSpPr>
        <p:spPr>
          <a:xfrm>
            <a:off x="3390138" y="1783080"/>
            <a:ext cx="2567178" cy="3291840"/>
          </a:xfrm>
          <a:prstGeom prst="roundRect">
            <a:avLst>
              <a:gd name="adj" fmla="val 2850"/>
            </a:avLst>
          </a:prstGeom>
          <a:solidFill>
            <a:srgbClr val="F3F4F6"/>
          </a:solidFill>
          <a:ln w="12700">
            <a:solidFill>
              <a:srgbClr val="F3F4F6"/>
            </a:solidFill>
            <a:prstDash val="solid"/>
          </a:ln>
        </p:spPr>
      </p:sp>
      <p:sp>
        <p:nvSpPr>
          <p:cNvPr id="16" name="Shape 14"/>
          <p:cNvSpPr/>
          <p:nvPr/>
        </p:nvSpPr>
        <p:spPr>
          <a:xfrm>
            <a:off x="3618738" y="2011680"/>
            <a:ext cx="457200" cy="457200"/>
          </a:xfrm>
          <a:prstGeom prst="ellipse">
            <a:avLst/>
          </a:prstGeom>
          <a:solidFill>
            <a:srgbClr val="7C3AED"/>
          </a:solidFill>
          <a:ln w="12700">
            <a:solidFill>
              <a:srgbClr val="7C3AED"/>
            </a:solidFill>
            <a:prstDash val="solid"/>
          </a:ln>
        </p:spPr>
      </p:sp>
      <p:sp>
        <p:nvSpPr>
          <p:cNvPr id="17" name="Text 15"/>
          <p:cNvSpPr txBox="1"/>
          <p:nvPr/>
        </p:nvSpPr>
        <p:spPr>
          <a:xfrm>
            <a:off x="3618738"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4213098" y="2011680"/>
            <a:ext cx="1561338" cy="45720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Sep 6–12</a:t>
            </a:r>
            <a:endParaRPr lang="en-US" sz="1600" dirty="0"/>
          </a:p>
        </p:txBody>
      </p:sp>
      <p:sp>
        <p:nvSpPr>
          <p:cNvPr id="19" name="Text 17"/>
          <p:cNvSpPr txBox="1"/>
          <p:nvPr/>
        </p:nvSpPr>
        <p:spPr>
          <a:xfrm>
            <a:off x="3618738" y="265176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LF score</a:t>
            </a:r>
            <a:endParaRPr lang="en-US" sz="1200" dirty="0"/>
          </a:p>
        </p:txBody>
      </p:sp>
      <p:sp>
        <p:nvSpPr>
          <p:cNvPr id="20" name="Text 18"/>
          <p:cNvSpPr txBox="1"/>
          <p:nvPr/>
        </p:nvSpPr>
        <p:spPr>
          <a:xfrm>
            <a:off x="3618738" y="289864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21" name="Text 19"/>
          <p:cNvSpPr txBox="1"/>
          <p:nvPr/>
        </p:nvSpPr>
        <p:spPr>
          <a:xfrm>
            <a:off x="3618738" y="349300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80%</a:t>
            </a:r>
            <a:endParaRPr lang="en-US" sz="1100" dirty="0"/>
          </a:p>
        </p:txBody>
      </p:sp>
      <p:sp>
        <p:nvSpPr>
          <p:cNvPr id="22" name="Text 20"/>
          <p:cNvSpPr txBox="1"/>
          <p:nvPr/>
        </p:nvSpPr>
        <p:spPr>
          <a:xfrm>
            <a:off x="3618738" y="388620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Load %</a:t>
            </a:r>
            <a:endParaRPr lang="en-US" sz="1200" dirty="0"/>
          </a:p>
        </p:txBody>
      </p:sp>
      <p:sp>
        <p:nvSpPr>
          <p:cNvPr id="23" name="Text 21"/>
          <p:cNvSpPr txBox="1"/>
          <p:nvPr/>
        </p:nvSpPr>
        <p:spPr>
          <a:xfrm>
            <a:off x="3618738" y="413308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24" name="Text 22"/>
          <p:cNvSpPr txBox="1"/>
          <p:nvPr/>
        </p:nvSpPr>
        <p:spPr>
          <a:xfrm>
            <a:off x="3618738" y="472744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98%</a:t>
            </a:r>
            <a:endParaRPr lang="en-US" sz="1100" dirty="0"/>
          </a:p>
        </p:txBody>
      </p:sp>
      <p:sp>
        <p:nvSpPr>
          <p:cNvPr id="25" name="Shape 23"/>
          <p:cNvSpPr/>
          <p:nvPr/>
        </p:nvSpPr>
        <p:spPr>
          <a:xfrm>
            <a:off x="6231636" y="1783080"/>
            <a:ext cx="2567178" cy="3291840"/>
          </a:xfrm>
          <a:prstGeom prst="roundRect">
            <a:avLst>
              <a:gd name="adj" fmla="val 2850"/>
            </a:avLst>
          </a:prstGeom>
          <a:solidFill>
            <a:srgbClr val="F3F4F6"/>
          </a:solidFill>
          <a:ln w="12700">
            <a:solidFill>
              <a:srgbClr val="F3F4F6"/>
            </a:solidFill>
            <a:prstDash val="solid"/>
          </a:ln>
        </p:spPr>
      </p:sp>
      <p:sp>
        <p:nvSpPr>
          <p:cNvPr id="26" name="Shape 24"/>
          <p:cNvSpPr/>
          <p:nvPr/>
        </p:nvSpPr>
        <p:spPr>
          <a:xfrm>
            <a:off x="6460236" y="2011680"/>
            <a:ext cx="457200" cy="457200"/>
          </a:xfrm>
          <a:prstGeom prst="ellipse">
            <a:avLst/>
          </a:prstGeom>
          <a:solidFill>
            <a:srgbClr val="7C3AED"/>
          </a:solidFill>
          <a:ln w="12700">
            <a:solidFill>
              <a:srgbClr val="7C3AED"/>
            </a:solidFill>
            <a:prstDash val="solid"/>
          </a:ln>
        </p:spPr>
      </p:sp>
      <p:sp>
        <p:nvSpPr>
          <p:cNvPr id="27" name="Text 25"/>
          <p:cNvSpPr txBox="1"/>
          <p:nvPr/>
        </p:nvSpPr>
        <p:spPr>
          <a:xfrm>
            <a:off x="6460236"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8" name="Text 26"/>
          <p:cNvSpPr txBox="1"/>
          <p:nvPr/>
        </p:nvSpPr>
        <p:spPr>
          <a:xfrm>
            <a:off x="7054596" y="2011680"/>
            <a:ext cx="1561338" cy="45720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Sep 13–19</a:t>
            </a:r>
            <a:endParaRPr lang="en-US" sz="1600" dirty="0"/>
          </a:p>
        </p:txBody>
      </p:sp>
      <p:sp>
        <p:nvSpPr>
          <p:cNvPr id="29" name="Text 27"/>
          <p:cNvSpPr txBox="1"/>
          <p:nvPr/>
        </p:nvSpPr>
        <p:spPr>
          <a:xfrm>
            <a:off x="6460236" y="265176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LF score</a:t>
            </a:r>
            <a:endParaRPr lang="en-US" sz="1200" dirty="0"/>
          </a:p>
        </p:txBody>
      </p:sp>
      <p:sp>
        <p:nvSpPr>
          <p:cNvPr id="30" name="Text 28"/>
          <p:cNvSpPr txBox="1"/>
          <p:nvPr/>
        </p:nvSpPr>
        <p:spPr>
          <a:xfrm>
            <a:off x="6460236" y="289864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31" name="Text 29"/>
          <p:cNvSpPr txBox="1"/>
          <p:nvPr/>
        </p:nvSpPr>
        <p:spPr>
          <a:xfrm>
            <a:off x="6460236" y="349300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80%</a:t>
            </a:r>
            <a:endParaRPr lang="en-US" sz="1100" dirty="0"/>
          </a:p>
        </p:txBody>
      </p:sp>
      <p:sp>
        <p:nvSpPr>
          <p:cNvPr id="32" name="Text 30"/>
          <p:cNvSpPr txBox="1"/>
          <p:nvPr/>
        </p:nvSpPr>
        <p:spPr>
          <a:xfrm>
            <a:off x="6460236" y="388620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Load %</a:t>
            </a:r>
            <a:endParaRPr lang="en-US" sz="1200" dirty="0"/>
          </a:p>
        </p:txBody>
      </p:sp>
      <p:sp>
        <p:nvSpPr>
          <p:cNvPr id="33" name="Text 31"/>
          <p:cNvSpPr txBox="1"/>
          <p:nvPr/>
        </p:nvSpPr>
        <p:spPr>
          <a:xfrm>
            <a:off x="6460236" y="413308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34" name="Text 32"/>
          <p:cNvSpPr txBox="1"/>
          <p:nvPr/>
        </p:nvSpPr>
        <p:spPr>
          <a:xfrm>
            <a:off x="6460236" y="472744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98%</a:t>
            </a:r>
            <a:endParaRPr lang="en-US" sz="1100" dirty="0"/>
          </a:p>
        </p:txBody>
      </p:sp>
      <p:sp>
        <p:nvSpPr>
          <p:cNvPr id="35" name="Shape 33"/>
          <p:cNvSpPr/>
          <p:nvPr/>
        </p:nvSpPr>
        <p:spPr>
          <a:xfrm>
            <a:off x="9073134" y="1783080"/>
            <a:ext cx="2567178" cy="3291840"/>
          </a:xfrm>
          <a:prstGeom prst="roundRect">
            <a:avLst>
              <a:gd name="adj" fmla="val 2850"/>
            </a:avLst>
          </a:prstGeom>
          <a:solidFill>
            <a:srgbClr val="F3F4F6"/>
          </a:solidFill>
          <a:ln w="12700">
            <a:solidFill>
              <a:srgbClr val="F3F4F6"/>
            </a:solidFill>
            <a:prstDash val="solid"/>
          </a:ln>
        </p:spPr>
      </p:sp>
      <p:sp>
        <p:nvSpPr>
          <p:cNvPr id="36" name="Shape 34"/>
          <p:cNvSpPr/>
          <p:nvPr/>
        </p:nvSpPr>
        <p:spPr>
          <a:xfrm>
            <a:off x="9301734" y="2011680"/>
            <a:ext cx="457200" cy="457200"/>
          </a:xfrm>
          <a:prstGeom prst="ellipse">
            <a:avLst/>
          </a:prstGeom>
          <a:solidFill>
            <a:srgbClr val="7C3AED"/>
          </a:solidFill>
          <a:ln w="12700">
            <a:solidFill>
              <a:srgbClr val="7C3AED"/>
            </a:solidFill>
            <a:prstDash val="solid"/>
          </a:ln>
        </p:spPr>
      </p:sp>
      <p:sp>
        <p:nvSpPr>
          <p:cNvPr id="37" name="Text 35"/>
          <p:cNvSpPr txBox="1"/>
          <p:nvPr/>
        </p:nvSpPr>
        <p:spPr>
          <a:xfrm>
            <a:off x="9301734"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8" name="Text 36"/>
          <p:cNvSpPr txBox="1"/>
          <p:nvPr/>
        </p:nvSpPr>
        <p:spPr>
          <a:xfrm>
            <a:off x="9896094" y="2011680"/>
            <a:ext cx="1561338" cy="45720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Sep 20–26</a:t>
            </a:r>
            <a:endParaRPr lang="en-US" sz="1600" dirty="0"/>
          </a:p>
        </p:txBody>
      </p:sp>
      <p:sp>
        <p:nvSpPr>
          <p:cNvPr id="39" name="Text 37"/>
          <p:cNvSpPr txBox="1"/>
          <p:nvPr/>
        </p:nvSpPr>
        <p:spPr>
          <a:xfrm>
            <a:off x="9301734" y="265176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LF score</a:t>
            </a:r>
            <a:endParaRPr lang="en-US" sz="1200" dirty="0"/>
          </a:p>
        </p:txBody>
      </p:sp>
      <p:sp>
        <p:nvSpPr>
          <p:cNvPr id="40" name="Text 38"/>
          <p:cNvSpPr txBox="1"/>
          <p:nvPr/>
        </p:nvSpPr>
        <p:spPr>
          <a:xfrm>
            <a:off x="9301734" y="289864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41" name="Text 39"/>
          <p:cNvSpPr txBox="1"/>
          <p:nvPr/>
        </p:nvSpPr>
        <p:spPr>
          <a:xfrm>
            <a:off x="9301734" y="349300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80%</a:t>
            </a:r>
            <a:endParaRPr lang="en-US" sz="1100" dirty="0"/>
          </a:p>
        </p:txBody>
      </p:sp>
      <p:sp>
        <p:nvSpPr>
          <p:cNvPr id="42" name="Text 40"/>
          <p:cNvSpPr txBox="1"/>
          <p:nvPr/>
        </p:nvSpPr>
        <p:spPr>
          <a:xfrm>
            <a:off x="9301734" y="3886200"/>
            <a:ext cx="2109978" cy="27432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Load %</a:t>
            </a:r>
            <a:endParaRPr lang="en-US" sz="1200" dirty="0"/>
          </a:p>
        </p:txBody>
      </p:sp>
      <p:sp>
        <p:nvSpPr>
          <p:cNvPr id="43" name="Text 41"/>
          <p:cNvSpPr txBox="1"/>
          <p:nvPr/>
        </p:nvSpPr>
        <p:spPr>
          <a:xfrm>
            <a:off x="9301734" y="4133088"/>
            <a:ext cx="2109978" cy="59436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44" name="Text 42"/>
          <p:cNvSpPr txBox="1"/>
          <p:nvPr/>
        </p:nvSpPr>
        <p:spPr>
          <a:xfrm>
            <a:off x="9301734" y="4727448"/>
            <a:ext cx="2109978" cy="2286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Target 98%</a:t>
            </a:r>
            <a:endParaRPr lang="en-US" sz="1100" dirty="0"/>
          </a:p>
        </p:txBody>
      </p:sp>
      <p:sp>
        <p:nvSpPr>
          <p:cNvPr id="45" name="Shape 43"/>
          <p:cNvSpPr/>
          <p:nvPr/>
        </p:nvSpPr>
        <p:spPr>
          <a:xfrm>
            <a:off x="548640" y="5303520"/>
            <a:ext cx="11091672" cy="868680"/>
          </a:xfrm>
          <a:prstGeom prst="roundRect">
            <a:avLst>
              <a:gd name="adj" fmla="val 8421"/>
            </a:avLst>
          </a:prstGeom>
          <a:solidFill>
            <a:srgbClr val="F5F3FF"/>
          </a:solidFill>
          <a:ln w="12700">
            <a:solidFill>
              <a:srgbClr val="F5F3FF"/>
            </a:solidFill>
            <a:prstDash val="solid"/>
          </a:ln>
        </p:spPr>
      </p:sp>
      <p:sp>
        <p:nvSpPr>
          <p:cNvPr id="46" name="Shape 44"/>
          <p:cNvSpPr/>
          <p:nvPr/>
        </p:nvSpPr>
        <p:spPr>
          <a:xfrm>
            <a:off x="777240" y="5477256"/>
            <a:ext cx="512064" cy="512064"/>
          </a:xfrm>
          <a:prstGeom prst="ellipse">
            <a:avLst/>
          </a:prstGeom>
          <a:solidFill>
            <a:srgbClr val="7C3AED"/>
          </a:solidFill>
          <a:ln w="12700">
            <a:solidFill>
              <a:srgbClr val="7C3AED"/>
            </a:solidFill>
            <a:prstDash val="solid"/>
          </a:ln>
        </p:spPr>
      </p:sp>
      <p:pic>
        <p:nvPicPr>
          <p:cNvPr id="47" name="Image 0" descr="preencoded.png">    </p:cNvPr>
          <p:cNvPicPr>
            <a:picLocks noChangeAspect="1"/>
          </p:cNvPicPr>
          <p:nvPr/>
        </p:nvPicPr>
        <p:blipFill>
          <a:blip r:embed="rId1"/>
          <a:stretch>
            <a:fillRect/>
          </a:stretch>
        </p:blipFill>
        <p:spPr>
          <a:xfrm>
            <a:off x="905256" y="5605272"/>
            <a:ext cx="256032" cy="256032"/>
          </a:xfrm>
          <a:prstGeom prst="rect">
            <a:avLst/>
          </a:prstGeom>
        </p:spPr>
      </p:pic>
      <p:sp>
        <p:nvSpPr>
          <p:cNvPr id="48" name="Text 45"/>
          <p:cNvSpPr txBox="1"/>
          <p:nvPr/>
        </p:nvSpPr>
        <p:spPr>
          <a:xfrm>
            <a:off x="1508760" y="5303520"/>
            <a:ext cx="9966960" cy="86868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Load factor &amp; trailer consolidation  ·  </a:t>
            </a:r>
            <a:pPr indent="0" marL="0">
              <a:buNone/>
            </a:pPr>
            <a:r>
              <a:rPr lang="en-US" sz="1500" dirty="0">
                <a:solidFill>
                  <a:srgbClr val="1F2937"/>
                </a:solidFill>
                <a:latin typeface="Calibri" pitchFamily="34" charset="0"/>
                <a:ea typeface="Calibri" pitchFamily="34" charset="-122"/>
                <a:cs typeface="Calibri" pitchFamily="34" charset="-120"/>
              </a:rPr>
              <a:t>Consolidating large-customer freight into fewer trailers.</a:t>
            </a:r>
            <a:endParaRPr lang="en-US" sz="1500" dirty="0"/>
          </a:p>
        </p:txBody>
      </p:sp>
      <p:sp>
        <p:nvSpPr>
          <p:cNvPr id="49" name="Text 4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50" name="Text 4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21</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hours saved</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2560320"/>
                <a:gridCol w="1645920"/>
                <a:gridCol w="16459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Week</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Hours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1 · Sep 1–5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2 · Sep 6–12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3 · Sep 13–19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4 · Sep 20–26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September 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4133088"/>
            <a:ext cx="5852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 saved = hours saved × </a:t>
            </a:r>
            <a:pPr indent="0" marL="0">
              <a:buNone/>
            </a:pPr>
            <a:r>
              <a:rPr lang="en-US" sz="1100" b="1" dirty="0">
                <a:solidFill>
                  <a:srgbClr val="111827"/>
                </a:solidFill>
                <a:latin typeface="Calibri" pitchFamily="34" charset="0"/>
                <a:ea typeface="Calibri" pitchFamily="34" charset="-122"/>
                <a:cs typeface="Calibri" pitchFamily="34" charset="-120"/>
              </a:rPr>
              <a:t>$33.43</a:t>
            </a:r>
            <a:pPr indent="0" marL="0">
              <a:buNone/>
            </a:pPr>
            <a:r>
              <a:rPr lang="en-US" sz="1100" dirty="0">
                <a:solidFill>
                  <a:srgbClr val="6B7280"/>
                </a:solidFill>
                <a:latin typeface="Calibri" pitchFamily="34" charset="0"/>
                <a:ea typeface="Calibri" pitchFamily="34" charset="-122"/>
                <a:cs typeface="Calibri" pitchFamily="34" charset="-120"/>
              </a:rPr>
              <a:t>/hr (Sept MTD $/hr, productivity dashboard)</a:t>
            </a:r>
            <a:endParaRPr lang="en-US" sz="1100" dirty="0"/>
          </a:p>
        </p:txBody>
      </p:sp>
      <p:sp>
        <p:nvSpPr>
          <p:cNvPr id="6" name="Shape 3"/>
          <p:cNvSpPr/>
          <p:nvPr/>
        </p:nvSpPr>
        <p:spPr>
          <a:xfrm>
            <a:off x="548640" y="4663440"/>
            <a:ext cx="2834640" cy="1463040"/>
          </a:xfrm>
          <a:prstGeom prst="roundRect">
            <a:avLst>
              <a:gd name="adj" fmla="val 5000"/>
            </a:avLst>
          </a:prstGeom>
          <a:solidFill>
            <a:srgbClr val="F3F4F6"/>
          </a:solidFill>
          <a:ln w="12700">
            <a:solidFill>
              <a:srgbClr val="F3F4F6"/>
            </a:solidFill>
            <a:prstDash val="solid"/>
          </a:ln>
        </p:spPr>
      </p:sp>
      <p:sp>
        <p:nvSpPr>
          <p:cNvPr id="7" name="Text 4"/>
          <p:cNvSpPr txBox="1"/>
          <p:nvPr/>
        </p:nvSpPr>
        <p:spPr>
          <a:xfrm>
            <a:off x="73152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hours saved</a:t>
            </a:r>
            <a:endParaRPr lang="en-US" sz="1100" dirty="0"/>
          </a:p>
        </p:txBody>
      </p:sp>
      <p:sp>
        <p:nvSpPr>
          <p:cNvPr id="8" name="Text 5"/>
          <p:cNvSpPr txBox="1"/>
          <p:nvPr/>
        </p:nvSpPr>
        <p:spPr>
          <a:xfrm>
            <a:off x="73152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9" name="Text 6"/>
          <p:cNvSpPr txBox="1"/>
          <p:nvPr/>
        </p:nvSpPr>
        <p:spPr>
          <a:xfrm>
            <a:off x="73152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Late / lunch / early-off</a:t>
            </a:r>
            <a:endParaRPr lang="en-US" sz="1050" dirty="0"/>
          </a:p>
        </p:txBody>
      </p:sp>
      <p:sp>
        <p:nvSpPr>
          <p:cNvPr id="10" name="Shape 7"/>
          <p:cNvSpPr/>
          <p:nvPr/>
        </p:nvSpPr>
        <p:spPr>
          <a:xfrm>
            <a:off x="3566160" y="4663440"/>
            <a:ext cx="2834640" cy="1463040"/>
          </a:xfrm>
          <a:prstGeom prst="roundRect">
            <a:avLst>
              <a:gd name="adj" fmla="val 5000"/>
            </a:avLst>
          </a:prstGeom>
          <a:solidFill>
            <a:srgbClr val="F3F4F6"/>
          </a:solidFill>
          <a:ln w="12700">
            <a:solidFill>
              <a:srgbClr val="F3F4F6"/>
            </a:solidFill>
            <a:prstDash val="solid"/>
          </a:ln>
        </p:spPr>
      </p:sp>
      <p:sp>
        <p:nvSpPr>
          <p:cNvPr id="11" name="Text 8"/>
          <p:cNvSpPr txBox="1"/>
          <p:nvPr/>
        </p:nvSpPr>
        <p:spPr>
          <a:xfrm>
            <a:off x="374904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saved</a:t>
            </a:r>
            <a:endParaRPr lang="en-US" sz="1100" dirty="0"/>
          </a:p>
        </p:txBody>
      </p:sp>
      <p:sp>
        <p:nvSpPr>
          <p:cNvPr id="12" name="Text 9"/>
          <p:cNvSpPr txBox="1"/>
          <p:nvPr/>
        </p:nvSpPr>
        <p:spPr>
          <a:xfrm>
            <a:off x="374904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3" name="Text 10"/>
          <p:cNvSpPr txBox="1"/>
          <p:nvPr/>
        </p:nvSpPr>
        <p:spPr>
          <a:xfrm>
            <a:off x="374904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At </a:t>
            </a:r>
            <a:pPr indent="0" marL="0">
              <a:buNone/>
            </a:pPr>
            <a:r>
              <a:rPr lang="en-US" sz="1050" b="1" dirty="0">
                <a:solidFill>
                  <a:srgbClr val="1F2937"/>
                </a:solidFill>
                <a:latin typeface="Calibri" pitchFamily="34" charset="0"/>
                <a:ea typeface="Calibri" pitchFamily="34" charset="-122"/>
                <a:cs typeface="Calibri" pitchFamily="34" charset="-120"/>
              </a:rPr>
              <a:t>$33.43</a:t>
            </a:r>
            <a:pPr indent="0" marL="0">
              <a:buNone/>
            </a:pPr>
            <a:r>
              <a:rPr lang="en-US" sz="1050" dirty="0">
                <a:solidFill>
                  <a:srgbClr val="6B7280"/>
                </a:solidFill>
                <a:latin typeface="Calibri" pitchFamily="34" charset="0"/>
                <a:ea typeface="Calibri" pitchFamily="34" charset="-122"/>
                <a:cs typeface="Calibri" pitchFamily="34" charset="-120"/>
              </a:rPr>
              <a:t>/hr</a:t>
            </a:r>
            <a:endParaRPr lang="en-US" sz="1050" dirty="0"/>
          </a:p>
        </p:txBody>
      </p:sp>
      <p:sp>
        <p:nvSpPr>
          <p:cNvPr id="14" name="Shape 11"/>
          <p:cNvSpPr/>
          <p:nvPr/>
        </p:nvSpPr>
        <p:spPr>
          <a:xfrm>
            <a:off x="6812280" y="1371600"/>
            <a:ext cx="4828032" cy="4754880"/>
          </a:xfrm>
          <a:prstGeom prst="roundRect">
            <a:avLst>
              <a:gd name="adj" fmla="val 1538"/>
            </a:avLst>
          </a:prstGeom>
          <a:solidFill>
            <a:srgbClr val="F3F4F6"/>
          </a:solidFill>
          <a:ln w="12700">
            <a:solidFill>
              <a:srgbClr val="F3F4F6"/>
            </a:solidFill>
            <a:prstDash val="solid"/>
          </a:ln>
        </p:spPr>
      </p:sp>
      <p:sp>
        <p:nvSpPr>
          <p:cNvPr id="15" name="Text 12"/>
          <p:cNvSpPr txBox="1"/>
          <p:nvPr/>
        </p:nvSpPr>
        <p:spPr>
          <a:xfrm>
            <a:off x="7086600" y="1600200"/>
            <a:ext cx="438912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drives the hours saved</a:t>
            </a:r>
            <a:endParaRPr lang="en-US" sz="1800" dirty="0"/>
          </a:p>
        </p:txBody>
      </p:sp>
      <p:sp>
        <p:nvSpPr>
          <p:cNvPr id="16" name="Shape 13"/>
          <p:cNvSpPr/>
          <p:nvPr/>
        </p:nvSpPr>
        <p:spPr>
          <a:xfrm>
            <a:off x="7086600" y="2286000"/>
            <a:ext cx="548640" cy="548640"/>
          </a:xfrm>
          <a:prstGeom prst="ellipse">
            <a:avLst/>
          </a:prstGeom>
          <a:solidFill>
            <a:srgbClr val="EDE9FE"/>
          </a:solidFill>
          <a:ln w="12700">
            <a:solidFill>
              <a:srgbClr val="EDE9FE"/>
            </a:solidFill>
            <a:prstDash val="solid"/>
          </a:ln>
        </p:spPr>
      </p:sp>
      <p:pic>
        <p:nvPicPr>
          <p:cNvPr id="17" name="Image 0" descr="preencoded.png">    </p:cNvPr>
          <p:cNvPicPr>
            <a:picLocks noChangeAspect="1"/>
          </p:cNvPicPr>
          <p:nvPr/>
        </p:nvPicPr>
        <p:blipFill>
          <a:blip r:embed="rId1"/>
          <a:stretch>
            <a:fillRect/>
          </a:stretch>
        </p:blipFill>
        <p:spPr>
          <a:xfrm>
            <a:off x="7223760" y="2423160"/>
            <a:ext cx="274320" cy="274320"/>
          </a:xfrm>
          <a:prstGeom prst="rect">
            <a:avLst/>
          </a:prstGeom>
        </p:spPr>
      </p:pic>
      <p:sp>
        <p:nvSpPr>
          <p:cNvPr id="18" name="Text 14"/>
          <p:cNvSpPr txBox="1"/>
          <p:nvPr/>
        </p:nvSpPr>
        <p:spPr>
          <a:xfrm>
            <a:off x="7818120" y="219456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Late arrivals — pay starts at actual clock-in, not scheduled start.</a:t>
            </a:r>
            <a:endParaRPr lang="en-US" sz="1500" dirty="0"/>
          </a:p>
        </p:txBody>
      </p:sp>
      <p:sp>
        <p:nvSpPr>
          <p:cNvPr id="19" name="Shape 15"/>
          <p:cNvSpPr/>
          <p:nvPr/>
        </p:nvSpPr>
        <p:spPr>
          <a:xfrm>
            <a:off x="7086600" y="3474720"/>
            <a:ext cx="548640" cy="548640"/>
          </a:xfrm>
          <a:prstGeom prst="ellipse">
            <a:avLst/>
          </a:prstGeom>
          <a:solidFill>
            <a:srgbClr val="EDE9FE"/>
          </a:solidFill>
          <a:ln w="12700">
            <a:solidFill>
              <a:srgbClr val="EDE9FE"/>
            </a:solidFill>
            <a:prstDash val="solid"/>
          </a:ln>
        </p:spPr>
      </p:sp>
      <p:pic>
        <p:nvPicPr>
          <p:cNvPr id="20" name="Image 1" descr="preencoded.png">    </p:cNvPr>
          <p:cNvPicPr>
            <a:picLocks noChangeAspect="1"/>
          </p:cNvPicPr>
          <p:nvPr/>
        </p:nvPicPr>
        <p:blipFill>
          <a:blip r:embed="rId2"/>
          <a:stretch>
            <a:fillRect/>
          </a:stretch>
        </p:blipFill>
        <p:spPr>
          <a:xfrm>
            <a:off x="7223760" y="3611880"/>
            <a:ext cx="274320" cy="274320"/>
          </a:xfrm>
          <a:prstGeom prst="rect">
            <a:avLst/>
          </a:prstGeom>
        </p:spPr>
      </p:pic>
      <p:sp>
        <p:nvSpPr>
          <p:cNvPr id="21" name="Text 16"/>
          <p:cNvSpPr txBox="1"/>
          <p:nvPr/>
        </p:nvSpPr>
        <p:spPr>
          <a:xfrm>
            <a:off x="7818120" y="338328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No-lunch punches reviewed daily by the shift supervisor.</a:t>
            </a:r>
            <a:endParaRPr lang="en-US" sz="1500" dirty="0"/>
          </a:p>
        </p:txBody>
      </p:sp>
      <p:sp>
        <p:nvSpPr>
          <p:cNvPr id="22" name="Shape 17"/>
          <p:cNvSpPr/>
          <p:nvPr/>
        </p:nvSpPr>
        <p:spPr>
          <a:xfrm>
            <a:off x="7086600" y="4663440"/>
            <a:ext cx="548640" cy="548640"/>
          </a:xfrm>
          <a:prstGeom prst="ellipse">
            <a:avLst/>
          </a:prstGeom>
          <a:solidFill>
            <a:srgbClr val="EDE9FE"/>
          </a:solidFill>
          <a:ln w="12700">
            <a:solidFill>
              <a:srgbClr val="EDE9FE"/>
            </a:solidFill>
            <a:prstDash val="solid"/>
          </a:ln>
        </p:spPr>
      </p:sp>
      <p:pic>
        <p:nvPicPr>
          <p:cNvPr id="23" name="Image 2" descr="preencoded.png">    </p:cNvPr>
          <p:cNvPicPr>
            <a:picLocks noChangeAspect="1"/>
          </p:cNvPicPr>
          <p:nvPr/>
        </p:nvPicPr>
        <p:blipFill>
          <a:blip r:embed="rId3"/>
          <a:stretch>
            <a:fillRect/>
          </a:stretch>
        </p:blipFill>
        <p:spPr>
          <a:xfrm>
            <a:off x="7223760" y="4800600"/>
            <a:ext cx="274320" cy="274320"/>
          </a:xfrm>
          <a:prstGeom prst="rect">
            <a:avLst/>
          </a:prstGeom>
        </p:spPr>
      </p:pic>
      <p:sp>
        <p:nvSpPr>
          <p:cNvPr id="24" name="Text 18"/>
          <p:cNvSpPr txBox="1"/>
          <p:nvPr/>
        </p:nvSpPr>
        <p:spPr>
          <a:xfrm>
            <a:off x="7818120" y="457200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Part-time / early-off shifts released when volume is done.</a:t>
            </a:r>
            <a:endParaRPr lang="en-US" sz="1500" dirty="0"/>
          </a:p>
        </p:txBody>
      </p:sp>
      <p:sp>
        <p:nvSpPr>
          <p:cNvPr id="25" name="Text 19"/>
          <p:cNvSpPr txBox="1"/>
          <p:nvPr/>
        </p:nvSpPr>
        <p:spPr>
          <a:xfrm>
            <a:off x="7086600" y="5486400"/>
            <a:ext cx="4389120" cy="502920"/>
          </a:xfrm>
          <a:prstGeom prst="rect">
            <a:avLst/>
          </a:prstGeom>
          <a:noFill/>
          <a:ln/>
        </p:spPr>
        <p:txBody>
          <a:bodyPr wrap="square" lIns="0" tIns="0" rIns="0" bIns="0" rtlCol="0" anchor="t"/>
          <a:lstStyle/>
          <a:p>
            <a:pPr indent="0" marL="0">
              <a:buNone/>
            </a:pPr>
            <a:r>
              <a:rPr lang="en-US" sz="1100" i="1" dirty="0">
                <a:solidFill>
                  <a:srgbClr val="6B7280"/>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100" dirty="0"/>
          </a:p>
        </p:txBody>
      </p:sp>
      <p:sp>
        <p:nvSpPr>
          <p:cNvPr id="26" name="Text 2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7" name="Text 2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 / 21</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Status of the physical terminal</a:t>
            </a:r>
            <a:endParaRPr lang="en-US" sz="3000" dirty="0"/>
          </a:p>
        </p:txBody>
      </p:sp>
      <p:sp>
        <p:nvSpPr>
          <p:cNvPr id="4" name="Shape 2"/>
          <p:cNvSpPr/>
          <p:nvPr/>
        </p:nvSpPr>
        <p:spPr>
          <a:xfrm>
            <a:off x="548640" y="1371600"/>
            <a:ext cx="3514344" cy="1234440"/>
          </a:xfrm>
          <a:prstGeom prst="roundRect">
            <a:avLst>
              <a:gd name="adj" fmla="val 5926"/>
            </a:avLst>
          </a:prstGeom>
          <a:solidFill>
            <a:srgbClr val="F3F4F6"/>
          </a:solidFill>
          <a:ln w="12700">
            <a:solidFill>
              <a:srgbClr val="F3F4F6"/>
            </a:solidFill>
            <a:prstDash val="solid"/>
          </a:ln>
        </p:spPr>
      </p:sp>
      <p:sp>
        <p:nvSpPr>
          <p:cNvPr id="5" name="Shape 3"/>
          <p:cNvSpPr/>
          <p:nvPr/>
        </p:nvSpPr>
        <p:spPr>
          <a:xfrm>
            <a:off x="777240" y="1709928"/>
            <a:ext cx="566928" cy="566928"/>
          </a:xfrm>
          <a:prstGeom prst="ellipse">
            <a:avLst/>
          </a:prstGeom>
          <a:solidFill>
            <a:srgbClr val="EDE9FE"/>
          </a:solidFill>
          <a:ln w="12700">
            <a:solidFill>
              <a:srgbClr val="EDE9FE"/>
            </a:solidFill>
            <a:prstDash val="solid"/>
          </a:ln>
        </p:spPr>
      </p:sp>
      <p:pic>
        <p:nvPicPr>
          <p:cNvPr id="6" name="Image 0" descr="preencoded.png">    </p:cNvPr>
          <p:cNvPicPr>
            <a:picLocks noChangeAspect="1"/>
          </p:cNvPicPr>
          <p:nvPr/>
        </p:nvPicPr>
        <p:blipFill>
          <a:blip r:embed="rId1"/>
          <a:stretch>
            <a:fillRect/>
          </a:stretch>
        </p:blipFill>
        <p:spPr>
          <a:xfrm>
            <a:off x="918972" y="1851660"/>
            <a:ext cx="283464" cy="283464"/>
          </a:xfrm>
          <a:prstGeom prst="rect">
            <a:avLst/>
          </a:prstGeom>
        </p:spPr>
      </p:pic>
      <p:sp>
        <p:nvSpPr>
          <p:cNvPr id="7" name="Text 4"/>
          <p:cNvSpPr txBox="1"/>
          <p:nvPr/>
        </p:nvSpPr>
        <p:spPr>
          <a:xfrm>
            <a:off x="1554480" y="1481328"/>
            <a:ext cx="2325624" cy="292608"/>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Total dock doors</a:t>
            </a:r>
            <a:endParaRPr lang="en-US" sz="1200" dirty="0"/>
          </a:p>
        </p:txBody>
      </p:sp>
      <p:sp>
        <p:nvSpPr>
          <p:cNvPr id="8" name="Text 5"/>
          <p:cNvSpPr txBox="1"/>
          <p:nvPr/>
        </p:nvSpPr>
        <p:spPr>
          <a:xfrm>
            <a:off x="1554480" y="1783080"/>
            <a:ext cx="2325624" cy="64008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9" name="Shape 6"/>
          <p:cNvSpPr/>
          <p:nvPr/>
        </p:nvSpPr>
        <p:spPr>
          <a:xfrm>
            <a:off x="4337304" y="1371600"/>
            <a:ext cx="3514344" cy="1234440"/>
          </a:xfrm>
          <a:prstGeom prst="roundRect">
            <a:avLst>
              <a:gd name="adj" fmla="val 5926"/>
            </a:avLst>
          </a:prstGeom>
          <a:solidFill>
            <a:srgbClr val="F3F4F6"/>
          </a:solidFill>
          <a:ln w="12700">
            <a:solidFill>
              <a:srgbClr val="F3F4F6"/>
            </a:solidFill>
            <a:prstDash val="solid"/>
          </a:ln>
        </p:spPr>
      </p:sp>
      <p:sp>
        <p:nvSpPr>
          <p:cNvPr id="10" name="Shape 7"/>
          <p:cNvSpPr/>
          <p:nvPr/>
        </p:nvSpPr>
        <p:spPr>
          <a:xfrm>
            <a:off x="4565904" y="1709928"/>
            <a:ext cx="566928" cy="566928"/>
          </a:xfrm>
          <a:prstGeom prst="ellipse">
            <a:avLst/>
          </a:prstGeom>
          <a:solidFill>
            <a:srgbClr val="EDE9FE"/>
          </a:solidFill>
          <a:ln w="12700">
            <a:solidFill>
              <a:srgbClr val="EDE9FE"/>
            </a:solidFill>
            <a:prstDash val="solid"/>
          </a:ln>
        </p:spPr>
      </p:sp>
      <p:pic>
        <p:nvPicPr>
          <p:cNvPr id="11" name="Image 1" descr="preencoded.png">    </p:cNvPr>
          <p:cNvPicPr>
            <a:picLocks noChangeAspect="1"/>
          </p:cNvPicPr>
          <p:nvPr/>
        </p:nvPicPr>
        <p:blipFill>
          <a:blip r:embed="rId2"/>
          <a:stretch>
            <a:fillRect/>
          </a:stretch>
        </p:blipFill>
        <p:spPr>
          <a:xfrm>
            <a:off x="4707636" y="1851660"/>
            <a:ext cx="283464" cy="283464"/>
          </a:xfrm>
          <a:prstGeom prst="rect">
            <a:avLst/>
          </a:prstGeom>
        </p:spPr>
      </p:pic>
      <p:sp>
        <p:nvSpPr>
          <p:cNvPr id="12" name="Text 8"/>
          <p:cNvSpPr txBox="1"/>
          <p:nvPr/>
        </p:nvSpPr>
        <p:spPr>
          <a:xfrm>
            <a:off x="5343144" y="1481328"/>
            <a:ext cx="2325624" cy="292608"/>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Doors out of service</a:t>
            </a:r>
            <a:endParaRPr lang="en-US" sz="1200" dirty="0"/>
          </a:p>
        </p:txBody>
      </p:sp>
      <p:sp>
        <p:nvSpPr>
          <p:cNvPr id="13" name="Text 9"/>
          <p:cNvSpPr txBox="1"/>
          <p:nvPr/>
        </p:nvSpPr>
        <p:spPr>
          <a:xfrm>
            <a:off x="5343144" y="1783080"/>
            <a:ext cx="2325624" cy="64008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4" name="Shape 10"/>
          <p:cNvSpPr/>
          <p:nvPr/>
        </p:nvSpPr>
        <p:spPr>
          <a:xfrm>
            <a:off x="8125968" y="1371600"/>
            <a:ext cx="3514344" cy="1234440"/>
          </a:xfrm>
          <a:prstGeom prst="roundRect">
            <a:avLst>
              <a:gd name="adj" fmla="val 5926"/>
            </a:avLst>
          </a:prstGeom>
          <a:solidFill>
            <a:srgbClr val="F3F4F6"/>
          </a:solidFill>
          <a:ln w="12700">
            <a:solidFill>
              <a:srgbClr val="F3F4F6"/>
            </a:solidFill>
            <a:prstDash val="solid"/>
          </a:ln>
        </p:spPr>
      </p:sp>
      <p:sp>
        <p:nvSpPr>
          <p:cNvPr id="15" name="Shape 11"/>
          <p:cNvSpPr/>
          <p:nvPr/>
        </p:nvSpPr>
        <p:spPr>
          <a:xfrm>
            <a:off x="8354568" y="1709928"/>
            <a:ext cx="566928" cy="566928"/>
          </a:xfrm>
          <a:prstGeom prst="ellipse">
            <a:avLst/>
          </a:prstGeom>
          <a:solidFill>
            <a:srgbClr val="EDE9FE"/>
          </a:solidFill>
          <a:ln w="12700">
            <a:solidFill>
              <a:srgbClr val="EDE9FE"/>
            </a:solidFill>
            <a:prstDash val="solid"/>
          </a:ln>
        </p:spPr>
      </p:sp>
      <p:pic>
        <p:nvPicPr>
          <p:cNvPr id="16" name="Image 2" descr="preencoded.png">    </p:cNvPr>
          <p:cNvPicPr>
            <a:picLocks noChangeAspect="1"/>
          </p:cNvPicPr>
          <p:nvPr/>
        </p:nvPicPr>
        <p:blipFill>
          <a:blip r:embed="rId3"/>
          <a:stretch>
            <a:fillRect/>
          </a:stretch>
        </p:blipFill>
        <p:spPr>
          <a:xfrm>
            <a:off x="8496300" y="1851660"/>
            <a:ext cx="283464" cy="283464"/>
          </a:xfrm>
          <a:prstGeom prst="rect">
            <a:avLst/>
          </a:prstGeom>
        </p:spPr>
      </p:pic>
      <p:sp>
        <p:nvSpPr>
          <p:cNvPr id="17" name="Text 12"/>
          <p:cNvSpPr txBox="1"/>
          <p:nvPr/>
        </p:nvSpPr>
        <p:spPr>
          <a:xfrm>
            <a:off x="9131808" y="1481328"/>
            <a:ext cx="2325624" cy="292608"/>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Doors in service</a:t>
            </a:r>
            <a:endParaRPr lang="en-US" sz="1200" dirty="0"/>
          </a:p>
        </p:txBody>
      </p:sp>
      <p:sp>
        <p:nvSpPr>
          <p:cNvPr id="18" name="Text 13"/>
          <p:cNvSpPr txBox="1"/>
          <p:nvPr/>
        </p:nvSpPr>
        <p:spPr>
          <a:xfrm>
            <a:off x="9131808" y="1783080"/>
            <a:ext cx="2325624" cy="640080"/>
          </a:xfrm>
          <a:prstGeom prst="rect">
            <a:avLst/>
          </a:prstGeom>
          <a:noFill/>
          <a:ln/>
        </p:spPr>
        <p:txBody>
          <a:bodyPr wrap="square" lIns="0" tIns="0" rIns="0" bIns="0" rtlCol="0" anchor="ctr"/>
          <a:lstStyle/>
          <a:p>
            <a:pPr indent="0" marL="0">
              <a:buNone/>
            </a:pPr>
            <a:r>
              <a:rPr lang="en-US" sz="3200" b="1" dirty="0">
                <a:solidFill>
                  <a:srgbClr val="D97706"/>
                </a:solidFill>
                <a:latin typeface="Calibri" pitchFamily="34" charset="0"/>
                <a:ea typeface="Calibri" pitchFamily="34" charset="-122"/>
                <a:cs typeface="Calibri" pitchFamily="34" charset="-120"/>
              </a:rPr>
              <a:t>TBC</a:t>
            </a:r>
            <a:endParaRPr lang="en-US" sz="3200" dirty="0"/>
          </a:p>
        </p:txBody>
      </p:sp>
      <p:sp>
        <p:nvSpPr>
          <p:cNvPr id="19" name="Text 14"/>
          <p:cNvSpPr txBox="1"/>
          <p:nvPr/>
        </p:nvSpPr>
        <p:spPr>
          <a:xfrm>
            <a:off x="548640" y="2880360"/>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Urgent repairs &amp; needs</a:t>
            </a:r>
            <a:endParaRPr lang="en-US" sz="18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11091672" cy="914400"/>
        </p:xfrm>
        <a:graphic>
          <a:graphicData uri="http://schemas.openxmlformats.org/drawingml/2006/table">
            <a:tbl>
              <a:tblPr/>
              <a:tblGrid>
                <a:gridCol w="1463040"/>
                <a:gridCol w="5120640"/>
                <a:gridCol w="1737360"/>
                <a:gridCol w="2770632"/>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Priority</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Est. cost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502920">
                <a:tc>
                  <a:txBody>
                    <a:bodyPr/>
                    <a:lstStyle/>
                    <a:p>
                      <a:pPr indent="0" marL="0">
                        <a:buNone/>
                      </a:pPr>
                      <a:r>
                        <a:rPr lang="en-US" sz="1300" b="1" dirty="0">
                          <a:solidFill>
                            <a:srgbClr val="DC2626"/>
                          </a:solidFill>
                          <a:latin typeface="Calibri" pitchFamily="34" charset="0"/>
                          <a:ea typeface="Calibri" pitchFamily="34" charset="-122"/>
                          <a:cs typeface="Calibri" pitchFamily="34" charset="-120"/>
                        </a:rPr>
                        <a:t>Urgent</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502920">
                <a:tc>
                  <a:txBody>
                    <a:bodyPr/>
                    <a:lstStyle/>
                    <a:p>
                      <a:pPr indent="0" marL="0">
                        <a:buNone/>
                      </a:pPr>
                      <a:r>
                        <a:rPr lang="en-US" sz="1300" b="1" dirty="0">
                          <a:solidFill>
                            <a:srgbClr val="6B7280"/>
                          </a:solidFill>
                          <a:latin typeface="Calibri" pitchFamily="34" charset="0"/>
                          <a:ea typeface="Calibri" pitchFamily="34" charset="-122"/>
                          <a:cs typeface="Calibri" pitchFamily="34" charset="-120"/>
                        </a:rPr>
                        <a:t>Planned</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50292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r>
                        <a:rPr lang="en-US" sz="1300" b="1" dirty="0">
                          <a:solidFill>
                            <a:srgbClr val="111827"/>
                          </a:solidFill>
                          <a:latin typeface="Calibri" pitchFamily="34" charset="0"/>
                          <a:ea typeface="Calibri" pitchFamily="34" charset="-122"/>
                          <a:cs typeface="Calibri" pitchFamily="34" charset="-120"/>
                        </a:rPr>
                        <a:t>Total estimated cost</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1"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2"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 / 21</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423160"/>
            <a:ext cx="3291840" cy="3474720"/>
          </a:xfrm>
          <a:prstGeom prst="rect">
            <a:avLst/>
          </a:prstGeom>
          <a:noFill/>
          <a:ln/>
        </p:spPr>
        <p:txBody>
          <a:bodyPr wrap="square" lIns="0" tIns="0" rIns="0" bIns="0" rtlCol="0" anchor="t"/>
          <a:lstStyle/>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91.1% of SCA hour allowance — 391 hrs under (≈$13.1K).</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Cost per PRO $6.60 vs $6.85 target (96.3%, watch).</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Cost per unit −16.7%; units/hr +26.7%; OT 9 hrs.</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Focus: PPH 3,327 vs 4,258 goal (−21.9%).</a:t>
            </a:r>
            <a:endParaRPr lang="en-US" sz="1300" dirty="0"/>
          </a:p>
          <a:p>
            <a:pPr marL="177800" indent="-177800">
              <a:spcAft>
                <a:spcPts val="900"/>
              </a:spcAft>
              <a:buSzPct val="100000"/>
              <a:buChar char="•"/>
            </a:pPr>
            <a:r>
              <a:rPr lang="en-US" sz="1300" dirty="0">
                <a:solidFill>
                  <a:srgbClr val="E5E7EB"/>
                </a:solidFill>
                <a:latin typeface="Calibri" pitchFamily="34" charset="0"/>
                <a:ea typeface="Calibri" pitchFamily="34" charset="-122"/>
                <a:cs typeface="Calibri" pitchFamily="34" charset="-120"/>
              </a:rPr>
              <a:t>F27 take-out target: </a:t>
            </a:r>
            <a:pPr indent="0" marL="0">
              <a:buNone/>
            </a:pPr>
            <a:r>
              <a:rPr lang="en-US" sz="1300" b="1" dirty="0">
                <a:solidFill>
                  <a:srgbClr val="D97706"/>
                </a:solidFill>
                <a:latin typeface="Calibri" pitchFamily="34" charset="0"/>
                <a:ea typeface="Calibri" pitchFamily="34" charset="-122"/>
                <a:cs typeface="Calibri" pitchFamily="34" charset="-120"/>
              </a:rPr>
              <a:t>TBC</a:t>
            </a:r>
            <a:endParaRPr lang="en-US" sz="13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21 / 21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2026-09-29T13:39:33Z</dcterms:created>
  <dcterms:modified xsi:type="dcterms:W3CDTF">2026-09-29T13:39:33Z</dcterms:modified>
</cp:coreProperties>
</file>