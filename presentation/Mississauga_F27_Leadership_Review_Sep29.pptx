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TRIR figures for F27 year to date are being confirmed with OHS and will be filled in before distribution. Day to day, supervisors own STEP observations, every shift starts with a tailgate and equipment checks, and dock conditions are logged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reviewed with OHS for root cause and an action plan, and certifications are renewed before they expire. For F27 we are adding a weekly STEP target per supervisor, a near-miss reporting push, and a certification tracker with 30-day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OTS counts for September month to date are being confirmed; once entered, the unadjusted and adjusted percentages calculate from the freight bill counts. Our focus is driver ownership of the freight bill, every late coded before end of shift, and separating interline and transborder lates, which sit outside terminal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freight bills scanned by trip type for the week of September 6 to 11, against the 98 percent target; the percentages are being confirmed from the scanning report. Compliance is checked every shift so gaps are fixed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September weeks for load factor score and load percentage against the 80 and 98 percent targets; the weekly figures are being confirmed. Consolidating large-customer freight into fewer trailers is the main lever here and is part of the F27 savings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SEPT MTD · AS OF SEP 26</a:t>
            </a:r>
            <a:endParaRPr lang="en-US" sz="1100" dirty="0"/>
          </a:p>
        </p:txBody>
      </p:sp>
      <p:sp>
        <p:nvSpPr>
          <p:cNvPr id="9" name="Text 7"/>
          <p:cNvSpPr txBox="1"/>
          <p:nvPr/>
        </p:nvSpPr>
        <p:spPr>
          <a:xfrm>
            <a:off x="8641080" y="1828800"/>
            <a:ext cx="1325880" cy="475488"/>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91.1%</a:t>
            </a:r>
            <a:endParaRPr lang="en-US" sz="2200" dirty="0"/>
          </a:p>
        </p:txBody>
      </p:sp>
      <p:sp>
        <p:nvSpPr>
          <p:cNvPr id="10" name="Text 8"/>
          <p:cNvSpPr txBox="1"/>
          <p:nvPr/>
        </p:nvSpPr>
        <p:spPr>
          <a:xfrm>
            <a:off x="10012680" y="1828800"/>
            <a:ext cx="1508760" cy="475488"/>
          </a:xfrm>
          <a:prstGeom prst="rect">
            <a:avLst/>
          </a:prstGeom>
          <a:noFill/>
          <a:ln/>
        </p:spPr>
        <p:txBody>
          <a:bodyPr wrap="square" lIns="0" tIns="0" rIns="0" bIns="0" rtlCol="0" anchor="ctr"/>
          <a:lstStyle/>
          <a:p>
            <a:pPr indent="0" marL="0">
              <a:buNone/>
            </a:pPr>
            <a:r>
              <a:rPr lang="en-US" sz="1200" dirty="0">
                <a:solidFill>
                  <a:srgbClr val="D1D5DB"/>
                </a:solidFill>
                <a:latin typeface="Calibri" pitchFamily="34" charset="0"/>
                <a:ea typeface="Calibri" pitchFamily="34" charset="-122"/>
                <a:cs typeface="Calibri" pitchFamily="34" charset="-120"/>
              </a:rPr>
              <a:t>of SCA hour allowance</a:t>
            </a:r>
            <a:endParaRPr lang="en-US" sz="1200" dirty="0"/>
          </a:p>
        </p:txBody>
      </p:sp>
      <p:sp>
        <p:nvSpPr>
          <p:cNvPr id="11" name="Text 9"/>
          <p:cNvSpPr txBox="1"/>
          <p:nvPr/>
        </p:nvSpPr>
        <p:spPr>
          <a:xfrm>
            <a:off x="8641080" y="2395728"/>
            <a:ext cx="1325880" cy="475488"/>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−16.7%</a:t>
            </a:r>
            <a:endParaRPr lang="en-US" sz="2200" dirty="0"/>
          </a:p>
        </p:txBody>
      </p:sp>
      <p:sp>
        <p:nvSpPr>
          <p:cNvPr id="12" name="Text 10"/>
          <p:cNvSpPr txBox="1"/>
          <p:nvPr/>
        </p:nvSpPr>
        <p:spPr>
          <a:xfrm>
            <a:off x="10012680" y="2395728"/>
            <a:ext cx="1508760" cy="475488"/>
          </a:xfrm>
          <a:prstGeom prst="rect">
            <a:avLst/>
          </a:prstGeom>
          <a:noFill/>
          <a:ln/>
        </p:spPr>
        <p:txBody>
          <a:bodyPr wrap="square" lIns="0" tIns="0" rIns="0" bIns="0" rtlCol="0" anchor="ctr"/>
          <a:lstStyle/>
          <a:p>
            <a:pPr indent="0" marL="0">
              <a:buNone/>
            </a:pPr>
            <a:r>
              <a:rPr lang="en-US" sz="1200" dirty="0">
                <a:solidFill>
                  <a:srgbClr val="D1D5DB"/>
                </a:solidFill>
                <a:latin typeface="Calibri" pitchFamily="34" charset="0"/>
                <a:ea typeface="Calibri" pitchFamily="34" charset="-122"/>
                <a:cs typeface="Calibri" pitchFamily="34" charset="-120"/>
              </a:rPr>
              <a:t>cost per unit vs F26</a:t>
            </a:r>
            <a:endParaRPr lang="en-US" sz="1200" dirty="0"/>
          </a:p>
        </p:txBody>
      </p:sp>
      <p:sp>
        <p:nvSpPr>
          <p:cNvPr id="13" name="Text 11"/>
          <p:cNvSpPr txBox="1"/>
          <p:nvPr/>
        </p:nvSpPr>
        <p:spPr>
          <a:xfrm>
            <a:off x="8641080" y="2962656"/>
            <a:ext cx="1325880" cy="475488"/>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+26.7%</a:t>
            </a:r>
            <a:endParaRPr lang="en-US" sz="2200" dirty="0"/>
          </a:p>
        </p:txBody>
      </p:sp>
      <p:sp>
        <p:nvSpPr>
          <p:cNvPr id="14" name="Text 12"/>
          <p:cNvSpPr txBox="1"/>
          <p:nvPr/>
        </p:nvSpPr>
        <p:spPr>
          <a:xfrm>
            <a:off x="10012680" y="2962656"/>
            <a:ext cx="1508760" cy="475488"/>
          </a:xfrm>
          <a:prstGeom prst="rect">
            <a:avLst/>
          </a:prstGeom>
          <a:noFill/>
          <a:ln/>
        </p:spPr>
        <p:txBody>
          <a:bodyPr wrap="square" lIns="0" tIns="0" rIns="0" bIns="0" rtlCol="0" anchor="ctr"/>
          <a:lstStyle/>
          <a:p>
            <a:pPr indent="0" marL="0">
              <a:buNone/>
            </a:pPr>
            <a:r>
              <a:rPr lang="en-US" sz="1200" dirty="0">
                <a:solidFill>
                  <a:srgbClr val="D1D5DB"/>
                </a:solidFill>
                <a:latin typeface="Calibri" pitchFamily="34" charset="0"/>
                <a:ea typeface="Calibri" pitchFamily="34" charset="-122"/>
                <a:cs typeface="Calibri" pitchFamily="34" charset="-120"/>
              </a:rPr>
              <a:t>units per hour vs F26</a:t>
            </a:r>
            <a:endParaRPr lang="en-US" sz="1200" dirty="0"/>
          </a:p>
        </p:txBody>
      </p:sp>
      <p:sp>
        <p:nvSpPr>
          <p:cNvPr id="15" name="Text 13"/>
          <p:cNvSpPr txBox="1"/>
          <p:nvPr/>
        </p:nvSpPr>
        <p:spPr>
          <a:xfrm>
            <a:off x="8641080" y="3529584"/>
            <a:ext cx="1325880" cy="475488"/>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 hrs</a:t>
            </a:r>
            <a:endParaRPr lang="en-US" sz="2200" dirty="0"/>
          </a:p>
        </p:txBody>
      </p:sp>
      <p:sp>
        <p:nvSpPr>
          <p:cNvPr id="16" name="Text 14"/>
          <p:cNvSpPr txBox="1"/>
          <p:nvPr/>
        </p:nvSpPr>
        <p:spPr>
          <a:xfrm>
            <a:off x="10012680" y="3529584"/>
            <a:ext cx="1508760" cy="475488"/>
          </a:xfrm>
          <a:prstGeom prst="rect">
            <a:avLst/>
          </a:prstGeom>
          <a:noFill/>
          <a:ln/>
        </p:spPr>
        <p:txBody>
          <a:bodyPr wrap="square" lIns="0" tIns="0" rIns="0" bIns="0" rtlCol="0" anchor="ctr"/>
          <a:lstStyle/>
          <a:p>
            <a:pPr indent="0" marL="0">
              <a:buNone/>
            </a:pPr>
            <a:r>
              <a:rPr lang="en-US" sz="1200" dirty="0">
                <a:solidFill>
                  <a:srgbClr val="D1D5DB"/>
                </a:solidFill>
                <a:latin typeface="Calibri" pitchFamily="34" charset="0"/>
                <a:ea typeface="Calibri" pitchFamily="34" charset="-122"/>
                <a:cs typeface="Calibri" pitchFamily="34" charset="-120"/>
              </a:rPr>
              <a:t>overtime MTD</a:t>
            </a:r>
            <a:endParaRPr lang="en-US" sz="1200" dirty="0"/>
          </a:p>
        </p:txBody>
      </p:sp>
      <p:sp>
        <p:nvSpPr>
          <p:cNvPr id="17" name="Text 15"/>
          <p:cNvSpPr txBox="1"/>
          <p:nvPr/>
        </p:nvSpPr>
        <p:spPr>
          <a:xfrm>
            <a:off x="8641080" y="42062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18" name="Text 16"/>
          <p:cNvSpPr txBox="1"/>
          <p:nvPr/>
        </p:nvSpPr>
        <p:spPr>
          <a:xfrm>
            <a:off x="8641080" y="4480560"/>
            <a:ext cx="2834640" cy="50292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19" name="Text 17"/>
          <p:cNvSpPr txBox="1"/>
          <p:nvPr/>
        </p:nvSpPr>
        <p:spPr>
          <a:xfrm>
            <a:off x="8641080" y="49834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daily safety practices, incident process, F27 plans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vs allowance, dock labour &amp; cost per unit,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cost &amp; volume, load factor, CICO hours saved</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71600"/>
            <a:ext cx="2072030" cy="1280160"/>
          </a:xfrm>
          <a:prstGeom prst="roundRect">
            <a:avLst>
              <a:gd name="adj" fmla="val 5714"/>
            </a:avLst>
          </a:prstGeom>
          <a:solidFill>
            <a:srgbClr val="F3F4F6"/>
          </a:solidFill>
          <a:ln w="12700">
            <a:solidFill>
              <a:srgbClr val="F3F4F6"/>
            </a:solidFill>
            <a:prstDash val="solid"/>
          </a:ln>
        </p:spPr>
      </p:sp>
      <p:sp>
        <p:nvSpPr>
          <p:cNvPr id="5" name="Text 3"/>
          <p:cNvSpPr txBox="1"/>
          <p:nvPr/>
        </p:nvSpPr>
        <p:spPr>
          <a:xfrm>
            <a:off x="73152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7" name="Text 5"/>
          <p:cNvSpPr txBox="1"/>
          <p:nvPr/>
        </p:nvSpPr>
        <p:spPr>
          <a:xfrm>
            <a:off x="73152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 Sep 29, 2026</a:t>
            </a:r>
            <a:endParaRPr lang="en-US" sz="1050" dirty="0"/>
          </a:p>
        </p:txBody>
      </p:sp>
      <p:sp>
        <p:nvSpPr>
          <p:cNvPr id="8" name="Shape 6"/>
          <p:cNvSpPr/>
          <p:nvPr/>
        </p:nvSpPr>
        <p:spPr>
          <a:xfrm>
            <a:off x="2803550" y="1371600"/>
            <a:ext cx="2072030" cy="1280160"/>
          </a:xfrm>
          <a:prstGeom prst="roundRect">
            <a:avLst>
              <a:gd name="adj" fmla="val 5714"/>
            </a:avLst>
          </a:prstGeom>
          <a:solidFill>
            <a:srgbClr val="F3F4F6"/>
          </a:solidFill>
          <a:ln w="12700">
            <a:solidFill>
              <a:srgbClr val="F3F4F6"/>
            </a:solidFill>
            <a:prstDash val="solid"/>
          </a:ln>
        </p:spPr>
      </p:sp>
      <p:sp>
        <p:nvSpPr>
          <p:cNvPr id="9" name="Text 7"/>
          <p:cNvSpPr txBox="1"/>
          <p:nvPr/>
        </p:nvSpPr>
        <p:spPr>
          <a:xfrm>
            <a:off x="298643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1" name="Text 9"/>
          <p:cNvSpPr txBox="1"/>
          <p:nvPr/>
        </p:nvSpPr>
        <p:spPr>
          <a:xfrm>
            <a:off x="298643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71600"/>
            <a:ext cx="2072030" cy="1280160"/>
          </a:xfrm>
          <a:prstGeom prst="roundRect">
            <a:avLst>
              <a:gd name="adj" fmla="val 5714"/>
            </a:avLst>
          </a:prstGeom>
          <a:solidFill>
            <a:srgbClr val="F3F4F6"/>
          </a:solidFill>
          <a:ln w="12700">
            <a:solidFill>
              <a:srgbClr val="F3F4F6"/>
            </a:solidFill>
            <a:prstDash val="solid"/>
          </a:ln>
        </p:spPr>
      </p:sp>
      <p:sp>
        <p:nvSpPr>
          <p:cNvPr id="13" name="Text 11"/>
          <p:cNvSpPr txBox="1"/>
          <p:nvPr/>
        </p:nvSpPr>
        <p:spPr>
          <a:xfrm>
            <a:off x="524134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target</a:t>
            </a:r>
            <a:endParaRPr lang="en-US" sz="950" dirty="0"/>
          </a:p>
        </p:txBody>
      </p:sp>
      <p:sp>
        <p:nvSpPr>
          <p:cNvPr id="14" name="Text 12"/>
          <p:cNvSpPr txBox="1"/>
          <p:nvPr/>
        </p:nvSpPr>
        <p:spPr>
          <a:xfrm>
            <a:off x="524134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5" name="Text 13"/>
          <p:cNvSpPr txBox="1"/>
          <p:nvPr/>
        </p:nvSpPr>
        <p:spPr>
          <a:xfrm>
            <a:off x="524134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F27 target</a:t>
            </a:r>
            <a:endParaRPr lang="en-US" sz="1050" dirty="0"/>
          </a:p>
        </p:txBody>
      </p:sp>
      <p:sp>
        <p:nvSpPr>
          <p:cNvPr id="16" name="Shape 14"/>
          <p:cNvSpPr/>
          <p:nvPr/>
        </p:nvSpPr>
        <p:spPr>
          <a:xfrm>
            <a:off x="7313371" y="1371600"/>
            <a:ext cx="2072030" cy="1280160"/>
          </a:xfrm>
          <a:prstGeom prst="roundRect">
            <a:avLst>
              <a:gd name="adj" fmla="val 5714"/>
            </a:avLst>
          </a:prstGeom>
          <a:solidFill>
            <a:srgbClr val="F3F4F6"/>
          </a:solidFill>
          <a:ln w="12700">
            <a:solidFill>
              <a:srgbClr val="F3F4F6"/>
            </a:solidFill>
            <a:prstDash val="solid"/>
          </a:ln>
        </p:spPr>
      </p:sp>
      <p:sp>
        <p:nvSpPr>
          <p:cNvPr id="17" name="Text 15"/>
          <p:cNvSpPr txBox="1"/>
          <p:nvPr/>
        </p:nvSpPr>
        <p:spPr>
          <a:xfrm>
            <a:off x="749625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YTD</a:t>
            </a:r>
            <a:endParaRPr lang="en-US" sz="950" dirty="0"/>
          </a:p>
        </p:txBody>
      </p:sp>
      <p:sp>
        <p:nvSpPr>
          <p:cNvPr id="18" name="Text 16"/>
          <p:cNvSpPr txBox="1"/>
          <p:nvPr/>
        </p:nvSpPr>
        <p:spPr>
          <a:xfrm>
            <a:off x="749625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9" name="Text 17"/>
          <p:cNvSpPr txBox="1"/>
          <p:nvPr/>
        </p:nvSpPr>
        <p:spPr>
          <a:xfrm>
            <a:off x="749625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20" name="Shape 18"/>
          <p:cNvSpPr/>
          <p:nvPr/>
        </p:nvSpPr>
        <p:spPr>
          <a:xfrm>
            <a:off x="9568282" y="1371600"/>
            <a:ext cx="2072030" cy="1280160"/>
          </a:xfrm>
          <a:prstGeom prst="roundRect">
            <a:avLst>
              <a:gd name="adj" fmla="val 5714"/>
            </a:avLst>
          </a:prstGeom>
          <a:solidFill>
            <a:srgbClr val="F3F4F6"/>
          </a:solidFill>
          <a:ln w="12700">
            <a:solidFill>
              <a:srgbClr val="F3F4F6"/>
            </a:solidFill>
            <a:prstDash val="solid"/>
          </a:ln>
        </p:spPr>
      </p:sp>
      <p:sp>
        <p:nvSpPr>
          <p:cNvPr id="21" name="Text 19"/>
          <p:cNvSpPr txBox="1"/>
          <p:nvPr/>
        </p:nvSpPr>
        <p:spPr>
          <a:xfrm>
            <a:off x="9751162"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23" name="Text 21"/>
          <p:cNvSpPr txBox="1"/>
          <p:nvPr/>
        </p:nvSpPr>
        <p:spPr>
          <a:xfrm>
            <a:off x="9751162"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Text 22"/>
          <p:cNvSpPr txBox="1"/>
          <p:nvPr/>
        </p:nvSpPr>
        <p:spPr>
          <a:xfrm>
            <a:off x="548640" y="2907792"/>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today</a:t>
            </a:r>
            <a:endParaRPr lang="en-US" sz="1800" dirty="0"/>
          </a:p>
        </p:txBody>
      </p:sp>
      <p:sp>
        <p:nvSpPr>
          <p:cNvPr id="25" name="Shape 23"/>
          <p:cNvSpPr/>
          <p:nvPr/>
        </p:nvSpPr>
        <p:spPr>
          <a:xfrm>
            <a:off x="548640" y="3429000"/>
            <a:ext cx="420624" cy="420624"/>
          </a:xfrm>
          <a:prstGeom prst="ellipse">
            <a:avLst/>
          </a:prstGeom>
          <a:solidFill>
            <a:srgbClr val="EDE9FE"/>
          </a:solidFill>
          <a:ln w="12700">
            <a:solidFill>
              <a:srgbClr val="EDE9FE"/>
            </a:solidFill>
            <a:prstDash val="solid"/>
          </a:ln>
        </p:spPr>
      </p:sp>
      <p:pic>
        <p:nvPicPr>
          <p:cNvPr id="26" name="Image 0" descr="preencoded.png">    </p:cNvPr>
          <p:cNvPicPr>
            <a:picLocks noChangeAspect="1"/>
          </p:cNvPicPr>
          <p:nvPr/>
        </p:nvPicPr>
        <p:blipFill>
          <a:blip r:embed="rId1"/>
          <a:stretch>
            <a:fillRect/>
          </a:stretch>
        </p:blipFill>
        <p:spPr>
          <a:xfrm>
            <a:off x="653796" y="3534156"/>
            <a:ext cx="210312" cy="210312"/>
          </a:xfrm>
          <a:prstGeom prst="rect">
            <a:avLst/>
          </a:prstGeom>
        </p:spPr>
      </p:pic>
      <p:sp>
        <p:nvSpPr>
          <p:cNvPr id="27" name="Text 24"/>
          <p:cNvSpPr txBox="1"/>
          <p:nvPr/>
        </p:nvSpPr>
        <p:spPr>
          <a:xfrm>
            <a:off x="1170432" y="3364992"/>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Supervisors and managers are accountable for STEP observations — non-compliance is addressed on the spot and documented on the OHS shared drive.</a:t>
            </a:r>
            <a:endParaRPr lang="en-US" sz="1400" dirty="0"/>
          </a:p>
        </p:txBody>
      </p:sp>
      <p:sp>
        <p:nvSpPr>
          <p:cNvPr id="28" name="Shape 25"/>
          <p:cNvSpPr/>
          <p:nvPr/>
        </p:nvSpPr>
        <p:spPr>
          <a:xfrm>
            <a:off x="548640" y="4032504"/>
            <a:ext cx="420624" cy="420624"/>
          </a:xfrm>
          <a:prstGeom prst="ellipse">
            <a:avLst/>
          </a:prstGeom>
          <a:solidFill>
            <a:srgbClr val="EDE9FE"/>
          </a:solidFill>
          <a:ln w="12700">
            <a:solidFill>
              <a:srgbClr val="EDE9FE"/>
            </a:solidFill>
            <a:prstDash val="solid"/>
          </a:ln>
        </p:spPr>
      </p:sp>
      <p:pic>
        <p:nvPicPr>
          <p:cNvPr id="29" name="Image 1" descr="preencoded.png">    </p:cNvPr>
          <p:cNvPicPr>
            <a:picLocks noChangeAspect="1"/>
          </p:cNvPicPr>
          <p:nvPr/>
        </p:nvPicPr>
        <p:blipFill>
          <a:blip r:embed="rId2"/>
          <a:stretch>
            <a:fillRect/>
          </a:stretch>
        </p:blipFill>
        <p:spPr>
          <a:xfrm>
            <a:off x="653796" y="4137660"/>
            <a:ext cx="210312" cy="210312"/>
          </a:xfrm>
          <a:prstGeom prst="rect">
            <a:avLst/>
          </a:prstGeom>
        </p:spPr>
      </p:pic>
      <p:sp>
        <p:nvSpPr>
          <p:cNvPr id="30" name="Text 26"/>
          <p:cNvSpPr txBox="1"/>
          <p:nvPr/>
        </p:nvSpPr>
        <p:spPr>
          <a:xfrm>
            <a:off x="1170432" y="3968496"/>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Tailgates every shift; forklift pre- and post-shift inspections; shunt pre-trip meeting every shift using the new checklist.</a:t>
            </a:r>
            <a:endParaRPr lang="en-US" sz="1400" dirty="0"/>
          </a:p>
        </p:txBody>
      </p:sp>
      <p:sp>
        <p:nvSpPr>
          <p:cNvPr id="31" name="Shape 27"/>
          <p:cNvSpPr/>
          <p:nvPr/>
        </p:nvSpPr>
        <p:spPr>
          <a:xfrm>
            <a:off x="548640" y="4636008"/>
            <a:ext cx="420624" cy="420624"/>
          </a:xfrm>
          <a:prstGeom prst="ellipse">
            <a:avLst/>
          </a:prstGeom>
          <a:solidFill>
            <a:srgbClr val="EDE9FE"/>
          </a:solidFill>
          <a:ln w="12700">
            <a:solidFill>
              <a:srgbClr val="EDE9FE"/>
            </a:solidFill>
            <a:prstDash val="solid"/>
          </a:ln>
        </p:spPr>
      </p:sp>
      <p:pic>
        <p:nvPicPr>
          <p:cNvPr id="32" name="Image 2" descr="preencoded.png">    </p:cNvPr>
          <p:cNvPicPr>
            <a:picLocks noChangeAspect="1"/>
          </p:cNvPicPr>
          <p:nvPr/>
        </p:nvPicPr>
        <p:blipFill>
          <a:blip r:embed="rId3"/>
          <a:stretch>
            <a:fillRect/>
          </a:stretch>
        </p:blipFill>
        <p:spPr>
          <a:xfrm>
            <a:off x="653796" y="4741164"/>
            <a:ext cx="210312" cy="210312"/>
          </a:xfrm>
          <a:prstGeom prst="rect">
            <a:avLst/>
          </a:prstGeom>
        </p:spPr>
      </p:pic>
      <p:sp>
        <p:nvSpPr>
          <p:cNvPr id="33" name="Text 28"/>
          <p:cNvSpPr txBox="1"/>
          <p:nvPr/>
        </p:nvSpPr>
        <p:spPr>
          <a:xfrm>
            <a:off x="1170432" y="4572000"/>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Chock check on every door (spares on hand). Daily placard check with the yard check; drivers remove placards when shunts are called.</a:t>
            </a:r>
            <a:endParaRPr lang="en-US" sz="1400" dirty="0"/>
          </a:p>
        </p:txBody>
      </p:sp>
      <p:sp>
        <p:nvSpPr>
          <p:cNvPr id="34" name="Shape 29"/>
          <p:cNvSpPr/>
          <p:nvPr/>
        </p:nvSpPr>
        <p:spPr>
          <a:xfrm>
            <a:off x="548640" y="5239512"/>
            <a:ext cx="420624" cy="420624"/>
          </a:xfrm>
          <a:prstGeom prst="ellipse">
            <a:avLst/>
          </a:prstGeom>
          <a:solidFill>
            <a:srgbClr val="EDE9FE"/>
          </a:solidFill>
          <a:ln w="12700">
            <a:solidFill>
              <a:srgbClr val="EDE9FE"/>
            </a:solidFill>
            <a:prstDash val="solid"/>
          </a:ln>
        </p:spPr>
      </p:sp>
      <p:pic>
        <p:nvPicPr>
          <p:cNvPr id="35" name="Image 3" descr="preencoded.png">    </p:cNvPr>
          <p:cNvPicPr>
            <a:picLocks noChangeAspect="1"/>
          </p:cNvPicPr>
          <p:nvPr/>
        </p:nvPicPr>
        <p:blipFill>
          <a:blip r:embed="rId4"/>
          <a:stretch>
            <a:fillRect/>
          </a:stretch>
        </p:blipFill>
        <p:spPr>
          <a:xfrm>
            <a:off x="653796" y="5344668"/>
            <a:ext cx="210312" cy="210312"/>
          </a:xfrm>
          <a:prstGeom prst="rect">
            <a:avLst/>
          </a:prstGeom>
        </p:spPr>
      </p:pic>
      <p:sp>
        <p:nvSpPr>
          <p:cNvPr id="36" name="Text 30"/>
          <p:cNvSpPr txBox="1"/>
          <p:nvPr/>
        </p:nvSpPr>
        <p:spPr>
          <a:xfrm>
            <a:off x="1170432" y="5175504"/>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 loading forklifts on straight trucks — prevents serious injuries and equipment damage.</a:t>
            </a:r>
            <a:endParaRPr lang="en-US" sz="1400" dirty="0"/>
          </a:p>
        </p:txBody>
      </p:sp>
      <p:sp>
        <p:nvSpPr>
          <p:cNvPr id="37" name="Shape 31"/>
          <p:cNvSpPr/>
          <p:nvPr/>
        </p:nvSpPr>
        <p:spPr>
          <a:xfrm>
            <a:off x="548640" y="5843016"/>
            <a:ext cx="420624" cy="420624"/>
          </a:xfrm>
          <a:prstGeom prst="ellipse">
            <a:avLst/>
          </a:prstGeom>
          <a:solidFill>
            <a:srgbClr val="EDE9FE"/>
          </a:solidFill>
          <a:ln w="12700">
            <a:solidFill>
              <a:srgbClr val="EDE9FE"/>
            </a:solidFill>
            <a:prstDash val="solid"/>
          </a:ln>
        </p:spPr>
      </p:sp>
      <p:pic>
        <p:nvPicPr>
          <p:cNvPr id="38" name="Image 4" descr="preencoded.png">    </p:cNvPr>
          <p:cNvPicPr>
            <a:picLocks noChangeAspect="1"/>
          </p:cNvPicPr>
          <p:nvPr/>
        </p:nvPicPr>
        <p:blipFill>
          <a:blip r:embed="rId5"/>
          <a:stretch>
            <a:fillRect/>
          </a:stretch>
        </p:blipFill>
        <p:spPr>
          <a:xfrm>
            <a:off x="653796" y="5948172"/>
            <a:ext cx="210312" cy="210312"/>
          </a:xfrm>
          <a:prstGeom prst="rect">
            <a:avLst/>
          </a:prstGeom>
        </p:spPr>
      </p:pic>
      <p:sp>
        <p:nvSpPr>
          <p:cNvPr id="39" name="Text 32"/>
          <p:cNvSpPr txBox="1"/>
          <p:nvPr/>
        </p:nvSpPr>
        <p:spPr>
          <a:xfrm>
            <a:off x="1170432" y="5779008"/>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Safety equipment and dock conditions inspected and logged on the H&amp;S inspection sheet, collected monthly by OHS and reviewed at JHSC.</a:t>
            </a:r>
            <a:endParaRPr lang="en-US" sz="1400" dirty="0"/>
          </a:p>
        </p:txBody>
      </p:sp>
      <p:sp>
        <p:nvSpPr>
          <p:cNvPr id="40"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1"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process &amp; F27 plans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When an incident happens</a:t>
            </a:r>
            <a:endParaRPr lang="en-US" sz="2000" dirty="0"/>
          </a:p>
        </p:txBody>
      </p:sp>
      <p:sp>
        <p:nvSpPr>
          <p:cNvPr id="8" name="Text 5"/>
          <p:cNvSpPr txBox="1"/>
          <p:nvPr/>
        </p:nvSpPr>
        <p:spPr>
          <a:xfrm>
            <a:off x="868680" y="2468880"/>
            <a:ext cx="4892040" cy="3474720"/>
          </a:xfrm>
          <a:prstGeom prst="rect">
            <a:avLst/>
          </a:prstGeom>
          <a:noFill/>
          <a:ln/>
        </p:spPr>
        <p:txBody>
          <a:bodyPr wrap="square" lIns="0" tIns="0" rIns="0" bIns="0" rtlCol="0" anchor="t"/>
          <a:lstStyle/>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Every incident reported promptly; supervisors work directly with OHS on WSIB forms and a safe return to work.</a:t>
            </a:r>
            <a:endParaRPr lang="en-US" sz="1500" dirty="0"/>
          </a:p>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Root cause and action plan reviewed with OHS for every incident to prevent repeats.</a:t>
            </a:r>
            <a:endParaRPr lang="en-US" sz="1500" dirty="0"/>
          </a:p>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Monthly safety e-learning for supervisors and managers on topics tied to our operation.</a:t>
            </a:r>
            <a:endParaRPr lang="en-US" sz="1500" dirty="0"/>
          </a:p>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Forklift and TDG certifications renewed before they expire.</a:t>
            </a:r>
            <a:endParaRPr lang="en-US" sz="15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F27 plans</a:t>
            </a:r>
            <a:endParaRPr lang="en-US" sz="2000" dirty="0"/>
          </a:p>
        </p:txBody>
      </p:sp>
      <p:sp>
        <p:nvSpPr>
          <p:cNvPr id="13" name="Shape 9"/>
          <p:cNvSpPr/>
          <p:nvPr/>
        </p:nvSpPr>
        <p:spPr>
          <a:xfrm>
            <a:off x="6611112" y="2514600"/>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68880"/>
            <a:ext cx="4206240" cy="7315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Weekly STEP observation target per supervisor, reviewed in the Monday ops meeting.</a:t>
            </a:r>
            <a:endParaRPr lang="en-US" sz="1500" dirty="0"/>
          </a:p>
        </p:txBody>
      </p:sp>
      <p:sp>
        <p:nvSpPr>
          <p:cNvPr id="16" name="Shape 12"/>
          <p:cNvSpPr/>
          <p:nvPr/>
        </p:nvSpPr>
        <p:spPr>
          <a:xfrm>
            <a:off x="6611112" y="3383280"/>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3383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3337560"/>
            <a:ext cx="4206240" cy="7315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Near-miss reporting push — every near miss logged and discussed at the next tailgate.</a:t>
            </a:r>
            <a:endParaRPr lang="en-US" sz="1500" dirty="0"/>
          </a:p>
        </p:txBody>
      </p:sp>
      <p:sp>
        <p:nvSpPr>
          <p:cNvPr id="19" name="Shape 15"/>
          <p:cNvSpPr/>
          <p:nvPr/>
        </p:nvSpPr>
        <p:spPr>
          <a:xfrm>
            <a:off x="6611112" y="4251960"/>
            <a:ext cx="384048" cy="384048"/>
          </a:xfrm>
          <a:prstGeom prst="ellipse">
            <a:avLst/>
          </a:prstGeom>
          <a:solidFill>
            <a:srgbClr val="7C3AED"/>
          </a:solidFill>
          <a:ln w="12700">
            <a:solidFill>
              <a:srgbClr val="7C3AED"/>
            </a:solidFill>
            <a:prstDash val="solid"/>
          </a:ln>
        </p:spPr>
      </p:sp>
      <p:sp>
        <p:nvSpPr>
          <p:cNvPr id="20" name="Text 16"/>
          <p:cNvSpPr txBox="1"/>
          <p:nvPr/>
        </p:nvSpPr>
        <p:spPr>
          <a:xfrm>
            <a:off x="6611112" y="4251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7"/>
          <p:cNvSpPr txBox="1"/>
          <p:nvPr/>
        </p:nvSpPr>
        <p:spPr>
          <a:xfrm>
            <a:off x="7178040" y="4206240"/>
            <a:ext cx="4206240" cy="7315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Certification tracker (forklift / TDG) with 30-day expiry alerts.</a:t>
            </a:r>
            <a:endParaRPr lang="en-US" sz="1500" dirty="0"/>
          </a:p>
        </p:txBody>
      </p:sp>
      <p:sp>
        <p:nvSpPr>
          <p:cNvPr id="22" name="Shape 18"/>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3" name="Text 19"/>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4" name="Text 20"/>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5"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(Sept MTD)</a:t>
            </a:r>
            <a:endParaRPr lang="en-US" sz="3000" dirty="0"/>
          </a:p>
        </p:txBody>
      </p:sp>
      <p:sp>
        <p:nvSpPr>
          <p:cNvPr id="4" name="Shape 2"/>
          <p:cNvSpPr/>
          <p:nvPr/>
        </p:nvSpPr>
        <p:spPr>
          <a:xfrm>
            <a:off x="548640" y="137160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508760"/>
            <a:ext cx="170627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FB's</a:t>
            </a:r>
            <a:endParaRPr lang="en-US" sz="1100" dirty="0"/>
          </a:p>
        </p:txBody>
      </p:sp>
      <p:sp>
        <p:nvSpPr>
          <p:cNvPr id="6" name="Text 4"/>
          <p:cNvSpPr txBox="1"/>
          <p:nvPr/>
        </p:nvSpPr>
        <p:spPr>
          <a:xfrm>
            <a:off x="731520" y="178308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7" name="Text 5"/>
          <p:cNvSpPr txBox="1"/>
          <p:nvPr/>
        </p:nvSpPr>
        <p:spPr>
          <a:xfrm>
            <a:off x="731520" y="213055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 MTD</a:t>
            </a:r>
            <a:endParaRPr lang="en-US" sz="1050" dirty="0"/>
          </a:p>
        </p:txBody>
      </p:sp>
      <p:sp>
        <p:nvSpPr>
          <p:cNvPr id="8" name="Shape 6"/>
          <p:cNvSpPr/>
          <p:nvPr/>
        </p:nvSpPr>
        <p:spPr>
          <a:xfrm>
            <a:off x="2803550" y="137160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508760"/>
            <a:ext cx="170627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On-time FB's</a:t>
            </a:r>
            <a:endParaRPr lang="en-US" sz="1100" dirty="0"/>
          </a:p>
        </p:txBody>
      </p:sp>
      <p:sp>
        <p:nvSpPr>
          <p:cNvPr id="10" name="Text 8"/>
          <p:cNvSpPr txBox="1"/>
          <p:nvPr/>
        </p:nvSpPr>
        <p:spPr>
          <a:xfrm>
            <a:off x="2986430" y="178308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11" name="Text 9"/>
          <p:cNvSpPr txBox="1"/>
          <p:nvPr/>
        </p:nvSpPr>
        <p:spPr>
          <a:xfrm>
            <a:off x="2986430" y="213055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 MTD</a:t>
            </a:r>
            <a:endParaRPr lang="en-US" sz="1050" dirty="0"/>
          </a:p>
        </p:txBody>
      </p:sp>
      <p:sp>
        <p:nvSpPr>
          <p:cNvPr id="12" name="Shape 10"/>
          <p:cNvSpPr/>
          <p:nvPr/>
        </p:nvSpPr>
        <p:spPr>
          <a:xfrm>
            <a:off x="5058461" y="137160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508760"/>
            <a:ext cx="170627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UNADJ OTS %</a:t>
            </a:r>
            <a:endParaRPr lang="en-US" sz="1100" dirty="0"/>
          </a:p>
        </p:txBody>
      </p:sp>
      <p:sp>
        <p:nvSpPr>
          <p:cNvPr id="14" name="Text 12"/>
          <p:cNvSpPr txBox="1"/>
          <p:nvPr/>
        </p:nvSpPr>
        <p:spPr>
          <a:xfrm>
            <a:off x="5241341" y="178308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15" name="Text 13"/>
          <p:cNvSpPr txBox="1"/>
          <p:nvPr/>
        </p:nvSpPr>
        <p:spPr>
          <a:xfrm>
            <a:off x="5241341" y="213055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On-time ÷ total FB's</a:t>
            </a:r>
            <a:endParaRPr lang="en-US" sz="1050" dirty="0"/>
          </a:p>
        </p:txBody>
      </p:sp>
      <p:sp>
        <p:nvSpPr>
          <p:cNvPr id="16" name="Shape 14"/>
          <p:cNvSpPr/>
          <p:nvPr/>
        </p:nvSpPr>
        <p:spPr>
          <a:xfrm>
            <a:off x="7313371" y="137160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508760"/>
            <a:ext cx="170627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ADJ OTS %</a:t>
            </a:r>
            <a:endParaRPr lang="en-US" sz="1100" dirty="0"/>
          </a:p>
        </p:txBody>
      </p:sp>
      <p:sp>
        <p:nvSpPr>
          <p:cNvPr id="18" name="Text 16"/>
          <p:cNvSpPr txBox="1"/>
          <p:nvPr/>
        </p:nvSpPr>
        <p:spPr>
          <a:xfrm>
            <a:off x="7496251" y="178308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19" name="Text 17"/>
          <p:cNvSpPr txBox="1"/>
          <p:nvPr/>
        </p:nvSpPr>
        <p:spPr>
          <a:xfrm>
            <a:off x="7496251" y="213055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(Total − ADJ lates) ÷ total</a:t>
            </a:r>
            <a:endParaRPr lang="en-US" sz="1050" dirty="0"/>
          </a:p>
        </p:txBody>
      </p:sp>
      <p:sp>
        <p:nvSpPr>
          <p:cNvPr id="20" name="Shape 18"/>
          <p:cNvSpPr/>
          <p:nvPr/>
        </p:nvSpPr>
        <p:spPr>
          <a:xfrm>
            <a:off x="9568282" y="137160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508760"/>
            <a:ext cx="170627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OTS target</a:t>
            </a:r>
            <a:endParaRPr lang="en-US" sz="1100" dirty="0"/>
          </a:p>
        </p:txBody>
      </p:sp>
      <p:sp>
        <p:nvSpPr>
          <p:cNvPr id="22" name="Text 20"/>
          <p:cNvSpPr txBox="1"/>
          <p:nvPr/>
        </p:nvSpPr>
        <p:spPr>
          <a:xfrm>
            <a:off x="9751162" y="178308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23" name="Text 21"/>
          <p:cNvSpPr txBox="1"/>
          <p:nvPr/>
        </p:nvSpPr>
        <p:spPr>
          <a:xfrm>
            <a:off x="9751162" y="213055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Adjusted %</a:t>
            </a:r>
            <a:endParaRPr lang="en-US" sz="1050" dirty="0"/>
          </a:p>
        </p:txBody>
      </p:sp>
      <p:sp>
        <p:nvSpPr>
          <p:cNvPr id="24" name="Text 22"/>
          <p:cNvSpPr txBox="1"/>
          <p:nvPr/>
        </p:nvSpPr>
        <p:spPr>
          <a:xfrm>
            <a:off x="548640" y="2788920"/>
            <a:ext cx="3840480" cy="347472"/>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Late reason codes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3182112"/>
          <a:ext cx="3657600" cy="914400"/>
        </p:xfrm>
        <a:graphic>
          <a:graphicData uri="http://schemas.openxmlformats.org/drawingml/2006/table">
            <a:tbl>
              <a:tblPr/>
              <a:tblGrid>
                <a:gridCol w="1645920"/>
                <a:gridCol w="914400"/>
                <a:gridCol w="1097280"/>
              </a:tblGrid>
              <a:tr h="2468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Code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lates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BD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TF</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LH</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DL</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MS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100" b="1" dirty="0">
                          <a:solidFill>
                            <a:srgbClr val="6B7280"/>
                          </a:solidFill>
                          <a:latin typeface="Calibri" pitchFamily="34" charset="0"/>
                          <a:ea typeface="Calibri" pitchFamily="34" charset="-122"/>
                          <a:cs typeface="Calibri" pitchFamily="34" charset="-120"/>
                        </a:rPr>
                        <a:t>IN · agent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246888">
                <a:tc>
                  <a:txBody>
                    <a:bodyPr/>
                    <a:lstStyle/>
                    <a:p>
                      <a:pPr indent="0" marL="0">
                        <a:buNone/>
                      </a:pPr>
                      <a:r>
                        <a:rPr lang="en-US" sz="1100" b="1" dirty="0">
                          <a:solidFill>
                            <a:srgbClr val="6B7280"/>
                          </a:solidFill>
                          <a:latin typeface="Calibri" pitchFamily="34" charset="0"/>
                          <a:ea typeface="Calibri" pitchFamily="34" charset="-122"/>
                          <a:cs typeface="Calibri" pitchFamily="34" charset="-120"/>
                        </a:rPr>
                        <a:t>TB · transborder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OTHER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246888">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UNCODED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6" name="Shape 23"/>
          <p:cNvSpPr/>
          <p:nvPr/>
        </p:nvSpPr>
        <p:spPr>
          <a:xfrm>
            <a:off x="4572000" y="2788920"/>
            <a:ext cx="7068312" cy="3429000"/>
          </a:xfrm>
          <a:prstGeom prst="roundRect">
            <a:avLst>
              <a:gd name="adj" fmla="val 2133"/>
            </a:avLst>
          </a:prstGeom>
          <a:solidFill>
            <a:srgbClr val="F3F4F6"/>
          </a:solidFill>
          <a:ln w="12700">
            <a:solidFill>
              <a:srgbClr val="F3F4F6"/>
            </a:solidFill>
            <a:prstDash val="solid"/>
          </a:ln>
        </p:spPr>
      </p:sp>
      <p:sp>
        <p:nvSpPr>
          <p:cNvPr id="27" name="Shape 24"/>
          <p:cNvSpPr/>
          <p:nvPr/>
        </p:nvSpPr>
        <p:spPr>
          <a:xfrm>
            <a:off x="4800600" y="2971800"/>
            <a:ext cx="457200" cy="457200"/>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4914900" y="3086100"/>
            <a:ext cx="228600" cy="228600"/>
          </a:xfrm>
          <a:prstGeom prst="rect">
            <a:avLst/>
          </a:prstGeom>
        </p:spPr>
      </p:pic>
      <p:sp>
        <p:nvSpPr>
          <p:cNvPr id="29" name="Text 25"/>
          <p:cNvSpPr txBox="1"/>
          <p:nvPr/>
        </p:nvSpPr>
        <p:spPr>
          <a:xfrm>
            <a:off x="5394960" y="3017520"/>
            <a:ext cx="59436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are doing</a:t>
            </a:r>
            <a:endParaRPr lang="en-US" sz="1800" dirty="0"/>
          </a:p>
        </p:txBody>
      </p:sp>
      <p:sp>
        <p:nvSpPr>
          <p:cNvPr id="30" name="Text 26"/>
          <p:cNvSpPr txBox="1"/>
          <p:nvPr/>
        </p:nvSpPr>
        <p:spPr>
          <a:xfrm>
            <a:off x="4846320" y="3566160"/>
            <a:ext cx="6583680" cy="18745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300" dirty="0"/>
          </a:p>
          <a:p>
            <a:pPr marL="203200" indent="-2032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300" dirty="0"/>
          </a:p>
          <a:p>
            <a:pPr marL="203200" indent="-2032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TF (terminal) and P&amp;D working collectively on hand-offs.</a:t>
            </a:r>
            <a:endParaRPr lang="en-US" sz="1300" dirty="0"/>
          </a:p>
          <a:p>
            <a:pPr marL="203200" indent="-2032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300" dirty="0"/>
          </a:p>
          <a:p>
            <a:pPr marL="203200" indent="-2032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300" dirty="0"/>
          </a:p>
        </p:txBody>
      </p:sp>
      <p:sp>
        <p:nvSpPr>
          <p:cNvPr id="31" name="Text 27"/>
          <p:cNvSpPr txBox="1"/>
          <p:nvPr/>
        </p:nvSpPr>
        <p:spPr>
          <a:xfrm>
            <a:off x="4846320" y="5486400"/>
            <a:ext cx="6583680"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UNADJ lates: </a:t>
            </a:r>
            <a:pPr indent="0" marL="0">
              <a:buNone/>
            </a:pPr>
            <a:r>
              <a:rPr lang="en-US" sz="1200" b="1" dirty="0">
                <a:solidFill>
                  <a:srgbClr val="D97706"/>
                </a:solidFill>
                <a:latin typeface="Calibri" pitchFamily="34" charset="0"/>
                <a:ea typeface="Calibri" pitchFamily="34" charset="-122"/>
                <a:cs typeface="Calibri" pitchFamily="34" charset="-120"/>
              </a:rPr>
              <a:t>TBC</a:t>
            </a:r>
            <a:pPr indent="0" marL="0">
              <a:buNone/>
            </a:pPr>
            <a:r>
              <a:rPr lang="en-US" sz="1200" b="1" dirty="0">
                <a:solidFill>
                  <a:srgbClr val="6B7280"/>
                </a:solidFill>
                <a:latin typeface="Calibri" pitchFamily="34" charset="0"/>
                <a:ea typeface="Calibri" pitchFamily="34" charset="-122"/>
                <a:cs typeface="Calibri" pitchFamily="34" charset="-120"/>
              </a:rPr>
              <a:t>     ADJ lates: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2" name="Text 28"/>
          <p:cNvSpPr txBox="1"/>
          <p:nvPr/>
        </p:nvSpPr>
        <p:spPr>
          <a:xfrm>
            <a:off x="4846320" y="5788152"/>
            <a:ext cx="6583680" cy="27432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 = agent / beyond carrier · TB = transborder — both outside terminal control.</a:t>
            </a:r>
            <a:endParaRPr lang="en-US" sz="1100" dirty="0"/>
          </a:p>
        </p:txBody>
      </p:sp>
      <p:sp>
        <p:nvSpPr>
          <p:cNvPr id="33"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Freight bills scanned  ·  </a:t>
            </a:r>
            <a:pPr indent="0" marL="0">
              <a:buNone/>
            </a:pPr>
            <a:r>
              <a:rPr lang="en-US" sz="1500" b="1" dirty="0">
                <a:solidFill>
                  <a:srgbClr val="111827"/>
                </a:solidFill>
                <a:latin typeface="Calibri" pitchFamily="34" charset="0"/>
                <a:ea typeface="Calibri" pitchFamily="34" charset="-122"/>
                <a:cs typeface="Calibri" pitchFamily="34" charset="-120"/>
              </a:rPr>
              <a:t>Sep 6 – Sep 11, 2026</a:t>
            </a:r>
            <a:pPr indent="0" marL="0">
              <a:buNone/>
            </a:pPr>
            <a:r>
              <a:rPr lang="en-US" sz="1500" dirty="0">
                <a:solidFill>
                  <a:srgbClr val="6B7280"/>
                </a:solidFill>
                <a:latin typeface="Calibri" pitchFamily="34" charset="0"/>
                <a:ea typeface="Calibri" pitchFamily="34" charset="-122"/>
                <a:cs typeface="Calibri" pitchFamily="34" charset="-120"/>
              </a:rPr>
              <a:t>  ·  Target 98%</a:t>
            </a:r>
            <a:endParaRPr lang="en-US" sz="1500" dirty="0"/>
          </a:p>
        </p:txBody>
      </p:sp>
      <p:sp>
        <p:nvSpPr>
          <p:cNvPr id="5" name="Shape 3"/>
          <p:cNvSpPr/>
          <p:nvPr/>
        </p:nvSpPr>
        <p:spPr>
          <a:xfrm>
            <a:off x="548640" y="1783080"/>
            <a:ext cx="2567178" cy="297180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137410"/>
            <a:ext cx="251460" cy="251460"/>
          </a:xfrm>
          <a:prstGeom prst="rect">
            <a:avLst/>
          </a:prstGeom>
        </p:spPr>
      </p:pic>
      <p:sp>
        <p:nvSpPr>
          <p:cNvPr id="8" name="Text 5"/>
          <p:cNvSpPr txBox="1"/>
          <p:nvPr/>
        </p:nvSpPr>
        <p:spPr>
          <a:xfrm>
            <a:off x="777240"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Delivery trips</a:t>
            </a:r>
            <a:endParaRPr lang="en-US" sz="1600" dirty="0"/>
          </a:p>
        </p:txBody>
      </p:sp>
      <p:sp>
        <p:nvSpPr>
          <p:cNvPr id="9" name="Text 6"/>
          <p:cNvSpPr txBox="1"/>
          <p:nvPr/>
        </p:nvSpPr>
        <p:spPr>
          <a:xfrm>
            <a:off x="777240"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10" name="Text 7"/>
          <p:cNvSpPr txBox="1"/>
          <p:nvPr/>
        </p:nvSpPr>
        <p:spPr>
          <a:xfrm>
            <a:off x="777240"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Fiscal YTD: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11" name="Shape 8"/>
          <p:cNvSpPr/>
          <p:nvPr/>
        </p:nvSpPr>
        <p:spPr>
          <a:xfrm>
            <a:off x="3390138" y="1783080"/>
            <a:ext cx="2567178" cy="2971800"/>
          </a:xfrm>
          <a:prstGeom prst="roundRect">
            <a:avLst>
              <a:gd name="adj" fmla="val 2850"/>
            </a:avLst>
          </a:prstGeom>
          <a:solidFill>
            <a:srgbClr val="F3F4F6"/>
          </a:solidFill>
          <a:ln w="12700">
            <a:solidFill>
              <a:srgbClr val="F3F4F6"/>
            </a:solidFill>
            <a:prstDash val="solid"/>
          </a:ln>
        </p:spPr>
      </p:sp>
      <p:sp>
        <p:nvSpPr>
          <p:cNvPr id="12" name="Shape 9"/>
          <p:cNvSpPr/>
          <p:nvPr/>
        </p:nvSpPr>
        <p:spPr>
          <a:xfrm>
            <a:off x="3618738" y="2011680"/>
            <a:ext cx="502920" cy="50292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3744468" y="2137410"/>
            <a:ext cx="251460" cy="251460"/>
          </a:xfrm>
          <a:prstGeom prst="rect">
            <a:avLst/>
          </a:prstGeom>
        </p:spPr>
      </p:pic>
      <p:sp>
        <p:nvSpPr>
          <p:cNvPr id="14" name="Text 10"/>
          <p:cNvSpPr txBox="1"/>
          <p:nvPr/>
        </p:nvSpPr>
        <p:spPr>
          <a:xfrm>
            <a:off x="3618738"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Line haul · outbound</a:t>
            </a:r>
            <a:endParaRPr lang="en-US" sz="1600" dirty="0"/>
          </a:p>
        </p:txBody>
      </p:sp>
      <p:sp>
        <p:nvSpPr>
          <p:cNvPr id="15" name="Text 11"/>
          <p:cNvSpPr txBox="1"/>
          <p:nvPr/>
        </p:nvSpPr>
        <p:spPr>
          <a:xfrm>
            <a:off x="3618738"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16" name="Text 12"/>
          <p:cNvSpPr txBox="1"/>
          <p:nvPr/>
        </p:nvSpPr>
        <p:spPr>
          <a:xfrm>
            <a:off x="3618738"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Fiscal YTD: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17" name="Shape 13"/>
          <p:cNvSpPr/>
          <p:nvPr/>
        </p:nvSpPr>
        <p:spPr>
          <a:xfrm>
            <a:off x="6231636" y="1783080"/>
            <a:ext cx="2567178" cy="2971800"/>
          </a:xfrm>
          <a:prstGeom prst="roundRect">
            <a:avLst>
              <a:gd name="adj" fmla="val 2850"/>
            </a:avLst>
          </a:prstGeom>
          <a:solidFill>
            <a:srgbClr val="F3F4F6"/>
          </a:solidFill>
          <a:ln w="12700">
            <a:solidFill>
              <a:srgbClr val="F3F4F6"/>
            </a:solidFill>
            <a:prstDash val="solid"/>
          </a:ln>
        </p:spPr>
      </p:sp>
      <p:sp>
        <p:nvSpPr>
          <p:cNvPr id="18" name="Shape 14"/>
          <p:cNvSpPr/>
          <p:nvPr/>
        </p:nvSpPr>
        <p:spPr>
          <a:xfrm>
            <a:off x="6460236" y="2011680"/>
            <a:ext cx="502920" cy="502920"/>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6585966" y="2137410"/>
            <a:ext cx="251460" cy="251460"/>
          </a:xfrm>
          <a:prstGeom prst="rect">
            <a:avLst/>
          </a:prstGeom>
        </p:spPr>
      </p:pic>
      <p:sp>
        <p:nvSpPr>
          <p:cNvPr id="20" name="Text 15"/>
          <p:cNvSpPr txBox="1"/>
          <p:nvPr/>
        </p:nvSpPr>
        <p:spPr>
          <a:xfrm>
            <a:off x="6460236"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Line haul · inbound</a:t>
            </a:r>
            <a:endParaRPr lang="en-US" sz="1600" dirty="0"/>
          </a:p>
        </p:txBody>
      </p:sp>
      <p:sp>
        <p:nvSpPr>
          <p:cNvPr id="21" name="Text 16"/>
          <p:cNvSpPr txBox="1"/>
          <p:nvPr/>
        </p:nvSpPr>
        <p:spPr>
          <a:xfrm>
            <a:off x="6460236"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22" name="Text 17"/>
          <p:cNvSpPr txBox="1"/>
          <p:nvPr/>
        </p:nvSpPr>
        <p:spPr>
          <a:xfrm>
            <a:off x="6460236"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23" name="Shape 18"/>
          <p:cNvSpPr/>
          <p:nvPr/>
        </p:nvSpPr>
        <p:spPr>
          <a:xfrm>
            <a:off x="9073134" y="1783080"/>
            <a:ext cx="2567178" cy="2971800"/>
          </a:xfrm>
          <a:prstGeom prst="roundRect">
            <a:avLst>
              <a:gd name="adj" fmla="val 2850"/>
            </a:avLst>
          </a:prstGeom>
          <a:solidFill>
            <a:srgbClr val="F3F4F6"/>
          </a:solidFill>
          <a:ln w="12700">
            <a:solidFill>
              <a:srgbClr val="F3F4F6"/>
            </a:solidFill>
            <a:prstDash val="solid"/>
          </a:ln>
        </p:spPr>
      </p:sp>
      <p:sp>
        <p:nvSpPr>
          <p:cNvPr id="24" name="Shape 19"/>
          <p:cNvSpPr/>
          <p:nvPr/>
        </p:nvSpPr>
        <p:spPr>
          <a:xfrm>
            <a:off x="9301734" y="2011680"/>
            <a:ext cx="502920" cy="502920"/>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9427464" y="2137410"/>
            <a:ext cx="251460" cy="251460"/>
          </a:xfrm>
          <a:prstGeom prst="rect">
            <a:avLst/>
          </a:prstGeom>
        </p:spPr>
      </p:pic>
      <p:sp>
        <p:nvSpPr>
          <p:cNvPr id="26" name="Text 20"/>
          <p:cNvSpPr txBox="1"/>
          <p:nvPr/>
        </p:nvSpPr>
        <p:spPr>
          <a:xfrm>
            <a:off x="9301734"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Pickup trips</a:t>
            </a:r>
            <a:endParaRPr lang="en-US" sz="1600" dirty="0"/>
          </a:p>
        </p:txBody>
      </p:sp>
      <p:sp>
        <p:nvSpPr>
          <p:cNvPr id="27" name="Text 21"/>
          <p:cNvSpPr txBox="1"/>
          <p:nvPr/>
        </p:nvSpPr>
        <p:spPr>
          <a:xfrm>
            <a:off x="9301734"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28" name="Text 22"/>
          <p:cNvSpPr txBox="1"/>
          <p:nvPr/>
        </p:nvSpPr>
        <p:spPr>
          <a:xfrm>
            <a:off x="9301734"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29" name="Shape 23"/>
          <p:cNvSpPr/>
          <p:nvPr/>
        </p:nvSpPr>
        <p:spPr>
          <a:xfrm>
            <a:off x="548640" y="5029200"/>
            <a:ext cx="11091672" cy="1143000"/>
          </a:xfrm>
          <a:prstGeom prst="roundRect">
            <a:avLst>
              <a:gd name="adj" fmla="val 6400"/>
            </a:avLst>
          </a:prstGeom>
          <a:solidFill>
            <a:srgbClr val="F5F3FF"/>
          </a:solidFill>
          <a:ln w="12700">
            <a:solidFill>
              <a:srgbClr val="F5F3FF"/>
            </a:solidFill>
            <a:prstDash val="solid"/>
          </a:ln>
        </p:spPr>
      </p:sp>
      <p:sp>
        <p:nvSpPr>
          <p:cNvPr id="30" name="Shape 24"/>
          <p:cNvSpPr/>
          <p:nvPr/>
        </p:nvSpPr>
        <p:spPr>
          <a:xfrm>
            <a:off x="777240" y="5303520"/>
            <a:ext cx="566928" cy="566928"/>
          </a:xfrm>
          <a:prstGeom prst="ellipse">
            <a:avLst/>
          </a:prstGeom>
          <a:solidFill>
            <a:srgbClr val="7C3AED"/>
          </a:solidFill>
          <a:ln w="12700">
            <a:solidFill>
              <a:srgbClr val="7C3AED"/>
            </a:solidFill>
            <a:prstDash val="solid"/>
          </a:ln>
        </p:spPr>
      </p:sp>
      <p:pic>
        <p:nvPicPr>
          <p:cNvPr id="31" name="Image 4" descr="preencoded.png">    </p:cNvPr>
          <p:cNvPicPr>
            <a:picLocks noChangeAspect="1"/>
          </p:cNvPicPr>
          <p:nvPr/>
        </p:nvPicPr>
        <p:blipFill>
          <a:blip r:embed="rId5"/>
          <a:stretch>
            <a:fillRect/>
          </a:stretch>
        </p:blipFill>
        <p:spPr>
          <a:xfrm>
            <a:off x="918972" y="5445252"/>
            <a:ext cx="283464" cy="283464"/>
          </a:xfrm>
          <a:prstGeom prst="rect">
            <a:avLst/>
          </a:prstGeom>
        </p:spPr>
      </p:pic>
      <p:sp>
        <p:nvSpPr>
          <p:cNvPr id="32" name="Text 25"/>
          <p:cNvSpPr txBox="1"/>
          <p:nvPr/>
        </p:nvSpPr>
        <p:spPr>
          <a:xfrm>
            <a:off x="1554480" y="5138928"/>
            <a:ext cx="9875520" cy="914400"/>
          </a:xfrm>
          <a:prstGeom prst="rect">
            <a:avLst/>
          </a:prstGeom>
          <a:noFill/>
          <a:ln/>
        </p:spPr>
        <p:txBody>
          <a:bodyPr wrap="square" lIns="0" tIns="0" rIns="0" bIns="0" rtlCol="0" anchor="ctr"/>
          <a:lstStyle/>
          <a:p>
            <a:pPr indent="0" marL="0">
              <a:spcAft>
                <a:spcPts val="400"/>
              </a:spcAft>
              <a:buNone/>
            </a:pPr>
            <a:r>
              <a:rPr lang="en-US" sz="1500" b="1" dirty="0">
                <a:solidFill>
                  <a:srgbClr val="111827"/>
                </a:solidFill>
                <a:latin typeface="Calibri" pitchFamily="34" charset="0"/>
                <a:ea typeface="Calibri" pitchFamily="34" charset="-122"/>
                <a:cs typeface="Calibri" pitchFamily="34" charset="-120"/>
              </a:rPr>
              <a:t>Scanning compliance checked every shift (see Scanning slide).</a:t>
            </a:r>
            <a:endParaRPr lang="en-US" sz="1500" dirty="0"/>
          </a:p>
          <a:p>
            <a:pPr indent="0" marL="0">
              <a:spcAft>
                <a:spcPts val="400"/>
              </a:spcAft>
              <a:buNone/>
            </a:pPr>
            <a:r>
              <a:rPr lang="en-US" sz="150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500" dirty="0"/>
          </a:p>
        </p:txBody>
      </p:sp>
      <p:sp>
        <p:nvSpPr>
          <p:cNvPr id="33"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669280"/>
            <a:ext cx="8229600"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F27 plan = full-year $; realized = Jul 1, 2026 to date.</a:t>
            </a:r>
            <a:endParaRPr lang="en-US" sz="1050" dirty="0"/>
          </a:p>
        </p:txBody>
      </p:sp>
      <p:sp>
        <p:nvSpPr>
          <p:cNvPr id="6" name="Shape 3"/>
          <p:cNvSpPr/>
          <p:nvPr/>
        </p:nvSpPr>
        <p:spPr>
          <a:xfrm>
            <a:off x="9052560" y="1371600"/>
            <a:ext cx="2587752" cy="1325880"/>
          </a:xfrm>
          <a:prstGeom prst="roundRect">
            <a:avLst>
              <a:gd name="adj" fmla="val 5517"/>
            </a:avLst>
          </a:prstGeom>
          <a:solidFill>
            <a:srgbClr val="F5F3FF"/>
          </a:solidFill>
          <a:ln w="12700">
            <a:solidFill>
              <a:srgbClr val="F5F3FF"/>
            </a:solidFill>
            <a:prstDash val="solid"/>
          </a:ln>
        </p:spPr>
      </p:sp>
      <p:sp>
        <p:nvSpPr>
          <p:cNvPr id="7" name="Text 4"/>
          <p:cNvSpPr txBox="1"/>
          <p:nvPr/>
        </p:nvSpPr>
        <p:spPr>
          <a:xfrm>
            <a:off x="9235440" y="150876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35440" y="178308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9" name="Text 6"/>
          <p:cNvSpPr txBox="1"/>
          <p:nvPr/>
        </p:nvSpPr>
        <p:spPr>
          <a:xfrm>
            <a:off x="9235440" y="226771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0" name="Shape 7"/>
          <p:cNvSpPr/>
          <p:nvPr/>
        </p:nvSpPr>
        <p:spPr>
          <a:xfrm>
            <a:off x="9052560" y="2880360"/>
            <a:ext cx="2587752" cy="1325880"/>
          </a:xfrm>
          <a:prstGeom prst="roundRect">
            <a:avLst>
              <a:gd name="adj" fmla="val 5517"/>
            </a:avLst>
          </a:prstGeom>
          <a:solidFill>
            <a:srgbClr val="F3F4F6"/>
          </a:solidFill>
          <a:ln w="12700">
            <a:solidFill>
              <a:srgbClr val="F3F4F6"/>
            </a:solidFill>
            <a:prstDash val="solid"/>
          </a:ln>
        </p:spPr>
      </p:sp>
      <p:sp>
        <p:nvSpPr>
          <p:cNvPr id="11" name="Text 8"/>
          <p:cNvSpPr txBox="1"/>
          <p:nvPr/>
        </p:nvSpPr>
        <p:spPr>
          <a:xfrm>
            <a:off x="9235440" y="301752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35440" y="329184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3" name="Text 10"/>
          <p:cNvSpPr txBox="1"/>
          <p:nvPr/>
        </p:nvSpPr>
        <p:spPr>
          <a:xfrm>
            <a:off x="9235440" y="377647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target: </a:t>
            </a:r>
            <a:pPr indent="0" marL="0">
              <a:buNone/>
            </a:pPr>
            <a:r>
              <a:rPr lang="en-US" sz="1050" b="1" dirty="0">
                <a:solidFill>
                  <a:srgbClr val="D97706"/>
                </a:solidFill>
                <a:latin typeface="Calibri" pitchFamily="34" charset="0"/>
                <a:ea typeface="Calibri" pitchFamily="34" charset="-122"/>
                <a:cs typeface="Calibri" pitchFamily="34" charset="-120"/>
              </a:rPr>
              <a:t>TBC</a:t>
            </a:r>
            <a:endParaRPr lang="en-US" sz="1050" dirty="0"/>
          </a:p>
        </p:txBody>
      </p:sp>
      <p:sp>
        <p:nvSpPr>
          <p:cNvPr id="14" name="Shape 11"/>
          <p:cNvSpPr/>
          <p:nvPr/>
        </p:nvSpPr>
        <p:spPr>
          <a:xfrm>
            <a:off x="9052560" y="4389120"/>
            <a:ext cx="2587752" cy="1325880"/>
          </a:xfrm>
          <a:prstGeom prst="roundRect">
            <a:avLst>
              <a:gd name="adj" fmla="val 5517"/>
            </a:avLst>
          </a:prstGeom>
          <a:solidFill>
            <a:srgbClr val="F3F4F6"/>
          </a:solidFill>
          <a:ln w="12700">
            <a:solidFill>
              <a:srgbClr val="F3F4F6"/>
            </a:solidFill>
            <a:prstDash val="solid"/>
          </a:ln>
        </p:spPr>
      </p:sp>
      <p:sp>
        <p:nvSpPr>
          <p:cNvPr id="15" name="Text 12"/>
          <p:cNvSpPr txBox="1"/>
          <p:nvPr/>
        </p:nvSpPr>
        <p:spPr>
          <a:xfrm>
            <a:off x="9235440" y="452628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35440" y="480060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7" name="Text 14"/>
          <p:cNvSpPr txBox="1"/>
          <p:nvPr/>
        </p:nvSpPr>
        <p:spPr>
          <a:xfrm>
            <a:off x="9235440" y="528523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18"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September</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Weekly LF score vs </a:t>
            </a:r>
            <a:pPr indent="0" marL="0">
              <a:buNone/>
            </a:pPr>
            <a:r>
              <a:rPr lang="en-US" sz="1500" b="1" dirty="0">
                <a:solidFill>
                  <a:srgbClr val="111827"/>
                </a:solidFill>
                <a:latin typeface="Calibri" pitchFamily="34" charset="0"/>
                <a:ea typeface="Calibri" pitchFamily="34" charset="-122"/>
                <a:cs typeface="Calibri" pitchFamily="34" charset="-120"/>
              </a:rPr>
              <a:t>80%</a:t>
            </a:r>
            <a:pPr indent="0" marL="0">
              <a:buNone/>
            </a:pPr>
            <a:r>
              <a:rPr lang="en-US" sz="1500" dirty="0">
                <a:solidFill>
                  <a:srgbClr val="6B7280"/>
                </a:solidFill>
                <a:latin typeface="Calibri" pitchFamily="34" charset="0"/>
                <a:ea typeface="Calibri" pitchFamily="34" charset="-122"/>
                <a:cs typeface="Calibri" pitchFamily="34" charset="-120"/>
              </a:rPr>
              <a:t> target  ·  load % vs </a:t>
            </a:r>
            <a:pPr indent="0" marL="0">
              <a:buNone/>
            </a:pPr>
            <a:r>
              <a:rPr lang="en-US" sz="1500" b="1" dirty="0">
                <a:solidFill>
                  <a:srgbClr val="111827"/>
                </a:solidFill>
                <a:latin typeface="Calibri" pitchFamily="34" charset="0"/>
                <a:ea typeface="Calibri" pitchFamily="34" charset="-122"/>
                <a:cs typeface="Calibri" pitchFamily="34" charset="-120"/>
              </a:rPr>
              <a:t>98%</a:t>
            </a:r>
            <a:pPr indent="0" marL="0">
              <a:buNone/>
            </a:pPr>
            <a:r>
              <a:rPr lang="en-US" sz="1500" dirty="0">
                <a:solidFill>
                  <a:srgbClr val="6B7280"/>
                </a:solidFill>
                <a:latin typeface="Calibri" pitchFamily="34" charset="0"/>
                <a:ea typeface="Calibri" pitchFamily="34" charset="-122"/>
                <a:cs typeface="Calibri" pitchFamily="34" charset="-120"/>
              </a:rPr>
              <a:t> target</a:t>
            </a:r>
            <a:endParaRPr lang="en-US" sz="1500" dirty="0"/>
          </a:p>
        </p:txBody>
      </p:sp>
      <p:sp>
        <p:nvSpPr>
          <p:cNvPr id="5" name="Shape 3"/>
          <p:cNvSpPr/>
          <p:nvPr/>
        </p:nvSpPr>
        <p:spPr>
          <a:xfrm>
            <a:off x="548640" y="1783080"/>
            <a:ext cx="2567178" cy="329184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457200" cy="457200"/>
          </a:xfrm>
          <a:prstGeom prst="ellipse">
            <a:avLst/>
          </a:prstGeom>
          <a:solidFill>
            <a:srgbClr val="7C3AED"/>
          </a:solidFill>
          <a:ln w="12700">
            <a:solidFill>
              <a:srgbClr val="7C3AED"/>
            </a:solidFill>
            <a:prstDash val="solid"/>
          </a:ln>
        </p:spPr>
      </p:sp>
      <p:sp>
        <p:nvSpPr>
          <p:cNvPr id="7"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71600"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1–5</a:t>
            </a:r>
            <a:endParaRPr lang="en-US" sz="1600" dirty="0"/>
          </a:p>
        </p:txBody>
      </p:sp>
      <p:sp>
        <p:nvSpPr>
          <p:cNvPr id="9" name="Text 7"/>
          <p:cNvSpPr txBox="1"/>
          <p:nvPr/>
        </p:nvSpPr>
        <p:spPr>
          <a:xfrm>
            <a:off x="777240"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10" name="Text 8"/>
          <p:cNvSpPr txBox="1"/>
          <p:nvPr/>
        </p:nvSpPr>
        <p:spPr>
          <a:xfrm>
            <a:off x="777240"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1" name="Text 9"/>
          <p:cNvSpPr txBox="1"/>
          <p:nvPr/>
        </p:nvSpPr>
        <p:spPr>
          <a:xfrm>
            <a:off x="777240"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12" name="Text 10"/>
          <p:cNvSpPr txBox="1"/>
          <p:nvPr/>
        </p:nvSpPr>
        <p:spPr>
          <a:xfrm>
            <a:off x="777240"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13" name="Text 11"/>
          <p:cNvSpPr txBox="1"/>
          <p:nvPr/>
        </p:nvSpPr>
        <p:spPr>
          <a:xfrm>
            <a:off x="777240"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Text 12"/>
          <p:cNvSpPr txBox="1"/>
          <p:nvPr/>
        </p:nvSpPr>
        <p:spPr>
          <a:xfrm>
            <a:off x="777240"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15" name="Shape 13"/>
          <p:cNvSpPr/>
          <p:nvPr/>
        </p:nvSpPr>
        <p:spPr>
          <a:xfrm>
            <a:off x="3390138" y="1783080"/>
            <a:ext cx="2567178" cy="3291840"/>
          </a:xfrm>
          <a:prstGeom prst="roundRect">
            <a:avLst>
              <a:gd name="adj" fmla="val 2850"/>
            </a:avLst>
          </a:prstGeom>
          <a:solidFill>
            <a:srgbClr val="F3F4F6"/>
          </a:solidFill>
          <a:ln w="12700">
            <a:solidFill>
              <a:srgbClr val="F3F4F6"/>
            </a:solidFill>
            <a:prstDash val="solid"/>
          </a:ln>
        </p:spPr>
      </p:sp>
      <p:sp>
        <p:nvSpPr>
          <p:cNvPr id="16" name="Shape 14"/>
          <p:cNvSpPr/>
          <p:nvPr/>
        </p:nvSpPr>
        <p:spPr>
          <a:xfrm>
            <a:off x="3618738" y="2011680"/>
            <a:ext cx="457200" cy="457200"/>
          </a:xfrm>
          <a:prstGeom prst="ellipse">
            <a:avLst/>
          </a:prstGeom>
          <a:solidFill>
            <a:srgbClr val="7C3AED"/>
          </a:solidFill>
          <a:ln w="12700">
            <a:solidFill>
              <a:srgbClr val="7C3AED"/>
            </a:solidFill>
            <a:prstDash val="solid"/>
          </a:ln>
        </p:spPr>
      </p:sp>
      <p:sp>
        <p:nvSpPr>
          <p:cNvPr id="17" name="Text 15"/>
          <p:cNvSpPr txBox="1"/>
          <p:nvPr/>
        </p:nvSpPr>
        <p:spPr>
          <a:xfrm>
            <a:off x="3618738"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4213098"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6–12</a:t>
            </a:r>
            <a:endParaRPr lang="en-US" sz="1600" dirty="0"/>
          </a:p>
        </p:txBody>
      </p:sp>
      <p:sp>
        <p:nvSpPr>
          <p:cNvPr id="19" name="Text 17"/>
          <p:cNvSpPr txBox="1"/>
          <p:nvPr/>
        </p:nvSpPr>
        <p:spPr>
          <a:xfrm>
            <a:off x="3618738"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20" name="Text 18"/>
          <p:cNvSpPr txBox="1"/>
          <p:nvPr/>
        </p:nvSpPr>
        <p:spPr>
          <a:xfrm>
            <a:off x="3618738"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1" name="Text 19"/>
          <p:cNvSpPr txBox="1"/>
          <p:nvPr/>
        </p:nvSpPr>
        <p:spPr>
          <a:xfrm>
            <a:off x="3618738"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22" name="Text 20"/>
          <p:cNvSpPr txBox="1"/>
          <p:nvPr/>
        </p:nvSpPr>
        <p:spPr>
          <a:xfrm>
            <a:off x="3618738"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23" name="Text 21"/>
          <p:cNvSpPr txBox="1"/>
          <p:nvPr/>
        </p:nvSpPr>
        <p:spPr>
          <a:xfrm>
            <a:off x="3618738"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4" name="Text 22"/>
          <p:cNvSpPr txBox="1"/>
          <p:nvPr/>
        </p:nvSpPr>
        <p:spPr>
          <a:xfrm>
            <a:off x="3618738"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25" name="Shape 23"/>
          <p:cNvSpPr/>
          <p:nvPr/>
        </p:nvSpPr>
        <p:spPr>
          <a:xfrm>
            <a:off x="6231636" y="1783080"/>
            <a:ext cx="2567178" cy="3291840"/>
          </a:xfrm>
          <a:prstGeom prst="roundRect">
            <a:avLst>
              <a:gd name="adj" fmla="val 2850"/>
            </a:avLst>
          </a:prstGeom>
          <a:solidFill>
            <a:srgbClr val="F3F4F6"/>
          </a:solidFill>
          <a:ln w="12700">
            <a:solidFill>
              <a:srgbClr val="F3F4F6"/>
            </a:solidFill>
            <a:prstDash val="solid"/>
          </a:ln>
        </p:spPr>
      </p:sp>
      <p:sp>
        <p:nvSpPr>
          <p:cNvPr id="26" name="Shape 24"/>
          <p:cNvSpPr/>
          <p:nvPr/>
        </p:nvSpPr>
        <p:spPr>
          <a:xfrm>
            <a:off x="6460236" y="2011680"/>
            <a:ext cx="457200" cy="457200"/>
          </a:xfrm>
          <a:prstGeom prst="ellipse">
            <a:avLst/>
          </a:prstGeom>
          <a:solidFill>
            <a:srgbClr val="7C3AED"/>
          </a:solidFill>
          <a:ln w="12700">
            <a:solidFill>
              <a:srgbClr val="7C3AED"/>
            </a:solidFill>
            <a:prstDash val="solid"/>
          </a:ln>
        </p:spPr>
      </p:sp>
      <p:sp>
        <p:nvSpPr>
          <p:cNvPr id="27" name="Text 25"/>
          <p:cNvSpPr txBox="1"/>
          <p:nvPr/>
        </p:nvSpPr>
        <p:spPr>
          <a:xfrm>
            <a:off x="6460236"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054596"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13–19</a:t>
            </a:r>
            <a:endParaRPr lang="en-US" sz="1600" dirty="0"/>
          </a:p>
        </p:txBody>
      </p:sp>
      <p:sp>
        <p:nvSpPr>
          <p:cNvPr id="29" name="Text 27"/>
          <p:cNvSpPr txBox="1"/>
          <p:nvPr/>
        </p:nvSpPr>
        <p:spPr>
          <a:xfrm>
            <a:off x="6460236"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30" name="Text 28"/>
          <p:cNvSpPr txBox="1"/>
          <p:nvPr/>
        </p:nvSpPr>
        <p:spPr>
          <a:xfrm>
            <a:off x="6460236"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1" name="Text 29"/>
          <p:cNvSpPr txBox="1"/>
          <p:nvPr/>
        </p:nvSpPr>
        <p:spPr>
          <a:xfrm>
            <a:off x="6460236"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32" name="Text 30"/>
          <p:cNvSpPr txBox="1"/>
          <p:nvPr/>
        </p:nvSpPr>
        <p:spPr>
          <a:xfrm>
            <a:off x="6460236"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33" name="Text 31"/>
          <p:cNvSpPr txBox="1"/>
          <p:nvPr/>
        </p:nvSpPr>
        <p:spPr>
          <a:xfrm>
            <a:off x="6460236"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4" name="Text 32"/>
          <p:cNvSpPr txBox="1"/>
          <p:nvPr/>
        </p:nvSpPr>
        <p:spPr>
          <a:xfrm>
            <a:off x="6460236"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35" name="Shape 33"/>
          <p:cNvSpPr/>
          <p:nvPr/>
        </p:nvSpPr>
        <p:spPr>
          <a:xfrm>
            <a:off x="9073134" y="1783080"/>
            <a:ext cx="2567178" cy="3291840"/>
          </a:xfrm>
          <a:prstGeom prst="roundRect">
            <a:avLst>
              <a:gd name="adj" fmla="val 2850"/>
            </a:avLst>
          </a:prstGeom>
          <a:solidFill>
            <a:srgbClr val="F3F4F6"/>
          </a:solidFill>
          <a:ln w="12700">
            <a:solidFill>
              <a:srgbClr val="F3F4F6"/>
            </a:solidFill>
            <a:prstDash val="solid"/>
          </a:ln>
        </p:spPr>
      </p:sp>
      <p:sp>
        <p:nvSpPr>
          <p:cNvPr id="36" name="Shape 34"/>
          <p:cNvSpPr/>
          <p:nvPr/>
        </p:nvSpPr>
        <p:spPr>
          <a:xfrm>
            <a:off x="9301734" y="2011680"/>
            <a:ext cx="457200" cy="457200"/>
          </a:xfrm>
          <a:prstGeom prst="ellipse">
            <a:avLst/>
          </a:prstGeom>
          <a:solidFill>
            <a:srgbClr val="7C3AED"/>
          </a:solidFill>
          <a:ln w="12700">
            <a:solidFill>
              <a:srgbClr val="7C3AED"/>
            </a:solidFill>
            <a:prstDash val="solid"/>
          </a:ln>
        </p:spPr>
      </p:sp>
      <p:sp>
        <p:nvSpPr>
          <p:cNvPr id="37" name="Text 35"/>
          <p:cNvSpPr txBox="1"/>
          <p:nvPr/>
        </p:nvSpPr>
        <p:spPr>
          <a:xfrm>
            <a:off x="9301734"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6"/>
          <p:cNvSpPr txBox="1"/>
          <p:nvPr/>
        </p:nvSpPr>
        <p:spPr>
          <a:xfrm>
            <a:off x="9896094"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20–26</a:t>
            </a:r>
            <a:endParaRPr lang="en-US" sz="1600" dirty="0"/>
          </a:p>
        </p:txBody>
      </p:sp>
      <p:sp>
        <p:nvSpPr>
          <p:cNvPr id="39" name="Text 37"/>
          <p:cNvSpPr txBox="1"/>
          <p:nvPr/>
        </p:nvSpPr>
        <p:spPr>
          <a:xfrm>
            <a:off x="9301734"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40" name="Text 38"/>
          <p:cNvSpPr txBox="1"/>
          <p:nvPr/>
        </p:nvSpPr>
        <p:spPr>
          <a:xfrm>
            <a:off x="9301734"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1" name="Text 39"/>
          <p:cNvSpPr txBox="1"/>
          <p:nvPr/>
        </p:nvSpPr>
        <p:spPr>
          <a:xfrm>
            <a:off x="9301734"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42" name="Text 40"/>
          <p:cNvSpPr txBox="1"/>
          <p:nvPr/>
        </p:nvSpPr>
        <p:spPr>
          <a:xfrm>
            <a:off x="9301734"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43" name="Text 41"/>
          <p:cNvSpPr txBox="1"/>
          <p:nvPr/>
        </p:nvSpPr>
        <p:spPr>
          <a:xfrm>
            <a:off x="9301734"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4" name="Text 42"/>
          <p:cNvSpPr txBox="1"/>
          <p:nvPr/>
        </p:nvSpPr>
        <p:spPr>
          <a:xfrm>
            <a:off x="9301734"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45" name="Shape 43"/>
          <p:cNvSpPr/>
          <p:nvPr/>
        </p:nvSpPr>
        <p:spPr>
          <a:xfrm>
            <a:off x="548640" y="5303520"/>
            <a:ext cx="11091672" cy="868680"/>
          </a:xfrm>
          <a:prstGeom prst="roundRect">
            <a:avLst>
              <a:gd name="adj" fmla="val 8421"/>
            </a:avLst>
          </a:prstGeom>
          <a:solidFill>
            <a:srgbClr val="F5F3FF"/>
          </a:solidFill>
          <a:ln w="12700">
            <a:solidFill>
              <a:srgbClr val="F5F3FF"/>
            </a:solidFill>
            <a:prstDash val="solid"/>
          </a:ln>
        </p:spPr>
      </p:sp>
      <p:sp>
        <p:nvSpPr>
          <p:cNvPr id="46" name="Shape 44"/>
          <p:cNvSpPr/>
          <p:nvPr/>
        </p:nvSpPr>
        <p:spPr>
          <a:xfrm>
            <a:off x="777240" y="5477256"/>
            <a:ext cx="512064" cy="512064"/>
          </a:xfrm>
          <a:prstGeom prst="ellipse">
            <a:avLst/>
          </a:prstGeom>
          <a:solidFill>
            <a:srgbClr val="7C3AED"/>
          </a:solidFill>
          <a:ln w="12700">
            <a:solidFill>
              <a:srgbClr val="7C3AED"/>
            </a:solidFill>
            <a:prstDash val="solid"/>
          </a:ln>
        </p:spPr>
      </p:sp>
      <p:pic>
        <p:nvPicPr>
          <p:cNvPr id="47" name="Image 0" descr="preencoded.png">    </p:cNvPr>
          <p:cNvPicPr>
            <a:picLocks noChangeAspect="1"/>
          </p:cNvPicPr>
          <p:nvPr/>
        </p:nvPicPr>
        <p:blipFill>
          <a:blip r:embed="rId1"/>
          <a:stretch>
            <a:fillRect/>
          </a:stretch>
        </p:blipFill>
        <p:spPr>
          <a:xfrm>
            <a:off x="905256" y="5605272"/>
            <a:ext cx="256032" cy="256032"/>
          </a:xfrm>
          <a:prstGeom prst="rect">
            <a:avLst/>
          </a:prstGeom>
        </p:spPr>
      </p:pic>
      <p:sp>
        <p:nvSpPr>
          <p:cNvPr id="48" name="Text 45"/>
          <p:cNvSpPr txBox="1"/>
          <p:nvPr/>
        </p:nvSpPr>
        <p:spPr>
          <a:xfrm>
            <a:off x="1508760" y="5303520"/>
            <a:ext cx="9966960" cy="8686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Load factor &amp; trailer consolidation  ·  </a:t>
            </a:r>
            <a:pPr indent="0" marL="0">
              <a:buNone/>
            </a:pPr>
            <a:r>
              <a:rPr lang="en-US" sz="1500" dirty="0">
                <a:solidFill>
                  <a:srgbClr val="1F2937"/>
                </a:solidFill>
                <a:latin typeface="Calibri" pitchFamily="34" charset="0"/>
                <a:ea typeface="Calibri" pitchFamily="34" charset="-122"/>
                <a:cs typeface="Calibri" pitchFamily="34" charset="-120"/>
              </a:rPr>
              <a:t>Consolidating large-customer freight into fewer trailers.</a:t>
            </a:r>
            <a:endParaRPr lang="en-US" sz="1500" dirty="0"/>
          </a:p>
        </p:txBody>
      </p:sp>
      <p:sp>
        <p:nvSpPr>
          <p:cNvPr id="49" name="Text 4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0" name="Text 4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2026-09-29T12:57:00Z</dcterms:created>
  <dcterms:modified xsi:type="dcterms:W3CDTF">2026-09-29T12:57:00Z</dcterms:modified>
</cp:coreProperties>
</file>