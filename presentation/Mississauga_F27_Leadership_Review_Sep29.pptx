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4.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5.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6.xml" ContentType="application/vnd.openxmlformats-officedocument.drawingml.chart+xml"/>
  <Override PartName="/ppt/charts/chart7.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charts/chart8.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charts/chart9.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charts/chart10.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charts/chart11.xml" ContentType="application/vnd.openxmlformats-officedocument.drawingml.chart+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Adjusted on-time % by month · 2026</a:t>
            </a:r>
          </a:p>
        </c:rich>
      </c:tx>
      <c:layout/>
      <c:overlay val="0"/>
    </c:title>
    <c:autoTitleDeleted val="0"/>
    <c:plotArea>
      <c:layout/>
      <c:barChart>
        <c:barDir val="col"/>
        <c:grouping val="clustered"/>
        <c:varyColors val="0"/>
        <c:ser>
          <c:idx val="0"/>
          <c:order val="0"/>
          <c:tx>
            <c:strRef>
              <c:f>Sheet1!$B$1</c:f>
              <c:strCache>
                <c:ptCount val="1"/>
                <c:pt idx="0">
                  <c:v>Incl. partner carriers</c:v>
                </c:pt>
              </c:strCache>
            </c:strRef>
          </c:tx>
          <c:spPr>
            <a:solidFill>
              <a:srgbClr val="7C3AE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87.5</c:v>
                </c:pt>
                <c:pt idx="1">
                  <c:v>87.8</c:v>
                </c:pt>
                <c:pt idx="2">
                  <c:v>84.9</c:v>
                </c:pt>
                <c:pt idx="3">
                  <c:v>81.5</c:v>
                </c:pt>
                <c:pt idx="4">
                  <c:v>83.6</c:v>
                </c:pt>
                <c:pt idx="5">
                  <c:v>85.5</c:v>
                </c:pt>
                <c:pt idx="6">
                  <c:v>89.3</c:v>
                </c:pt>
                <c:pt idx="7">
                  <c:v>91.7</c:v>
                </c:pt>
                <c:pt idx="8">
                  <c:v>93.7</c:v>
                </c:pt>
              </c:numCache>
            </c:numRef>
          </c:val>
        </c:ser>
        <c:ser>
          <c:idx val="1"/>
          <c:order val="1"/>
          <c:tx>
            <c:strRef>
              <c:f>Sheet1!$C$1</c:f>
              <c:strCache>
                <c:ptCount val="1"/>
                <c:pt idx="0">
                  <c:v>Excl. partner carriers</c:v>
                </c:pt>
              </c:strCache>
            </c:strRef>
          </c:tx>
          <c:spPr>
            <a:solidFill>
              <a:srgbClr val="C4B5F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87.5</c:v>
                </c:pt>
                <c:pt idx="1">
                  <c:v>87.9</c:v>
                </c:pt>
                <c:pt idx="2">
                  <c:v>88.4</c:v>
                </c:pt>
                <c:pt idx="3">
                  <c:v>88.8</c:v>
                </c:pt>
                <c:pt idx="4">
                  <c:v>92.1</c:v>
                </c:pt>
                <c:pt idx="5">
                  <c:v>91.8</c:v>
                </c:pt>
                <c:pt idx="6">
                  <c:v>94.4</c:v>
                </c:pt>
                <c:pt idx="7">
                  <c:v>94.7</c:v>
                </c:pt>
                <c:pt idx="8">
                  <c:v>96.7</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45"/>
        <c:overlap val="0"/>
        <c:axId val="2094734554"/>
        <c:axId val="2094734552"/>
        <c:axId val="2094734556"/>
      </c:barChart>
      <c:lineChart>
        <c:varyColors val="0"/>
        <c:ser>
          <c:idx val="2"/>
          <c:order val="2"/>
          <c:tx>
            <c:strRef>
              <c:f>Sheet1!$D$1</c:f>
              <c:strCache>
                <c:ptCount val="1"/>
                <c:pt idx="0">
                  <c:v>Target 90%</c:v>
                </c:pt>
              </c:strCache>
            </c:strRef>
          </c:tx>
          <c:spPr>
            <a:solidFill>
              <a:srgbClr val="DC2626"/>
            </a:solidFill>
            <a:ln w="19050" cap="flat">
              <a:solidFill>
                <a:srgbClr val="DC26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DC2626"/>
              </a:solidFill>
              <a:ln w="9525" cap="flat">
                <a:solidFill>
                  <a:srgbClr val="DC2626"/>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Sheet1!$D$2:$D$10</c:f>
              <c:numCache>
                <c:formatCode>General</c:formatCode>
                <c:ptCount val="9"/>
                <c:pt idx="0">
                  <c:v>90</c:v>
                </c:pt>
                <c:pt idx="1">
                  <c:v>90</c:v>
                </c:pt>
                <c:pt idx="2">
                  <c:v>90</c:v>
                </c:pt>
                <c:pt idx="3">
                  <c:v>90</c:v>
                </c:pt>
                <c:pt idx="4">
                  <c:v>90</c:v>
                </c:pt>
                <c:pt idx="5">
                  <c:v>90</c:v>
                </c:pt>
                <c:pt idx="6">
                  <c:v>90</c:v>
                </c:pt>
                <c:pt idx="7">
                  <c:v>90</c:v>
                </c:pt>
                <c:pt idx="8">
                  <c:v>90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100"/>
          <c:min val="75"/>
        </c:scaling>
        <c:delete val="0"/>
        <c:axPos val="l"/>
        <c:majorGridlines>
          <c:spPr>
            <a:ln w="9525" cap="flat">
              <a:solidFill>
                <a:srgbClr val="E5E7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B7280"/>
                </a:solidFill>
                <a:latin typeface="Arial"/>
              </a:defRPr>
            </a:pPr>
            <a:endParaRPr lang="en-US"/>
          </a:p>
        </c:txPr>
        <c:crossAx val="2094734554"/>
        <c:crosses val="autoZero"/>
        <c:crossBetween val="between"/>
        <c:majorUnit val="5"/>
      </c:valAx>
      <c:spPr>
        <a:noFill/>
        <a:ln>
          <a:noFill/>
        </a:ln>
        <a:effectLst/>
      </c:spPr>
    </c:plotArea>
    <c:legend>
      <c:legendPos val="b"/>
      <c:overlay val="0"/>
      <c:txPr>
        <a:bodyPr/>
        <a:lstStyle/>
        <a:p>
          <a:pPr>
            <a:defRPr sz="1000">
              <a:solidFill>
                <a:srgbClr val="1F2937"/>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Missed PU % by month</a:t>
            </a:r>
          </a:p>
        </c:rich>
      </c:tx>
      <c:layout/>
      <c:overlay val="0"/>
    </c:title>
    <c:autoTitleDeleted val="0"/>
    <c:plotArea>
      <c:layout/>
      <c:barChart>
        <c:barDir val="col"/>
        <c:grouping val="clustered"/>
        <c:varyColors val="0"/>
        <c:ser>
          <c:idx val="0"/>
          <c:order val="0"/>
          <c:tx>
            <c:strRef>
              <c:f>Sheet1!$B$1</c:f>
              <c:strCache>
                <c:ptCount val="1"/>
                <c:pt idx="0">
                  <c:v>Missed PU %</c:v>
                </c:pt>
              </c:strCache>
            </c:strRef>
          </c:tx>
          <c:spPr>
            <a:solidFill>
              <a:srgbClr val="7C3AED"/>
            </a:solidFill>
            <a:effectLst/>
          </c:spPr>
          <c:invertIfNegative val="0"/>
          <c:dLbls>
            <c:numFmt formatCode="0.00&quot;%&quot;"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cat>
            <c:multiLvlStrRef>
              <c:f>Sheet1!$A$2:$A$5</c:f>
              <c:multiLvlStrCache>
                <c:ptCount val="4"/>
                <c:lvl>
                  <c:pt idx="0">
                    <c:v>Jun 2026</c:v>
                  </c:pt>
                  <c:pt idx="1">
                    <c:v>Jul</c:v>
                  </c:pt>
                  <c:pt idx="2">
                    <c:v>Aug</c:v>
                  </c:pt>
                  <c:pt idx="3">
                    <c:v>Sep MTD</c:v>
                  </c:pt>
                </c:lvl>
              </c:multiLvlStrCache>
            </c:multiLvlStrRef>
          </c:cat>
          <c:val>
            <c:numRef>
              <c:f>Sheet1!$B$2:$B$5</c:f>
              <c:numCache>
                <c:formatCode>General</c:formatCode>
                <c:ptCount val="4"/>
                <c:pt idx="0">
                  <c:v>7.77</c:v>
                </c:pt>
                <c:pt idx="1">
                  <c:v>4.88</c:v>
                </c:pt>
                <c:pt idx="2">
                  <c:v>3.66</c:v>
                </c:pt>
                <c:pt idx="3">
                  <c:v>5.23</c:v>
                </c:pt>
              </c:numCache>
            </c:numRef>
          </c:val>
        </c:ser>
        <c:dLbls>
          <c:numFmt formatCode="0.00&quot;%&quot;"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10"/>
          <c:min val="0"/>
        </c:scaling>
        <c:delete val="0"/>
        <c:axPos val="l"/>
        <c:majorGridlines>
          <c:spPr>
            <a:ln w="9525" cap="flat">
              <a:solidFill>
                <a:srgbClr val="E5E7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B728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Missed PU % by week (wk 39 partial)</a:t>
            </a:r>
          </a:p>
        </c:rich>
      </c:tx>
      <c:layout/>
      <c:overlay val="0"/>
    </c:title>
    <c:autoTitleDeleted val="0"/>
    <c:plotArea>
      <c:layout/>
      <c:barChart>
        <c:barDir val="col"/>
        <c:grouping val="clustered"/>
        <c:varyColors val="0"/>
        <c:ser>
          <c:idx val="0"/>
          <c:order val="0"/>
          <c:tx>
            <c:strRef>
              <c:f>Sheet1!$B$1</c:f>
              <c:strCache>
                <c:ptCount val="1"/>
                <c:pt idx="0">
                  <c:v>Missed PU %</c:v>
                </c:pt>
              </c:strCache>
            </c:strRef>
          </c:tx>
          <c:spPr>
            <a:solidFill>
              <a:srgbClr val="7C3AED"/>
            </a:solidFill>
            <a:effectLst/>
          </c:spPr>
          <c:invertIfNegative val="0"/>
          <c:dLbls>
            <c:numFmt formatCode="0.0" sourceLinked="0"/>
            <c:txPr>
              <a:bodyPr/>
              <a:lstStyle/>
              <a:p>
                <a:pPr>
                  <a:defRPr b="0" i="0" strike="noStrike" sz="800" u="none">
                    <a:solidFill>
                      <a:srgbClr val="1F2937"/>
                    </a:solidFill>
                    <a:latin typeface="Calibri"/>
                  </a:defRPr>
                </a:pPr>
              </a:p>
            </c:txPr>
            <c:showLegendKey val="0"/>
            <c:showVal val="1"/>
            <c:showCatName val="0"/>
            <c:showSerName val="0"/>
            <c:showPercent val="0"/>
            <c:showBubbleSize val="0"/>
            <c:showLeaderLines val="0"/>
          </c:dLbls>
          <c:cat>
            <c:multiLvlStrRef>
              <c:f>Sheet1!$A$2:$A$14</c:f>
              <c:multiLvlStrCache>
                <c:ptCount val="13"/>
                <c:lvl>
                  <c:pt idx="0">
                    <c:v>27</c:v>
                  </c:pt>
                  <c:pt idx="1">
                    <c:v>28</c:v>
                  </c:pt>
                  <c:pt idx="2">
                    <c:v>29</c:v>
                  </c:pt>
                  <c:pt idx="3">
                    <c:v>30</c:v>
                  </c:pt>
                  <c:pt idx="4">
                    <c:v>31</c:v>
                  </c:pt>
                  <c:pt idx="5">
                    <c:v>32</c:v>
                  </c:pt>
                  <c:pt idx="6">
                    <c:v>33</c:v>
                  </c:pt>
                  <c:pt idx="7">
                    <c:v>34</c:v>
                  </c:pt>
                  <c:pt idx="8">
                    <c:v>35</c:v>
                  </c:pt>
                  <c:pt idx="9">
                    <c:v>36</c:v>
                  </c:pt>
                  <c:pt idx="10">
                    <c:v>37</c:v>
                  </c:pt>
                  <c:pt idx="11">
                    <c:v>38</c:v>
                  </c:pt>
                  <c:pt idx="12">
                    <c:v>39*</c:v>
                  </c:pt>
                </c:lvl>
              </c:multiLvlStrCache>
            </c:multiLvlStrRef>
          </c:cat>
          <c:val>
            <c:numRef>
              <c:f>Sheet1!$B$2:$B$14</c:f>
              <c:numCache>
                <c:formatCode>General</c:formatCode>
                <c:ptCount val="13"/>
                <c:pt idx="0">
                  <c:v>7.11</c:v>
                </c:pt>
                <c:pt idx="1">
                  <c:v>2.75</c:v>
                </c:pt>
                <c:pt idx="2">
                  <c:v>6.66</c:v>
                </c:pt>
                <c:pt idx="3">
                  <c:v>4.84</c:v>
                </c:pt>
                <c:pt idx="4">
                  <c:v>4.4</c:v>
                </c:pt>
                <c:pt idx="5">
                  <c:v>2.81</c:v>
                </c:pt>
                <c:pt idx="6">
                  <c:v>3.48</c:v>
                </c:pt>
                <c:pt idx="7">
                  <c:v>3.52</c:v>
                </c:pt>
                <c:pt idx="8">
                  <c:v>5.04</c:v>
                </c:pt>
                <c:pt idx="9">
                  <c:v>4.43</c:v>
                </c:pt>
                <c:pt idx="10">
                  <c:v>5.95</c:v>
                </c:pt>
                <c:pt idx="11">
                  <c:v>6.47</c:v>
                </c:pt>
                <c:pt idx="12">
                  <c:v>3.86</c:v>
                </c:pt>
              </c:numCache>
            </c:numRef>
          </c:val>
        </c:ser>
        <c:dLbls>
          <c:numFmt formatCode="0.0" sourceLinked="0"/>
          <c:txPr>
            <a:bodyPr/>
            <a:lstStyle/>
            <a:p>
              <a:pPr>
                <a:defRPr b="0" i="0" strike="noStrike" sz="800" u="none">
                  <a:solidFill>
                    <a:srgbClr val="1F2937"/>
                  </a:solidFill>
                  <a:latin typeface="Calibri"/>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10"/>
          <c:min val="0"/>
        </c:scaling>
        <c:delete val="0"/>
        <c:axPos val="l"/>
        <c:majorGridlines>
          <c:spPr>
            <a:ln w="9525" cap="flat">
              <a:solidFill>
                <a:srgbClr val="E5E7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B728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11827"/>
                </a:solidFill>
                <a:latin typeface="Calibri"/>
              </a:defRPr>
            </a:pPr>
            <a:r>
              <a:rPr sz="1300" b="0" i="0" u="none" strike="noStrike">
                <a:solidFill>
                  <a:srgbClr val="111827"/>
                </a:solidFill>
                <a:latin typeface="Calibri"/>
              </a:rPr>
              <a:t>Dock hours · company vs agency</a:t>
            </a:r>
          </a:p>
        </c:rich>
      </c:tx>
      <c:layout/>
      <c:overlay val="0"/>
    </c:title>
    <c:autoTitleDeleted val="0"/>
    <c:plotArea>
      <c:layout/>
      <c:barChart>
        <c:barDir val="bar"/>
        <c:grouping val="stacked"/>
        <c:varyColors val="0"/>
        <c:ser>
          <c:idx val="0"/>
          <c:order val="0"/>
          <c:tx>
            <c:strRef>
              <c:f>Sheet1!$B$1</c:f>
              <c:strCache>
                <c:ptCount val="1"/>
                <c:pt idx="0">
                  <c:v>Company</c:v>
                </c:pt>
              </c:strCache>
            </c:strRef>
          </c:tx>
          <c:spPr>
            <a:solidFill>
              <a:srgbClr val="7C3AED"/>
            </a:solidFill>
            <a:effectLst/>
          </c:spPr>
          <c:invertIfNegative val="0"/>
          <c:dLbls>
            <c:numFmt formatCode="#,##0" sourceLinked="0"/>
            <c:txPr>
              <a:bodyPr/>
              <a:lstStyle/>
              <a:p>
                <a:pPr>
                  <a:defRPr b="1" i="0" strike="noStrike" sz="12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F26 Sept · 6,303 hrs</c:v>
                  </c:pt>
                  <c:pt idx="1">
                    <c:v>F27 Sept MTD · 3,999 hrs</c:v>
                  </c:pt>
                </c:lvl>
              </c:multiLvlStrCache>
            </c:multiLvlStrRef>
          </c:cat>
          <c:val>
            <c:numRef>
              <c:f>Sheet1!$B$2:$B$3</c:f>
              <c:numCache>
                <c:formatCode>General</c:formatCode>
                <c:ptCount val="2"/>
                <c:pt idx="0">
                  <c:v>1860</c:v>
                </c:pt>
                <c:pt idx="1">
                  <c:v>1542</c:v>
                </c:pt>
              </c:numCache>
            </c:numRef>
          </c:val>
        </c:ser>
        <c:ser>
          <c:idx val="1"/>
          <c:order val="1"/>
          <c:tx>
            <c:strRef>
              <c:f>Sheet1!$C$1</c:f>
              <c:strCache>
                <c:ptCount val="1"/>
                <c:pt idx="0">
                  <c:v>Agency</c:v>
                </c:pt>
              </c:strCache>
            </c:strRef>
          </c:tx>
          <c:spPr>
            <a:solidFill>
              <a:srgbClr val="374151"/>
            </a:solidFill>
            <a:effectLst/>
          </c:spPr>
          <c:invertIfNegative val="0"/>
          <c:dLbls>
            <c:numFmt formatCode="#,##0" sourceLinked="0"/>
            <c:txPr>
              <a:bodyPr/>
              <a:lstStyle/>
              <a:p>
                <a:pPr>
                  <a:defRPr b="1" i="0" strike="noStrike" sz="12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F26 Sept · 6,303 hrs</c:v>
                  </c:pt>
                  <c:pt idx="1">
                    <c:v>F27 Sept MTD · 3,999 hrs</c:v>
                  </c:pt>
                </c:lvl>
              </c:multiLvlStrCache>
            </c:multiLvlStrRef>
          </c:cat>
          <c:val>
            <c:numRef>
              <c:f>Sheet1!$C$2:$C$3</c:f>
              <c:numCache>
                <c:formatCode>General</c:formatCode>
                <c:ptCount val="2"/>
                <c:pt idx="0">
                  <c:v>4443</c:v>
                </c:pt>
                <c:pt idx="1">
                  <c:v>2457</c:v>
                </c:pt>
              </c:numCache>
            </c:numRef>
          </c:val>
        </c:ser>
        <c:dLbls>
          <c:numFmt formatCode="#,##0" sourceLinked="0"/>
          <c:txPr>
            <a:bodyPr/>
            <a:lstStyle/>
            <a:p>
              <a:pPr>
                <a:defRPr b="1" i="0" strike="noStrike" sz="1200" u="none">
                  <a:solidFill>
                    <a:srgbClr val="FFFFFF"/>
                  </a:solidFill>
                  <a:latin typeface="Calibri"/>
                </a:defRPr>
              </a:pPr>
            </a:p>
          </c:txPr>
          <c:dLblPos val="ctr"/>
          <c:showLegendKey val="0"/>
          <c:showVal val="1"/>
          <c:showCatName val="0"/>
          <c:showSerName val="0"/>
          <c:showPercent val="0"/>
          <c:showBubbleSize val="0"/>
          <c:showLeaderLines val="0"/>
        </c:dLbls>
        <c:gapWidth val="5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100">
              <a:solidFill>
                <a:srgbClr val="1F2937"/>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11827"/>
                </a:solidFill>
                <a:latin typeface="Calibri"/>
              </a:defRPr>
            </a:pPr>
            <a:r>
              <a:rPr sz="1300" b="0" i="0" u="none" strike="noStrike">
                <a:solidFill>
                  <a:srgbClr val="111827"/>
                </a:solidFill>
                <a:latin typeface="Calibri"/>
              </a:rPr>
              <a:t>Dock labour cost · company vs agency</a:t>
            </a:r>
          </a:p>
        </c:rich>
      </c:tx>
      <c:layout/>
      <c:overlay val="0"/>
    </c:title>
    <c:autoTitleDeleted val="0"/>
    <c:plotArea>
      <c:layout/>
      <c:barChart>
        <c:barDir val="bar"/>
        <c:grouping val="stacked"/>
        <c:varyColors val="0"/>
        <c:ser>
          <c:idx val="0"/>
          <c:order val="0"/>
          <c:tx>
            <c:strRef>
              <c:f>Sheet1!$B$1</c:f>
              <c:strCache>
                <c:ptCount val="1"/>
                <c:pt idx="0">
                  <c:v>Company</c:v>
                </c:pt>
              </c:strCache>
            </c:strRef>
          </c:tx>
          <c:spPr>
            <a:solidFill>
              <a:srgbClr val="7C3AED"/>
            </a:solidFill>
            <a:effectLst/>
          </c:spPr>
          <c:invertIfNegative val="0"/>
          <c:dLbls>
            <c:numFmt formatCode="$#,##0" sourceLinked="0"/>
            <c:txPr>
              <a:bodyPr/>
              <a:lstStyle/>
              <a:p>
                <a:pPr>
                  <a:defRPr b="1" i="0" strike="noStrike" sz="11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F26 Sept · $199,739</c:v>
                  </c:pt>
                  <c:pt idx="1">
                    <c:v>F27 Sept MTD · $133,692</c:v>
                  </c:pt>
                </c:lvl>
              </c:multiLvlStrCache>
            </c:multiLvlStrRef>
          </c:cat>
          <c:val>
            <c:numRef>
              <c:f>Sheet1!$B$2:$B$3</c:f>
              <c:numCache>
                <c:formatCode>General</c:formatCode>
                <c:ptCount val="2"/>
                <c:pt idx="0">
                  <c:v>69281.3</c:v>
                </c:pt>
                <c:pt idx="1">
                  <c:v>58917.47</c:v>
                </c:pt>
              </c:numCache>
            </c:numRef>
          </c:val>
        </c:ser>
        <c:ser>
          <c:idx val="1"/>
          <c:order val="1"/>
          <c:tx>
            <c:strRef>
              <c:f>Sheet1!$C$1</c:f>
              <c:strCache>
                <c:ptCount val="1"/>
                <c:pt idx="0">
                  <c:v>Agency</c:v>
                </c:pt>
              </c:strCache>
            </c:strRef>
          </c:tx>
          <c:spPr>
            <a:solidFill>
              <a:srgbClr val="374151"/>
            </a:solidFill>
            <a:effectLst/>
          </c:spPr>
          <c:invertIfNegative val="0"/>
          <c:dLbls>
            <c:numFmt formatCode="$#,##0" sourceLinked="0"/>
            <c:txPr>
              <a:bodyPr/>
              <a:lstStyle/>
              <a:p>
                <a:pPr>
                  <a:defRPr b="1" i="0" strike="noStrike" sz="11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F26 Sept · $199,739</c:v>
                  </c:pt>
                  <c:pt idx="1">
                    <c:v>F27 Sept MTD · $133,692</c:v>
                  </c:pt>
                </c:lvl>
              </c:multiLvlStrCache>
            </c:multiLvlStrRef>
          </c:cat>
          <c:val>
            <c:numRef>
              <c:f>Sheet1!$C$2:$C$3</c:f>
              <c:numCache>
                <c:formatCode>General</c:formatCode>
                <c:ptCount val="2"/>
                <c:pt idx="0">
                  <c:v>130457.82</c:v>
                </c:pt>
                <c:pt idx="1">
                  <c:v>74774.87</c:v>
                </c:pt>
              </c:numCache>
            </c:numRef>
          </c:val>
        </c:ser>
        <c:dLbls>
          <c:numFmt formatCode="$#,##0" sourceLinked="0"/>
          <c:txPr>
            <a:bodyPr/>
            <a:lstStyle/>
            <a:p>
              <a:pPr>
                <a:defRPr b="1" i="0" strike="noStrike" sz="1100" u="none">
                  <a:solidFill>
                    <a:srgbClr val="FFFFFF"/>
                  </a:solidFill>
                  <a:latin typeface="Calibri"/>
                </a:defRPr>
              </a:pPr>
            </a:p>
          </c:txPr>
          <c:dLblPos val="ctr"/>
          <c:showLegendKey val="0"/>
          <c:showVal val="1"/>
          <c:showCatName val="0"/>
          <c:showSerName val="0"/>
          <c:showPercent val="0"/>
          <c:showBubbleSize val="0"/>
          <c:showLeaderLines val="0"/>
        </c:dLbls>
        <c:gapWidth val="5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100">
              <a:solidFill>
                <a:srgbClr val="1F2937"/>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Top 6 accessorials · units this month</a:t>
            </a:r>
          </a:p>
        </c:rich>
      </c:tx>
      <c:layout/>
      <c:overlay val="0"/>
    </c:title>
    <c:autoTitleDeleted val="0"/>
    <c:plotArea>
      <c:layout/>
      <c:barChart>
        <c:barDir val="bar"/>
        <c:grouping val="clustered"/>
        <c:varyColors val="0"/>
        <c:ser>
          <c:idx val="0"/>
          <c:order val="0"/>
          <c:tx>
            <c:strRef>
              <c:f>Sheet1!$B$1</c:f>
              <c:strCache>
                <c:ptCount val="1"/>
                <c:pt idx="0">
                  <c:v>Units</c:v>
                </c:pt>
              </c:strCache>
            </c:strRef>
          </c:tx>
          <c:spPr>
            <a:solidFill>
              <a:srgbClr val="7C3AED"/>
            </a:solidFill>
            <a:effectLst/>
          </c:spPr>
          <c:invertIfNegative val="0"/>
          <c:dLbls>
            <c:numFmt formatCode="#,##0"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cat>
            <c:multiLvlStrRef>
              <c:f>Sheet1!$A$2:$A$7</c:f>
              <c:multiLvlStrCache>
                <c:ptCount val="6"/>
                <c:lvl>
                  <c:pt idx="0">
                    <c:v>Private residence delivery</c:v>
                  </c:pt>
                  <c:pt idx="1">
                    <c:v>Tailgate delivery</c:v>
                  </c:pt>
                  <c:pt idx="2">
                    <c:v>Appointment delivery</c:v>
                  </c:pt>
                  <c:pt idx="3">
                    <c:v>Appointment pick-up</c:v>
                  </c:pt>
                  <c:pt idx="4">
                    <c:v>Tailgate pick-up</c:v>
                  </c:pt>
                  <c:pt idx="5">
                    <c:v>Private residence pick-up</c:v>
                  </c:pt>
                </c:lvl>
              </c:multiLvlStrCache>
            </c:multiLvlStrRef>
          </c:cat>
          <c:val>
            <c:numRef>
              <c:f>Sheet1!$B$2:$B$7</c:f>
              <c:numCache>
                <c:formatCode>General</c:formatCode>
                <c:ptCount val="6"/>
                <c:pt idx="0">
                  <c:v>18400</c:v>
                </c:pt>
                <c:pt idx="1">
                  <c:v>6174</c:v>
                </c:pt>
                <c:pt idx="2">
                  <c:v>5468</c:v>
                </c:pt>
                <c:pt idx="3">
                  <c:v>807</c:v>
                </c:pt>
                <c:pt idx="4">
                  <c:v>630</c:v>
                </c:pt>
                <c:pt idx="5">
                  <c:v>578</c:v>
                </c:pt>
              </c:numCache>
            </c:numRef>
          </c:val>
        </c:ser>
        <c:dLbls>
          <c:numFmt formatCode="#,##0"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2200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Weekly accessorial units · 12 weeks (*partial)</a:t>
            </a:r>
          </a:p>
        </c:rich>
      </c:tx>
      <c:layout/>
      <c:overlay val="0"/>
    </c:title>
    <c:autoTitleDeleted val="0"/>
    <c:plotArea>
      <c:layout/>
      <c:barChart>
        <c:barDir val="col"/>
        <c:grouping val="clustered"/>
        <c:varyColors val="0"/>
        <c:ser>
          <c:idx val="0"/>
          <c:order val="0"/>
          <c:tx>
            <c:strRef>
              <c:f>Sheet1!$B$1</c:f>
              <c:strCache>
                <c:ptCount val="1"/>
                <c:pt idx="0">
                  <c:v>Units (K)</c:v>
                </c:pt>
              </c:strCache>
            </c:strRef>
          </c:tx>
          <c:spPr>
            <a:solidFill>
              <a:srgbClr val="A78BFA"/>
            </a:solidFill>
            <a:effectLst/>
          </c:spPr>
          <c:invertIfNegative val="0"/>
          <c:dLbls>
            <c:numFmt formatCode="0.0&quot;K&quot;" sourceLinked="0"/>
            <c:txPr>
              <a:bodyPr/>
              <a:lstStyle/>
              <a:p>
                <a:pPr>
                  <a:defRPr b="0" i="0" strike="noStrike" sz="800" u="none">
                    <a:solidFill>
                      <a:srgbClr val="1F2937"/>
                    </a:solidFill>
                    <a:latin typeface="Calibri"/>
                  </a:defRPr>
                </a:pPr>
              </a:p>
            </c:txPr>
            <c:showLegendKey val="0"/>
            <c:showVal val="1"/>
            <c:showCatName val="0"/>
            <c:showSerName val="0"/>
            <c:showPercent val="0"/>
            <c:showBubbleSize val="0"/>
            <c:showLeaderLines val="0"/>
          </c:dLbls>
          <c:cat>
            <c:multiLvlStrRef>
              <c:f>Sheet1!$A$2:$A$13</c:f>
              <c:multiLvlStrCache>
                <c:ptCount val="12"/>
                <c:lvl>
                  <c:pt idx="0">
                    <c:v>Jul 13</c:v>
                  </c:pt>
                  <c:pt idx="1">
                    <c:v>Jul 20</c:v>
                  </c:pt>
                  <c:pt idx="2">
                    <c:v>Jul 27</c:v>
                  </c:pt>
                  <c:pt idx="3">
                    <c:v>Aug 3</c:v>
                  </c:pt>
                  <c:pt idx="4">
                    <c:v>Aug 10</c:v>
                  </c:pt>
                  <c:pt idx="5">
                    <c:v>Aug 17</c:v>
                  </c:pt>
                  <c:pt idx="6">
                    <c:v>Aug 24</c:v>
                  </c:pt>
                  <c:pt idx="7">
                    <c:v>Aug 31</c:v>
                  </c:pt>
                  <c:pt idx="8">
                    <c:v>Sep 7</c:v>
                  </c:pt>
                  <c:pt idx="9">
                    <c:v>Sep 14</c:v>
                  </c:pt>
                  <c:pt idx="10">
                    <c:v>Sep 21</c:v>
                  </c:pt>
                  <c:pt idx="11">
                    <c:v>Sep 28*</c:v>
                  </c:pt>
                </c:lvl>
              </c:multiLvlStrCache>
            </c:multiLvlStrRef>
          </c:cat>
          <c:val>
            <c:numRef>
              <c:f>Sheet1!$B$2:$B$13</c:f>
              <c:numCache>
                <c:formatCode>General</c:formatCode>
                <c:ptCount val="12"/>
                <c:pt idx="0">
                  <c:v>8</c:v>
                </c:pt>
                <c:pt idx="1">
                  <c:v>7.9</c:v>
                </c:pt>
                <c:pt idx="2">
                  <c:v>7.2</c:v>
                </c:pt>
                <c:pt idx="3">
                  <c:v>6.3</c:v>
                </c:pt>
                <c:pt idx="4">
                  <c:v>7.6</c:v>
                </c:pt>
                <c:pt idx="5">
                  <c:v>7.1</c:v>
                </c:pt>
                <c:pt idx="6">
                  <c:v>8.1</c:v>
                </c:pt>
                <c:pt idx="7">
                  <c:v>7.7</c:v>
                </c:pt>
                <c:pt idx="8">
                  <c:v>6.7</c:v>
                </c:pt>
                <c:pt idx="9">
                  <c:v>7.5</c:v>
                </c:pt>
                <c:pt idx="10">
                  <c:v>6.6</c:v>
                </c:pt>
                <c:pt idx="11">
                  <c:v>2.8</c:v>
                </c:pt>
              </c:numCache>
            </c:numRef>
          </c:val>
        </c:ser>
        <c:dLbls>
          <c:numFmt formatCode="0.0&quot;K&quot;" sourceLinked="0"/>
          <c:txPr>
            <a:bodyPr/>
            <a:lstStyle/>
            <a:p>
              <a:pPr>
                <a:defRPr b="0" i="0" strike="noStrike" sz="800" u="none">
                  <a:solidFill>
                    <a:srgbClr val="1F2937"/>
                  </a:solidFill>
                  <a:latin typeface="Calibri"/>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rot="-2700000"/>
          <a:lstStyle/>
          <a:p>
            <a:pPr>
              <a:defRPr sz="8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10"/>
          <c:min val="0"/>
        </c:scaling>
        <c:delete val="0"/>
        <c:axPos val="l"/>
        <c:majorGridlines>
          <c:spPr>
            <a:ln w="9525" cap="flat">
              <a:solidFill>
                <a:srgbClr val="E5E7EB"/>
              </a:solidFill>
              <a:prstDash val="solid"/>
              <a:round/>
            </a:ln>
          </c:spPr>
        </c:majorGridlines>
        <c:numFmt formatCode="0&quot;K&quot;"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B728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Reweighs % of target by month · 2026</a:t>
            </a:r>
          </a:p>
        </c:rich>
      </c:tx>
      <c:layout/>
      <c:overlay val="0"/>
    </c:title>
    <c:autoTitleDeleted val="0"/>
    <c:plotArea>
      <c:layout/>
      <c:barChart>
        <c:barDir val="col"/>
        <c:grouping val="clustered"/>
        <c:varyColors val="0"/>
        <c:ser>
          <c:idx val="0"/>
          <c:order val="0"/>
          <c:tx>
            <c:strRef>
              <c:f>Sheet1!$B$1</c:f>
              <c:strCache>
                <c:ptCount val="1"/>
                <c:pt idx="0">
                  <c:v>Reweighs % of target</c:v>
                </c:pt>
              </c:strCache>
            </c:strRef>
          </c:tx>
          <c:spPr>
            <a:solidFill>
              <a:srgbClr val="A78BF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dPt>
            <c:idx val="0"/>
            <c:invertIfNegative val="0"/>
            <c:bubble3D val="0"/>
            <c:spPr>
              <a:solidFill>
                <a:srgbClr val="A78BFA"/>
              </a:solidFill>
              <a:effectLst/>
            </c:spPr>
          </c:dPt>
          <c:dPt>
            <c:idx val="1"/>
            <c:invertIfNegative val="0"/>
            <c:bubble3D val="0"/>
            <c:spPr>
              <a:solidFill>
                <a:srgbClr val="A78BFA"/>
              </a:solidFill>
              <a:effectLst/>
            </c:spPr>
          </c:dPt>
          <c:dPt>
            <c:idx val="2"/>
            <c:invertIfNegative val="0"/>
            <c:bubble3D val="0"/>
            <c:spPr>
              <a:solidFill>
                <a:srgbClr val="A78BFA"/>
              </a:solidFill>
              <a:effectLst/>
            </c:spPr>
          </c:dPt>
          <c:dPt>
            <c:idx val="3"/>
            <c:invertIfNegative val="0"/>
            <c:bubble3D val="0"/>
            <c:spPr>
              <a:solidFill>
                <a:srgbClr val="A78BFA"/>
              </a:solidFill>
              <a:effectLst/>
            </c:spPr>
          </c:dPt>
          <c:dPt>
            <c:idx val="4"/>
            <c:invertIfNegative val="0"/>
            <c:bubble3D val="0"/>
            <c:spPr>
              <a:solidFill>
                <a:srgbClr val="7C3AED"/>
              </a:solidFill>
              <a:effectLst/>
            </c:spPr>
          </c:dPt>
          <c:dPt>
            <c:idx val="5"/>
            <c:invertIfNegative val="0"/>
            <c:bubble3D val="0"/>
            <c:spPr>
              <a:solidFill>
                <a:srgbClr val="7C3AED"/>
              </a:solidFill>
              <a:effectLst/>
            </c:spPr>
          </c:dPt>
          <c:dPt>
            <c:idx val="6"/>
            <c:invertIfNegative val="0"/>
            <c:bubble3D val="0"/>
            <c:spPr>
              <a:solidFill>
                <a:srgbClr val="7C3AED"/>
              </a:solidFill>
              <a:effectLst/>
            </c:spPr>
          </c:dPt>
          <c:cat>
            <c:multiLvlStrRef>
              <c:f>Sheet1!$A$2:$A$8</c:f>
              <c:multiLvlStrCache>
                <c:ptCount val="7"/>
                <c:lvl>
                  <c:pt idx="0">
                    <c:v>Mar</c:v>
                  </c:pt>
                  <c:pt idx="1">
                    <c:v>Apr</c:v>
                  </c:pt>
                  <c:pt idx="2">
                    <c:v>May</c:v>
                  </c:pt>
                  <c:pt idx="3">
                    <c:v>Jun</c:v>
                  </c:pt>
                  <c:pt idx="4">
                    <c:v>Jul</c:v>
                  </c:pt>
                  <c:pt idx="5">
                    <c:v>Aug</c:v>
                  </c:pt>
                  <c:pt idx="6">
                    <c:v>Sep</c:v>
                  </c:pt>
                </c:lvl>
              </c:multiLvlStrCache>
            </c:multiLvlStrRef>
          </c:cat>
          <c:val>
            <c:numRef>
              <c:f>Sheet1!$B$2:$B$8</c:f>
              <c:numCache>
                <c:formatCode>General</c:formatCode>
                <c:ptCount val="7"/>
                <c:pt idx="0">
                  <c:v>75.4</c:v>
                </c:pt>
                <c:pt idx="1">
                  <c:v>144.3</c:v>
                </c:pt>
                <c:pt idx="2">
                  <c:v>111.5</c:v>
                </c:pt>
                <c:pt idx="3">
                  <c:v>124.1</c:v>
                </c:pt>
                <c:pt idx="4">
                  <c:v>143.9</c:v>
                </c:pt>
                <c:pt idx="5">
                  <c:v>126.4</c:v>
                </c:pt>
                <c:pt idx="6">
                  <c:v>131.8</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45"/>
        <c:overlap val="0"/>
        <c:axId val="2094734554"/>
        <c:axId val="2094734552"/>
        <c:axId val="2094734556"/>
      </c:barChart>
      <c:lineChart>
        <c:varyColors val="0"/>
        <c:ser>
          <c:idx val="1"/>
          <c:order val="1"/>
          <c:tx>
            <c:strRef>
              <c:f>Sheet1!$C$1</c:f>
              <c:strCache>
                <c:ptCount val="1"/>
                <c:pt idx="0">
                  <c:v>Target 100%</c:v>
                </c:pt>
              </c:strCache>
            </c:strRef>
          </c:tx>
          <c:spPr>
            <a:solidFill>
              <a:srgbClr val="DC2626"/>
            </a:solidFill>
            <a:ln w="19050" cap="flat">
              <a:solidFill>
                <a:srgbClr val="DC26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DC2626"/>
              </a:solidFill>
              <a:ln w="9525" cap="flat">
                <a:solidFill>
                  <a:srgbClr val="DC2626"/>
                </a:solidFill>
                <a:prstDash val="solid"/>
                <a:round/>
              </a:ln>
              <a:effectLst/>
            </c:spPr>
          </c:marker>
          <c:cat>
            <c:multiLvlStrRef>
              <c:f>Sheet1!$A$2:$A$8</c:f>
              <c:multiLvlStrCache>
                <c:ptCount val="7"/>
                <c:lvl>
                  <c:pt idx="0">
                    <c:v>Mar</c:v>
                  </c:pt>
                  <c:pt idx="1">
                    <c:v>Apr</c:v>
                  </c:pt>
                  <c:pt idx="2">
                    <c:v>May</c:v>
                  </c:pt>
                  <c:pt idx="3">
                    <c:v>Jun</c:v>
                  </c:pt>
                  <c:pt idx="4">
                    <c:v>Jul</c:v>
                  </c:pt>
                  <c:pt idx="5">
                    <c:v>Aug</c:v>
                  </c:pt>
                  <c:pt idx="6">
                    <c:v>Sep</c:v>
                  </c:pt>
                </c:lvl>
              </c:multiLvlStrCache>
            </c:multiLvlStrRef>
          </c:cat>
          <c:val>
            <c:numRef>
              <c:f>Sheet1!$C$2:$C$8</c:f>
              <c:numCache>
                <c:formatCode>General</c:formatCode>
                <c:ptCount val="7"/>
                <c:pt idx="0">
                  <c:v>100</c:v>
                </c:pt>
                <c:pt idx="1">
                  <c:v>100</c:v>
                </c:pt>
                <c:pt idx="2">
                  <c:v>100</c:v>
                </c:pt>
                <c:pt idx="3">
                  <c:v>100</c:v>
                </c:pt>
                <c:pt idx="4">
                  <c:v>100</c:v>
                </c:pt>
                <c:pt idx="5">
                  <c:v>100</c:v>
                </c:pt>
                <c:pt idx="6">
                  <c:v>100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160"/>
          <c:min val="0"/>
        </c:scaling>
        <c:delete val="0"/>
        <c:axPos val="l"/>
        <c:majorGridlines>
          <c:spPr>
            <a:ln w="9525" cap="flat">
              <a:solidFill>
                <a:srgbClr val="E5E7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B7280"/>
                </a:solidFill>
                <a:latin typeface="Arial"/>
              </a:defRPr>
            </a:pPr>
            <a:endParaRPr lang="en-US"/>
          </a:p>
        </c:txPr>
        <c:crossAx val="2094734554"/>
        <c:crosses val="autoZero"/>
        <c:crossBetween val="between"/>
        <c:majorUnit val="40"/>
      </c:valAx>
      <c:spPr>
        <a:noFill/>
        <a:ln>
          <a:noFill/>
        </a:ln>
        <a:effectLst/>
      </c:spPr>
    </c:plotArea>
    <c:legend>
      <c:legendPos val="b"/>
      <c:overlay val="0"/>
      <c:txPr>
        <a:bodyPr/>
        <a:lstStyle/>
        <a:p>
          <a:pPr>
            <a:defRPr sz="1000">
              <a:solidFill>
                <a:srgbClr val="1F2937"/>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PPH · F26 vs F27 vs goal</a:t>
            </a:r>
          </a:p>
        </c:rich>
      </c:tx>
      <c:layout/>
      <c:overlay val="0"/>
    </c:title>
    <c:autoTitleDeleted val="0"/>
    <c:plotArea>
      <c:layout/>
      <c:barChart>
        <c:barDir val="col"/>
        <c:grouping val="clustered"/>
        <c:varyColors val="0"/>
        <c:ser>
          <c:idx val="0"/>
          <c:order val="0"/>
          <c:tx>
            <c:strRef>
              <c:f>Sheet1!$B$1</c:f>
              <c:strCache>
                <c:ptCount val="1"/>
                <c:pt idx="0">
                  <c:v>F26 Sept</c:v>
                </c:pt>
              </c:strCache>
            </c:strRef>
          </c:tx>
          <c:spPr>
            <a:solidFill>
              <a:srgbClr val="9CA3AF"/>
            </a:solidFill>
            <a:effectLst/>
          </c:spPr>
          <c:invertIfNegative val="0"/>
          <c:dLbls>
            <c:numFmt formatCode="#,##0" sourceLinked="0"/>
            <c:txPr>
              <a:bodyPr/>
              <a:lstStyle/>
              <a:p>
                <a:pPr>
                  <a:defRPr b="0" i="0" strike="noStrike" sz="1100" u="none">
                    <a:solidFill>
                      <a:srgbClr val="1F2937"/>
                    </a:solidFill>
                    <a:latin typeface="Calibri"/>
                  </a:defRPr>
                </a:pPr>
              </a:p>
            </c:txPr>
            <c:showLegendKey val="0"/>
            <c:showVal val="1"/>
            <c:showCatName val="0"/>
            <c:showSerName val="0"/>
            <c:showPercent val="0"/>
            <c:showBubbleSize val="0"/>
            <c:showLeaderLines val="0"/>
          </c:dLbls>
          <c:cat>
            <c:multiLvlStrRef>
              <c:f>Sheet1!$A$2:$A$2</c:f>
              <c:multiLvlStrCache>
                <c:ptCount val="1"/>
                <c:lvl>
                  <c:pt idx="0">
                    <c:v>PPH</c:v>
                  </c:pt>
                </c:lvl>
              </c:multiLvlStrCache>
            </c:multiLvlStrRef>
          </c:cat>
          <c:val>
            <c:numRef>
              <c:f>Sheet1!$B$2:$B$2</c:f>
              <c:numCache>
                <c:formatCode>General</c:formatCode>
                <c:ptCount val="1"/>
                <c:pt idx="0">
                  <c:v>3313</c:v>
                </c:pt>
              </c:numCache>
            </c:numRef>
          </c:val>
        </c:ser>
        <c:ser>
          <c:idx val="1"/>
          <c:order val="1"/>
          <c:tx>
            <c:strRef>
              <c:f>Sheet1!$C$1</c:f>
              <c:strCache>
                <c:ptCount val="1"/>
                <c:pt idx="0">
                  <c:v>F27 Sept MTD</c:v>
                </c:pt>
              </c:strCache>
            </c:strRef>
          </c:tx>
          <c:spPr>
            <a:solidFill>
              <a:srgbClr val="7C3AED"/>
            </a:solidFill>
            <a:effectLst/>
          </c:spPr>
          <c:invertIfNegative val="0"/>
          <c:dLbls>
            <c:numFmt formatCode="#,##0" sourceLinked="0"/>
            <c:txPr>
              <a:bodyPr/>
              <a:lstStyle/>
              <a:p>
                <a:pPr>
                  <a:defRPr b="0" i="0" strike="noStrike" sz="1100" u="none">
                    <a:solidFill>
                      <a:srgbClr val="1F2937"/>
                    </a:solidFill>
                    <a:latin typeface="Calibri"/>
                  </a:defRPr>
                </a:pPr>
              </a:p>
            </c:txPr>
            <c:showLegendKey val="0"/>
            <c:showVal val="1"/>
            <c:showCatName val="0"/>
            <c:showSerName val="0"/>
            <c:showPercent val="0"/>
            <c:showBubbleSize val="0"/>
            <c:showLeaderLines val="0"/>
          </c:dLbls>
          <c:cat>
            <c:multiLvlStrRef>
              <c:f>Sheet1!$A$2:$A$2</c:f>
              <c:multiLvlStrCache>
                <c:ptCount val="1"/>
                <c:lvl>
                  <c:pt idx="0">
                    <c:v>PPH</c:v>
                  </c:pt>
                </c:lvl>
              </c:multiLvlStrCache>
            </c:multiLvlStrRef>
          </c:cat>
          <c:val>
            <c:numRef>
              <c:f>Sheet1!$C$2:$C$2</c:f>
              <c:numCache>
                <c:formatCode>General</c:formatCode>
                <c:ptCount val="1"/>
                <c:pt idx="0">
                  <c:v>3327</c:v>
                </c:pt>
              </c:numCache>
            </c:numRef>
          </c:val>
        </c:ser>
        <c:ser>
          <c:idx val="2"/>
          <c:order val="2"/>
          <c:tx>
            <c:strRef>
              <c:f>Sheet1!$D$1</c:f>
              <c:strCache>
                <c:ptCount val="1"/>
                <c:pt idx="0">
                  <c:v>F27 goal</c:v>
                </c:pt>
              </c:strCache>
            </c:strRef>
          </c:tx>
          <c:spPr>
            <a:solidFill>
              <a:srgbClr val="1F2937"/>
            </a:solidFill>
            <a:effectLst/>
          </c:spPr>
          <c:invertIfNegative val="0"/>
          <c:dLbls>
            <c:numFmt formatCode="#,##0" sourceLinked="0"/>
            <c:txPr>
              <a:bodyPr/>
              <a:lstStyle/>
              <a:p>
                <a:pPr>
                  <a:defRPr b="0" i="0" strike="noStrike" sz="1100" u="none">
                    <a:solidFill>
                      <a:srgbClr val="1F2937"/>
                    </a:solidFill>
                    <a:latin typeface="Calibri"/>
                  </a:defRPr>
                </a:pPr>
              </a:p>
            </c:txPr>
            <c:showLegendKey val="0"/>
            <c:showVal val="1"/>
            <c:showCatName val="0"/>
            <c:showSerName val="0"/>
            <c:showPercent val="0"/>
            <c:showBubbleSize val="0"/>
            <c:showLeaderLines val="0"/>
          </c:dLbls>
          <c:cat>
            <c:multiLvlStrRef>
              <c:f>Sheet1!$A$2:$A$2</c:f>
              <c:multiLvlStrCache>
                <c:ptCount val="1"/>
                <c:lvl>
                  <c:pt idx="0">
                    <c:v>PPH</c:v>
                  </c:pt>
                </c:lvl>
              </c:multiLvlStrCache>
            </c:multiLvlStrRef>
          </c:cat>
          <c:val>
            <c:numRef>
              <c:f>Sheet1!$D$2:$D$2</c:f>
              <c:numCache>
                <c:formatCode>General</c:formatCode>
                <c:ptCount val="1"/>
                <c:pt idx="0">
                  <c:v>4258</c:v>
                </c:pt>
              </c:numCache>
            </c:numRef>
          </c:val>
        </c:ser>
        <c:dLbls>
          <c:numFmt formatCode="#,##0" sourceLinked="0"/>
          <c:txPr>
            <a:bodyPr/>
            <a:lstStyle/>
            <a:p>
              <a:pPr>
                <a:defRPr b="0" i="0" strike="noStrike" sz="1100" u="none">
                  <a:solidFill>
                    <a:srgbClr val="1F2937"/>
                  </a:solidFill>
                  <a:latin typeface="Calibri"/>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000"/>
          <c:min val="0"/>
        </c:scaling>
        <c:delete val="0"/>
        <c:axPos val="l"/>
        <c:majorGridlines>
          <c:spPr>
            <a:ln w="9525" cap="flat">
              <a:solidFill>
                <a:srgbClr val="E5E7EB"/>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B7280"/>
                </a:solidFill>
                <a:latin typeface="Arial"/>
              </a:defRPr>
            </a:pPr>
            <a:endParaRPr lang="en-US"/>
          </a:p>
        </c:txPr>
        <c:crossAx val="2094734554"/>
        <c:crosses val="autoZero"/>
        <c:crossBetween val="between"/>
      </c:valAx>
      <c:spPr>
        <a:noFill/>
        <a:ln>
          <a:noFill/>
        </a:ln>
        <a:effectLst/>
      </c:spPr>
    </c:plotArea>
    <c:legend>
      <c:legendPos val="r"/>
      <c:overlay val="0"/>
      <c:txPr>
        <a:bodyPr/>
        <a:lstStyle/>
        <a:p>
          <a:pPr>
            <a:defRPr sz="1100">
              <a:solidFill>
                <a:srgbClr val="1F2937"/>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Monthly LF score · all lanes vs ex-Moncton</a:t>
            </a:r>
          </a:p>
        </c:rich>
      </c:tx>
      <c:layout/>
      <c:overlay val="0"/>
    </c:title>
    <c:autoTitleDeleted val="0"/>
    <c:plotArea>
      <c:layout/>
      <c:barChart>
        <c:barDir val="col"/>
        <c:grouping val="clustered"/>
        <c:varyColors val="0"/>
        <c:ser>
          <c:idx val="0"/>
          <c:order val="0"/>
          <c:tx>
            <c:strRef>
              <c:f>Sheet1!$B$1</c:f>
              <c:strCache>
                <c:ptCount val="1"/>
                <c:pt idx="0">
                  <c:v>All lanes</c:v>
                </c:pt>
              </c:strCache>
            </c:strRef>
          </c:tx>
          <c:spPr>
            <a:solidFill>
              <a:srgbClr val="C4B5FD"/>
            </a:solidFill>
            <a:effectLst/>
          </c:spPr>
          <c:invertIfNegative val="0"/>
          <c:dLbls>
            <c:numFmt formatCode="0.0&quot;%&quot;"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cat>
            <c:multiLvlStrRef>
              <c:f>Sheet1!$A$2:$A$4</c:f>
              <c:multiLvlStrCache>
                <c:ptCount val="3"/>
                <c:lvl>
                  <c:pt idx="0">
                    <c:v>Jul</c:v>
                  </c:pt>
                  <c:pt idx="1">
                    <c:v>Aug</c:v>
                  </c:pt>
                  <c:pt idx="2">
                    <c:v>Sep</c:v>
                  </c:pt>
                </c:lvl>
              </c:multiLvlStrCache>
            </c:multiLvlStrRef>
          </c:cat>
          <c:val>
            <c:numRef>
              <c:f>Sheet1!$B$2:$B$4</c:f>
              <c:numCache>
                <c:formatCode>General</c:formatCode>
                <c:ptCount val="3"/>
                <c:pt idx="0">
                  <c:v>38.9</c:v>
                </c:pt>
                <c:pt idx="1">
                  <c:v>33.4</c:v>
                </c:pt>
                <c:pt idx="2">
                  <c:v>36.7</c:v>
                </c:pt>
              </c:numCache>
            </c:numRef>
          </c:val>
        </c:ser>
        <c:ser>
          <c:idx val="1"/>
          <c:order val="1"/>
          <c:tx>
            <c:strRef>
              <c:f>Sheet1!$C$1</c:f>
              <c:strCache>
                <c:ptCount val="1"/>
                <c:pt idx="0">
                  <c:v>Ex-Moncton</c:v>
                </c:pt>
              </c:strCache>
            </c:strRef>
          </c:tx>
          <c:spPr>
            <a:solidFill>
              <a:srgbClr val="7C3AED"/>
            </a:solidFill>
            <a:effectLst/>
          </c:spPr>
          <c:invertIfNegative val="0"/>
          <c:dLbls>
            <c:numFmt formatCode="0.0&quot;%&quot;"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cat>
            <c:multiLvlStrRef>
              <c:f>Sheet1!$A$2:$A$4</c:f>
              <c:multiLvlStrCache>
                <c:ptCount val="3"/>
                <c:lvl>
                  <c:pt idx="0">
                    <c:v>Jul</c:v>
                  </c:pt>
                  <c:pt idx="1">
                    <c:v>Aug</c:v>
                  </c:pt>
                  <c:pt idx="2">
                    <c:v>Sep</c:v>
                  </c:pt>
                </c:lvl>
              </c:multiLvlStrCache>
            </c:multiLvlStrRef>
          </c:cat>
          <c:val>
            <c:numRef>
              <c:f>Sheet1!$C$2:$C$4</c:f>
              <c:numCache>
                <c:formatCode>General</c:formatCode>
                <c:ptCount val="3"/>
                <c:pt idx="0">
                  <c:v>42</c:v>
                </c:pt>
                <c:pt idx="1">
                  <c:v>38.5</c:v>
                </c:pt>
                <c:pt idx="2">
                  <c:v>37.6</c:v>
                </c:pt>
              </c:numCache>
            </c:numRef>
          </c:val>
        </c:ser>
        <c:dLbls>
          <c:numFmt formatCode="0.0&quot;%&quot;"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5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1F2937"/>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00" b="0" i="0" u="none" strike="noStrike">
                <a:solidFill>
                  <a:srgbClr val="111827"/>
                </a:solidFill>
                <a:latin typeface="Calibri"/>
              </a:defRPr>
            </a:pPr>
            <a:r>
              <a:rPr sz="1000" b="0" i="0" u="none" strike="noStrike">
                <a:solidFill>
                  <a:srgbClr val="111827"/>
                </a:solidFill>
                <a:latin typeface="Calibri"/>
              </a:rPr>
              <a:t>Terminal Admin cost — Q1 by fiscal year</a:t>
            </a:r>
          </a:p>
        </c:rich>
      </c:tx>
      <c:layout/>
      <c:overlay val="0"/>
    </c:title>
    <c:autoTitleDeleted val="0"/>
    <c:plotArea>
      <c:layout/>
      <c:barChart>
        <c:barDir val="col"/>
        <c:grouping val="clustered"/>
        <c:varyColors val="0"/>
        <c:ser>
          <c:idx val="0"/>
          <c:order val="0"/>
          <c:tx>
            <c:strRef>
              <c:f>Sheet1!$B$1</c:f>
              <c:strCache>
                <c:ptCount val="1"/>
                <c:pt idx="0">
                  <c:v>Terminal Admin cost</c:v>
                </c:pt>
              </c:strCache>
            </c:strRef>
          </c:tx>
          <c:spPr>
            <a:solidFill>
              <a:srgbClr val="A78BFA"/>
            </a:solidFill>
            <a:effectLst/>
          </c:spPr>
          <c:invertIfNegative val="0"/>
          <c:dLbls>
            <c:numFmt formatCode="$0.0&quot;K&quot;" sourceLinked="0"/>
            <c:txPr>
              <a:bodyPr/>
              <a:lstStyle/>
              <a:p>
                <a:pPr>
                  <a:defRPr b="0" i="0" strike="noStrike" sz="900" u="none">
                    <a:solidFill>
                      <a:srgbClr val="1F2937"/>
                    </a:solidFill>
                    <a:latin typeface="Calibri"/>
                  </a:defRPr>
                </a:pPr>
              </a:p>
            </c:txPr>
            <c:showLegendKey val="0"/>
            <c:showVal val="1"/>
            <c:showCatName val="0"/>
            <c:showSerName val="0"/>
            <c:showPercent val="0"/>
            <c:showBubbleSize val="0"/>
            <c:showLeaderLines val="0"/>
          </c:dLbls>
          <c:dPt>
            <c:idx val="0"/>
            <c:invertIfNegative val="0"/>
            <c:bubble3D val="0"/>
            <c:spPr>
              <a:solidFill>
                <a:srgbClr val="A78BFA"/>
              </a:solidFill>
              <a:effectLst/>
            </c:spPr>
          </c:dPt>
          <c:dPt>
            <c:idx val="1"/>
            <c:invertIfNegative val="0"/>
            <c:bubble3D val="0"/>
            <c:spPr>
              <a:solidFill>
                <a:srgbClr val="A78BFA"/>
              </a:solidFill>
              <a:effectLst/>
            </c:spPr>
          </c:dPt>
          <c:dPt>
            <c:idx val="2"/>
            <c:invertIfNegative val="0"/>
            <c:bubble3D val="0"/>
            <c:spPr>
              <a:solidFill>
                <a:srgbClr val="9CA3AF"/>
              </a:solidFill>
              <a:effectLst/>
            </c:spPr>
          </c:dPt>
          <c:dPt>
            <c:idx val="3"/>
            <c:invertIfNegative val="0"/>
            <c:bubble3D val="0"/>
            <c:spPr>
              <a:solidFill>
                <a:srgbClr val="7C3AED"/>
              </a:solidFill>
              <a:effectLst/>
            </c:spPr>
          </c:dPt>
          <c:cat>
            <c:multiLvlStrRef>
              <c:f>Sheet1!$A$2:$A$5</c:f>
              <c:multiLvlStrCache>
                <c:ptCount val="4"/>
                <c:lvl>
                  <c:pt idx="0">
                    <c:v>F24</c:v>
                  </c:pt>
                  <c:pt idx="1">
                    <c:v>F25</c:v>
                  </c:pt>
                  <c:pt idx="2">
                    <c:v>F26</c:v>
                  </c:pt>
                  <c:pt idx="3">
                    <c:v>F27</c:v>
                  </c:pt>
                </c:lvl>
              </c:multiLvlStrCache>
            </c:multiLvlStrRef>
          </c:cat>
          <c:val>
            <c:numRef>
              <c:f>Sheet1!$B$2:$B$5</c:f>
              <c:numCache>
                <c:formatCode>General</c:formatCode>
                <c:ptCount val="4"/>
                <c:pt idx="0">
                  <c:v>21.5</c:v>
                </c:pt>
                <c:pt idx="1">
                  <c:v>22.7</c:v>
                </c:pt>
                <c:pt idx="2">
                  <c:v>9.2</c:v>
                </c:pt>
                <c:pt idx="3">
                  <c:v>18.4</c:v>
                </c:pt>
              </c:numCache>
            </c:numRef>
          </c:val>
        </c:ser>
        <c:dLbls>
          <c:numFmt formatCode="$0.0&quot;K&quot;" sourceLinked="0"/>
          <c:txPr>
            <a:bodyPr/>
            <a:lstStyle/>
            <a:p>
              <a:pPr>
                <a:defRPr b="0" i="0" strike="noStrike" sz="900" u="none">
                  <a:solidFill>
                    <a:srgbClr val="1F2937"/>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27"/>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This is the Mississauga Terminal F27 review: safety, service, SCA, productivity, and the status of the building. Our September month-to-date headlines: adjusted on-time service is 93.7 percent, we are at 91.1 percent of our SCA hour allowance, cost per unit is down 16.7 percent and units per hour up 26.7 percent on last year, with only 9 overtime hours. Our focus is the gap to the PPH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topics today, plus backup: safety, service, the F27 savings outlook and SCA, productivity, load quality and equipment, and the physical terminal. All SCA and productivity figures are Mississauga only, updated to Saturday, September 26; anything marked TBC is still being confirmed.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have had zero recordable incidents in F27 to date, July and August, so our F27 TRIR is 0.00 against 1.21 for F26 and a 12-month average of 1.21, and it has been 384 days since our last recordable on September 10, 2025. Every shift starts with a tailgate and forklift inspections, and after any incident we run a specific safety moment. Supervisors and managers correct non-compliance on the spot and record it in their STEP observations, and dock conditions are documented and reviewed at JHSC.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where our safety work stands. Completed: the roofing work zones are barricaded with N95 masks available, and the new shunt pre-trip checklist is used every shift. Our ongoing practices include incident reporting: incidents are reported promptly and supervisors work directly with OHS on WSIB forms and a safe return to work; we document detailed descriptions, identify root cause with OHS, and follow up corrective actions so controls prevent recurrence; and forklift and TDG training is completed before expiry. Planned are load securement and decking with ANCRA decks and divider deck-board kits, and freight-handling equipment such as panel trucks and racks for windows, panels and car parts to improve handling and cut damages, and two driver-led initiatives we will take to Safety: driver safety reps — our top safety-score drivers join the monthly safety meeting and speak for drivers, because drivers follow respected peers, people protect standards they help set, and drivers raise concerns with a peer they would not raise with a manager — and manager and supervisor route ride-alongs with a quarterly quota that ramps up to every driver once a year, so leaders see road challenges first-hand. The ideas list is where we go next, including agency onboarding and a safety plan for the new building.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Adjusted on-time service for September is 93.7 percent including partner-carrier freight and 96.7 percent excluding it, both above our 90 percent target, and the last seven days averaged 94.35 percent. We show both views because partner carriers, the beyond-interliner freight, are about 13 percent of our volume but roughly 45 percent of our late freight bills, and only about 56 percent of that freight is on time. Every F27 month has been at or above 89 percent and we have been above target since August, up from 81.5 percent in April.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Missed pickups are at 4.70 percent across the report period through September 26. Only about 15 percent are true operations issues; about 45 percent are false positives, most coded already serviced, which is a close-out and scanning discipline fix. Excluding those, the rate would be roughly 2.6 percent; the September 7 spike was Labour Day on low volume. Damaged freight bills averaged 1.61 percent over the last seven days; the latest day was 0.31 percent on September 28.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September 1 to 28, 91.37 percent of freight bills were scanned in and out of the terminal, 90.50 percent were completely scanned, and 90.66 percent of items were scanned. September is in line with fiscal year to date: 91.37 percent of freight bills scanned against 91.55 percent fiscal year to date, and slightly down on the last period. That still leaves about 4,550 freight bills not scanned this month, and closing that gap also reduces the already-serviced false positives we saw in missed pickups.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today's rates hold, our F27 savings outlook is about 563 thousand dollars for the year — roughly 47 thousand dollars a month against the same months of F26. Labour is the engine: Admin agency labour is down about 25 percent and Dock labour about 4 percent, and every extra 1 percent we take out of labour is worth roughly 50 thousand dollars a year. The 61 thousand dollar dispatcher saving is confirmed, and the next levers — load securement, freight-handling equipment, accessorial capture and Toyota footage capture — are being sized and come on top. To be clear, these are estimates based on the current run-rate, not booked savings.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our F27 initiative tracker, laid out like the F26 page. One initiative is confirmed: eliminating the dispatcher role and centralizing dispatch saves 61,000 dollars a year. Six more are in progress or planned — agency labour mix, running under the SCA hour allowance, load securement and decking, freight-handling equipment, accessorial capture and Toyota footage capture — and their dollar values and the F27 take-out target are being confirmed with Finance. Cargo claims for August 2026 were 13,432.53 dollars.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national SCA report updated September 26, Mississauga is at 6.60 SCA dock cost per PRO against a 6.85 target: 96.3 percent of target, 25 cents under per PRO. That puts us in the amber watch band, which starts above 95 percent. Across 26,053 freight bills month to date, that is roughly 6.5 thousand dollars below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Against the working-day allowance, we have used 91.1 percent of our SCA hours month to date: 3,999 hours against 4,390 allowable, about 391 hours or 13.1 thousand dollars under. The monthly target of 5,122 hours already has the 1,181-hour reduction built in, and at the current pace we would come in roughly 1,637 hours below last September, about 139 percent of that reduction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Cost per PRO is reviewed every week against target, and shift start and end times are being aligned to P&amp;D activity. Our workforce mix is shifting toward D&amp;R employees: agency is 61.4 percent of dock hours this September against 70.5 percent last September, or 1.59 agency hours per D&amp;R hour against 2.39. Per-shift headcount by agency and D&amp;R is being confirmed.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Dock labour cost month to date is 133.7 thousand against 199.7 thousand for all of last September, with the biggest drop in agency wages. Remember F27 is 18 of 21 working days, so the like-for-like signal is cost per unit: 2.19 against 2.64, down 16.7 percent, which on this month's units is roughly 26.9 thousand dollars.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Accessorials are revenue we only get if the service is coded on the freight bill. This month private-residence, tailgate and appointment deliveries make up about 91 percent of roughly 32,900 accessorial units. Weekly volume has run between about 6 and 8 thousand units; the week of September 28 is only partial.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Fork truck reweighs protect revenue by correcting under-declared weights on freight we originate. Every month since April has been above the 100 percent reweigh target, and F27 has run between 126 and 144 percent, with 123 percent over the last seven days. The overall 85.16 percent, 44,283 reweighs against a 52 thousand target, is lower because it covers all selected dates including the March ramp-up month at 75.4 percent; week 40 is only a partial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PPH is 3,327 for September month to date, essentially flat against F26, but 21.9 percent below the F27 goal of 4,258. The freight is lighter per unit, so the better signal is units per hour, which is up 26.7 percent on last year. PPH goal is weight-based; freight got lighter, 218 versus about 275 pounds per unit, while units per hour rose.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Load factor is our biggest open opportunity: 36.4 percent of outbound loads so far in F27 are above 80 percent full, rising to 39.5 percent if we exclude Moncton. Moncton is understated because Toyota loads our trailer at Bowmanville and that footage is not being captured correctly; 20.5 percent of Moncton bills have no cube against 3 percent elsewhere, and the fix is under way. Our long western lanes load well, while Windsor, Quebec City and Dartmouth run light and need a consolidation and frequency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Clock-in and clock-out discipline turns late starts, missed lunches and early releases into hours we do not pay for. Weekly hours saved are being confirmed; once entered, dollars are calculated at the September month-to-date rate of 33.43 per hour from the productivity dashboard.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Volume is down on last year and the hourly rate is up 5.5 percent, which pushes cost per CWT up about 5 percent. Offsetting that, units per hour are up 26.7 percent: at last year's rate, this month's units would have needed roughly 1,066 more hours, worth about 35.6 thousand dollars. And at the current pace we are ahead of the 1,181-hour reduction target, at roughly 139 percent of it; both values are calculated from report figures.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our pickup and delivery measures for the first quarter of F27, July to September, from the P&amp;D daily totals dashboard. We ran 4,608 trips averaging just under 10 stops and about 14 bills per trip, at 2.09 stops per hour. These give us the baseline to track P&amp;D productivity through the rest of the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what good and bad loads look like on our dock. The target loads use a deck beam or deck board to build a second tier and are strapped; the fix examples are loose freight on a diagonal and MAAX glass shower doors on improvised wooden A-frames or leaning in transit. We plan to add ANCRA knock-down pallet decks and divider deck-board kits, panel trucks and racks for windows, doors, panels and car parts, and load bars and straps on every mixed load, to lift load factor, reduce damages and claims, and make unloading safer. For example, MAAX shower doors and bases and 75-inch TVs currently ride standing loose, as on trailer 47520; slotting them into panel carts, the yellow cart by hand or the grey cage by forklift, secures them in transit, speeds loading and unloading, and cuts breakage.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collapsible load tables. Extended, they build a second tier in the trailer; folded, a forklift lifts them; when empty they stack in a small footprint. Today our load tables are big fixed metal tables that take up dock space, and most terminals are much smaller than ours and could not store them. The benefit goes beyond Mississauga: we send outbound trailers to terminals across the country, and well-loaded trailers with collapsible tables and bin carts are faster and safer for them to unload and stage for final mile or transfer, and the same applies to inbound trailers to us. Less handling, fewer damages and claims, and safer unloading.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Mississauga is moving to a new building, expected before the end of calendar 2026. Because of that, we are not planning any major repair spend at the current site; our focus is a clean transition for the team and our customers.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close: in F26 we set out to take 386,589 dollars out against the F25 baseline and identified 427,001 dollars of savings, 110 percent of the requirement; the F26 actuals will be added once the year is closed. In F27 September we are under our SCA hour allowance and cost per unit is down on last year, and our focus is closing the gap to the PPH goal.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 use only if asked.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company-employee labour only, first quarter F26 against first quarter F27 to date. Company dock operations hours are essentially flat, 5,205 against 5,207, so the hour reduction on the SCA slides has come from agency labour. Terminal admin hours roughly doubled, from 446 to 909, and admin cost doubled against F26, but it is still below F24 and F25; F26 was the unusually low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 use only if asked. On the P&amp;L, total terminal cost for July and August was 2.57 million dollars against 3.25 million in the same months of F26, and cost per PRO fell from 42.07 to 35.93 dollars. Most of that drop is P&amp;D driver mix, agent drivers moving to owner operators with a lower fuel subsidy, which is a network P&amp;D change we are not claiming as terminal savings; the terminal-controlled lines are net 163.7 thousand dollars lower, a P&amp;L variance that is not booked. Cost as a percent of revenue is not valid after February 2026 because revenue allocation broke; the last valid comparison was 60.8 percent for F26 July to February against 65.7 percent in F25.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slideLayout" Target="../slideLayouts/slideLayout1.xml"/><Relationship Id="rId10"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5-1.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1.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image" Target="../media/image-13-1.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chart" Target="/ppt/charts/chart7.xml"/><Relationship Id="rId3" Type="http://schemas.openxmlformats.org/officeDocument/2006/relationships/image" Target="../media/image-14-1.png"/><Relationship Id="rId4" Type="http://schemas.openxmlformats.org/officeDocument/2006/relationships/slideLayout" Target="../slideLayouts/slideLayout1.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image" Target="../media/image-15-1.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image" Target="../media/image-16-1.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slideLayout" Target="../slideLayouts/slideLayout1.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image" Target="../media/image-21-2.jpg"/><Relationship Id="rId3" Type="http://schemas.openxmlformats.org/officeDocument/2006/relationships/image" Target="../media/image-21-3.jpg"/><Relationship Id="rId4" Type="http://schemas.openxmlformats.org/officeDocument/2006/relationships/image" Target="../media/image-21-4.jpg"/><Relationship Id="rId5" Type="http://schemas.openxmlformats.org/officeDocument/2006/relationships/image" Target="../media/image-21-5.jpg"/><Relationship Id="rId6" Type="http://schemas.openxmlformats.org/officeDocument/2006/relationships/image" Target="../media/image-21-6.png"/><Relationship Id="rId7" Type="http://schemas.openxmlformats.org/officeDocument/2006/relationships/slideLayout" Target="../slideLayouts/slideLayout1.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image" Target="../media/image-22-2.jpg"/><Relationship Id="rId3" Type="http://schemas.openxmlformats.org/officeDocument/2006/relationships/image" Target="../media/image-22-3.jpg"/><Relationship Id="rId4" Type="http://schemas.openxmlformats.org/officeDocument/2006/relationships/image" Target="../media/image-22-4.png"/><Relationship Id="rId5" Type="http://schemas.openxmlformats.org/officeDocument/2006/relationships/slideLayout" Target="../slideLayouts/slideLayout1.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slideLayout" Target="../slideLayouts/slideLayout1.xml"/><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11827"/>
        </a:solidFill>
      </p:bgPr>
    </p:bg>
    <p:spTree>
      <p:nvGrpSpPr>
        <p:cNvPr id="1" name=""/>
        <p:cNvGrpSpPr/>
        <p:nvPr/>
      </p:nvGrpSpPr>
      <p:grpSpPr>
        <a:xfrm>
          <a:off x="0" y="0"/>
          <a:ext cx="0" cy="0"/>
          <a:chOff x="0" y="0"/>
          <a:chExt cx="0" cy="0"/>
        </a:xfrm>
      </p:grpSpPr>
      <p:sp>
        <p:nvSpPr>
          <p:cNvPr id="2" name="Text 0"/>
          <p:cNvSpPr txBox="1"/>
          <p:nvPr/>
        </p:nvSpPr>
        <p:spPr>
          <a:xfrm>
            <a:off x="731520" y="1417320"/>
            <a:ext cx="7315200" cy="320040"/>
          </a:xfrm>
          <a:prstGeom prst="rect">
            <a:avLst/>
          </a:prstGeom>
          <a:noFill/>
          <a:ln/>
        </p:spPr>
        <p:txBody>
          <a:bodyPr wrap="square" lIns="0" tIns="0" rIns="0" bIns="0" rtlCol="0" anchor="ctr"/>
          <a:lstStyle/>
          <a:p>
            <a:pPr indent="0" marL="0">
              <a:buNone/>
            </a:pPr>
            <a:r>
              <a:rPr lang="en-US" sz="1400" b="1" spc="300" kern="0" dirty="0">
                <a:solidFill>
                  <a:srgbClr val="A78BFA"/>
                </a:solidFill>
                <a:latin typeface="Calibri" pitchFamily="34" charset="0"/>
                <a:ea typeface="Calibri" pitchFamily="34" charset="-122"/>
                <a:cs typeface="Calibri" pitchFamily="34" charset="-120"/>
              </a:rPr>
              <a:t>DAY &amp; ROSS · MISSISSAUGA TERMINAL</a:t>
            </a:r>
            <a:endParaRPr lang="en-US" sz="1400" dirty="0"/>
          </a:p>
        </p:txBody>
      </p:sp>
      <p:sp>
        <p:nvSpPr>
          <p:cNvPr id="3" name="Text 1"/>
          <p:cNvSpPr txBox="1"/>
          <p:nvPr/>
        </p:nvSpPr>
        <p:spPr>
          <a:xfrm>
            <a:off x="731520" y="1828800"/>
            <a:ext cx="7498080" cy="1280160"/>
          </a:xfrm>
          <a:prstGeom prst="rect">
            <a:avLst/>
          </a:prstGeom>
          <a:noFill/>
          <a:ln/>
        </p:spPr>
        <p:txBody>
          <a:bodyPr wrap="square" lIns="0" tIns="0" rIns="0" bIns="0" rtlCol="0" anchor="t"/>
          <a:lstStyle/>
          <a:p>
            <a:pPr indent="0" marL="0">
              <a:buNone/>
            </a:pPr>
            <a:r>
              <a:rPr lang="en-US" sz="3400" b="1" dirty="0">
                <a:solidFill>
                  <a:srgbClr val="FFFFFF"/>
                </a:solidFill>
                <a:latin typeface="Calibri" pitchFamily="34" charset="0"/>
                <a:ea typeface="Calibri" pitchFamily="34" charset="-122"/>
                <a:cs typeface="Calibri" pitchFamily="34" charset="-120"/>
              </a:rPr>
              <a:t>Mississauga Terminal ·</a:t>
            </a:r>
            <a:endParaRPr lang="en-US" sz="3400" dirty="0"/>
          </a:p>
          <a:p>
            <a:pPr indent="0" marL="0">
              <a:buNone/>
            </a:pPr>
            <a:r>
              <a:rPr lang="en-US" sz="3400" b="1" dirty="0">
                <a:solidFill>
                  <a:srgbClr val="FFFFFF"/>
                </a:solidFill>
                <a:latin typeface="Calibri" pitchFamily="34" charset="0"/>
                <a:ea typeface="Calibri" pitchFamily="34" charset="-122"/>
                <a:cs typeface="Calibri" pitchFamily="34" charset="-120"/>
              </a:rPr>
              <a:t>F27 Senior Leadership Review</a:t>
            </a:r>
            <a:endParaRPr lang="en-US" sz="3400" dirty="0"/>
          </a:p>
        </p:txBody>
      </p:sp>
      <p:sp>
        <p:nvSpPr>
          <p:cNvPr id="4" name="Text 2"/>
          <p:cNvSpPr txBox="1"/>
          <p:nvPr/>
        </p:nvSpPr>
        <p:spPr>
          <a:xfrm>
            <a:off x="731520" y="3429000"/>
            <a:ext cx="7498080" cy="457200"/>
          </a:xfrm>
          <a:prstGeom prst="rect">
            <a:avLst/>
          </a:prstGeom>
          <a:noFill/>
          <a:ln/>
        </p:spPr>
        <p:txBody>
          <a:bodyPr wrap="square" lIns="0" tIns="0" rIns="0" bIns="0" rtlCol="0" anchor="ctr"/>
          <a:lstStyle/>
          <a:p>
            <a:pPr indent="0" marL="0">
              <a:buNone/>
            </a:pPr>
            <a:r>
              <a:rPr lang="en-US" sz="2000" dirty="0">
                <a:solidFill>
                  <a:srgbClr val="D1D5DB"/>
                </a:solidFill>
                <a:latin typeface="Calibri" pitchFamily="34" charset="0"/>
                <a:ea typeface="Calibri" pitchFamily="34" charset="-122"/>
                <a:cs typeface="Calibri" pitchFamily="34" charset="-120"/>
              </a:rPr>
              <a:t>Safety · Service · SCA · Productivity · Terminal</a:t>
            </a:r>
            <a:endParaRPr lang="en-US" sz="2000" dirty="0"/>
          </a:p>
        </p:txBody>
      </p:sp>
      <p:sp>
        <p:nvSpPr>
          <p:cNvPr id="5" name="Text 3"/>
          <p:cNvSpPr txBox="1"/>
          <p:nvPr/>
        </p:nvSpPr>
        <p:spPr>
          <a:xfrm>
            <a:off x="731520" y="4343400"/>
            <a:ext cx="7498080" cy="36576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Sep 29, 2026</a:t>
            </a:r>
            <a:pPr indent="0" marL="0">
              <a:buNone/>
            </a:pPr>
            <a:r>
              <a:rPr lang="en-US" sz="1600" dirty="0">
                <a:solidFill>
                  <a:srgbClr val="9CA3AF"/>
                </a:solidFill>
                <a:latin typeface="Calibri" pitchFamily="34" charset="0"/>
                <a:ea typeface="Calibri" pitchFamily="34" charset="-122"/>
                <a:cs typeface="Calibri" pitchFamily="34" charset="-120"/>
              </a:rPr>
              <a:t>   ·   SVP &amp; Senior Leadership</a:t>
            </a:r>
            <a:endParaRPr lang="en-US" sz="1600" dirty="0"/>
          </a:p>
        </p:txBody>
      </p:sp>
      <p:sp>
        <p:nvSpPr>
          <p:cNvPr id="6" name="Text 4"/>
          <p:cNvSpPr txBox="1"/>
          <p:nvPr/>
        </p:nvSpPr>
        <p:spPr>
          <a:xfrm>
            <a:off x="731520" y="4754880"/>
            <a:ext cx="7498080" cy="320040"/>
          </a:xfrm>
          <a:prstGeom prst="rect">
            <a:avLst/>
          </a:prstGeom>
          <a:noFill/>
          <a:ln/>
        </p:spPr>
        <p:txBody>
          <a:bodyPr wrap="square" lIns="0" tIns="0" rIns="0" bIns="0" rtlCol="0" anchor="ctr"/>
          <a:lstStyle/>
          <a:p>
            <a:pPr indent="0" marL="0">
              <a:buNone/>
            </a:pPr>
            <a:r>
              <a:rPr lang="en-US" sz="1400" dirty="0">
                <a:solidFill>
                  <a:srgbClr val="9CA3AF"/>
                </a:solidFill>
                <a:latin typeface="Calibri" pitchFamily="34" charset="0"/>
                <a:ea typeface="Calibri" pitchFamily="34" charset="-122"/>
                <a:cs typeface="Calibri" pitchFamily="34" charset="-120"/>
              </a:rPr>
              <a:t>Fiscal F27 · Jul 1, 2026 – Jun 30, 2027</a:t>
            </a:r>
            <a:endParaRPr lang="en-US" sz="1400" dirty="0"/>
          </a:p>
        </p:txBody>
      </p:sp>
      <p:sp>
        <p:nvSpPr>
          <p:cNvPr id="7" name="Shape 5"/>
          <p:cNvSpPr/>
          <p:nvPr/>
        </p:nvSpPr>
        <p:spPr>
          <a:xfrm>
            <a:off x="8412480" y="1280160"/>
            <a:ext cx="3227832" cy="4434840"/>
          </a:xfrm>
          <a:prstGeom prst="roundRect">
            <a:avLst>
              <a:gd name="adj" fmla="val 2266"/>
            </a:avLst>
          </a:prstGeom>
          <a:solidFill>
            <a:srgbClr val="1F2937"/>
          </a:solidFill>
          <a:ln w="12700">
            <a:solidFill>
              <a:srgbClr val="1F2937"/>
            </a:solidFill>
            <a:prstDash val="solid"/>
          </a:ln>
        </p:spPr>
      </p:sp>
      <p:sp>
        <p:nvSpPr>
          <p:cNvPr id="8" name="Text 6"/>
          <p:cNvSpPr txBox="1"/>
          <p:nvPr/>
        </p:nvSpPr>
        <p:spPr>
          <a:xfrm>
            <a:off x="8641080" y="1463040"/>
            <a:ext cx="2834640" cy="274320"/>
          </a:xfrm>
          <a:prstGeom prst="rect">
            <a:avLst/>
          </a:prstGeom>
          <a:noFill/>
          <a:ln/>
        </p:spPr>
        <p:txBody>
          <a:bodyPr wrap="square" lIns="0" tIns="0" rIns="0" bIns="0" rtlCol="0" anchor="ctr"/>
          <a:lstStyle/>
          <a:p>
            <a:pPr indent="0" marL="0">
              <a:buNone/>
            </a:pPr>
            <a:r>
              <a:rPr lang="en-US" sz="1100" b="1" spc="200" kern="0" dirty="0">
                <a:solidFill>
                  <a:srgbClr val="A78BFA"/>
                </a:solidFill>
                <a:latin typeface="Calibri" pitchFamily="34" charset="0"/>
                <a:ea typeface="Calibri" pitchFamily="34" charset="-122"/>
                <a:cs typeface="Calibri" pitchFamily="34" charset="-120"/>
              </a:rPr>
              <a:t>F27 HEADLINES · LATEST</a:t>
            </a:r>
            <a:endParaRPr lang="en-US" sz="1100" dirty="0"/>
          </a:p>
        </p:txBody>
      </p:sp>
      <p:sp>
        <p:nvSpPr>
          <p:cNvPr id="9" name="Text 7"/>
          <p:cNvSpPr txBox="1"/>
          <p:nvPr/>
        </p:nvSpPr>
        <p:spPr>
          <a:xfrm>
            <a:off x="8641080" y="1719072"/>
            <a:ext cx="1325880" cy="438912"/>
          </a:xfrm>
          <a:prstGeom prst="rect">
            <a:avLst/>
          </a:prstGeom>
          <a:noFill/>
          <a:ln/>
        </p:spPr>
        <p:txBody>
          <a:bodyPr wrap="square" lIns="0" tIns="0" rIns="0" bIns="0" rtlCol="0" anchor="ctr"/>
          <a:lstStyle/>
          <a:p>
            <a:pPr indent="0" marL="0">
              <a:buNone/>
            </a:pPr>
            <a:r>
              <a:rPr lang="en-US" sz="2100" b="1" dirty="0">
                <a:solidFill>
                  <a:srgbClr val="34D399"/>
                </a:solidFill>
                <a:latin typeface="Calibri" pitchFamily="34" charset="0"/>
                <a:ea typeface="Calibri" pitchFamily="34" charset="-122"/>
                <a:cs typeface="Calibri" pitchFamily="34" charset="-120"/>
              </a:rPr>
              <a:t>0.00</a:t>
            </a:r>
            <a:endParaRPr lang="en-US" sz="2100" dirty="0"/>
          </a:p>
        </p:txBody>
      </p:sp>
      <p:sp>
        <p:nvSpPr>
          <p:cNvPr id="10" name="Text 8"/>
          <p:cNvSpPr txBox="1"/>
          <p:nvPr/>
        </p:nvSpPr>
        <p:spPr>
          <a:xfrm>
            <a:off x="10012680" y="1719072"/>
            <a:ext cx="1508760" cy="438912"/>
          </a:xfrm>
          <a:prstGeom prst="rect">
            <a:avLst/>
          </a:prstGeom>
          <a:noFill/>
          <a:ln/>
        </p:spPr>
        <p:txBody>
          <a:bodyPr wrap="square" lIns="0" tIns="0" rIns="0" bIns="0" rtlCol="0" anchor="ctr"/>
          <a:lstStyle/>
          <a:p>
            <a:pPr indent="0" marL="0">
              <a:buNone/>
            </a:pPr>
            <a:r>
              <a:rPr lang="en-US" sz="1100" dirty="0">
                <a:solidFill>
                  <a:srgbClr val="D1D5DB"/>
                </a:solidFill>
                <a:latin typeface="Calibri" pitchFamily="34" charset="0"/>
                <a:ea typeface="Calibri" pitchFamily="34" charset="-122"/>
                <a:cs typeface="Calibri" pitchFamily="34" charset="-120"/>
              </a:rPr>
              <a:t>TRIR F27 YTD (Jul–Aug)</a:t>
            </a:r>
            <a:endParaRPr lang="en-US" sz="1100" dirty="0"/>
          </a:p>
        </p:txBody>
      </p:sp>
      <p:sp>
        <p:nvSpPr>
          <p:cNvPr id="11" name="Text 9"/>
          <p:cNvSpPr txBox="1"/>
          <p:nvPr/>
        </p:nvSpPr>
        <p:spPr>
          <a:xfrm>
            <a:off x="8641080" y="2176272"/>
            <a:ext cx="1325880" cy="438912"/>
          </a:xfrm>
          <a:prstGeom prst="rect">
            <a:avLst/>
          </a:prstGeom>
          <a:noFill/>
          <a:ln/>
        </p:spPr>
        <p:txBody>
          <a:bodyPr wrap="square" lIns="0" tIns="0" rIns="0" bIns="0" rtlCol="0" anchor="ctr"/>
          <a:lstStyle/>
          <a:p>
            <a:pPr indent="0" marL="0">
              <a:buNone/>
            </a:pPr>
            <a:r>
              <a:rPr lang="en-US" sz="2100" b="1" dirty="0">
                <a:solidFill>
                  <a:srgbClr val="34D399"/>
                </a:solidFill>
                <a:latin typeface="Calibri" pitchFamily="34" charset="0"/>
                <a:ea typeface="Calibri" pitchFamily="34" charset="-122"/>
                <a:cs typeface="Calibri" pitchFamily="34" charset="-120"/>
              </a:rPr>
              <a:t>93.7%</a:t>
            </a:r>
            <a:endParaRPr lang="en-US" sz="2100" dirty="0"/>
          </a:p>
        </p:txBody>
      </p:sp>
      <p:sp>
        <p:nvSpPr>
          <p:cNvPr id="12" name="Text 10"/>
          <p:cNvSpPr txBox="1"/>
          <p:nvPr/>
        </p:nvSpPr>
        <p:spPr>
          <a:xfrm>
            <a:off x="10012680" y="2176272"/>
            <a:ext cx="1508760" cy="438912"/>
          </a:xfrm>
          <a:prstGeom prst="rect">
            <a:avLst/>
          </a:prstGeom>
          <a:noFill/>
          <a:ln/>
        </p:spPr>
        <p:txBody>
          <a:bodyPr wrap="square" lIns="0" tIns="0" rIns="0" bIns="0" rtlCol="0" anchor="ctr"/>
          <a:lstStyle/>
          <a:p>
            <a:pPr indent="0" marL="0">
              <a:buNone/>
            </a:pPr>
            <a:r>
              <a:rPr lang="en-US" sz="1100" dirty="0">
                <a:solidFill>
                  <a:srgbClr val="D1D5DB"/>
                </a:solidFill>
                <a:latin typeface="Calibri" pitchFamily="34" charset="0"/>
                <a:ea typeface="Calibri" pitchFamily="34" charset="-122"/>
                <a:cs typeface="Calibri" pitchFamily="34" charset="-120"/>
              </a:rPr>
              <a:t>OTS Sept (adj., incl. partners)</a:t>
            </a:r>
            <a:endParaRPr lang="en-US" sz="1100" dirty="0"/>
          </a:p>
        </p:txBody>
      </p:sp>
      <p:sp>
        <p:nvSpPr>
          <p:cNvPr id="13" name="Text 11"/>
          <p:cNvSpPr txBox="1"/>
          <p:nvPr/>
        </p:nvSpPr>
        <p:spPr>
          <a:xfrm>
            <a:off x="8641080" y="2633472"/>
            <a:ext cx="1325880" cy="438912"/>
          </a:xfrm>
          <a:prstGeom prst="rect">
            <a:avLst/>
          </a:prstGeom>
          <a:noFill/>
          <a:ln/>
        </p:spPr>
        <p:txBody>
          <a:bodyPr wrap="square" lIns="0" tIns="0" rIns="0" bIns="0" rtlCol="0" anchor="ctr"/>
          <a:lstStyle/>
          <a:p>
            <a:pPr indent="0" marL="0">
              <a:buNone/>
            </a:pPr>
            <a:r>
              <a:rPr lang="en-US" sz="2100" b="1" dirty="0">
                <a:solidFill>
                  <a:srgbClr val="34D399"/>
                </a:solidFill>
                <a:latin typeface="Calibri" pitchFamily="34" charset="0"/>
                <a:ea typeface="Calibri" pitchFamily="34" charset="-122"/>
                <a:cs typeface="Calibri" pitchFamily="34" charset="-120"/>
              </a:rPr>
              <a:t>91.1%</a:t>
            </a:r>
            <a:endParaRPr lang="en-US" sz="2100" dirty="0"/>
          </a:p>
        </p:txBody>
      </p:sp>
      <p:sp>
        <p:nvSpPr>
          <p:cNvPr id="14" name="Text 12"/>
          <p:cNvSpPr txBox="1"/>
          <p:nvPr/>
        </p:nvSpPr>
        <p:spPr>
          <a:xfrm>
            <a:off x="10012680" y="2633472"/>
            <a:ext cx="1508760" cy="438912"/>
          </a:xfrm>
          <a:prstGeom prst="rect">
            <a:avLst/>
          </a:prstGeom>
          <a:noFill/>
          <a:ln/>
        </p:spPr>
        <p:txBody>
          <a:bodyPr wrap="square" lIns="0" tIns="0" rIns="0" bIns="0" rtlCol="0" anchor="ctr"/>
          <a:lstStyle/>
          <a:p>
            <a:pPr indent="0" marL="0">
              <a:buNone/>
            </a:pPr>
            <a:r>
              <a:rPr lang="en-US" sz="1100" dirty="0">
                <a:solidFill>
                  <a:srgbClr val="D1D5DB"/>
                </a:solidFill>
                <a:latin typeface="Calibri" pitchFamily="34" charset="0"/>
                <a:ea typeface="Calibri" pitchFamily="34" charset="-122"/>
                <a:cs typeface="Calibri" pitchFamily="34" charset="-120"/>
              </a:rPr>
              <a:t>of SCA hour allowance</a:t>
            </a:r>
            <a:endParaRPr lang="en-US" sz="1100" dirty="0"/>
          </a:p>
        </p:txBody>
      </p:sp>
      <p:sp>
        <p:nvSpPr>
          <p:cNvPr id="15" name="Text 13"/>
          <p:cNvSpPr txBox="1"/>
          <p:nvPr/>
        </p:nvSpPr>
        <p:spPr>
          <a:xfrm>
            <a:off x="8641080" y="3090672"/>
            <a:ext cx="1325880" cy="438912"/>
          </a:xfrm>
          <a:prstGeom prst="rect">
            <a:avLst/>
          </a:prstGeom>
          <a:noFill/>
          <a:ln/>
        </p:spPr>
        <p:txBody>
          <a:bodyPr wrap="square" lIns="0" tIns="0" rIns="0" bIns="0" rtlCol="0" anchor="ctr"/>
          <a:lstStyle/>
          <a:p>
            <a:pPr indent="0" marL="0">
              <a:buNone/>
            </a:pPr>
            <a:r>
              <a:rPr lang="en-US" sz="2100" b="1" dirty="0">
                <a:solidFill>
                  <a:srgbClr val="34D399"/>
                </a:solidFill>
                <a:latin typeface="Calibri" pitchFamily="34" charset="0"/>
                <a:ea typeface="Calibri" pitchFamily="34" charset="-122"/>
                <a:cs typeface="Calibri" pitchFamily="34" charset="-120"/>
              </a:rPr>
              <a:t>−16.7%</a:t>
            </a:r>
            <a:endParaRPr lang="en-US" sz="2100" dirty="0"/>
          </a:p>
        </p:txBody>
      </p:sp>
      <p:sp>
        <p:nvSpPr>
          <p:cNvPr id="16" name="Text 14"/>
          <p:cNvSpPr txBox="1"/>
          <p:nvPr/>
        </p:nvSpPr>
        <p:spPr>
          <a:xfrm>
            <a:off x="10012680" y="3090672"/>
            <a:ext cx="1508760" cy="438912"/>
          </a:xfrm>
          <a:prstGeom prst="rect">
            <a:avLst/>
          </a:prstGeom>
          <a:noFill/>
          <a:ln/>
        </p:spPr>
        <p:txBody>
          <a:bodyPr wrap="square" lIns="0" tIns="0" rIns="0" bIns="0" rtlCol="0" anchor="ctr"/>
          <a:lstStyle/>
          <a:p>
            <a:pPr indent="0" marL="0">
              <a:buNone/>
            </a:pPr>
            <a:r>
              <a:rPr lang="en-US" sz="1100" dirty="0">
                <a:solidFill>
                  <a:srgbClr val="D1D5DB"/>
                </a:solidFill>
                <a:latin typeface="Calibri" pitchFamily="34" charset="0"/>
                <a:ea typeface="Calibri" pitchFamily="34" charset="-122"/>
                <a:cs typeface="Calibri" pitchFamily="34" charset="-120"/>
              </a:rPr>
              <a:t>cost per unit vs F26</a:t>
            </a:r>
            <a:endParaRPr lang="en-US" sz="1100" dirty="0"/>
          </a:p>
        </p:txBody>
      </p:sp>
      <p:sp>
        <p:nvSpPr>
          <p:cNvPr id="17" name="Text 15"/>
          <p:cNvSpPr txBox="1"/>
          <p:nvPr/>
        </p:nvSpPr>
        <p:spPr>
          <a:xfrm>
            <a:off x="8641080" y="3547872"/>
            <a:ext cx="1325880" cy="438912"/>
          </a:xfrm>
          <a:prstGeom prst="rect">
            <a:avLst/>
          </a:prstGeom>
          <a:noFill/>
          <a:ln/>
        </p:spPr>
        <p:txBody>
          <a:bodyPr wrap="square" lIns="0" tIns="0" rIns="0" bIns="0" rtlCol="0" anchor="ctr"/>
          <a:lstStyle/>
          <a:p>
            <a:pPr indent="0" marL="0">
              <a:buNone/>
            </a:pPr>
            <a:r>
              <a:rPr lang="en-US" sz="2100" b="1" dirty="0">
                <a:solidFill>
                  <a:srgbClr val="34D399"/>
                </a:solidFill>
                <a:latin typeface="Calibri" pitchFamily="34" charset="0"/>
                <a:ea typeface="Calibri" pitchFamily="34" charset="-122"/>
                <a:cs typeface="Calibri" pitchFamily="34" charset="-120"/>
              </a:rPr>
              <a:t>+26.7%</a:t>
            </a:r>
            <a:endParaRPr lang="en-US" sz="2100" dirty="0"/>
          </a:p>
        </p:txBody>
      </p:sp>
      <p:sp>
        <p:nvSpPr>
          <p:cNvPr id="18" name="Text 16"/>
          <p:cNvSpPr txBox="1"/>
          <p:nvPr/>
        </p:nvSpPr>
        <p:spPr>
          <a:xfrm>
            <a:off x="10012680" y="3547872"/>
            <a:ext cx="1508760" cy="438912"/>
          </a:xfrm>
          <a:prstGeom prst="rect">
            <a:avLst/>
          </a:prstGeom>
          <a:noFill/>
          <a:ln/>
        </p:spPr>
        <p:txBody>
          <a:bodyPr wrap="square" lIns="0" tIns="0" rIns="0" bIns="0" rtlCol="0" anchor="ctr"/>
          <a:lstStyle/>
          <a:p>
            <a:pPr indent="0" marL="0">
              <a:buNone/>
            </a:pPr>
            <a:r>
              <a:rPr lang="en-US" sz="1100" dirty="0">
                <a:solidFill>
                  <a:srgbClr val="D1D5DB"/>
                </a:solidFill>
                <a:latin typeface="Calibri" pitchFamily="34" charset="0"/>
                <a:ea typeface="Calibri" pitchFamily="34" charset="-122"/>
                <a:cs typeface="Calibri" pitchFamily="34" charset="-120"/>
              </a:rPr>
              <a:t>units per hour vs F26</a:t>
            </a:r>
            <a:endParaRPr lang="en-US" sz="1100" dirty="0"/>
          </a:p>
        </p:txBody>
      </p:sp>
      <p:sp>
        <p:nvSpPr>
          <p:cNvPr id="19" name="Text 17"/>
          <p:cNvSpPr txBox="1"/>
          <p:nvPr/>
        </p:nvSpPr>
        <p:spPr>
          <a:xfrm>
            <a:off x="8641080" y="4005072"/>
            <a:ext cx="1325880" cy="438912"/>
          </a:xfrm>
          <a:prstGeom prst="rect">
            <a:avLst/>
          </a:prstGeom>
          <a:noFill/>
          <a:ln/>
        </p:spPr>
        <p:txBody>
          <a:bodyPr wrap="square" lIns="0" tIns="0" rIns="0" bIns="0" rtlCol="0" anchor="ctr"/>
          <a:lstStyle/>
          <a:p>
            <a:pPr indent="0" marL="0">
              <a:buNone/>
            </a:pPr>
            <a:r>
              <a:rPr lang="en-US" sz="2100" b="1" dirty="0">
                <a:solidFill>
                  <a:srgbClr val="34D399"/>
                </a:solidFill>
                <a:latin typeface="Calibri" pitchFamily="34" charset="0"/>
                <a:ea typeface="Calibri" pitchFamily="34" charset="-122"/>
                <a:cs typeface="Calibri" pitchFamily="34" charset="-120"/>
              </a:rPr>
              <a:t>9 hrs</a:t>
            </a:r>
            <a:endParaRPr lang="en-US" sz="2100" dirty="0"/>
          </a:p>
        </p:txBody>
      </p:sp>
      <p:sp>
        <p:nvSpPr>
          <p:cNvPr id="20" name="Text 18"/>
          <p:cNvSpPr txBox="1"/>
          <p:nvPr/>
        </p:nvSpPr>
        <p:spPr>
          <a:xfrm>
            <a:off x="10012680" y="4005072"/>
            <a:ext cx="1508760" cy="438912"/>
          </a:xfrm>
          <a:prstGeom prst="rect">
            <a:avLst/>
          </a:prstGeom>
          <a:noFill/>
          <a:ln/>
        </p:spPr>
        <p:txBody>
          <a:bodyPr wrap="square" lIns="0" tIns="0" rIns="0" bIns="0" rtlCol="0" anchor="ctr"/>
          <a:lstStyle/>
          <a:p>
            <a:pPr indent="0" marL="0">
              <a:buNone/>
            </a:pPr>
            <a:r>
              <a:rPr lang="en-US" sz="1100" dirty="0">
                <a:solidFill>
                  <a:srgbClr val="D1D5DB"/>
                </a:solidFill>
                <a:latin typeface="Calibri" pitchFamily="34" charset="0"/>
                <a:ea typeface="Calibri" pitchFamily="34" charset="-122"/>
                <a:cs typeface="Calibri" pitchFamily="34" charset="-120"/>
              </a:rPr>
              <a:t>overtime MTD</a:t>
            </a:r>
            <a:endParaRPr lang="en-US" sz="1100" dirty="0"/>
          </a:p>
        </p:txBody>
      </p:sp>
      <p:sp>
        <p:nvSpPr>
          <p:cNvPr id="21" name="Text 19"/>
          <p:cNvSpPr txBox="1"/>
          <p:nvPr/>
        </p:nvSpPr>
        <p:spPr>
          <a:xfrm>
            <a:off x="8641080" y="4507992"/>
            <a:ext cx="2834640" cy="274320"/>
          </a:xfrm>
          <a:prstGeom prst="rect">
            <a:avLst/>
          </a:prstGeom>
          <a:noFill/>
          <a:ln/>
        </p:spPr>
        <p:txBody>
          <a:bodyPr wrap="square" lIns="0" tIns="0" rIns="0" bIns="0" rtlCol="0" anchor="ctr"/>
          <a:lstStyle/>
          <a:p>
            <a:pPr indent="0" marL="0">
              <a:buNone/>
            </a:pPr>
            <a:r>
              <a:rPr lang="en-US" sz="1100" b="1" spc="200" kern="0" dirty="0">
                <a:solidFill>
                  <a:srgbClr val="A78BFA"/>
                </a:solidFill>
                <a:latin typeface="Calibri" pitchFamily="34" charset="0"/>
                <a:ea typeface="Calibri" pitchFamily="34" charset="-122"/>
                <a:cs typeface="Calibri" pitchFamily="34" charset="-120"/>
              </a:rPr>
              <a:t>FOCUS</a:t>
            </a:r>
            <a:endParaRPr lang="en-US" sz="1100" dirty="0"/>
          </a:p>
        </p:txBody>
      </p:sp>
      <p:sp>
        <p:nvSpPr>
          <p:cNvPr id="22" name="Text 20"/>
          <p:cNvSpPr txBox="1"/>
          <p:nvPr/>
        </p:nvSpPr>
        <p:spPr>
          <a:xfrm>
            <a:off x="8641080" y="4754880"/>
            <a:ext cx="2834640" cy="457200"/>
          </a:xfrm>
          <a:prstGeom prst="rect">
            <a:avLst/>
          </a:prstGeom>
          <a:noFill/>
          <a:ln/>
        </p:spPr>
        <p:txBody>
          <a:bodyPr wrap="square" lIns="0" tIns="0" rIns="0" bIns="0" rtlCol="0" anchor="ctr"/>
          <a:lstStyle/>
          <a:p>
            <a:pPr indent="0" marL="0">
              <a:buNone/>
            </a:pPr>
            <a:r>
              <a:rPr lang="en-US" sz="2200" b="1" dirty="0">
                <a:solidFill>
                  <a:srgbClr val="F87171"/>
                </a:solidFill>
                <a:latin typeface="Calibri" pitchFamily="34" charset="0"/>
                <a:ea typeface="Calibri" pitchFamily="34" charset="-122"/>
                <a:cs typeface="Calibri" pitchFamily="34" charset="-120"/>
              </a:rPr>
              <a:t>−21.9%</a:t>
            </a:r>
            <a:pPr indent="0" marL="0">
              <a:buNone/>
            </a:pPr>
            <a:r>
              <a:rPr lang="en-US" sz="1300" dirty="0">
                <a:solidFill>
                  <a:srgbClr val="D1D5DB"/>
                </a:solidFill>
                <a:latin typeface="Calibri" pitchFamily="34" charset="0"/>
                <a:ea typeface="Calibri" pitchFamily="34" charset="-122"/>
                <a:cs typeface="Calibri" pitchFamily="34" charset="-120"/>
              </a:rPr>
              <a:t>  PPH gap to goal</a:t>
            </a:r>
            <a:endParaRPr lang="en-US" sz="2200" dirty="0"/>
          </a:p>
        </p:txBody>
      </p:sp>
      <p:sp>
        <p:nvSpPr>
          <p:cNvPr id="23" name="Text 21"/>
          <p:cNvSpPr txBox="1"/>
          <p:nvPr/>
        </p:nvSpPr>
        <p:spPr>
          <a:xfrm>
            <a:off x="8641080" y="5212080"/>
            <a:ext cx="2834640" cy="274320"/>
          </a:xfrm>
          <a:prstGeom prst="rect">
            <a:avLst/>
          </a:prstGeom>
          <a:noFill/>
          <a:ln/>
        </p:spPr>
        <p:txBody>
          <a:bodyPr wrap="square" lIns="0" tIns="0" rIns="0" bIns="0" rtlCol="0" anchor="ctr"/>
          <a:lstStyle/>
          <a:p>
            <a:pPr indent="0" marL="0">
              <a:buNone/>
            </a:pPr>
            <a:r>
              <a:rPr lang="en-US" sz="1100" dirty="0">
                <a:solidFill>
                  <a:srgbClr val="9CA3AF"/>
                </a:solidFill>
                <a:latin typeface="Calibri" pitchFamily="34" charset="0"/>
                <a:ea typeface="Calibri" pitchFamily="34" charset="-122"/>
                <a:cs typeface="Calibri" pitchFamily="34" charset="-120"/>
              </a:rPr>
              <a:t>3,327 vs 4,258 goal</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AGENDA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What we will cover today</a:t>
            </a:r>
            <a:endParaRPr lang="en-US" sz="3000" dirty="0"/>
          </a:p>
        </p:txBody>
      </p:sp>
      <p:sp>
        <p:nvSpPr>
          <p:cNvPr id="4" name="Shape 2"/>
          <p:cNvSpPr/>
          <p:nvPr/>
        </p:nvSpPr>
        <p:spPr>
          <a:xfrm>
            <a:off x="548640" y="1463040"/>
            <a:ext cx="566928" cy="566928"/>
          </a:xfrm>
          <a:prstGeom prst="ellipse">
            <a:avLst/>
          </a:prstGeom>
          <a:solidFill>
            <a:srgbClr val="7C3AED"/>
          </a:solidFill>
          <a:ln w="12700">
            <a:solidFill>
              <a:srgbClr val="7C3AED"/>
            </a:solidFill>
            <a:prstDash val="solid"/>
          </a:ln>
        </p:spPr>
      </p:sp>
      <p:sp>
        <p:nvSpPr>
          <p:cNvPr id="5" name="Text 3"/>
          <p:cNvSpPr txBox="1"/>
          <p:nvPr/>
        </p:nvSpPr>
        <p:spPr>
          <a:xfrm>
            <a:off x="548640" y="146304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6" name="Shape 4"/>
          <p:cNvSpPr/>
          <p:nvPr/>
        </p:nvSpPr>
        <p:spPr>
          <a:xfrm>
            <a:off x="1280160" y="1463040"/>
            <a:ext cx="566928" cy="566928"/>
          </a:xfrm>
          <a:prstGeom prst="ellipse">
            <a:avLst/>
          </a:prstGeom>
          <a:solidFill>
            <a:srgbClr val="EDE9FE"/>
          </a:solidFill>
          <a:ln w="12700">
            <a:solidFill>
              <a:srgbClr val="EDE9FE"/>
            </a:solidFill>
            <a:prstDash val="solid"/>
          </a:ln>
        </p:spPr>
      </p:sp>
      <p:pic>
        <p:nvPicPr>
          <p:cNvPr id="7" name="Image 0" descr="preencoded.png">    </p:cNvPr>
          <p:cNvPicPr>
            <a:picLocks noChangeAspect="1"/>
          </p:cNvPicPr>
          <p:nvPr/>
        </p:nvPicPr>
        <p:blipFill>
          <a:blip r:embed="rId1"/>
          <a:stretch>
            <a:fillRect/>
          </a:stretch>
        </p:blipFill>
        <p:spPr>
          <a:xfrm>
            <a:off x="1421892" y="1604772"/>
            <a:ext cx="283464" cy="283464"/>
          </a:xfrm>
          <a:prstGeom prst="rect">
            <a:avLst/>
          </a:prstGeom>
        </p:spPr>
      </p:pic>
      <p:sp>
        <p:nvSpPr>
          <p:cNvPr id="8" name="Text 5"/>
          <p:cNvSpPr txBox="1"/>
          <p:nvPr/>
        </p:nvSpPr>
        <p:spPr>
          <a:xfrm>
            <a:off x="2103120" y="1426464"/>
            <a:ext cx="5394960" cy="347472"/>
          </a:xfrm>
          <a:prstGeom prst="rect">
            <a:avLst/>
          </a:prstGeom>
          <a:noFill/>
          <a:ln/>
        </p:spPr>
        <p:txBody>
          <a:bodyPr wrap="square" lIns="0" tIns="0" rIns="0" bIns="0" rtlCol="0" anchor="ctr"/>
          <a:lstStyle/>
          <a:p>
            <a:pPr indent="0" marL="0">
              <a:buNone/>
            </a:pPr>
            <a:r>
              <a:rPr lang="en-US" sz="1900" b="1" dirty="0">
                <a:solidFill>
                  <a:srgbClr val="111827"/>
                </a:solidFill>
                <a:latin typeface="Calibri" pitchFamily="34" charset="0"/>
                <a:ea typeface="Calibri" pitchFamily="34" charset="-122"/>
                <a:cs typeface="Calibri" pitchFamily="34" charset="-120"/>
              </a:rPr>
              <a:t>Safety</a:t>
            </a:r>
            <a:endParaRPr lang="en-US" sz="1900" dirty="0"/>
          </a:p>
        </p:txBody>
      </p:sp>
      <p:sp>
        <p:nvSpPr>
          <p:cNvPr id="9" name="Text 6"/>
          <p:cNvSpPr txBox="1"/>
          <p:nvPr/>
        </p:nvSpPr>
        <p:spPr>
          <a:xfrm>
            <a:off x="2103120" y="1773936"/>
            <a:ext cx="5715000" cy="292608"/>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TRIR, shift practices, safety initiatives</a:t>
            </a:r>
            <a:endParaRPr lang="en-US" sz="1300" dirty="0"/>
          </a:p>
        </p:txBody>
      </p:sp>
      <p:sp>
        <p:nvSpPr>
          <p:cNvPr id="10" name="Shape 7"/>
          <p:cNvSpPr/>
          <p:nvPr/>
        </p:nvSpPr>
        <p:spPr>
          <a:xfrm>
            <a:off x="548640" y="2139696"/>
            <a:ext cx="566928" cy="566928"/>
          </a:xfrm>
          <a:prstGeom prst="ellipse">
            <a:avLst/>
          </a:prstGeom>
          <a:solidFill>
            <a:srgbClr val="7C3AED"/>
          </a:solidFill>
          <a:ln w="12700">
            <a:solidFill>
              <a:srgbClr val="7C3AED"/>
            </a:solidFill>
            <a:prstDash val="solid"/>
          </a:ln>
        </p:spPr>
      </p:sp>
      <p:sp>
        <p:nvSpPr>
          <p:cNvPr id="11" name="Text 8"/>
          <p:cNvSpPr txBox="1"/>
          <p:nvPr/>
        </p:nvSpPr>
        <p:spPr>
          <a:xfrm>
            <a:off x="548640" y="2139696"/>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2" name="Shape 9"/>
          <p:cNvSpPr/>
          <p:nvPr/>
        </p:nvSpPr>
        <p:spPr>
          <a:xfrm>
            <a:off x="1280160" y="2139696"/>
            <a:ext cx="566928" cy="566928"/>
          </a:xfrm>
          <a:prstGeom prst="ellipse">
            <a:avLst/>
          </a:prstGeom>
          <a:solidFill>
            <a:srgbClr val="EDE9FE"/>
          </a:solidFill>
          <a:ln w="12700">
            <a:solidFill>
              <a:srgbClr val="EDE9FE"/>
            </a:solidFill>
            <a:prstDash val="solid"/>
          </a:ln>
        </p:spPr>
      </p:sp>
      <p:pic>
        <p:nvPicPr>
          <p:cNvPr id="13" name="Image 1" descr="preencoded.png">    </p:cNvPr>
          <p:cNvPicPr>
            <a:picLocks noChangeAspect="1"/>
          </p:cNvPicPr>
          <p:nvPr/>
        </p:nvPicPr>
        <p:blipFill>
          <a:blip r:embed="rId2"/>
          <a:stretch>
            <a:fillRect/>
          </a:stretch>
        </p:blipFill>
        <p:spPr>
          <a:xfrm>
            <a:off x="1421892" y="2281428"/>
            <a:ext cx="283464" cy="283464"/>
          </a:xfrm>
          <a:prstGeom prst="rect">
            <a:avLst/>
          </a:prstGeom>
        </p:spPr>
      </p:pic>
      <p:sp>
        <p:nvSpPr>
          <p:cNvPr id="14" name="Text 10"/>
          <p:cNvSpPr txBox="1"/>
          <p:nvPr/>
        </p:nvSpPr>
        <p:spPr>
          <a:xfrm>
            <a:off x="2103120" y="2103120"/>
            <a:ext cx="5394960" cy="347472"/>
          </a:xfrm>
          <a:prstGeom prst="rect">
            <a:avLst/>
          </a:prstGeom>
          <a:noFill/>
          <a:ln/>
        </p:spPr>
        <p:txBody>
          <a:bodyPr wrap="square" lIns="0" tIns="0" rIns="0" bIns="0" rtlCol="0" anchor="ctr"/>
          <a:lstStyle/>
          <a:p>
            <a:pPr indent="0" marL="0">
              <a:buNone/>
            </a:pPr>
            <a:r>
              <a:rPr lang="en-US" sz="1900" b="1" dirty="0">
                <a:solidFill>
                  <a:srgbClr val="111827"/>
                </a:solidFill>
                <a:latin typeface="Calibri" pitchFamily="34" charset="0"/>
                <a:ea typeface="Calibri" pitchFamily="34" charset="-122"/>
                <a:cs typeface="Calibri" pitchFamily="34" charset="-120"/>
              </a:rPr>
              <a:t>Service</a:t>
            </a:r>
            <a:endParaRPr lang="en-US" sz="1900" dirty="0"/>
          </a:p>
        </p:txBody>
      </p:sp>
      <p:sp>
        <p:nvSpPr>
          <p:cNvPr id="15" name="Text 11"/>
          <p:cNvSpPr txBox="1"/>
          <p:nvPr/>
        </p:nvSpPr>
        <p:spPr>
          <a:xfrm>
            <a:off x="2103120" y="2450592"/>
            <a:ext cx="5715000" cy="292608"/>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On-time service (OTS), missed pickups, scanning compliance</a:t>
            </a:r>
            <a:endParaRPr lang="en-US" sz="1300" dirty="0"/>
          </a:p>
        </p:txBody>
      </p:sp>
      <p:sp>
        <p:nvSpPr>
          <p:cNvPr id="16" name="Shape 12"/>
          <p:cNvSpPr/>
          <p:nvPr/>
        </p:nvSpPr>
        <p:spPr>
          <a:xfrm>
            <a:off x="548640" y="2816352"/>
            <a:ext cx="566928" cy="566928"/>
          </a:xfrm>
          <a:prstGeom prst="ellipse">
            <a:avLst/>
          </a:prstGeom>
          <a:solidFill>
            <a:srgbClr val="7C3AED"/>
          </a:solidFill>
          <a:ln w="12700">
            <a:solidFill>
              <a:srgbClr val="7C3AED"/>
            </a:solidFill>
            <a:prstDash val="solid"/>
          </a:ln>
        </p:spPr>
      </p:sp>
      <p:sp>
        <p:nvSpPr>
          <p:cNvPr id="17" name="Text 13"/>
          <p:cNvSpPr txBox="1"/>
          <p:nvPr/>
        </p:nvSpPr>
        <p:spPr>
          <a:xfrm>
            <a:off x="548640" y="2816352"/>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8" name="Shape 14"/>
          <p:cNvSpPr/>
          <p:nvPr/>
        </p:nvSpPr>
        <p:spPr>
          <a:xfrm>
            <a:off x="1280160" y="2816352"/>
            <a:ext cx="566928" cy="566928"/>
          </a:xfrm>
          <a:prstGeom prst="ellipse">
            <a:avLst/>
          </a:prstGeom>
          <a:solidFill>
            <a:srgbClr val="EDE9FE"/>
          </a:solidFill>
          <a:ln w="12700">
            <a:solidFill>
              <a:srgbClr val="EDE9FE"/>
            </a:solidFill>
            <a:prstDash val="solid"/>
          </a:ln>
        </p:spPr>
      </p:sp>
      <p:pic>
        <p:nvPicPr>
          <p:cNvPr id="19" name="Image 2" descr="preencoded.png">    </p:cNvPr>
          <p:cNvPicPr>
            <a:picLocks noChangeAspect="1"/>
          </p:cNvPicPr>
          <p:nvPr/>
        </p:nvPicPr>
        <p:blipFill>
          <a:blip r:embed="rId3"/>
          <a:stretch>
            <a:fillRect/>
          </a:stretch>
        </p:blipFill>
        <p:spPr>
          <a:xfrm>
            <a:off x="1421892" y="2958084"/>
            <a:ext cx="283464" cy="283464"/>
          </a:xfrm>
          <a:prstGeom prst="rect">
            <a:avLst/>
          </a:prstGeom>
        </p:spPr>
      </p:pic>
      <p:sp>
        <p:nvSpPr>
          <p:cNvPr id="20" name="Text 15"/>
          <p:cNvSpPr txBox="1"/>
          <p:nvPr/>
        </p:nvSpPr>
        <p:spPr>
          <a:xfrm>
            <a:off x="2103120" y="2779776"/>
            <a:ext cx="5394960" cy="347472"/>
          </a:xfrm>
          <a:prstGeom prst="rect">
            <a:avLst/>
          </a:prstGeom>
          <a:noFill/>
          <a:ln/>
        </p:spPr>
        <p:txBody>
          <a:bodyPr wrap="square" lIns="0" tIns="0" rIns="0" bIns="0" rtlCol="0" anchor="ctr"/>
          <a:lstStyle/>
          <a:p>
            <a:pPr indent="0" marL="0">
              <a:buNone/>
            </a:pPr>
            <a:r>
              <a:rPr lang="en-US" sz="1900" b="1" dirty="0">
                <a:solidFill>
                  <a:srgbClr val="111827"/>
                </a:solidFill>
                <a:latin typeface="Calibri" pitchFamily="34" charset="0"/>
                <a:ea typeface="Calibri" pitchFamily="34" charset="-122"/>
                <a:cs typeface="Calibri" pitchFamily="34" charset="-120"/>
              </a:rPr>
              <a:t>F27 savings outlook &amp; SCA</a:t>
            </a:r>
            <a:endParaRPr lang="en-US" sz="1900" dirty="0"/>
          </a:p>
        </p:txBody>
      </p:sp>
      <p:sp>
        <p:nvSpPr>
          <p:cNvPr id="21" name="Text 16"/>
          <p:cNvSpPr txBox="1"/>
          <p:nvPr/>
        </p:nvSpPr>
        <p:spPr>
          <a:xfrm>
            <a:off x="2103120" y="3127248"/>
            <a:ext cx="5715000" cy="292608"/>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Savings outlook &amp; tracker, cost per PRO, hours, labour, accessorials</a:t>
            </a:r>
            <a:endParaRPr lang="en-US" sz="1300" dirty="0"/>
          </a:p>
        </p:txBody>
      </p:sp>
      <p:sp>
        <p:nvSpPr>
          <p:cNvPr id="22" name="Shape 17"/>
          <p:cNvSpPr/>
          <p:nvPr/>
        </p:nvSpPr>
        <p:spPr>
          <a:xfrm>
            <a:off x="548640" y="3493008"/>
            <a:ext cx="566928" cy="566928"/>
          </a:xfrm>
          <a:prstGeom prst="ellipse">
            <a:avLst/>
          </a:prstGeom>
          <a:solidFill>
            <a:srgbClr val="7C3AED"/>
          </a:solidFill>
          <a:ln w="12700">
            <a:solidFill>
              <a:srgbClr val="7C3AED"/>
            </a:solidFill>
            <a:prstDash val="solid"/>
          </a:ln>
        </p:spPr>
      </p:sp>
      <p:sp>
        <p:nvSpPr>
          <p:cNvPr id="23" name="Text 18"/>
          <p:cNvSpPr txBox="1"/>
          <p:nvPr/>
        </p:nvSpPr>
        <p:spPr>
          <a:xfrm>
            <a:off x="548640" y="3493008"/>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4" name="Shape 19"/>
          <p:cNvSpPr/>
          <p:nvPr/>
        </p:nvSpPr>
        <p:spPr>
          <a:xfrm>
            <a:off x="1280160" y="3493008"/>
            <a:ext cx="566928" cy="566928"/>
          </a:xfrm>
          <a:prstGeom prst="ellipse">
            <a:avLst/>
          </a:prstGeom>
          <a:solidFill>
            <a:srgbClr val="EDE9FE"/>
          </a:solidFill>
          <a:ln w="12700">
            <a:solidFill>
              <a:srgbClr val="EDE9FE"/>
            </a:solidFill>
            <a:prstDash val="solid"/>
          </a:ln>
        </p:spPr>
      </p:sp>
      <p:pic>
        <p:nvPicPr>
          <p:cNvPr id="25" name="Image 3" descr="preencoded.png">    </p:cNvPr>
          <p:cNvPicPr>
            <a:picLocks noChangeAspect="1"/>
          </p:cNvPicPr>
          <p:nvPr/>
        </p:nvPicPr>
        <p:blipFill>
          <a:blip r:embed="rId4"/>
          <a:stretch>
            <a:fillRect/>
          </a:stretch>
        </p:blipFill>
        <p:spPr>
          <a:xfrm>
            <a:off x="1421892" y="3634740"/>
            <a:ext cx="283464" cy="283464"/>
          </a:xfrm>
          <a:prstGeom prst="rect">
            <a:avLst/>
          </a:prstGeom>
        </p:spPr>
      </p:pic>
      <p:sp>
        <p:nvSpPr>
          <p:cNvPr id="26" name="Text 20"/>
          <p:cNvSpPr txBox="1"/>
          <p:nvPr/>
        </p:nvSpPr>
        <p:spPr>
          <a:xfrm>
            <a:off x="2103120" y="3456432"/>
            <a:ext cx="5394960" cy="347472"/>
          </a:xfrm>
          <a:prstGeom prst="rect">
            <a:avLst/>
          </a:prstGeom>
          <a:noFill/>
          <a:ln/>
        </p:spPr>
        <p:txBody>
          <a:bodyPr wrap="square" lIns="0" tIns="0" rIns="0" bIns="0" rtlCol="0" anchor="ctr"/>
          <a:lstStyle/>
          <a:p>
            <a:pPr indent="0" marL="0">
              <a:buNone/>
            </a:pPr>
            <a:r>
              <a:rPr lang="en-US" sz="1900" b="1" dirty="0">
                <a:solidFill>
                  <a:srgbClr val="111827"/>
                </a:solidFill>
                <a:latin typeface="Calibri" pitchFamily="34" charset="0"/>
                <a:ea typeface="Calibri" pitchFamily="34" charset="-122"/>
                <a:cs typeface="Calibri" pitchFamily="34" charset="-120"/>
              </a:rPr>
              <a:t>Productivity (PPH, load factor, CICO)</a:t>
            </a:r>
            <a:endParaRPr lang="en-US" sz="1900" dirty="0"/>
          </a:p>
        </p:txBody>
      </p:sp>
      <p:sp>
        <p:nvSpPr>
          <p:cNvPr id="27" name="Text 21"/>
          <p:cNvSpPr txBox="1"/>
          <p:nvPr/>
        </p:nvSpPr>
        <p:spPr>
          <a:xfrm>
            <a:off x="2103120" y="3803904"/>
            <a:ext cx="5715000" cy="292608"/>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PPH &amp; units/hr, load factor, CICO, cost &amp; volume, P&amp;D measures</a:t>
            </a:r>
            <a:endParaRPr lang="en-US" sz="1300" dirty="0"/>
          </a:p>
        </p:txBody>
      </p:sp>
      <p:sp>
        <p:nvSpPr>
          <p:cNvPr id="28" name="Shape 22"/>
          <p:cNvSpPr/>
          <p:nvPr/>
        </p:nvSpPr>
        <p:spPr>
          <a:xfrm>
            <a:off x="548640" y="4169664"/>
            <a:ext cx="566928" cy="566928"/>
          </a:xfrm>
          <a:prstGeom prst="ellipse">
            <a:avLst/>
          </a:prstGeom>
          <a:solidFill>
            <a:srgbClr val="7C3AED"/>
          </a:solidFill>
          <a:ln w="12700">
            <a:solidFill>
              <a:srgbClr val="7C3AED"/>
            </a:solidFill>
            <a:prstDash val="solid"/>
          </a:ln>
        </p:spPr>
      </p:sp>
      <p:sp>
        <p:nvSpPr>
          <p:cNvPr id="29" name="Text 23"/>
          <p:cNvSpPr txBox="1"/>
          <p:nvPr/>
        </p:nvSpPr>
        <p:spPr>
          <a:xfrm>
            <a:off x="548640" y="4169664"/>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30" name="Shape 24"/>
          <p:cNvSpPr/>
          <p:nvPr/>
        </p:nvSpPr>
        <p:spPr>
          <a:xfrm>
            <a:off x="1280160" y="4169664"/>
            <a:ext cx="566928" cy="566928"/>
          </a:xfrm>
          <a:prstGeom prst="ellipse">
            <a:avLst/>
          </a:prstGeom>
          <a:solidFill>
            <a:srgbClr val="EDE9FE"/>
          </a:solidFill>
          <a:ln w="12700">
            <a:solidFill>
              <a:srgbClr val="EDE9FE"/>
            </a:solidFill>
            <a:prstDash val="solid"/>
          </a:ln>
        </p:spPr>
      </p:sp>
      <p:pic>
        <p:nvPicPr>
          <p:cNvPr id="31" name="Image 4" descr="preencoded.png">    </p:cNvPr>
          <p:cNvPicPr>
            <a:picLocks noChangeAspect="1"/>
          </p:cNvPicPr>
          <p:nvPr/>
        </p:nvPicPr>
        <p:blipFill>
          <a:blip r:embed="rId5"/>
          <a:stretch>
            <a:fillRect/>
          </a:stretch>
        </p:blipFill>
        <p:spPr>
          <a:xfrm>
            <a:off x="1421892" y="4311396"/>
            <a:ext cx="283464" cy="283464"/>
          </a:xfrm>
          <a:prstGeom prst="rect">
            <a:avLst/>
          </a:prstGeom>
        </p:spPr>
      </p:pic>
      <p:sp>
        <p:nvSpPr>
          <p:cNvPr id="32" name="Text 25"/>
          <p:cNvSpPr txBox="1"/>
          <p:nvPr/>
        </p:nvSpPr>
        <p:spPr>
          <a:xfrm>
            <a:off x="2103120" y="4133088"/>
            <a:ext cx="5394960" cy="347472"/>
          </a:xfrm>
          <a:prstGeom prst="rect">
            <a:avLst/>
          </a:prstGeom>
          <a:noFill/>
          <a:ln/>
        </p:spPr>
        <p:txBody>
          <a:bodyPr wrap="square" lIns="0" tIns="0" rIns="0" bIns="0" rtlCol="0" anchor="ctr"/>
          <a:lstStyle/>
          <a:p>
            <a:pPr indent="0" marL="0">
              <a:buNone/>
            </a:pPr>
            <a:r>
              <a:rPr lang="en-US" sz="1900" b="1" dirty="0">
                <a:solidFill>
                  <a:srgbClr val="111827"/>
                </a:solidFill>
                <a:latin typeface="Calibri" pitchFamily="34" charset="0"/>
                <a:ea typeface="Calibri" pitchFamily="34" charset="-122"/>
                <a:cs typeface="Calibri" pitchFamily="34" charset="-120"/>
              </a:rPr>
              <a:t>Load quality &amp; equipment</a:t>
            </a:r>
            <a:endParaRPr lang="en-US" sz="1900" dirty="0"/>
          </a:p>
        </p:txBody>
      </p:sp>
      <p:sp>
        <p:nvSpPr>
          <p:cNvPr id="33" name="Text 26"/>
          <p:cNvSpPr txBox="1"/>
          <p:nvPr/>
        </p:nvSpPr>
        <p:spPr>
          <a:xfrm>
            <a:off x="2103120" y="4480560"/>
            <a:ext cx="5715000" cy="292608"/>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Load securement &amp; decking, collapsible load tables</a:t>
            </a:r>
            <a:endParaRPr lang="en-US" sz="1300" dirty="0"/>
          </a:p>
        </p:txBody>
      </p:sp>
      <p:sp>
        <p:nvSpPr>
          <p:cNvPr id="34" name="Shape 27"/>
          <p:cNvSpPr/>
          <p:nvPr/>
        </p:nvSpPr>
        <p:spPr>
          <a:xfrm>
            <a:off x="548640" y="4846320"/>
            <a:ext cx="566928" cy="566928"/>
          </a:xfrm>
          <a:prstGeom prst="ellipse">
            <a:avLst/>
          </a:prstGeom>
          <a:solidFill>
            <a:srgbClr val="7C3AED"/>
          </a:solidFill>
          <a:ln w="12700">
            <a:solidFill>
              <a:srgbClr val="7C3AED"/>
            </a:solidFill>
            <a:prstDash val="solid"/>
          </a:ln>
        </p:spPr>
      </p:sp>
      <p:sp>
        <p:nvSpPr>
          <p:cNvPr id="35" name="Text 28"/>
          <p:cNvSpPr txBox="1"/>
          <p:nvPr/>
        </p:nvSpPr>
        <p:spPr>
          <a:xfrm>
            <a:off x="548640" y="484632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36" name="Shape 29"/>
          <p:cNvSpPr/>
          <p:nvPr/>
        </p:nvSpPr>
        <p:spPr>
          <a:xfrm>
            <a:off x="1280160" y="4846320"/>
            <a:ext cx="566928" cy="566928"/>
          </a:xfrm>
          <a:prstGeom prst="ellipse">
            <a:avLst/>
          </a:prstGeom>
          <a:solidFill>
            <a:srgbClr val="EDE9FE"/>
          </a:solidFill>
          <a:ln w="12700">
            <a:solidFill>
              <a:srgbClr val="EDE9FE"/>
            </a:solidFill>
            <a:prstDash val="solid"/>
          </a:ln>
        </p:spPr>
      </p:sp>
      <p:pic>
        <p:nvPicPr>
          <p:cNvPr id="37" name="Image 5" descr="preencoded.png">    </p:cNvPr>
          <p:cNvPicPr>
            <a:picLocks noChangeAspect="1"/>
          </p:cNvPicPr>
          <p:nvPr/>
        </p:nvPicPr>
        <p:blipFill>
          <a:blip r:embed="rId6"/>
          <a:stretch>
            <a:fillRect/>
          </a:stretch>
        </p:blipFill>
        <p:spPr>
          <a:xfrm>
            <a:off x="1421892" y="4988052"/>
            <a:ext cx="283464" cy="283464"/>
          </a:xfrm>
          <a:prstGeom prst="rect">
            <a:avLst/>
          </a:prstGeom>
        </p:spPr>
      </p:pic>
      <p:sp>
        <p:nvSpPr>
          <p:cNvPr id="38" name="Text 30"/>
          <p:cNvSpPr txBox="1"/>
          <p:nvPr/>
        </p:nvSpPr>
        <p:spPr>
          <a:xfrm>
            <a:off x="2103120" y="4809744"/>
            <a:ext cx="5394960" cy="347472"/>
          </a:xfrm>
          <a:prstGeom prst="rect">
            <a:avLst/>
          </a:prstGeom>
          <a:noFill/>
          <a:ln/>
        </p:spPr>
        <p:txBody>
          <a:bodyPr wrap="square" lIns="0" tIns="0" rIns="0" bIns="0" rtlCol="0" anchor="ctr"/>
          <a:lstStyle/>
          <a:p>
            <a:pPr indent="0" marL="0">
              <a:buNone/>
            </a:pPr>
            <a:r>
              <a:rPr lang="en-US" sz="1900" b="1" dirty="0">
                <a:solidFill>
                  <a:srgbClr val="111827"/>
                </a:solidFill>
                <a:latin typeface="Calibri" pitchFamily="34" charset="0"/>
                <a:ea typeface="Calibri" pitchFamily="34" charset="-122"/>
                <a:cs typeface="Calibri" pitchFamily="34" charset="-120"/>
              </a:rPr>
              <a:t>Physical terminal</a:t>
            </a:r>
            <a:endParaRPr lang="en-US" sz="1900" dirty="0"/>
          </a:p>
        </p:txBody>
      </p:sp>
      <p:sp>
        <p:nvSpPr>
          <p:cNvPr id="39" name="Text 31"/>
          <p:cNvSpPr txBox="1"/>
          <p:nvPr/>
        </p:nvSpPr>
        <p:spPr>
          <a:xfrm>
            <a:off x="2103120" y="5157216"/>
            <a:ext cx="5715000" cy="292608"/>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New building — expected before end of calendar 2026.</a:t>
            </a:r>
            <a:endParaRPr lang="en-US" sz="1300" dirty="0"/>
          </a:p>
        </p:txBody>
      </p:sp>
      <p:sp>
        <p:nvSpPr>
          <p:cNvPr id="40" name="Shape 32"/>
          <p:cNvSpPr/>
          <p:nvPr/>
        </p:nvSpPr>
        <p:spPr>
          <a:xfrm>
            <a:off x="548640" y="5522976"/>
            <a:ext cx="566928" cy="566928"/>
          </a:xfrm>
          <a:prstGeom prst="ellipse">
            <a:avLst/>
          </a:prstGeom>
          <a:solidFill>
            <a:srgbClr val="7C3AED"/>
          </a:solidFill>
          <a:ln w="12700">
            <a:solidFill>
              <a:srgbClr val="7C3AED"/>
            </a:solidFill>
            <a:prstDash val="solid"/>
          </a:ln>
        </p:spPr>
      </p:sp>
      <p:sp>
        <p:nvSpPr>
          <p:cNvPr id="41" name="Text 33"/>
          <p:cNvSpPr txBox="1"/>
          <p:nvPr/>
        </p:nvSpPr>
        <p:spPr>
          <a:xfrm>
            <a:off x="548640" y="5522976"/>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7</a:t>
            </a:r>
            <a:endParaRPr lang="en-US" sz="1800" dirty="0"/>
          </a:p>
        </p:txBody>
      </p:sp>
      <p:sp>
        <p:nvSpPr>
          <p:cNvPr id="42" name="Shape 34"/>
          <p:cNvSpPr/>
          <p:nvPr/>
        </p:nvSpPr>
        <p:spPr>
          <a:xfrm>
            <a:off x="1280160" y="5522976"/>
            <a:ext cx="566928" cy="566928"/>
          </a:xfrm>
          <a:prstGeom prst="ellipse">
            <a:avLst/>
          </a:prstGeom>
          <a:solidFill>
            <a:srgbClr val="EDE9FE"/>
          </a:solidFill>
          <a:ln w="12700">
            <a:solidFill>
              <a:srgbClr val="EDE9FE"/>
            </a:solidFill>
            <a:prstDash val="solid"/>
          </a:ln>
        </p:spPr>
      </p:sp>
      <p:pic>
        <p:nvPicPr>
          <p:cNvPr id="43" name="Image 6" descr="preencoded.png">    </p:cNvPr>
          <p:cNvPicPr>
            <a:picLocks noChangeAspect="1"/>
          </p:cNvPicPr>
          <p:nvPr/>
        </p:nvPicPr>
        <p:blipFill>
          <a:blip r:embed="rId7"/>
          <a:stretch>
            <a:fillRect/>
          </a:stretch>
        </p:blipFill>
        <p:spPr>
          <a:xfrm>
            <a:off x="1421892" y="5664708"/>
            <a:ext cx="283464" cy="283464"/>
          </a:xfrm>
          <a:prstGeom prst="rect">
            <a:avLst/>
          </a:prstGeom>
        </p:spPr>
      </p:pic>
      <p:sp>
        <p:nvSpPr>
          <p:cNvPr id="44" name="Text 35"/>
          <p:cNvSpPr txBox="1"/>
          <p:nvPr/>
        </p:nvSpPr>
        <p:spPr>
          <a:xfrm>
            <a:off x="2103120" y="5486400"/>
            <a:ext cx="5394960" cy="347472"/>
          </a:xfrm>
          <a:prstGeom prst="rect">
            <a:avLst/>
          </a:prstGeom>
          <a:noFill/>
          <a:ln/>
        </p:spPr>
        <p:txBody>
          <a:bodyPr wrap="square" lIns="0" tIns="0" rIns="0" bIns="0" rtlCol="0" anchor="ctr"/>
          <a:lstStyle/>
          <a:p>
            <a:pPr indent="0" marL="0">
              <a:buNone/>
            </a:pPr>
            <a:r>
              <a:rPr lang="en-US" sz="1900" b="1" dirty="0">
                <a:solidFill>
                  <a:srgbClr val="111827"/>
                </a:solidFill>
                <a:latin typeface="Calibri" pitchFamily="34" charset="0"/>
                <a:ea typeface="Calibri" pitchFamily="34" charset="-122"/>
                <a:cs typeface="Calibri" pitchFamily="34" charset="-120"/>
              </a:rPr>
              <a:t>Backup</a:t>
            </a:r>
            <a:endParaRPr lang="en-US" sz="1900" dirty="0"/>
          </a:p>
        </p:txBody>
      </p:sp>
      <p:sp>
        <p:nvSpPr>
          <p:cNvPr id="45" name="Text 36"/>
          <p:cNvSpPr txBox="1"/>
          <p:nvPr/>
        </p:nvSpPr>
        <p:spPr>
          <a:xfrm>
            <a:off x="2103120" y="5833872"/>
            <a:ext cx="5715000" cy="292608"/>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Key numbers, labour distribution, terminal cost vs PROs &amp; weight</a:t>
            </a:r>
            <a:endParaRPr lang="en-US" sz="1300" dirty="0"/>
          </a:p>
        </p:txBody>
      </p:sp>
      <p:sp>
        <p:nvSpPr>
          <p:cNvPr id="46" name="Shape 37"/>
          <p:cNvSpPr/>
          <p:nvPr/>
        </p:nvSpPr>
        <p:spPr>
          <a:xfrm>
            <a:off x="8001000" y="1508760"/>
            <a:ext cx="3639312" cy="4206240"/>
          </a:xfrm>
          <a:prstGeom prst="roundRect">
            <a:avLst>
              <a:gd name="adj" fmla="val 2010"/>
            </a:avLst>
          </a:prstGeom>
          <a:solidFill>
            <a:srgbClr val="F3F4F6"/>
          </a:solidFill>
          <a:ln w="12700">
            <a:solidFill>
              <a:srgbClr val="F3F4F6"/>
            </a:solidFill>
            <a:prstDash val="solid"/>
          </a:ln>
        </p:spPr>
      </p:sp>
      <p:sp>
        <p:nvSpPr>
          <p:cNvPr id="47" name="Shape 38"/>
          <p:cNvSpPr/>
          <p:nvPr/>
        </p:nvSpPr>
        <p:spPr>
          <a:xfrm>
            <a:off x="8275320" y="1783080"/>
            <a:ext cx="502920" cy="502920"/>
          </a:xfrm>
          <a:prstGeom prst="ellipse">
            <a:avLst/>
          </a:prstGeom>
          <a:solidFill>
            <a:srgbClr val="EDE9FE"/>
          </a:solidFill>
          <a:ln w="12700">
            <a:solidFill>
              <a:srgbClr val="EDE9FE"/>
            </a:solidFill>
            <a:prstDash val="solid"/>
          </a:ln>
        </p:spPr>
      </p:sp>
      <p:pic>
        <p:nvPicPr>
          <p:cNvPr id="48" name="Image 7" descr="preencoded.png">    </p:cNvPr>
          <p:cNvPicPr>
            <a:picLocks noChangeAspect="1"/>
          </p:cNvPicPr>
          <p:nvPr/>
        </p:nvPicPr>
        <p:blipFill>
          <a:blip r:embed="rId8"/>
          <a:stretch>
            <a:fillRect/>
          </a:stretch>
        </p:blipFill>
        <p:spPr>
          <a:xfrm>
            <a:off x="8401050" y="1908810"/>
            <a:ext cx="251460" cy="251460"/>
          </a:xfrm>
          <a:prstGeom prst="rect">
            <a:avLst/>
          </a:prstGeom>
        </p:spPr>
      </p:pic>
      <p:sp>
        <p:nvSpPr>
          <p:cNvPr id="49" name="Text 39"/>
          <p:cNvSpPr txBox="1"/>
          <p:nvPr/>
        </p:nvSpPr>
        <p:spPr>
          <a:xfrm>
            <a:off x="8915400" y="1847088"/>
            <a:ext cx="2560320" cy="365760"/>
          </a:xfrm>
          <a:prstGeom prst="rect">
            <a:avLst/>
          </a:prstGeom>
          <a:noFill/>
          <a:ln/>
        </p:spPr>
        <p:txBody>
          <a:bodyPr wrap="square" lIns="0" tIns="0" rIns="0" bIns="0" rtlCol="0" anchor="ctr"/>
          <a:lstStyle/>
          <a:p>
            <a:pPr indent="0" marL="0">
              <a:buNone/>
            </a:pPr>
            <a:r>
              <a:rPr lang="en-US" sz="1600" b="1" dirty="0">
                <a:solidFill>
                  <a:srgbClr val="111827"/>
                </a:solidFill>
                <a:latin typeface="Calibri" pitchFamily="34" charset="0"/>
                <a:ea typeface="Calibri" pitchFamily="34" charset="-122"/>
                <a:cs typeface="Calibri" pitchFamily="34" charset="-120"/>
              </a:rPr>
              <a:t>Sources &amp; conventions</a:t>
            </a:r>
            <a:endParaRPr lang="en-US" sz="1600" dirty="0"/>
          </a:p>
        </p:txBody>
      </p:sp>
      <p:sp>
        <p:nvSpPr>
          <p:cNvPr id="50" name="Text 40"/>
          <p:cNvSpPr txBox="1"/>
          <p:nvPr/>
        </p:nvSpPr>
        <p:spPr>
          <a:xfrm>
            <a:off x="8275320" y="2514600"/>
            <a:ext cx="3154680" cy="3017520"/>
          </a:xfrm>
          <a:prstGeom prst="rect">
            <a:avLst/>
          </a:prstGeom>
          <a:noFill/>
          <a:ln/>
        </p:spPr>
        <p:txBody>
          <a:bodyPr wrap="square" lIns="0" tIns="0" rIns="0" bIns="0" rtlCol="0" anchor="t"/>
          <a:lstStyle/>
          <a:p>
            <a:pPr marL="177800" indent="-177800">
              <a:spcAft>
                <a:spcPts val="800"/>
              </a:spcAft>
              <a:buSzPct val="100000"/>
              <a:buChar char="•"/>
            </a:pPr>
            <a:r>
              <a:rPr lang="en-US" sz="1250" dirty="0">
                <a:solidFill>
                  <a:srgbClr val="1F2937"/>
                </a:solidFill>
                <a:latin typeface="Calibri" pitchFamily="34" charset="0"/>
                <a:ea typeface="Calibri" pitchFamily="34" charset="-122"/>
                <a:cs typeface="Calibri" pitchFamily="34" charset="-120"/>
              </a:rPr>
              <a:t>SCA: national Cost-per-PRO report and SCA hours report — Mississauga, updated Sep 26, 2026.</a:t>
            </a:r>
            <a:endParaRPr lang="en-US" sz="1250" dirty="0"/>
          </a:p>
          <a:p>
            <a:pPr marL="177800" indent="-177800">
              <a:spcAft>
                <a:spcPts val="800"/>
              </a:spcAft>
              <a:buSzPct val="100000"/>
              <a:buChar char="•"/>
            </a:pPr>
            <a:r>
              <a:rPr lang="en-US" sz="1250" dirty="0">
                <a:solidFill>
                  <a:srgbClr val="1F2937"/>
                </a:solidFill>
                <a:latin typeface="Calibri" pitchFamily="34" charset="0"/>
                <a:ea typeface="Calibri" pitchFamily="34" charset="-122"/>
                <a:cs typeface="Calibri" pitchFamily="34" charset="-120"/>
              </a:rPr>
              <a:t>Productivity: terminal productivity dashboard, updated for Sat, Sep 26, 2026.</a:t>
            </a:r>
            <a:endParaRPr lang="en-US" sz="1250" dirty="0"/>
          </a:p>
          <a:p>
            <a:pPr marL="177800" indent="-177800">
              <a:spcAft>
                <a:spcPts val="800"/>
              </a:spcAft>
              <a:buSzPct val="100000"/>
              <a:buChar char="•"/>
            </a:pPr>
            <a:r>
              <a:rPr lang="en-US" sz="1250" dirty="0">
                <a:solidFill>
                  <a:srgbClr val="1F2937"/>
                </a:solidFill>
                <a:latin typeface="Calibri" pitchFamily="34" charset="0"/>
                <a:ea typeface="Calibri" pitchFamily="34" charset="-122"/>
                <a:cs typeface="Calibri" pitchFamily="34" charset="-120"/>
              </a:rPr>
              <a:t>F26 recap: plan set July 2025.</a:t>
            </a:r>
            <a:endParaRPr lang="en-US" sz="1250" dirty="0"/>
          </a:p>
          <a:p>
            <a:pPr marL="177800" indent="-177800">
              <a:spcAft>
                <a:spcPts val="800"/>
              </a:spcAft>
              <a:buSzPct val="100000"/>
              <a:buChar char="•"/>
            </a:pPr>
            <a:r>
              <a:rPr lang="en-US" sz="1250" dirty="0">
                <a:solidFill>
                  <a:srgbClr val="1F2937"/>
                </a:solidFill>
                <a:latin typeface="Calibri" pitchFamily="34" charset="0"/>
                <a:ea typeface="Calibri" pitchFamily="34" charset="-122"/>
                <a:cs typeface="Calibri" pitchFamily="34" charset="-120"/>
              </a:rPr>
              <a:t>Fiscal F27 = Jul 1, 2026 – Jun 30, 2027.</a:t>
            </a:r>
            <a:endParaRPr lang="en-US" sz="1250" dirty="0"/>
          </a:p>
          <a:p>
            <a:pPr marL="177800" indent="-177800">
              <a:buSzPct val="100000"/>
              <a:buChar char="•"/>
            </a:pPr>
            <a:r>
              <a:rPr lang="en-US" sz="1250" b="1" dirty="0">
                <a:solidFill>
                  <a:srgbClr val="D97706"/>
                </a:solidFill>
                <a:latin typeface="Calibri" pitchFamily="34" charset="0"/>
                <a:ea typeface="Calibri" pitchFamily="34" charset="-122"/>
                <a:cs typeface="Calibri" pitchFamily="34" charset="-120"/>
              </a:rPr>
              <a:t>TBC</a:t>
            </a:r>
            <a:pPr indent="0" marL="0">
              <a:buNone/>
            </a:pPr>
            <a:r>
              <a:rPr lang="en-US" sz="1250" dirty="0">
                <a:solidFill>
                  <a:srgbClr val="1F2937"/>
                </a:solidFill>
                <a:latin typeface="Calibri" pitchFamily="34" charset="0"/>
                <a:ea typeface="Calibri" pitchFamily="34" charset="-122"/>
                <a:cs typeface="Calibri" pitchFamily="34" charset="-120"/>
              </a:rPr>
              <a:t> = figure being confirmed.</a:t>
            </a:r>
            <a:endParaRPr lang="en-US" sz="1250" dirty="0"/>
          </a:p>
        </p:txBody>
      </p:sp>
      <p:sp>
        <p:nvSpPr>
          <p:cNvPr id="51" name="Text 41"/>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52" name="Text 42"/>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2 / 27</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SAFETY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Safety — TRIR</a:t>
            </a:r>
            <a:endParaRPr lang="en-US" sz="3000" dirty="0"/>
          </a:p>
        </p:txBody>
      </p:sp>
      <p:sp>
        <p:nvSpPr>
          <p:cNvPr id="4" name="Shape 2"/>
          <p:cNvSpPr/>
          <p:nvPr/>
        </p:nvSpPr>
        <p:spPr>
          <a:xfrm>
            <a:off x="548640" y="1325880"/>
            <a:ext cx="2072030" cy="1188720"/>
          </a:xfrm>
          <a:prstGeom prst="roundRect">
            <a:avLst>
              <a:gd name="adj" fmla="val 6154"/>
            </a:avLst>
          </a:prstGeom>
          <a:solidFill>
            <a:srgbClr val="F3F4F6"/>
          </a:solidFill>
          <a:ln w="12700">
            <a:solidFill>
              <a:srgbClr val="F3F4F6"/>
            </a:solidFill>
            <a:prstDash val="solid"/>
          </a:ln>
        </p:spPr>
      </p:sp>
      <p:sp>
        <p:nvSpPr>
          <p:cNvPr id="5" name="Text 3"/>
          <p:cNvSpPr txBox="1"/>
          <p:nvPr/>
        </p:nvSpPr>
        <p:spPr>
          <a:xfrm>
            <a:off x="731520" y="1463040"/>
            <a:ext cx="1706270" cy="274320"/>
          </a:xfrm>
          <a:prstGeom prst="rect">
            <a:avLst/>
          </a:prstGeom>
          <a:noFill/>
          <a:ln/>
        </p:spPr>
        <p:txBody>
          <a:bodyPr wrap="square" lIns="0" tIns="0" rIns="0" bIns="0" rtlCol="0" anchor="ctr"/>
          <a:lstStyle/>
          <a:p>
            <a:pPr indent="0" marL="0">
              <a:buNone/>
            </a:pPr>
            <a:r>
              <a:rPr lang="en-US" sz="950" b="1" dirty="0">
                <a:solidFill>
                  <a:srgbClr val="6B7280"/>
                </a:solidFill>
                <a:latin typeface="Calibri" pitchFamily="34" charset="0"/>
                <a:ea typeface="Calibri" pitchFamily="34" charset="-122"/>
                <a:cs typeface="Calibri" pitchFamily="34" charset="-120"/>
              </a:rPr>
              <a:t>TRIR · F27 YTD</a:t>
            </a:r>
            <a:endParaRPr lang="en-US" sz="950" dirty="0"/>
          </a:p>
        </p:txBody>
      </p:sp>
      <p:sp>
        <p:nvSpPr>
          <p:cNvPr id="6" name="Text 4"/>
          <p:cNvSpPr txBox="1"/>
          <p:nvPr/>
        </p:nvSpPr>
        <p:spPr>
          <a:xfrm>
            <a:off x="731520" y="1737360"/>
            <a:ext cx="1706270" cy="320040"/>
          </a:xfrm>
          <a:prstGeom prst="rect">
            <a:avLst/>
          </a:prstGeom>
          <a:noFill/>
          <a:ln/>
        </p:spPr>
        <p:txBody>
          <a:bodyPr wrap="square" lIns="0" tIns="0" rIns="0" bIns="0" rtlCol="0" anchor="ctr"/>
          <a:lstStyle/>
          <a:p>
            <a:pPr indent="0" marL="0">
              <a:buNone/>
            </a:pPr>
            <a:r>
              <a:rPr lang="en-US" sz="2800" b="1" dirty="0">
                <a:solidFill>
                  <a:srgbClr val="059669"/>
                </a:solidFill>
                <a:latin typeface="Calibri" pitchFamily="34" charset="0"/>
                <a:ea typeface="Calibri" pitchFamily="34" charset="-122"/>
                <a:cs typeface="Calibri" pitchFamily="34" charset="-120"/>
              </a:rPr>
              <a:t>0.00</a:t>
            </a:r>
            <a:endParaRPr lang="en-US" sz="2800" dirty="0"/>
          </a:p>
        </p:txBody>
      </p:sp>
      <p:sp>
        <p:nvSpPr>
          <p:cNvPr id="7" name="Text 5"/>
          <p:cNvSpPr txBox="1"/>
          <p:nvPr/>
        </p:nvSpPr>
        <p:spPr>
          <a:xfrm>
            <a:off x="731520" y="2084832"/>
            <a:ext cx="170627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Jul–Aug 2026</a:t>
            </a:r>
            <a:endParaRPr lang="en-US" sz="1050" dirty="0"/>
          </a:p>
        </p:txBody>
      </p:sp>
      <p:sp>
        <p:nvSpPr>
          <p:cNvPr id="8" name="Shape 6"/>
          <p:cNvSpPr/>
          <p:nvPr/>
        </p:nvSpPr>
        <p:spPr>
          <a:xfrm>
            <a:off x="2803550" y="1325880"/>
            <a:ext cx="2072030" cy="1188720"/>
          </a:xfrm>
          <a:prstGeom prst="roundRect">
            <a:avLst>
              <a:gd name="adj" fmla="val 6154"/>
            </a:avLst>
          </a:prstGeom>
          <a:solidFill>
            <a:srgbClr val="F3F4F6"/>
          </a:solidFill>
          <a:ln w="12700">
            <a:solidFill>
              <a:srgbClr val="F3F4F6"/>
            </a:solidFill>
            <a:prstDash val="solid"/>
          </a:ln>
        </p:spPr>
      </p:sp>
      <p:sp>
        <p:nvSpPr>
          <p:cNvPr id="9" name="Text 7"/>
          <p:cNvSpPr txBox="1"/>
          <p:nvPr/>
        </p:nvSpPr>
        <p:spPr>
          <a:xfrm>
            <a:off x="2986430" y="1463040"/>
            <a:ext cx="1706270" cy="274320"/>
          </a:xfrm>
          <a:prstGeom prst="rect">
            <a:avLst/>
          </a:prstGeom>
          <a:noFill/>
          <a:ln/>
        </p:spPr>
        <p:txBody>
          <a:bodyPr wrap="square" lIns="0" tIns="0" rIns="0" bIns="0" rtlCol="0" anchor="ctr"/>
          <a:lstStyle/>
          <a:p>
            <a:pPr indent="0" marL="0">
              <a:buNone/>
            </a:pPr>
            <a:r>
              <a:rPr lang="en-US" sz="950" b="1" dirty="0">
                <a:solidFill>
                  <a:srgbClr val="6B7280"/>
                </a:solidFill>
                <a:latin typeface="Calibri" pitchFamily="34" charset="0"/>
                <a:ea typeface="Calibri" pitchFamily="34" charset="-122"/>
                <a:cs typeface="Calibri" pitchFamily="34" charset="-120"/>
              </a:rPr>
              <a:t>TRIR · F26</a:t>
            </a:r>
            <a:endParaRPr lang="en-US" sz="950" dirty="0"/>
          </a:p>
        </p:txBody>
      </p:sp>
      <p:sp>
        <p:nvSpPr>
          <p:cNvPr id="10" name="Text 8"/>
          <p:cNvSpPr txBox="1"/>
          <p:nvPr/>
        </p:nvSpPr>
        <p:spPr>
          <a:xfrm>
            <a:off x="2986430" y="1737360"/>
            <a:ext cx="1706270" cy="320040"/>
          </a:xfrm>
          <a:prstGeom prst="rect">
            <a:avLst/>
          </a:prstGeom>
          <a:noFill/>
          <a:ln/>
        </p:spPr>
        <p:txBody>
          <a:bodyPr wrap="square" lIns="0" tIns="0" rIns="0" bIns="0" rtlCol="0" anchor="ctr"/>
          <a:lstStyle/>
          <a:p>
            <a:pPr indent="0" marL="0">
              <a:buNone/>
            </a:pPr>
            <a:r>
              <a:rPr lang="en-US" sz="2800" b="1" dirty="0">
                <a:solidFill>
                  <a:srgbClr val="111827"/>
                </a:solidFill>
                <a:latin typeface="Calibri" pitchFamily="34" charset="0"/>
                <a:ea typeface="Calibri" pitchFamily="34" charset="-122"/>
                <a:cs typeface="Calibri" pitchFamily="34" charset="-120"/>
              </a:rPr>
              <a:t>1.21</a:t>
            </a:r>
            <a:endParaRPr lang="en-US" sz="2800" dirty="0"/>
          </a:p>
        </p:txBody>
      </p:sp>
      <p:sp>
        <p:nvSpPr>
          <p:cNvPr id="11" name="Text 9"/>
          <p:cNvSpPr txBox="1"/>
          <p:nvPr/>
        </p:nvSpPr>
        <p:spPr>
          <a:xfrm>
            <a:off x="2986430" y="2084832"/>
            <a:ext cx="170627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Full year</a:t>
            </a:r>
            <a:endParaRPr lang="en-US" sz="1050" dirty="0"/>
          </a:p>
        </p:txBody>
      </p:sp>
      <p:sp>
        <p:nvSpPr>
          <p:cNvPr id="12" name="Shape 10"/>
          <p:cNvSpPr/>
          <p:nvPr/>
        </p:nvSpPr>
        <p:spPr>
          <a:xfrm>
            <a:off x="5058461" y="1325880"/>
            <a:ext cx="2072030" cy="1188720"/>
          </a:xfrm>
          <a:prstGeom prst="roundRect">
            <a:avLst>
              <a:gd name="adj" fmla="val 6154"/>
            </a:avLst>
          </a:prstGeom>
          <a:solidFill>
            <a:srgbClr val="F3F4F6"/>
          </a:solidFill>
          <a:ln w="12700">
            <a:solidFill>
              <a:srgbClr val="F3F4F6"/>
            </a:solidFill>
            <a:prstDash val="solid"/>
          </a:ln>
        </p:spPr>
      </p:sp>
      <p:sp>
        <p:nvSpPr>
          <p:cNvPr id="13" name="Text 11"/>
          <p:cNvSpPr txBox="1"/>
          <p:nvPr/>
        </p:nvSpPr>
        <p:spPr>
          <a:xfrm>
            <a:off x="5241341" y="1463040"/>
            <a:ext cx="1706270" cy="274320"/>
          </a:xfrm>
          <a:prstGeom prst="rect">
            <a:avLst/>
          </a:prstGeom>
          <a:noFill/>
          <a:ln/>
        </p:spPr>
        <p:txBody>
          <a:bodyPr wrap="square" lIns="0" tIns="0" rIns="0" bIns="0" rtlCol="0" anchor="ctr"/>
          <a:lstStyle/>
          <a:p>
            <a:pPr indent="0" marL="0">
              <a:buNone/>
            </a:pPr>
            <a:r>
              <a:rPr lang="en-US" sz="950" b="1" dirty="0">
                <a:solidFill>
                  <a:srgbClr val="6B7280"/>
                </a:solidFill>
                <a:latin typeface="Calibri" pitchFamily="34" charset="0"/>
                <a:ea typeface="Calibri" pitchFamily="34" charset="-122"/>
                <a:cs typeface="Calibri" pitchFamily="34" charset="-120"/>
              </a:rPr>
              <a:t>TRIR · 12-month avg</a:t>
            </a:r>
            <a:endParaRPr lang="en-US" sz="950" dirty="0"/>
          </a:p>
        </p:txBody>
      </p:sp>
      <p:sp>
        <p:nvSpPr>
          <p:cNvPr id="14" name="Text 12"/>
          <p:cNvSpPr txBox="1"/>
          <p:nvPr/>
        </p:nvSpPr>
        <p:spPr>
          <a:xfrm>
            <a:off x="5241341" y="1737360"/>
            <a:ext cx="1706270" cy="320040"/>
          </a:xfrm>
          <a:prstGeom prst="rect">
            <a:avLst/>
          </a:prstGeom>
          <a:noFill/>
          <a:ln/>
        </p:spPr>
        <p:txBody>
          <a:bodyPr wrap="square" lIns="0" tIns="0" rIns="0" bIns="0" rtlCol="0" anchor="ctr"/>
          <a:lstStyle/>
          <a:p>
            <a:pPr indent="0" marL="0">
              <a:buNone/>
            </a:pPr>
            <a:r>
              <a:rPr lang="en-US" sz="2800" b="1" dirty="0">
                <a:solidFill>
                  <a:srgbClr val="111827"/>
                </a:solidFill>
                <a:latin typeface="Calibri" pitchFamily="34" charset="0"/>
                <a:ea typeface="Calibri" pitchFamily="34" charset="-122"/>
                <a:cs typeface="Calibri" pitchFamily="34" charset="-120"/>
              </a:rPr>
              <a:t>1.21</a:t>
            </a:r>
            <a:endParaRPr lang="en-US" sz="2800" dirty="0"/>
          </a:p>
        </p:txBody>
      </p:sp>
      <p:sp>
        <p:nvSpPr>
          <p:cNvPr id="15" name="Text 13"/>
          <p:cNvSpPr txBox="1"/>
          <p:nvPr/>
        </p:nvSpPr>
        <p:spPr>
          <a:xfrm>
            <a:off x="5241341" y="2084832"/>
            <a:ext cx="170627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Rolling 12 months</a:t>
            </a:r>
            <a:endParaRPr lang="en-US" sz="1050" dirty="0"/>
          </a:p>
        </p:txBody>
      </p:sp>
      <p:sp>
        <p:nvSpPr>
          <p:cNvPr id="16" name="Shape 14"/>
          <p:cNvSpPr/>
          <p:nvPr/>
        </p:nvSpPr>
        <p:spPr>
          <a:xfrm>
            <a:off x="7313371" y="1325880"/>
            <a:ext cx="2072030" cy="1188720"/>
          </a:xfrm>
          <a:prstGeom prst="roundRect">
            <a:avLst>
              <a:gd name="adj" fmla="val 6154"/>
            </a:avLst>
          </a:prstGeom>
          <a:solidFill>
            <a:srgbClr val="F3F4F6"/>
          </a:solidFill>
          <a:ln w="12700">
            <a:solidFill>
              <a:srgbClr val="F3F4F6"/>
            </a:solidFill>
            <a:prstDash val="solid"/>
          </a:ln>
        </p:spPr>
      </p:sp>
      <p:sp>
        <p:nvSpPr>
          <p:cNvPr id="17" name="Text 15"/>
          <p:cNvSpPr txBox="1"/>
          <p:nvPr/>
        </p:nvSpPr>
        <p:spPr>
          <a:xfrm>
            <a:off x="7496251" y="1463040"/>
            <a:ext cx="1706270" cy="274320"/>
          </a:xfrm>
          <a:prstGeom prst="rect">
            <a:avLst/>
          </a:prstGeom>
          <a:noFill/>
          <a:ln/>
        </p:spPr>
        <p:txBody>
          <a:bodyPr wrap="square" lIns="0" tIns="0" rIns="0" bIns="0" rtlCol="0" anchor="ctr"/>
          <a:lstStyle/>
          <a:p>
            <a:pPr indent="0" marL="0">
              <a:buNone/>
            </a:pPr>
            <a:r>
              <a:rPr lang="en-US" sz="950" b="1" dirty="0">
                <a:solidFill>
                  <a:srgbClr val="6B7280"/>
                </a:solidFill>
                <a:latin typeface="Calibri" pitchFamily="34" charset="0"/>
                <a:ea typeface="Calibri" pitchFamily="34" charset="-122"/>
                <a:cs typeface="Calibri" pitchFamily="34" charset="-120"/>
              </a:rPr>
              <a:t>Recordables · F27 YTD</a:t>
            </a:r>
            <a:endParaRPr lang="en-US" sz="950" dirty="0"/>
          </a:p>
        </p:txBody>
      </p:sp>
      <p:sp>
        <p:nvSpPr>
          <p:cNvPr id="18" name="Text 16"/>
          <p:cNvSpPr txBox="1"/>
          <p:nvPr/>
        </p:nvSpPr>
        <p:spPr>
          <a:xfrm>
            <a:off x="7496251" y="1737360"/>
            <a:ext cx="1706270" cy="320040"/>
          </a:xfrm>
          <a:prstGeom prst="rect">
            <a:avLst/>
          </a:prstGeom>
          <a:noFill/>
          <a:ln/>
        </p:spPr>
        <p:txBody>
          <a:bodyPr wrap="square" lIns="0" tIns="0" rIns="0" bIns="0" rtlCol="0" anchor="ctr"/>
          <a:lstStyle/>
          <a:p>
            <a:pPr indent="0" marL="0">
              <a:buNone/>
            </a:pPr>
            <a:r>
              <a:rPr lang="en-US" sz="2800" b="1" dirty="0">
                <a:solidFill>
                  <a:srgbClr val="059669"/>
                </a:solidFill>
                <a:latin typeface="Calibri" pitchFamily="34" charset="0"/>
                <a:ea typeface="Calibri" pitchFamily="34" charset="-122"/>
                <a:cs typeface="Calibri" pitchFamily="34" charset="-120"/>
              </a:rPr>
              <a:t>0</a:t>
            </a:r>
            <a:endParaRPr lang="en-US" sz="2800" dirty="0"/>
          </a:p>
        </p:txBody>
      </p:sp>
      <p:sp>
        <p:nvSpPr>
          <p:cNvPr id="19" name="Text 17"/>
          <p:cNvSpPr txBox="1"/>
          <p:nvPr/>
        </p:nvSpPr>
        <p:spPr>
          <a:xfrm>
            <a:off x="7496251" y="2084832"/>
            <a:ext cx="170627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Employee + contractor</a:t>
            </a:r>
            <a:endParaRPr lang="en-US" sz="1050" dirty="0"/>
          </a:p>
        </p:txBody>
      </p:sp>
      <p:sp>
        <p:nvSpPr>
          <p:cNvPr id="20" name="Shape 18"/>
          <p:cNvSpPr/>
          <p:nvPr/>
        </p:nvSpPr>
        <p:spPr>
          <a:xfrm>
            <a:off x="9568282" y="1325880"/>
            <a:ext cx="2072030" cy="1188720"/>
          </a:xfrm>
          <a:prstGeom prst="roundRect">
            <a:avLst>
              <a:gd name="adj" fmla="val 6154"/>
            </a:avLst>
          </a:prstGeom>
          <a:solidFill>
            <a:srgbClr val="F3F4F6"/>
          </a:solidFill>
          <a:ln w="12700">
            <a:solidFill>
              <a:srgbClr val="F3F4F6"/>
            </a:solidFill>
            <a:prstDash val="solid"/>
          </a:ln>
        </p:spPr>
      </p:sp>
      <p:sp>
        <p:nvSpPr>
          <p:cNvPr id="21" name="Text 19"/>
          <p:cNvSpPr txBox="1"/>
          <p:nvPr/>
        </p:nvSpPr>
        <p:spPr>
          <a:xfrm>
            <a:off x="9751162" y="1463040"/>
            <a:ext cx="1706270" cy="274320"/>
          </a:xfrm>
          <a:prstGeom prst="rect">
            <a:avLst/>
          </a:prstGeom>
          <a:noFill/>
          <a:ln/>
        </p:spPr>
        <p:txBody>
          <a:bodyPr wrap="square" lIns="0" tIns="0" rIns="0" bIns="0" rtlCol="0" anchor="ctr"/>
          <a:lstStyle/>
          <a:p>
            <a:pPr indent="0" marL="0">
              <a:buNone/>
            </a:pPr>
            <a:r>
              <a:rPr lang="en-US" sz="950" b="1" dirty="0">
                <a:solidFill>
                  <a:srgbClr val="6B7280"/>
                </a:solidFill>
                <a:latin typeface="Calibri" pitchFamily="34" charset="0"/>
                <a:ea typeface="Calibri" pitchFamily="34" charset="-122"/>
                <a:cs typeface="Calibri" pitchFamily="34" charset="-120"/>
              </a:rPr>
              <a:t>Days since last recordable</a:t>
            </a:r>
            <a:endParaRPr lang="en-US" sz="950" dirty="0"/>
          </a:p>
        </p:txBody>
      </p:sp>
      <p:sp>
        <p:nvSpPr>
          <p:cNvPr id="22" name="Text 20"/>
          <p:cNvSpPr txBox="1"/>
          <p:nvPr/>
        </p:nvSpPr>
        <p:spPr>
          <a:xfrm>
            <a:off x="9751162" y="1737360"/>
            <a:ext cx="1706270" cy="320040"/>
          </a:xfrm>
          <a:prstGeom prst="rect">
            <a:avLst/>
          </a:prstGeom>
          <a:noFill/>
          <a:ln/>
        </p:spPr>
        <p:txBody>
          <a:bodyPr wrap="square" lIns="0" tIns="0" rIns="0" bIns="0" rtlCol="0" anchor="ctr"/>
          <a:lstStyle/>
          <a:p>
            <a:pPr indent="0" marL="0">
              <a:buNone/>
            </a:pPr>
            <a:r>
              <a:rPr lang="en-US" sz="2800" b="1" dirty="0">
                <a:solidFill>
                  <a:srgbClr val="059669"/>
                </a:solidFill>
                <a:latin typeface="Calibri" pitchFamily="34" charset="0"/>
                <a:ea typeface="Calibri" pitchFamily="34" charset="-122"/>
                <a:cs typeface="Calibri" pitchFamily="34" charset="-120"/>
              </a:rPr>
              <a:t>384</a:t>
            </a:r>
            <a:endParaRPr lang="en-US" sz="2800" dirty="0"/>
          </a:p>
        </p:txBody>
      </p:sp>
      <p:sp>
        <p:nvSpPr>
          <p:cNvPr id="23" name="Text 21"/>
          <p:cNvSpPr txBox="1"/>
          <p:nvPr/>
        </p:nvSpPr>
        <p:spPr>
          <a:xfrm>
            <a:off x="9751162" y="2084832"/>
            <a:ext cx="170627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Last: Sep 10, 2025</a:t>
            </a:r>
            <a:endParaRPr lang="en-US" sz="1050" dirty="0"/>
          </a:p>
        </p:txBody>
      </p:sp>
      <p:sp>
        <p:nvSpPr>
          <p:cNvPr id="24" name="Shape 22"/>
          <p:cNvSpPr/>
          <p:nvPr/>
        </p:nvSpPr>
        <p:spPr>
          <a:xfrm>
            <a:off x="548640" y="2651760"/>
            <a:ext cx="11091672" cy="384048"/>
          </a:xfrm>
          <a:prstGeom prst="roundRect">
            <a:avLst>
              <a:gd name="adj" fmla="val 19048"/>
            </a:avLst>
          </a:prstGeom>
          <a:solidFill>
            <a:srgbClr val="D1FAE5"/>
          </a:solidFill>
          <a:ln w="12700">
            <a:solidFill>
              <a:srgbClr val="D1FAE5"/>
            </a:solidFill>
            <a:prstDash val="solid"/>
          </a:ln>
        </p:spPr>
      </p:sp>
      <p:sp>
        <p:nvSpPr>
          <p:cNvPr id="25" name="Text 23"/>
          <p:cNvSpPr txBox="1"/>
          <p:nvPr/>
        </p:nvSpPr>
        <p:spPr>
          <a:xfrm>
            <a:off x="731520" y="2651760"/>
            <a:ext cx="10789920" cy="384048"/>
          </a:xfrm>
          <a:prstGeom prst="rect">
            <a:avLst/>
          </a:prstGeom>
          <a:noFill/>
          <a:ln/>
        </p:spPr>
        <p:txBody>
          <a:bodyPr wrap="square" lIns="0" tIns="0" rIns="0" bIns="0" rtlCol="0" anchor="ctr"/>
          <a:lstStyle/>
          <a:p>
            <a:pPr indent="0" marL="0">
              <a:buNone/>
            </a:pPr>
            <a:r>
              <a:rPr lang="en-US" sz="1400" b="1" dirty="0">
                <a:solidFill>
                  <a:srgbClr val="059669"/>
                </a:solidFill>
                <a:latin typeface="Calibri" pitchFamily="34" charset="0"/>
                <a:ea typeface="Calibri" pitchFamily="34" charset="-122"/>
                <a:cs typeface="Calibri" pitchFamily="34" charset="-120"/>
              </a:rPr>
              <a:t>0 recordables Jul–Aug; TRIR 0.00 vs 1.21 F26.</a:t>
            </a:r>
            <a:endParaRPr lang="en-US" sz="1400" dirty="0"/>
          </a:p>
        </p:txBody>
      </p:sp>
      <p:sp>
        <p:nvSpPr>
          <p:cNvPr id="26" name="Text 24"/>
          <p:cNvSpPr txBox="1"/>
          <p:nvPr/>
        </p:nvSpPr>
        <p:spPr>
          <a:xfrm>
            <a:off x="548640" y="3127248"/>
            <a:ext cx="7315200" cy="365760"/>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What we do every shift</a:t>
            </a:r>
            <a:endParaRPr lang="en-US" sz="1800" dirty="0"/>
          </a:p>
        </p:txBody>
      </p:sp>
      <p:sp>
        <p:nvSpPr>
          <p:cNvPr id="27" name="Shape 25"/>
          <p:cNvSpPr/>
          <p:nvPr/>
        </p:nvSpPr>
        <p:spPr>
          <a:xfrm>
            <a:off x="548640" y="3575304"/>
            <a:ext cx="384048" cy="384048"/>
          </a:xfrm>
          <a:prstGeom prst="ellipse">
            <a:avLst/>
          </a:prstGeom>
          <a:solidFill>
            <a:srgbClr val="EDE9FE"/>
          </a:solidFill>
          <a:ln w="12700">
            <a:solidFill>
              <a:srgbClr val="EDE9FE"/>
            </a:solidFill>
            <a:prstDash val="solid"/>
          </a:ln>
        </p:spPr>
      </p:sp>
      <p:pic>
        <p:nvPicPr>
          <p:cNvPr id="28" name="Image 0" descr="preencoded.png">    </p:cNvPr>
          <p:cNvPicPr>
            <a:picLocks noChangeAspect="1"/>
          </p:cNvPicPr>
          <p:nvPr/>
        </p:nvPicPr>
        <p:blipFill>
          <a:blip r:embed="rId1"/>
          <a:stretch>
            <a:fillRect/>
          </a:stretch>
        </p:blipFill>
        <p:spPr>
          <a:xfrm>
            <a:off x="644652" y="3671316"/>
            <a:ext cx="192024" cy="192024"/>
          </a:xfrm>
          <a:prstGeom prst="rect">
            <a:avLst/>
          </a:prstGeom>
        </p:spPr>
      </p:pic>
      <p:sp>
        <p:nvSpPr>
          <p:cNvPr id="29" name="Text 26"/>
          <p:cNvSpPr txBox="1"/>
          <p:nvPr/>
        </p:nvSpPr>
        <p:spPr>
          <a:xfrm>
            <a:off x="1097280" y="3520440"/>
            <a:ext cx="10543032" cy="493776"/>
          </a:xfrm>
          <a:prstGeom prst="rect">
            <a:avLst/>
          </a:prstGeom>
          <a:noFill/>
          <a:ln/>
        </p:spPr>
        <p:txBody>
          <a:bodyPr wrap="square" lIns="0" tIns="0" rIns="0" bIns="0" rtlCol="0" anchor="ctr"/>
          <a:lstStyle/>
          <a:p>
            <a:pPr indent="0" marL="0">
              <a:buNone/>
            </a:pPr>
            <a:r>
              <a:rPr lang="en-US" sz="1300" dirty="0">
                <a:solidFill>
                  <a:srgbClr val="1F2937"/>
                </a:solidFill>
                <a:latin typeface="Calibri" pitchFamily="34" charset="0"/>
                <a:ea typeface="Calibri" pitchFamily="34" charset="-122"/>
                <a:cs typeface="Calibri" pitchFamily="34" charset="-120"/>
              </a:rPr>
              <a:t>Tailgates with the team on safety topics and safe work practices, plus specific safety moments after incidents (e.g. avoiding pinch points).</a:t>
            </a:r>
            <a:endParaRPr lang="en-US" sz="1300" dirty="0"/>
          </a:p>
        </p:txBody>
      </p:sp>
      <p:sp>
        <p:nvSpPr>
          <p:cNvPr id="30" name="Shape 27"/>
          <p:cNvSpPr/>
          <p:nvPr/>
        </p:nvSpPr>
        <p:spPr>
          <a:xfrm>
            <a:off x="548640" y="4096512"/>
            <a:ext cx="384048" cy="384048"/>
          </a:xfrm>
          <a:prstGeom prst="ellipse">
            <a:avLst/>
          </a:prstGeom>
          <a:solidFill>
            <a:srgbClr val="EDE9FE"/>
          </a:solidFill>
          <a:ln w="12700">
            <a:solidFill>
              <a:srgbClr val="EDE9FE"/>
            </a:solidFill>
            <a:prstDash val="solid"/>
          </a:ln>
        </p:spPr>
      </p:sp>
      <p:pic>
        <p:nvPicPr>
          <p:cNvPr id="31" name="Image 1" descr="preencoded.png">    </p:cNvPr>
          <p:cNvPicPr>
            <a:picLocks noChangeAspect="1"/>
          </p:cNvPicPr>
          <p:nvPr/>
        </p:nvPicPr>
        <p:blipFill>
          <a:blip r:embed="rId2"/>
          <a:stretch>
            <a:fillRect/>
          </a:stretch>
        </p:blipFill>
        <p:spPr>
          <a:xfrm>
            <a:off x="644652" y="4192524"/>
            <a:ext cx="192024" cy="192024"/>
          </a:xfrm>
          <a:prstGeom prst="rect">
            <a:avLst/>
          </a:prstGeom>
        </p:spPr>
      </p:pic>
      <p:sp>
        <p:nvSpPr>
          <p:cNvPr id="32" name="Text 28"/>
          <p:cNvSpPr txBox="1"/>
          <p:nvPr/>
        </p:nvSpPr>
        <p:spPr>
          <a:xfrm>
            <a:off x="1097280" y="4041648"/>
            <a:ext cx="10543032" cy="493776"/>
          </a:xfrm>
          <a:prstGeom prst="rect">
            <a:avLst/>
          </a:prstGeom>
          <a:noFill/>
          <a:ln/>
        </p:spPr>
        <p:txBody>
          <a:bodyPr wrap="square" lIns="0" tIns="0" rIns="0" bIns="0" rtlCol="0" anchor="ctr"/>
          <a:lstStyle/>
          <a:p>
            <a:pPr indent="0" marL="0">
              <a:buNone/>
            </a:pPr>
            <a:r>
              <a:rPr lang="en-US" sz="1300" dirty="0">
                <a:solidFill>
                  <a:srgbClr val="1F2937"/>
                </a:solidFill>
                <a:latin typeface="Calibri" pitchFamily="34" charset="0"/>
                <a:ea typeface="Calibri" pitchFamily="34" charset="-122"/>
                <a:cs typeface="Calibri" pitchFamily="34" charset="-120"/>
              </a:rPr>
              <a:t>Pre- and post-shift forklift inspections by every operator — deficiencies corrected immediately; shunt pre-trip meeting every shift using the new checklist.</a:t>
            </a:r>
            <a:endParaRPr lang="en-US" sz="1300" dirty="0"/>
          </a:p>
        </p:txBody>
      </p:sp>
      <p:sp>
        <p:nvSpPr>
          <p:cNvPr id="33" name="Shape 29"/>
          <p:cNvSpPr/>
          <p:nvPr/>
        </p:nvSpPr>
        <p:spPr>
          <a:xfrm>
            <a:off x="548640" y="4617720"/>
            <a:ext cx="384048" cy="384048"/>
          </a:xfrm>
          <a:prstGeom prst="ellipse">
            <a:avLst/>
          </a:prstGeom>
          <a:solidFill>
            <a:srgbClr val="EDE9FE"/>
          </a:solidFill>
          <a:ln w="12700">
            <a:solidFill>
              <a:srgbClr val="EDE9FE"/>
            </a:solidFill>
            <a:prstDash val="solid"/>
          </a:ln>
        </p:spPr>
      </p:sp>
      <p:pic>
        <p:nvPicPr>
          <p:cNvPr id="34" name="Image 2" descr="preencoded.png">    </p:cNvPr>
          <p:cNvPicPr>
            <a:picLocks noChangeAspect="1"/>
          </p:cNvPicPr>
          <p:nvPr/>
        </p:nvPicPr>
        <p:blipFill>
          <a:blip r:embed="rId3"/>
          <a:stretch>
            <a:fillRect/>
          </a:stretch>
        </p:blipFill>
        <p:spPr>
          <a:xfrm>
            <a:off x="644652" y="4713732"/>
            <a:ext cx="192024" cy="192024"/>
          </a:xfrm>
          <a:prstGeom prst="rect">
            <a:avLst/>
          </a:prstGeom>
        </p:spPr>
      </p:pic>
      <p:sp>
        <p:nvSpPr>
          <p:cNvPr id="35" name="Text 30"/>
          <p:cNvSpPr txBox="1"/>
          <p:nvPr/>
        </p:nvSpPr>
        <p:spPr>
          <a:xfrm>
            <a:off x="1097280" y="4562856"/>
            <a:ext cx="10543032" cy="493776"/>
          </a:xfrm>
          <a:prstGeom prst="rect">
            <a:avLst/>
          </a:prstGeom>
          <a:noFill/>
          <a:ln/>
        </p:spPr>
        <p:txBody>
          <a:bodyPr wrap="square" lIns="0" tIns="0" rIns="0" bIns="0" rtlCol="0" anchor="ctr"/>
          <a:lstStyle/>
          <a:p>
            <a:pPr indent="0" marL="0">
              <a:buNone/>
            </a:pPr>
            <a:r>
              <a:rPr lang="en-US" sz="1300" dirty="0">
                <a:solidFill>
                  <a:srgbClr val="1F2937"/>
                </a:solidFill>
                <a:latin typeface="Calibri" pitchFamily="34" charset="0"/>
                <a:ea typeface="Calibri" pitchFamily="34" charset="-122"/>
                <a:cs typeface="Calibri" pitchFamily="34" charset="-120"/>
              </a:rPr>
              <a:t>No loading forklifts on straight trucks — prevents serious injuries and forklift damage.</a:t>
            </a:r>
            <a:endParaRPr lang="en-US" sz="1300" dirty="0"/>
          </a:p>
        </p:txBody>
      </p:sp>
      <p:sp>
        <p:nvSpPr>
          <p:cNvPr id="36" name="Shape 31"/>
          <p:cNvSpPr/>
          <p:nvPr/>
        </p:nvSpPr>
        <p:spPr>
          <a:xfrm>
            <a:off x="548640" y="5138928"/>
            <a:ext cx="384048" cy="384048"/>
          </a:xfrm>
          <a:prstGeom prst="ellipse">
            <a:avLst/>
          </a:prstGeom>
          <a:solidFill>
            <a:srgbClr val="EDE9FE"/>
          </a:solidFill>
          <a:ln w="12700">
            <a:solidFill>
              <a:srgbClr val="EDE9FE"/>
            </a:solidFill>
            <a:prstDash val="solid"/>
          </a:ln>
        </p:spPr>
      </p:sp>
      <p:pic>
        <p:nvPicPr>
          <p:cNvPr id="37" name="Image 3" descr="preencoded.png">    </p:cNvPr>
          <p:cNvPicPr>
            <a:picLocks noChangeAspect="1"/>
          </p:cNvPicPr>
          <p:nvPr/>
        </p:nvPicPr>
        <p:blipFill>
          <a:blip r:embed="rId4"/>
          <a:stretch>
            <a:fillRect/>
          </a:stretch>
        </p:blipFill>
        <p:spPr>
          <a:xfrm>
            <a:off x="644652" y="5234940"/>
            <a:ext cx="192024" cy="192024"/>
          </a:xfrm>
          <a:prstGeom prst="rect">
            <a:avLst/>
          </a:prstGeom>
        </p:spPr>
      </p:pic>
      <p:sp>
        <p:nvSpPr>
          <p:cNvPr id="38" name="Text 32"/>
          <p:cNvSpPr txBox="1"/>
          <p:nvPr/>
        </p:nvSpPr>
        <p:spPr>
          <a:xfrm>
            <a:off x="1097280" y="5084064"/>
            <a:ext cx="10543032" cy="493776"/>
          </a:xfrm>
          <a:prstGeom prst="rect">
            <a:avLst/>
          </a:prstGeom>
          <a:noFill/>
          <a:ln/>
        </p:spPr>
        <p:txBody>
          <a:bodyPr wrap="square" lIns="0" tIns="0" rIns="0" bIns="0" rtlCol="0" anchor="ctr"/>
          <a:lstStyle/>
          <a:p>
            <a:pPr indent="0" marL="0">
              <a:buNone/>
            </a:pPr>
            <a:r>
              <a:rPr lang="en-US" sz="1300" dirty="0">
                <a:solidFill>
                  <a:srgbClr val="1F2937"/>
                </a:solidFill>
                <a:latin typeface="Calibri" pitchFamily="34" charset="0"/>
                <a:ea typeface="Calibri" pitchFamily="34" charset="-122"/>
                <a:cs typeface="Calibri" pitchFamily="34" charset="-120"/>
              </a:rPr>
              <a:t>Safety equipment and dock conditions inspected and documented on H&amp;S inspection sheets, collected monthly by OHS and fully reviewed at JHSC.</a:t>
            </a:r>
            <a:endParaRPr lang="en-US" sz="1300" dirty="0"/>
          </a:p>
        </p:txBody>
      </p:sp>
      <p:sp>
        <p:nvSpPr>
          <p:cNvPr id="39" name="Shape 33"/>
          <p:cNvSpPr/>
          <p:nvPr/>
        </p:nvSpPr>
        <p:spPr>
          <a:xfrm>
            <a:off x="548640" y="5660136"/>
            <a:ext cx="384048" cy="384048"/>
          </a:xfrm>
          <a:prstGeom prst="ellipse">
            <a:avLst/>
          </a:prstGeom>
          <a:solidFill>
            <a:srgbClr val="EDE9FE"/>
          </a:solidFill>
          <a:ln w="12700">
            <a:solidFill>
              <a:srgbClr val="EDE9FE"/>
            </a:solidFill>
            <a:prstDash val="solid"/>
          </a:ln>
        </p:spPr>
      </p:sp>
      <p:pic>
        <p:nvPicPr>
          <p:cNvPr id="40" name="Image 4" descr="preencoded.png">    </p:cNvPr>
          <p:cNvPicPr>
            <a:picLocks noChangeAspect="1"/>
          </p:cNvPicPr>
          <p:nvPr/>
        </p:nvPicPr>
        <p:blipFill>
          <a:blip r:embed="rId5"/>
          <a:stretch>
            <a:fillRect/>
          </a:stretch>
        </p:blipFill>
        <p:spPr>
          <a:xfrm>
            <a:off x="644652" y="5756148"/>
            <a:ext cx="192024" cy="192024"/>
          </a:xfrm>
          <a:prstGeom prst="rect">
            <a:avLst/>
          </a:prstGeom>
        </p:spPr>
      </p:pic>
      <p:sp>
        <p:nvSpPr>
          <p:cNvPr id="41" name="Text 34"/>
          <p:cNvSpPr txBox="1"/>
          <p:nvPr/>
        </p:nvSpPr>
        <p:spPr>
          <a:xfrm>
            <a:off x="1097280" y="5605272"/>
            <a:ext cx="10543032" cy="493776"/>
          </a:xfrm>
          <a:prstGeom prst="rect">
            <a:avLst/>
          </a:prstGeom>
          <a:noFill/>
          <a:ln/>
        </p:spPr>
        <p:txBody>
          <a:bodyPr wrap="square" lIns="0" tIns="0" rIns="0" bIns="0" rtlCol="0" anchor="ctr"/>
          <a:lstStyle/>
          <a:p>
            <a:pPr indent="0" marL="0">
              <a:buNone/>
            </a:pPr>
            <a:r>
              <a:rPr lang="en-US" sz="1300" dirty="0">
                <a:solidFill>
                  <a:srgbClr val="1F2937"/>
                </a:solidFill>
                <a:latin typeface="Calibri" pitchFamily="34" charset="0"/>
                <a:ea typeface="Calibri" pitchFamily="34" charset="-122"/>
                <a:cs typeface="Calibri" pitchFamily="34" charset="-120"/>
              </a:rPr>
              <a:t>Supervisors and managers address any non-compliance on the spot and report it in their STEP observations.</a:t>
            </a:r>
            <a:endParaRPr lang="en-US" sz="1300" dirty="0"/>
          </a:p>
        </p:txBody>
      </p:sp>
      <p:sp>
        <p:nvSpPr>
          <p:cNvPr id="42" name="Text 35"/>
          <p:cNvSpPr txBox="1"/>
          <p:nvPr/>
        </p:nvSpPr>
        <p:spPr>
          <a:xfrm>
            <a:off x="548640" y="6172200"/>
            <a:ext cx="11091672" cy="228600"/>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Source: Management Control Report — F27 TRIR, Aug-26 (Mississauga). Days since last recordable as of Sep 29, 2026 (last recordable Sep 10, 2025).</a:t>
            </a:r>
            <a:endParaRPr lang="en-US" sz="900" dirty="0"/>
          </a:p>
        </p:txBody>
      </p:sp>
      <p:sp>
        <p:nvSpPr>
          <p:cNvPr id="43" name="Text 36"/>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44" name="Text 37"/>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3 / 27</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SAFETY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2500" b="1" dirty="0">
                <a:solidFill>
                  <a:srgbClr val="111827"/>
                </a:solidFill>
                <a:latin typeface="Calibri" pitchFamily="34" charset="0"/>
                <a:ea typeface="Calibri" pitchFamily="34" charset="-122"/>
                <a:cs typeface="Calibri" pitchFamily="34" charset="-120"/>
              </a:rPr>
              <a:t>Safety initiatives — completed · active · planned · ideas</a:t>
            </a:r>
            <a:endParaRPr lang="en-US" sz="2500" dirty="0"/>
          </a:p>
        </p:txBody>
      </p:sp>
      <p:sp>
        <p:nvSpPr>
          <p:cNvPr id="4" name="Shape 2"/>
          <p:cNvSpPr/>
          <p:nvPr/>
        </p:nvSpPr>
        <p:spPr>
          <a:xfrm>
            <a:off x="548640" y="1371600"/>
            <a:ext cx="5431536" cy="2240280"/>
          </a:xfrm>
          <a:prstGeom prst="roundRect">
            <a:avLst>
              <a:gd name="adj" fmla="val 3265"/>
            </a:avLst>
          </a:prstGeom>
          <a:solidFill>
            <a:srgbClr val="F3F4F6"/>
          </a:solidFill>
          <a:ln w="12700">
            <a:solidFill>
              <a:srgbClr val="F3F4F6"/>
            </a:solidFill>
            <a:prstDash val="solid"/>
          </a:ln>
        </p:spPr>
      </p:sp>
      <p:sp>
        <p:nvSpPr>
          <p:cNvPr id="5" name="Shape 3"/>
          <p:cNvSpPr/>
          <p:nvPr/>
        </p:nvSpPr>
        <p:spPr>
          <a:xfrm>
            <a:off x="731520" y="1536192"/>
            <a:ext cx="1920240" cy="329184"/>
          </a:xfrm>
          <a:prstGeom prst="roundRect">
            <a:avLst>
              <a:gd name="adj" fmla="val 22222"/>
            </a:avLst>
          </a:prstGeom>
          <a:solidFill>
            <a:srgbClr val="D1FAE5"/>
          </a:solidFill>
          <a:ln w="12700">
            <a:solidFill>
              <a:srgbClr val="D1FAE5"/>
            </a:solidFill>
            <a:prstDash val="solid"/>
          </a:ln>
        </p:spPr>
      </p:sp>
      <p:sp>
        <p:nvSpPr>
          <p:cNvPr id="6" name="Text 4"/>
          <p:cNvSpPr txBox="1"/>
          <p:nvPr/>
        </p:nvSpPr>
        <p:spPr>
          <a:xfrm>
            <a:off x="731520" y="1536192"/>
            <a:ext cx="1920240" cy="329184"/>
          </a:xfrm>
          <a:prstGeom prst="rect">
            <a:avLst/>
          </a:prstGeom>
          <a:noFill/>
          <a:ln/>
        </p:spPr>
        <p:txBody>
          <a:bodyPr wrap="square" lIns="0" tIns="0" rIns="0" bIns="0" rtlCol="0" anchor="ctr"/>
          <a:lstStyle/>
          <a:p>
            <a:pPr algn="ctr" indent="0" marL="0">
              <a:buNone/>
            </a:pPr>
            <a:r>
              <a:rPr lang="en-US" sz="1150" b="1" spc="100" kern="0" dirty="0">
                <a:solidFill>
                  <a:srgbClr val="059669"/>
                </a:solidFill>
                <a:latin typeface="Calibri" pitchFamily="34" charset="0"/>
                <a:ea typeface="Calibri" pitchFamily="34" charset="-122"/>
                <a:cs typeface="Calibri" pitchFamily="34" charset="-120"/>
              </a:rPr>
              <a:t>COMPLETED</a:t>
            </a:r>
            <a:endParaRPr lang="en-US" sz="1150" dirty="0"/>
          </a:p>
        </p:txBody>
      </p:sp>
      <p:sp>
        <p:nvSpPr>
          <p:cNvPr id="7" name="Text 5"/>
          <p:cNvSpPr txBox="1"/>
          <p:nvPr/>
        </p:nvSpPr>
        <p:spPr>
          <a:xfrm>
            <a:off x="2788920" y="1536192"/>
            <a:ext cx="3008376" cy="329184"/>
          </a:xfrm>
          <a:prstGeom prst="rect">
            <a:avLst/>
          </a:prstGeom>
          <a:noFill/>
          <a:ln/>
        </p:spPr>
        <p:txBody>
          <a:bodyPr wrap="square" lIns="0" tIns="0" rIns="0" bIns="0" rtlCol="0" anchor="ctr"/>
          <a:lstStyle/>
          <a:p>
            <a:pPr indent="0" marL="0">
              <a:buNone/>
            </a:pPr>
            <a:r>
              <a:rPr lang="en-US" sz="1050" i="1" dirty="0">
                <a:solidFill>
                  <a:srgbClr val="6B7280"/>
                </a:solidFill>
                <a:latin typeface="Calibri" pitchFamily="34" charset="0"/>
                <a:ea typeface="Calibri" pitchFamily="34" charset="-122"/>
                <a:cs typeface="Calibri" pitchFamily="34" charset="-120"/>
              </a:rPr>
              <a:t>3 done</a:t>
            </a:r>
            <a:endParaRPr lang="en-US" sz="1050" dirty="0"/>
          </a:p>
        </p:txBody>
      </p:sp>
      <p:sp>
        <p:nvSpPr>
          <p:cNvPr id="8" name="Text 6"/>
          <p:cNvSpPr txBox="1"/>
          <p:nvPr/>
        </p:nvSpPr>
        <p:spPr>
          <a:xfrm>
            <a:off x="777240" y="1965960"/>
            <a:ext cx="5020056" cy="1554480"/>
          </a:xfrm>
          <a:prstGeom prst="rect">
            <a:avLst/>
          </a:prstGeom>
          <a:noFill/>
          <a:ln/>
        </p:spPr>
        <p:txBody>
          <a:bodyPr wrap="square" lIns="0" tIns="0" rIns="0" bIns="0" rtlCol="0" anchor="t"/>
          <a:lstStyle/>
          <a:p>
            <a:pPr marL="203200" indent="-203200">
              <a:spcAft>
                <a:spcPts val="300"/>
              </a:spcAft>
              <a:buSzPct val="100000"/>
              <a:buChar char="•"/>
            </a:pPr>
            <a:r>
              <a:rPr lang="en-US" sz="1250" dirty="0">
                <a:solidFill>
                  <a:srgbClr val="1F2937"/>
                </a:solidFill>
                <a:latin typeface="Calibri" pitchFamily="34" charset="0"/>
                <a:ea typeface="Calibri" pitchFamily="34" charset="-122"/>
                <a:cs typeface="Calibri" pitchFamily="34" charset="-120"/>
              </a:rPr>
              <a:t>Roofing work zones barricaded — no access under overhead work.</a:t>
            </a:r>
            <a:endParaRPr lang="en-US" sz="1250" dirty="0"/>
          </a:p>
          <a:p>
            <a:pPr marL="203200" indent="-203200">
              <a:spcAft>
                <a:spcPts val="300"/>
              </a:spcAft>
              <a:buSzPct val="100000"/>
              <a:buChar char="•"/>
            </a:pPr>
            <a:r>
              <a:rPr lang="en-US" sz="1250" dirty="0">
                <a:solidFill>
                  <a:srgbClr val="1F2937"/>
                </a:solidFill>
                <a:latin typeface="Calibri" pitchFamily="34" charset="0"/>
                <a:ea typeface="Calibri" pitchFamily="34" charset="-122"/>
                <a:cs typeface="Calibri" pitchFamily="34" charset="-120"/>
              </a:rPr>
              <a:t>N95 masks available on the dock during roofing work.</a:t>
            </a:r>
            <a:endParaRPr lang="en-US" sz="1250" dirty="0"/>
          </a:p>
          <a:p>
            <a:pPr marL="203200" indent="-203200">
              <a:spcAft>
                <a:spcPts val="300"/>
              </a:spcAft>
              <a:buSzPct val="100000"/>
              <a:buChar char="•"/>
            </a:pPr>
            <a:r>
              <a:rPr lang="en-US" sz="1250" dirty="0">
                <a:solidFill>
                  <a:srgbClr val="1F2937"/>
                </a:solidFill>
                <a:latin typeface="Calibri" pitchFamily="34" charset="0"/>
                <a:ea typeface="Calibri" pitchFamily="34" charset="-122"/>
                <a:cs typeface="Calibri" pitchFamily="34" charset="-120"/>
              </a:rPr>
              <a:t>New shunt pre-trip checklist rolled out — used every shift.</a:t>
            </a:r>
            <a:endParaRPr lang="en-US" sz="1250" dirty="0"/>
          </a:p>
        </p:txBody>
      </p:sp>
      <p:sp>
        <p:nvSpPr>
          <p:cNvPr id="9" name="Shape 7"/>
          <p:cNvSpPr/>
          <p:nvPr/>
        </p:nvSpPr>
        <p:spPr>
          <a:xfrm>
            <a:off x="6208776" y="1371600"/>
            <a:ext cx="5431536" cy="2240280"/>
          </a:xfrm>
          <a:prstGeom prst="roundRect">
            <a:avLst>
              <a:gd name="adj" fmla="val 3265"/>
            </a:avLst>
          </a:prstGeom>
          <a:solidFill>
            <a:srgbClr val="F3F4F6"/>
          </a:solidFill>
          <a:ln w="12700">
            <a:solidFill>
              <a:srgbClr val="F3F4F6"/>
            </a:solidFill>
            <a:prstDash val="solid"/>
          </a:ln>
        </p:spPr>
      </p:sp>
      <p:sp>
        <p:nvSpPr>
          <p:cNvPr id="10" name="Shape 8"/>
          <p:cNvSpPr/>
          <p:nvPr/>
        </p:nvSpPr>
        <p:spPr>
          <a:xfrm>
            <a:off x="6391656" y="1536192"/>
            <a:ext cx="1920240" cy="329184"/>
          </a:xfrm>
          <a:prstGeom prst="roundRect">
            <a:avLst>
              <a:gd name="adj" fmla="val 22222"/>
            </a:avLst>
          </a:prstGeom>
          <a:solidFill>
            <a:srgbClr val="DBEAFE"/>
          </a:solidFill>
          <a:ln w="12700">
            <a:solidFill>
              <a:srgbClr val="DBEAFE"/>
            </a:solidFill>
            <a:prstDash val="solid"/>
          </a:ln>
        </p:spPr>
      </p:sp>
      <p:sp>
        <p:nvSpPr>
          <p:cNvPr id="11" name="Text 9"/>
          <p:cNvSpPr txBox="1"/>
          <p:nvPr/>
        </p:nvSpPr>
        <p:spPr>
          <a:xfrm>
            <a:off x="6391656" y="1536192"/>
            <a:ext cx="1920240" cy="329184"/>
          </a:xfrm>
          <a:prstGeom prst="rect">
            <a:avLst/>
          </a:prstGeom>
          <a:noFill/>
          <a:ln/>
        </p:spPr>
        <p:txBody>
          <a:bodyPr wrap="square" lIns="0" tIns="0" rIns="0" bIns="0" rtlCol="0" anchor="ctr"/>
          <a:lstStyle/>
          <a:p>
            <a:pPr algn="ctr" indent="0" marL="0">
              <a:buNone/>
            </a:pPr>
            <a:r>
              <a:rPr lang="en-US" sz="1150" b="1" spc="100" kern="0" dirty="0">
                <a:solidFill>
                  <a:srgbClr val="2563EB"/>
                </a:solidFill>
                <a:latin typeface="Calibri" pitchFamily="34" charset="0"/>
                <a:ea typeface="Calibri" pitchFamily="34" charset="-122"/>
                <a:cs typeface="Calibri" pitchFamily="34" charset="-120"/>
              </a:rPr>
              <a:t>ACTIVE</a:t>
            </a:r>
            <a:endParaRPr lang="en-US" sz="1150" dirty="0"/>
          </a:p>
        </p:txBody>
      </p:sp>
      <p:sp>
        <p:nvSpPr>
          <p:cNvPr id="12" name="Text 10"/>
          <p:cNvSpPr txBox="1"/>
          <p:nvPr/>
        </p:nvSpPr>
        <p:spPr>
          <a:xfrm>
            <a:off x="8449056" y="1536192"/>
            <a:ext cx="3008376" cy="329184"/>
          </a:xfrm>
          <a:prstGeom prst="rect">
            <a:avLst/>
          </a:prstGeom>
          <a:noFill/>
          <a:ln/>
        </p:spPr>
        <p:txBody>
          <a:bodyPr wrap="square" lIns="0" tIns="0" rIns="0" bIns="0" rtlCol="0" anchor="ctr"/>
          <a:lstStyle/>
          <a:p>
            <a:pPr indent="0" marL="0">
              <a:buNone/>
            </a:pPr>
            <a:r>
              <a:rPr lang="en-US" sz="1050" i="1" dirty="0">
                <a:solidFill>
                  <a:srgbClr val="6B7280"/>
                </a:solidFill>
                <a:latin typeface="Calibri" pitchFamily="34" charset="0"/>
                <a:ea typeface="Calibri" pitchFamily="34" charset="-122"/>
                <a:cs typeface="Calibri" pitchFamily="34" charset="-120"/>
              </a:rPr>
              <a:t>7 ongoing</a:t>
            </a:r>
            <a:endParaRPr lang="en-US" sz="1050" dirty="0"/>
          </a:p>
        </p:txBody>
      </p:sp>
      <p:sp>
        <p:nvSpPr>
          <p:cNvPr id="13" name="Text 11"/>
          <p:cNvSpPr txBox="1"/>
          <p:nvPr/>
        </p:nvSpPr>
        <p:spPr>
          <a:xfrm>
            <a:off x="6437376" y="1965960"/>
            <a:ext cx="5020056" cy="1554480"/>
          </a:xfrm>
          <a:prstGeom prst="rect">
            <a:avLst/>
          </a:prstGeom>
          <a:noFill/>
          <a:ln/>
        </p:spPr>
        <p:txBody>
          <a:bodyPr wrap="square" lIns="0" tIns="0" rIns="0" bIns="0" rtlCol="0" anchor="t"/>
          <a:lstStyle/>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Tailgates + safety moments after incidents</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Forklift pre/post inspections — every operator</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No forklifts loaded on straight trucks</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Monthly H&amp;S inspections → OHS / JHSC review</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STEP observations — non-compliance addressed on the spot</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Incident root cause + corrective-action follow-up with OHS</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Monthly e-learning; forklift / TDG renewed before expiry</a:t>
            </a:r>
            <a:endParaRPr lang="en-US" sz="1050" dirty="0"/>
          </a:p>
        </p:txBody>
      </p:sp>
      <p:sp>
        <p:nvSpPr>
          <p:cNvPr id="14" name="Shape 12"/>
          <p:cNvSpPr/>
          <p:nvPr/>
        </p:nvSpPr>
        <p:spPr>
          <a:xfrm>
            <a:off x="548640" y="3749040"/>
            <a:ext cx="5431536" cy="2240280"/>
          </a:xfrm>
          <a:prstGeom prst="roundRect">
            <a:avLst>
              <a:gd name="adj" fmla="val 3265"/>
            </a:avLst>
          </a:prstGeom>
          <a:solidFill>
            <a:srgbClr val="F3F4F6"/>
          </a:solidFill>
          <a:ln w="12700">
            <a:solidFill>
              <a:srgbClr val="F3F4F6"/>
            </a:solidFill>
            <a:prstDash val="solid"/>
          </a:ln>
        </p:spPr>
      </p:sp>
      <p:sp>
        <p:nvSpPr>
          <p:cNvPr id="15" name="Shape 13"/>
          <p:cNvSpPr/>
          <p:nvPr/>
        </p:nvSpPr>
        <p:spPr>
          <a:xfrm>
            <a:off x="731520" y="3913632"/>
            <a:ext cx="1920240" cy="329184"/>
          </a:xfrm>
          <a:prstGeom prst="roundRect">
            <a:avLst>
              <a:gd name="adj" fmla="val 22222"/>
            </a:avLst>
          </a:prstGeom>
          <a:solidFill>
            <a:srgbClr val="FEF3C7"/>
          </a:solidFill>
          <a:ln w="12700">
            <a:solidFill>
              <a:srgbClr val="FEF3C7"/>
            </a:solidFill>
            <a:prstDash val="solid"/>
          </a:ln>
        </p:spPr>
      </p:sp>
      <p:sp>
        <p:nvSpPr>
          <p:cNvPr id="16" name="Text 14"/>
          <p:cNvSpPr txBox="1"/>
          <p:nvPr/>
        </p:nvSpPr>
        <p:spPr>
          <a:xfrm>
            <a:off x="731520" y="3913632"/>
            <a:ext cx="1920240" cy="329184"/>
          </a:xfrm>
          <a:prstGeom prst="rect">
            <a:avLst/>
          </a:prstGeom>
          <a:noFill/>
          <a:ln/>
        </p:spPr>
        <p:txBody>
          <a:bodyPr wrap="square" lIns="0" tIns="0" rIns="0" bIns="0" rtlCol="0" anchor="ctr"/>
          <a:lstStyle/>
          <a:p>
            <a:pPr algn="ctr" indent="0" marL="0">
              <a:buNone/>
            </a:pPr>
            <a:r>
              <a:rPr lang="en-US" sz="1150" b="1" spc="100" kern="0" dirty="0">
                <a:solidFill>
                  <a:srgbClr val="B45309"/>
                </a:solidFill>
                <a:latin typeface="Calibri" pitchFamily="34" charset="0"/>
                <a:ea typeface="Calibri" pitchFamily="34" charset="-122"/>
                <a:cs typeface="Calibri" pitchFamily="34" charset="-120"/>
              </a:rPr>
              <a:t>PLANNED</a:t>
            </a:r>
            <a:endParaRPr lang="en-US" sz="1150" dirty="0"/>
          </a:p>
        </p:txBody>
      </p:sp>
      <p:sp>
        <p:nvSpPr>
          <p:cNvPr id="17" name="Text 15"/>
          <p:cNvSpPr txBox="1"/>
          <p:nvPr/>
        </p:nvSpPr>
        <p:spPr>
          <a:xfrm>
            <a:off x="2788920" y="3913632"/>
            <a:ext cx="3008376" cy="329184"/>
          </a:xfrm>
          <a:prstGeom prst="rect">
            <a:avLst/>
          </a:prstGeom>
          <a:noFill/>
          <a:ln/>
        </p:spPr>
        <p:txBody>
          <a:bodyPr wrap="square" lIns="0" tIns="0" rIns="0" bIns="0" rtlCol="0" anchor="ctr"/>
          <a:lstStyle/>
          <a:p>
            <a:pPr indent="0" marL="0">
              <a:buNone/>
            </a:pPr>
            <a:r>
              <a:rPr lang="en-US" sz="1050" i="1" dirty="0">
                <a:solidFill>
                  <a:srgbClr val="6B7280"/>
                </a:solidFill>
                <a:latin typeface="Calibri" pitchFamily="34" charset="0"/>
                <a:ea typeface="Calibri" pitchFamily="34" charset="-122"/>
                <a:cs typeface="Calibri" pitchFamily="34" charset="-120"/>
              </a:rPr>
              <a:t>4 planned</a:t>
            </a:r>
            <a:endParaRPr lang="en-US" sz="1050" dirty="0"/>
          </a:p>
        </p:txBody>
      </p:sp>
      <p:sp>
        <p:nvSpPr>
          <p:cNvPr id="18" name="Text 16"/>
          <p:cNvSpPr txBox="1"/>
          <p:nvPr/>
        </p:nvSpPr>
        <p:spPr>
          <a:xfrm>
            <a:off x="777240" y="4343400"/>
            <a:ext cx="5020056" cy="1554480"/>
          </a:xfrm>
          <a:prstGeom prst="rect">
            <a:avLst/>
          </a:prstGeom>
          <a:noFill/>
          <a:ln/>
        </p:spPr>
        <p:txBody>
          <a:bodyPr wrap="square" lIns="0" tIns="0" rIns="0" bIns="0" rtlCol="0" anchor="t"/>
          <a:lstStyle/>
          <a:p>
            <a:pPr indent="0" marL="0">
              <a:buNone/>
            </a:pPr>
            <a:r>
              <a:rPr lang="en-US" sz="1000" b="1" dirty="0">
                <a:solidFill>
                  <a:srgbClr val="111827"/>
                </a:solidFill>
                <a:latin typeface="Calibri" pitchFamily="34" charset="0"/>
                <a:ea typeface="Calibri" pitchFamily="34" charset="-122"/>
                <a:cs typeface="Calibri" pitchFamily="34" charset="-120"/>
              </a:rPr>
              <a:t>Driver safety reps: </a:t>
            </a:r>
            <a:pPr indent="0" marL="0">
              <a:buNone/>
            </a:pPr>
            <a:r>
              <a:rPr lang="en-US" sz="1000" dirty="0">
                <a:solidFill>
                  <a:srgbClr val="1F2937"/>
                </a:solidFill>
                <a:latin typeface="Calibri" pitchFamily="34" charset="0"/>
                <a:ea typeface="Calibri" pitchFamily="34" charset="-122"/>
                <a:cs typeface="Calibri" pitchFamily="34" charset="-120"/>
              </a:rPr>
              <a:t>top safety-score drivers join the monthly safety meeting and speak for drivers.</a:t>
            </a:r>
            <a:endParaRPr lang="en-US" sz="1000" dirty="0"/>
          </a:p>
          <a:p>
            <a:pPr indent="0" marL="0">
              <a:buNone/>
            </a:pPr>
            <a:r>
              <a:rPr lang="en-US" sz="1000" b="1" dirty="0">
                <a:solidFill>
                  <a:srgbClr val="111827"/>
                </a:solidFill>
                <a:latin typeface="Calibri" pitchFamily="34" charset="0"/>
                <a:ea typeface="Calibri" pitchFamily="34" charset="-122"/>
                <a:cs typeface="Calibri" pitchFamily="34" charset="-120"/>
              </a:rPr>
              <a:t>Route ride-alongs: </a:t>
            </a:r>
            <a:pPr indent="0" marL="0">
              <a:buNone/>
            </a:pPr>
            <a:r>
              <a:rPr lang="en-US" sz="1000" dirty="0">
                <a:solidFill>
                  <a:srgbClr val="1F2937"/>
                </a:solidFill>
                <a:latin typeface="Calibri" pitchFamily="34" charset="0"/>
                <a:ea typeface="Calibri" pitchFamily="34" charset="-122"/>
                <a:cs typeface="Calibri" pitchFamily="34" charset="-120"/>
              </a:rPr>
              <a:t>managers &amp; supervisors, quarterly quota ramping to every driver yearly.</a:t>
            </a:r>
            <a:endParaRPr lang="en-US" sz="1000" dirty="0"/>
          </a:p>
          <a:p>
            <a:pPr indent="0" marL="0">
              <a:buNone/>
            </a:pPr>
            <a:r>
              <a:rPr lang="en-US" sz="1000" b="1" dirty="0">
                <a:solidFill>
                  <a:srgbClr val="111827"/>
                </a:solidFill>
                <a:latin typeface="Calibri" pitchFamily="34" charset="0"/>
                <a:ea typeface="Calibri" pitchFamily="34" charset="-122"/>
                <a:cs typeface="Calibri" pitchFamily="34" charset="-120"/>
              </a:rPr>
              <a:t>Load securement &amp; decking </a:t>
            </a:r>
            <a:pPr indent="0" marL="0">
              <a:buNone/>
            </a:pPr>
            <a:r>
              <a:rPr lang="en-US" sz="1000" dirty="0">
                <a:solidFill>
                  <a:srgbClr val="1F2937"/>
                </a:solidFill>
                <a:latin typeface="Calibri" pitchFamily="34" charset="0"/>
                <a:ea typeface="Calibri" pitchFamily="34" charset="-122"/>
                <a:cs typeface="Calibri" pitchFamily="34" charset="-120"/>
              </a:rPr>
              <a:t>(ANCRA decks, divider kits).</a:t>
            </a:r>
            <a:endParaRPr lang="en-US" sz="1000" dirty="0"/>
          </a:p>
          <a:p>
            <a:pPr indent="0" marL="0">
              <a:buNone/>
            </a:pPr>
            <a:r>
              <a:rPr lang="en-US" sz="1000" b="1" dirty="0">
                <a:solidFill>
                  <a:srgbClr val="111827"/>
                </a:solidFill>
                <a:latin typeface="Calibri" pitchFamily="34" charset="0"/>
                <a:ea typeface="Calibri" pitchFamily="34" charset="-122"/>
                <a:cs typeface="Calibri" pitchFamily="34" charset="-120"/>
              </a:rPr>
              <a:t>Freight-handling equipment: </a:t>
            </a:r>
            <a:pPr indent="0" marL="0">
              <a:buNone/>
            </a:pPr>
            <a:r>
              <a:rPr lang="en-US" sz="1000" dirty="0">
                <a:solidFill>
                  <a:srgbClr val="1F2937"/>
                </a:solidFill>
                <a:latin typeface="Calibri" pitchFamily="34" charset="0"/>
                <a:ea typeface="Calibri" pitchFamily="34" charset="-122"/>
                <a:cs typeface="Calibri" pitchFamily="34" charset="-120"/>
              </a:rPr>
              <a:t>panel trucks &amp; racks for windows, panels, car parts.</a:t>
            </a:r>
            <a:endParaRPr lang="en-US" sz="1000" dirty="0"/>
          </a:p>
        </p:txBody>
      </p:sp>
      <p:sp>
        <p:nvSpPr>
          <p:cNvPr id="19" name="Shape 17"/>
          <p:cNvSpPr/>
          <p:nvPr/>
        </p:nvSpPr>
        <p:spPr>
          <a:xfrm>
            <a:off x="6208776" y="3749040"/>
            <a:ext cx="5431536" cy="2240280"/>
          </a:xfrm>
          <a:prstGeom prst="roundRect">
            <a:avLst>
              <a:gd name="adj" fmla="val 3265"/>
            </a:avLst>
          </a:prstGeom>
          <a:solidFill>
            <a:srgbClr val="F5F3FF"/>
          </a:solidFill>
          <a:ln w="12700">
            <a:solidFill>
              <a:srgbClr val="F5F3FF"/>
            </a:solidFill>
            <a:prstDash val="solid"/>
          </a:ln>
        </p:spPr>
      </p:sp>
      <p:sp>
        <p:nvSpPr>
          <p:cNvPr id="20" name="Shape 18"/>
          <p:cNvSpPr/>
          <p:nvPr/>
        </p:nvSpPr>
        <p:spPr>
          <a:xfrm>
            <a:off x="6391656" y="3913632"/>
            <a:ext cx="1920240" cy="329184"/>
          </a:xfrm>
          <a:prstGeom prst="roundRect">
            <a:avLst>
              <a:gd name="adj" fmla="val 22222"/>
            </a:avLst>
          </a:prstGeom>
          <a:solidFill>
            <a:srgbClr val="EDE9FE"/>
          </a:solidFill>
          <a:ln w="12700">
            <a:solidFill>
              <a:srgbClr val="EDE9FE"/>
            </a:solidFill>
            <a:prstDash val="solid"/>
          </a:ln>
        </p:spPr>
      </p:sp>
      <p:sp>
        <p:nvSpPr>
          <p:cNvPr id="21" name="Text 19"/>
          <p:cNvSpPr txBox="1"/>
          <p:nvPr/>
        </p:nvSpPr>
        <p:spPr>
          <a:xfrm>
            <a:off x="6391656" y="3913632"/>
            <a:ext cx="1920240" cy="329184"/>
          </a:xfrm>
          <a:prstGeom prst="rect">
            <a:avLst/>
          </a:prstGeom>
          <a:noFill/>
          <a:ln/>
        </p:spPr>
        <p:txBody>
          <a:bodyPr wrap="square" lIns="0" tIns="0" rIns="0" bIns="0" rtlCol="0" anchor="ctr"/>
          <a:lstStyle/>
          <a:p>
            <a:pPr algn="ctr" indent="0" marL="0">
              <a:buNone/>
            </a:pPr>
            <a:r>
              <a:rPr lang="en-US" sz="1150" b="1" spc="100" kern="0" dirty="0">
                <a:solidFill>
                  <a:srgbClr val="7C3AED"/>
                </a:solidFill>
                <a:latin typeface="Calibri" pitchFamily="34" charset="0"/>
                <a:ea typeface="Calibri" pitchFamily="34" charset="-122"/>
                <a:cs typeface="Calibri" pitchFamily="34" charset="-120"/>
              </a:rPr>
              <a:t>IDEAS TO ACTION</a:t>
            </a:r>
            <a:endParaRPr lang="en-US" sz="1150" dirty="0"/>
          </a:p>
        </p:txBody>
      </p:sp>
      <p:sp>
        <p:nvSpPr>
          <p:cNvPr id="22" name="Text 20"/>
          <p:cNvSpPr txBox="1"/>
          <p:nvPr/>
        </p:nvSpPr>
        <p:spPr>
          <a:xfrm>
            <a:off x="6437376" y="4343400"/>
            <a:ext cx="5020056" cy="1554480"/>
          </a:xfrm>
          <a:prstGeom prst="rect">
            <a:avLst/>
          </a:prstGeom>
          <a:noFill/>
          <a:ln/>
        </p:spPr>
        <p:txBody>
          <a:bodyPr wrap="square" lIns="0" tIns="0" rIns="0" bIns="0" rtlCol="0" anchor="t"/>
          <a:lstStyle/>
          <a:p>
            <a:pPr marL="203200" indent="-203200">
              <a:spcAft>
                <a:spcPts val="300"/>
              </a:spcAft>
              <a:buSzPct val="100000"/>
              <a:buChar char="•"/>
            </a:pPr>
            <a:r>
              <a:rPr lang="en-US" sz="1100" dirty="0">
                <a:solidFill>
                  <a:srgbClr val="1F2937"/>
                </a:solidFill>
                <a:latin typeface="Calibri" pitchFamily="34" charset="0"/>
                <a:ea typeface="Calibri" pitchFamily="34" charset="-122"/>
                <a:cs typeface="Calibri" pitchFamily="34" charset="-120"/>
              </a:rPr>
              <a:t>Agency safety onboarding (agency ~61% of dock hours)</a:t>
            </a:r>
            <a:endParaRPr lang="en-US" sz="1100" dirty="0"/>
          </a:p>
          <a:p>
            <a:pPr marL="203200" indent="-203200">
              <a:spcAft>
                <a:spcPts val="300"/>
              </a:spcAft>
              <a:buSzPct val="100000"/>
              <a:buChar char="•"/>
            </a:pPr>
            <a:r>
              <a:rPr lang="en-US" sz="1100" dirty="0">
                <a:solidFill>
                  <a:srgbClr val="1F2937"/>
                </a:solidFill>
                <a:latin typeface="Calibri" pitchFamily="34" charset="0"/>
                <a:ea typeface="Calibri" pitchFamily="34" charset="-122"/>
                <a:cs typeface="Calibri" pitchFamily="34" charset="-120"/>
              </a:rPr>
              <a:t>New-building safety plan before the move</a:t>
            </a:r>
            <a:endParaRPr lang="en-US" sz="1100" dirty="0"/>
          </a:p>
          <a:p>
            <a:pPr marL="203200" indent="-203200">
              <a:spcAft>
                <a:spcPts val="300"/>
              </a:spcAft>
              <a:buSzPct val="100000"/>
              <a:buChar char="•"/>
            </a:pPr>
            <a:r>
              <a:rPr lang="en-US" sz="1100" dirty="0">
                <a:solidFill>
                  <a:srgbClr val="1F2937"/>
                </a:solidFill>
                <a:latin typeface="Calibri" pitchFamily="34" charset="0"/>
                <a:ea typeface="Calibri" pitchFamily="34" charset="-122"/>
                <a:cs typeface="Calibri" pitchFamily="34" charset="-120"/>
              </a:rPr>
              <a:t>Near-miss reporting</a:t>
            </a:r>
            <a:endParaRPr lang="en-US" sz="1100" dirty="0"/>
          </a:p>
          <a:p>
            <a:pPr marL="203200" indent="-203200">
              <a:spcAft>
                <a:spcPts val="300"/>
              </a:spcAft>
              <a:buSzPct val="100000"/>
              <a:buChar char="•"/>
            </a:pPr>
            <a:r>
              <a:rPr lang="en-US" sz="1100" dirty="0">
                <a:solidFill>
                  <a:srgbClr val="1F2937"/>
                </a:solidFill>
                <a:latin typeface="Calibri" pitchFamily="34" charset="0"/>
                <a:ea typeface="Calibri" pitchFamily="34" charset="-122"/>
                <a:cs typeface="Calibri" pitchFamily="34" charset="-120"/>
              </a:rPr>
              <a:t>Pedestrian–forklift separation</a:t>
            </a:r>
            <a:endParaRPr lang="en-US" sz="1100" dirty="0"/>
          </a:p>
          <a:p>
            <a:pPr marL="203200" indent="-203200">
              <a:spcAft>
                <a:spcPts val="300"/>
              </a:spcAft>
              <a:buSzPct val="100000"/>
              <a:buChar char="•"/>
            </a:pPr>
            <a:r>
              <a:rPr lang="en-US" sz="1100" dirty="0">
                <a:solidFill>
                  <a:srgbClr val="1F2937"/>
                </a:solidFill>
                <a:latin typeface="Calibri" pitchFamily="34" charset="0"/>
                <a:ea typeface="Calibri" pitchFamily="34" charset="-122"/>
                <a:cs typeface="Calibri" pitchFamily="34" charset="-120"/>
              </a:rPr>
              <a:t>Trailer securement audit each shift</a:t>
            </a:r>
            <a:endParaRPr lang="en-US" sz="1100" dirty="0"/>
          </a:p>
          <a:p>
            <a:pPr marL="203200" indent="-203200">
              <a:spcAft>
                <a:spcPts val="300"/>
              </a:spcAft>
              <a:buSzPct val="100000"/>
              <a:buChar char="•"/>
            </a:pPr>
            <a:r>
              <a:rPr lang="en-US" sz="1100" dirty="0">
                <a:solidFill>
                  <a:srgbClr val="1F2937"/>
                </a:solidFill>
                <a:latin typeface="Calibri" pitchFamily="34" charset="0"/>
                <a:ea typeface="Calibri" pitchFamily="34" charset="-122"/>
                <a:cs typeface="Calibri" pitchFamily="34" charset="-120"/>
              </a:rPr>
              <a:t>Winter yard readiness</a:t>
            </a:r>
            <a:endParaRPr lang="en-US" sz="1100" dirty="0"/>
          </a:p>
        </p:txBody>
      </p:sp>
      <p:sp>
        <p:nvSpPr>
          <p:cNvPr id="23" name="Text 21"/>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4" name="Text 22"/>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4 / 27</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SERVICE</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Service — On-time service (adjusted)</a:t>
            </a:r>
            <a:endParaRPr lang="en-US" sz="3000" dirty="0"/>
          </a:p>
        </p:txBody>
      </p:sp>
      <p:sp>
        <p:nvSpPr>
          <p:cNvPr id="4" name="Shape 2"/>
          <p:cNvSpPr/>
          <p:nvPr/>
        </p:nvSpPr>
        <p:spPr>
          <a:xfrm>
            <a:off x="548640" y="1325880"/>
            <a:ext cx="2635758" cy="1188720"/>
          </a:xfrm>
          <a:prstGeom prst="roundRect">
            <a:avLst>
              <a:gd name="adj" fmla="val 6154"/>
            </a:avLst>
          </a:prstGeom>
          <a:solidFill>
            <a:srgbClr val="F3F4F6"/>
          </a:solidFill>
          <a:ln w="12700">
            <a:solidFill>
              <a:srgbClr val="F3F4F6"/>
            </a:solidFill>
            <a:prstDash val="solid"/>
          </a:ln>
        </p:spPr>
      </p:sp>
      <p:sp>
        <p:nvSpPr>
          <p:cNvPr id="5" name="Text 3"/>
          <p:cNvSpPr txBox="1"/>
          <p:nvPr/>
        </p:nvSpPr>
        <p:spPr>
          <a:xfrm>
            <a:off x="731520" y="1463040"/>
            <a:ext cx="226999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Sept · incl. partner carriers</a:t>
            </a:r>
            <a:endParaRPr lang="en-US" sz="1100" dirty="0"/>
          </a:p>
        </p:txBody>
      </p:sp>
      <p:sp>
        <p:nvSpPr>
          <p:cNvPr id="6" name="Text 4"/>
          <p:cNvSpPr txBox="1"/>
          <p:nvPr/>
        </p:nvSpPr>
        <p:spPr>
          <a:xfrm>
            <a:off x="731520" y="1737360"/>
            <a:ext cx="2269998" cy="320040"/>
          </a:xfrm>
          <a:prstGeom prst="rect">
            <a:avLst/>
          </a:prstGeom>
          <a:noFill/>
          <a:ln/>
        </p:spPr>
        <p:txBody>
          <a:bodyPr wrap="square" lIns="0" tIns="0" rIns="0" bIns="0" rtlCol="0" anchor="ctr"/>
          <a:lstStyle/>
          <a:p>
            <a:pPr indent="0" marL="0">
              <a:buNone/>
            </a:pPr>
            <a:r>
              <a:rPr lang="en-US" sz="2600" b="1" dirty="0">
                <a:solidFill>
                  <a:srgbClr val="059669"/>
                </a:solidFill>
                <a:latin typeface="Calibri" pitchFamily="34" charset="0"/>
                <a:ea typeface="Calibri" pitchFamily="34" charset="-122"/>
                <a:cs typeface="Calibri" pitchFamily="34" charset="-120"/>
              </a:rPr>
              <a:t>93.7%</a:t>
            </a:r>
            <a:endParaRPr lang="en-US" sz="2600" dirty="0"/>
          </a:p>
        </p:txBody>
      </p:sp>
      <p:sp>
        <p:nvSpPr>
          <p:cNvPr id="7" name="Text 5"/>
          <p:cNvSpPr txBox="1"/>
          <p:nvPr/>
        </p:nvSpPr>
        <p:spPr>
          <a:xfrm>
            <a:off x="731520" y="2084832"/>
            <a:ext cx="2269998"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Sep 1–28 · F27</a:t>
            </a:r>
            <a:endParaRPr lang="en-US" sz="1050" dirty="0"/>
          </a:p>
        </p:txBody>
      </p:sp>
      <p:sp>
        <p:nvSpPr>
          <p:cNvPr id="8" name="Shape 6"/>
          <p:cNvSpPr/>
          <p:nvPr/>
        </p:nvSpPr>
        <p:spPr>
          <a:xfrm>
            <a:off x="3367278" y="1325880"/>
            <a:ext cx="2635758" cy="1188720"/>
          </a:xfrm>
          <a:prstGeom prst="roundRect">
            <a:avLst>
              <a:gd name="adj" fmla="val 6154"/>
            </a:avLst>
          </a:prstGeom>
          <a:solidFill>
            <a:srgbClr val="F3F4F6"/>
          </a:solidFill>
          <a:ln w="12700">
            <a:solidFill>
              <a:srgbClr val="F3F4F6"/>
            </a:solidFill>
            <a:prstDash val="solid"/>
          </a:ln>
        </p:spPr>
      </p:sp>
      <p:sp>
        <p:nvSpPr>
          <p:cNvPr id="9" name="Text 7"/>
          <p:cNvSpPr txBox="1"/>
          <p:nvPr/>
        </p:nvSpPr>
        <p:spPr>
          <a:xfrm>
            <a:off x="3550158" y="1463040"/>
            <a:ext cx="226999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Sept · excl. partner carriers</a:t>
            </a:r>
            <a:endParaRPr lang="en-US" sz="1100" dirty="0"/>
          </a:p>
        </p:txBody>
      </p:sp>
      <p:sp>
        <p:nvSpPr>
          <p:cNvPr id="10" name="Text 8"/>
          <p:cNvSpPr txBox="1"/>
          <p:nvPr/>
        </p:nvSpPr>
        <p:spPr>
          <a:xfrm>
            <a:off x="3550158" y="1737360"/>
            <a:ext cx="2269998" cy="320040"/>
          </a:xfrm>
          <a:prstGeom prst="rect">
            <a:avLst/>
          </a:prstGeom>
          <a:noFill/>
          <a:ln/>
        </p:spPr>
        <p:txBody>
          <a:bodyPr wrap="square" lIns="0" tIns="0" rIns="0" bIns="0" rtlCol="0" anchor="ctr"/>
          <a:lstStyle/>
          <a:p>
            <a:pPr indent="0" marL="0">
              <a:buNone/>
            </a:pPr>
            <a:r>
              <a:rPr lang="en-US" sz="2600" b="1" dirty="0">
                <a:solidFill>
                  <a:srgbClr val="059669"/>
                </a:solidFill>
                <a:latin typeface="Calibri" pitchFamily="34" charset="0"/>
                <a:ea typeface="Calibri" pitchFamily="34" charset="-122"/>
                <a:cs typeface="Calibri" pitchFamily="34" charset="-120"/>
              </a:rPr>
              <a:t>96.7%</a:t>
            </a:r>
            <a:endParaRPr lang="en-US" sz="2600" dirty="0"/>
          </a:p>
        </p:txBody>
      </p:sp>
      <p:sp>
        <p:nvSpPr>
          <p:cNvPr id="11" name="Text 9"/>
          <p:cNvSpPr txBox="1"/>
          <p:nvPr/>
        </p:nvSpPr>
        <p:spPr>
          <a:xfrm>
            <a:off x="3550158" y="2084832"/>
            <a:ext cx="2269998"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Partner freight excluded</a:t>
            </a:r>
            <a:endParaRPr lang="en-US" sz="1050" dirty="0"/>
          </a:p>
        </p:txBody>
      </p:sp>
      <p:sp>
        <p:nvSpPr>
          <p:cNvPr id="12" name="Shape 10"/>
          <p:cNvSpPr/>
          <p:nvPr/>
        </p:nvSpPr>
        <p:spPr>
          <a:xfrm>
            <a:off x="6185916" y="1325880"/>
            <a:ext cx="2635758" cy="1188720"/>
          </a:xfrm>
          <a:prstGeom prst="roundRect">
            <a:avLst>
              <a:gd name="adj" fmla="val 6154"/>
            </a:avLst>
          </a:prstGeom>
          <a:solidFill>
            <a:srgbClr val="F3F4F6"/>
          </a:solidFill>
          <a:ln w="12700">
            <a:solidFill>
              <a:srgbClr val="F3F4F6"/>
            </a:solidFill>
            <a:prstDash val="solid"/>
          </a:ln>
        </p:spPr>
      </p:sp>
      <p:sp>
        <p:nvSpPr>
          <p:cNvPr id="13" name="Text 11"/>
          <p:cNvSpPr txBox="1"/>
          <p:nvPr/>
        </p:nvSpPr>
        <p:spPr>
          <a:xfrm>
            <a:off x="6368796" y="1463040"/>
            <a:ext cx="226999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Last 7 days · Sep 22–28</a:t>
            </a:r>
            <a:endParaRPr lang="en-US" sz="1100" dirty="0"/>
          </a:p>
        </p:txBody>
      </p:sp>
      <p:sp>
        <p:nvSpPr>
          <p:cNvPr id="14" name="Text 12"/>
          <p:cNvSpPr txBox="1"/>
          <p:nvPr/>
        </p:nvSpPr>
        <p:spPr>
          <a:xfrm>
            <a:off x="6368796" y="1737360"/>
            <a:ext cx="2269998" cy="320040"/>
          </a:xfrm>
          <a:prstGeom prst="rect">
            <a:avLst/>
          </a:prstGeom>
          <a:noFill/>
          <a:ln/>
        </p:spPr>
        <p:txBody>
          <a:bodyPr wrap="square" lIns="0" tIns="0" rIns="0" bIns="0" rtlCol="0" anchor="ctr"/>
          <a:lstStyle/>
          <a:p>
            <a:pPr indent="0" marL="0">
              <a:buNone/>
            </a:pPr>
            <a:r>
              <a:rPr lang="en-US" sz="2600" b="1" dirty="0">
                <a:solidFill>
                  <a:srgbClr val="059669"/>
                </a:solidFill>
                <a:latin typeface="Calibri" pitchFamily="34" charset="0"/>
                <a:ea typeface="Calibri" pitchFamily="34" charset="-122"/>
                <a:cs typeface="Calibri" pitchFamily="34" charset="-120"/>
              </a:rPr>
              <a:t>94.35%</a:t>
            </a:r>
            <a:endParaRPr lang="en-US" sz="2600" dirty="0"/>
          </a:p>
        </p:txBody>
      </p:sp>
      <p:sp>
        <p:nvSpPr>
          <p:cNvPr id="15" name="Text 13"/>
          <p:cNvSpPr txBox="1"/>
          <p:nvPr/>
        </p:nvSpPr>
        <p:spPr>
          <a:xfrm>
            <a:off x="6368796" y="2084832"/>
            <a:ext cx="2269998"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Terminal OTS: Wk 39 adj 94.79% · Wk 40 (Sun–Mon) 96.55%</a:t>
            </a:r>
            <a:endParaRPr lang="en-US" sz="1050" dirty="0"/>
          </a:p>
        </p:txBody>
      </p:sp>
      <p:sp>
        <p:nvSpPr>
          <p:cNvPr id="16" name="Shape 14"/>
          <p:cNvSpPr/>
          <p:nvPr/>
        </p:nvSpPr>
        <p:spPr>
          <a:xfrm>
            <a:off x="9004554" y="1325880"/>
            <a:ext cx="2635758" cy="1188720"/>
          </a:xfrm>
          <a:prstGeom prst="roundRect">
            <a:avLst>
              <a:gd name="adj" fmla="val 6154"/>
            </a:avLst>
          </a:prstGeom>
          <a:solidFill>
            <a:srgbClr val="F3F4F6"/>
          </a:solidFill>
          <a:ln w="12700">
            <a:solidFill>
              <a:srgbClr val="F3F4F6"/>
            </a:solidFill>
            <a:prstDash val="solid"/>
          </a:ln>
        </p:spPr>
      </p:sp>
      <p:sp>
        <p:nvSpPr>
          <p:cNvPr id="17" name="Text 15"/>
          <p:cNvSpPr txBox="1"/>
          <p:nvPr/>
        </p:nvSpPr>
        <p:spPr>
          <a:xfrm>
            <a:off x="9187434" y="1463040"/>
            <a:ext cx="226999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Target</a:t>
            </a:r>
            <a:endParaRPr lang="en-US" sz="1100" dirty="0"/>
          </a:p>
        </p:txBody>
      </p:sp>
      <p:sp>
        <p:nvSpPr>
          <p:cNvPr id="18" name="Text 16"/>
          <p:cNvSpPr txBox="1"/>
          <p:nvPr/>
        </p:nvSpPr>
        <p:spPr>
          <a:xfrm>
            <a:off x="9187434" y="1737360"/>
            <a:ext cx="2269998" cy="320040"/>
          </a:xfrm>
          <a:prstGeom prst="rect">
            <a:avLst/>
          </a:prstGeom>
          <a:noFill/>
          <a:ln/>
        </p:spPr>
        <p:txBody>
          <a:bodyPr wrap="square" lIns="0" tIns="0" rIns="0" bIns="0" rtlCol="0" anchor="ctr"/>
          <a:lstStyle/>
          <a:p>
            <a:pPr indent="0" marL="0">
              <a:buNone/>
            </a:pPr>
            <a:r>
              <a:rPr lang="en-US" sz="2600" b="1" dirty="0">
                <a:solidFill>
                  <a:srgbClr val="111827"/>
                </a:solidFill>
                <a:latin typeface="Calibri" pitchFamily="34" charset="0"/>
                <a:ea typeface="Calibri" pitchFamily="34" charset="-122"/>
                <a:cs typeface="Calibri" pitchFamily="34" charset="-120"/>
              </a:rPr>
              <a:t>90%</a:t>
            </a:r>
            <a:endParaRPr lang="en-US" sz="2600" dirty="0"/>
          </a:p>
        </p:txBody>
      </p:sp>
      <p:sp>
        <p:nvSpPr>
          <p:cNvPr id="19" name="Text 17"/>
          <p:cNvSpPr txBox="1"/>
          <p:nvPr/>
        </p:nvSpPr>
        <p:spPr>
          <a:xfrm>
            <a:off x="9187434" y="2084832"/>
            <a:ext cx="2269998"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80–90% amber · &lt;80% red</a:t>
            </a:r>
            <a:endParaRPr lang="en-US" sz="1050" dirty="0"/>
          </a:p>
        </p:txBody>
      </p:sp>
      <p:graphicFrame>
        <p:nvGraphicFramePr>
          <p:cNvPr id="20" name="Chart 0" descr=""/>
          <p:cNvGraphicFramePr/>
          <p:nvPr/>
        </p:nvGraphicFramePr>
        <p:xfrm>
          <a:off x="548640" y="2651760"/>
          <a:ext cx="5943600" cy="2331720"/>
        </p:xfrm>
        <a:graphic xmlns:a="http://schemas.openxmlformats.org/drawingml/2006/main">
          <a:graphicData uri="http://schemas.openxmlformats.org/drawingml/2006/chart">
            <c:chart xmlns:c="http://schemas.openxmlformats.org/drawingml/2006/chart" r:id="rId1"/>
          </a:graphicData>
        </a:graphic>
      </p:graphicFrame>
      <p:sp>
        <p:nvSpPr>
          <p:cNvPr id="21" name="Text 18"/>
          <p:cNvSpPr txBox="1"/>
          <p:nvPr/>
        </p:nvSpPr>
        <p:spPr>
          <a:xfrm>
            <a:off x="548640" y="4983480"/>
            <a:ext cx="5943600" cy="219456"/>
          </a:xfrm>
          <a:prstGeom prst="rect">
            <a:avLst/>
          </a:prstGeom>
          <a:noFill/>
          <a:ln/>
        </p:spPr>
        <p:txBody>
          <a:bodyPr wrap="square" lIns="0" tIns="0" rIns="0" bIns="0" rtlCol="0" anchor="ctr"/>
          <a:lstStyle/>
          <a:p>
            <a:pPr algn="ctr" indent="0" marL="0">
              <a:buNone/>
            </a:pPr>
            <a:r>
              <a:rPr lang="en-US" sz="950" i="1" dirty="0">
                <a:solidFill>
                  <a:srgbClr val="6B7280"/>
                </a:solidFill>
                <a:latin typeface="Calibri" pitchFamily="34" charset="0"/>
                <a:ea typeface="Calibri" pitchFamily="34" charset="-122"/>
                <a:cs typeface="Calibri" pitchFamily="34" charset="-120"/>
              </a:rPr>
              <a:t>Jan–Jun = F26 · Jul–Sep = F27 (fiscal year starts Jul 1)</a:t>
            </a:r>
            <a:endParaRPr lang="en-US" sz="950" dirty="0"/>
          </a:p>
        </p:txBody>
      </p:sp>
      <p:sp>
        <p:nvSpPr>
          <p:cNvPr id="22" name="Shape 19"/>
          <p:cNvSpPr/>
          <p:nvPr/>
        </p:nvSpPr>
        <p:spPr>
          <a:xfrm>
            <a:off x="548640" y="5276088"/>
            <a:ext cx="5943600" cy="731520"/>
          </a:xfrm>
          <a:prstGeom prst="roundRect">
            <a:avLst>
              <a:gd name="adj" fmla="val 10000"/>
            </a:avLst>
          </a:prstGeom>
          <a:solidFill>
            <a:srgbClr val="F5F3FF"/>
          </a:solidFill>
          <a:ln w="12700">
            <a:solidFill>
              <a:srgbClr val="F5F3FF"/>
            </a:solidFill>
            <a:prstDash val="solid"/>
          </a:ln>
        </p:spPr>
      </p:sp>
      <p:sp>
        <p:nvSpPr>
          <p:cNvPr id="23" name="Shape 20"/>
          <p:cNvSpPr/>
          <p:nvPr/>
        </p:nvSpPr>
        <p:spPr>
          <a:xfrm>
            <a:off x="731520" y="5404104"/>
            <a:ext cx="475488" cy="475488"/>
          </a:xfrm>
          <a:prstGeom prst="ellipse">
            <a:avLst/>
          </a:prstGeom>
          <a:solidFill>
            <a:srgbClr val="7C3AED"/>
          </a:solidFill>
          <a:ln w="12700">
            <a:solidFill>
              <a:srgbClr val="7C3AED"/>
            </a:solidFill>
            <a:prstDash val="solid"/>
          </a:ln>
        </p:spPr>
      </p:sp>
      <p:pic>
        <p:nvPicPr>
          <p:cNvPr id="24" name="Image 0" descr="preencoded.png">    </p:cNvPr>
          <p:cNvPicPr>
            <a:picLocks noChangeAspect="1"/>
          </p:cNvPicPr>
          <p:nvPr/>
        </p:nvPicPr>
        <p:blipFill>
          <a:blip r:embed="rId2"/>
          <a:stretch>
            <a:fillRect/>
          </a:stretch>
        </p:blipFill>
        <p:spPr>
          <a:xfrm>
            <a:off x="850392" y="5522976"/>
            <a:ext cx="237744" cy="237744"/>
          </a:xfrm>
          <a:prstGeom prst="rect">
            <a:avLst/>
          </a:prstGeom>
        </p:spPr>
      </p:pic>
      <p:sp>
        <p:nvSpPr>
          <p:cNvPr id="25" name="Text 21"/>
          <p:cNvSpPr txBox="1"/>
          <p:nvPr/>
        </p:nvSpPr>
        <p:spPr>
          <a:xfrm>
            <a:off x="1371600" y="5276088"/>
            <a:ext cx="4983480" cy="731520"/>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F27: every month ≥89%, above target since August; up from 81.5% in April.</a:t>
            </a:r>
            <a:endParaRPr lang="en-US" sz="1300" dirty="0"/>
          </a:p>
        </p:txBody>
      </p:sp>
      <p:sp>
        <p:nvSpPr>
          <p:cNvPr id="26" name="Shape 22"/>
          <p:cNvSpPr/>
          <p:nvPr/>
        </p:nvSpPr>
        <p:spPr>
          <a:xfrm>
            <a:off x="6720840" y="2651760"/>
            <a:ext cx="4919472" cy="1371600"/>
          </a:xfrm>
          <a:prstGeom prst="roundRect">
            <a:avLst>
              <a:gd name="adj" fmla="val 5333"/>
            </a:avLst>
          </a:prstGeom>
          <a:solidFill>
            <a:srgbClr val="F3F4F6"/>
          </a:solidFill>
          <a:ln w="12700">
            <a:solidFill>
              <a:srgbClr val="F3F4F6"/>
            </a:solidFill>
            <a:prstDash val="solid"/>
          </a:ln>
        </p:spPr>
      </p:sp>
      <p:sp>
        <p:nvSpPr>
          <p:cNvPr id="27" name="Text 23"/>
          <p:cNvSpPr txBox="1"/>
          <p:nvPr/>
        </p:nvSpPr>
        <p:spPr>
          <a:xfrm>
            <a:off x="6903720" y="2734056"/>
            <a:ext cx="4572000" cy="274320"/>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Partner-carrier impact</a:t>
            </a:r>
            <a:pPr indent="0" marL="0">
              <a:buNone/>
            </a:pPr>
            <a:r>
              <a:rPr lang="en-US" sz="1050" dirty="0">
                <a:solidFill>
                  <a:srgbClr val="6B7280"/>
                </a:solidFill>
                <a:latin typeface="Calibri" pitchFamily="34" charset="0"/>
                <a:ea typeface="Calibri" pitchFamily="34" charset="-122"/>
                <a:cs typeface="Calibri" pitchFamily="34" charset="-120"/>
              </a:rPr>
              <a:t>  · calculated, Jan–Sep 2026</a:t>
            </a:r>
            <a:endParaRPr lang="en-US" sz="1300" dirty="0"/>
          </a:p>
        </p:txBody>
      </p:sp>
      <p:sp>
        <p:nvSpPr>
          <p:cNvPr id="28" name="Text 24"/>
          <p:cNvSpPr txBox="1"/>
          <p:nvPr/>
        </p:nvSpPr>
        <p:spPr>
          <a:xfrm>
            <a:off x="6903720" y="3008376"/>
            <a:ext cx="4572000" cy="347472"/>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≈13% of volume</a:t>
            </a:r>
            <a:pPr indent="0" marL="0">
              <a:buNone/>
            </a:pPr>
            <a:r>
              <a:rPr lang="en-US" sz="1300" b="1" dirty="0">
                <a:solidFill>
                  <a:srgbClr val="6B7280"/>
                </a:solidFill>
                <a:latin typeface="Calibri" pitchFamily="34" charset="0"/>
                <a:ea typeface="Calibri" pitchFamily="34" charset="-122"/>
                <a:cs typeface="Calibri" pitchFamily="34" charset="-120"/>
              </a:rPr>
              <a:t>  but  </a:t>
            </a:r>
            <a:pPr indent="0" marL="0">
              <a:buNone/>
            </a:pPr>
            <a:r>
              <a:rPr lang="en-US" sz="1500" b="1" dirty="0">
                <a:solidFill>
                  <a:srgbClr val="DC2626"/>
                </a:solidFill>
                <a:latin typeface="Calibri" pitchFamily="34" charset="0"/>
                <a:ea typeface="Calibri" pitchFamily="34" charset="-122"/>
                <a:cs typeface="Calibri" pitchFamily="34" charset="-120"/>
              </a:rPr>
              <a:t>≈45% of late FBs</a:t>
            </a:r>
            <a:endParaRPr lang="en-US" sz="1500" dirty="0"/>
          </a:p>
        </p:txBody>
      </p:sp>
      <p:sp>
        <p:nvSpPr>
          <p:cNvPr id="29" name="Text 25"/>
          <p:cNvSpPr txBox="1"/>
          <p:nvPr/>
        </p:nvSpPr>
        <p:spPr>
          <a:xfrm>
            <a:off x="6903720" y="3364992"/>
            <a:ext cx="4572000" cy="365760"/>
          </a:xfrm>
          <a:prstGeom prst="rect">
            <a:avLst/>
          </a:prstGeom>
          <a:noFill/>
          <a:ln/>
        </p:spPr>
        <p:txBody>
          <a:bodyPr wrap="square" lIns="0" tIns="0" rIns="0" bIns="0" rtlCol="0" anchor="t"/>
          <a:lstStyle/>
          <a:p>
            <a:pPr indent="0" marL="0">
              <a:buNone/>
            </a:pPr>
            <a:r>
              <a:rPr lang="en-US" sz="1050" dirty="0">
                <a:solidFill>
                  <a:srgbClr val="1F2937"/>
                </a:solidFill>
                <a:latin typeface="Calibri" pitchFamily="34" charset="0"/>
                <a:ea typeface="Calibri" pitchFamily="34" charset="-122"/>
                <a:cs typeface="Calibri" pitchFamily="34" charset="-120"/>
              </a:rPr>
              <a:t>≈13.0K partner FBs (101.99K − 88.98K); ≈5.74K late (12.65K − 6.91K) → ≈56% on time.</a:t>
            </a:r>
            <a:endParaRPr lang="en-US" sz="1050" dirty="0"/>
          </a:p>
        </p:txBody>
      </p:sp>
      <p:sp>
        <p:nvSpPr>
          <p:cNvPr id="30" name="Text 26"/>
          <p:cNvSpPr txBox="1"/>
          <p:nvPr/>
        </p:nvSpPr>
        <p:spPr>
          <a:xfrm>
            <a:off x="6903720" y="3730752"/>
            <a:ext cx="4572000" cy="228600"/>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YTD adj. on time: 87.60% incl. vs 92.24% excl. partner carriers.</a:t>
            </a:r>
            <a:endParaRPr lang="en-US" sz="1050" dirty="0"/>
          </a:p>
        </p:txBody>
      </p:sp>
      <p:sp>
        <p:nvSpPr>
          <p:cNvPr id="31" name="Shape 27"/>
          <p:cNvSpPr/>
          <p:nvPr/>
        </p:nvSpPr>
        <p:spPr>
          <a:xfrm>
            <a:off x="6720840" y="4133088"/>
            <a:ext cx="4919472" cy="1874520"/>
          </a:xfrm>
          <a:prstGeom prst="roundRect">
            <a:avLst>
              <a:gd name="adj" fmla="val 3902"/>
            </a:avLst>
          </a:prstGeom>
          <a:solidFill>
            <a:srgbClr val="F3F4F6"/>
          </a:solidFill>
          <a:ln w="12700">
            <a:solidFill>
              <a:srgbClr val="F3F4F6"/>
            </a:solidFill>
            <a:prstDash val="solid"/>
          </a:ln>
        </p:spPr>
      </p:sp>
      <p:sp>
        <p:nvSpPr>
          <p:cNvPr id="32" name="Text 28"/>
          <p:cNvSpPr txBox="1"/>
          <p:nvPr/>
        </p:nvSpPr>
        <p:spPr>
          <a:xfrm>
            <a:off x="6903720" y="4215384"/>
            <a:ext cx="4572000" cy="274320"/>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What we are doing</a:t>
            </a:r>
            <a:endParaRPr lang="en-US" sz="1300" dirty="0"/>
          </a:p>
        </p:txBody>
      </p:sp>
      <p:sp>
        <p:nvSpPr>
          <p:cNvPr id="33" name="Text 29"/>
          <p:cNvSpPr txBox="1"/>
          <p:nvPr/>
        </p:nvSpPr>
        <p:spPr>
          <a:xfrm>
            <a:off x="6903720" y="4498848"/>
            <a:ext cx="4572000" cy="1463040"/>
          </a:xfrm>
          <a:prstGeom prst="rect">
            <a:avLst/>
          </a:prstGeom>
          <a:noFill/>
          <a:ln/>
        </p:spPr>
        <p:txBody>
          <a:bodyPr wrap="square" lIns="0" tIns="0" rIns="0" bIns="0" rtlCol="0" anchor="t"/>
          <a:lstStyle/>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Drivers own the freight bill — ownership of the FB from inbound to delivery.</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Scanning compliance checked every shift (see Scanning slide).</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TF (terminal) and P&amp;D working collectively on hand-offs.</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End-of-shift reporting on afternoons — every late coded before shift end.</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Interline (IN) and transborder (TB) lates reviewed with the interline team — outside terminal control.</a:t>
            </a:r>
            <a:endParaRPr lang="en-US" sz="1050" dirty="0"/>
          </a:p>
        </p:txBody>
      </p:sp>
      <p:sp>
        <p:nvSpPr>
          <p:cNvPr id="34" name="Text 30"/>
          <p:cNvSpPr txBox="1"/>
          <p:nvPr/>
        </p:nvSpPr>
        <p:spPr>
          <a:xfrm>
            <a:off x="548640" y="6108192"/>
            <a:ext cx="11091672" cy="256032"/>
          </a:xfrm>
          <a:prstGeom prst="rect">
            <a:avLst/>
          </a:prstGeom>
          <a:noFill/>
          <a:ln/>
        </p:spPr>
        <p:txBody>
          <a:bodyPr wrap="square" lIns="0" tIns="0" rIns="0" bIns="0" rtlCol="0" anchor="ctr"/>
          <a:lstStyle/>
          <a:p>
            <a:pPr indent="0" marL="0">
              <a:buNone/>
            </a:pPr>
            <a:r>
              <a:rPr lang="en-US" sz="950" b="1" i="1" dirty="0">
                <a:solidFill>
                  <a:srgbClr val="1F2937"/>
                </a:solidFill>
                <a:latin typeface="Calibri" pitchFamily="34" charset="0"/>
                <a:ea typeface="Calibri" pitchFamily="34" charset="-122"/>
                <a:cs typeface="Calibri" pitchFamily="34" charset="-120"/>
              </a:rPr>
              <a:t>Service fails, week 39 (AS excluded — not a service fail): TF 22 · uncoded 14 · IN 9 · other 9 · DL 8 · OT 3 · LH 1 = 66. </a:t>
            </a:r>
            <a:pPr indent="0" marL="0">
              <a:buNone/>
            </a:pPr>
            <a:r>
              <a:rPr lang="en-US" sz="950" i="1" dirty="0">
                <a:solidFill>
                  <a:srgbClr val="6B7280"/>
                </a:solidFill>
                <a:latin typeface="Calibri" pitchFamily="34" charset="0"/>
                <a:ea typeface="Calibri" pitchFamily="34" charset="-122"/>
                <a:cs typeface="Calibri" pitchFamily="34" charset="-120"/>
              </a:rPr>
              <a:t>Source: Adj On Time dashboard and Terminal OTS report — Mississauga, through Sep 28. Partner carriers = "beyond interliner" freight.</a:t>
            </a:r>
            <a:endParaRPr lang="en-US" sz="950" dirty="0"/>
          </a:p>
        </p:txBody>
      </p:sp>
      <p:sp>
        <p:nvSpPr>
          <p:cNvPr id="35" name="Text 31"/>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6" name="Text 32"/>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5 / 27</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SERVICE</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Service — Missed pickups</a:t>
            </a:r>
            <a:endParaRPr lang="en-US" sz="3000" dirty="0"/>
          </a:p>
        </p:txBody>
      </p:sp>
      <p:sp>
        <p:nvSpPr>
          <p:cNvPr id="4" name="Text 2"/>
          <p:cNvSpPr txBox="1"/>
          <p:nvPr/>
        </p:nvSpPr>
        <p:spPr>
          <a:xfrm>
            <a:off x="548640" y="1243584"/>
            <a:ext cx="10972800" cy="274320"/>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Missed PU dashboard · Mississauga · all dates in report through Sep 26, 2026</a:t>
            </a:r>
            <a:endParaRPr lang="en-US" sz="1300" dirty="0"/>
          </a:p>
        </p:txBody>
      </p:sp>
      <p:sp>
        <p:nvSpPr>
          <p:cNvPr id="5" name="Shape 3"/>
          <p:cNvSpPr/>
          <p:nvPr/>
        </p:nvSpPr>
        <p:spPr>
          <a:xfrm>
            <a:off x="548640" y="1645920"/>
            <a:ext cx="1645920" cy="960120"/>
          </a:xfrm>
          <a:prstGeom prst="roundRect">
            <a:avLst>
              <a:gd name="adj" fmla="val 7619"/>
            </a:avLst>
          </a:prstGeom>
          <a:solidFill>
            <a:srgbClr val="F3F4F6"/>
          </a:solidFill>
          <a:ln w="12700">
            <a:solidFill>
              <a:srgbClr val="F3F4F6"/>
            </a:solidFill>
            <a:prstDash val="solid"/>
          </a:ln>
        </p:spPr>
      </p:sp>
      <p:sp>
        <p:nvSpPr>
          <p:cNvPr id="6" name="Text 4"/>
          <p:cNvSpPr txBox="1"/>
          <p:nvPr/>
        </p:nvSpPr>
        <p:spPr>
          <a:xfrm>
            <a:off x="704088" y="1737360"/>
            <a:ext cx="1371600" cy="256032"/>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Missed PU %</a:t>
            </a:r>
            <a:endParaRPr lang="en-US" sz="1100" dirty="0"/>
          </a:p>
        </p:txBody>
      </p:sp>
      <p:sp>
        <p:nvSpPr>
          <p:cNvPr id="7" name="Text 5"/>
          <p:cNvSpPr txBox="1"/>
          <p:nvPr/>
        </p:nvSpPr>
        <p:spPr>
          <a:xfrm>
            <a:off x="704088" y="1993392"/>
            <a:ext cx="1371600" cy="50292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4.70%</a:t>
            </a:r>
            <a:endParaRPr lang="en-US" sz="2400" dirty="0"/>
          </a:p>
        </p:txBody>
      </p:sp>
      <p:sp>
        <p:nvSpPr>
          <p:cNvPr id="8" name="Shape 6"/>
          <p:cNvSpPr/>
          <p:nvPr/>
        </p:nvSpPr>
        <p:spPr>
          <a:xfrm>
            <a:off x="2377440" y="1645920"/>
            <a:ext cx="1645920" cy="960120"/>
          </a:xfrm>
          <a:prstGeom prst="roundRect">
            <a:avLst>
              <a:gd name="adj" fmla="val 7619"/>
            </a:avLst>
          </a:prstGeom>
          <a:solidFill>
            <a:srgbClr val="F3F4F6"/>
          </a:solidFill>
          <a:ln w="12700">
            <a:solidFill>
              <a:srgbClr val="F3F4F6"/>
            </a:solidFill>
            <a:prstDash val="solid"/>
          </a:ln>
        </p:spPr>
      </p:sp>
      <p:sp>
        <p:nvSpPr>
          <p:cNvPr id="9" name="Text 7"/>
          <p:cNvSpPr txBox="1"/>
          <p:nvPr/>
        </p:nvSpPr>
        <p:spPr>
          <a:xfrm>
            <a:off x="2532888" y="1737360"/>
            <a:ext cx="1371600" cy="256032"/>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Missed PUs</a:t>
            </a:r>
            <a:endParaRPr lang="en-US" sz="1100" dirty="0"/>
          </a:p>
        </p:txBody>
      </p:sp>
      <p:sp>
        <p:nvSpPr>
          <p:cNvPr id="10" name="Text 8"/>
          <p:cNvSpPr txBox="1"/>
          <p:nvPr/>
        </p:nvSpPr>
        <p:spPr>
          <a:xfrm>
            <a:off x="2532888" y="1993392"/>
            <a:ext cx="1371600" cy="50292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3,415</a:t>
            </a:r>
            <a:endParaRPr lang="en-US" sz="2400" dirty="0"/>
          </a:p>
        </p:txBody>
      </p:sp>
      <p:sp>
        <p:nvSpPr>
          <p:cNvPr id="11" name="Shape 9"/>
          <p:cNvSpPr/>
          <p:nvPr/>
        </p:nvSpPr>
        <p:spPr>
          <a:xfrm>
            <a:off x="4206240" y="1645920"/>
            <a:ext cx="1645920" cy="960120"/>
          </a:xfrm>
          <a:prstGeom prst="roundRect">
            <a:avLst>
              <a:gd name="adj" fmla="val 7619"/>
            </a:avLst>
          </a:prstGeom>
          <a:solidFill>
            <a:srgbClr val="F3F4F6"/>
          </a:solidFill>
          <a:ln w="12700">
            <a:solidFill>
              <a:srgbClr val="F3F4F6"/>
            </a:solidFill>
            <a:prstDash val="solid"/>
          </a:ln>
        </p:spPr>
      </p:sp>
      <p:sp>
        <p:nvSpPr>
          <p:cNvPr id="12" name="Text 10"/>
          <p:cNvSpPr txBox="1"/>
          <p:nvPr/>
        </p:nvSpPr>
        <p:spPr>
          <a:xfrm>
            <a:off x="4361688" y="1737360"/>
            <a:ext cx="1371600" cy="256032"/>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Successful PUs</a:t>
            </a:r>
            <a:endParaRPr lang="en-US" sz="1100" dirty="0"/>
          </a:p>
        </p:txBody>
      </p:sp>
      <p:sp>
        <p:nvSpPr>
          <p:cNvPr id="13" name="Text 11"/>
          <p:cNvSpPr txBox="1"/>
          <p:nvPr/>
        </p:nvSpPr>
        <p:spPr>
          <a:xfrm>
            <a:off x="4361688" y="1993392"/>
            <a:ext cx="1371600" cy="50292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69K</a:t>
            </a:r>
            <a:endParaRPr lang="en-US" sz="2400" dirty="0"/>
          </a:p>
        </p:txBody>
      </p:sp>
      <p:sp>
        <p:nvSpPr>
          <p:cNvPr id="14" name="Shape 12"/>
          <p:cNvSpPr/>
          <p:nvPr/>
        </p:nvSpPr>
        <p:spPr>
          <a:xfrm>
            <a:off x="6035040" y="1645920"/>
            <a:ext cx="1645920" cy="960120"/>
          </a:xfrm>
          <a:prstGeom prst="roundRect">
            <a:avLst>
              <a:gd name="adj" fmla="val 7619"/>
            </a:avLst>
          </a:prstGeom>
          <a:solidFill>
            <a:srgbClr val="F3F4F6"/>
          </a:solidFill>
          <a:ln w="12700">
            <a:solidFill>
              <a:srgbClr val="F3F4F6"/>
            </a:solidFill>
            <a:prstDash val="solid"/>
          </a:ln>
        </p:spPr>
      </p:sp>
      <p:sp>
        <p:nvSpPr>
          <p:cNvPr id="15" name="Text 13"/>
          <p:cNvSpPr txBox="1"/>
          <p:nvPr/>
        </p:nvSpPr>
        <p:spPr>
          <a:xfrm>
            <a:off x="6190488" y="1737360"/>
            <a:ext cx="1371600" cy="256032"/>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Total measured</a:t>
            </a:r>
            <a:endParaRPr lang="en-US" sz="1100" dirty="0"/>
          </a:p>
        </p:txBody>
      </p:sp>
      <p:sp>
        <p:nvSpPr>
          <p:cNvPr id="16" name="Text 14"/>
          <p:cNvSpPr txBox="1"/>
          <p:nvPr/>
        </p:nvSpPr>
        <p:spPr>
          <a:xfrm>
            <a:off x="6190488" y="1993392"/>
            <a:ext cx="1371600" cy="50292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73K</a:t>
            </a:r>
            <a:endParaRPr lang="en-US" sz="2400" dirty="0"/>
          </a:p>
        </p:txBody>
      </p:sp>
      <p:graphicFrame>
        <p:nvGraphicFramePr>
          <p:cNvPr id="17" name="Chart 0" descr=""/>
          <p:cNvGraphicFramePr/>
          <p:nvPr/>
        </p:nvGraphicFramePr>
        <p:xfrm>
          <a:off x="548640" y="2788920"/>
          <a:ext cx="3017520" cy="3200400"/>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3703320" y="2788920"/>
          <a:ext cx="3977640" cy="3200400"/>
        </p:xfrm>
        <a:graphic xmlns:a="http://schemas.openxmlformats.org/drawingml/2006/main">
          <a:graphicData uri="http://schemas.openxmlformats.org/drawingml/2006/chart">
            <c:chart xmlns:c="http://schemas.openxmlformats.org/drawingml/2006/chart" r:id="rId2"/>
          </a:graphicData>
        </a:graphic>
      </p:graphicFrame>
      <p:sp>
        <p:nvSpPr>
          <p:cNvPr id="19" name="Shape 15"/>
          <p:cNvSpPr/>
          <p:nvPr/>
        </p:nvSpPr>
        <p:spPr>
          <a:xfrm>
            <a:off x="7955280" y="1645920"/>
            <a:ext cx="3685032" cy="1481328"/>
          </a:xfrm>
          <a:prstGeom prst="roundRect">
            <a:avLst>
              <a:gd name="adj" fmla="val 4938"/>
            </a:avLst>
          </a:prstGeom>
          <a:solidFill>
            <a:srgbClr val="F5F3FF"/>
          </a:solidFill>
          <a:ln w="12700">
            <a:solidFill>
              <a:srgbClr val="F5F3FF"/>
            </a:solidFill>
            <a:prstDash val="solid"/>
          </a:ln>
        </p:spPr>
      </p:sp>
      <p:sp>
        <p:nvSpPr>
          <p:cNvPr id="20" name="Text 16"/>
          <p:cNvSpPr txBox="1"/>
          <p:nvPr/>
        </p:nvSpPr>
        <p:spPr>
          <a:xfrm>
            <a:off x="8156448" y="1755648"/>
            <a:ext cx="3291840" cy="274320"/>
          </a:xfrm>
          <a:prstGeom prst="rect">
            <a:avLst/>
          </a:prstGeom>
          <a:noFill/>
          <a:ln/>
        </p:spPr>
        <p:txBody>
          <a:bodyPr wrap="square" lIns="0" tIns="0" rIns="0" bIns="0" rtlCol="0" anchor="ctr"/>
          <a:lstStyle/>
          <a:p>
            <a:pPr indent="0" marL="0">
              <a:buNone/>
            </a:pPr>
            <a:r>
              <a:rPr lang="en-US" sz="1300" b="1" dirty="0">
                <a:solidFill>
                  <a:srgbClr val="7C3AED"/>
                </a:solidFill>
                <a:latin typeface="Calibri" pitchFamily="34" charset="0"/>
                <a:ea typeface="Calibri" pitchFamily="34" charset="-122"/>
                <a:cs typeface="Calibri" pitchFamily="34" charset="-120"/>
              </a:rPr>
              <a:t>Key message</a:t>
            </a:r>
            <a:endParaRPr lang="en-US" sz="1300" dirty="0"/>
          </a:p>
        </p:txBody>
      </p:sp>
      <p:sp>
        <p:nvSpPr>
          <p:cNvPr id="21" name="Text 17"/>
          <p:cNvSpPr txBox="1"/>
          <p:nvPr/>
        </p:nvSpPr>
        <p:spPr>
          <a:xfrm>
            <a:off x="8156448" y="2011680"/>
            <a:ext cx="3337560" cy="1078992"/>
          </a:xfrm>
          <a:prstGeom prst="rect">
            <a:avLst/>
          </a:prstGeom>
          <a:noFill/>
          <a:ln/>
        </p:spPr>
        <p:txBody>
          <a:bodyPr wrap="square" lIns="0" tIns="0" rIns="0" bIns="0" rtlCol="0" anchor="t"/>
          <a:lstStyle/>
          <a:p>
            <a:pPr indent="0" marL="0">
              <a:spcAft>
                <a:spcPts val="600"/>
              </a:spcAft>
              <a:buNone/>
            </a:pPr>
            <a:r>
              <a:rPr lang="en-US" sz="1000" dirty="0">
                <a:solidFill>
                  <a:srgbClr val="1F2937"/>
                </a:solidFill>
                <a:latin typeface="Calibri" pitchFamily="34" charset="0"/>
                <a:ea typeface="Calibri" pitchFamily="34" charset="-122"/>
                <a:cs typeface="Calibri" pitchFamily="34" charset="-120"/>
              </a:rPr>
              <a:t>Only ~15% of missed PUs are true OPS issues; 45% are OPS false positives (40.7% coded 'already serviced') → close-out/scan discipline fix.</a:t>
            </a:r>
            <a:endParaRPr lang="en-US" sz="1000" dirty="0"/>
          </a:p>
          <a:p>
            <a:pPr indent="0" marL="0">
              <a:buNone/>
            </a:pPr>
            <a:r>
              <a:rPr lang="en-US" sz="1000" b="1" dirty="0">
                <a:solidFill>
                  <a:srgbClr val="059669"/>
                </a:solidFill>
                <a:latin typeface="Calibri" pitchFamily="34" charset="0"/>
                <a:ea typeface="Calibri" pitchFamily="34" charset="-122"/>
                <a:cs typeface="Calibri" pitchFamily="34" charset="-120"/>
              </a:rPr>
              <a:t>Excluding false positives, missed PU % would be ≈2.6%.</a:t>
            </a:r>
            <a:endParaRPr lang="en-US" sz="1000" dirty="0"/>
          </a:p>
          <a:p>
            <a:pPr indent="0" marL="0">
              <a:buNone/>
            </a:pPr>
            <a:r>
              <a:rPr lang="en-US" sz="900" i="1" dirty="0">
                <a:solidFill>
                  <a:srgbClr val="6B7280"/>
                </a:solidFill>
                <a:latin typeface="Calibri" pitchFamily="34" charset="0"/>
                <a:ea typeface="Calibri" pitchFamily="34" charset="-122"/>
                <a:cs typeface="Calibri" pitchFamily="34" charset="-120"/>
              </a:rPr>
              <a:t>Calculated: (3,415 − 1,530) ÷ 73K</a:t>
            </a:r>
            <a:endParaRPr lang="en-US" sz="10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7955280" y="4160520"/>
          <a:ext cx="3685032" cy="914400"/>
        </p:xfrm>
        <a:graphic>
          <a:graphicData uri="http://schemas.openxmlformats.org/drawingml/2006/table">
            <a:tbl>
              <a:tblPr/>
              <a:tblGrid>
                <a:gridCol w="2130552"/>
                <a:gridCol w="731520"/>
                <a:gridCol w="822960"/>
              </a:tblGrid>
              <a:tr h="182880">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By category</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endParaRPr lang="en-US" sz="12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endParaRPr lang="en-US" sz="12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18288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OPS – false positive</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1.53K</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44.7%</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18288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Customer issue</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1.19K</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34.7%</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18288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OPS issue</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0.51K</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14.9%</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18288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Cancelled / CCC / made</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≈5.6%</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182880">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Top reasons</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endParaRPr lang="en-US" sz="12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endParaRPr lang="en-US" sz="12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18288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Already serviced</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1.39K</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40.7%</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18288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Not ready</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0.62K</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18.2%</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18288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Cust issue – log…</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0.29K</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8.5%</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18288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Appointment</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0.17K</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4.8%</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bl>
          </a:graphicData>
        </a:graphic>
      </p:graphicFrame>
      <p:sp>
        <p:nvSpPr>
          <p:cNvPr id="23" name="Shape 18"/>
          <p:cNvSpPr/>
          <p:nvPr/>
        </p:nvSpPr>
        <p:spPr>
          <a:xfrm>
            <a:off x="7955280" y="3218688"/>
            <a:ext cx="3685032" cy="841248"/>
          </a:xfrm>
          <a:prstGeom prst="roundRect">
            <a:avLst>
              <a:gd name="adj" fmla="val 8696"/>
            </a:avLst>
          </a:prstGeom>
          <a:solidFill>
            <a:srgbClr val="FEF2F2"/>
          </a:solidFill>
          <a:ln w="12700">
            <a:solidFill>
              <a:srgbClr val="FEF2F2"/>
            </a:solidFill>
            <a:prstDash val="solid"/>
          </a:ln>
        </p:spPr>
      </p:sp>
      <p:sp>
        <p:nvSpPr>
          <p:cNvPr id="24" name="Text 19"/>
          <p:cNvSpPr txBox="1"/>
          <p:nvPr/>
        </p:nvSpPr>
        <p:spPr>
          <a:xfrm>
            <a:off x="8119872" y="3255264"/>
            <a:ext cx="3383280" cy="219456"/>
          </a:xfrm>
          <a:prstGeom prst="rect">
            <a:avLst/>
          </a:prstGeom>
          <a:noFill/>
          <a:ln/>
        </p:spPr>
        <p:txBody>
          <a:bodyPr wrap="square" lIns="0" tIns="0" rIns="0" bIns="0" rtlCol="0" anchor="ctr"/>
          <a:lstStyle/>
          <a:p>
            <a:pPr indent="0" marL="0">
              <a:buNone/>
            </a:pPr>
            <a:r>
              <a:rPr lang="en-US" sz="1050" b="1" dirty="0">
                <a:solidFill>
                  <a:srgbClr val="1F2937"/>
                </a:solidFill>
                <a:latin typeface="Calibri" pitchFamily="34" charset="0"/>
                <a:ea typeface="Calibri" pitchFamily="34" charset="-122"/>
                <a:cs typeface="Calibri" pitchFamily="34" charset="-120"/>
              </a:rPr>
              <a:t>Damaged FB % · 7-day avg to Sep 28</a:t>
            </a:r>
            <a:endParaRPr lang="en-US" sz="1050" dirty="0"/>
          </a:p>
        </p:txBody>
      </p:sp>
      <p:sp>
        <p:nvSpPr>
          <p:cNvPr id="25" name="Text 20"/>
          <p:cNvSpPr txBox="1"/>
          <p:nvPr/>
        </p:nvSpPr>
        <p:spPr>
          <a:xfrm>
            <a:off x="8119872" y="3474720"/>
            <a:ext cx="3383280" cy="310896"/>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1.61%</a:t>
            </a:r>
            <a:pPr indent="0" marL="0">
              <a:buNone/>
            </a:pPr>
            <a:r>
              <a:rPr lang="en-US" sz="1050" dirty="0">
                <a:solidFill>
                  <a:srgbClr val="6B7280"/>
                </a:solidFill>
                <a:latin typeface="Calibri" pitchFamily="34" charset="0"/>
                <a:ea typeface="Calibri" pitchFamily="34" charset="-122"/>
                <a:cs typeface="Calibri" pitchFamily="34" charset="-120"/>
              </a:rPr>
              <a:t>   week 39: 2.10%</a:t>
            </a:r>
            <a:endParaRPr lang="en-US" sz="1800" dirty="0"/>
          </a:p>
        </p:txBody>
      </p:sp>
      <p:sp>
        <p:nvSpPr>
          <p:cNvPr id="26" name="Text 21"/>
          <p:cNvSpPr txBox="1"/>
          <p:nvPr/>
        </p:nvSpPr>
        <p:spPr>
          <a:xfrm>
            <a:off x="8119872" y="3785616"/>
            <a:ext cx="3383280" cy="219456"/>
          </a:xfrm>
          <a:prstGeom prst="rect">
            <a:avLst/>
          </a:prstGeom>
          <a:noFill/>
          <a:ln/>
        </p:spPr>
        <p:txBody>
          <a:bodyPr wrap="square" lIns="0" tIns="0" rIns="0" bIns="0" rtlCol="0" anchor="ctr"/>
          <a:lstStyle/>
          <a:p>
            <a:pPr indent="0" marL="0">
              <a:buNone/>
            </a:pPr>
            <a:r>
              <a:rPr lang="en-US" sz="950" b="1" dirty="0">
                <a:solidFill>
                  <a:srgbClr val="059669"/>
                </a:solidFill>
                <a:latin typeface="Calibri" pitchFamily="34" charset="0"/>
                <a:ea typeface="Calibri" pitchFamily="34" charset="-122"/>
                <a:cs typeface="Calibri" pitchFamily="34" charset="-120"/>
              </a:rPr>
              <a:t>7-day avg 1.61%; latest day 0.31% (Sep 28)</a:t>
            </a:r>
            <a:endParaRPr lang="en-US" sz="950" dirty="0"/>
          </a:p>
        </p:txBody>
      </p:sp>
      <p:sp>
        <p:nvSpPr>
          <p:cNvPr id="27" name="Text 22"/>
          <p:cNvSpPr txBox="1"/>
          <p:nvPr/>
        </p:nvSpPr>
        <p:spPr>
          <a:xfrm>
            <a:off x="548640" y="6126480"/>
            <a:ext cx="11091672" cy="256032"/>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Source: Missed PU dashboard (through Sep 26) &amp; % Damaged FB dashboard (to Sep 28) — Mississauga. Sep 7 spike (85.7%) = Labour Day. *wk 39 partial.</a:t>
            </a:r>
            <a:endParaRPr lang="en-US" sz="950" dirty="0"/>
          </a:p>
        </p:txBody>
      </p:sp>
      <p:sp>
        <p:nvSpPr>
          <p:cNvPr id="28" name="Text 23"/>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9" name="Text 24"/>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6 / 27</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SERVICE</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Service — Scanning compliance</a:t>
            </a:r>
            <a:endParaRPr lang="en-US" sz="3000" dirty="0"/>
          </a:p>
        </p:txBody>
      </p:sp>
      <p:sp>
        <p:nvSpPr>
          <p:cNvPr id="4" name="Text 2"/>
          <p:cNvSpPr txBox="1"/>
          <p:nvPr/>
        </p:nvSpPr>
        <p:spPr>
          <a:xfrm>
            <a:off x="548640" y="1243584"/>
            <a:ext cx="10972800" cy="274320"/>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Scanning efficiency in/out of terminals · Sep 1–28, 2026 (28 days) · all trip types</a:t>
            </a:r>
            <a:endParaRPr lang="en-US" sz="1300" dirty="0"/>
          </a:p>
        </p:txBody>
      </p:sp>
      <p:sp>
        <p:nvSpPr>
          <p:cNvPr id="5" name="Shape 3"/>
          <p:cNvSpPr/>
          <p:nvPr/>
        </p:nvSpPr>
        <p:spPr>
          <a:xfrm>
            <a:off x="548640" y="1691640"/>
            <a:ext cx="3514344" cy="3154680"/>
          </a:xfrm>
          <a:prstGeom prst="roundRect">
            <a:avLst>
              <a:gd name="adj" fmla="val 2319"/>
            </a:avLst>
          </a:prstGeom>
          <a:solidFill>
            <a:srgbClr val="F3F4F6"/>
          </a:solidFill>
          <a:ln w="12700">
            <a:solidFill>
              <a:srgbClr val="F3F4F6"/>
            </a:solidFill>
            <a:prstDash val="solid"/>
          </a:ln>
        </p:spPr>
      </p:sp>
      <p:sp>
        <p:nvSpPr>
          <p:cNvPr id="6" name="Shape 4"/>
          <p:cNvSpPr/>
          <p:nvPr/>
        </p:nvSpPr>
        <p:spPr>
          <a:xfrm>
            <a:off x="777240" y="1920240"/>
            <a:ext cx="502920" cy="502920"/>
          </a:xfrm>
          <a:prstGeom prst="ellipse">
            <a:avLst/>
          </a:prstGeom>
          <a:solidFill>
            <a:srgbClr val="EDE9FE"/>
          </a:solidFill>
          <a:ln w="12700">
            <a:solidFill>
              <a:srgbClr val="EDE9FE"/>
            </a:solidFill>
            <a:prstDash val="solid"/>
          </a:ln>
        </p:spPr>
      </p:sp>
      <p:pic>
        <p:nvPicPr>
          <p:cNvPr id="7" name="Image 0" descr="preencoded.png">    </p:cNvPr>
          <p:cNvPicPr>
            <a:picLocks noChangeAspect="1"/>
          </p:cNvPicPr>
          <p:nvPr/>
        </p:nvPicPr>
        <p:blipFill>
          <a:blip r:embed="rId1"/>
          <a:stretch>
            <a:fillRect/>
          </a:stretch>
        </p:blipFill>
        <p:spPr>
          <a:xfrm>
            <a:off x="902970" y="2045970"/>
            <a:ext cx="251460" cy="251460"/>
          </a:xfrm>
          <a:prstGeom prst="rect">
            <a:avLst/>
          </a:prstGeom>
        </p:spPr>
      </p:pic>
      <p:sp>
        <p:nvSpPr>
          <p:cNvPr id="8" name="Text 5"/>
          <p:cNvSpPr txBox="1"/>
          <p:nvPr/>
        </p:nvSpPr>
        <p:spPr>
          <a:xfrm>
            <a:off x="1417320" y="1920240"/>
            <a:ext cx="2462784" cy="502920"/>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Freight bills scanned</a:t>
            </a:r>
            <a:endParaRPr lang="en-US" sz="1500" dirty="0"/>
          </a:p>
        </p:txBody>
      </p:sp>
      <p:sp>
        <p:nvSpPr>
          <p:cNvPr id="9" name="Text 6"/>
          <p:cNvSpPr txBox="1"/>
          <p:nvPr/>
        </p:nvSpPr>
        <p:spPr>
          <a:xfrm>
            <a:off x="777240" y="2560320"/>
            <a:ext cx="3057144" cy="777240"/>
          </a:xfrm>
          <a:prstGeom prst="rect">
            <a:avLst/>
          </a:prstGeom>
          <a:noFill/>
          <a:ln/>
        </p:spPr>
        <p:txBody>
          <a:bodyPr wrap="square" lIns="0" tIns="0" rIns="0" bIns="0" rtlCol="0" anchor="ctr"/>
          <a:lstStyle/>
          <a:p>
            <a:pPr indent="0" marL="0">
              <a:buNone/>
            </a:pPr>
            <a:r>
              <a:rPr lang="en-US" sz="4400" b="1" dirty="0">
                <a:solidFill>
                  <a:srgbClr val="111827"/>
                </a:solidFill>
                <a:latin typeface="Calibri" pitchFamily="34" charset="0"/>
                <a:ea typeface="Calibri" pitchFamily="34" charset="-122"/>
                <a:cs typeface="Calibri" pitchFamily="34" charset="-120"/>
              </a:rPr>
              <a:t>91.37%</a:t>
            </a:r>
            <a:endParaRPr lang="en-US" sz="4400" dirty="0"/>
          </a:p>
        </p:txBody>
      </p:sp>
      <p:sp>
        <p:nvSpPr>
          <p:cNvPr id="10" name="Text 7"/>
          <p:cNvSpPr txBox="1"/>
          <p:nvPr/>
        </p:nvSpPr>
        <p:spPr>
          <a:xfrm>
            <a:off x="731520" y="3337560"/>
            <a:ext cx="3194304" cy="274320"/>
          </a:xfrm>
          <a:prstGeom prst="rect">
            <a:avLst/>
          </a:prstGeom>
          <a:noFill/>
          <a:ln/>
        </p:spPr>
        <p:txBody>
          <a:bodyPr wrap="square" lIns="0" tIns="0" rIns="0" bIns="0" rtlCol="0" anchor="ctr"/>
          <a:lstStyle/>
          <a:p>
            <a:pPr indent="0" marL="0">
              <a:buNone/>
            </a:pPr>
            <a:r>
              <a:rPr lang="en-US" sz="1050" dirty="0">
                <a:solidFill>
                  <a:srgbClr val="1F2937"/>
                </a:solidFill>
                <a:latin typeface="Calibri" pitchFamily="34" charset="0"/>
                <a:ea typeface="Calibri" pitchFamily="34" charset="-122"/>
                <a:cs typeface="Calibri" pitchFamily="34" charset="-120"/>
              </a:rPr>
              <a:t>48.22K of 52.77K FBs · fiscal YTD 91.55%</a:t>
            </a:r>
            <a:endParaRPr lang="en-US" sz="1050" dirty="0"/>
          </a:p>
        </p:txBody>
      </p:sp>
      <p:sp>
        <p:nvSpPr>
          <p:cNvPr id="11" name="Shape 8"/>
          <p:cNvSpPr/>
          <p:nvPr/>
        </p:nvSpPr>
        <p:spPr>
          <a:xfrm>
            <a:off x="777240" y="3703320"/>
            <a:ext cx="1600200" cy="329184"/>
          </a:xfrm>
          <a:prstGeom prst="roundRect">
            <a:avLst>
              <a:gd name="adj" fmla="val 22222"/>
            </a:avLst>
          </a:prstGeom>
          <a:solidFill>
            <a:srgbClr val="FEE2E2"/>
          </a:solidFill>
          <a:ln w="12700">
            <a:solidFill>
              <a:srgbClr val="FEE2E2"/>
            </a:solidFill>
            <a:prstDash val="solid"/>
          </a:ln>
        </p:spPr>
      </p:sp>
      <p:sp>
        <p:nvSpPr>
          <p:cNvPr id="12" name="Text 9"/>
          <p:cNvSpPr txBox="1"/>
          <p:nvPr/>
        </p:nvSpPr>
        <p:spPr>
          <a:xfrm>
            <a:off x="777240" y="3703320"/>
            <a:ext cx="1600200" cy="329184"/>
          </a:xfrm>
          <a:prstGeom prst="rect">
            <a:avLst/>
          </a:prstGeom>
          <a:noFill/>
          <a:ln/>
        </p:spPr>
        <p:txBody>
          <a:bodyPr wrap="square" lIns="0" tIns="0" rIns="0" bIns="0" rtlCol="0" anchor="ctr"/>
          <a:lstStyle/>
          <a:p>
            <a:pPr algn="ctr" indent="0" marL="0">
              <a:buNone/>
            </a:pPr>
            <a:r>
              <a:rPr lang="en-US" sz="1200" b="1" dirty="0">
                <a:solidFill>
                  <a:srgbClr val="DC2626"/>
                </a:solidFill>
                <a:latin typeface="Calibri" pitchFamily="34" charset="0"/>
                <a:ea typeface="Calibri" pitchFamily="34" charset="-122"/>
                <a:cs typeface="Calibri" pitchFamily="34" charset="-120"/>
              </a:rPr>
              <a:t>−0.22 pts</a:t>
            </a:r>
            <a:endParaRPr lang="en-US" sz="1200" dirty="0"/>
          </a:p>
        </p:txBody>
      </p:sp>
      <p:sp>
        <p:nvSpPr>
          <p:cNvPr id="13" name="Text 10"/>
          <p:cNvSpPr txBox="1"/>
          <p:nvPr/>
        </p:nvSpPr>
        <p:spPr>
          <a:xfrm>
            <a:off x="2468880" y="3703320"/>
            <a:ext cx="1365504" cy="329184"/>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vs last time period</a:t>
            </a:r>
            <a:endParaRPr lang="en-US" sz="1100" dirty="0"/>
          </a:p>
        </p:txBody>
      </p:sp>
      <p:sp>
        <p:nvSpPr>
          <p:cNvPr id="14" name="Shape 11"/>
          <p:cNvSpPr/>
          <p:nvPr/>
        </p:nvSpPr>
        <p:spPr>
          <a:xfrm>
            <a:off x="777240" y="4123944"/>
            <a:ext cx="1600200" cy="329184"/>
          </a:xfrm>
          <a:prstGeom prst="roundRect">
            <a:avLst>
              <a:gd name="adj" fmla="val 22222"/>
            </a:avLst>
          </a:prstGeom>
          <a:solidFill>
            <a:srgbClr val="D1FAE5"/>
          </a:solidFill>
          <a:ln w="12700">
            <a:solidFill>
              <a:srgbClr val="D1FAE5"/>
            </a:solidFill>
            <a:prstDash val="solid"/>
          </a:ln>
        </p:spPr>
      </p:sp>
      <p:sp>
        <p:nvSpPr>
          <p:cNvPr id="15" name="Text 12"/>
          <p:cNvSpPr txBox="1"/>
          <p:nvPr/>
        </p:nvSpPr>
        <p:spPr>
          <a:xfrm>
            <a:off x="777240" y="4123944"/>
            <a:ext cx="1600200" cy="329184"/>
          </a:xfrm>
          <a:prstGeom prst="rect">
            <a:avLst/>
          </a:prstGeom>
          <a:noFill/>
          <a:ln/>
        </p:spPr>
        <p:txBody>
          <a:bodyPr wrap="square" lIns="0" tIns="0" rIns="0" bIns="0" rtlCol="0" anchor="ctr"/>
          <a:lstStyle/>
          <a:p>
            <a:pPr algn="ctr" indent="0" marL="0">
              <a:buNone/>
            </a:pPr>
            <a:r>
              <a:rPr lang="en-US" sz="1200" b="1" dirty="0">
                <a:solidFill>
                  <a:srgbClr val="059669"/>
                </a:solidFill>
                <a:latin typeface="Calibri" pitchFamily="34" charset="0"/>
                <a:ea typeface="Calibri" pitchFamily="34" charset="-122"/>
                <a:cs typeface="Calibri" pitchFamily="34" charset="-120"/>
              </a:rPr>
              <a:t>+0.47 pts</a:t>
            </a:r>
            <a:endParaRPr lang="en-US" sz="1200" dirty="0"/>
          </a:p>
        </p:txBody>
      </p:sp>
      <p:sp>
        <p:nvSpPr>
          <p:cNvPr id="16" name="Text 13"/>
          <p:cNvSpPr txBox="1"/>
          <p:nvPr/>
        </p:nvSpPr>
        <p:spPr>
          <a:xfrm>
            <a:off x="2468880" y="4123944"/>
            <a:ext cx="1365504" cy="329184"/>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Fiscal YTD chg (dashboard)</a:t>
            </a:r>
            <a:endParaRPr lang="en-US" sz="1100" dirty="0"/>
          </a:p>
        </p:txBody>
      </p:sp>
      <p:sp>
        <p:nvSpPr>
          <p:cNvPr id="17" name="Shape 14"/>
          <p:cNvSpPr/>
          <p:nvPr/>
        </p:nvSpPr>
        <p:spPr>
          <a:xfrm>
            <a:off x="4337304" y="1691640"/>
            <a:ext cx="3514344" cy="3154680"/>
          </a:xfrm>
          <a:prstGeom prst="roundRect">
            <a:avLst>
              <a:gd name="adj" fmla="val 2319"/>
            </a:avLst>
          </a:prstGeom>
          <a:solidFill>
            <a:srgbClr val="F3F4F6"/>
          </a:solidFill>
          <a:ln w="12700">
            <a:solidFill>
              <a:srgbClr val="F3F4F6"/>
            </a:solidFill>
            <a:prstDash val="solid"/>
          </a:ln>
        </p:spPr>
      </p:sp>
      <p:sp>
        <p:nvSpPr>
          <p:cNvPr id="18" name="Shape 15"/>
          <p:cNvSpPr/>
          <p:nvPr/>
        </p:nvSpPr>
        <p:spPr>
          <a:xfrm>
            <a:off x="4565904" y="1920240"/>
            <a:ext cx="502920" cy="502920"/>
          </a:xfrm>
          <a:prstGeom prst="ellipse">
            <a:avLst/>
          </a:prstGeom>
          <a:solidFill>
            <a:srgbClr val="EDE9FE"/>
          </a:solidFill>
          <a:ln w="12700">
            <a:solidFill>
              <a:srgbClr val="EDE9FE"/>
            </a:solidFill>
            <a:prstDash val="solid"/>
          </a:ln>
        </p:spPr>
      </p:sp>
      <p:pic>
        <p:nvPicPr>
          <p:cNvPr id="19" name="Image 1" descr="preencoded.png">    </p:cNvPr>
          <p:cNvPicPr>
            <a:picLocks noChangeAspect="1"/>
          </p:cNvPicPr>
          <p:nvPr/>
        </p:nvPicPr>
        <p:blipFill>
          <a:blip r:embed="rId2"/>
          <a:stretch>
            <a:fillRect/>
          </a:stretch>
        </p:blipFill>
        <p:spPr>
          <a:xfrm>
            <a:off x="4691634" y="2045970"/>
            <a:ext cx="251460" cy="251460"/>
          </a:xfrm>
          <a:prstGeom prst="rect">
            <a:avLst/>
          </a:prstGeom>
        </p:spPr>
      </p:pic>
      <p:sp>
        <p:nvSpPr>
          <p:cNvPr id="20" name="Text 16"/>
          <p:cNvSpPr txBox="1"/>
          <p:nvPr/>
        </p:nvSpPr>
        <p:spPr>
          <a:xfrm>
            <a:off x="5205984" y="1920240"/>
            <a:ext cx="2462784" cy="502920"/>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Freight bills completely scanned</a:t>
            </a:r>
            <a:endParaRPr lang="en-US" sz="1500" dirty="0"/>
          </a:p>
        </p:txBody>
      </p:sp>
      <p:sp>
        <p:nvSpPr>
          <p:cNvPr id="21" name="Text 17"/>
          <p:cNvSpPr txBox="1"/>
          <p:nvPr/>
        </p:nvSpPr>
        <p:spPr>
          <a:xfrm>
            <a:off x="4565904" y="2560320"/>
            <a:ext cx="3057144" cy="777240"/>
          </a:xfrm>
          <a:prstGeom prst="rect">
            <a:avLst/>
          </a:prstGeom>
          <a:noFill/>
          <a:ln/>
        </p:spPr>
        <p:txBody>
          <a:bodyPr wrap="square" lIns="0" tIns="0" rIns="0" bIns="0" rtlCol="0" anchor="ctr"/>
          <a:lstStyle/>
          <a:p>
            <a:pPr indent="0" marL="0">
              <a:buNone/>
            </a:pPr>
            <a:r>
              <a:rPr lang="en-US" sz="4400" b="1" dirty="0">
                <a:solidFill>
                  <a:srgbClr val="111827"/>
                </a:solidFill>
                <a:latin typeface="Calibri" pitchFamily="34" charset="0"/>
                <a:ea typeface="Calibri" pitchFamily="34" charset="-122"/>
                <a:cs typeface="Calibri" pitchFamily="34" charset="-120"/>
              </a:rPr>
              <a:t>90.50%</a:t>
            </a:r>
            <a:endParaRPr lang="en-US" sz="4400" dirty="0"/>
          </a:p>
        </p:txBody>
      </p:sp>
      <p:sp>
        <p:nvSpPr>
          <p:cNvPr id="22" name="Text 18"/>
          <p:cNvSpPr txBox="1"/>
          <p:nvPr/>
        </p:nvSpPr>
        <p:spPr>
          <a:xfrm>
            <a:off x="4520184" y="3337560"/>
            <a:ext cx="3194304" cy="274320"/>
          </a:xfrm>
          <a:prstGeom prst="rect">
            <a:avLst/>
          </a:prstGeom>
          <a:noFill/>
          <a:ln/>
        </p:spPr>
        <p:txBody>
          <a:bodyPr wrap="square" lIns="0" tIns="0" rIns="0" bIns="0" rtlCol="0" anchor="ctr"/>
          <a:lstStyle/>
          <a:p>
            <a:pPr indent="0" marL="0">
              <a:buNone/>
            </a:pPr>
            <a:r>
              <a:rPr lang="en-US" sz="1050" dirty="0">
                <a:solidFill>
                  <a:srgbClr val="1F2937"/>
                </a:solidFill>
                <a:latin typeface="Calibri" pitchFamily="34" charset="0"/>
                <a:ea typeface="Calibri" pitchFamily="34" charset="-122"/>
                <a:cs typeface="Calibri" pitchFamily="34" charset="-120"/>
              </a:rPr>
              <a:t>47.76K of 52.77K FBs · fiscal YTD 90.54%</a:t>
            </a:r>
            <a:endParaRPr lang="en-US" sz="1050" dirty="0"/>
          </a:p>
        </p:txBody>
      </p:sp>
      <p:sp>
        <p:nvSpPr>
          <p:cNvPr id="23" name="Shape 19"/>
          <p:cNvSpPr/>
          <p:nvPr/>
        </p:nvSpPr>
        <p:spPr>
          <a:xfrm>
            <a:off x="4565904" y="3703320"/>
            <a:ext cx="1600200" cy="329184"/>
          </a:xfrm>
          <a:prstGeom prst="roundRect">
            <a:avLst>
              <a:gd name="adj" fmla="val 22222"/>
            </a:avLst>
          </a:prstGeom>
          <a:solidFill>
            <a:srgbClr val="FEE2E2"/>
          </a:solidFill>
          <a:ln w="12700">
            <a:solidFill>
              <a:srgbClr val="FEE2E2"/>
            </a:solidFill>
            <a:prstDash val="solid"/>
          </a:ln>
        </p:spPr>
      </p:sp>
      <p:sp>
        <p:nvSpPr>
          <p:cNvPr id="24" name="Text 20"/>
          <p:cNvSpPr txBox="1"/>
          <p:nvPr/>
        </p:nvSpPr>
        <p:spPr>
          <a:xfrm>
            <a:off x="4565904" y="3703320"/>
            <a:ext cx="1600200" cy="329184"/>
          </a:xfrm>
          <a:prstGeom prst="rect">
            <a:avLst/>
          </a:prstGeom>
          <a:noFill/>
          <a:ln/>
        </p:spPr>
        <p:txBody>
          <a:bodyPr wrap="square" lIns="0" tIns="0" rIns="0" bIns="0" rtlCol="0" anchor="ctr"/>
          <a:lstStyle/>
          <a:p>
            <a:pPr algn="ctr" indent="0" marL="0">
              <a:buNone/>
            </a:pPr>
            <a:r>
              <a:rPr lang="en-US" sz="1200" b="1" dirty="0">
                <a:solidFill>
                  <a:srgbClr val="DC2626"/>
                </a:solidFill>
                <a:latin typeface="Calibri" pitchFamily="34" charset="0"/>
                <a:ea typeface="Calibri" pitchFamily="34" charset="-122"/>
                <a:cs typeface="Calibri" pitchFamily="34" charset="-120"/>
              </a:rPr>
              <a:t>−0.20 pts</a:t>
            </a:r>
            <a:endParaRPr lang="en-US" sz="1200" dirty="0"/>
          </a:p>
        </p:txBody>
      </p:sp>
      <p:sp>
        <p:nvSpPr>
          <p:cNvPr id="25" name="Text 21"/>
          <p:cNvSpPr txBox="1"/>
          <p:nvPr/>
        </p:nvSpPr>
        <p:spPr>
          <a:xfrm>
            <a:off x="6257544" y="3703320"/>
            <a:ext cx="1365504" cy="329184"/>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vs last time period</a:t>
            </a:r>
            <a:endParaRPr lang="en-US" sz="1100" dirty="0"/>
          </a:p>
        </p:txBody>
      </p:sp>
      <p:sp>
        <p:nvSpPr>
          <p:cNvPr id="26" name="Shape 22"/>
          <p:cNvSpPr/>
          <p:nvPr/>
        </p:nvSpPr>
        <p:spPr>
          <a:xfrm>
            <a:off x="4565904" y="4123944"/>
            <a:ext cx="1600200" cy="329184"/>
          </a:xfrm>
          <a:prstGeom prst="roundRect">
            <a:avLst>
              <a:gd name="adj" fmla="val 22222"/>
            </a:avLst>
          </a:prstGeom>
          <a:solidFill>
            <a:srgbClr val="D1FAE5"/>
          </a:solidFill>
          <a:ln w="12700">
            <a:solidFill>
              <a:srgbClr val="D1FAE5"/>
            </a:solidFill>
            <a:prstDash val="solid"/>
          </a:ln>
        </p:spPr>
      </p:sp>
      <p:sp>
        <p:nvSpPr>
          <p:cNvPr id="27" name="Text 23"/>
          <p:cNvSpPr txBox="1"/>
          <p:nvPr/>
        </p:nvSpPr>
        <p:spPr>
          <a:xfrm>
            <a:off x="4565904" y="4123944"/>
            <a:ext cx="1600200" cy="329184"/>
          </a:xfrm>
          <a:prstGeom prst="rect">
            <a:avLst/>
          </a:prstGeom>
          <a:noFill/>
          <a:ln/>
        </p:spPr>
        <p:txBody>
          <a:bodyPr wrap="square" lIns="0" tIns="0" rIns="0" bIns="0" rtlCol="0" anchor="ctr"/>
          <a:lstStyle/>
          <a:p>
            <a:pPr algn="ctr" indent="0" marL="0">
              <a:buNone/>
            </a:pPr>
            <a:r>
              <a:rPr lang="en-US" sz="1200" b="1" dirty="0">
                <a:solidFill>
                  <a:srgbClr val="059669"/>
                </a:solidFill>
                <a:latin typeface="Calibri" pitchFamily="34" charset="0"/>
                <a:ea typeface="Calibri" pitchFamily="34" charset="-122"/>
                <a:cs typeface="Calibri" pitchFamily="34" charset="-120"/>
              </a:rPr>
              <a:t>+0.60 pts</a:t>
            </a:r>
            <a:endParaRPr lang="en-US" sz="1200" dirty="0"/>
          </a:p>
        </p:txBody>
      </p:sp>
      <p:sp>
        <p:nvSpPr>
          <p:cNvPr id="28" name="Text 24"/>
          <p:cNvSpPr txBox="1"/>
          <p:nvPr/>
        </p:nvSpPr>
        <p:spPr>
          <a:xfrm>
            <a:off x="6257544" y="4123944"/>
            <a:ext cx="1365504" cy="329184"/>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Fiscal YTD chg (dashboard)</a:t>
            </a:r>
            <a:endParaRPr lang="en-US" sz="1100" dirty="0"/>
          </a:p>
        </p:txBody>
      </p:sp>
      <p:sp>
        <p:nvSpPr>
          <p:cNvPr id="29" name="Shape 25"/>
          <p:cNvSpPr/>
          <p:nvPr/>
        </p:nvSpPr>
        <p:spPr>
          <a:xfrm>
            <a:off x="8125968" y="1691640"/>
            <a:ext cx="3514344" cy="3154680"/>
          </a:xfrm>
          <a:prstGeom prst="roundRect">
            <a:avLst>
              <a:gd name="adj" fmla="val 2319"/>
            </a:avLst>
          </a:prstGeom>
          <a:solidFill>
            <a:srgbClr val="F3F4F6"/>
          </a:solidFill>
          <a:ln w="12700">
            <a:solidFill>
              <a:srgbClr val="F3F4F6"/>
            </a:solidFill>
            <a:prstDash val="solid"/>
          </a:ln>
        </p:spPr>
      </p:sp>
      <p:sp>
        <p:nvSpPr>
          <p:cNvPr id="30" name="Shape 26"/>
          <p:cNvSpPr/>
          <p:nvPr/>
        </p:nvSpPr>
        <p:spPr>
          <a:xfrm>
            <a:off x="8354568" y="1920240"/>
            <a:ext cx="502920" cy="502920"/>
          </a:xfrm>
          <a:prstGeom prst="ellipse">
            <a:avLst/>
          </a:prstGeom>
          <a:solidFill>
            <a:srgbClr val="EDE9FE"/>
          </a:solidFill>
          <a:ln w="12700">
            <a:solidFill>
              <a:srgbClr val="EDE9FE"/>
            </a:solidFill>
            <a:prstDash val="solid"/>
          </a:ln>
        </p:spPr>
      </p:sp>
      <p:pic>
        <p:nvPicPr>
          <p:cNvPr id="31" name="Image 2" descr="preencoded.png">    </p:cNvPr>
          <p:cNvPicPr>
            <a:picLocks noChangeAspect="1"/>
          </p:cNvPicPr>
          <p:nvPr/>
        </p:nvPicPr>
        <p:blipFill>
          <a:blip r:embed="rId3"/>
          <a:stretch>
            <a:fillRect/>
          </a:stretch>
        </p:blipFill>
        <p:spPr>
          <a:xfrm>
            <a:off x="8480298" y="2045970"/>
            <a:ext cx="251460" cy="251460"/>
          </a:xfrm>
          <a:prstGeom prst="rect">
            <a:avLst/>
          </a:prstGeom>
        </p:spPr>
      </p:pic>
      <p:sp>
        <p:nvSpPr>
          <p:cNvPr id="32" name="Text 27"/>
          <p:cNvSpPr txBox="1"/>
          <p:nvPr/>
        </p:nvSpPr>
        <p:spPr>
          <a:xfrm>
            <a:off x="8994648" y="1920240"/>
            <a:ext cx="2462784" cy="502920"/>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Items scanned</a:t>
            </a:r>
            <a:endParaRPr lang="en-US" sz="1500" dirty="0"/>
          </a:p>
        </p:txBody>
      </p:sp>
      <p:sp>
        <p:nvSpPr>
          <p:cNvPr id="33" name="Text 28"/>
          <p:cNvSpPr txBox="1"/>
          <p:nvPr/>
        </p:nvSpPr>
        <p:spPr>
          <a:xfrm>
            <a:off x="8354568" y="2560320"/>
            <a:ext cx="3057144" cy="777240"/>
          </a:xfrm>
          <a:prstGeom prst="rect">
            <a:avLst/>
          </a:prstGeom>
          <a:noFill/>
          <a:ln/>
        </p:spPr>
        <p:txBody>
          <a:bodyPr wrap="square" lIns="0" tIns="0" rIns="0" bIns="0" rtlCol="0" anchor="ctr"/>
          <a:lstStyle/>
          <a:p>
            <a:pPr indent="0" marL="0">
              <a:buNone/>
            </a:pPr>
            <a:r>
              <a:rPr lang="en-US" sz="4400" b="1" dirty="0">
                <a:solidFill>
                  <a:srgbClr val="111827"/>
                </a:solidFill>
                <a:latin typeface="Calibri" pitchFamily="34" charset="0"/>
                <a:ea typeface="Calibri" pitchFamily="34" charset="-122"/>
                <a:cs typeface="Calibri" pitchFamily="34" charset="-120"/>
              </a:rPr>
              <a:t>90.66%</a:t>
            </a:r>
            <a:endParaRPr lang="en-US" sz="4400" dirty="0"/>
          </a:p>
        </p:txBody>
      </p:sp>
      <p:sp>
        <p:nvSpPr>
          <p:cNvPr id="34" name="Text 29"/>
          <p:cNvSpPr txBox="1"/>
          <p:nvPr/>
        </p:nvSpPr>
        <p:spPr>
          <a:xfrm>
            <a:off x="8308848" y="3337560"/>
            <a:ext cx="3194304" cy="274320"/>
          </a:xfrm>
          <a:prstGeom prst="rect">
            <a:avLst/>
          </a:prstGeom>
          <a:noFill/>
          <a:ln/>
        </p:spPr>
        <p:txBody>
          <a:bodyPr wrap="square" lIns="0" tIns="0" rIns="0" bIns="0" rtlCol="0" anchor="ctr"/>
          <a:lstStyle/>
          <a:p>
            <a:pPr indent="0" marL="0">
              <a:buNone/>
            </a:pPr>
            <a:r>
              <a:rPr lang="en-US" sz="1050" dirty="0">
                <a:solidFill>
                  <a:srgbClr val="1F2937"/>
                </a:solidFill>
                <a:latin typeface="Calibri" pitchFamily="34" charset="0"/>
                <a:ea typeface="Calibri" pitchFamily="34" charset="-122"/>
                <a:cs typeface="Calibri" pitchFamily="34" charset="-120"/>
              </a:rPr>
              <a:t>73.85K of 81.46K items · fiscal YTD 90.61%</a:t>
            </a:r>
            <a:endParaRPr lang="en-US" sz="1050" dirty="0"/>
          </a:p>
        </p:txBody>
      </p:sp>
      <p:sp>
        <p:nvSpPr>
          <p:cNvPr id="35" name="Shape 30"/>
          <p:cNvSpPr/>
          <p:nvPr/>
        </p:nvSpPr>
        <p:spPr>
          <a:xfrm>
            <a:off x="8354568" y="3703320"/>
            <a:ext cx="1600200" cy="329184"/>
          </a:xfrm>
          <a:prstGeom prst="roundRect">
            <a:avLst>
              <a:gd name="adj" fmla="val 22222"/>
            </a:avLst>
          </a:prstGeom>
          <a:solidFill>
            <a:srgbClr val="FEE2E2"/>
          </a:solidFill>
          <a:ln w="12700">
            <a:solidFill>
              <a:srgbClr val="FEE2E2"/>
            </a:solidFill>
            <a:prstDash val="solid"/>
          </a:ln>
        </p:spPr>
      </p:sp>
      <p:sp>
        <p:nvSpPr>
          <p:cNvPr id="36" name="Text 31"/>
          <p:cNvSpPr txBox="1"/>
          <p:nvPr/>
        </p:nvSpPr>
        <p:spPr>
          <a:xfrm>
            <a:off x="8354568" y="3703320"/>
            <a:ext cx="1600200" cy="329184"/>
          </a:xfrm>
          <a:prstGeom prst="rect">
            <a:avLst/>
          </a:prstGeom>
          <a:noFill/>
          <a:ln/>
        </p:spPr>
        <p:txBody>
          <a:bodyPr wrap="square" lIns="0" tIns="0" rIns="0" bIns="0" rtlCol="0" anchor="ctr"/>
          <a:lstStyle/>
          <a:p>
            <a:pPr algn="ctr" indent="0" marL="0">
              <a:buNone/>
            </a:pPr>
            <a:r>
              <a:rPr lang="en-US" sz="1200" b="1" dirty="0">
                <a:solidFill>
                  <a:srgbClr val="DC2626"/>
                </a:solidFill>
                <a:latin typeface="Calibri" pitchFamily="34" charset="0"/>
                <a:ea typeface="Calibri" pitchFamily="34" charset="-122"/>
                <a:cs typeface="Calibri" pitchFamily="34" charset="-120"/>
              </a:rPr>
              <a:t>−0.13 pts</a:t>
            </a:r>
            <a:endParaRPr lang="en-US" sz="1200" dirty="0"/>
          </a:p>
        </p:txBody>
      </p:sp>
      <p:sp>
        <p:nvSpPr>
          <p:cNvPr id="37" name="Text 32"/>
          <p:cNvSpPr txBox="1"/>
          <p:nvPr/>
        </p:nvSpPr>
        <p:spPr>
          <a:xfrm>
            <a:off x="10046208" y="3703320"/>
            <a:ext cx="1365504" cy="329184"/>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vs last time period</a:t>
            </a:r>
            <a:endParaRPr lang="en-US" sz="1100" dirty="0"/>
          </a:p>
        </p:txBody>
      </p:sp>
      <p:sp>
        <p:nvSpPr>
          <p:cNvPr id="38" name="Shape 33"/>
          <p:cNvSpPr/>
          <p:nvPr/>
        </p:nvSpPr>
        <p:spPr>
          <a:xfrm>
            <a:off x="8354568" y="4123944"/>
            <a:ext cx="1600200" cy="329184"/>
          </a:xfrm>
          <a:prstGeom prst="roundRect">
            <a:avLst>
              <a:gd name="adj" fmla="val 22222"/>
            </a:avLst>
          </a:prstGeom>
          <a:solidFill>
            <a:srgbClr val="D1FAE5"/>
          </a:solidFill>
          <a:ln w="12700">
            <a:solidFill>
              <a:srgbClr val="D1FAE5"/>
            </a:solidFill>
            <a:prstDash val="solid"/>
          </a:ln>
        </p:spPr>
      </p:sp>
      <p:sp>
        <p:nvSpPr>
          <p:cNvPr id="39" name="Text 34"/>
          <p:cNvSpPr txBox="1"/>
          <p:nvPr/>
        </p:nvSpPr>
        <p:spPr>
          <a:xfrm>
            <a:off x="8354568" y="4123944"/>
            <a:ext cx="1600200" cy="329184"/>
          </a:xfrm>
          <a:prstGeom prst="rect">
            <a:avLst/>
          </a:prstGeom>
          <a:noFill/>
          <a:ln/>
        </p:spPr>
        <p:txBody>
          <a:bodyPr wrap="square" lIns="0" tIns="0" rIns="0" bIns="0" rtlCol="0" anchor="ctr"/>
          <a:lstStyle/>
          <a:p>
            <a:pPr algn="ctr" indent="0" marL="0">
              <a:buNone/>
            </a:pPr>
            <a:r>
              <a:rPr lang="en-US" sz="1200" b="1" dirty="0">
                <a:solidFill>
                  <a:srgbClr val="059669"/>
                </a:solidFill>
                <a:latin typeface="Calibri" pitchFamily="34" charset="0"/>
                <a:ea typeface="Calibri" pitchFamily="34" charset="-122"/>
                <a:cs typeface="Calibri" pitchFamily="34" charset="-120"/>
              </a:rPr>
              <a:t>+1.54 pts</a:t>
            </a:r>
            <a:endParaRPr lang="en-US" sz="1200" dirty="0"/>
          </a:p>
        </p:txBody>
      </p:sp>
      <p:sp>
        <p:nvSpPr>
          <p:cNvPr id="40" name="Text 35"/>
          <p:cNvSpPr txBox="1"/>
          <p:nvPr/>
        </p:nvSpPr>
        <p:spPr>
          <a:xfrm>
            <a:off x="10046208" y="4123944"/>
            <a:ext cx="1365504" cy="329184"/>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Fiscal YTD chg (dashboard)</a:t>
            </a:r>
            <a:endParaRPr lang="en-US" sz="1100" dirty="0"/>
          </a:p>
        </p:txBody>
      </p:sp>
      <p:sp>
        <p:nvSpPr>
          <p:cNvPr id="41" name="Shape 36"/>
          <p:cNvSpPr/>
          <p:nvPr/>
        </p:nvSpPr>
        <p:spPr>
          <a:xfrm>
            <a:off x="548640" y="5029200"/>
            <a:ext cx="11091672" cy="960120"/>
          </a:xfrm>
          <a:prstGeom prst="roundRect">
            <a:avLst>
              <a:gd name="adj" fmla="val 7619"/>
            </a:avLst>
          </a:prstGeom>
          <a:solidFill>
            <a:srgbClr val="F5F3FF"/>
          </a:solidFill>
          <a:ln w="12700">
            <a:solidFill>
              <a:srgbClr val="F5F3FF"/>
            </a:solidFill>
            <a:prstDash val="solid"/>
          </a:ln>
        </p:spPr>
      </p:sp>
      <p:sp>
        <p:nvSpPr>
          <p:cNvPr id="42" name="Shape 37"/>
          <p:cNvSpPr/>
          <p:nvPr/>
        </p:nvSpPr>
        <p:spPr>
          <a:xfrm>
            <a:off x="777240" y="5239512"/>
            <a:ext cx="548640" cy="548640"/>
          </a:xfrm>
          <a:prstGeom prst="ellipse">
            <a:avLst/>
          </a:prstGeom>
          <a:solidFill>
            <a:srgbClr val="7C3AED"/>
          </a:solidFill>
          <a:ln w="12700">
            <a:solidFill>
              <a:srgbClr val="7C3AED"/>
            </a:solidFill>
            <a:prstDash val="solid"/>
          </a:ln>
        </p:spPr>
      </p:sp>
      <p:pic>
        <p:nvPicPr>
          <p:cNvPr id="43" name="Image 3" descr="preencoded.png">    </p:cNvPr>
          <p:cNvPicPr>
            <a:picLocks noChangeAspect="1"/>
          </p:cNvPicPr>
          <p:nvPr/>
        </p:nvPicPr>
        <p:blipFill>
          <a:blip r:embed="rId4"/>
          <a:stretch>
            <a:fillRect/>
          </a:stretch>
        </p:blipFill>
        <p:spPr>
          <a:xfrm>
            <a:off x="914400" y="5376672"/>
            <a:ext cx="274320" cy="274320"/>
          </a:xfrm>
          <a:prstGeom prst="rect">
            <a:avLst/>
          </a:prstGeom>
        </p:spPr>
      </p:pic>
      <p:sp>
        <p:nvSpPr>
          <p:cNvPr id="44" name="Text 38"/>
          <p:cNvSpPr txBox="1"/>
          <p:nvPr/>
        </p:nvSpPr>
        <p:spPr>
          <a:xfrm>
            <a:off x="1508760" y="5029200"/>
            <a:ext cx="9966960" cy="960120"/>
          </a:xfrm>
          <a:prstGeom prst="rect">
            <a:avLst/>
          </a:prstGeom>
          <a:noFill/>
          <a:ln/>
        </p:spPr>
        <p:txBody>
          <a:bodyPr wrap="square" lIns="0" tIns="0" rIns="0" bIns="0" rtlCol="0" anchor="ctr"/>
          <a:lstStyle/>
          <a:p>
            <a:pPr indent="0" marL="0">
              <a:buNone/>
            </a:pPr>
            <a:r>
              <a:rPr lang="en-US" sz="1350" b="1" dirty="0">
                <a:solidFill>
                  <a:srgbClr val="111827"/>
                </a:solidFill>
                <a:latin typeface="Calibri" pitchFamily="34" charset="0"/>
                <a:ea typeface="Calibri" pitchFamily="34" charset="-122"/>
                <a:cs typeface="Calibri" pitchFamily="34" charset="-120"/>
              </a:rPr>
              <a:t>September is in line with fiscal YTD: freight bills scanned 91.37% (FYTD 91.55%). ≈4.55K freight bills were not scanned in/out Sep 1–28 — closing that gap also cuts 'already serviced' missed-PU false positives.</a:t>
            </a:r>
            <a:endParaRPr lang="en-US" sz="1350" dirty="0"/>
          </a:p>
          <a:p>
            <a:pPr indent="0" marL="0">
              <a:buNone/>
            </a:pPr>
            <a:r>
              <a:rPr lang="en-US" sz="1000" i="1" dirty="0">
                <a:solidFill>
                  <a:srgbClr val="6B7280"/>
                </a:solidFill>
                <a:latin typeface="Calibri" pitchFamily="34" charset="0"/>
                <a:ea typeface="Calibri" pitchFamily="34" charset="-122"/>
                <a:cs typeface="Calibri" pitchFamily="34" charset="-120"/>
              </a:rPr>
              <a:t>Calculated: 52.77K − 48.22K = 4.55K FBs not scanned (Sep 1–28)</a:t>
            </a:r>
            <a:endParaRPr lang="en-US" sz="1350" dirty="0"/>
          </a:p>
        </p:txBody>
      </p:sp>
      <p:sp>
        <p:nvSpPr>
          <p:cNvPr id="45" name="Text 39"/>
          <p:cNvSpPr txBox="1"/>
          <p:nvPr/>
        </p:nvSpPr>
        <p:spPr>
          <a:xfrm>
            <a:off x="548640" y="6108192"/>
            <a:ext cx="11091672" cy="256032"/>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Source: Compliance Reporting — Scanning Efficiency In/Out of Terminals · D&amp;R Commerce Mississauga · Sep 1–28, 2026 (28 days) · all trip types</a:t>
            </a:r>
            <a:endParaRPr lang="en-US" sz="950" dirty="0"/>
          </a:p>
        </p:txBody>
      </p:sp>
      <p:sp>
        <p:nvSpPr>
          <p:cNvPr id="46" name="Text 40"/>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47" name="Text 41"/>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7 / 27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SCA &amp; SAVINGS</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F27 savings outlook — monthly and yearly roll-up</a:t>
            </a:r>
            <a:endParaRPr lang="en-US" sz="3000" dirty="0"/>
          </a:p>
        </p:txBody>
      </p:sp>
      <p:sp>
        <p:nvSpPr>
          <p:cNvPr id="4" name="Text 2"/>
          <p:cNvSpPr txBox="1"/>
          <p:nvPr/>
        </p:nvSpPr>
        <p:spPr>
          <a:xfrm>
            <a:off x="548640" y="1243584"/>
            <a:ext cx="11091672" cy="274320"/>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Jul–Aug actual · Sep–Jun outlook at the current rate · savings vs the same month in F26</a:t>
            </a:r>
            <a:endParaRPr lang="en-US" sz="1300" dirty="0"/>
          </a:p>
        </p:txBody>
      </p:sp>
      <p:sp>
        <p:nvSpPr>
          <p:cNvPr id="5" name="Shape 3"/>
          <p:cNvSpPr/>
          <p:nvPr/>
        </p:nvSpPr>
        <p:spPr>
          <a:xfrm>
            <a:off x="548640" y="1627632"/>
            <a:ext cx="2635758" cy="987552"/>
          </a:xfrm>
          <a:prstGeom prst="roundRect">
            <a:avLst>
              <a:gd name="adj" fmla="val 7407"/>
            </a:avLst>
          </a:prstGeom>
          <a:solidFill>
            <a:srgbClr val="F3F4F6"/>
          </a:solidFill>
          <a:ln w="12700">
            <a:solidFill>
              <a:srgbClr val="F3F4F6"/>
            </a:solidFill>
            <a:prstDash val="solid"/>
          </a:ln>
        </p:spPr>
      </p:sp>
      <p:sp>
        <p:nvSpPr>
          <p:cNvPr id="6" name="Text 4"/>
          <p:cNvSpPr txBox="1"/>
          <p:nvPr/>
        </p:nvSpPr>
        <p:spPr>
          <a:xfrm>
            <a:off x="731520" y="1719072"/>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Admin labour</a:t>
            </a:r>
            <a:endParaRPr lang="en-US" sz="1100" dirty="0"/>
          </a:p>
        </p:txBody>
      </p:sp>
      <p:sp>
        <p:nvSpPr>
          <p:cNvPr id="7" name="Text 5"/>
          <p:cNvSpPr txBox="1"/>
          <p:nvPr/>
        </p:nvSpPr>
        <p:spPr>
          <a:xfrm>
            <a:off x="731520" y="1956816"/>
            <a:ext cx="2269998" cy="384048"/>
          </a:xfrm>
          <a:prstGeom prst="rect">
            <a:avLst/>
          </a:prstGeom>
          <a:noFill/>
          <a:ln/>
        </p:spPr>
        <p:txBody>
          <a:bodyPr wrap="square" lIns="0" tIns="0" rIns="0" bIns="0" rtlCol="0" anchor="ctr"/>
          <a:lstStyle/>
          <a:p>
            <a:pPr indent="0" marL="0">
              <a:buNone/>
            </a:pPr>
            <a:r>
              <a:rPr lang="en-US" sz="2400" b="1" dirty="0">
                <a:solidFill>
                  <a:srgbClr val="059669"/>
                </a:solidFill>
                <a:latin typeface="Calibri" pitchFamily="34" charset="0"/>
                <a:ea typeface="Calibri" pitchFamily="34" charset="-122"/>
                <a:cs typeface="Calibri" pitchFamily="34" charset="-120"/>
              </a:rPr>
              <a:t>$211.0K</a:t>
            </a:r>
            <a:endParaRPr lang="en-US" sz="2400" dirty="0"/>
          </a:p>
        </p:txBody>
      </p:sp>
      <p:sp>
        <p:nvSpPr>
          <p:cNvPr id="8" name="Text 6"/>
          <p:cNvSpPr txBox="1"/>
          <p:nvPr/>
        </p:nvSpPr>
        <p:spPr>
          <a:xfrm>
            <a:off x="731520" y="2340864"/>
            <a:ext cx="2269998" cy="219456"/>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≈$17.6K per month</a:t>
            </a:r>
            <a:endParaRPr lang="en-US" sz="1050" dirty="0"/>
          </a:p>
        </p:txBody>
      </p:sp>
      <p:sp>
        <p:nvSpPr>
          <p:cNvPr id="9" name="Shape 7"/>
          <p:cNvSpPr/>
          <p:nvPr/>
        </p:nvSpPr>
        <p:spPr>
          <a:xfrm>
            <a:off x="3367278" y="1627632"/>
            <a:ext cx="2635758" cy="987552"/>
          </a:xfrm>
          <a:prstGeom prst="roundRect">
            <a:avLst>
              <a:gd name="adj" fmla="val 7407"/>
            </a:avLst>
          </a:prstGeom>
          <a:solidFill>
            <a:srgbClr val="F3F4F6"/>
          </a:solidFill>
          <a:ln w="12700">
            <a:solidFill>
              <a:srgbClr val="F3F4F6"/>
            </a:solidFill>
            <a:prstDash val="solid"/>
          </a:ln>
        </p:spPr>
      </p:sp>
      <p:sp>
        <p:nvSpPr>
          <p:cNvPr id="10" name="Text 8"/>
          <p:cNvSpPr txBox="1"/>
          <p:nvPr/>
        </p:nvSpPr>
        <p:spPr>
          <a:xfrm>
            <a:off x="3550158" y="1719072"/>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Dock labour</a:t>
            </a:r>
            <a:endParaRPr lang="en-US" sz="1100" dirty="0"/>
          </a:p>
        </p:txBody>
      </p:sp>
      <p:sp>
        <p:nvSpPr>
          <p:cNvPr id="11" name="Text 9"/>
          <p:cNvSpPr txBox="1"/>
          <p:nvPr/>
        </p:nvSpPr>
        <p:spPr>
          <a:xfrm>
            <a:off x="3550158" y="1956816"/>
            <a:ext cx="2269998" cy="384048"/>
          </a:xfrm>
          <a:prstGeom prst="rect">
            <a:avLst/>
          </a:prstGeom>
          <a:noFill/>
          <a:ln/>
        </p:spPr>
        <p:txBody>
          <a:bodyPr wrap="square" lIns="0" tIns="0" rIns="0" bIns="0" rtlCol="0" anchor="ctr"/>
          <a:lstStyle/>
          <a:p>
            <a:pPr indent="0" marL="0">
              <a:buNone/>
            </a:pPr>
            <a:r>
              <a:rPr lang="en-US" sz="2400" b="1" dirty="0">
                <a:solidFill>
                  <a:srgbClr val="059669"/>
                </a:solidFill>
                <a:latin typeface="Calibri" pitchFamily="34" charset="0"/>
                <a:ea typeface="Calibri" pitchFamily="34" charset="-122"/>
                <a:cs typeface="Calibri" pitchFamily="34" charset="-120"/>
              </a:rPr>
              <a:t>$125.9K</a:t>
            </a:r>
            <a:endParaRPr lang="en-US" sz="2400" dirty="0"/>
          </a:p>
        </p:txBody>
      </p:sp>
      <p:sp>
        <p:nvSpPr>
          <p:cNvPr id="12" name="Text 10"/>
          <p:cNvSpPr txBox="1"/>
          <p:nvPr/>
        </p:nvSpPr>
        <p:spPr>
          <a:xfrm>
            <a:off x="3550158" y="2340864"/>
            <a:ext cx="2269998" cy="219456"/>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≈$10.5K per month</a:t>
            </a:r>
            <a:endParaRPr lang="en-US" sz="1050" dirty="0"/>
          </a:p>
        </p:txBody>
      </p:sp>
      <p:sp>
        <p:nvSpPr>
          <p:cNvPr id="13" name="Shape 11"/>
          <p:cNvSpPr/>
          <p:nvPr/>
        </p:nvSpPr>
        <p:spPr>
          <a:xfrm>
            <a:off x="6185916" y="1627632"/>
            <a:ext cx="2635758" cy="987552"/>
          </a:xfrm>
          <a:prstGeom prst="roundRect">
            <a:avLst>
              <a:gd name="adj" fmla="val 7407"/>
            </a:avLst>
          </a:prstGeom>
          <a:solidFill>
            <a:srgbClr val="F3F4F6"/>
          </a:solidFill>
          <a:ln w="12700">
            <a:solidFill>
              <a:srgbClr val="F3F4F6"/>
            </a:solidFill>
            <a:prstDash val="solid"/>
          </a:ln>
        </p:spPr>
      </p:sp>
      <p:sp>
        <p:nvSpPr>
          <p:cNvPr id="14" name="Text 12"/>
          <p:cNvSpPr txBox="1"/>
          <p:nvPr/>
        </p:nvSpPr>
        <p:spPr>
          <a:xfrm>
            <a:off x="6368796" y="1719072"/>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Other lines (net of claims)</a:t>
            </a:r>
            <a:endParaRPr lang="en-US" sz="1100" dirty="0"/>
          </a:p>
        </p:txBody>
      </p:sp>
      <p:sp>
        <p:nvSpPr>
          <p:cNvPr id="15" name="Text 13"/>
          <p:cNvSpPr txBox="1"/>
          <p:nvPr/>
        </p:nvSpPr>
        <p:spPr>
          <a:xfrm>
            <a:off x="6368796" y="1956816"/>
            <a:ext cx="2269998" cy="384048"/>
          </a:xfrm>
          <a:prstGeom prst="rect">
            <a:avLst/>
          </a:prstGeom>
          <a:noFill/>
          <a:ln/>
        </p:spPr>
        <p:txBody>
          <a:bodyPr wrap="square" lIns="0" tIns="0" rIns="0" bIns="0" rtlCol="0" anchor="ctr"/>
          <a:lstStyle/>
          <a:p>
            <a:pPr indent="0" marL="0">
              <a:buNone/>
            </a:pPr>
            <a:r>
              <a:rPr lang="en-US" sz="2400" b="1" dirty="0">
                <a:solidFill>
                  <a:srgbClr val="059669"/>
                </a:solidFill>
                <a:latin typeface="Calibri" pitchFamily="34" charset="0"/>
                <a:ea typeface="Calibri" pitchFamily="34" charset="-122"/>
                <a:cs typeface="Calibri" pitchFamily="34" charset="-120"/>
              </a:rPr>
              <a:t>$164.9K</a:t>
            </a:r>
            <a:endParaRPr lang="en-US" sz="2400" dirty="0"/>
          </a:p>
        </p:txBody>
      </p:sp>
      <p:sp>
        <p:nvSpPr>
          <p:cNvPr id="16" name="Text 14"/>
          <p:cNvSpPr txBox="1"/>
          <p:nvPr/>
        </p:nvSpPr>
        <p:spPr>
          <a:xfrm>
            <a:off x="6368796" y="2340864"/>
            <a:ext cx="2269998" cy="219456"/>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≈$13.7K per month</a:t>
            </a:r>
            <a:endParaRPr lang="en-US" sz="1050" dirty="0"/>
          </a:p>
        </p:txBody>
      </p:sp>
      <p:sp>
        <p:nvSpPr>
          <p:cNvPr id="17" name="Shape 15"/>
          <p:cNvSpPr/>
          <p:nvPr/>
        </p:nvSpPr>
        <p:spPr>
          <a:xfrm>
            <a:off x="9004554" y="1627632"/>
            <a:ext cx="2635758" cy="987552"/>
          </a:xfrm>
          <a:prstGeom prst="roundRect">
            <a:avLst>
              <a:gd name="adj" fmla="val 7407"/>
            </a:avLst>
          </a:prstGeom>
          <a:solidFill>
            <a:srgbClr val="111827"/>
          </a:solidFill>
          <a:ln w="12700">
            <a:solidFill>
              <a:srgbClr val="111827"/>
            </a:solidFill>
            <a:prstDash val="solid"/>
          </a:ln>
        </p:spPr>
      </p:sp>
      <p:sp>
        <p:nvSpPr>
          <p:cNvPr id="18" name="Text 16"/>
          <p:cNvSpPr txBox="1"/>
          <p:nvPr/>
        </p:nvSpPr>
        <p:spPr>
          <a:xfrm>
            <a:off x="9187434" y="1719072"/>
            <a:ext cx="2269998" cy="237744"/>
          </a:xfrm>
          <a:prstGeom prst="rect">
            <a:avLst/>
          </a:prstGeom>
          <a:noFill/>
          <a:ln/>
        </p:spPr>
        <p:txBody>
          <a:bodyPr wrap="square" lIns="0" tIns="0" rIns="0" bIns="0" rtlCol="0" anchor="ctr"/>
          <a:lstStyle/>
          <a:p>
            <a:pPr indent="0" marL="0">
              <a:buNone/>
            </a:pPr>
            <a:r>
              <a:rPr lang="en-US" sz="1000" b="1" dirty="0">
                <a:solidFill>
                  <a:srgbClr val="9CA3AF"/>
                </a:solidFill>
                <a:latin typeface="Calibri" pitchFamily="34" charset="0"/>
                <a:ea typeface="Calibri" pitchFamily="34" charset="-122"/>
                <a:cs typeface="Calibri" pitchFamily="34" charset="-120"/>
              </a:rPr>
              <a:t>F27 total outlook + dispatcher</a:t>
            </a:r>
            <a:endParaRPr lang="en-US" sz="1000" dirty="0"/>
          </a:p>
        </p:txBody>
      </p:sp>
      <p:sp>
        <p:nvSpPr>
          <p:cNvPr id="19" name="Text 17"/>
          <p:cNvSpPr txBox="1"/>
          <p:nvPr/>
        </p:nvSpPr>
        <p:spPr>
          <a:xfrm>
            <a:off x="9187434" y="1956816"/>
            <a:ext cx="2269998" cy="384048"/>
          </a:xfrm>
          <a:prstGeom prst="rect">
            <a:avLst/>
          </a:prstGeom>
          <a:noFill/>
          <a:ln/>
        </p:spPr>
        <p:txBody>
          <a:bodyPr wrap="square" lIns="0" tIns="0" rIns="0" bIns="0" rtlCol="0" anchor="ctr"/>
          <a:lstStyle/>
          <a:p>
            <a:pPr indent="0" marL="0">
              <a:buNone/>
            </a:pPr>
            <a:r>
              <a:rPr lang="en-US" sz="2400" b="1" dirty="0">
                <a:solidFill>
                  <a:srgbClr val="FACC15"/>
                </a:solidFill>
                <a:latin typeface="Calibri" pitchFamily="34" charset="0"/>
                <a:ea typeface="Calibri" pitchFamily="34" charset="-122"/>
                <a:cs typeface="Calibri" pitchFamily="34" charset="-120"/>
              </a:rPr>
              <a:t>$562.9K</a:t>
            </a:r>
            <a:endParaRPr lang="en-US" sz="2400" dirty="0"/>
          </a:p>
        </p:txBody>
      </p:sp>
      <p:sp>
        <p:nvSpPr>
          <p:cNvPr id="20" name="Text 18"/>
          <p:cNvSpPr txBox="1"/>
          <p:nvPr/>
        </p:nvSpPr>
        <p:spPr>
          <a:xfrm>
            <a:off x="9187434" y="2340864"/>
            <a:ext cx="2269998" cy="219456"/>
          </a:xfrm>
          <a:prstGeom prst="rect">
            <a:avLst/>
          </a:prstGeom>
          <a:noFill/>
          <a:ln/>
        </p:spPr>
        <p:txBody>
          <a:bodyPr wrap="square" lIns="0" tIns="0" rIns="0" bIns="0" rtlCol="0" anchor="ctr"/>
          <a:lstStyle/>
          <a:p>
            <a:pPr indent="0" marL="0">
              <a:buNone/>
            </a:pPr>
            <a:r>
              <a:rPr lang="en-US" sz="1050" dirty="0">
                <a:solidFill>
                  <a:srgbClr val="D1D5DB"/>
                </a:solidFill>
                <a:latin typeface="Calibri" pitchFamily="34" charset="0"/>
                <a:ea typeface="Calibri" pitchFamily="34" charset="-122"/>
                <a:cs typeface="Calibri" pitchFamily="34" charset="-120"/>
              </a:rPr>
              <a:t>≈$46.9K per month · target </a:t>
            </a:r>
            <a:pPr indent="0" marL="0">
              <a:buNone/>
            </a:pPr>
            <a:r>
              <a:rPr lang="en-US" sz="1050" b="1" dirty="0">
                <a:solidFill>
                  <a:srgbClr val="FBBF24"/>
                </a:solidFill>
                <a:latin typeface="Calibri" pitchFamily="34" charset="0"/>
                <a:ea typeface="Calibri" pitchFamily="34" charset="-122"/>
                <a:cs typeface="Calibri" pitchFamily="34" charset="-120"/>
              </a:rPr>
              <a:t>TBC</a:t>
            </a:r>
            <a:endParaRPr lang="en-US" sz="10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2761488"/>
          <a:ext cx="7040880" cy="914400"/>
        </p:xfrm>
        <a:graphic>
          <a:graphicData uri="http://schemas.openxmlformats.org/drawingml/2006/table">
            <a:tbl>
              <a:tblPr/>
              <a:tblGrid>
                <a:gridCol w="3520440"/>
                <a:gridCol w="1188720"/>
                <a:gridCol w="1097280"/>
                <a:gridCol w="1234440"/>
              </a:tblGrid>
              <a:tr h="237744">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Line</a:t>
                      </a:r>
                      <a:endParaRPr lang="en-US" sz="110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Jul–Aug rate</a:t>
                      </a:r>
                      <a:endParaRPr lang="en-US" sz="110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 month</a:t>
                      </a:r>
                      <a:endParaRPr lang="en-US" sz="110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F27 year</a:t>
                      </a:r>
                      <a:endParaRPr lang="en-US" sz="110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237744">
                <a:tc>
                  <a:txBody>
                    <a:bodyPr/>
                    <a:lstStyle/>
                    <a:p>
                      <a:pPr indent="0" marL="0">
                        <a:buNone/>
                      </a:pPr>
                      <a:r>
                        <a:rPr lang="en-US" sz="1050" dirty="0">
                          <a:solidFill>
                            <a:srgbClr val="111827"/>
                          </a:solidFill>
                          <a:latin typeface="Calibri" pitchFamily="34" charset="0"/>
                          <a:ea typeface="Calibri" pitchFamily="34" charset="-122"/>
                          <a:cs typeface="Calibri" pitchFamily="34" charset="-120"/>
                        </a:rPr>
                        <a:t>Agency labour — Admin</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059669"/>
                          </a:solidFill>
                          <a:latin typeface="Calibri" pitchFamily="34" charset="0"/>
                          <a:ea typeface="Calibri" pitchFamily="34" charset="-122"/>
                          <a:cs typeface="Calibri" pitchFamily="34" charset="-120"/>
                        </a:rPr>
                        <a:t>−25.3%</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059669"/>
                          </a:solidFill>
                          <a:latin typeface="Calibri" pitchFamily="34" charset="0"/>
                          <a:ea typeface="Calibri" pitchFamily="34" charset="-122"/>
                          <a:cs typeface="Calibri" pitchFamily="34" charset="-120"/>
                        </a:rPr>
                        <a:t>$24.8K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$298.1K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237744">
                <a:tc>
                  <a:txBody>
                    <a:bodyPr/>
                    <a:lstStyle/>
                    <a:p>
                      <a:pPr indent="0" marL="0">
                        <a:buNone/>
                      </a:pPr>
                      <a:r>
                        <a:rPr lang="en-US" sz="1050" dirty="0">
                          <a:solidFill>
                            <a:srgbClr val="111827"/>
                          </a:solidFill>
                          <a:latin typeface="Calibri" pitchFamily="34" charset="0"/>
                          <a:ea typeface="Calibri" pitchFamily="34" charset="-122"/>
                          <a:cs typeface="Calibri" pitchFamily="34" charset="-120"/>
                        </a:rPr>
                        <a:t>Company wages &amp; benefits — Admin</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DC2626"/>
                          </a:solidFill>
                          <a:latin typeface="Calibri" pitchFamily="34" charset="0"/>
                          <a:ea typeface="Calibri" pitchFamily="34" charset="-122"/>
                          <a:cs typeface="Calibri" pitchFamily="34" charset="-120"/>
                        </a:rPr>
                        <a:t>+12.7%</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DC2626"/>
                          </a:solidFill>
                          <a:latin typeface="Calibri" pitchFamily="34" charset="0"/>
                          <a:ea typeface="Calibri" pitchFamily="34" charset="-122"/>
                          <a:cs typeface="Calibri" pitchFamily="34" charset="-120"/>
                        </a:rPr>
                        <a:t>($7.3K)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DC2626"/>
                          </a:solidFill>
                          <a:latin typeface="Calibri" pitchFamily="34" charset="0"/>
                          <a:ea typeface="Calibri" pitchFamily="34" charset="-122"/>
                          <a:cs typeface="Calibri" pitchFamily="34" charset="-120"/>
                        </a:rPr>
                        <a:t>($87.0K)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237744">
                <a:tc>
                  <a:txBody>
                    <a:bodyPr/>
                    <a:lstStyle/>
                    <a:p>
                      <a:pPr indent="0" marL="0">
                        <a:buNone/>
                      </a:pPr>
                      <a:r>
                        <a:rPr lang="en-US" sz="1050" b="1" dirty="0">
                          <a:solidFill>
                            <a:srgbClr val="111827"/>
                          </a:solidFill>
                          <a:latin typeface="Calibri" pitchFamily="34" charset="0"/>
                          <a:ea typeface="Calibri" pitchFamily="34" charset="-122"/>
                          <a:cs typeface="Calibri" pitchFamily="34" charset="-120"/>
                        </a:rPr>
                        <a:t>Admin labour subtotal</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c>
                  <a:txBody>
                    <a:bodyPr/>
                    <a:lstStyle/>
                    <a:p>
                      <a:pPr algn="r" indent="0" marL="0">
                        <a:buNone/>
                      </a:pP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$17.6K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$211.0K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r>
              <a:tr h="237744">
                <a:tc>
                  <a:txBody>
                    <a:bodyPr/>
                    <a:lstStyle/>
                    <a:p>
                      <a:pPr indent="0" marL="0">
                        <a:buNone/>
                      </a:pPr>
                      <a:r>
                        <a:rPr lang="en-US" sz="1050" dirty="0">
                          <a:solidFill>
                            <a:srgbClr val="111827"/>
                          </a:solidFill>
                          <a:latin typeface="Calibri" pitchFamily="34" charset="0"/>
                          <a:ea typeface="Calibri" pitchFamily="34" charset="-122"/>
                          <a:cs typeface="Calibri" pitchFamily="34" charset="-120"/>
                        </a:rPr>
                        <a:t>Agency labour — Dock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059669"/>
                          </a:solidFill>
                          <a:latin typeface="Calibri" pitchFamily="34" charset="0"/>
                          <a:ea typeface="Calibri" pitchFamily="34" charset="-122"/>
                          <a:cs typeface="Calibri" pitchFamily="34" charset="-120"/>
                        </a:rPr>
                        <a:t>−5.6%</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059669"/>
                          </a:solidFill>
                          <a:latin typeface="Calibri" pitchFamily="34" charset="0"/>
                          <a:ea typeface="Calibri" pitchFamily="34" charset="-122"/>
                          <a:cs typeface="Calibri" pitchFamily="34" charset="-120"/>
                        </a:rPr>
                        <a:t>$7.7K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$92.2K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237744">
                <a:tc>
                  <a:txBody>
                    <a:bodyPr/>
                    <a:lstStyle/>
                    <a:p>
                      <a:pPr indent="0" marL="0">
                        <a:buNone/>
                      </a:pPr>
                      <a:r>
                        <a:rPr lang="en-US" sz="1050" dirty="0">
                          <a:solidFill>
                            <a:srgbClr val="111827"/>
                          </a:solidFill>
                          <a:latin typeface="Calibri" pitchFamily="34" charset="0"/>
                          <a:ea typeface="Calibri" pitchFamily="34" charset="-122"/>
                          <a:cs typeface="Calibri" pitchFamily="34" charset="-120"/>
                        </a:rPr>
                        <a:t>Company wages &amp; benefits — Dock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059669"/>
                          </a:solidFill>
                          <a:latin typeface="Calibri" pitchFamily="34" charset="0"/>
                          <a:ea typeface="Calibri" pitchFamily="34" charset="-122"/>
                          <a:cs typeface="Calibri" pitchFamily="34" charset="-120"/>
                        </a:rPr>
                        <a:t>−2.2%</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059669"/>
                          </a:solidFill>
                          <a:latin typeface="Calibri" pitchFamily="34" charset="0"/>
                          <a:ea typeface="Calibri" pitchFamily="34" charset="-122"/>
                          <a:cs typeface="Calibri" pitchFamily="34" charset="-120"/>
                        </a:rPr>
                        <a:t>$2.8K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$33.8K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237744">
                <a:tc>
                  <a:txBody>
                    <a:bodyPr/>
                    <a:lstStyle/>
                    <a:p>
                      <a:pPr indent="0" marL="0">
                        <a:buNone/>
                      </a:pPr>
                      <a:r>
                        <a:rPr lang="en-US" sz="1050" b="1" dirty="0">
                          <a:solidFill>
                            <a:srgbClr val="111827"/>
                          </a:solidFill>
                          <a:latin typeface="Calibri" pitchFamily="34" charset="0"/>
                          <a:ea typeface="Calibri" pitchFamily="34" charset="-122"/>
                          <a:cs typeface="Calibri" pitchFamily="34" charset="-120"/>
                        </a:rPr>
                        <a:t>Dock labour subtotal</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c>
                  <a:txBody>
                    <a:bodyPr/>
                    <a:lstStyle/>
                    <a:p>
                      <a:pPr algn="r" indent="0" marL="0">
                        <a:buNone/>
                      </a:pP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$10.5K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$125.9K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r>
              <a:tr h="237744">
                <a:tc>
                  <a:txBody>
                    <a:bodyPr/>
                    <a:lstStyle/>
                    <a:p>
                      <a:pPr indent="0" marL="0">
                        <a:buNone/>
                      </a:pPr>
                      <a:r>
                        <a:rPr lang="en-US" sz="1050" dirty="0">
                          <a:solidFill>
                            <a:srgbClr val="111827"/>
                          </a:solidFill>
                          <a:latin typeface="Calibri" pitchFamily="34" charset="0"/>
                          <a:ea typeface="Calibri" pitchFamily="34" charset="-122"/>
                          <a:cs typeface="Calibri" pitchFamily="34" charset="-120"/>
                        </a:rPr>
                        <a:t>Dock owner-operator base</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059669"/>
                          </a:solidFill>
                          <a:latin typeface="Calibri" pitchFamily="34" charset="0"/>
                          <a:ea typeface="Calibri" pitchFamily="34" charset="-122"/>
                          <a:cs typeface="Calibri" pitchFamily="34" charset="-120"/>
                        </a:rPr>
                        <a:t>−97.4%</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059669"/>
                          </a:solidFill>
                          <a:latin typeface="Calibri" pitchFamily="34" charset="0"/>
                          <a:ea typeface="Calibri" pitchFamily="34" charset="-122"/>
                          <a:cs typeface="Calibri" pitchFamily="34" charset="-120"/>
                        </a:rPr>
                        <a:t>$14.1K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$169.5K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237744">
                <a:tc>
                  <a:txBody>
                    <a:bodyPr/>
                    <a:lstStyle/>
                    <a:p>
                      <a:pPr indent="0" marL="0">
                        <a:buNone/>
                      </a:pPr>
                      <a:r>
                        <a:rPr lang="en-US" sz="1050" dirty="0">
                          <a:solidFill>
                            <a:srgbClr val="111827"/>
                          </a:solidFill>
                          <a:latin typeface="Calibri" pitchFamily="34" charset="0"/>
                          <a:ea typeface="Calibri" pitchFamily="34" charset="-122"/>
                          <a:cs typeface="Calibri" pitchFamily="34" charset="-120"/>
                        </a:rPr>
                        <a:t>Rentals (dock + building)</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059669"/>
                          </a:solidFill>
                          <a:latin typeface="Calibri" pitchFamily="34" charset="0"/>
                          <a:ea typeface="Calibri" pitchFamily="34" charset="-122"/>
                          <a:cs typeface="Calibri" pitchFamily="34" charset="-120"/>
                        </a:rPr>
                        <a:t>−96.9%</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059669"/>
                          </a:solidFill>
                          <a:latin typeface="Calibri" pitchFamily="34" charset="0"/>
                          <a:ea typeface="Calibri" pitchFamily="34" charset="-122"/>
                          <a:cs typeface="Calibri" pitchFamily="34" charset="-120"/>
                        </a:rPr>
                        <a:t>$4.3K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$52.0K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237744">
                <a:tc>
                  <a:txBody>
                    <a:bodyPr/>
                    <a:lstStyle/>
                    <a:p>
                      <a:pPr indent="0" marL="0">
                        <a:buNone/>
                      </a:pPr>
                      <a:r>
                        <a:rPr lang="en-US" sz="1050" dirty="0">
                          <a:solidFill>
                            <a:srgbClr val="111827"/>
                          </a:solidFill>
                          <a:latin typeface="Calibri" pitchFamily="34" charset="0"/>
                          <a:ea typeface="Calibri" pitchFamily="34" charset="-122"/>
                          <a:cs typeface="Calibri" pitchFamily="34" charset="-120"/>
                        </a:rPr>
                        <a:t>Cargo claims</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DC2626"/>
                          </a:solidFill>
                          <a:latin typeface="Calibri" pitchFamily="34" charset="0"/>
                          <a:ea typeface="Calibri" pitchFamily="34" charset="-122"/>
                          <a:cs typeface="Calibri" pitchFamily="34" charset="-120"/>
                        </a:rPr>
                        <a:t>+60.9%</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DC2626"/>
                          </a:solidFill>
                          <a:latin typeface="Calibri" pitchFamily="34" charset="0"/>
                          <a:ea typeface="Calibri" pitchFamily="34" charset="-122"/>
                          <a:cs typeface="Calibri" pitchFamily="34" charset="-120"/>
                        </a:rPr>
                        <a:t>($4.7K)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DC2626"/>
                          </a:solidFill>
                          <a:latin typeface="Calibri" pitchFamily="34" charset="0"/>
                          <a:ea typeface="Calibri" pitchFamily="34" charset="-122"/>
                          <a:cs typeface="Calibri" pitchFamily="34" charset="-120"/>
                        </a:rPr>
                        <a:t>($56.7K)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237744">
                <a:tc>
                  <a:txBody>
                    <a:bodyPr/>
                    <a:lstStyle/>
                    <a:p>
                      <a:pPr indent="0" marL="0">
                        <a:buNone/>
                      </a:pPr>
                      <a:r>
                        <a:rPr lang="en-US" sz="1050" b="1" dirty="0">
                          <a:solidFill>
                            <a:srgbClr val="111827"/>
                          </a:solidFill>
                          <a:latin typeface="Calibri" pitchFamily="34" charset="0"/>
                          <a:ea typeface="Calibri" pitchFamily="34" charset="-122"/>
                          <a:cs typeface="Calibri" pitchFamily="34" charset="-120"/>
                        </a:rPr>
                        <a:t>Other subtotal</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c>
                  <a:txBody>
                    <a:bodyPr/>
                    <a:lstStyle/>
                    <a:p>
                      <a:pPr algn="r" indent="0" marL="0">
                        <a:buNone/>
                      </a:pP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$13.7K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$164.9K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r>
              <a:tr h="237744">
                <a:tc>
                  <a:txBody>
                    <a:bodyPr/>
                    <a:lstStyle/>
                    <a:p>
                      <a:pPr indent="0" marL="0">
                        <a:buNone/>
                      </a:pPr>
                      <a:r>
                        <a:rPr lang="en-US" sz="1050" dirty="0">
                          <a:solidFill>
                            <a:srgbClr val="111827"/>
                          </a:solidFill>
                          <a:latin typeface="Calibri" pitchFamily="34" charset="0"/>
                          <a:ea typeface="Calibri" pitchFamily="34" charset="-122"/>
                          <a:cs typeface="Calibri" pitchFamily="34" charset="-120"/>
                        </a:rPr>
                        <a:t>Dispatcher role (confirmed)</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059669"/>
                          </a:solidFill>
                          <a:latin typeface="Calibri" pitchFamily="34" charset="0"/>
                          <a:ea typeface="Calibri" pitchFamily="34" charset="-122"/>
                          <a:cs typeface="Calibri" pitchFamily="34" charset="-120"/>
                        </a:rPr>
                        <a:t>$5.1K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$61.0K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237744">
                <a:tc>
                  <a:txBody>
                    <a:bodyPr/>
                    <a:lstStyle/>
                    <a:p>
                      <a:pPr indent="0" marL="0">
                        <a:buNone/>
                      </a:pPr>
                      <a:r>
                        <a:rPr lang="en-US" sz="1050" b="1" dirty="0">
                          <a:solidFill>
                            <a:srgbClr val="111827"/>
                          </a:solidFill>
                          <a:latin typeface="Calibri" pitchFamily="34" charset="0"/>
                          <a:ea typeface="Calibri" pitchFamily="34" charset="-122"/>
                          <a:cs typeface="Calibri" pitchFamily="34" charset="-120"/>
                        </a:rPr>
                        <a:t>F27 total</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c>
                  <a:txBody>
                    <a:bodyPr/>
                    <a:lstStyle/>
                    <a:p>
                      <a:pPr algn="r" indent="0" marL="0">
                        <a:buNone/>
                      </a:pP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$46.9K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$562.9K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r>
            </a:tbl>
          </a:graphicData>
        </a:graphic>
      </p:graphicFrame>
      <p:sp>
        <p:nvSpPr>
          <p:cNvPr id="22" name="Shape 19"/>
          <p:cNvSpPr/>
          <p:nvPr/>
        </p:nvSpPr>
        <p:spPr>
          <a:xfrm>
            <a:off x="7818120" y="2761488"/>
            <a:ext cx="3822192" cy="3145536"/>
          </a:xfrm>
          <a:prstGeom prst="roundRect">
            <a:avLst>
              <a:gd name="adj" fmla="val 2326"/>
            </a:avLst>
          </a:prstGeom>
          <a:solidFill>
            <a:srgbClr val="F5F3FF"/>
          </a:solidFill>
          <a:ln w="12700">
            <a:solidFill>
              <a:srgbClr val="F5F3FF"/>
            </a:solidFill>
            <a:prstDash val="solid"/>
          </a:ln>
        </p:spPr>
      </p:sp>
      <p:sp>
        <p:nvSpPr>
          <p:cNvPr id="23" name="Shape 20"/>
          <p:cNvSpPr/>
          <p:nvPr/>
        </p:nvSpPr>
        <p:spPr>
          <a:xfrm>
            <a:off x="8046720" y="2971800"/>
            <a:ext cx="502920" cy="502920"/>
          </a:xfrm>
          <a:prstGeom prst="ellipse">
            <a:avLst/>
          </a:prstGeom>
          <a:solidFill>
            <a:srgbClr val="7C3AED"/>
          </a:solidFill>
          <a:ln w="12700">
            <a:solidFill>
              <a:srgbClr val="7C3AED"/>
            </a:solidFill>
            <a:prstDash val="solid"/>
          </a:ln>
        </p:spPr>
      </p:sp>
      <p:pic>
        <p:nvPicPr>
          <p:cNvPr id="24" name="Image 0" descr="preencoded.png">    </p:cNvPr>
          <p:cNvPicPr>
            <a:picLocks noChangeAspect="1"/>
          </p:cNvPicPr>
          <p:nvPr/>
        </p:nvPicPr>
        <p:blipFill>
          <a:blip r:embed="rId1"/>
          <a:stretch>
            <a:fillRect/>
          </a:stretch>
        </p:blipFill>
        <p:spPr>
          <a:xfrm>
            <a:off x="8172450" y="3097530"/>
            <a:ext cx="251460" cy="251460"/>
          </a:xfrm>
          <a:prstGeom prst="rect">
            <a:avLst/>
          </a:prstGeom>
        </p:spPr>
      </p:pic>
      <p:sp>
        <p:nvSpPr>
          <p:cNvPr id="25" name="Text 21"/>
          <p:cNvSpPr txBox="1"/>
          <p:nvPr/>
        </p:nvSpPr>
        <p:spPr>
          <a:xfrm>
            <a:off x="8686800" y="3017520"/>
            <a:ext cx="2834640" cy="411480"/>
          </a:xfrm>
          <a:prstGeom prst="rect">
            <a:avLst/>
          </a:prstGeom>
          <a:noFill/>
          <a:ln/>
        </p:spPr>
        <p:txBody>
          <a:bodyPr wrap="square" lIns="0" tIns="0" rIns="0" bIns="0" rtlCol="0" anchor="ctr"/>
          <a:lstStyle/>
          <a:p>
            <a:pPr indent="0" marL="0">
              <a:buNone/>
            </a:pPr>
            <a:r>
              <a:rPr lang="en-US" sz="1600" b="1" dirty="0">
                <a:solidFill>
                  <a:srgbClr val="111827"/>
                </a:solidFill>
                <a:latin typeface="Calibri" pitchFamily="34" charset="0"/>
                <a:ea typeface="Calibri" pitchFamily="34" charset="-122"/>
                <a:cs typeface="Calibri" pitchFamily="34" charset="-120"/>
              </a:rPr>
              <a:t>How we reach the goal</a:t>
            </a:r>
            <a:endParaRPr lang="en-US" sz="1600" dirty="0"/>
          </a:p>
        </p:txBody>
      </p:sp>
      <p:sp>
        <p:nvSpPr>
          <p:cNvPr id="26" name="Text 22"/>
          <p:cNvSpPr txBox="1"/>
          <p:nvPr/>
        </p:nvSpPr>
        <p:spPr>
          <a:xfrm>
            <a:off x="8046720" y="3611880"/>
            <a:ext cx="3383280" cy="2148840"/>
          </a:xfrm>
          <a:prstGeom prst="rect">
            <a:avLst/>
          </a:prstGeom>
          <a:noFill/>
          <a:ln/>
        </p:spPr>
        <p:txBody>
          <a:bodyPr wrap="square" lIns="0" tIns="0" rIns="0" bIns="0" rtlCol="0" anchor="t"/>
          <a:lstStyle/>
          <a:p>
            <a:pPr indent="0" marL="0">
              <a:spcAft>
                <a:spcPts val="800"/>
              </a:spcAft>
              <a:buNone/>
            </a:pPr>
            <a:r>
              <a:rPr lang="en-US" sz="1250" b="1" dirty="0">
                <a:solidFill>
                  <a:srgbClr val="111827"/>
                </a:solidFill>
                <a:latin typeface="Calibri" pitchFamily="34" charset="0"/>
                <a:ea typeface="Calibri" pitchFamily="34" charset="-122"/>
                <a:cs typeface="Calibri" pitchFamily="34" charset="-120"/>
              </a:rPr>
              <a:t>Hold Admin labour 13.5% and Dock labour 4.2% below F26.</a:t>
            </a:r>
            <a:endParaRPr lang="en-US" sz="1250" dirty="0"/>
          </a:p>
          <a:p>
            <a:pPr indent="0" marL="0">
              <a:spcAft>
                <a:spcPts val="800"/>
              </a:spcAft>
              <a:buNone/>
            </a:pPr>
            <a:r>
              <a:rPr lang="en-US" sz="1250" dirty="0">
                <a:solidFill>
                  <a:srgbClr val="1F2937"/>
                </a:solidFill>
                <a:latin typeface="Calibri" pitchFamily="34" charset="0"/>
                <a:ea typeface="Calibri" pitchFamily="34" charset="-122"/>
                <a:cs typeface="Calibri" pitchFamily="34" charset="-120"/>
              </a:rPr>
              <a:t>Every extra 1% ≈ $18.6K/yr Admin, ≈ $31.7K/yr Dock.</a:t>
            </a:r>
            <a:endParaRPr lang="en-US" sz="1250" dirty="0"/>
          </a:p>
          <a:p>
            <a:pPr indent="0" marL="0">
              <a:buNone/>
            </a:pPr>
            <a:r>
              <a:rPr lang="en-US" sz="1250" b="1" dirty="0">
                <a:solidFill>
                  <a:srgbClr val="7C3AED"/>
                </a:solidFill>
                <a:latin typeface="Calibri" pitchFamily="34" charset="0"/>
                <a:ea typeface="Calibri" pitchFamily="34" charset="-122"/>
                <a:cs typeface="Calibri" pitchFamily="34" charset="-120"/>
              </a:rPr>
              <a:t>Next levers on top: </a:t>
            </a:r>
            <a:pPr indent="0" marL="0">
              <a:buNone/>
            </a:pPr>
            <a:r>
              <a:rPr lang="en-US" sz="1250" dirty="0">
                <a:solidFill>
                  <a:srgbClr val="1F2937"/>
                </a:solidFill>
                <a:latin typeface="Calibri" pitchFamily="34" charset="0"/>
                <a:ea typeface="Calibri" pitchFamily="34" charset="-122"/>
                <a:cs typeface="Calibri" pitchFamily="34" charset="-120"/>
              </a:rPr>
              <a:t>load securement &amp; decking, freight-handling equipment, accessorial capture, Toyota footage capture.</a:t>
            </a:r>
            <a:endParaRPr lang="en-US" sz="1250" dirty="0"/>
          </a:p>
        </p:txBody>
      </p:sp>
      <p:sp>
        <p:nvSpPr>
          <p:cNvPr id="27" name="Text 23"/>
          <p:cNvSpPr txBox="1"/>
          <p:nvPr/>
        </p:nvSpPr>
        <p:spPr>
          <a:xfrm>
            <a:off x="548640" y="6016752"/>
            <a:ext cx="11091672" cy="384048"/>
          </a:xfrm>
          <a:prstGeom prst="rect">
            <a:avLst/>
          </a:prstGeom>
          <a:noFill/>
          <a:ln/>
        </p:spPr>
        <p:txBody>
          <a:bodyPr wrap="square" lIns="0" tIns="0" rIns="0" bIns="0" rtlCol="0" anchor="t"/>
          <a:lstStyle/>
          <a:p>
            <a:pPr indent="0" marL="0">
              <a:buNone/>
            </a:pPr>
            <a:r>
              <a:rPr lang="en-US" sz="950" i="1" dirty="0">
                <a:solidFill>
                  <a:srgbClr val="6B7280"/>
                </a:solidFill>
                <a:latin typeface="Calibri" pitchFamily="34" charset="0"/>
                <a:ea typeface="Calibri" pitchFamily="34" charset="-122"/>
                <a:cs typeface="Calibri" pitchFamily="34" charset="-120"/>
              </a:rPr>
              <a:t>Outlook = each line's Jul–Aug % change vs the same months of F26, applied to the remaining F26 months if the rate holds. Estimates, not booked savings. Source: net-amount P&amp;L pivot; claims use the claims report for August ($13,432.53).</a:t>
            </a:r>
            <a:endParaRPr lang="en-US" sz="950" dirty="0"/>
          </a:p>
        </p:txBody>
      </p:sp>
      <p:sp>
        <p:nvSpPr>
          <p:cNvPr id="28" name="Text 24"/>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9" name="Text 25"/>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8 / 27</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SCA &amp; SAVINGS</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F27 savings — initiative tracker</a:t>
            </a:r>
            <a:endParaRPr lang="en-US" sz="3000" dirty="0"/>
          </a:p>
        </p:txBody>
      </p:sp>
      <p:sp>
        <p:nvSpPr>
          <p:cNvPr id="4" name="Shape 2"/>
          <p:cNvSpPr/>
          <p:nvPr/>
        </p:nvSpPr>
        <p:spPr>
          <a:xfrm>
            <a:off x="548640" y="1371600"/>
            <a:ext cx="2635758" cy="1005840"/>
          </a:xfrm>
          <a:prstGeom prst="roundRect">
            <a:avLst>
              <a:gd name="adj" fmla="val 7273"/>
            </a:avLst>
          </a:prstGeom>
          <a:solidFill>
            <a:srgbClr val="F5F3FF"/>
          </a:solidFill>
          <a:ln w="12700">
            <a:solidFill>
              <a:srgbClr val="F5F3FF"/>
            </a:solidFill>
            <a:prstDash val="solid"/>
          </a:ln>
        </p:spPr>
      </p:sp>
      <p:sp>
        <p:nvSpPr>
          <p:cNvPr id="5" name="Text 3"/>
          <p:cNvSpPr txBox="1"/>
          <p:nvPr/>
        </p:nvSpPr>
        <p:spPr>
          <a:xfrm>
            <a:off x="731520" y="1463040"/>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F27 take-out target</a:t>
            </a:r>
            <a:endParaRPr lang="en-US" sz="1100" dirty="0"/>
          </a:p>
        </p:txBody>
      </p:sp>
      <p:sp>
        <p:nvSpPr>
          <p:cNvPr id="6" name="Text 4"/>
          <p:cNvSpPr txBox="1"/>
          <p:nvPr/>
        </p:nvSpPr>
        <p:spPr>
          <a:xfrm>
            <a:off x="731520" y="1700784"/>
            <a:ext cx="2269998" cy="384048"/>
          </a:xfrm>
          <a:prstGeom prst="rect">
            <a:avLst/>
          </a:prstGeom>
          <a:noFill/>
          <a:ln/>
        </p:spPr>
        <p:txBody>
          <a:bodyPr wrap="square" lIns="0" tIns="0" rIns="0" bIns="0" rtlCol="0" anchor="ctr"/>
          <a:lstStyle/>
          <a:p>
            <a:pPr indent="0" marL="0">
              <a:buNone/>
            </a:pPr>
            <a:r>
              <a:rPr lang="en-US" sz="2200" b="1" dirty="0">
                <a:solidFill>
                  <a:srgbClr val="D97706"/>
                </a:solidFill>
                <a:latin typeface="Calibri" pitchFamily="34" charset="0"/>
                <a:ea typeface="Calibri" pitchFamily="34" charset="-122"/>
                <a:cs typeface="Calibri" pitchFamily="34" charset="-120"/>
              </a:rPr>
              <a:t>TBC</a:t>
            </a:r>
            <a:endParaRPr lang="en-US" sz="2200" dirty="0"/>
          </a:p>
        </p:txBody>
      </p:sp>
      <p:sp>
        <p:nvSpPr>
          <p:cNvPr id="7" name="Text 5"/>
          <p:cNvSpPr txBox="1"/>
          <p:nvPr/>
        </p:nvSpPr>
        <p:spPr>
          <a:xfrm>
            <a:off x="731520" y="2103120"/>
            <a:ext cx="2269998"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Full year</a:t>
            </a:r>
            <a:endParaRPr lang="en-US" sz="1000" dirty="0"/>
          </a:p>
        </p:txBody>
      </p:sp>
      <p:sp>
        <p:nvSpPr>
          <p:cNvPr id="8" name="Shape 6"/>
          <p:cNvSpPr/>
          <p:nvPr/>
        </p:nvSpPr>
        <p:spPr>
          <a:xfrm>
            <a:off x="3367278" y="1371600"/>
            <a:ext cx="2635758" cy="1005840"/>
          </a:xfrm>
          <a:prstGeom prst="roundRect">
            <a:avLst>
              <a:gd name="adj" fmla="val 7273"/>
            </a:avLst>
          </a:prstGeom>
          <a:solidFill>
            <a:srgbClr val="F3F4F6"/>
          </a:solidFill>
          <a:ln w="12700">
            <a:solidFill>
              <a:srgbClr val="F3F4F6"/>
            </a:solidFill>
            <a:prstDash val="solid"/>
          </a:ln>
        </p:spPr>
      </p:sp>
      <p:sp>
        <p:nvSpPr>
          <p:cNvPr id="9" name="Text 7"/>
          <p:cNvSpPr txBox="1"/>
          <p:nvPr/>
        </p:nvSpPr>
        <p:spPr>
          <a:xfrm>
            <a:off x="3550158" y="1463040"/>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Identified</a:t>
            </a:r>
            <a:endParaRPr lang="en-US" sz="1100" dirty="0"/>
          </a:p>
        </p:txBody>
      </p:sp>
      <p:sp>
        <p:nvSpPr>
          <p:cNvPr id="10" name="Text 8"/>
          <p:cNvSpPr txBox="1"/>
          <p:nvPr/>
        </p:nvSpPr>
        <p:spPr>
          <a:xfrm>
            <a:off x="3550158" y="1700784"/>
            <a:ext cx="2269998" cy="384048"/>
          </a:xfrm>
          <a:prstGeom prst="rect">
            <a:avLst/>
          </a:prstGeom>
          <a:noFill/>
          <a:ln/>
        </p:spPr>
        <p:txBody>
          <a:bodyPr wrap="square" lIns="0" tIns="0" rIns="0" bIns="0" rtlCol="0" anchor="ctr"/>
          <a:lstStyle/>
          <a:p>
            <a:pPr indent="0" marL="0">
              <a:buNone/>
            </a:pPr>
            <a:r>
              <a:rPr lang="en-US" sz="2200" b="1" dirty="0">
                <a:solidFill>
                  <a:srgbClr val="059669"/>
                </a:solidFill>
                <a:latin typeface="Calibri" pitchFamily="34" charset="0"/>
                <a:ea typeface="Calibri" pitchFamily="34" charset="-122"/>
                <a:cs typeface="Calibri" pitchFamily="34" charset="-120"/>
              </a:rPr>
              <a:t>$61,000/yr</a:t>
            </a:r>
            <a:endParaRPr lang="en-US" sz="2200" dirty="0"/>
          </a:p>
        </p:txBody>
      </p:sp>
      <p:sp>
        <p:nvSpPr>
          <p:cNvPr id="11" name="Text 9"/>
          <p:cNvSpPr txBox="1"/>
          <p:nvPr/>
        </p:nvSpPr>
        <p:spPr>
          <a:xfrm>
            <a:off x="3550158" y="2103120"/>
            <a:ext cx="2269998"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1 confirmed initiative</a:t>
            </a:r>
            <a:endParaRPr lang="en-US" sz="1000" dirty="0"/>
          </a:p>
        </p:txBody>
      </p:sp>
      <p:sp>
        <p:nvSpPr>
          <p:cNvPr id="12" name="Shape 10"/>
          <p:cNvSpPr/>
          <p:nvPr/>
        </p:nvSpPr>
        <p:spPr>
          <a:xfrm>
            <a:off x="6185916" y="1371600"/>
            <a:ext cx="2635758" cy="1005840"/>
          </a:xfrm>
          <a:prstGeom prst="roundRect">
            <a:avLst>
              <a:gd name="adj" fmla="val 7273"/>
            </a:avLst>
          </a:prstGeom>
          <a:solidFill>
            <a:srgbClr val="F3F4F6"/>
          </a:solidFill>
          <a:ln w="12700">
            <a:solidFill>
              <a:srgbClr val="F3F4F6"/>
            </a:solidFill>
            <a:prstDash val="solid"/>
          </a:ln>
        </p:spPr>
      </p:sp>
      <p:sp>
        <p:nvSpPr>
          <p:cNvPr id="13" name="Text 11"/>
          <p:cNvSpPr txBox="1"/>
          <p:nvPr/>
        </p:nvSpPr>
        <p:spPr>
          <a:xfrm>
            <a:off x="6368796" y="1463040"/>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Still to identify</a:t>
            </a:r>
            <a:endParaRPr lang="en-US" sz="1100" dirty="0"/>
          </a:p>
        </p:txBody>
      </p:sp>
      <p:sp>
        <p:nvSpPr>
          <p:cNvPr id="14" name="Text 12"/>
          <p:cNvSpPr txBox="1"/>
          <p:nvPr/>
        </p:nvSpPr>
        <p:spPr>
          <a:xfrm>
            <a:off x="6368796" y="1700784"/>
            <a:ext cx="2269998" cy="384048"/>
          </a:xfrm>
          <a:prstGeom prst="rect">
            <a:avLst/>
          </a:prstGeom>
          <a:noFill/>
          <a:ln/>
        </p:spPr>
        <p:txBody>
          <a:bodyPr wrap="square" lIns="0" tIns="0" rIns="0" bIns="0" rtlCol="0" anchor="ctr"/>
          <a:lstStyle/>
          <a:p>
            <a:pPr indent="0" marL="0">
              <a:buNone/>
            </a:pPr>
            <a:r>
              <a:rPr lang="en-US" sz="2200" b="1" dirty="0">
                <a:solidFill>
                  <a:srgbClr val="D97706"/>
                </a:solidFill>
                <a:latin typeface="Calibri" pitchFamily="34" charset="0"/>
                <a:ea typeface="Calibri" pitchFamily="34" charset="-122"/>
                <a:cs typeface="Calibri" pitchFamily="34" charset="-120"/>
              </a:rPr>
              <a:t>TBC</a:t>
            </a:r>
            <a:endParaRPr lang="en-US" sz="2200" dirty="0"/>
          </a:p>
        </p:txBody>
      </p:sp>
      <p:sp>
        <p:nvSpPr>
          <p:cNvPr id="15" name="Text 13"/>
          <p:cNvSpPr txBox="1"/>
          <p:nvPr/>
        </p:nvSpPr>
        <p:spPr>
          <a:xfrm>
            <a:off x="6368796" y="2103120"/>
            <a:ext cx="2269998"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Target − identified</a:t>
            </a:r>
            <a:endParaRPr lang="en-US" sz="1000" dirty="0"/>
          </a:p>
        </p:txBody>
      </p:sp>
      <p:sp>
        <p:nvSpPr>
          <p:cNvPr id="16" name="Shape 14"/>
          <p:cNvSpPr/>
          <p:nvPr/>
        </p:nvSpPr>
        <p:spPr>
          <a:xfrm>
            <a:off x="9004554" y="1371600"/>
            <a:ext cx="2635758" cy="1005840"/>
          </a:xfrm>
          <a:prstGeom prst="roundRect">
            <a:avLst>
              <a:gd name="adj" fmla="val 7273"/>
            </a:avLst>
          </a:prstGeom>
          <a:solidFill>
            <a:srgbClr val="F3F4F6"/>
          </a:solidFill>
          <a:ln w="12700">
            <a:solidFill>
              <a:srgbClr val="F3F4F6"/>
            </a:solidFill>
            <a:prstDash val="solid"/>
          </a:ln>
        </p:spPr>
      </p:sp>
      <p:sp>
        <p:nvSpPr>
          <p:cNvPr id="17" name="Text 15"/>
          <p:cNvSpPr txBox="1"/>
          <p:nvPr/>
        </p:nvSpPr>
        <p:spPr>
          <a:xfrm>
            <a:off x="9187434" y="1463040"/>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Realized YTD</a:t>
            </a:r>
            <a:endParaRPr lang="en-US" sz="1100" dirty="0"/>
          </a:p>
        </p:txBody>
      </p:sp>
      <p:sp>
        <p:nvSpPr>
          <p:cNvPr id="18" name="Text 16"/>
          <p:cNvSpPr txBox="1"/>
          <p:nvPr/>
        </p:nvSpPr>
        <p:spPr>
          <a:xfrm>
            <a:off x="9187434" y="1700784"/>
            <a:ext cx="2269998" cy="384048"/>
          </a:xfrm>
          <a:prstGeom prst="rect">
            <a:avLst/>
          </a:prstGeom>
          <a:noFill/>
          <a:ln/>
        </p:spPr>
        <p:txBody>
          <a:bodyPr wrap="square" lIns="0" tIns="0" rIns="0" bIns="0" rtlCol="0" anchor="ctr"/>
          <a:lstStyle/>
          <a:p>
            <a:pPr indent="0" marL="0">
              <a:buNone/>
            </a:pPr>
            <a:r>
              <a:rPr lang="en-US" sz="2200" b="1" dirty="0">
                <a:solidFill>
                  <a:srgbClr val="D97706"/>
                </a:solidFill>
                <a:latin typeface="Calibri" pitchFamily="34" charset="0"/>
                <a:ea typeface="Calibri" pitchFamily="34" charset="-122"/>
                <a:cs typeface="Calibri" pitchFamily="34" charset="-120"/>
              </a:rPr>
              <a:t>TBC</a:t>
            </a:r>
            <a:endParaRPr lang="en-US" sz="2200" dirty="0"/>
          </a:p>
        </p:txBody>
      </p:sp>
      <p:sp>
        <p:nvSpPr>
          <p:cNvPr id="19" name="Text 17"/>
          <p:cNvSpPr txBox="1"/>
          <p:nvPr/>
        </p:nvSpPr>
        <p:spPr>
          <a:xfrm>
            <a:off x="9187434" y="2103120"/>
            <a:ext cx="2269998"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Jul 1 to date</a:t>
            </a:r>
            <a:endParaRPr lang="en-US" sz="10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2560320"/>
          <a:ext cx="11091672" cy="914400"/>
        </p:xfrm>
        <a:graphic>
          <a:graphicData uri="http://schemas.openxmlformats.org/drawingml/2006/table">
            <a:tbl>
              <a:tblPr/>
              <a:tblGrid>
                <a:gridCol w="411480"/>
                <a:gridCol w="5120640"/>
                <a:gridCol w="2148840"/>
                <a:gridCol w="1463040"/>
                <a:gridCol w="1947672"/>
              </a:tblGrid>
              <a:tr h="365760">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Initiative</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Category</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Status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 / yr</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365760">
                <a:tc>
                  <a:txBody>
                    <a:bodyPr/>
                    <a:lstStyle/>
                    <a:p>
                      <a:pPr algn="ctr" indent="0" marL="0">
                        <a:buNone/>
                      </a:pPr>
                      <a:r>
                        <a:rPr lang="en-US" sz="1150" dirty="0">
                          <a:solidFill>
                            <a:srgbClr val="6B7280"/>
                          </a:solidFill>
                          <a:latin typeface="Calibri" pitchFamily="34" charset="0"/>
                          <a:ea typeface="Calibri" pitchFamily="34" charset="-122"/>
                          <a:cs typeface="Calibri" pitchFamily="34" charset="-120"/>
                        </a:rPr>
                        <a:t>1</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50" b="1" dirty="0">
                          <a:solidFill>
                            <a:srgbClr val="111827"/>
                          </a:solidFill>
                          <a:latin typeface="Calibri" pitchFamily="34" charset="0"/>
                          <a:ea typeface="Calibri" pitchFamily="34" charset="-122"/>
                          <a:cs typeface="Calibri" pitchFamily="34" charset="-120"/>
                        </a:rPr>
                        <a:t>Dispatcher role eliminated (dispatch centralized)</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00" dirty="0">
                          <a:solidFill>
                            <a:srgbClr val="6B7280"/>
                          </a:solidFill>
                          <a:latin typeface="Calibri" pitchFamily="34" charset="0"/>
                          <a:ea typeface="Calibri" pitchFamily="34" charset="-122"/>
                          <a:cs typeface="Calibri" pitchFamily="34" charset="-120"/>
                        </a:rPr>
                        <a:t>Admin labour</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059669"/>
                          </a:solidFill>
                          <a:latin typeface="Calibri" pitchFamily="34" charset="0"/>
                          <a:ea typeface="Calibri" pitchFamily="34" charset="-122"/>
                          <a:cs typeface="Calibri" pitchFamily="34" charset="-120"/>
                        </a:rPr>
                        <a:t>Confirmed</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D1FAE5"/>
                    </a:solidFill>
                  </a:tcPr>
                </a:tc>
                <a:tc>
                  <a:txBody>
                    <a:bodyPr/>
                    <a:lstStyle/>
                    <a:p>
                      <a:pPr algn="r" indent="0" marL="0">
                        <a:buNone/>
                      </a:pPr>
                      <a:r>
                        <a:rPr lang="en-US" sz="1150" b="1" dirty="0">
                          <a:solidFill>
                            <a:srgbClr val="059669"/>
                          </a:solidFill>
                          <a:latin typeface="Calibri" pitchFamily="34" charset="0"/>
                          <a:ea typeface="Calibri" pitchFamily="34" charset="-122"/>
                          <a:cs typeface="Calibri" pitchFamily="34" charset="-120"/>
                        </a:rPr>
                        <a:t>$61,000</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65760">
                <a:tc>
                  <a:txBody>
                    <a:bodyPr/>
                    <a:lstStyle/>
                    <a:p>
                      <a:pPr algn="ctr" indent="0" marL="0">
                        <a:buNone/>
                      </a:pPr>
                      <a:r>
                        <a:rPr lang="en-US" sz="1150" dirty="0">
                          <a:solidFill>
                            <a:srgbClr val="6B7280"/>
                          </a:solidFill>
                          <a:latin typeface="Calibri" pitchFamily="34" charset="0"/>
                          <a:ea typeface="Calibri" pitchFamily="34" charset="-122"/>
                          <a:cs typeface="Calibri" pitchFamily="34" charset="-120"/>
                        </a:rPr>
                        <a:t>2</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150" dirty="0">
                          <a:solidFill>
                            <a:srgbClr val="111827"/>
                          </a:solidFill>
                          <a:latin typeface="Calibri" pitchFamily="34" charset="0"/>
                          <a:ea typeface="Calibri" pitchFamily="34" charset="-122"/>
                          <a:cs typeface="Calibri" pitchFamily="34" charset="-120"/>
                        </a:rPr>
                        <a:t>Agency labour mix (≤61% of dock hours vs 70.5% F26)</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100" dirty="0">
                          <a:solidFill>
                            <a:srgbClr val="6B7280"/>
                          </a:solidFill>
                          <a:latin typeface="Calibri" pitchFamily="34" charset="0"/>
                          <a:ea typeface="Calibri" pitchFamily="34" charset="-122"/>
                          <a:cs typeface="Calibri" pitchFamily="34" charset="-120"/>
                        </a:rPr>
                        <a:t>Dock labour</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ctr" indent="0" marL="0">
                        <a:buNone/>
                      </a:pPr>
                      <a:r>
                        <a:rPr lang="en-US" sz="1100" b="1" dirty="0">
                          <a:solidFill>
                            <a:srgbClr val="2563EB"/>
                          </a:solidFill>
                          <a:latin typeface="Calibri" pitchFamily="34" charset="0"/>
                          <a:ea typeface="Calibri" pitchFamily="34" charset="-122"/>
                          <a:cs typeface="Calibri" pitchFamily="34" charset="-120"/>
                        </a:rPr>
                        <a:t>In progress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DBEAFE"/>
                    </a:solidFill>
                  </a:tcPr>
                </a:tc>
                <a:tc>
                  <a:txBody>
                    <a:bodyPr/>
                    <a:lstStyle/>
                    <a:p>
                      <a:pPr algn="r" indent="0" marL="0">
                        <a:buNone/>
                      </a:pPr>
                      <a:r>
                        <a:rPr lang="en-US" sz="1150" b="1" dirty="0">
                          <a:solidFill>
                            <a:srgbClr val="D97706"/>
                          </a:solidFill>
                          <a:latin typeface="Calibri" pitchFamily="34" charset="0"/>
                          <a:ea typeface="Calibri" pitchFamily="34" charset="-122"/>
                          <a:cs typeface="Calibri" pitchFamily="34" charset="-120"/>
                        </a:rPr>
                        <a:t>TBC</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365760">
                <a:tc>
                  <a:txBody>
                    <a:bodyPr/>
                    <a:lstStyle/>
                    <a:p>
                      <a:pPr algn="ctr" indent="0" marL="0">
                        <a:buNone/>
                      </a:pPr>
                      <a:r>
                        <a:rPr lang="en-US" sz="1150" dirty="0">
                          <a:solidFill>
                            <a:srgbClr val="6B7280"/>
                          </a:solidFill>
                          <a:latin typeface="Calibri" pitchFamily="34" charset="0"/>
                          <a:ea typeface="Calibri" pitchFamily="34" charset="-122"/>
                          <a:cs typeface="Calibri" pitchFamily="34" charset="-120"/>
                        </a:rPr>
                        <a:t>3</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50" dirty="0">
                          <a:solidFill>
                            <a:srgbClr val="111827"/>
                          </a:solidFill>
                          <a:latin typeface="Calibri" pitchFamily="34" charset="0"/>
                          <a:ea typeface="Calibri" pitchFamily="34" charset="-122"/>
                          <a:cs typeface="Calibri" pitchFamily="34" charset="-120"/>
                        </a:rPr>
                        <a:t>Hours under SCA allowance (391 hrs Sept MTD ≈ $13.1K)</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00" dirty="0">
                          <a:solidFill>
                            <a:srgbClr val="6B7280"/>
                          </a:solidFill>
                          <a:latin typeface="Calibri" pitchFamily="34" charset="0"/>
                          <a:ea typeface="Calibri" pitchFamily="34" charset="-122"/>
                          <a:cs typeface="Calibri" pitchFamily="34" charset="-120"/>
                        </a:rPr>
                        <a:t>Dock labour</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2563EB"/>
                          </a:solidFill>
                          <a:latin typeface="Calibri" pitchFamily="34" charset="0"/>
                          <a:ea typeface="Calibri" pitchFamily="34" charset="-122"/>
                          <a:cs typeface="Calibri" pitchFamily="34" charset="-120"/>
                        </a:rPr>
                        <a:t>In progress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DBEAFE"/>
                    </a:solidFill>
                  </a:tcPr>
                </a:tc>
                <a:tc>
                  <a:txBody>
                    <a:bodyPr/>
                    <a:lstStyle/>
                    <a:p>
                      <a:pPr algn="r" indent="0" marL="0">
                        <a:buNone/>
                      </a:pPr>
                      <a:r>
                        <a:rPr lang="en-US" sz="1150" b="1" dirty="0">
                          <a:solidFill>
                            <a:srgbClr val="D97706"/>
                          </a:solidFill>
                          <a:latin typeface="Calibri" pitchFamily="34" charset="0"/>
                          <a:ea typeface="Calibri" pitchFamily="34" charset="-122"/>
                          <a:cs typeface="Calibri" pitchFamily="34" charset="-120"/>
                        </a:rPr>
                        <a:t>TBC</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65760">
                <a:tc>
                  <a:txBody>
                    <a:bodyPr/>
                    <a:lstStyle/>
                    <a:p>
                      <a:pPr algn="ctr" indent="0" marL="0">
                        <a:buNone/>
                      </a:pPr>
                      <a:r>
                        <a:rPr lang="en-US" sz="1150" dirty="0">
                          <a:solidFill>
                            <a:srgbClr val="6B7280"/>
                          </a:solidFill>
                          <a:latin typeface="Calibri" pitchFamily="34" charset="0"/>
                          <a:ea typeface="Calibri" pitchFamily="34" charset="-122"/>
                          <a:cs typeface="Calibri" pitchFamily="34" charset="-120"/>
                        </a:rPr>
                        <a:t>4</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150" dirty="0">
                          <a:solidFill>
                            <a:srgbClr val="111827"/>
                          </a:solidFill>
                          <a:latin typeface="Calibri" pitchFamily="34" charset="0"/>
                          <a:ea typeface="Calibri" pitchFamily="34" charset="-122"/>
                          <a:cs typeface="Calibri" pitchFamily="34" charset="-120"/>
                        </a:rPr>
                        <a:t>Load securement &amp; decking (ANCRA)</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100" dirty="0">
                          <a:solidFill>
                            <a:srgbClr val="6B7280"/>
                          </a:solidFill>
                          <a:latin typeface="Calibri" pitchFamily="34" charset="0"/>
                          <a:ea typeface="Calibri" pitchFamily="34" charset="-122"/>
                          <a:cs typeface="Calibri" pitchFamily="34" charset="-120"/>
                        </a:rPr>
                        <a:t>Linehaul / load factor</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ctr" indent="0" marL="0">
                        <a:buNone/>
                      </a:pPr>
                      <a:r>
                        <a:rPr lang="en-US" sz="1100" b="1" dirty="0">
                          <a:solidFill>
                            <a:srgbClr val="B45309"/>
                          </a:solidFill>
                          <a:latin typeface="Calibri" pitchFamily="34" charset="0"/>
                          <a:ea typeface="Calibri" pitchFamily="34" charset="-122"/>
                          <a:cs typeface="Calibri" pitchFamily="34" charset="-120"/>
                        </a:rPr>
                        <a:t>Planned</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EF3C7"/>
                    </a:solidFill>
                  </a:tcPr>
                </a:tc>
                <a:tc>
                  <a:txBody>
                    <a:bodyPr/>
                    <a:lstStyle/>
                    <a:p>
                      <a:pPr algn="r" indent="0" marL="0">
                        <a:buNone/>
                      </a:pPr>
                      <a:r>
                        <a:rPr lang="en-US" sz="1150" b="1" dirty="0">
                          <a:solidFill>
                            <a:srgbClr val="D97706"/>
                          </a:solidFill>
                          <a:latin typeface="Calibri" pitchFamily="34" charset="0"/>
                          <a:ea typeface="Calibri" pitchFamily="34" charset="-122"/>
                          <a:cs typeface="Calibri" pitchFamily="34" charset="-120"/>
                        </a:rPr>
                        <a:t>TBC</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365760">
                <a:tc>
                  <a:txBody>
                    <a:bodyPr/>
                    <a:lstStyle/>
                    <a:p>
                      <a:pPr algn="ctr" indent="0" marL="0">
                        <a:buNone/>
                      </a:pPr>
                      <a:r>
                        <a:rPr lang="en-US" sz="1150" dirty="0">
                          <a:solidFill>
                            <a:srgbClr val="6B7280"/>
                          </a:solidFill>
                          <a:latin typeface="Calibri" pitchFamily="34" charset="0"/>
                          <a:ea typeface="Calibri" pitchFamily="34" charset="-122"/>
                          <a:cs typeface="Calibri" pitchFamily="34" charset="-120"/>
                        </a:rPr>
                        <a:t>5</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50" dirty="0">
                          <a:solidFill>
                            <a:srgbClr val="111827"/>
                          </a:solidFill>
                          <a:latin typeface="Calibri" pitchFamily="34" charset="0"/>
                          <a:ea typeface="Calibri" pitchFamily="34" charset="-122"/>
                          <a:cs typeface="Calibri" pitchFamily="34" charset="-120"/>
                        </a:rPr>
                        <a:t>Freight-handling equipment (panel carts)</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00" dirty="0">
                          <a:solidFill>
                            <a:srgbClr val="6B7280"/>
                          </a:solidFill>
                          <a:latin typeface="Calibri" pitchFamily="34" charset="0"/>
                          <a:ea typeface="Calibri" pitchFamily="34" charset="-122"/>
                          <a:cs typeface="Calibri" pitchFamily="34" charset="-120"/>
                        </a:rPr>
                        <a:t>Claims &amp; damage</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B45309"/>
                          </a:solidFill>
                          <a:latin typeface="Calibri" pitchFamily="34" charset="0"/>
                          <a:ea typeface="Calibri" pitchFamily="34" charset="-122"/>
                          <a:cs typeface="Calibri" pitchFamily="34" charset="-120"/>
                        </a:rPr>
                        <a:t>Planned</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EF3C7"/>
                    </a:solidFill>
                  </a:tcPr>
                </a:tc>
                <a:tc>
                  <a:txBody>
                    <a:bodyPr/>
                    <a:lstStyle/>
                    <a:p>
                      <a:pPr algn="r" indent="0" marL="0">
                        <a:buNone/>
                      </a:pPr>
                      <a:r>
                        <a:rPr lang="en-US" sz="1150" b="1" dirty="0">
                          <a:solidFill>
                            <a:srgbClr val="D97706"/>
                          </a:solidFill>
                          <a:latin typeface="Calibri" pitchFamily="34" charset="0"/>
                          <a:ea typeface="Calibri" pitchFamily="34" charset="-122"/>
                          <a:cs typeface="Calibri" pitchFamily="34" charset="-120"/>
                        </a:rPr>
                        <a:t>TBC</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65760">
                <a:tc>
                  <a:txBody>
                    <a:bodyPr/>
                    <a:lstStyle/>
                    <a:p>
                      <a:pPr algn="ctr" indent="0" marL="0">
                        <a:buNone/>
                      </a:pPr>
                      <a:r>
                        <a:rPr lang="en-US" sz="1150" dirty="0">
                          <a:solidFill>
                            <a:srgbClr val="6B7280"/>
                          </a:solidFill>
                          <a:latin typeface="Calibri" pitchFamily="34" charset="0"/>
                          <a:ea typeface="Calibri" pitchFamily="34" charset="-122"/>
                          <a:cs typeface="Calibri" pitchFamily="34" charset="-120"/>
                        </a:rPr>
                        <a:t>6</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150" dirty="0">
                          <a:solidFill>
                            <a:srgbClr val="111827"/>
                          </a:solidFill>
                          <a:latin typeface="Calibri" pitchFamily="34" charset="0"/>
                          <a:ea typeface="Calibri" pitchFamily="34" charset="-122"/>
                          <a:cs typeface="Calibri" pitchFamily="34" charset="-120"/>
                        </a:rPr>
                        <a:t>Accessorial capture</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100" dirty="0">
                          <a:solidFill>
                            <a:srgbClr val="6B7280"/>
                          </a:solidFill>
                          <a:latin typeface="Calibri" pitchFamily="34" charset="0"/>
                          <a:ea typeface="Calibri" pitchFamily="34" charset="-122"/>
                          <a:cs typeface="Calibri" pitchFamily="34" charset="-120"/>
                        </a:rPr>
                        <a:t>Revenue protection</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ctr" indent="0" marL="0">
                        <a:buNone/>
                      </a:pPr>
                      <a:r>
                        <a:rPr lang="en-US" sz="1100" b="1" dirty="0">
                          <a:solidFill>
                            <a:srgbClr val="2563EB"/>
                          </a:solidFill>
                          <a:latin typeface="Calibri" pitchFamily="34" charset="0"/>
                          <a:ea typeface="Calibri" pitchFamily="34" charset="-122"/>
                          <a:cs typeface="Calibri" pitchFamily="34" charset="-120"/>
                        </a:rPr>
                        <a:t>In progress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DBEAFE"/>
                    </a:solidFill>
                  </a:tcPr>
                </a:tc>
                <a:tc>
                  <a:txBody>
                    <a:bodyPr/>
                    <a:lstStyle/>
                    <a:p>
                      <a:pPr algn="r" indent="0" marL="0">
                        <a:buNone/>
                      </a:pPr>
                      <a:r>
                        <a:rPr lang="en-US" sz="1150" b="1" dirty="0">
                          <a:solidFill>
                            <a:srgbClr val="D97706"/>
                          </a:solidFill>
                          <a:latin typeface="Calibri" pitchFamily="34" charset="0"/>
                          <a:ea typeface="Calibri" pitchFamily="34" charset="-122"/>
                          <a:cs typeface="Calibri" pitchFamily="34" charset="-120"/>
                        </a:rPr>
                        <a:t>TBC</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365760">
                <a:tc>
                  <a:txBody>
                    <a:bodyPr/>
                    <a:lstStyle/>
                    <a:p>
                      <a:pPr algn="ctr" indent="0" marL="0">
                        <a:buNone/>
                      </a:pPr>
                      <a:r>
                        <a:rPr lang="en-US" sz="1150" dirty="0">
                          <a:solidFill>
                            <a:srgbClr val="6B7280"/>
                          </a:solidFill>
                          <a:latin typeface="Calibri" pitchFamily="34" charset="0"/>
                          <a:ea typeface="Calibri" pitchFamily="34" charset="-122"/>
                          <a:cs typeface="Calibri" pitchFamily="34" charset="-120"/>
                        </a:rPr>
                        <a:t>7</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50" dirty="0">
                          <a:solidFill>
                            <a:srgbClr val="111827"/>
                          </a:solidFill>
                          <a:latin typeface="Calibri" pitchFamily="34" charset="0"/>
                          <a:ea typeface="Calibri" pitchFamily="34" charset="-122"/>
                          <a:cs typeface="Calibri" pitchFamily="34" charset="-120"/>
                        </a:rPr>
                        <a:t>Toyota baseload footage capture</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00" dirty="0">
                          <a:solidFill>
                            <a:srgbClr val="6B7280"/>
                          </a:solidFill>
                          <a:latin typeface="Calibri" pitchFamily="34" charset="0"/>
                          <a:ea typeface="Calibri" pitchFamily="34" charset="-122"/>
                          <a:cs typeface="Calibri" pitchFamily="34" charset="-120"/>
                        </a:rPr>
                        <a:t>Revenue / load factor</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2563EB"/>
                          </a:solidFill>
                          <a:latin typeface="Calibri" pitchFamily="34" charset="0"/>
                          <a:ea typeface="Calibri" pitchFamily="34" charset="-122"/>
                          <a:cs typeface="Calibri" pitchFamily="34" charset="-120"/>
                        </a:rPr>
                        <a:t>In progress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DBEAFE"/>
                    </a:solidFill>
                  </a:tcPr>
                </a:tc>
                <a:tc>
                  <a:txBody>
                    <a:bodyPr/>
                    <a:lstStyle/>
                    <a:p>
                      <a:pPr algn="r" indent="0" marL="0">
                        <a:buNone/>
                      </a:pPr>
                      <a:r>
                        <a:rPr lang="en-US" sz="1150" b="1" dirty="0">
                          <a:solidFill>
                            <a:srgbClr val="D97706"/>
                          </a:solidFill>
                          <a:latin typeface="Calibri" pitchFamily="34" charset="0"/>
                          <a:ea typeface="Calibri" pitchFamily="34" charset="-122"/>
                          <a:cs typeface="Calibri" pitchFamily="34" charset="-120"/>
                        </a:rPr>
                        <a:t>TBC</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65760">
                <a:tc>
                  <a:txBody>
                    <a:bodyPr/>
                    <a:lstStyle/>
                    <a:p>
                      <a:pPr indent="0" marL="0">
                        <a:buNone/>
                      </a:pP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c gridSpan="3">
                  <a:txBody>
                    <a:bodyPr/>
                    <a:lstStyle/>
                    <a:p>
                      <a:pPr indent="0" marL="0">
                        <a:buNone/>
                      </a:pPr>
                      <a:r>
                        <a:rPr lang="en-US" sz="1150" b="1" dirty="0">
                          <a:solidFill>
                            <a:srgbClr val="111827"/>
                          </a:solidFill>
                          <a:latin typeface="Calibri" pitchFamily="34" charset="0"/>
                          <a:ea typeface="Calibri" pitchFamily="34" charset="-122"/>
                          <a:cs typeface="Calibri" pitchFamily="34" charset="-120"/>
                        </a:rPr>
                        <a:t>Total identified $61,000/yr · Target </a:t>
                      </a:r>
                      <a:pPr indent="0" marL="0">
                        <a:buNone/>
                      </a:pPr>
                      <a:r>
                        <a:rPr lang="en-US" sz="1150" b="1" dirty="0">
                          <a:solidFill>
                            <a:srgbClr val="D97706"/>
                          </a:solidFill>
                          <a:latin typeface="Calibri" pitchFamily="34" charset="0"/>
                          <a:ea typeface="Calibri" pitchFamily="34" charset="-122"/>
                          <a:cs typeface="Calibri" pitchFamily="34" charset="-120"/>
                        </a:rPr>
                        <a:t>TBC</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c hMerge="1">
                  <a:tcPr/>
                </a:tc>
                <a:tc hMerge="1">
                  <a:tcPr/>
                </a:tc>
                <a:tc>
                  <a:txBody>
                    <a:bodyPr/>
                    <a:lstStyle/>
                    <a:p>
                      <a:pPr algn="r" indent="0" marL="0">
                        <a:buNone/>
                      </a:pPr>
                      <a:r>
                        <a:rPr lang="en-US" sz="1150" b="1" dirty="0">
                          <a:solidFill>
                            <a:srgbClr val="059669"/>
                          </a:solidFill>
                          <a:latin typeface="Calibri" pitchFamily="34" charset="0"/>
                          <a:ea typeface="Calibri" pitchFamily="34" charset="-122"/>
                          <a:cs typeface="Calibri" pitchFamily="34" charset="-120"/>
                        </a:rPr>
                        <a:t>$61,000</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r>
            </a:tbl>
          </a:graphicData>
        </a:graphic>
      </p:graphicFrame>
      <p:sp>
        <p:nvSpPr>
          <p:cNvPr id="21" name="Text 18"/>
          <p:cNvSpPr txBox="1"/>
          <p:nvPr/>
        </p:nvSpPr>
        <p:spPr>
          <a:xfrm>
            <a:off x="548640" y="5943600"/>
            <a:ext cx="11091672" cy="256032"/>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$/yr = full-year F27 run-rate. Cargo claims (Claims report, T-0502): $13,432.53 for August 2026 — see also damaged FB on slide 6.</a:t>
            </a:r>
            <a:endParaRPr lang="en-US" sz="950" dirty="0"/>
          </a:p>
        </p:txBody>
      </p:sp>
      <p:sp>
        <p:nvSpPr>
          <p:cNvPr id="22" name="Text 19"/>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3" name="Text 20"/>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9 / 27</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SCA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SCA dock cost per PRO (Sept MTD)</a:t>
            </a:r>
            <a:endParaRPr lang="en-US" sz="3000" dirty="0"/>
          </a:p>
        </p:txBody>
      </p:sp>
      <p:sp>
        <p:nvSpPr>
          <p:cNvPr id="4" name="Shape 2"/>
          <p:cNvSpPr/>
          <p:nvPr/>
        </p:nvSpPr>
        <p:spPr>
          <a:xfrm>
            <a:off x="548640" y="1371600"/>
            <a:ext cx="5120640" cy="4572000"/>
          </a:xfrm>
          <a:prstGeom prst="roundRect">
            <a:avLst>
              <a:gd name="adj" fmla="val 1600"/>
            </a:avLst>
          </a:prstGeom>
          <a:solidFill>
            <a:srgbClr val="F3F4F6"/>
          </a:solidFill>
          <a:ln w="12700">
            <a:solidFill>
              <a:srgbClr val="F3F4F6"/>
            </a:solidFill>
            <a:prstDash val="solid"/>
          </a:ln>
        </p:spPr>
      </p:sp>
      <p:sp>
        <p:nvSpPr>
          <p:cNvPr id="5" name="Text 3"/>
          <p:cNvSpPr txBox="1"/>
          <p:nvPr/>
        </p:nvSpPr>
        <p:spPr>
          <a:xfrm>
            <a:off x="822960" y="1600200"/>
            <a:ext cx="4572000" cy="320040"/>
          </a:xfrm>
          <a:prstGeom prst="rect">
            <a:avLst/>
          </a:prstGeom>
          <a:noFill/>
          <a:ln/>
        </p:spPr>
        <p:txBody>
          <a:bodyPr wrap="square" lIns="0" tIns="0" rIns="0" bIns="0" rtlCol="0" anchor="ctr"/>
          <a:lstStyle/>
          <a:p>
            <a:pPr indent="0" marL="0">
              <a:buNone/>
            </a:pPr>
            <a:r>
              <a:rPr lang="en-US" sz="1500" b="1" dirty="0">
                <a:solidFill>
                  <a:srgbClr val="6B7280"/>
                </a:solidFill>
                <a:latin typeface="Calibri" pitchFamily="34" charset="0"/>
                <a:ea typeface="Calibri" pitchFamily="34" charset="-122"/>
                <a:cs typeface="Calibri" pitchFamily="34" charset="-120"/>
              </a:rPr>
              <a:t>SCA dock cost per PRO · MTD</a:t>
            </a:r>
            <a:endParaRPr lang="en-US" sz="1500" dirty="0"/>
          </a:p>
        </p:txBody>
      </p:sp>
      <p:sp>
        <p:nvSpPr>
          <p:cNvPr id="6" name="Text 4"/>
          <p:cNvSpPr txBox="1"/>
          <p:nvPr/>
        </p:nvSpPr>
        <p:spPr>
          <a:xfrm>
            <a:off x="822960" y="1920240"/>
            <a:ext cx="4572000" cy="1097280"/>
          </a:xfrm>
          <a:prstGeom prst="rect">
            <a:avLst/>
          </a:prstGeom>
          <a:noFill/>
          <a:ln/>
        </p:spPr>
        <p:txBody>
          <a:bodyPr wrap="square" lIns="0" tIns="0" rIns="0" bIns="0" rtlCol="0" anchor="ctr"/>
          <a:lstStyle/>
          <a:p>
            <a:pPr indent="0" marL="0">
              <a:buNone/>
            </a:pPr>
            <a:r>
              <a:rPr lang="en-US" sz="7200" b="1" dirty="0">
                <a:solidFill>
                  <a:srgbClr val="111827"/>
                </a:solidFill>
                <a:latin typeface="Calibri" pitchFamily="34" charset="0"/>
                <a:ea typeface="Calibri" pitchFamily="34" charset="-122"/>
                <a:cs typeface="Calibri" pitchFamily="34" charset="-120"/>
              </a:rPr>
              <a:t>$6.60</a:t>
            </a:r>
            <a:endParaRPr lang="en-US" sz="7200" dirty="0"/>
          </a:p>
        </p:txBody>
      </p:sp>
      <p:sp>
        <p:nvSpPr>
          <p:cNvPr id="7" name="Text 5"/>
          <p:cNvSpPr txBox="1"/>
          <p:nvPr/>
        </p:nvSpPr>
        <p:spPr>
          <a:xfrm>
            <a:off x="822960" y="3063240"/>
            <a:ext cx="4572000" cy="365760"/>
          </a:xfrm>
          <a:prstGeom prst="rect">
            <a:avLst/>
          </a:prstGeom>
          <a:noFill/>
          <a:ln/>
        </p:spPr>
        <p:txBody>
          <a:bodyPr wrap="square" lIns="0" tIns="0" rIns="0" bIns="0" rtlCol="0" anchor="ctr"/>
          <a:lstStyle/>
          <a:p>
            <a:pPr indent="0" marL="0">
              <a:buNone/>
            </a:pPr>
            <a:r>
              <a:rPr lang="en-US" sz="1800" dirty="0">
                <a:solidFill>
                  <a:srgbClr val="6B7280"/>
                </a:solidFill>
                <a:latin typeface="Calibri" pitchFamily="34" charset="0"/>
                <a:ea typeface="Calibri" pitchFamily="34" charset="-122"/>
                <a:cs typeface="Calibri" pitchFamily="34" charset="-120"/>
              </a:rPr>
              <a:t>vs </a:t>
            </a:r>
            <a:pPr indent="0" marL="0">
              <a:buNone/>
            </a:pPr>
            <a:r>
              <a:rPr lang="en-US" sz="1800" b="1" dirty="0">
                <a:solidFill>
                  <a:srgbClr val="1F2937"/>
                </a:solidFill>
                <a:latin typeface="Calibri" pitchFamily="34" charset="0"/>
                <a:ea typeface="Calibri" pitchFamily="34" charset="-122"/>
                <a:cs typeface="Calibri" pitchFamily="34" charset="-120"/>
              </a:rPr>
              <a:t>$6.85</a:t>
            </a:r>
            <a:pPr indent="0" marL="0">
              <a:buNone/>
            </a:pPr>
            <a:r>
              <a:rPr lang="en-US" sz="1800" dirty="0">
                <a:solidFill>
                  <a:srgbClr val="6B7280"/>
                </a:solidFill>
                <a:latin typeface="Calibri" pitchFamily="34" charset="0"/>
                <a:ea typeface="Calibri" pitchFamily="34" charset="-122"/>
                <a:cs typeface="Calibri" pitchFamily="34" charset="-120"/>
              </a:rPr>
              <a:t> target</a:t>
            </a:r>
            <a:endParaRPr lang="en-US" sz="1800" dirty="0"/>
          </a:p>
        </p:txBody>
      </p:sp>
      <p:sp>
        <p:nvSpPr>
          <p:cNvPr id="8" name="Text 6"/>
          <p:cNvSpPr txBox="1"/>
          <p:nvPr/>
        </p:nvSpPr>
        <p:spPr>
          <a:xfrm>
            <a:off x="822960" y="3566160"/>
            <a:ext cx="4572000" cy="411480"/>
          </a:xfrm>
          <a:prstGeom prst="rect">
            <a:avLst/>
          </a:prstGeom>
          <a:noFill/>
          <a:ln/>
        </p:spPr>
        <p:txBody>
          <a:bodyPr wrap="square" lIns="0" tIns="0" rIns="0" bIns="0" rtlCol="0" anchor="ctr"/>
          <a:lstStyle/>
          <a:p>
            <a:pPr indent="0" marL="0">
              <a:buNone/>
            </a:pPr>
            <a:r>
              <a:rPr lang="en-US" sz="2000" b="1" dirty="0">
                <a:solidFill>
                  <a:srgbClr val="111827"/>
                </a:solidFill>
                <a:latin typeface="Calibri" pitchFamily="34" charset="0"/>
                <a:ea typeface="Calibri" pitchFamily="34" charset="-122"/>
                <a:cs typeface="Calibri" pitchFamily="34" charset="-120"/>
              </a:rPr>
              <a:t>96.3% of target — $0.25 under</a:t>
            </a:r>
            <a:endParaRPr lang="en-US" sz="2000" dirty="0"/>
          </a:p>
        </p:txBody>
      </p:sp>
      <p:sp>
        <p:nvSpPr>
          <p:cNvPr id="9" name="Shape 7"/>
          <p:cNvSpPr/>
          <p:nvPr/>
        </p:nvSpPr>
        <p:spPr>
          <a:xfrm>
            <a:off x="822960" y="4206240"/>
            <a:ext cx="2103120" cy="457200"/>
          </a:xfrm>
          <a:prstGeom prst="roundRect">
            <a:avLst>
              <a:gd name="adj" fmla="val 16000"/>
            </a:avLst>
          </a:prstGeom>
          <a:solidFill>
            <a:srgbClr val="FEF3C7"/>
          </a:solidFill>
          <a:ln w="12700">
            <a:solidFill>
              <a:srgbClr val="FEF3C7"/>
            </a:solidFill>
            <a:prstDash val="solid"/>
          </a:ln>
        </p:spPr>
      </p:sp>
      <p:sp>
        <p:nvSpPr>
          <p:cNvPr id="10" name="Text 8"/>
          <p:cNvSpPr txBox="1"/>
          <p:nvPr/>
        </p:nvSpPr>
        <p:spPr>
          <a:xfrm>
            <a:off x="822960" y="4206240"/>
            <a:ext cx="2103120" cy="457200"/>
          </a:xfrm>
          <a:prstGeom prst="rect">
            <a:avLst/>
          </a:prstGeom>
          <a:noFill/>
          <a:ln/>
        </p:spPr>
        <p:txBody>
          <a:bodyPr wrap="square" lIns="0" tIns="0" rIns="0" bIns="0" rtlCol="0" anchor="ctr"/>
          <a:lstStyle/>
          <a:p>
            <a:pPr algn="ctr" indent="0" marL="0">
              <a:buNone/>
            </a:pPr>
            <a:r>
              <a:rPr lang="en-US" sz="1300" b="1" spc="100" kern="0" dirty="0">
                <a:solidFill>
                  <a:srgbClr val="B45309"/>
                </a:solidFill>
                <a:latin typeface="Calibri" pitchFamily="34" charset="0"/>
                <a:ea typeface="Calibri" pitchFamily="34" charset="-122"/>
                <a:cs typeface="Calibri" pitchFamily="34" charset="-120"/>
              </a:rPr>
              <a:t>AMBER · WATCH</a:t>
            </a:r>
            <a:endParaRPr lang="en-US" sz="1300" dirty="0"/>
          </a:p>
        </p:txBody>
      </p:sp>
      <p:sp>
        <p:nvSpPr>
          <p:cNvPr id="11" name="Text 9"/>
          <p:cNvSpPr txBox="1"/>
          <p:nvPr/>
        </p:nvSpPr>
        <p:spPr>
          <a:xfrm>
            <a:off x="3108960" y="4206240"/>
            <a:ext cx="2286000" cy="457200"/>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Report status</a:t>
            </a:r>
            <a:endParaRPr lang="en-US" sz="1200" dirty="0"/>
          </a:p>
        </p:txBody>
      </p:sp>
      <p:sp>
        <p:nvSpPr>
          <p:cNvPr id="12" name="Text 10"/>
          <p:cNvSpPr txBox="1"/>
          <p:nvPr/>
        </p:nvSpPr>
        <p:spPr>
          <a:xfrm>
            <a:off x="822960" y="4937760"/>
            <a:ext cx="4572000" cy="731520"/>
          </a:xfrm>
          <a:prstGeom prst="rect">
            <a:avLst/>
          </a:prstGeom>
          <a:noFill/>
          <a:ln/>
        </p:spPr>
        <p:txBody>
          <a:bodyPr wrap="square" lIns="0" tIns="0" rIns="0" bIns="0" rtlCol="0" anchor="t"/>
          <a:lstStyle/>
          <a:p>
            <a:pPr indent="0" marL="0">
              <a:buNone/>
            </a:pPr>
            <a:r>
              <a:rPr lang="en-US" sz="1150" dirty="0">
                <a:solidFill>
                  <a:srgbClr val="6B7280"/>
                </a:solidFill>
                <a:latin typeface="Calibri" pitchFamily="34" charset="0"/>
                <a:ea typeface="Calibri" pitchFamily="34" charset="-122"/>
                <a:cs typeface="Calibri" pitchFamily="34" charset="-120"/>
              </a:rPr>
              <a:t>Status bands (% of target):  </a:t>
            </a:r>
            <a:pPr indent="0" marL="0">
              <a:buNone/>
            </a:pPr>
            <a:r>
              <a:rPr lang="en-US" sz="1150" b="1" dirty="0">
                <a:solidFill>
                  <a:srgbClr val="059669"/>
                </a:solidFill>
                <a:latin typeface="Calibri" pitchFamily="34" charset="0"/>
                <a:ea typeface="Calibri" pitchFamily="34" charset="-122"/>
                <a:cs typeface="Calibri" pitchFamily="34" charset="-120"/>
              </a:rPr>
              <a:t>≤95% green</a:t>
            </a:r>
            <a:pPr indent="0" marL="0">
              <a:buNone/>
            </a:pPr>
            <a:r>
              <a:rPr lang="en-US" sz="1150" dirty="0">
                <a:solidFill>
                  <a:srgbClr val="6B7280"/>
                </a:solidFill>
                <a:latin typeface="Calibri" pitchFamily="34" charset="0"/>
                <a:ea typeface="Calibri" pitchFamily="34" charset="-122"/>
                <a:cs typeface="Calibri" pitchFamily="34" charset="-120"/>
              </a:rPr>
              <a:t>  ·  </a:t>
            </a:r>
            <a:pPr indent="0" marL="0">
              <a:buNone/>
            </a:pPr>
            <a:r>
              <a:rPr lang="en-US" sz="1150" b="1" dirty="0">
                <a:solidFill>
                  <a:srgbClr val="B45309"/>
                </a:solidFill>
                <a:latin typeface="Calibri" pitchFamily="34" charset="0"/>
                <a:ea typeface="Calibri" pitchFamily="34" charset="-122"/>
                <a:cs typeface="Calibri" pitchFamily="34" charset="-120"/>
              </a:rPr>
              <a:t>95–100% amber</a:t>
            </a:r>
            <a:pPr indent="0" marL="0">
              <a:buNone/>
            </a:pPr>
            <a:r>
              <a:rPr lang="en-US" sz="1150" dirty="0">
                <a:solidFill>
                  <a:srgbClr val="6B7280"/>
                </a:solidFill>
                <a:latin typeface="Calibri" pitchFamily="34" charset="0"/>
                <a:ea typeface="Calibri" pitchFamily="34" charset="-122"/>
                <a:cs typeface="Calibri" pitchFamily="34" charset="-120"/>
              </a:rPr>
              <a:t>  ·  </a:t>
            </a:r>
            <a:pPr indent="0" marL="0">
              <a:buNone/>
            </a:pPr>
            <a:r>
              <a:rPr lang="en-US" sz="1150" b="1" dirty="0">
                <a:solidFill>
                  <a:srgbClr val="DC2626"/>
                </a:solidFill>
                <a:latin typeface="Calibri" pitchFamily="34" charset="0"/>
                <a:ea typeface="Calibri" pitchFamily="34" charset="-122"/>
                <a:cs typeface="Calibri" pitchFamily="34" charset="-120"/>
              </a:rPr>
              <a:t>&gt;100% red</a:t>
            </a:r>
            <a:endParaRPr lang="en-US" sz="1150" dirty="0"/>
          </a:p>
        </p:txBody>
      </p:sp>
      <p:sp>
        <p:nvSpPr>
          <p:cNvPr id="13" name="Shape 11"/>
          <p:cNvSpPr/>
          <p:nvPr/>
        </p:nvSpPr>
        <p:spPr>
          <a:xfrm>
            <a:off x="5989320" y="1371600"/>
            <a:ext cx="2711196" cy="1417320"/>
          </a:xfrm>
          <a:prstGeom prst="roundRect">
            <a:avLst>
              <a:gd name="adj" fmla="val 5161"/>
            </a:avLst>
          </a:prstGeom>
          <a:solidFill>
            <a:srgbClr val="F3F4F6"/>
          </a:solidFill>
          <a:ln w="12700">
            <a:solidFill>
              <a:srgbClr val="F3F4F6"/>
            </a:solidFill>
            <a:prstDash val="solid"/>
          </a:ln>
        </p:spPr>
      </p:sp>
      <p:sp>
        <p:nvSpPr>
          <p:cNvPr id="14" name="Text 12"/>
          <p:cNvSpPr txBox="1"/>
          <p:nvPr/>
        </p:nvSpPr>
        <p:spPr>
          <a:xfrm>
            <a:off x="6172200" y="1508760"/>
            <a:ext cx="234543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FB count MTD (IN + OUT)</a:t>
            </a:r>
            <a:endParaRPr lang="en-US" sz="1100" dirty="0"/>
          </a:p>
        </p:txBody>
      </p:sp>
      <p:sp>
        <p:nvSpPr>
          <p:cNvPr id="15" name="Text 13"/>
          <p:cNvSpPr txBox="1"/>
          <p:nvPr/>
        </p:nvSpPr>
        <p:spPr>
          <a:xfrm>
            <a:off x="6172200" y="1783080"/>
            <a:ext cx="2345436" cy="548640"/>
          </a:xfrm>
          <a:prstGeom prst="rect">
            <a:avLst/>
          </a:prstGeom>
          <a:noFill/>
          <a:ln/>
        </p:spPr>
        <p:txBody>
          <a:bodyPr wrap="square" lIns="0" tIns="0" rIns="0" bIns="0" rtlCol="0" anchor="ctr"/>
          <a:lstStyle/>
          <a:p>
            <a:pPr indent="0" marL="0">
              <a:buNone/>
            </a:pPr>
            <a:r>
              <a:rPr lang="en-US" sz="2800" b="1" dirty="0">
                <a:solidFill>
                  <a:srgbClr val="111827"/>
                </a:solidFill>
                <a:latin typeface="Calibri" pitchFamily="34" charset="0"/>
                <a:ea typeface="Calibri" pitchFamily="34" charset="-122"/>
                <a:cs typeface="Calibri" pitchFamily="34" charset="-120"/>
              </a:rPr>
              <a:t>26,053</a:t>
            </a:r>
            <a:endParaRPr lang="en-US" sz="2800" dirty="0"/>
          </a:p>
        </p:txBody>
      </p:sp>
      <p:sp>
        <p:nvSpPr>
          <p:cNvPr id="16" name="Text 14"/>
          <p:cNvSpPr txBox="1"/>
          <p:nvPr/>
        </p:nvSpPr>
        <p:spPr>
          <a:xfrm>
            <a:off x="6172200" y="2359152"/>
            <a:ext cx="2345436"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September MTD</a:t>
            </a:r>
            <a:endParaRPr lang="en-US" sz="1050" dirty="0"/>
          </a:p>
        </p:txBody>
      </p:sp>
      <p:sp>
        <p:nvSpPr>
          <p:cNvPr id="17" name="Shape 15"/>
          <p:cNvSpPr/>
          <p:nvPr/>
        </p:nvSpPr>
        <p:spPr>
          <a:xfrm>
            <a:off x="8929116" y="1371600"/>
            <a:ext cx="2711196" cy="1417320"/>
          </a:xfrm>
          <a:prstGeom prst="roundRect">
            <a:avLst>
              <a:gd name="adj" fmla="val 5161"/>
            </a:avLst>
          </a:prstGeom>
          <a:solidFill>
            <a:srgbClr val="F3F4F6"/>
          </a:solidFill>
          <a:ln w="12700">
            <a:solidFill>
              <a:srgbClr val="F3F4F6"/>
            </a:solidFill>
            <a:prstDash val="solid"/>
          </a:ln>
        </p:spPr>
      </p:sp>
      <p:sp>
        <p:nvSpPr>
          <p:cNvPr id="18" name="Text 16"/>
          <p:cNvSpPr txBox="1"/>
          <p:nvPr/>
        </p:nvSpPr>
        <p:spPr>
          <a:xfrm>
            <a:off x="9111996" y="1508760"/>
            <a:ext cx="234543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Below target MTD</a:t>
            </a:r>
            <a:endParaRPr lang="en-US" sz="1100" dirty="0"/>
          </a:p>
        </p:txBody>
      </p:sp>
      <p:sp>
        <p:nvSpPr>
          <p:cNvPr id="19" name="Text 17"/>
          <p:cNvSpPr txBox="1"/>
          <p:nvPr/>
        </p:nvSpPr>
        <p:spPr>
          <a:xfrm>
            <a:off x="9111996" y="1783080"/>
            <a:ext cx="2345436" cy="548640"/>
          </a:xfrm>
          <a:prstGeom prst="rect">
            <a:avLst/>
          </a:prstGeom>
          <a:noFill/>
          <a:ln/>
        </p:spPr>
        <p:txBody>
          <a:bodyPr wrap="square" lIns="0" tIns="0" rIns="0" bIns="0" rtlCol="0" anchor="ctr"/>
          <a:lstStyle/>
          <a:p>
            <a:pPr indent="0" marL="0">
              <a:buNone/>
            </a:pPr>
            <a:r>
              <a:rPr lang="en-US" sz="2800" b="1" dirty="0">
                <a:solidFill>
                  <a:srgbClr val="059669"/>
                </a:solidFill>
                <a:latin typeface="Calibri" pitchFamily="34" charset="0"/>
                <a:ea typeface="Calibri" pitchFamily="34" charset="-122"/>
                <a:cs typeface="Calibri" pitchFamily="34" charset="-120"/>
              </a:rPr>
              <a:t>≈ $6.5K</a:t>
            </a:r>
            <a:endParaRPr lang="en-US" sz="2800" dirty="0"/>
          </a:p>
        </p:txBody>
      </p:sp>
      <p:sp>
        <p:nvSpPr>
          <p:cNvPr id="20" name="Text 18"/>
          <p:cNvSpPr txBox="1"/>
          <p:nvPr/>
        </p:nvSpPr>
        <p:spPr>
          <a:xfrm>
            <a:off x="9111996" y="2359152"/>
            <a:ext cx="2345436"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Calculated: $0.25 × 26,053 FBs</a:t>
            </a:r>
            <a:endParaRPr lang="en-US" sz="1050" dirty="0"/>
          </a:p>
        </p:txBody>
      </p:sp>
      <p:sp>
        <p:nvSpPr>
          <p:cNvPr id="21" name="Shape 19"/>
          <p:cNvSpPr/>
          <p:nvPr/>
        </p:nvSpPr>
        <p:spPr>
          <a:xfrm>
            <a:off x="5989320" y="3017520"/>
            <a:ext cx="2711196" cy="1417320"/>
          </a:xfrm>
          <a:prstGeom prst="roundRect">
            <a:avLst>
              <a:gd name="adj" fmla="val 5161"/>
            </a:avLst>
          </a:prstGeom>
          <a:solidFill>
            <a:srgbClr val="F3F4F6"/>
          </a:solidFill>
          <a:ln w="12700">
            <a:solidFill>
              <a:srgbClr val="F3F4F6"/>
            </a:solidFill>
            <a:prstDash val="solid"/>
          </a:ln>
        </p:spPr>
      </p:sp>
      <p:sp>
        <p:nvSpPr>
          <p:cNvPr id="22" name="Text 20"/>
          <p:cNvSpPr txBox="1"/>
          <p:nvPr/>
        </p:nvSpPr>
        <p:spPr>
          <a:xfrm>
            <a:off x="6172200" y="3154680"/>
            <a:ext cx="234543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Monthly dock S&amp;B</a:t>
            </a:r>
            <a:endParaRPr lang="en-US" sz="1100" dirty="0"/>
          </a:p>
        </p:txBody>
      </p:sp>
      <p:sp>
        <p:nvSpPr>
          <p:cNvPr id="23" name="Text 21"/>
          <p:cNvSpPr txBox="1"/>
          <p:nvPr/>
        </p:nvSpPr>
        <p:spPr>
          <a:xfrm>
            <a:off x="6172200" y="3429000"/>
            <a:ext cx="2345436" cy="548640"/>
          </a:xfrm>
          <a:prstGeom prst="rect">
            <a:avLst/>
          </a:prstGeom>
          <a:noFill/>
          <a:ln/>
        </p:spPr>
        <p:txBody>
          <a:bodyPr wrap="square" lIns="0" tIns="0" rIns="0" bIns="0" rtlCol="0" anchor="ctr"/>
          <a:lstStyle/>
          <a:p>
            <a:pPr indent="0" marL="0">
              <a:buNone/>
            </a:pPr>
            <a:r>
              <a:rPr lang="en-US" sz="2800" b="1" dirty="0">
                <a:solidFill>
                  <a:srgbClr val="111827"/>
                </a:solidFill>
                <a:latin typeface="Calibri" pitchFamily="34" charset="0"/>
                <a:ea typeface="Calibri" pitchFamily="34" charset="-122"/>
                <a:cs typeface="Calibri" pitchFamily="34" charset="-120"/>
              </a:rPr>
              <a:t>$44,053</a:t>
            </a:r>
            <a:endParaRPr lang="en-US" sz="2800" dirty="0"/>
          </a:p>
        </p:txBody>
      </p:sp>
      <p:sp>
        <p:nvSpPr>
          <p:cNvPr id="24" name="Text 22"/>
          <p:cNvSpPr txBox="1"/>
          <p:nvPr/>
        </p:nvSpPr>
        <p:spPr>
          <a:xfrm>
            <a:off x="6172200" y="4005072"/>
            <a:ext cx="2345436"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Monthly input</a:t>
            </a:r>
            <a:endParaRPr lang="en-US" sz="1050" dirty="0"/>
          </a:p>
        </p:txBody>
      </p:sp>
      <p:sp>
        <p:nvSpPr>
          <p:cNvPr id="25" name="Shape 23"/>
          <p:cNvSpPr/>
          <p:nvPr/>
        </p:nvSpPr>
        <p:spPr>
          <a:xfrm>
            <a:off x="8929116" y="3017520"/>
            <a:ext cx="2711196" cy="1417320"/>
          </a:xfrm>
          <a:prstGeom prst="roundRect">
            <a:avLst>
              <a:gd name="adj" fmla="val 5161"/>
            </a:avLst>
          </a:prstGeom>
          <a:solidFill>
            <a:srgbClr val="F3F4F6"/>
          </a:solidFill>
          <a:ln w="12700">
            <a:solidFill>
              <a:srgbClr val="F3F4F6"/>
            </a:solidFill>
            <a:prstDash val="solid"/>
          </a:ln>
        </p:spPr>
      </p:sp>
      <p:sp>
        <p:nvSpPr>
          <p:cNvPr id="26" name="Text 24"/>
          <p:cNvSpPr txBox="1"/>
          <p:nvPr/>
        </p:nvSpPr>
        <p:spPr>
          <a:xfrm>
            <a:off x="9111996" y="3154680"/>
            <a:ext cx="234543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Prorated S&amp;B MTD</a:t>
            </a:r>
            <a:endParaRPr lang="en-US" sz="1100" dirty="0"/>
          </a:p>
        </p:txBody>
      </p:sp>
      <p:sp>
        <p:nvSpPr>
          <p:cNvPr id="27" name="Text 25"/>
          <p:cNvSpPr txBox="1"/>
          <p:nvPr/>
        </p:nvSpPr>
        <p:spPr>
          <a:xfrm>
            <a:off x="9111996" y="3429000"/>
            <a:ext cx="2345436" cy="548640"/>
          </a:xfrm>
          <a:prstGeom prst="rect">
            <a:avLst/>
          </a:prstGeom>
          <a:noFill/>
          <a:ln/>
        </p:spPr>
        <p:txBody>
          <a:bodyPr wrap="square" lIns="0" tIns="0" rIns="0" bIns="0" rtlCol="0" anchor="ctr"/>
          <a:lstStyle/>
          <a:p>
            <a:pPr indent="0" marL="0">
              <a:buNone/>
            </a:pPr>
            <a:r>
              <a:rPr lang="en-US" sz="2800" b="1" dirty="0">
                <a:solidFill>
                  <a:srgbClr val="111827"/>
                </a:solidFill>
                <a:latin typeface="Calibri" pitchFamily="34" charset="0"/>
                <a:ea typeface="Calibri" pitchFamily="34" charset="-122"/>
                <a:cs typeface="Calibri" pitchFamily="34" charset="-120"/>
              </a:rPr>
              <a:t>$38,179</a:t>
            </a:r>
            <a:endParaRPr lang="en-US" sz="2800" dirty="0"/>
          </a:p>
        </p:txBody>
      </p:sp>
      <p:sp>
        <p:nvSpPr>
          <p:cNvPr id="28" name="Text 26"/>
          <p:cNvSpPr txBox="1"/>
          <p:nvPr/>
        </p:nvSpPr>
        <p:spPr>
          <a:xfrm>
            <a:off x="9111996" y="4005072"/>
            <a:ext cx="2345436"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26 of 30 calendar days (86.7%)</a:t>
            </a:r>
            <a:endParaRPr lang="en-US" sz="1050" dirty="0"/>
          </a:p>
        </p:txBody>
      </p:sp>
      <p:sp>
        <p:nvSpPr>
          <p:cNvPr id="29" name="Shape 27"/>
          <p:cNvSpPr/>
          <p:nvPr/>
        </p:nvSpPr>
        <p:spPr>
          <a:xfrm>
            <a:off x="5989320" y="4663440"/>
            <a:ext cx="5650992" cy="1280160"/>
          </a:xfrm>
          <a:prstGeom prst="roundRect">
            <a:avLst>
              <a:gd name="adj" fmla="val 5714"/>
            </a:avLst>
          </a:prstGeom>
          <a:solidFill>
            <a:srgbClr val="F5F3FF"/>
          </a:solidFill>
          <a:ln w="12700">
            <a:solidFill>
              <a:srgbClr val="F5F3FF"/>
            </a:solidFill>
            <a:prstDash val="solid"/>
          </a:ln>
        </p:spPr>
      </p:sp>
      <p:sp>
        <p:nvSpPr>
          <p:cNvPr id="30" name="Shape 28"/>
          <p:cNvSpPr/>
          <p:nvPr/>
        </p:nvSpPr>
        <p:spPr>
          <a:xfrm>
            <a:off x="6217920" y="4965192"/>
            <a:ext cx="566928" cy="566928"/>
          </a:xfrm>
          <a:prstGeom prst="ellipse">
            <a:avLst/>
          </a:prstGeom>
          <a:solidFill>
            <a:srgbClr val="7C3AED"/>
          </a:solidFill>
          <a:ln w="12700">
            <a:solidFill>
              <a:srgbClr val="7C3AED"/>
            </a:solidFill>
            <a:prstDash val="solid"/>
          </a:ln>
        </p:spPr>
      </p:sp>
      <p:pic>
        <p:nvPicPr>
          <p:cNvPr id="31" name="Image 0" descr="preencoded.png">    </p:cNvPr>
          <p:cNvPicPr>
            <a:picLocks noChangeAspect="1"/>
          </p:cNvPicPr>
          <p:nvPr/>
        </p:nvPicPr>
        <p:blipFill>
          <a:blip r:embed="rId1"/>
          <a:stretch>
            <a:fillRect/>
          </a:stretch>
        </p:blipFill>
        <p:spPr>
          <a:xfrm>
            <a:off x="6359652" y="5106924"/>
            <a:ext cx="283464" cy="283464"/>
          </a:xfrm>
          <a:prstGeom prst="rect">
            <a:avLst/>
          </a:prstGeom>
        </p:spPr>
      </p:pic>
      <p:sp>
        <p:nvSpPr>
          <p:cNvPr id="32" name="Text 29"/>
          <p:cNvSpPr txBox="1"/>
          <p:nvPr/>
        </p:nvSpPr>
        <p:spPr>
          <a:xfrm>
            <a:off x="6995160" y="4663440"/>
            <a:ext cx="4434840" cy="1280160"/>
          </a:xfrm>
          <a:prstGeom prst="rect">
            <a:avLst/>
          </a:prstGeom>
          <a:noFill/>
          <a:ln/>
        </p:spPr>
        <p:txBody>
          <a:bodyPr wrap="square" lIns="0" tIns="0" rIns="0" bIns="0" rtlCol="0" anchor="ctr"/>
          <a:lstStyle/>
          <a:p>
            <a:pPr indent="0" marL="0">
              <a:buNone/>
            </a:pPr>
            <a:r>
              <a:rPr lang="en-US" sz="1500" dirty="0">
                <a:solidFill>
                  <a:srgbClr val="1F2937"/>
                </a:solidFill>
                <a:latin typeface="Calibri" pitchFamily="34" charset="0"/>
                <a:ea typeface="Calibri" pitchFamily="34" charset="-122"/>
                <a:cs typeface="Calibri" pitchFamily="34" charset="-120"/>
              </a:rPr>
              <a:t>Weekly SCA review meetings — hours vs allowance and cost per PRO tracked every week.</a:t>
            </a:r>
            <a:endParaRPr lang="en-US" sz="1500" dirty="0"/>
          </a:p>
        </p:txBody>
      </p:sp>
      <p:sp>
        <p:nvSpPr>
          <p:cNvPr id="33" name="Text 30"/>
          <p:cNvSpPr txBox="1"/>
          <p:nvPr/>
        </p:nvSpPr>
        <p:spPr>
          <a:xfrm>
            <a:off x="548640" y="6080760"/>
            <a:ext cx="11091672" cy="256032"/>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Source: National SCA Cost-per-PRO report — Mississauga, updated Sep 26, 2026</a:t>
            </a:r>
            <a:endParaRPr lang="en-US" sz="1000" dirty="0"/>
          </a:p>
        </p:txBody>
      </p:sp>
      <p:sp>
        <p:nvSpPr>
          <p:cNvPr id="34" name="Text 31"/>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5" name="Text 32"/>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10 / 27</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SCA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SCA — Hours vs allowance (Sept MTD)</a:t>
            </a:r>
            <a:endParaRPr lang="en-US" sz="3000" dirty="0"/>
          </a:p>
        </p:txBody>
      </p:sp>
      <p:sp>
        <p:nvSpPr>
          <p:cNvPr id="4" name="Text 2"/>
          <p:cNvSpPr txBox="1"/>
          <p:nvPr/>
        </p:nvSpPr>
        <p:spPr>
          <a:xfrm>
            <a:off x="548640" y="1371600"/>
            <a:ext cx="4846320" cy="320040"/>
          </a:xfrm>
          <a:prstGeom prst="rect">
            <a:avLst/>
          </a:prstGeom>
          <a:noFill/>
          <a:ln/>
        </p:spPr>
        <p:txBody>
          <a:bodyPr wrap="square" lIns="0" tIns="0" rIns="0" bIns="0" rtlCol="0" anchor="ctr"/>
          <a:lstStyle/>
          <a:p>
            <a:pPr indent="0" marL="0">
              <a:buNone/>
            </a:pPr>
            <a:r>
              <a:rPr lang="en-US" sz="1400" b="1" dirty="0">
                <a:solidFill>
                  <a:srgbClr val="6B7280"/>
                </a:solidFill>
                <a:latin typeface="Calibri" pitchFamily="34" charset="0"/>
                <a:ea typeface="Calibri" pitchFamily="34" charset="-122"/>
                <a:cs typeface="Calibri" pitchFamily="34" charset="-120"/>
              </a:rPr>
              <a:t>SCA hour allowance used · working-day view</a:t>
            </a:r>
            <a:endParaRPr lang="en-US" sz="1400" dirty="0"/>
          </a:p>
        </p:txBody>
      </p:sp>
      <p:sp>
        <p:nvSpPr>
          <p:cNvPr id="5" name="Text 3"/>
          <p:cNvSpPr txBox="1"/>
          <p:nvPr/>
        </p:nvSpPr>
        <p:spPr>
          <a:xfrm>
            <a:off x="548640" y="1691640"/>
            <a:ext cx="4846320" cy="1005840"/>
          </a:xfrm>
          <a:prstGeom prst="rect">
            <a:avLst/>
          </a:prstGeom>
          <a:noFill/>
          <a:ln/>
        </p:spPr>
        <p:txBody>
          <a:bodyPr wrap="square" lIns="0" tIns="0" rIns="0" bIns="0" rtlCol="0" anchor="ctr"/>
          <a:lstStyle/>
          <a:p>
            <a:pPr indent="0" marL="0">
              <a:buNone/>
            </a:pPr>
            <a:r>
              <a:rPr lang="en-US" sz="7200" b="1" dirty="0">
                <a:solidFill>
                  <a:srgbClr val="059669"/>
                </a:solidFill>
                <a:latin typeface="Calibri" pitchFamily="34" charset="0"/>
                <a:ea typeface="Calibri" pitchFamily="34" charset="-122"/>
                <a:cs typeface="Calibri" pitchFamily="34" charset="-120"/>
              </a:rPr>
              <a:t>91.1%</a:t>
            </a:r>
            <a:endParaRPr lang="en-US" sz="7200" dirty="0"/>
          </a:p>
        </p:txBody>
      </p:sp>
      <p:sp>
        <p:nvSpPr>
          <p:cNvPr id="6" name="Text 4"/>
          <p:cNvSpPr txBox="1"/>
          <p:nvPr/>
        </p:nvSpPr>
        <p:spPr>
          <a:xfrm>
            <a:off x="548640" y="2697480"/>
            <a:ext cx="4846320" cy="365760"/>
          </a:xfrm>
          <a:prstGeom prst="rect">
            <a:avLst/>
          </a:prstGeom>
          <a:noFill/>
          <a:ln/>
        </p:spPr>
        <p:txBody>
          <a:bodyPr wrap="square" lIns="0" tIns="0" rIns="0" bIns="0" rtlCol="0" anchor="ctr"/>
          <a:lstStyle/>
          <a:p>
            <a:pPr indent="0" marL="0">
              <a:buNone/>
            </a:pPr>
            <a:r>
              <a:rPr lang="en-US" sz="1600" b="1" dirty="0">
                <a:solidFill>
                  <a:srgbClr val="111827"/>
                </a:solidFill>
                <a:latin typeface="Calibri" pitchFamily="34" charset="0"/>
                <a:ea typeface="Calibri" pitchFamily="34" charset="-122"/>
                <a:cs typeface="Calibri" pitchFamily="34" charset="-120"/>
              </a:rPr>
              <a:t>3,999</a:t>
            </a:r>
            <a:pPr indent="0" marL="0">
              <a:buNone/>
            </a:pPr>
            <a:r>
              <a:rPr lang="en-US" sz="1600" dirty="0">
                <a:solidFill>
                  <a:srgbClr val="6B7280"/>
                </a:solidFill>
                <a:latin typeface="Calibri" pitchFamily="34" charset="0"/>
                <a:ea typeface="Calibri" pitchFamily="34" charset="-122"/>
                <a:cs typeface="Calibri" pitchFamily="34" charset="-120"/>
              </a:rPr>
              <a:t> hrs used vs </a:t>
            </a:r>
            <a:pPr indent="0" marL="0">
              <a:buNone/>
            </a:pPr>
            <a:r>
              <a:rPr lang="en-US" sz="1600" b="1" dirty="0">
                <a:solidFill>
                  <a:srgbClr val="111827"/>
                </a:solidFill>
                <a:latin typeface="Calibri" pitchFamily="34" charset="0"/>
                <a:ea typeface="Calibri" pitchFamily="34" charset="-122"/>
                <a:cs typeface="Calibri" pitchFamily="34" charset="-120"/>
              </a:rPr>
              <a:t>4,390</a:t>
            </a:r>
            <a:pPr indent="0" marL="0">
              <a:buNone/>
            </a:pPr>
            <a:r>
              <a:rPr lang="en-US" sz="1600" dirty="0">
                <a:solidFill>
                  <a:srgbClr val="6B7280"/>
                </a:solidFill>
                <a:latin typeface="Calibri" pitchFamily="34" charset="0"/>
                <a:ea typeface="Calibri" pitchFamily="34" charset="-122"/>
                <a:cs typeface="Calibri" pitchFamily="34" charset="-120"/>
              </a:rPr>
              <a:t> allowable MTD</a:t>
            </a:r>
            <a:endParaRPr lang="en-US" sz="1600" dirty="0"/>
          </a:p>
        </p:txBody>
      </p:sp>
      <p:sp>
        <p:nvSpPr>
          <p:cNvPr id="7" name="Shape 5"/>
          <p:cNvSpPr/>
          <p:nvPr/>
        </p:nvSpPr>
        <p:spPr>
          <a:xfrm>
            <a:off x="548640" y="3154680"/>
            <a:ext cx="4846320" cy="457200"/>
          </a:xfrm>
          <a:prstGeom prst="roundRect">
            <a:avLst>
              <a:gd name="adj" fmla="val 16000"/>
            </a:avLst>
          </a:prstGeom>
          <a:solidFill>
            <a:srgbClr val="D1FAE5"/>
          </a:solidFill>
          <a:ln w="12700">
            <a:solidFill>
              <a:srgbClr val="D1FAE5"/>
            </a:solidFill>
            <a:prstDash val="solid"/>
          </a:ln>
        </p:spPr>
      </p:sp>
      <p:sp>
        <p:nvSpPr>
          <p:cNvPr id="8" name="Text 6"/>
          <p:cNvSpPr txBox="1"/>
          <p:nvPr/>
        </p:nvSpPr>
        <p:spPr>
          <a:xfrm>
            <a:off x="548640" y="3154680"/>
            <a:ext cx="4846320" cy="457200"/>
          </a:xfrm>
          <a:prstGeom prst="rect">
            <a:avLst/>
          </a:prstGeom>
          <a:noFill/>
          <a:ln/>
        </p:spPr>
        <p:txBody>
          <a:bodyPr wrap="square" lIns="0" tIns="0" rIns="0" bIns="0" rtlCol="0" anchor="ctr"/>
          <a:lstStyle/>
          <a:p>
            <a:pPr algn="ctr" indent="0" marL="0">
              <a:buNone/>
            </a:pPr>
            <a:r>
              <a:rPr lang="en-US" sz="1350" b="1" dirty="0">
                <a:solidFill>
                  <a:srgbClr val="059669"/>
                </a:solidFill>
                <a:latin typeface="Calibri" pitchFamily="34" charset="0"/>
                <a:ea typeface="Calibri" pitchFamily="34" charset="-122"/>
                <a:cs typeface="Calibri" pitchFamily="34" charset="-120"/>
              </a:rPr>
              <a:t>391 hrs under allowance ≈ $13.1K at $33.43/hr</a:t>
            </a:r>
            <a:endParaRPr lang="en-US" sz="1350" dirty="0"/>
          </a:p>
        </p:txBody>
      </p:sp>
      <p:sp>
        <p:nvSpPr>
          <p:cNvPr id="9" name="Shape 7"/>
          <p:cNvSpPr/>
          <p:nvPr/>
        </p:nvSpPr>
        <p:spPr>
          <a:xfrm>
            <a:off x="548640" y="3794760"/>
            <a:ext cx="4846320" cy="475488"/>
          </a:xfrm>
          <a:prstGeom prst="roundRect">
            <a:avLst>
              <a:gd name="adj" fmla="val 15385"/>
            </a:avLst>
          </a:prstGeom>
          <a:solidFill>
            <a:srgbClr val="F3F4F6"/>
          </a:solidFill>
          <a:ln w="12700">
            <a:solidFill>
              <a:srgbClr val="F3F4F6"/>
            </a:solidFill>
            <a:prstDash val="solid"/>
          </a:ln>
        </p:spPr>
      </p:sp>
      <p:sp>
        <p:nvSpPr>
          <p:cNvPr id="10" name="Text 8"/>
          <p:cNvSpPr txBox="1"/>
          <p:nvPr/>
        </p:nvSpPr>
        <p:spPr>
          <a:xfrm>
            <a:off x="731520" y="3794760"/>
            <a:ext cx="3291840" cy="475488"/>
          </a:xfrm>
          <a:prstGeom prst="rect">
            <a:avLst/>
          </a:prstGeom>
          <a:noFill/>
          <a:ln/>
        </p:spPr>
        <p:txBody>
          <a:bodyPr wrap="square" lIns="0" tIns="0" rIns="0" bIns="0" rtlCol="0" anchor="ctr"/>
          <a:lstStyle/>
          <a:p>
            <a:pPr indent="0" marL="0">
              <a:buNone/>
            </a:pPr>
            <a:r>
              <a:rPr lang="en-US" sz="1200" b="1" dirty="0">
                <a:solidFill>
                  <a:srgbClr val="1F2937"/>
                </a:solidFill>
                <a:latin typeface="Calibri" pitchFamily="34" charset="0"/>
                <a:ea typeface="Calibri" pitchFamily="34" charset="-122"/>
                <a:cs typeface="Calibri" pitchFamily="34" charset="-120"/>
              </a:rPr>
              <a:t>Monthly SCA target</a:t>
            </a:r>
            <a:pPr indent="0" marL="0">
              <a:buNone/>
            </a:pPr>
            <a:r>
              <a:rPr lang="en-US" sz="1200" dirty="0">
                <a:solidFill>
                  <a:srgbClr val="6B7280"/>
                </a:solidFill>
                <a:latin typeface="Calibri" pitchFamily="34" charset="0"/>
                <a:ea typeface="Calibri" pitchFamily="34" charset="-122"/>
                <a:cs typeface="Calibri" pitchFamily="34" charset="-120"/>
              </a:rPr>
              <a:t> · 6,303 F26 − 1,181</a:t>
            </a:r>
            <a:endParaRPr lang="en-US" sz="1200" dirty="0"/>
          </a:p>
        </p:txBody>
      </p:sp>
      <p:sp>
        <p:nvSpPr>
          <p:cNvPr id="11" name="Text 9"/>
          <p:cNvSpPr txBox="1"/>
          <p:nvPr/>
        </p:nvSpPr>
        <p:spPr>
          <a:xfrm>
            <a:off x="3931920" y="3794760"/>
            <a:ext cx="1280160" cy="475488"/>
          </a:xfrm>
          <a:prstGeom prst="rect">
            <a:avLst/>
          </a:prstGeom>
          <a:noFill/>
          <a:ln/>
        </p:spPr>
        <p:txBody>
          <a:bodyPr wrap="square" lIns="0" tIns="0" rIns="0" bIns="0" rtlCol="0" anchor="ctr"/>
          <a:lstStyle/>
          <a:p>
            <a:pPr algn="r" indent="0" marL="0">
              <a:buNone/>
            </a:pPr>
            <a:r>
              <a:rPr lang="en-US" sz="1500" b="1" dirty="0">
                <a:solidFill>
                  <a:srgbClr val="111827"/>
                </a:solidFill>
                <a:latin typeface="Calibri" pitchFamily="34" charset="0"/>
                <a:ea typeface="Calibri" pitchFamily="34" charset="-122"/>
                <a:cs typeface="Calibri" pitchFamily="34" charset="-120"/>
              </a:rPr>
              <a:t>5,122 hrs</a:t>
            </a:r>
            <a:endParaRPr lang="en-US" sz="1500" dirty="0"/>
          </a:p>
        </p:txBody>
      </p:sp>
      <p:sp>
        <p:nvSpPr>
          <p:cNvPr id="12" name="Shape 10"/>
          <p:cNvSpPr/>
          <p:nvPr/>
        </p:nvSpPr>
        <p:spPr>
          <a:xfrm>
            <a:off x="548640" y="4343400"/>
            <a:ext cx="4846320" cy="475488"/>
          </a:xfrm>
          <a:prstGeom prst="roundRect">
            <a:avLst>
              <a:gd name="adj" fmla="val 15385"/>
            </a:avLst>
          </a:prstGeom>
          <a:solidFill>
            <a:srgbClr val="F3F4F6"/>
          </a:solidFill>
          <a:ln w="12700">
            <a:solidFill>
              <a:srgbClr val="F3F4F6"/>
            </a:solidFill>
            <a:prstDash val="solid"/>
          </a:ln>
        </p:spPr>
      </p:sp>
      <p:sp>
        <p:nvSpPr>
          <p:cNvPr id="13" name="Text 11"/>
          <p:cNvSpPr txBox="1"/>
          <p:nvPr/>
        </p:nvSpPr>
        <p:spPr>
          <a:xfrm>
            <a:off x="731520" y="4343400"/>
            <a:ext cx="3291840" cy="475488"/>
          </a:xfrm>
          <a:prstGeom prst="rect">
            <a:avLst/>
          </a:prstGeom>
          <a:noFill/>
          <a:ln/>
        </p:spPr>
        <p:txBody>
          <a:bodyPr wrap="square" lIns="0" tIns="0" rIns="0" bIns="0" rtlCol="0" anchor="ctr"/>
          <a:lstStyle/>
          <a:p>
            <a:pPr indent="0" marL="0">
              <a:buNone/>
            </a:pPr>
            <a:r>
              <a:rPr lang="en-US" sz="1200" b="1" dirty="0">
                <a:solidFill>
                  <a:srgbClr val="1F2937"/>
                </a:solidFill>
                <a:latin typeface="Calibri" pitchFamily="34" charset="0"/>
                <a:ea typeface="Calibri" pitchFamily="34" charset="-122"/>
                <a:cs typeface="Calibri" pitchFamily="34" charset="-120"/>
              </a:rPr>
              <a:t>Target per working day</a:t>
            </a:r>
            <a:pPr indent="0" marL="0">
              <a:buNone/>
            </a:pPr>
            <a:r>
              <a:rPr lang="en-US" sz="1200" dirty="0">
                <a:solidFill>
                  <a:srgbClr val="6B7280"/>
                </a:solidFill>
                <a:latin typeface="Calibri" pitchFamily="34" charset="0"/>
                <a:ea typeface="Calibri" pitchFamily="34" charset="-122"/>
                <a:cs typeface="Calibri" pitchFamily="34" charset="-120"/>
              </a:rPr>
              <a:t> · 18 of 21 days</a:t>
            </a:r>
            <a:endParaRPr lang="en-US" sz="1200" dirty="0"/>
          </a:p>
        </p:txBody>
      </p:sp>
      <p:sp>
        <p:nvSpPr>
          <p:cNvPr id="14" name="Text 12"/>
          <p:cNvSpPr txBox="1"/>
          <p:nvPr/>
        </p:nvSpPr>
        <p:spPr>
          <a:xfrm>
            <a:off x="3931920" y="4343400"/>
            <a:ext cx="1280160" cy="475488"/>
          </a:xfrm>
          <a:prstGeom prst="rect">
            <a:avLst/>
          </a:prstGeom>
          <a:noFill/>
          <a:ln/>
        </p:spPr>
        <p:txBody>
          <a:bodyPr wrap="square" lIns="0" tIns="0" rIns="0" bIns="0" rtlCol="0" anchor="ctr"/>
          <a:lstStyle/>
          <a:p>
            <a:pPr algn="r" indent="0" marL="0">
              <a:buNone/>
            </a:pPr>
            <a:r>
              <a:rPr lang="en-US" sz="1500" b="1" dirty="0">
                <a:solidFill>
                  <a:srgbClr val="111827"/>
                </a:solidFill>
                <a:latin typeface="Calibri" pitchFamily="34" charset="0"/>
                <a:ea typeface="Calibri" pitchFamily="34" charset="-122"/>
                <a:cs typeface="Calibri" pitchFamily="34" charset="-120"/>
              </a:rPr>
              <a:t>244 hrs</a:t>
            </a:r>
            <a:endParaRPr lang="en-US" sz="1500" dirty="0"/>
          </a:p>
        </p:txBody>
      </p:sp>
      <p:sp>
        <p:nvSpPr>
          <p:cNvPr id="15" name="Shape 13"/>
          <p:cNvSpPr/>
          <p:nvPr/>
        </p:nvSpPr>
        <p:spPr>
          <a:xfrm>
            <a:off x="548640" y="4892040"/>
            <a:ext cx="4846320" cy="475488"/>
          </a:xfrm>
          <a:prstGeom prst="roundRect">
            <a:avLst>
              <a:gd name="adj" fmla="val 15385"/>
            </a:avLst>
          </a:prstGeom>
          <a:solidFill>
            <a:srgbClr val="F3F4F6"/>
          </a:solidFill>
          <a:ln w="12700">
            <a:solidFill>
              <a:srgbClr val="F3F4F6"/>
            </a:solidFill>
            <a:prstDash val="solid"/>
          </a:ln>
        </p:spPr>
      </p:sp>
      <p:sp>
        <p:nvSpPr>
          <p:cNvPr id="16" name="Text 14"/>
          <p:cNvSpPr txBox="1"/>
          <p:nvPr/>
        </p:nvSpPr>
        <p:spPr>
          <a:xfrm>
            <a:off x="731520" y="4892040"/>
            <a:ext cx="3291840" cy="475488"/>
          </a:xfrm>
          <a:prstGeom prst="rect">
            <a:avLst/>
          </a:prstGeom>
          <a:noFill/>
          <a:ln/>
        </p:spPr>
        <p:txBody>
          <a:bodyPr wrap="square" lIns="0" tIns="0" rIns="0" bIns="0" rtlCol="0" anchor="ctr"/>
          <a:lstStyle/>
          <a:p>
            <a:pPr indent="0" marL="0">
              <a:buNone/>
            </a:pPr>
            <a:r>
              <a:rPr lang="en-US" sz="1200" b="1" dirty="0">
                <a:solidFill>
                  <a:srgbClr val="1F2937"/>
                </a:solidFill>
                <a:latin typeface="Calibri" pitchFamily="34" charset="0"/>
                <a:ea typeface="Calibri" pitchFamily="34" charset="-122"/>
                <a:cs typeface="Calibri" pitchFamily="34" charset="-120"/>
              </a:rPr>
              <a:t>Calendar-day view</a:t>
            </a:r>
            <a:pPr indent="0" marL="0">
              <a:buNone/>
            </a:pPr>
            <a:r>
              <a:rPr lang="en-US" sz="1200" dirty="0">
                <a:solidFill>
                  <a:srgbClr val="6B7280"/>
                </a:solidFill>
                <a:latin typeface="Calibri" pitchFamily="34" charset="0"/>
                <a:ea typeface="Calibri" pitchFamily="34" charset="-122"/>
                <a:cs typeface="Calibri" pitchFamily="34" charset="-120"/>
              </a:rPr>
              <a:t> · 4,439 allowable</a:t>
            </a:r>
            <a:endParaRPr lang="en-US" sz="1200" dirty="0"/>
          </a:p>
        </p:txBody>
      </p:sp>
      <p:sp>
        <p:nvSpPr>
          <p:cNvPr id="17" name="Text 15"/>
          <p:cNvSpPr txBox="1"/>
          <p:nvPr/>
        </p:nvSpPr>
        <p:spPr>
          <a:xfrm>
            <a:off x="3931920" y="4892040"/>
            <a:ext cx="1280160" cy="475488"/>
          </a:xfrm>
          <a:prstGeom prst="rect">
            <a:avLst/>
          </a:prstGeom>
          <a:noFill/>
          <a:ln/>
        </p:spPr>
        <p:txBody>
          <a:bodyPr wrap="square" lIns="0" tIns="0" rIns="0" bIns="0" rtlCol="0" anchor="ctr"/>
          <a:lstStyle/>
          <a:p>
            <a:pPr algn="r" indent="0" marL="0">
              <a:buNone/>
            </a:pPr>
            <a:r>
              <a:rPr lang="en-US" sz="1500" b="1" dirty="0">
                <a:solidFill>
                  <a:srgbClr val="111827"/>
                </a:solidFill>
                <a:latin typeface="Calibri" pitchFamily="34" charset="0"/>
                <a:ea typeface="Calibri" pitchFamily="34" charset="-122"/>
                <a:cs typeface="Calibri" pitchFamily="34" charset="-120"/>
              </a:rPr>
              <a:t>90.1%</a:t>
            </a:r>
            <a:endParaRPr lang="en-US" sz="1500" dirty="0"/>
          </a:p>
        </p:txBody>
      </p:sp>
      <p:sp>
        <p:nvSpPr>
          <p:cNvPr id="18" name="Shape 16"/>
          <p:cNvSpPr/>
          <p:nvPr/>
        </p:nvSpPr>
        <p:spPr>
          <a:xfrm>
            <a:off x="548640" y="5440680"/>
            <a:ext cx="4846320" cy="475488"/>
          </a:xfrm>
          <a:prstGeom prst="roundRect">
            <a:avLst>
              <a:gd name="adj" fmla="val 15385"/>
            </a:avLst>
          </a:prstGeom>
          <a:solidFill>
            <a:srgbClr val="F3F4F6"/>
          </a:solidFill>
          <a:ln w="12700">
            <a:solidFill>
              <a:srgbClr val="F3F4F6"/>
            </a:solidFill>
            <a:prstDash val="solid"/>
          </a:ln>
        </p:spPr>
      </p:sp>
      <p:sp>
        <p:nvSpPr>
          <p:cNvPr id="19" name="Text 17"/>
          <p:cNvSpPr txBox="1"/>
          <p:nvPr/>
        </p:nvSpPr>
        <p:spPr>
          <a:xfrm>
            <a:off x="731520" y="5440680"/>
            <a:ext cx="3291840" cy="475488"/>
          </a:xfrm>
          <a:prstGeom prst="rect">
            <a:avLst/>
          </a:prstGeom>
          <a:noFill/>
          <a:ln/>
        </p:spPr>
        <p:txBody>
          <a:bodyPr wrap="square" lIns="0" tIns="0" rIns="0" bIns="0" rtlCol="0" anchor="ctr"/>
          <a:lstStyle/>
          <a:p>
            <a:pPr indent="0" marL="0">
              <a:buNone/>
            </a:pPr>
            <a:r>
              <a:rPr lang="en-US" sz="1200" b="1" dirty="0">
                <a:solidFill>
                  <a:srgbClr val="1F2937"/>
                </a:solidFill>
                <a:latin typeface="Calibri" pitchFamily="34" charset="0"/>
                <a:ea typeface="Calibri" pitchFamily="34" charset="-122"/>
                <a:cs typeface="Calibri" pitchFamily="34" charset="-120"/>
              </a:rPr>
              <a:t>Month target used</a:t>
            </a:r>
            <a:pPr indent="0" marL="0">
              <a:buNone/>
            </a:pPr>
            <a:r>
              <a:rPr lang="en-US" sz="1200" dirty="0">
                <a:solidFill>
                  <a:srgbClr val="6B7280"/>
                </a:solidFill>
                <a:latin typeface="Calibri" pitchFamily="34" charset="0"/>
                <a:ea typeface="Calibri" pitchFamily="34" charset="-122"/>
                <a:cs typeface="Calibri" pitchFamily="34" charset="-120"/>
              </a:rPr>
              <a:t> · 3,999 / 5,122</a:t>
            </a:r>
            <a:endParaRPr lang="en-US" sz="1200" dirty="0"/>
          </a:p>
        </p:txBody>
      </p:sp>
      <p:sp>
        <p:nvSpPr>
          <p:cNvPr id="20" name="Text 18"/>
          <p:cNvSpPr txBox="1"/>
          <p:nvPr/>
        </p:nvSpPr>
        <p:spPr>
          <a:xfrm>
            <a:off x="3931920" y="5440680"/>
            <a:ext cx="1280160" cy="475488"/>
          </a:xfrm>
          <a:prstGeom prst="rect">
            <a:avLst/>
          </a:prstGeom>
          <a:noFill/>
          <a:ln/>
        </p:spPr>
        <p:txBody>
          <a:bodyPr wrap="square" lIns="0" tIns="0" rIns="0" bIns="0" rtlCol="0" anchor="ctr"/>
          <a:lstStyle/>
          <a:p>
            <a:pPr algn="r" indent="0" marL="0">
              <a:buNone/>
            </a:pPr>
            <a:r>
              <a:rPr lang="en-US" sz="1500" b="1" dirty="0">
                <a:solidFill>
                  <a:srgbClr val="111827"/>
                </a:solidFill>
                <a:latin typeface="Calibri" pitchFamily="34" charset="0"/>
                <a:ea typeface="Calibri" pitchFamily="34" charset="-122"/>
                <a:cs typeface="Calibri" pitchFamily="34" charset="-120"/>
              </a:rPr>
              <a:t>78.1%</a:t>
            </a:r>
            <a:endParaRPr lang="en-US" sz="1500" dirty="0"/>
          </a:p>
        </p:txBody>
      </p:sp>
      <p:graphicFrame>
        <p:nvGraphicFramePr>
          <p:cNvPr id="21" name="Chart 0" descr=""/>
          <p:cNvGraphicFramePr/>
          <p:nvPr/>
        </p:nvGraphicFramePr>
        <p:xfrm>
          <a:off x="5760720" y="1325880"/>
          <a:ext cx="5879592" cy="3108960"/>
        </p:xfrm>
        <a:graphic xmlns:a="http://schemas.openxmlformats.org/drawingml/2006/main">
          <a:graphicData uri="http://schemas.openxmlformats.org/drawingml/2006/chart">
            <c:chart xmlns:c="http://schemas.openxmlformats.org/drawingml/2006/chart" r:id="rId1"/>
          </a:graphicData>
        </a:graphic>
      </p:graphicFrame>
      <p:sp>
        <p:nvSpPr>
          <p:cNvPr id="22" name="Shape 19"/>
          <p:cNvSpPr/>
          <p:nvPr/>
        </p:nvSpPr>
        <p:spPr>
          <a:xfrm>
            <a:off x="5760720" y="4617720"/>
            <a:ext cx="5879592" cy="1371600"/>
          </a:xfrm>
          <a:prstGeom prst="roundRect">
            <a:avLst>
              <a:gd name="adj" fmla="val 5333"/>
            </a:avLst>
          </a:prstGeom>
          <a:solidFill>
            <a:srgbClr val="ECFDF5"/>
          </a:solidFill>
          <a:ln w="12700">
            <a:solidFill>
              <a:srgbClr val="ECFDF5"/>
            </a:solidFill>
            <a:prstDash val="solid"/>
          </a:ln>
        </p:spPr>
      </p:sp>
      <p:sp>
        <p:nvSpPr>
          <p:cNvPr id="23" name="Text 20"/>
          <p:cNvSpPr txBox="1"/>
          <p:nvPr/>
        </p:nvSpPr>
        <p:spPr>
          <a:xfrm>
            <a:off x="5897880" y="4617720"/>
            <a:ext cx="1645920" cy="1005840"/>
          </a:xfrm>
          <a:prstGeom prst="rect">
            <a:avLst/>
          </a:prstGeom>
          <a:noFill/>
          <a:ln/>
        </p:spPr>
        <p:txBody>
          <a:bodyPr wrap="square" lIns="0" tIns="0" rIns="0" bIns="0" rtlCol="0" anchor="ctr"/>
          <a:lstStyle/>
          <a:p>
            <a:pPr indent="0" marL="0">
              <a:buNone/>
            </a:pPr>
            <a:r>
              <a:rPr lang="en-US" sz="3400" b="1" dirty="0">
                <a:solidFill>
                  <a:srgbClr val="059669"/>
                </a:solidFill>
                <a:latin typeface="Calibri" pitchFamily="34" charset="0"/>
                <a:ea typeface="Calibri" pitchFamily="34" charset="-122"/>
                <a:cs typeface="Calibri" pitchFamily="34" charset="-120"/>
              </a:rPr>
              <a:t>139%</a:t>
            </a:r>
            <a:endParaRPr lang="en-US" sz="3400" dirty="0"/>
          </a:p>
        </p:txBody>
      </p:sp>
      <p:sp>
        <p:nvSpPr>
          <p:cNvPr id="24" name="Text 21"/>
          <p:cNvSpPr txBox="1"/>
          <p:nvPr/>
        </p:nvSpPr>
        <p:spPr>
          <a:xfrm>
            <a:off x="7543800" y="4709160"/>
            <a:ext cx="3931920" cy="914400"/>
          </a:xfrm>
          <a:prstGeom prst="rect">
            <a:avLst/>
          </a:prstGeom>
          <a:noFill/>
          <a:ln/>
        </p:spPr>
        <p:txBody>
          <a:bodyPr wrap="square" lIns="0" tIns="0" rIns="0" bIns="0" rtlCol="0" anchor="ctr"/>
          <a:lstStyle/>
          <a:p>
            <a:pPr indent="0" marL="0">
              <a:buNone/>
            </a:pPr>
            <a:r>
              <a:rPr lang="en-US" sz="1150" b="1" dirty="0">
                <a:solidFill>
                  <a:srgbClr val="111827"/>
                </a:solidFill>
                <a:latin typeface="Calibri" pitchFamily="34" charset="0"/>
                <a:ea typeface="Calibri" pitchFamily="34" charset="-122"/>
                <a:cs typeface="Calibri" pitchFamily="34" charset="-120"/>
              </a:rPr>
              <a:t>of the 1,181-hr reduction target — at current pace</a:t>
            </a:r>
            <a:endParaRPr lang="en-US" sz="1150" dirty="0"/>
          </a:p>
          <a:p>
            <a:pPr indent="0" marL="0">
              <a:buNone/>
            </a:pPr>
            <a:r>
              <a:rPr lang="en-US" sz="1150" dirty="0">
                <a:solidFill>
                  <a:srgbClr val="1F2937"/>
                </a:solidFill>
                <a:latin typeface="Calibri" pitchFamily="34" charset="0"/>
                <a:ea typeface="Calibri" pitchFamily="34" charset="-122"/>
                <a:cs typeface="Calibri" pitchFamily="34" charset="-120"/>
              </a:rPr>
              <a:t>Sept pace ≈4,666 hrs (3,999 ÷ 18/21 working days) vs 5,122 target → ≈1,637 hrs below F26's 6,303.</a:t>
            </a:r>
            <a:endParaRPr lang="en-US" sz="1150" dirty="0"/>
          </a:p>
        </p:txBody>
      </p:sp>
      <p:sp>
        <p:nvSpPr>
          <p:cNvPr id="25" name="Text 22"/>
          <p:cNvSpPr txBox="1"/>
          <p:nvPr/>
        </p:nvSpPr>
        <p:spPr>
          <a:xfrm>
            <a:off x="5943600" y="5669280"/>
            <a:ext cx="5486400" cy="228600"/>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Calculated from SCA hours report figures</a:t>
            </a:r>
            <a:endParaRPr lang="en-US" sz="900" dirty="0"/>
          </a:p>
        </p:txBody>
      </p:sp>
      <p:sp>
        <p:nvSpPr>
          <p:cNvPr id="26" name="Text 23"/>
          <p:cNvSpPr txBox="1"/>
          <p:nvPr/>
        </p:nvSpPr>
        <p:spPr>
          <a:xfrm>
            <a:off x="548640" y="6108192"/>
            <a:ext cx="11091672" cy="256032"/>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Source: SCA hours report — Mississauga, updated Sat, Sep 26, 2026. F26 = full September; F27 = MTD (18 of 21 working days).</a:t>
            </a:r>
            <a:endParaRPr lang="en-US" sz="1000" dirty="0"/>
          </a:p>
        </p:txBody>
      </p:sp>
      <p:sp>
        <p:nvSpPr>
          <p:cNvPr id="27" name="Text 24"/>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8" name="Text 25"/>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11 / 27</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SCA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SCA — What we are doing</a:t>
            </a:r>
            <a:endParaRPr lang="en-US" sz="3000" dirty="0"/>
          </a:p>
        </p:txBody>
      </p:sp>
      <p:sp>
        <p:nvSpPr>
          <p:cNvPr id="4" name="Shape 2"/>
          <p:cNvSpPr/>
          <p:nvPr/>
        </p:nvSpPr>
        <p:spPr>
          <a:xfrm>
            <a:off x="548640" y="1508760"/>
            <a:ext cx="475488" cy="475488"/>
          </a:xfrm>
          <a:prstGeom prst="ellipse">
            <a:avLst/>
          </a:prstGeom>
          <a:solidFill>
            <a:srgbClr val="EDE9FE"/>
          </a:solidFill>
          <a:ln w="12700">
            <a:solidFill>
              <a:srgbClr val="EDE9FE"/>
            </a:solidFill>
            <a:prstDash val="solid"/>
          </a:ln>
        </p:spPr>
      </p:sp>
      <p:pic>
        <p:nvPicPr>
          <p:cNvPr id="5" name="Image 0" descr="preencoded.png">    </p:cNvPr>
          <p:cNvPicPr>
            <a:picLocks noChangeAspect="1"/>
          </p:cNvPicPr>
          <p:nvPr/>
        </p:nvPicPr>
        <p:blipFill>
          <a:blip r:embed="rId1"/>
          <a:stretch>
            <a:fillRect/>
          </a:stretch>
        </p:blipFill>
        <p:spPr>
          <a:xfrm>
            <a:off x="667512" y="1627632"/>
            <a:ext cx="237744" cy="237744"/>
          </a:xfrm>
          <a:prstGeom prst="rect">
            <a:avLst/>
          </a:prstGeom>
        </p:spPr>
      </p:pic>
      <p:sp>
        <p:nvSpPr>
          <p:cNvPr id="6" name="Text 3"/>
          <p:cNvSpPr txBox="1"/>
          <p:nvPr/>
        </p:nvSpPr>
        <p:spPr>
          <a:xfrm>
            <a:off x="1234440" y="1417320"/>
            <a:ext cx="6080760" cy="676656"/>
          </a:xfrm>
          <a:prstGeom prst="rect">
            <a:avLst/>
          </a:prstGeom>
          <a:noFill/>
          <a:ln/>
        </p:spPr>
        <p:txBody>
          <a:bodyPr wrap="square" lIns="0" tIns="0" rIns="0" bIns="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Weekly SCA review meetings — hours vs allowance and cost per PRO tracked every week.</a:t>
            </a:r>
            <a:endParaRPr lang="en-US" sz="1400" dirty="0"/>
          </a:p>
        </p:txBody>
      </p:sp>
      <p:sp>
        <p:nvSpPr>
          <p:cNvPr id="7" name="Shape 4"/>
          <p:cNvSpPr/>
          <p:nvPr/>
        </p:nvSpPr>
        <p:spPr>
          <a:xfrm>
            <a:off x="548640" y="2276856"/>
            <a:ext cx="475488" cy="475488"/>
          </a:xfrm>
          <a:prstGeom prst="ellipse">
            <a:avLst/>
          </a:prstGeom>
          <a:solidFill>
            <a:srgbClr val="EDE9FE"/>
          </a:solidFill>
          <a:ln w="12700">
            <a:solidFill>
              <a:srgbClr val="EDE9FE"/>
            </a:solidFill>
            <a:prstDash val="solid"/>
          </a:ln>
        </p:spPr>
      </p:sp>
      <p:pic>
        <p:nvPicPr>
          <p:cNvPr id="8" name="Image 1" descr="preencoded.png">    </p:cNvPr>
          <p:cNvPicPr>
            <a:picLocks noChangeAspect="1"/>
          </p:cNvPicPr>
          <p:nvPr/>
        </p:nvPicPr>
        <p:blipFill>
          <a:blip r:embed="rId2"/>
          <a:stretch>
            <a:fillRect/>
          </a:stretch>
        </p:blipFill>
        <p:spPr>
          <a:xfrm>
            <a:off x="667512" y="2395728"/>
            <a:ext cx="237744" cy="237744"/>
          </a:xfrm>
          <a:prstGeom prst="rect">
            <a:avLst/>
          </a:prstGeom>
        </p:spPr>
      </p:pic>
      <p:sp>
        <p:nvSpPr>
          <p:cNvPr id="9" name="Text 5"/>
          <p:cNvSpPr txBox="1"/>
          <p:nvPr/>
        </p:nvSpPr>
        <p:spPr>
          <a:xfrm>
            <a:off x="1234440" y="2185416"/>
            <a:ext cx="6080760" cy="676656"/>
          </a:xfrm>
          <a:prstGeom prst="rect">
            <a:avLst/>
          </a:prstGeom>
          <a:noFill/>
          <a:ln/>
        </p:spPr>
        <p:txBody>
          <a:bodyPr wrap="square" lIns="0" tIns="0" rIns="0" bIns="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Shift start/end times aligned to P&amp;D activity; agency vs D&amp;R mix managed per shift.</a:t>
            </a:r>
            <a:endParaRPr lang="en-US" sz="1400" dirty="0"/>
          </a:p>
        </p:txBody>
      </p:sp>
      <p:sp>
        <p:nvSpPr>
          <p:cNvPr id="10" name="Shape 6"/>
          <p:cNvSpPr/>
          <p:nvPr/>
        </p:nvSpPr>
        <p:spPr>
          <a:xfrm>
            <a:off x="548640" y="3044952"/>
            <a:ext cx="475488" cy="475488"/>
          </a:xfrm>
          <a:prstGeom prst="ellipse">
            <a:avLst/>
          </a:prstGeom>
          <a:solidFill>
            <a:srgbClr val="EDE9FE"/>
          </a:solidFill>
          <a:ln w="12700">
            <a:solidFill>
              <a:srgbClr val="EDE9FE"/>
            </a:solidFill>
            <a:prstDash val="solid"/>
          </a:ln>
        </p:spPr>
      </p:sp>
      <p:pic>
        <p:nvPicPr>
          <p:cNvPr id="11" name="Image 2" descr="preencoded.png">    </p:cNvPr>
          <p:cNvPicPr>
            <a:picLocks noChangeAspect="1"/>
          </p:cNvPicPr>
          <p:nvPr/>
        </p:nvPicPr>
        <p:blipFill>
          <a:blip r:embed="rId3"/>
          <a:stretch>
            <a:fillRect/>
          </a:stretch>
        </p:blipFill>
        <p:spPr>
          <a:xfrm>
            <a:off x="667512" y="3163824"/>
            <a:ext cx="237744" cy="237744"/>
          </a:xfrm>
          <a:prstGeom prst="rect">
            <a:avLst/>
          </a:prstGeom>
        </p:spPr>
      </p:pic>
      <p:sp>
        <p:nvSpPr>
          <p:cNvPr id="12" name="Text 7"/>
          <p:cNvSpPr txBox="1"/>
          <p:nvPr/>
        </p:nvSpPr>
        <p:spPr>
          <a:xfrm>
            <a:off x="1234440" y="2953512"/>
            <a:ext cx="6080760" cy="676656"/>
          </a:xfrm>
          <a:prstGeom prst="rect">
            <a:avLst/>
          </a:prstGeom>
          <a:noFill/>
          <a:ln/>
        </p:spPr>
        <p:txBody>
          <a:bodyPr wrap="square" lIns="0" tIns="0" rIns="0" bIns="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Accessorial audit on freight bills (appointment, tailgate, storage, inside delivery) before invoicing.</a:t>
            </a:r>
            <a:endParaRPr lang="en-US" sz="1400" dirty="0"/>
          </a:p>
        </p:txBody>
      </p:sp>
      <p:sp>
        <p:nvSpPr>
          <p:cNvPr id="13" name="Shape 8"/>
          <p:cNvSpPr/>
          <p:nvPr/>
        </p:nvSpPr>
        <p:spPr>
          <a:xfrm>
            <a:off x="548640" y="3813048"/>
            <a:ext cx="475488" cy="475488"/>
          </a:xfrm>
          <a:prstGeom prst="ellipse">
            <a:avLst/>
          </a:prstGeom>
          <a:solidFill>
            <a:srgbClr val="EDE9FE"/>
          </a:solidFill>
          <a:ln w="12700">
            <a:solidFill>
              <a:srgbClr val="EDE9FE"/>
            </a:solidFill>
            <a:prstDash val="solid"/>
          </a:ln>
        </p:spPr>
      </p:sp>
      <p:pic>
        <p:nvPicPr>
          <p:cNvPr id="14" name="Image 3" descr="preencoded.png">    </p:cNvPr>
          <p:cNvPicPr>
            <a:picLocks noChangeAspect="1"/>
          </p:cNvPicPr>
          <p:nvPr/>
        </p:nvPicPr>
        <p:blipFill>
          <a:blip r:embed="rId4"/>
          <a:stretch>
            <a:fillRect/>
          </a:stretch>
        </p:blipFill>
        <p:spPr>
          <a:xfrm>
            <a:off x="667512" y="3931920"/>
            <a:ext cx="237744" cy="237744"/>
          </a:xfrm>
          <a:prstGeom prst="rect">
            <a:avLst/>
          </a:prstGeom>
        </p:spPr>
      </p:pic>
      <p:sp>
        <p:nvSpPr>
          <p:cNvPr id="15" name="Text 9"/>
          <p:cNvSpPr txBox="1"/>
          <p:nvPr/>
        </p:nvSpPr>
        <p:spPr>
          <a:xfrm>
            <a:off x="1234440" y="3721608"/>
            <a:ext cx="6080760" cy="676656"/>
          </a:xfrm>
          <a:prstGeom prst="rect">
            <a:avLst/>
          </a:prstGeom>
          <a:noFill/>
          <a:ln/>
        </p:spPr>
        <p:txBody>
          <a:bodyPr wrap="square" lIns="0" tIns="0" rIns="0" bIns="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Clock-in / clock-out (CICO) discipline — late starts, missed lunches and early-offs captured as hours saved.</a:t>
            </a:r>
            <a:endParaRPr lang="en-US" sz="1400" dirty="0"/>
          </a:p>
        </p:txBody>
      </p:sp>
      <p:sp>
        <p:nvSpPr>
          <p:cNvPr id="16" name="Shape 10"/>
          <p:cNvSpPr/>
          <p:nvPr/>
        </p:nvSpPr>
        <p:spPr>
          <a:xfrm>
            <a:off x="7772400" y="1417320"/>
            <a:ext cx="3867912" cy="4526280"/>
          </a:xfrm>
          <a:prstGeom prst="roundRect">
            <a:avLst>
              <a:gd name="adj" fmla="val 1891"/>
            </a:avLst>
          </a:prstGeom>
          <a:solidFill>
            <a:srgbClr val="F5F3FF"/>
          </a:solidFill>
          <a:ln w="12700">
            <a:solidFill>
              <a:srgbClr val="F5F3FF"/>
            </a:solidFill>
            <a:prstDash val="solid"/>
          </a:ln>
        </p:spPr>
      </p:sp>
      <p:sp>
        <p:nvSpPr>
          <p:cNvPr id="17" name="Shape 11"/>
          <p:cNvSpPr/>
          <p:nvPr/>
        </p:nvSpPr>
        <p:spPr>
          <a:xfrm>
            <a:off x="8001000" y="1645920"/>
            <a:ext cx="502920" cy="502920"/>
          </a:xfrm>
          <a:prstGeom prst="ellipse">
            <a:avLst/>
          </a:prstGeom>
          <a:solidFill>
            <a:srgbClr val="7C3AED"/>
          </a:solidFill>
          <a:ln w="12700">
            <a:solidFill>
              <a:srgbClr val="7C3AED"/>
            </a:solidFill>
            <a:prstDash val="solid"/>
          </a:ln>
        </p:spPr>
      </p:sp>
      <p:pic>
        <p:nvPicPr>
          <p:cNvPr id="18" name="Image 4" descr="preencoded.png">    </p:cNvPr>
          <p:cNvPicPr>
            <a:picLocks noChangeAspect="1"/>
          </p:cNvPicPr>
          <p:nvPr/>
        </p:nvPicPr>
        <p:blipFill>
          <a:blip r:embed="rId5"/>
          <a:stretch>
            <a:fillRect/>
          </a:stretch>
        </p:blipFill>
        <p:spPr>
          <a:xfrm>
            <a:off x="8126730" y="1771650"/>
            <a:ext cx="251460" cy="251460"/>
          </a:xfrm>
          <a:prstGeom prst="rect">
            <a:avLst/>
          </a:prstGeom>
        </p:spPr>
      </p:pic>
      <p:sp>
        <p:nvSpPr>
          <p:cNvPr id="19" name="Text 12"/>
          <p:cNvSpPr txBox="1"/>
          <p:nvPr/>
        </p:nvSpPr>
        <p:spPr>
          <a:xfrm>
            <a:off x="8641080" y="1645920"/>
            <a:ext cx="2834640" cy="502920"/>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Workforce mix — agency vs D&amp;R</a:t>
            </a:r>
            <a:endParaRPr lang="en-US" sz="1500" dirty="0"/>
          </a:p>
        </p:txBody>
      </p:sp>
      <p:sp>
        <p:nvSpPr>
          <p:cNvPr id="20" name="Text 13"/>
          <p:cNvSpPr txBox="1"/>
          <p:nvPr/>
        </p:nvSpPr>
        <p:spPr>
          <a:xfrm>
            <a:off x="8001000" y="2240280"/>
            <a:ext cx="3474720" cy="256032"/>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Dock hours · SCA hours report, Mississauga</a:t>
            </a:r>
            <a:endParaRPr lang="en-US" sz="11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8001000" y="2606040"/>
          <a:ext cx="3429000" cy="914400"/>
        </p:xfrm>
        <a:graphic>
          <a:graphicData uri="http://schemas.openxmlformats.org/drawingml/2006/table">
            <a:tbl>
              <a:tblPr/>
              <a:tblGrid>
                <a:gridCol w="1600200"/>
                <a:gridCol w="914400"/>
                <a:gridCol w="914400"/>
              </a:tblGrid>
              <a:tr h="365760">
                <a:tc>
                  <a:txBody>
                    <a:bodyPr/>
                    <a:lstStyle/>
                    <a:p>
                      <a:pPr indent="0" marL="0">
                        <a:buNone/>
                      </a:pP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Sept MTD</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F26 Sept</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365760">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Agency hrs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2,457</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4,443</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D&amp;R hrs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1,542</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1,860</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Agency share</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059669"/>
                          </a:solidFill>
                          <a:latin typeface="Calibri" pitchFamily="34" charset="0"/>
                          <a:ea typeface="Calibri" pitchFamily="34" charset="-122"/>
                          <a:cs typeface="Calibri" pitchFamily="34" charset="-120"/>
                        </a:rPr>
                        <a:t>61.4%</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70.5%</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Agency hrs per D&amp;R hr</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059669"/>
                          </a:solidFill>
                          <a:latin typeface="Calibri" pitchFamily="34" charset="0"/>
                          <a:ea typeface="Calibri" pitchFamily="34" charset="-122"/>
                          <a:cs typeface="Calibri" pitchFamily="34" charset="-120"/>
                        </a:rPr>
                        <a:t>1.59</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2.39</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bl>
          </a:graphicData>
        </a:graphic>
      </p:graphicFrame>
      <p:sp>
        <p:nvSpPr>
          <p:cNvPr id="22" name="Text 14"/>
          <p:cNvSpPr txBox="1"/>
          <p:nvPr/>
        </p:nvSpPr>
        <p:spPr>
          <a:xfrm>
            <a:off x="8001000" y="4480560"/>
            <a:ext cx="3429000" cy="219456"/>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Share and ratio calculated from report hours.</a:t>
            </a:r>
            <a:endParaRPr lang="en-US" sz="900" dirty="0"/>
          </a:p>
        </p:txBody>
      </p:sp>
      <p:sp>
        <p:nvSpPr>
          <p:cNvPr id="23" name="Text 15"/>
          <p:cNvSpPr txBox="1"/>
          <p:nvPr/>
        </p:nvSpPr>
        <p:spPr>
          <a:xfrm>
            <a:off x="8001000" y="4800600"/>
            <a:ext cx="3429000" cy="457200"/>
          </a:xfrm>
          <a:prstGeom prst="rect">
            <a:avLst/>
          </a:prstGeom>
          <a:noFill/>
          <a:ln/>
        </p:spPr>
        <p:txBody>
          <a:bodyPr wrap="square" lIns="0" tIns="0" rIns="0" bIns="0" rtlCol="0" anchor="t"/>
          <a:lstStyle/>
          <a:p>
            <a:pPr indent="0" marL="0">
              <a:buNone/>
            </a:pPr>
            <a:r>
              <a:rPr lang="en-US" sz="1100" dirty="0">
                <a:solidFill>
                  <a:srgbClr val="1F2937"/>
                </a:solidFill>
                <a:latin typeface="Calibri" pitchFamily="34" charset="0"/>
                <a:ea typeface="Calibri" pitchFamily="34" charset="-122"/>
                <a:cs typeface="Calibri" pitchFamily="34" charset="-120"/>
              </a:rPr>
              <a:t>Per shift (example day Wed Sep 9): see table at left.</a:t>
            </a:r>
            <a:endParaRPr lang="en-US" sz="1100" dirty="0"/>
          </a:p>
        </p:txBody>
      </p:sp>
      <p:graphicFrame>
        <p:nvGraphicFramePr>
          <p:cNvPr id="25" name="Table 1"/>
          <p:cNvGraphicFramePr>
            <a:graphicFrameLocks noGrp="1"/>
          </p:cNvGraphicFramePr>
          <p:nvPr>
            <p:extLst>
              <p:ext uri="{D42A27DB-BD31-4B8C-83A1-F6EECF244321}">
                <p14:modId xmlns:p14="http://schemas.microsoft.com/office/powerpoint/2010/main" val="1579011935"/>
              </p:ext>
            </p:extLst>
          </p:nvPr>
        </p:nvGraphicFramePr>
        <p:xfrm>
          <a:off x="548640" y="4553712"/>
          <a:ext cx="6903720" cy="914400"/>
        </p:xfrm>
        <a:graphic>
          <a:graphicData uri="http://schemas.openxmlformats.org/drawingml/2006/table">
            <a:tbl>
              <a:tblPr/>
              <a:tblGrid>
                <a:gridCol w="1508760"/>
                <a:gridCol w="914400"/>
                <a:gridCol w="914400"/>
                <a:gridCol w="1325880"/>
                <a:gridCol w="914400"/>
                <a:gridCol w="1325880"/>
              </a:tblGrid>
              <a:tr h="246888">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Shift · Wed Sep 9</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000" b="1" dirty="0">
                          <a:solidFill>
                            <a:srgbClr val="FFFFFF"/>
                          </a:solidFill>
                          <a:latin typeface="Calibri" pitchFamily="34" charset="0"/>
                          <a:ea typeface="Calibri" pitchFamily="34" charset="-122"/>
                          <a:cs typeface="Calibri" pitchFamily="34" charset="-120"/>
                        </a:rPr>
                        <a:t>Budget hrs</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000" b="1" dirty="0">
                          <a:solidFill>
                            <a:srgbClr val="FFFFFF"/>
                          </a:solidFill>
                          <a:latin typeface="Calibri" pitchFamily="34" charset="0"/>
                          <a:ea typeface="Calibri" pitchFamily="34" charset="-122"/>
                          <a:cs typeface="Calibri" pitchFamily="34" charset="-120"/>
                        </a:rPr>
                        <a:t>Actual hrs</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000" b="1" dirty="0">
                          <a:solidFill>
                            <a:srgbClr val="FFFFFF"/>
                          </a:solidFill>
                          <a:latin typeface="Calibri" pitchFamily="34" charset="0"/>
                          <a:ea typeface="Calibri" pitchFamily="34" charset="-122"/>
                          <a:cs typeface="Calibri" pitchFamily="34" charset="-120"/>
                        </a:rPr>
                        <a:t>Dock agency / D&amp;R</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000" b="1" dirty="0">
                          <a:solidFill>
                            <a:srgbClr val="FFFFFF"/>
                          </a:solidFill>
                          <a:latin typeface="Calibri" pitchFamily="34" charset="0"/>
                          <a:ea typeface="Calibri" pitchFamily="34" charset="-122"/>
                          <a:cs typeface="Calibri" pitchFamily="34" charset="-120"/>
                        </a:rPr>
                        <a:t>Dock ratio</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000" b="1" dirty="0">
                          <a:solidFill>
                            <a:srgbClr val="FFFFFF"/>
                          </a:solidFill>
                          <a:latin typeface="Calibri" pitchFamily="34" charset="0"/>
                          <a:ea typeface="Calibri" pitchFamily="34" charset="-122"/>
                          <a:cs typeface="Calibri" pitchFamily="34" charset="-120"/>
                        </a:rPr>
                        <a:t>Admin agency / D&amp;R</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246888">
                <a:tc>
                  <a:txBody>
                    <a:bodyPr/>
                    <a:lstStyle/>
                    <a:p>
                      <a:pPr indent="0" marL="0">
                        <a:buNone/>
                      </a:pPr>
                      <a:r>
                        <a:rPr lang="en-US" sz="1000" b="1" dirty="0">
                          <a:solidFill>
                            <a:srgbClr val="111827"/>
                          </a:solidFill>
                          <a:latin typeface="Calibri" pitchFamily="34" charset="0"/>
                          <a:ea typeface="Calibri" pitchFamily="34" charset="-122"/>
                          <a:cs typeface="Calibri" pitchFamily="34" charset="-120"/>
                        </a:rPr>
                        <a:t>AM (Inbound)</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11827"/>
                          </a:solidFill>
                          <a:latin typeface="Calibri" pitchFamily="34" charset="0"/>
                          <a:ea typeface="Calibri" pitchFamily="34" charset="-122"/>
                          <a:cs typeface="Calibri" pitchFamily="34" charset="-120"/>
                        </a:rPr>
                        <a:t>40.0</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dirty="0">
                          <a:solidFill>
                            <a:srgbClr val="DC2626"/>
                          </a:solidFill>
                          <a:latin typeface="Calibri" pitchFamily="34" charset="0"/>
                          <a:ea typeface="Calibri" pitchFamily="34" charset="-122"/>
                          <a:cs typeface="Calibri" pitchFamily="34" charset="-120"/>
                        </a:rPr>
                        <a:t>42.63</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11827"/>
                          </a:solidFill>
                          <a:latin typeface="Calibri" pitchFamily="34" charset="0"/>
                          <a:ea typeface="Calibri" pitchFamily="34" charset="-122"/>
                          <a:cs typeface="Calibri" pitchFamily="34" charset="-120"/>
                        </a:rPr>
                        <a:t>6 / 2</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3.0 : 1</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11827"/>
                          </a:solidFill>
                          <a:latin typeface="Calibri" pitchFamily="34" charset="0"/>
                          <a:ea typeface="Calibri" pitchFamily="34" charset="-122"/>
                          <a:cs typeface="Calibri" pitchFamily="34" charset="-120"/>
                        </a:rPr>
                        <a:t>2 / 0</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246888">
                <a:tc>
                  <a:txBody>
                    <a:bodyPr/>
                    <a:lstStyle/>
                    <a:p>
                      <a:pPr indent="0" marL="0">
                        <a:buNone/>
                      </a:pPr>
                      <a:r>
                        <a:rPr lang="en-US" sz="1000" b="1" dirty="0">
                          <a:solidFill>
                            <a:srgbClr val="111827"/>
                          </a:solidFill>
                          <a:latin typeface="Calibri" pitchFamily="34" charset="0"/>
                          <a:ea typeface="Calibri" pitchFamily="34" charset="-122"/>
                          <a:cs typeface="Calibri" pitchFamily="34" charset="-120"/>
                        </a:rPr>
                        <a:t>Day</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11827"/>
                          </a:solidFill>
                          <a:latin typeface="Calibri" pitchFamily="34" charset="0"/>
                          <a:ea typeface="Calibri" pitchFamily="34" charset="-122"/>
                          <a:cs typeface="Calibri" pitchFamily="34" charset="-120"/>
                        </a:rPr>
                        <a:t>64.0</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dirty="0">
                          <a:solidFill>
                            <a:srgbClr val="059669"/>
                          </a:solidFill>
                          <a:latin typeface="Calibri" pitchFamily="34" charset="0"/>
                          <a:ea typeface="Calibri" pitchFamily="34" charset="-122"/>
                          <a:cs typeface="Calibri" pitchFamily="34" charset="-120"/>
                        </a:rPr>
                        <a:t>62.67</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11827"/>
                          </a:solidFill>
                          <a:latin typeface="Calibri" pitchFamily="34" charset="0"/>
                          <a:ea typeface="Calibri" pitchFamily="34" charset="-122"/>
                          <a:cs typeface="Calibri" pitchFamily="34" charset="-120"/>
                        </a:rPr>
                        <a:t>7 / 5</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1.4 : 1</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11827"/>
                          </a:solidFill>
                          <a:latin typeface="Calibri" pitchFamily="34" charset="0"/>
                          <a:ea typeface="Calibri" pitchFamily="34" charset="-122"/>
                          <a:cs typeface="Calibri" pitchFamily="34" charset="-120"/>
                        </a:rPr>
                        <a:t>13 / 0</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246888">
                <a:tc>
                  <a:txBody>
                    <a:bodyPr/>
                    <a:lstStyle/>
                    <a:p>
                      <a:pPr indent="0" marL="0">
                        <a:buNone/>
                      </a:pPr>
                      <a:r>
                        <a:rPr lang="en-US" sz="1000" b="1" dirty="0">
                          <a:solidFill>
                            <a:srgbClr val="111827"/>
                          </a:solidFill>
                          <a:latin typeface="Calibri" pitchFamily="34" charset="0"/>
                          <a:ea typeface="Calibri" pitchFamily="34" charset="-122"/>
                          <a:cs typeface="Calibri" pitchFamily="34" charset="-120"/>
                        </a:rPr>
                        <a:t>PM (Outbound)</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11827"/>
                          </a:solidFill>
                          <a:latin typeface="Calibri" pitchFamily="34" charset="0"/>
                          <a:ea typeface="Calibri" pitchFamily="34" charset="-122"/>
                          <a:cs typeface="Calibri" pitchFamily="34" charset="-120"/>
                        </a:rPr>
                        <a:t>96.0</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dirty="0">
                          <a:solidFill>
                            <a:srgbClr val="059669"/>
                          </a:solidFill>
                          <a:latin typeface="Calibri" pitchFamily="34" charset="0"/>
                          <a:ea typeface="Calibri" pitchFamily="34" charset="-122"/>
                          <a:cs typeface="Calibri" pitchFamily="34" charset="-120"/>
                        </a:rPr>
                        <a:t>95.03</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11827"/>
                          </a:solidFill>
                          <a:latin typeface="Calibri" pitchFamily="34" charset="0"/>
                          <a:ea typeface="Calibri" pitchFamily="34" charset="-122"/>
                          <a:cs typeface="Calibri" pitchFamily="34" charset="-120"/>
                        </a:rPr>
                        <a:t>9 / 4</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2.3 : 1</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11827"/>
                          </a:solidFill>
                          <a:latin typeface="Calibri" pitchFamily="34" charset="0"/>
                          <a:ea typeface="Calibri" pitchFamily="34" charset="-122"/>
                          <a:cs typeface="Calibri" pitchFamily="34" charset="-120"/>
                        </a:rPr>
                        <a:t>7 / 1</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246888">
                <a:tc>
                  <a:txBody>
                    <a:bodyPr/>
                    <a:lstStyle/>
                    <a:p>
                      <a:pPr indent="0" marL="0">
                        <a:buNone/>
                      </a:pPr>
                      <a:r>
                        <a:rPr lang="en-US" sz="1000" b="1" dirty="0">
                          <a:solidFill>
                            <a:srgbClr val="111827"/>
                          </a:solidFill>
                          <a:latin typeface="Calibri" pitchFamily="34" charset="0"/>
                          <a:ea typeface="Calibri" pitchFamily="34" charset="-122"/>
                          <a:cs typeface="Calibri" pitchFamily="34" charset="-120"/>
                        </a:rPr>
                        <a:t>Driver loaders</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11827"/>
                          </a:solidFill>
                          <a:latin typeface="Calibri" pitchFamily="34" charset="0"/>
                          <a:ea typeface="Calibri" pitchFamily="34" charset="-122"/>
                          <a:cs typeface="Calibri" pitchFamily="34" charset="-120"/>
                        </a:rPr>
                        <a:t>8.0</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dirty="0">
                          <a:solidFill>
                            <a:srgbClr val="059669"/>
                          </a:solidFill>
                          <a:latin typeface="Calibri" pitchFamily="34" charset="0"/>
                          <a:ea typeface="Calibri" pitchFamily="34" charset="-122"/>
                          <a:cs typeface="Calibri" pitchFamily="34" charset="-120"/>
                        </a:rPr>
                        <a:t>7.00</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246888">
                <a:tc>
                  <a:txBody>
                    <a:bodyPr/>
                    <a:lstStyle/>
                    <a:p>
                      <a:pPr indent="0" marL="0">
                        <a:buNone/>
                      </a:pPr>
                      <a:r>
                        <a:rPr lang="en-US" sz="1000" b="1" dirty="0">
                          <a:solidFill>
                            <a:srgbClr val="111827"/>
                          </a:solidFill>
                          <a:latin typeface="Calibri" pitchFamily="34" charset="0"/>
                          <a:ea typeface="Calibri" pitchFamily="34" charset="-122"/>
                          <a:cs typeface="Calibri" pitchFamily="34" charset="-120"/>
                        </a:rPr>
                        <a:t>Total</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208.0</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c>
                  <a:txBody>
                    <a:bodyPr/>
                    <a:lstStyle/>
                    <a:p>
                      <a:pPr algn="r" indent="0" marL="0">
                        <a:buNone/>
                      </a:pPr>
                      <a:r>
                        <a:rPr lang="en-US" sz="1000" b="1" dirty="0">
                          <a:solidFill>
                            <a:srgbClr val="059669"/>
                          </a:solidFill>
                          <a:latin typeface="Calibri" pitchFamily="34" charset="0"/>
                          <a:ea typeface="Calibri" pitchFamily="34" charset="-122"/>
                          <a:cs typeface="Calibri" pitchFamily="34" charset="-120"/>
                        </a:rPr>
                        <a:t>207.33</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22 / 11</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2.0 : 1</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22 / 1</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r>
            </a:tbl>
          </a:graphicData>
        </a:graphic>
      </p:graphicFrame>
      <p:sp>
        <p:nvSpPr>
          <p:cNvPr id="25" name="Text 16"/>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6" name="Text 17"/>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12 / 27</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SCA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SCA — Dock labour cost &amp; cost per unit</a:t>
            </a:r>
            <a:endParaRPr lang="en-US" sz="3000" dirty="0"/>
          </a:p>
        </p:txBody>
      </p:sp>
      <p:graphicFrame>
        <p:nvGraphicFramePr>
          <p:cNvPr id="4" name="Chart 0" descr=""/>
          <p:cNvGraphicFramePr/>
          <p:nvPr/>
        </p:nvGraphicFramePr>
        <p:xfrm>
          <a:off x="548640" y="1325880"/>
          <a:ext cx="5852160" cy="324612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548640" y="4754880"/>
            <a:ext cx="5852160" cy="1234440"/>
          </a:xfrm>
          <a:prstGeom prst="roundRect">
            <a:avLst>
              <a:gd name="adj" fmla="val 5926"/>
            </a:avLst>
          </a:prstGeom>
          <a:solidFill>
            <a:srgbClr val="ECFDF5"/>
          </a:solidFill>
          <a:ln w="12700">
            <a:solidFill>
              <a:srgbClr val="ECFDF5"/>
            </a:solidFill>
            <a:prstDash val="solid"/>
          </a:ln>
        </p:spPr>
      </p:sp>
      <p:sp>
        <p:nvSpPr>
          <p:cNvPr id="6" name="Shape 3"/>
          <p:cNvSpPr/>
          <p:nvPr/>
        </p:nvSpPr>
        <p:spPr>
          <a:xfrm>
            <a:off x="731520" y="4956048"/>
            <a:ext cx="502920" cy="502920"/>
          </a:xfrm>
          <a:prstGeom prst="ellipse">
            <a:avLst/>
          </a:prstGeom>
          <a:solidFill>
            <a:srgbClr val="059669"/>
          </a:solidFill>
          <a:ln w="12700">
            <a:solidFill>
              <a:srgbClr val="059669"/>
            </a:solidFill>
            <a:prstDash val="solid"/>
          </a:ln>
        </p:spPr>
      </p:sp>
      <p:pic>
        <p:nvPicPr>
          <p:cNvPr id="7" name="Image 0" descr="preencoded.png">    </p:cNvPr>
          <p:cNvPicPr>
            <a:picLocks noChangeAspect="1"/>
          </p:cNvPicPr>
          <p:nvPr/>
        </p:nvPicPr>
        <p:blipFill>
          <a:blip r:embed="rId2"/>
          <a:stretch>
            <a:fillRect/>
          </a:stretch>
        </p:blipFill>
        <p:spPr>
          <a:xfrm>
            <a:off x="857250" y="5081778"/>
            <a:ext cx="251460" cy="251460"/>
          </a:xfrm>
          <a:prstGeom prst="rect">
            <a:avLst/>
          </a:prstGeom>
        </p:spPr>
      </p:pic>
      <p:sp>
        <p:nvSpPr>
          <p:cNvPr id="8" name="Text 4"/>
          <p:cNvSpPr txBox="1"/>
          <p:nvPr/>
        </p:nvSpPr>
        <p:spPr>
          <a:xfrm>
            <a:off x="1417320" y="4846320"/>
            <a:ext cx="4846320" cy="228600"/>
          </a:xfrm>
          <a:prstGeom prst="rect">
            <a:avLst/>
          </a:prstGeom>
          <a:noFill/>
          <a:ln/>
        </p:spPr>
        <p:txBody>
          <a:bodyPr wrap="square" lIns="0" tIns="0" rIns="0" bIns="0" rtlCol="0" anchor="ctr"/>
          <a:lstStyle/>
          <a:p>
            <a:pPr indent="0" marL="0">
              <a:buNone/>
            </a:pPr>
            <a:r>
              <a:rPr lang="en-US" sz="1200" b="1" dirty="0">
                <a:solidFill>
                  <a:srgbClr val="6B7280"/>
                </a:solidFill>
                <a:latin typeface="Calibri" pitchFamily="34" charset="0"/>
                <a:ea typeface="Calibri" pitchFamily="34" charset="-122"/>
                <a:cs typeface="Calibri" pitchFamily="34" charset="-120"/>
              </a:rPr>
              <a:t>Cost per unit</a:t>
            </a:r>
            <a:endParaRPr lang="en-US" sz="1200" dirty="0"/>
          </a:p>
        </p:txBody>
      </p:sp>
      <p:sp>
        <p:nvSpPr>
          <p:cNvPr id="9" name="Text 5"/>
          <p:cNvSpPr txBox="1"/>
          <p:nvPr/>
        </p:nvSpPr>
        <p:spPr>
          <a:xfrm>
            <a:off x="1417320" y="5074920"/>
            <a:ext cx="4846320" cy="384048"/>
          </a:xfrm>
          <a:prstGeom prst="rect">
            <a:avLst/>
          </a:prstGeom>
          <a:noFill/>
          <a:ln/>
        </p:spPr>
        <p:txBody>
          <a:bodyPr wrap="square" lIns="0" tIns="0" rIns="0" bIns="0" rtlCol="0" anchor="ctr"/>
          <a:lstStyle/>
          <a:p>
            <a:pPr indent="0" marL="0">
              <a:buNone/>
            </a:pPr>
            <a:r>
              <a:rPr lang="en-US" sz="2200" b="1" dirty="0">
                <a:solidFill>
                  <a:srgbClr val="111827"/>
                </a:solidFill>
                <a:latin typeface="Calibri" pitchFamily="34" charset="0"/>
                <a:ea typeface="Calibri" pitchFamily="34" charset="-122"/>
                <a:cs typeface="Calibri" pitchFamily="34" charset="-120"/>
              </a:rPr>
              <a:t>$2.64 → $2.19</a:t>
            </a:r>
            <a:pPr indent="0" marL="0">
              <a:buNone/>
            </a:pPr>
            <a:r>
              <a:rPr lang="en-US" sz="1500" b="1" dirty="0">
                <a:solidFill>
                  <a:srgbClr val="059669"/>
                </a:solidFill>
                <a:latin typeface="Calibri" pitchFamily="34" charset="0"/>
                <a:ea typeface="Calibri" pitchFamily="34" charset="-122"/>
                <a:cs typeface="Calibri" pitchFamily="34" charset="-120"/>
              </a:rPr>
              <a:t>   −16.7%</a:t>
            </a:r>
            <a:endParaRPr lang="en-US" sz="2200" dirty="0"/>
          </a:p>
        </p:txBody>
      </p:sp>
      <p:sp>
        <p:nvSpPr>
          <p:cNvPr id="10" name="Text 6"/>
          <p:cNvSpPr txBox="1"/>
          <p:nvPr/>
        </p:nvSpPr>
        <p:spPr>
          <a:xfrm>
            <a:off x="1417320" y="5468112"/>
            <a:ext cx="4892040" cy="246888"/>
          </a:xfrm>
          <a:prstGeom prst="rect">
            <a:avLst/>
          </a:prstGeom>
          <a:noFill/>
          <a:ln/>
        </p:spPr>
        <p:txBody>
          <a:bodyPr wrap="square" lIns="0" tIns="0" rIns="0" bIns="0" rtlCol="0" anchor="ctr"/>
          <a:lstStyle/>
          <a:p>
            <a:pPr indent="0" marL="0">
              <a:buNone/>
            </a:pPr>
            <a:r>
              <a:rPr lang="en-US" sz="1050" dirty="0">
                <a:solidFill>
                  <a:srgbClr val="1F2937"/>
                </a:solidFill>
                <a:latin typeface="Calibri" pitchFamily="34" charset="0"/>
                <a:ea typeface="Calibri" pitchFamily="34" charset="-122"/>
                <a:cs typeface="Calibri" pitchFamily="34" charset="-120"/>
              </a:rPr>
              <a:t>At F26's CPU, F27's 60,933 units would have cost ≈$26.9K more.</a:t>
            </a:r>
            <a:endParaRPr lang="en-US" sz="1050" dirty="0"/>
          </a:p>
        </p:txBody>
      </p:sp>
      <p:sp>
        <p:nvSpPr>
          <p:cNvPr id="11" name="Text 7"/>
          <p:cNvSpPr txBox="1"/>
          <p:nvPr/>
        </p:nvSpPr>
        <p:spPr>
          <a:xfrm>
            <a:off x="1417320" y="5715000"/>
            <a:ext cx="4846320" cy="201168"/>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Calculated: (F26 CPU − F27 CPU) × F27 units</a:t>
            </a:r>
            <a:endParaRPr lang="en-US" sz="900" dirty="0"/>
          </a:p>
        </p:txBody>
      </p:sp>
      <p:sp>
        <p:nvSpPr>
          <p:cNvPr id="12" name="Shape 8"/>
          <p:cNvSpPr/>
          <p:nvPr/>
        </p:nvSpPr>
        <p:spPr>
          <a:xfrm>
            <a:off x="6675120" y="1371600"/>
            <a:ext cx="4965192" cy="987552"/>
          </a:xfrm>
          <a:prstGeom prst="roundRect">
            <a:avLst>
              <a:gd name="adj" fmla="val 7407"/>
            </a:avLst>
          </a:prstGeom>
          <a:solidFill>
            <a:srgbClr val="F3F4F6"/>
          </a:solidFill>
          <a:ln w="12700">
            <a:solidFill>
              <a:srgbClr val="F3F4F6"/>
            </a:solidFill>
            <a:prstDash val="solid"/>
          </a:ln>
        </p:spPr>
      </p:sp>
      <p:sp>
        <p:nvSpPr>
          <p:cNvPr id="13" name="Text 9"/>
          <p:cNvSpPr txBox="1"/>
          <p:nvPr/>
        </p:nvSpPr>
        <p:spPr>
          <a:xfrm>
            <a:off x="6858000" y="1499616"/>
            <a:ext cx="2743200" cy="274320"/>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Total dock labour</a:t>
            </a:r>
            <a:endParaRPr lang="en-US" sz="1300" dirty="0"/>
          </a:p>
        </p:txBody>
      </p:sp>
      <p:sp>
        <p:nvSpPr>
          <p:cNvPr id="14" name="Text 10"/>
          <p:cNvSpPr txBox="1"/>
          <p:nvPr/>
        </p:nvSpPr>
        <p:spPr>
          <a:xfrm>
            <a:off x="6858000" y="1938528"/>
            <a:ext cx="2926080" cy="274320"/>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$133,692 MTD vs $199,739 F26</a:t>
            </a:r>
            <a:endParaRPr lang="en-US" sz="1100" dirty="0"/>
          </a:p>
        </p:txBody>
      </p:sp>
      <p:sp>
        <p:nvSpPr>
          <p:cNvPr id="15" name="Text 11"/>
          <p:cNvSpPr txBox="1"/>
          <p:nvPr/>
        </p:nvSpPr>
        <p:spPr>
          <a:xfrm>
            <a:off x="9418320" y="1371600"/>
            <a:ext cx="2039112" cy="987552"/>
          </a:xfrm>
          <a:prstGeom prst="rect">
            <a:avLst/>
          </a:prstGeom>
          <a:noFill/>
          <a:ln/>
        </p:spPr>
        <p:txBody>
          <a:bodyPr wrap="square" lIns="0" tIns="0" rIns="0" bIns="0" rtlCol="0" anchor="ctr"/>
          <a:lstStyle/>
          <a:p>
            <a:pPr algn="r" indent="0" marL="0">
              <a:buNone/>
            </a:pPr>
            <a:r>
              <a:rPr lang="en-US" sz="2400" b="1" dirty="0">
                <a:solidFill>
                  <a:srgbClr val="059669"/>
                </a:solidFill>
                <a:latin typeface="Calibri" pitchFamily="34" charset="0"/>
                <a:ea typeface="Calibri" pitchFamily="34" charset="-122"/>
                <a:cs typeface="Calibri" pitchFamily="34" charset="-120"/>
              </a:rPr>
              <a:t>−$66,047</a:t>
            </a:r>
            <a:endParaRPr lang="en-US" sz="2400" dirty="0"/>
          </a:p>
          <a:p>
            <a:pPr algn="r" indent="0" marL="0">
              <a:buNone/>
            </a:pPr>
            <a:r>
              <a:rPr lang="en-US" sz="1300" b="1" dirty="0">
                <a:solidFill>
                  <a:srgbClr val="059669"/>
                </a:solidFill>
                <a:latin typeface="Calibri" pitchFamily="34" charset="0"/>
                <a:ea typeface="Calibri" pitchFamily="34" charset="-122"/>
                <a:cs typeface="Calibri" pitchFamily="34" charset="-120"/>
              </a:rPr>
              <a:t>−33.1%</a:t>
            </a:r>
            <a:endParaRPr lang="en-US" sz="2400" dirty="0"/>
          </a:p>
          <a:p>
            <a:pPr algn="r" indent="0" marL="0">
              <a:buNone/>
            </a:pPr>
            <a:r>
              <a:rPr lang="en-US" sz="950" b="1" dirty="0">
                <a:solidFill>
                  <a:srgbClr val="059669"/>
                </a:solidFill>
                <a:latin typeface="Calibri" pitchFamily="34" charset="0"/>
                <a:ea typeface="Calibri" pitchFamily="34" charset="-122"/>
                <a:cs typeface="Calibri" pitchFamily="34" charset="-120"/>
              </a:rPr>
              <a:t>(MTD vs full month)</a:t>
            </a:r>
            <a:endParaRPr lang="en-US" sz="2400" dirty="0"/>
          </a:p>
        </p:txBody>
      </p:sp>
      <p:sp>
        <p:nvSpPr>
          <p:cNvPr id="16" name="Shape 12"/>
          <p:cNvSpPr/>
          <p:nvPr/>
        </p:nvSpPr>
        <p:spPr>
          <a:xfrm>
            <a:off x="6675120" y="2496312"/>
            <a:ext cx="4965192" cy="987552"/>
          </a:xfrm>
          <a:prstGeom prst="roundRect">
            <a:avLst>
              <a:gd name="adj" fmla="val 7407"/>
            </a:avLst>
          </a:prstGeom>
          <a:solidFill>
            <a:srgbClr val="F3F4F6"/>
          </a:solidFill>
          <a:ln w="12700">
            <a:solidFill>
              <a:srgbClr val="F3F4F6"/>
            </a:solidFill>
            <a:prstDash val="solid"/>
          </a:ln>
        </p:spPr>
      </p:sp>
      <p:sp>
        <p:nvSpPr>
          <p:cNvPr id="17" name="Text 13"/>
          <p:cNvSpPr txBox="1"/>
          <p:nvPr/>
        </p:nvSpPr>
        <p:spPr>
          <a:xfrm>
            <a:off x="6858000" y="2624328"/>
            <a:ext cx="2743200" cy="274320"/>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Agency wages</a:t>
            </a:r>
            <a:endParaRPr lang="en-US" sz="1300" dirty="0"/>
          </a:p>
        </p:txBody>
      </p:sp>
      <p:sp>
        <p:nvSpPr>
          <p:cNvPr id="18" name="Text 14"/>
          <p:cNvSpPr txBox="1"/>
          <p:nvPr/>
        </p:nvSpPr>
        <p:spPr>
          <a:xfrm>
            <a:off x="6858000" y="3063240"/>
            <a:ext cx="2926080" cy="274320"/>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$74,775 MTD vs $130,458 F26</a:t>
            </a:r>
            <a:endParaRPr lang="en-US" sz="1100" dirty="0"/>
          </a:p>
        </p:txBody>
      </p:sp>
      <p:sp>
        <p:nvSpPr>
          <p:cNvPr id="19" name="Text 15"/>
          <p:cNvSpPr txBox="1"/>
          <p:nvPr/>
        </p:nvSpPr>
        <p:spPr>
          <a:xfrm>
            <a:off x="9418320" y="2496312"/>
            <a:ext cx="2039112" cy="987552"/>
          </a:xfrm>
          <a:prstGeom prst="rect">
            <a:avLst/>
          </a:prstGeom>
          <a:noFill/>
          <a:ln/>
        </p:spPr>
        <p:txBody>
          <a:bodyPr wrap="square" lIns="0" tIns="0" rIns="0" bIns="0" rtlCol="0" anchor="ctr"/>
          <a:lstStyle/>
          <a:p>
            <a:pPr algn="r" indent="0" marL="0">
              <a:buNone/>
            </a:pPr>
            <a:r>
              <a:rPr lang="en-US" sz="2400" b="1" dirty="0">
                <a:solidFill>
                  <a:srgbClr val="059669"/>
                </a:solidFill>
                <a:latin typeface="Calibri" pitchFamily="34" charset="0"/>
                <a:ea typeface="Calibri" pitchFamily="34" charset="-122"/>
                <a:cs typeface="Calibri" pitchFamily="34" charset="-120"/>
              </a:rPr>
              <a:t>−$55,683</a:t>
            </a:r>
            <a:endParaRPr lang="en-US" sz="2400" dirty="0"/>
          </a:p>
          <a:p>
            <a:pPr algn="r" indent="0" marL="0">
              <a:buNone/>
            </a:pPr>
            <a:r>
              <a:rPr lang="en-US" sz="1300" b="1" dirty="0">
                <a:solidFill>
                  <a:srgbClr val="059669"/>
                </a:solidFill>
                <a:latin typeface="Calibri" pitchFamily="34" charset="0"/>
                <a:ea typeface="Calibri" pitchFamily="34" charset="-122"/>
                <a:cs typeface="Calibri" pitchFamily="34" charset="-120"/>
              </a:rPr>
              <a:t>−42.7%</a:t>
            </a:r>
            <a:endParaRPr lang="en-US" sz="2400" dirty="0"/>
          </a:p>
        </p:txBody>
      </p:sp>
      <p:sp>
        <p:nvSpPr>
          <p:cNvPr id="20" name="Shape 16"/>
          <p:cNvSpPr/>
          <p:nvPr/>
        </p:nvSpPr>
        <p:spPr>
          <a:xfrm>
            <a:off x="6675120" y="3621024"/>
            <a:ext cx="4965192" cy="987552"/>
          </a:xfrm>
          <a:prstGeom prst="roundRect">
            <a:avLst>
              <a:gd name="adj" fmla="val 7407"/>
            </a:avLst>
          </a:prstGeom>
          <a:solidFill>
            <a:srgbClr val="F3F4F6"/>
          </a:solidFill>
          <a:ln w="12700">
            <a:solidFill>
              <a:srgbClr val="F3F4F6"/>
            </a:solidFill>
            <a:prstDash val="solid"/>
          </a:ln>
        </p:spPr>
      </p:sp>
      <p:sp>
        <p:nvSpPr>
          <p:cNvPr id="21" name="Text 17"/>
          <p:cNvSpPr txBox="1"/>
          <p:nvPr/>
        </p:nvSpPr>
        <p:spPr>
          <a:xfrm>
            <a:off x="6858000" y="3749040"/>
            <a:ext cx="2743200" cy="274320"/>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Company wages</a:t>
            </a:r>
            <a:endParaRPr lang="en-US" sz="1300" dirty="0"/>
          </a:p>
        </p:txBody>
      </p:sp>
      <p:sp>
        <p:nvSpPr>
          <p:cNvPr id="22" name="Text 18"/>
          <p:cNvSpPr txBox="1"/>
          <p:nvPr/>
        </p:nvSpPr>
        <p:spPr>
          <a:xfrm>
            <a:off x="6858000" y="4187952"/>
            <a:ext cx="2926080" cy="274320"/>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$58,917 MTD vs $69,281 F26</a:t>
            </a:r>
            <a:endParaRPr lang="en-US" sz="1100" dirty="0"/>
          </a:p>
        </p:txBody>
      </p:sp>
      <p:sp>
        <p:nvSpPr>
          <p:cNvPr id="23" name="Text 19"/>
          <p:cNvSpPr txBox="1"/>
          <p:nvPr/>
        </p:nvSpPr>
        <p:spPr>
          <a:xfrm>
            <a:off x="9418320" y="3621024"/>
            <a:ext cx="2039112" cy="987552"/>
          </a:xfrm>
          <a:prstGeom prst="rect">
            <a:avLst/>
          </a:prstGeom>
          <a:noFill/>
          <a:ln/>
        </p:spPr>
        <p:txBody>
          <a:bodyPr wrap="square" lIns="0" tIns="0" rIns="0" bIns="0" rtlCol="0" anchor="ctr"/>
          <a:lstStyle/>
          <a:p>
            <a:pPr algn="r" indent="0" marL="0">
              <a:buNone/>
            </a:pPr>
            <a:r>
              <a:rPr lang="en-US" sz="2400" b="1" dirty="0">
                <a:solidFill>
                  <a:srgbClr val="059669"/>
                </a:solidFill>
                <a:latin typeface="Calibri" pitchFamily="34" charset="0"/>
                <a:ea typeface="Calibri" pitchFamily="34" charset="-122"/>
                <a:cs typeface="Calibri" pitchFamily="34" charset="-120"/>
              </a:rPr>
              <a:t>−$10,364</a:t>
            </a:r>
            <a:endParaRPr lang="en-US" sz="2400" dirty="0"/>
          </a:p>
          <a:p>
            <a:pPr algn="r" indent="0" marL="0">
              <a:buNone/>
            </a:pPr>
            <a:r>
              <a:rPr lang="en-US" sz="1300" b="1" dirty="0">
                <a:solidFill>
                  <a:srgbClr val="059669"/>
                </a:solidFill>
                <a:latin typeface="Calibri" pitchFamily="34" charset="0"/>
                <a:ea typeface="Calibri" pitchFamily="34" charset="-122"/>
                <a:cs typeface="Calibri" pitchFamily="34" charset="-120"/>
              </a:rPr>
              <a:t>−15.0%</a:t>
            </a:r>
            <a:endParaRPr lang="en-US" sz="2400" dirty="0"/>
          </a:p>
        </p:txBody>
      </p:sp>
      <p:sp>
        <p:nvSpPr>
          <p:cNvPr id="24" name="Shape 20"/>
          <p:cNvSpPr/>
          <p:nvPr/>
        </p:nvSpPr>
        <p:spPr>
          <a:xfrm>
            <a:off x="6675120" y="4754880"/>
            <a:ext cx="4965192" cy="1234440"/>
          </a:xfrm>
          <a:prstGeom prst="roundRect">
            <a:avLst>
              <a:gd name="adj" fmla="val 5926"/>
            </a:avLst>
          </a:prstGeom>
          <a:solidFill>
            <a:srgbClr val="F3F4F6"/>
          </a:solidFill>
          <a:ln w="12700">
            <a:solidFill>
              <a:srgbClr val="F3F4F6"/>
            </a:solidFill>
            <a:prstDash val="solid"/>
          </a:ln>
        </p:spPr>
      </p:sp>
      <p:sp>
        <p:nvSpPr>
          <p:cNvPr id="25" name="Text 21"/>
          <p:cNvSpPr txBox="1"/>
          <p:nvPr/>
        </p:nvSpPr>
        <p:spPr>
          <a:xfrm>
            <a:off x="6858000" y="4882896"/>
            <a:ext cx="2743200" cy="274320"/>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Units handled</a:t>
            </a:r>
            <a:endParaRPr lang="en-US" sz="1300" dirty="0"/>
          </a:p>
        </p:txBody>
      </p:sp>
      <p:sp>
        <p:nvSpPr>
          <p:cNvPr id="26" name="Text 22"/>
          <p:cNvSpPr txBox="1"/>
          <p:nvPr/>
        </p:nvSpPr>
        <p:spPr>
          <a:xfrm>
            <a:off x="6858000" y="5568696"/>
            <a:ext cx="2926080" cy="274320"/>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60,933 MTD vs 75,801 F26</a:t>
            </a:r>
            <a:endParaRPr lang="en-US" sz="1100" dirty="0"/>
          </a:p>
        </p:txBody>
      </p:sp>
      <p:sp>
        <p:nvSpPr>
          <p:cNvPr id="27" name="Text 23"/>
          <p:cNvSpPr txBox="1"/>
          <p:nvPr/>
        </p:nvSpPr>
        <p:spPr>
          <a:xfrm>
            <a:off x="9418320" y="4754880"/>
            <a:ext cx="2039112" cy="1234440"/>
          </a:xfrm>
          <a:prstGeom prst="rect">
            <a:avLst/>
          </a:prstGeom>
          <a:noFill/>
          <a:ln/>
        </p:spPr>
        <p:txBody>
          <a:bodyPr wrap="square" lIns="0" tIns="0" rIns="0" bIns="0" rtlCol="0" anchor="ctr"/>
          <a:lstStyle/>
          <a:p>
            <a:pPr algn="r" indent="0" marL="0">
              <a:buNone/>
            </a:pPr>
            <a:r>
              <a:rPr lang="en-US" sz="2400" b="1" dirty="0">
                <a:solidFill>
                  <a:srgbClr val="1F2937"/>
                </a:solidFill>
                <a:latin typeface="Calibri" pitchFamily="34" charset="0"/>
                <a:ea typeface="Calibri" pitchFamily="34" charset="-122"/>
                <a:cs typeface="Calibri" pitchFamily="34" charset="-120"/>
              </a:rPr>
              <a:t>−14,868</a:t>
            </a:r>
            <a:endParaRPr lang="en-US" sz="2400" dirty="0"/>
          </a:p>
          <a:p>
            <a:pPr algn="r" indent="0" marL="0">
              <a:buNone/>
            </a:pPr>
            <a:r>
              <a:rPr lang="en-US" sz="1300" b="1" dirty="0">
                <a:solidFill>
                  <a:srgbClr val="1F2937"/>
                </a:solidFill>
                <a:latin typeface="Calibri" pitchFamily="34" charset="0"/>
                <a:ea typeface="Calibri" pitchFamily="34" charset="-122"/>
                <a:cs typeface="Calibri" pitchFamily="34" charset="-120"/>
              </a:rPr>
              <a:t>−19.6%</a:t>
            </a:r>
            <a:endParaRPr lang="en-US" sz="2400" dirty="0"/>
          </a:p>
        </p:txBody>
      </p:sp>
      <p:sp>
        <p:nvSpPr>
          <p:cNvPr id="28" name="Text 24"/>
          <p:cNvSpPr txBox="1"/>
          <p:nvPr/>
        </p:nvSpPr>
        <p:spPr>
          <a:xfrm>
            <a:off x="548640" y="6089904"/>
            <a:ext cx="11091672" cy="274320"/>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F26 = full September; F27 = MTD to Sep 26 (18 of 21 working days). Source: SCA Cost-per-PRO report &amp; productivity dashboard — Mississauga, Sep 26, 2026.</a:t>
            </a:r>
            <a:endParaRPr lang="en-US" sz="950" dirty="0"/>
          </a:p>
        </p:txBody>
      </p:sp>
      <p:sp>
        <p:nvSpPr>
          <p:cNvPr id="29" name="Text 25"/>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0" name="Text 26"/>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13 / 27</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SCA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SCA — Accessorial capture</a:t>
            </a:r>
            <a:endParaRPr lang="en-US" sz="3000" dirty="0"/>
          </a:p>
        </p:txBody>
      </p:sp>
      <p:sp>
        <p:nvSpPr>
          <p:cNvPr id="4" name="Text 2"/>
          <p:cNvSpPr txBox="1"/>
          <p:nvPr/>
        </p:nvSpPr>
        <p:spPr>
          <a:xfrm>
            <a:off x="548640" y="1243584"/>
            <a:ext cx="10972800" cy="274320"/>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Accessorial unit volume report · Mississauga · current month (reactive)</a:t>
            </a:r>
            <a:endParaRPr lang="en-US" sz="1300" dirty="0"/>
          </a:p>
        </p:txBody>
      </p:sp>
      <p:graphicFrame>
        <p:nvGraphicFramePr>
          <p:cNvPr id="5" name="Chart 0" descr=""/>
          <p:cNvGraphicFramePr/>
          <p:nvPr/>
        </p:nvGraphicFramePr>
        <p:xfrm>
          <a:off x="548640" y="1645920"/>
          <a:ext cx="5577840" cy="306324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6355080" y="1645920"/>
          <a:ext cx="5285232" cy="306324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548640" y="4892040"/>
            <a:ext cx="2468880" cy="1097280"/>
          </a:xfrm>
          <a:prstGeom prst="roundRect">
            <a:avLst>
              <a:gd name="adj" fmla="val 6667"/>
            </a:avLst>
          </a:prstGeom>
          <a:solidFill>
            <a:srgbClr val="F3F4F6"/>
          </a:solidFill>
          <a:ln w="12700">
            <a:solidFill>
              <a:srgbClr val="F3F4F6"/>
            </a:solidFill>
            <a:prstDash val="solid"/>
          </a:ln>
        </p:spPr>
      </p:sp>
      <p:sp>
        <p:nvSpPr>
          <p:cNvPr id="8" name="Text 4"/>
          <p:cNvSpPr txBox="1"/>
          <p:nvPr/>
        </p:nvSpPr>
        <p:spPr>
          <a:xfrm>
            <a:off x="731520" y="4983480"/>
            <a:ext cx="2103120" cy="256032"/>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Total units this month</a:t>
            </a:r>
            <a:endParaRPr lang="en-US" sz="1100" dirty="0"/>
          </a:p>
        </p:txBody>
      </p:sp>
      <p:sp>
        <p:nvSpPr>
          <p:cNvPr id="9" name="Text 5"/>
          <p:cNvSpPr txBox="1"/>
          <p:nvPr/>
        </p:nvSpPr>
        <p:spPr>
          <a:xfrm>
            <a:off x="731520" y="5239512"/>
            <a:ext cx="2103120" cy="457200"/>
          </a:xfrm>
          <a:prstGeom prst="rect">
            <a:avLst/>
          </a:prstGeom>
          <a:noFill/>
          <a:ln/>
        </p:spPr>
        <p:txBody>
          <a:bodyPr wrap="square" lIns="0" tIns="0" rIns="0" bIns="0" rtlCol="0" anchor="ctr"/>
          <a:lstStyle/>
          <a:p>
            <a:pPr indent="0" marL="0">
              <a:buNone/>
            </a:pPr>
            <a:r>
              <a:rPr lang="en-US" sz="2600" b="1" dirty="0">
                <a:solidFill>
                  <a:srgbClr val="111827"/>
                </a:solidFill>
                <a:latin typeface="Calibri" pitchFamily="34" charset="0"/>
                <a:ea typeface="Calibri" pitchFamily="34" charset="-122"/>
                <a:cs typeface="Calibri" pitchFamily="34" charset="-120"/>
              </a:rPr>
              <a:t>≈32,921</a:t>
            </a:r>
            <a:endParaRPr lang="en-US" sz="2600" dirty="0"/>
          </a:p>
        </p:txBody>
      </p:sp>
      <p:sp>
        <p:nvSpPr>
          <p:cNvPr id="10" name="Text 6"/>
          <p:cNvSpPr txBox="1"/>
          <p:nvPr/>
        </p:nvSpPr>
        <p:spPr>
          <a:xfrm>
            <a:off x="731520" y="5687568"/>
            <a:ext cx="2103120" cy="219456"/>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Calculated: sum of 14 types</a:t>
            </a:r>
            <a:endParaRPr lang="en-US" sz="900" dirty="0"/>
          </a:p>
        </p:txBody>
      </p:sp>
      <p:sp>
        <p:nvSpPr>
          <p:cNvPr id="11" name="Shape 7"/>
          <p:cNvSpPr/>
          <p:nvPr/>
        </p:nvSpPr>
        <p:spPr>
          <a:xfrm>
            <a:off x="3200400" y="4892040"/>
            <a:ext cx="3931920" cy="1097280"/>
          </a:xfrm>
          <a:prstGeom prst="roundRect">
            <a:avLst>
              <a:gd name="adj" fmla="val 6667"/>
            </a:avLst>
          </a:prstGeom>
          <a:solidFill>
            <a:srgbClr val="F3F4F6"/>
          </a:solidFill>
          <a:ln w="12700">
            <a:solidFill>
              <a:srgbClr val="F3F4F6"/>
            </a:solidFill>
            <a:prstDash val="solid"/>
          </a:ln>
        </p:spPr>
      </p:sp>
      <p:sp>
        <p:nvSpPr>
          <p:cNvPr id="12" name="Text 8"/>
          <p:cNvSpPr txBox="1"/>
          <p:nvPr/>
        </p:nvSpPr>
        <p:spPr>
          <a:xfrm>
            <a:off x="3383280" y="4956048"/>
            <a:ext cx="3611880" cy="969264"/>
          </a:xfrm>
          <a:prstGeom prst="rect">
            <a:avLst/>
          </a:prstGeom>
          <a:noFill/>
          <a:ln/>
        </p:spPr>
        <p:txBody>
          <a:bodyPr wrap="square" lIns="0" tIns="0" rIns="0" bIns="0" rtlCol="0" anchor="ctr"/>
          <a:lstStyle/>
          <a:p>
            <a:pPr indent="0" marL="0">
              <a:buNone/>
            </a:pPr>
            <a:r>
              <a:rPr lang="en-US" sz="950" b="1" dirty="0">
                <a:solidFill>
                  <a:srgbClr val="1F2937"/>
                </a:solidFill>
                <a:latin typeface="Calibri" pitchFamily="34" charset="0"/>
                <a:ea typeface="Calibri" pitchFamily="34" charset="-122"/>
                <a:cs typeface="Calibri" pitchFamily="34" charset="-120"/>
              </a:rPr>
              <a:t>Other types: </a:t>
            </a:r>
            <a:pPr indent="0" marL="0">
              <a:buNone/>
            </a:pPr>
            <a:r>
              <a:rPr lang="en-US" sz="950" dirty="0">
                <a:solidFill>
                  <a:srgbClr val="6B7280"/>
                </a:solidFill>
                <a:latin typeface="Calibri" pitchFamily="34" charset="0"/>
                <a:ea typeface="Calibri" pitchFamily="34" charset="-122"/>
                <a:cs typeface="Calibri" pitchFamily="34" charset="-120"/>
              </a:rPr>
              <a:t>Inside delivery 315 · Storage 279 · Limited access delivery 90 · Tradeshow delivery 82 · Inside pick-up 64 · Detention w/ power at delivery 17 · Limited access pick-up 14 · Tradeshow pick-up 3</a:t>
            </a:r>
            <a:endParaRPr lang="en-US" sz="950" dirty="0"/>
          </a:p>
        </p:txBody>
      </p:sp>
      <p:sp>
        <p:nvSpPr>
          <p:cNvPr id="13" name="Shape 9"/>
          <p:cNvSpPr/>
          <p:nvPr/>
        </p:nvSpPr>
        <p:spPr>
          <a:xfrm>
            <a:off x="7315200" y="4892040"/>
            <a:ext cx="4325112" cy="1097280"/>
          </a:xfrm>
          <a:prstGeom prst="roundRect">
            <a:avLst>
              <a:gd name="adj" fmla="val 6667"/>
            </a:avLst>
          </a:prstGeom>
          <a:solidFill>
            <a:srgbClr val="F5F3FF"/>
          </a:solidFill>
          <a:ln w="12700">
            <a:solidFill>
              <a:srgbClr val="F5F3FF"/>
            </a:solidFill>
            <a:prstDash val="solid"/>
          </a:ln>
        </p:spPr>
      </p:sp>
      <p:sp>
        <p:nvSpPr>
          <p:cNvPr id="14" name="Shape 10"/>
          <p:cNvSpPr/>
          <p:nvPr/>
        </p:nvSpPr>
        <p:spPr>
          <a:xfrm>
            <a:off x="7498080" y="5184648"/>
            <a:ext cx="502920" cy="502920"/>
          </a:xfrm>
          <a:prstGeom prst="ellipse">
            <a:avLst/>
          </a:prstGeom>
          <a:solidFill>
            <a:srgbClr val="7C3AED"/>
          </a:solidFill>
          <a:ln w="12700">
            <a:solidFill>
              <a:srgbClr val="7C3AED"/>
            </a:solidFill>
            <a:prstDash val="solid"/>
          </a:ln>
        </p:spPr>
      </p:sp>
      <p:pic>
        <p:nvPicPr>
          <p:cNvPr id="15" name="Image 0" descr="preencoded.png">    </p:cNvPr>
          <p:cNvPicPr>
            <a:picLocks noChangeAspect="1"/>
          </p:cNvPicPr>
          <p:nvPr/>
        </p:nvPicPr>
        <p:blipFill>
          <a:blip r:embed="rId3"/>
          <a:stretch>
            <a:fillRect/>
          </a:stretch>
        </p:blipFill>
        <p:spPr>
          <a:xfrm>
            <a:off x="7623810" y="5310378"/>
            <a:ext cx="251460" cy="251460"/>
          </a:xfrm>
          <a:prstGeom prst="rect">
            <a:avLst/>
          </a:prstGeom>
        </p:spPr>
      </p:pic>
      <p:sp>
        <p:nvSpPr>
          <p:cNvPr id="16" name="Text 11"/>
          <p:cNvSpPr txBox="1"/>
          <p:nvPr/>
        </p:nvSpPr>
        <p:spPr>
          <a:xfrm>
            <a:off x="8138160" y="4892040"/>
            <a:ext cx="3383280" cy="1097280"/>
          </a:xfrm>
          <a:prstGeom prst="rect">
            <a:avLst/>
          </a:prstGeom>
          <a:noFill/>
          <a:ln/>
        </p:spPr>
        <p:txBody>
          <a:bodyPr wrap="square" lIns="0" tIns="0" rIns="0" bIns="0" rtlCol="0" anchor="ctr"/>
          <a:lstStyle/>
          <a:p>
            <a:pPr indent="0" marL="0">
              <a:buNone/>
            </a:pPr>
            <a:r>
              <a:rPr lang="en-US" sz="1200" b="1" dirty="0">
                <a:solidFill>
                  <a:srgbClr val="111827"/>
                </a:solidFill>
                <a:latin typeface="Calibri" pitchFamily="34" charset="0"/>
                <a:ea typeface="Calibri" pitchFamily="34" charset="-122"/>
                <a:cs typeface="Calibri" pitchFamily="34" charset="-120"/>
              </a:rPr>
              <a:t>Every accessorial coded = revenue captured; private-residence, tailgate and appointment deliveries are ~91% of volume.</a:t>
            </a:r>
            <a:endParaRPr lang="en-US" sz="1200" dirty="0"/>
          </a:p>
        </p:txBody>
      </p:sp>
      <p:sp>
        <p:nvSpPr>
          <p:cNvPr id="17" name="Text 12"/>
          <p:cNvSpPr txBox="1"/>
          <p:nvPr/>
        </p:nvSpPr>
        <p:spPr>
          <a:xfrm>
            <a:off x="548640" y="6108192"/>
            <a:ext cx="11091672" cy="256032"/>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Source: Accessorial unit volume report — Mississauga. Weekly values in thousands of units; week of Sep 28 is partial.</a:t>
            </a:r>
            <a:endParaRPr lang="en-US" sz="950" dirty="0"/>
          </a:p>
        </p:txBody>
      </p:sp>
      <p:sp>
        <p:nvSpPr>
          <p:cNvPr id="18" name="Text 13"/>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19" name="Text 14"/>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14 / 27</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SCA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Revenue protection — Fork truck reweighs</a:t>
            </a:r>
            <a:endParaRPr lang="en-US" sz="3000" dirty="0"/>
          </a:p>
        </p:txBody>
      </p:sp>
      <p:sp>
        <p:nvSpPr>
          <p:cNvPr id="4" name="Text 2"/>
          <p:cNvSpPr txBox="1"/>
          <p:nvPr/>
        </p:nvSpPr>
        <p:spPr>
          <a:xfrm>
            <a:off x="548640" y="1243584"/>
            <a:ext cx="10972800" cy="274320"/>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Mississauga as origin terminal · reweighs as % of target (target 100%)</a:t>
            </a:r>
            <a:endParaRPr lang="en-US" sz="1300" dirty="0"/>
          </a:p>
        </p:txBody>
      </p:sp>
      <p:sp>
        <p:nvSpPr>
          <p:cNvPr id="5" name="Shape 3"/>
          <p:cNvSpPr/>
          <p:nvPr/>
        </p:nvSpPr>
        <p:spPr>
          <a:xfrm>
            <a:off x="548640" y="1645920"/>
            <a:ext cx="2635758" cy="1188720"/>
          </a:xfrm>
          <a:prstGeom prst="roundRect">
            <a:avLst>
              <a:gd name="adj" fmla="val 6154"/>
            </a:avLst>
          </a:prstGeom>
          <a:solidFill>
            <a:srgbClr val="F3F4F6"/>
          </a:solidFill>
          <a:ln w="12700">
            <a:solidFill>
              <a:srgbClr val="F3F4F6"/>
            </a:solidFill>
            <a:prstDash val="solid"/>
          </a:ln>
        </p:spPr>
      </p:sp>
      <p:sp>
        <p:nvSpPr>
          <p:cNvPr id="6" name="Text 4"/>
          <p:cNvSpPr txBox="1"/>
          <p:nvPr/>
        </p:nvSpPr>
        <p:spPr>
          <a:xfrm>
            <a:off x="731520" y="1783080"/>
            <a:ext cx="226999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Last 7 days · Sep 22–28</a:t>
            </a:r>
            <a:endParaRPr lang="en-US" sz="1100" dirty="0"/>
          </a:p>
        </p:txBody>
      </p:sp>
      <p:sp>
        <p:nvSpPr>
          <p:cNvPr id="7" name="Text 5"/>
          <p:cNvSpPr txBox="1"/>
          <p:nvPr/>
        </p:nvSpPr>
        <p:spPr>
          <a:xfrm>
            <a:off x="731520" y="2057400"/>
            <a:ext cx="2269998" cy="320040"/>
          </a:xfrm>
          <a:prstGeom prst="rect">
            <a:avLst/>
          </a:prstGeom>
          <a:noFill/>
          <a:ln/>
        </p:spPr>
        <p:txBody>
          <a:bodyPr wrap="square" lIns="0" tIns="0" rIns="0" bIns="0" rtlCol="0" anchor="ctr"/>
          <a:lstStyle/>
          <a:p>
            <a:pPr indent="0" marL="0">
              <a:buNone/>
            </a:pPr>
            <a:r>
              <a:rPr lang="en-US" sz="2600" b="1" dirty="0">
                <a:solidFill>
                  <a:srgbClr val="059669"/>
                </a:solidFill>
                <a:latin typeface="Calibri" pitchFamily="34" charset="0"/>
                <a:ea typeface="Calibri" pitchFamily="34" charset="-122"/>
                <a:cs typeface="Calibri" pitchFamily="34" charset="-120"/>
              </a:rPr>
              <a:t>123.28%</a:t>
            </a:r>
            <a:endParaRPr lang="en-US" sz="2600" dirty="0"/>
          </a:p>
        </p:txBody>
      </p:sp>
      <p:sp>
        <p:nvSpPr>
          <p:cNvPr id="8" name="Text 6"/>
          <p:cNvSpPr txBox="1"/>
          <p:nvPr/>
        </p:nvSpPr>
        <p:spPr>
          <a:xfrm>
            <a:off x="731520" y="2404872"/>
            <a:ext cx="2269998"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vs 100% target</a:t>
            </a:r>
            <a:endParaRPr lang="en-US" sz="1050" dirty="0"/>
          </a:p>
        </p:txBody>
      </p:sp>
      <p:sp>
        <p:nvSpPr>
          <p:cNvPr id="9" name="Shape 7"/>
          <p:cNvSpPr/>
          <p:nvPr/>
        </p:nvSpPr>
        <p:spPr>
          <a:xfrm>
            <a:off x="3367278" y="1645920"/>
            <a:ext cx="2635758" cy="1188720"/>
          </a:xfrm>
          <a:prstGeom prst="roundRect">
            <a:avLst>
              <a:gd name="adj" fmla="val 6154"/>
            </a:avLst>
          </a:prstGeom>
          <a:solidFill>
            <a:srgbClr val="F3F4F6"/>
          </a:solidFill>
          <a:ln w="12700">
            <a:solidFill>
              <a:srgbClr val="F3F4F6"/>
            </a:solidFill>
            <a:prstDash val="solid"/>
          </a:ln>
        </p:spPr>
      </p:sp>
      <p:sp>
        <p:nvSpPr>
          <p:cNvPr id="10" name="Text 8"/>
          <p:cNvSpPr txBox="1"/>
          <p:nvPr/>
        </p:nvSpPr>
        <p:spPr>
          <a:xfrm>
            <a:off x="3550158" y="1783080"/>
            <a:ext cx="226999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September · F27</a:t>
            </a:r>
            <a:endParaRPr lang="en-US" sz="1100" dirty="0"/>
          </a:p>
        </p:txBody>
      </p:sp>
      <p:sp>
        <p:nvSpPr>
          <p:cNvPr id="11" name="Text 9"/>
          <p:cNvSpPr txBox="1"/>
          <p:nvPr/>
        </p:nvSpPr>
        <p:spPr>
          <a:xfrm>
            <a:off x="3550158" y="2057400"/>
            <a:ext cx="2269998" cy="320040"/>
          </a:xfrm>
          <a:prstGeom prst="rect">
            <a:avLst/>
          </a:prstGeom>
          <a:noFill/>
          <a:ln/>
        </p:spPr>
        <p:txBody>
          <a:bodyPr wrap="square" lIns="0" tIns="0" rIns="0" bIns="0" rtlCol="0" anchor="ctr"/>
          <a:lstStyle/>
          <a:p>
            <a:pPr indent="0" marL="0">
              <a:buNone/>
            </a:pPr>
            <a:r>
              <a:rPr lang="en-US" sz="2600" b="1" dirty="0">
                <a:solidFill>
                  <a:srgbClr val="059669"/>
                </a:solidFill>
                <a:latin typeface="Calibri" pitchFamily="34" charset="0"/>
                <a:ea typeface="Calibri" pitchFamily="34" charset="-122"/>
                <a:cs typeface="Calibri" pitchFamily="34" charset="-120"/>
              </a:rPr>
              <a:t>131.8%</a:t>
            </a:r>
            <a:endParaRPr lang="en-US" sz="2600" dirty="0"/>
          </a:p>
        </p:txBody>
      </p:sp>
      <p:sp>
        <p:nvSpPr>
          <p:cNvPr id="12" name="Text 10"/>
          <p:cNvSpPr txBox="1"/>
          <p:nvPr/>
        </p:nvSpPr>
        <p:spPr>
          <a:xfrm>
            <a:off x="3550158" y="2404872"/>
            <a:ext cx="2269998"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vs 100% target</a:t>
            </a:r>
            <a:endParaRPr lang="en-US" sz="1050" dirty="0"/>
          </a:p>
        </p:txBody>
      </p:sp>
      <p:sp>
        <p:nvSpPr>
          <p:cNvPr id="13" name="Shape 11"/>
          <p:cNvSpPr/>
          <p:nvPr/>
        </p:nvSpPr>
        <p:spPr>
          <a:xfrm>
            <a:off x="6185916" y="1645920"/>
            <a:ext cx="2635758" cy="1188720"/>
          </a:xfrm>
          <a:prstGeom prst="roundRect">
            <a:avLst>
              <a:gd name="adj" fmla="val 6154"/>
            </a:avLst>
          </a:prstGeom>
          <a:solidFill>
            <a:srgbClr val="F3F4F6"/>
          </a:solidFill>
          <a:ln w="12700">
            <a:solidFill>
              <a:srgbClr val="F3F4F6"/>
            </a:solidFill>
            <a:prstDash val="solid"/>
          </a:ln>
        </p:spPr>
      </p:sp>
      <p:sp>
        <p:nvSpPr>
          <p:cNvPr id="14" name="Text 12"/>
          <p:cNvSpPr txBox="1"/>
          <p:nvPr/>
        </p:nvSpPr>
        <p:spPr>
          <a:xfrm>
            <a:off x="6368796" y="1783080"/>
            <a:ext cx="226999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F27 months</a:t>
            </a:r>
            <a:endParaRPr lang="en-US" sz="1100" dirty="0"/>
          </a:p>
        </p:txBody>
      </p:sp>
      <p:sp>
        <p:nvSpPr>
          <p:cNvPr id="15" name="Text 13"/>
          <p:cNvSpPr txBox="1"/>
          <p:nvPr/>
        </p:nvSpPr>
        <p:spPr>
          <a:xfrm>
            <a:off x="6368796" y="2084832"/>
            <a:ext cx="756666" cy="228600"/>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Jul</a:t>
            </a:r>
            <a:endParaRPr lang="en-US" sz="1050" dirty="0"/>
          </a:p>
        </p:txBody>
      </p:sp>
      <p:sp>
        <p:nvSpPr>
          <p:cNvPr id="16" name="Text 14"/>
          <p:cNvSpPr txBox="1"/>
          <p:nvPr/>
        </p:nvSpPr>
        <p:spPr>
          <a:xfrm>
            <a:off x="6368796" y="2313432"/>
            <a:ext cx="756666" cy="365760"/>
          </a:xfrm>
          <a:prstGeom prst="rect">
            <a:avLst/>
          </a:prstGeom>
          <a:noFill/>
          <a:ln/>
        </p:spPr>
        <p:txBody>
          <a:bodyPr wrap="square" lIns="0" tIns="0" rIns="0" bIns="0" rtlCol="0" anchor="ctr"/>
          <a:lstStyle/>
          <a:p>
            <a:pPr indent="0" marL="0">
              <a:buNone/>
            </a:pPr>
            <a:r>
              <a:rPr lang="en-US" sz="1300" b="1" dirty="0">
                <a:solidFill>
                  <a:srgbClr val="059669"/>
                </a:solidFill>
                <a:latin typeface="Calibri" pitchFamily="34" charset="0"/>
                <a:ea typeface="Calibri" pitchFamily="34" charset="-122"/>
                <a:cs typeface="Calibri" pitchFamily="34" charset="-120"/>
              </a:rPr>
              <a:t>143.9%</a:t>
            </a:r>
            <a:endParaRPr lang="en-US" sz="1300" dirty="0"/>
          </a:p>
        </p:txBody>
      </p:sp>
      <p:sp>
        <p:nvSpPr>
          <p:cNvPr id="17" name="Text 15"/>
          <p:cNvSpPr txBox="1"/>
          <p:nvPr/>
        </p:nvSpPr>
        <p:spPr>
          <a:xfrm>
            <a:off x="7125462" y="2084832"/>
            <a:ext cx="756666" cy="228600"/>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Aug</a:t>
            </a:r>
            <a:endParaRPr lang="en-US" sz="1050" dirty="0"/>
          </a:p>
        </p:txBody>
      </p:sp>
      <p:sp>
        <p:nvSpPr>
          <p:cNvPr id="18" name="Text 16"/>
          <p:cNvSpPr txBox="1"/>
          <p:nvPr/>
        </p:nvSpPr>
        <p:spPr>
          <a:xfrm>
            <a:off x="7125462" y="2313432"/>
            <a:ext cx="756666" cy="365760"/>
          </a:xfrm>
          <a:prstGeom prst="rect">
            <a:avLst/>
          </a:prstGeom>
          <a:noFill/>
          <a:ln/>
        </p:spPr>
        <p:txBody>
          <a:bodyPr wrap="square" lIns="0" tIns="0" rIns="0" bIns="0" rtlCol="0" anchor="ctr"/>
          <a:lstStyle/>
          <a:p>
            <a:pPr indent="0" marL="0">
              <a:buNone/>
            </a:pPr>
            <a:r>
              <a:rPr lang="en-US" sz="1300" b="1" dirty="0">
                <a:solidFill>
                  <a:srgbClr val="059669"/>
                </a:solidFill>
                <a:latin typeface="Calibri" pitchFamily="34" charset="0"/>
                <a:ea typeface="Calibri" pitchFamily="34" charset="-122"/>
                <a:cs typeface="Calibri" pitchFamily="34" charset="-120"/>
              </a:rPr>
              <a:t>126.4%</a:t>
            </a:r>
            <a:endParaRPr lang="en-US" sz="1300" dirty="0"/>
          </a:p>
        </p:txBody>
      </p:sp>
      <p:sp>
        <p:nvSpPr>
          <p:cNvPr id="19" name="Text 17"/>
          <p:cNvSpPr txBox="1"/>
          <p:nvPr/>
        </p:nvSpPr>
        <p:spPr>
          <a:xfrm>
            <a:off x="7882128" y="2084832"/>
            <a:ext cx="756666" cy="228600"/>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Sep</a:t>
            </a:r>
            <a:endParaRPr lang="en-US" sz="1050" dirty="0"/>
          </a:p>
        </p:txBody>
      </p:sp>
      <p:sp>
        <p:nvSpPr>
          <p:cNvPr id="20" name="Text 18"/>
          <p:cNvSpPr txBox="1"/>
          <p:nvPr/>
        </p:nvSpPr>
        <p:spPr>
          <a:xfrm>
            <a:off x="7882128" y="2313432"/>
            <a:ext cx="756666" cy="365760"/>
          </a:xfrm>
          <a:prstGeom prst="rect">
            <a:avLst/>
          </a:prstGeom>
          <a:noFill/>
          <a:ln/>
        </p:spPr>
        <p:txBody>
          <a:bodyPr wrap="square" lIns="0" tIns="0" rIns="0" bIns="0" rtlCol="0" anchor="ctr"/>
          <a:lstStyle/>
          <a:p>
            <a:pPr indent="0" marL="0">
              <a:buNone/>
            </a:pPr>
            <a:r>
              <a:rPr lang="en-US" sz="1300" b="1" dirty="0">
                <a:solidFill>
                  <a:srgbClr val="059669"/>
                </a:solidFill>
                <a:latin typeface="Calibri" pitchFamily="34" charset="0"/>
                <a:ea typeface="Calibri" pitchFamily="34" charset="-122"/>
                <a:cs typeface="Calibri" pitchFamily="34" charset="-120"/>
              </a:rPr>
              <a:t>131.8%</a:t>
            </a:r>
            <a:endParaRPr lang="en-US" sz="1300" dirty="0"/>
          </a:p>
        </p:txBody>
      </p:sp>
      <p:sp>
        <p:nvSpPr>
          <p:cNvPr id="21" name="Shape 19"/>
          <p:cNvSpPr/>
          <p:nvPr/>
        </p:nvSpPr>
        <p:spPr>
          <a:xfrm>
            <a:off x="9004554" y="1645920"/>
            <a:ext cx="2635758" cy="1188720"/>
          </a:xfrm>
          <a:prstGeom prst="roundRect">
            <a:avLst>
              <a:gd name="adj" fmla="val 6154"/>
            </a:avLst>
          </a:prstGeom>
          <a:solidFill>
            <a:srgbClr val="F3F4F6"/>
          </a:solidFill>
          <a:ln w="12700">
            <a:solidFill>
              <a:srgbClr val="F3F4F6"/>
            </a:solidFill>
            <a:prstDash val="solid"/>
          </a:ln>
        </p:spPr>
      </p:sp>
      <p:sp>
        <p:nvSpPr>
          <p:cNvPr id="22" name="Text 20"/>
          <p:cNvSpPr txBox="1"/>
          <p:nvPr/>
        </p:nvSpPr>
        <p:spPr>
          <a:xfrm>
            <a:off x="9187434" y="1783080"/>
            <a:ext cx="2269998" cy="274320"/>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Total reweighs · all dates</a:t>
            </a:r>
            <a:endParaRPr lang="en-US" sz="1050" dirty="0"/>
          </a:p>
        </p:txBody>
      </p:sp>
      <p:sp>
        <p:nvSpPr>
          <p:cNvPr id="23" name="Text 21"/>
          <p:cNvSpPr txBox="1"/>
          <p:nvPr/>
        </p:nvSpPr>
        <p:spPr>
          <a:xfrm>
            <a:off x="9187434" y="2057400"/>
            <a:ext cx="2269998" cy="320040"/>
          </a:xfrm>
          <a:prstGeom prst="rect">
            <a:avLst/>
          </a:prstGeom>
          <a:noFill/>
          <a:ln/>
        </p:spPr>
        <p:txBody>
          <a:bodyPr wrap="square" lIns="0" tIns="0" rIns="0" bIns="0" rtlCol="0" anchor="ctr"/>
          <a:lstStyle/>
          <a:p>
            <a:pPr indent="0" marL="0">
              <a:buNone/>
            </a:pPr>
            <a:r>
              <a:rPr lang="en-US" sz="2600" b="1" dirty="0">
                <a:solidFill>
                  <a:srgbClr val="B45309"/>
                </a:solidFill>
                <a:latin typeface="Calibri" pitchFamily="34" charset="0"/>
                <a:ea typeface="Calibri" pitchFamily="34" charset="-122"/>
                <a:cs typeface="Calibri" pitchFamily="34" charset="-120"/>
              </a:rPr>
              <a:t>85.16%</a:t>
            </a:r>
            <a:endParaRPr lang="en-US" sz="2600" dirty="0"/>
          </a:p>
        </p:txBody>
      </p:sp>
      <p:sp>
        <p:nvSpPr>
          <p:cNvPr id="24" name="Text 22"/>
          <p:cNvSpPr txBox="1"/>
          <p:nvPr/>
        </p:nvSpPr>
        <p:spPr>
          <a:xfrm>
            <a:off x="9187434" y="2404872"/>
            <a:ext cx="2269998"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44,283 vs 52K · incl. Mar ramp-up</a:t>
            </a:r>
            <a:endParaRPr lang="en-US" sz="1050" dirty="0"/>
          </a:p>
        </p:txBody>
      </p:sp>
      <p:graphicFrame>
        <p:nvGraphicFramePr>
          <p:cNvPr id="25" name="Chart 0" descr=""/>
          <p:cNvGraphicFramePr/>
          <p:nvPr/>
        </p:nvGraphicFramePr>
        <p:xfrm>
          <a:off x="548640" y="3017520"/>
          <a:ext cx="6766560" cy="2743200"/>
        </p:xfrm>
        <a:graphic xmlns:a="http://schemas.openxmlformats.org/drawingml/2006/main">
          <a:graphicData uri="http://schemas.openxmlformats.org/drawingml/2006/chart">
            <c:chart xmlns:c="http://schemas.openxmlformats.org/drawingml/2006/chart" r:id="rId1"/>
          </a:graphicData>
        </a:graphic>
      </p:graphicFrame>
      <p:sp>
        <p:nvSpPr>
          <p:cNvPr id="26" name="Text 23"/>
          <p:cNvSpPr txBox="1"/>
          <p:nvPr/>
        </p:nvSpPr>
        <p:spPr>
          <a:xfrm>
            <a:off x="548640" y="5760720"/>
            <a:ext cx="6766560" cy="256032"/>
          </a:xfrm>
          <a:prstGeom prst="rect">
            <a:avLst/>
          </a:prstGeom>
          <a:noFill/>
          <a:ln/>
        </p:spPr>
        <p:txBody>
          <a:bodyPr wrap="square" lIns="0" tIns="0" rIns="0" bIns="0" rtlCol="0" anchor="ctr"/>
          <a:lstStyle/>
          <a:p>
            <a:pPr algn="ctr" indent="0" marL="0">
              <a:buNone/>
            </a:pPr>
            <a:r>
              <a:rPr lang="en-US" sz="950" i="1" dirty="0">
                <a:solidFill>
                  <a:srgbClr val="6B7280"/>
                </a:solidFill>
                <a:latin typeface="Calibri" pitchFamily="34" charset="0"/>
                <a:ea typeface="Calibri" pitchFamily="34" charset="-122"/>
                <a:cs typeface="Calibri" pitchFamily="34" charset="-120"/>
              </a:rPr>
              <a:t>Dark bars = F27 (Jul–Sep) · light bars = F26 (Mar–Jun) · March = ramp-up month (75.4%)</a:t>
            </a:r>
            <a:endParaRPr lang="en-US" sz="950" dirty="0"/>
          </a:p>
        </p:txBody>
      </p:sp>
      <p:sp>
        <p:nvSpPr>
          <p:cNvPr id="27" name="Shape 24"/>
          <p:cNvSpPr/>
          <p:nvPr/>
        </p:nvSpPr>
        <p:spPr>
          <a:xfrm>
            <a:off x="7589520" y="3017520"/>
            <a:ext cx="4050792" cy="1325880"/>
          </a:xfrm>
          <a:prstGeom prst="roundRect">
            <a:avLst>
              <a:gd name="adj" fmla="val 5517"/>
            </a:avLst>
          </a:prstGeom>
          <a:solidFill>
            <a:srgbClr val="F3F4F6"/>
          </a:solidFill>
          <a:ln w="12700">
            <a:solidFill>
              <a:srgbClr val="F3F4F6"/>
            </a:solidFill>
            <a:prstDash val="solid"/>
          </a:ln>
        </p:spPr>
      </p:sp>
      <p:sp>
        <p:nvSpPr>
          <p:cNvPr id="28" name="Text 25"/>
          <p:cNvSpPr txBox="1"/>
          <p:nvPr/>
        </p:nvSpPr>
        <p:spPr>
          <a:xfrm>
            <a:off x="7772400" y="3108960"/>
            <a:ext cx="3657600" cy="256032"/>
          </a:xfrm>
          <a:prstGeom prst="rect">
            <a:avLst/>
          </a:prstGeom>
          <a:noFill/>
          <a:ln/>
        </p:spPr>
        <p:txBody>
          <a:bodyPr wrap="square" lIns="0" tIns="0" rIns="0" bIns="0" rtlCol="0" anchor="ctr"/>
          <a:lstStyle/>
          <a:p>
            <a:pPr indent="0" marL="0">
              <a:buNone/>
            </a:pPr>
            <a:r>
              <a:rPr lang="en-US" sz="1200" b="1" dirty="0">
                <a:solidFill>
                  <a:srgbClr val="111827"/>
                </a:solidFill>
                <a:latin typeface="Calibri" pitchFamily="34" charset="0"/>
                <a:ea typeface="Calibri" pitchFamily="34" charset="-122"/>
                <a:cs typeface="Calibri" pitchFamily="34" charset="-120"/>
              </a:rPr>
              <a:t>Recent weeks</a:t>
            </a:r>
            <a:endParaRPr lang="en-US" sz="1200" dirty="0"/>
          </a:p>
        </p:txBody>
      </p:sp>
      <p:sp>
        <p:nvSpPr>
          <p:cNvPr id="29" name="Text 26"/>
          <p:cNvSpPr txBox="1"/>
          <p:nvPr/>
        </p:nvSpPr>
        <p:spPr>
          <a:xfrm>
            <a:off x="7772400" y="3401568"/>
            <a:ext cx="1188720" cy="228600"/>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Wk 38</a:t>
            </a:r>
            <a:endParaRPr lang="en-US" sz="1050" dirty="0"/>
          </a:p>
        </p:txBody>
      </p:sp>
      <p:sp>
        <p:nvSpPr>
          <p:cNvPr id="30" name="Text 27"/>
          <p:cNvSpPr txBox="1"/>
          <p:nvPr/>
        </p:nvSpPr>
        <p:spPr>
          <a:xfrm>
            <a:off x="7772400" y="3630168"/>
            <a:ext cx="1188720" cy="411480"/>
          </a:xfrm>
          <a:prstGeom prst="rect">
            <a:avLst/>
          </a:prstGeom>
          <a:noFill/>
          <a:ln/>
        </p:spPr>
        <p:txBody>
          <a:bodyPr wrap="square" lIns="0" tIns="0" rIns="0" bIns="0" rtlCol="0" anchor="ctr"/>
          <a:lstStyle/>
          <a:p>
            <a:pPr indent="0" marL="0">
              <a:buNone/>
            </a:pPr>
            <a:r>
              <a:rPr lang="en-US" sz="1800" b="1" dirty="0">
                <a:solidFill>
                  <a:srgbClr val="059669"/>
                </a:solidFill>
                <a:latin typeface="Calibri" pitchFamily="34" charset="0"/>
                <a:ea typeface="Calibri" pitchFamily="34" charset="-122"/>
                <a:cs typeface="Calibri" pitchFamily="34" charset="-120"/>
              </a:rPr>
              <a:t>128.2%</a:t>
            </a:r>
            <a:endParaRPr lang="en-US" sz="1800" dirty="0"/>
          </a:p>
        </p:txBody>
      </p:sp>
      <p:sp>
        <p:nvSpPr>
          <p:cNvPr id="31" name="Text 28"/>
          <p:cNvSpPr txBox="1"/>
          <p:nvPr/>
        </p:nvSpPr>
        <p:spPr>
          <a:xfrm>
            <a:off x="9006840" y="3401568"/>
            <a:ext cx="1188720" cy="228600"/>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Wk 39</a:t>
            </a:r>
            <a:endParaRPr lang="en-US" sz="1050" dirty="0"/>
          </a:p>
        </p:txBody>
      </p:sp>
      <p:sp>
        <p:nvSpPr>
          <p:cNvPr id="32" name="Text 29"/>
          <p:cNvSpPr txBox="1"/>
          <p:nvPr/>
        </p:nvSpPr>
        <p:spPr>
          <a:xfrm>
            <a:off x="9006840" y="3630168"/>
            <a:ext cx="1188720" cy="411480"/>
          </a:xfrm>
          <a:prstGeom prst="rect">
            <a:avLst/>
          </a:prstGeom>
          <a:noFill/>
          <a:ln/>
        </p:spPr>
        <p:txBody>
          <a:bodyPr wrap="square" lIns="0" tIns="0" rIns="0" bIns="0" rtlCol="0" anchor="ctr"/>
          <a:lstStyle/>
          <a:p>
            <a:pPr indent="0" marL="0">
              <a:buNone/>
            </a:pPr>
            <a:r>
              <a:rPr lang="en-US" sz="1800" b="1" dirty="0">
                <a:solidFill>
                  <a:srgbClr val="059669"/>
                </a:solidFill>
                <a:latin typeface="Calibri" pitchFamily="34" charset="0"/>
                <a:ea typeface="Calibri" pitchFamily="34" charset="-122"/>
                <a:cs typeface="Calibri" pitchFamily="34" charset="-120"/>
              </a:rPr>
              <a:t>130.8%</a:t>
            </a:r>
            <a:endParaRPr lang="en-US" sz="1800" dirty="0"/>
          </a:p>
        </p:txBody>
      </p:sp>
      <p:sp>
        <p:nvSpPr>
          <p:cNvPr id="33" name="Text 30"/>
          <p:cNvSpPr txBox="1"/>
          <p:nvPr/>
        </p:nvSpPr>
        <p:spPr>
          <a:xfrm>
            <a:off x="10241280" y="3401568"/>
            <a:ext cx="1188720" cy="228600"/>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Wk 40*</a:t>
            </a:r>
            <a:endParaRPr lang="en-US" sz="1050" dirty="0"/>
          </a:p>
        </p:txBody>
      </p:sp>
      <p:sp>
        <p:nvSpPr>
          <p:cNvPr id="34" name="Text 31"/>
          <p:cNvSpPr txBox="1"/>
          <p:nvPr/>
        </p:nvSpPr>
        <p:spPr>
          <a:xfrm>
            <a:off x="10241280" y="3630168"/>
            <a:ext cx="1188720" cy="411480"/>
          </a:xfrm>
          <a:prstGeom prst="rect">
            <a:avLst/>
          </a:prstGeom>
          <a:noFill/>
          <a:ln/>
        </p:spPr>
        <p:txBody>
          <a:bodyPr wrap="square" lIns="0" tIns="0" rIns="0" bIns="0" rtlCol="0" anchor="ctr"/>
          <a:lstStyle/>
          <a:p>
            <a:pPr indent="0" marL="0">
              <a:buNone/>
            </a:pPr>
            <a:r>
              <a:rPr lang="en-US" sz="1800" b="1" dirty="0">
                <a:solidFill>
                  <a:srgbClr val="B45309"/>
                </a:solidFill>
                <a:latin typeface="Calibri" pitchFamily="34" charset="0"/>
                <a:ea typeface="Calibri" pitchFamily="34" charset="-122"/>
                <a:cs typeface="Calibri" pitchFamily="34" charset="-120"/>
              </a:rPr>
              <a:t>93.2%</a:t>
            </a:r>
            <a:endParaRPr lang="en-US" sz="1800" dirty="0"/>
          </a:p>
        </p:txBody>
      </p:sp>
      <p:sp>
        <p:nvSpPr>
          <p:cNvPr id="35" name="Text 32"/>
          <p:cNvSpPr txBox="1"/>
          <p:nvPr/>
        </p:nvSpPr>
        <p:spPr>
          <a:xfrm>
            <a:off x="7772400" y="4041648"/>
            <a:ext cx="3657600" cy="219456"/>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*Week 40 partial</a:t>
            </a:r>
            <a:endParaRPr lang="en-US" sz="900" dirty="0"/>
          </a:p>
        </p:txBody>
      </p:sp>
      <p:sp>
        <p:nvSpPr>
          <p:cNvPr id="36" name="Shape 33"/>
          <p:cNvSpPr/>
          <p:nvPr/>
        </p:nvSpPr>
        <p:spPr>
          <a:xfrm>
            <a:off x="7589520" y="4480560"/>
            <a:ext cx="4050792" cy="1536192"/>
          </a:xfrm>
          <a:prstGeom prst="roundRect">
            <a:avLst>
              <a:gd name="adj" fmla="val 4762"/>
            </a:avLst>
          </a:prstGeom>
          <a:solidFill>
            <a:srgbClr val="F5F3FF"/>
          </a:solidFill>
          <a:ln w="12700">
            <a:solidFill>
              <a:srgbClr val="F5F3FF"/>
            </a:solidFill>
            <a:prstDash val="solid"/>
          </a:ln>
        </p:spPr>
      </p:sp>
      <p:sp>
        <p:nvSpPr>
          <p:cNvPr id="37" name="Shape 34"/>
          <p:cNvSpPr/>
          <p:nvPr/>
        </p:nvSpPr>
        <p:spPr>
          <a:xfrm>
            <a:off x="7772400" y="4663440"/>
            <a:ext cx="457200" cy="457200"/>
          </a:xfrm>
          <a:prstGeom prst="ellipse">
            <a:avLst/>
          </a:prstGeom>
          <a:solidFill>
            <a:srgbClr val="7C3AED"/>
          </a:solidFill>
          <a:ln w="12700">
            <a:solidFill>
              <a:srgbClr val="7C3AED"/>
            </a:solidFill>
            <a:prstDash val="solid"/>
          </a:ln>
        </p:spPr>
      </p:sp>
      <p:pic>
        <p:nvPicPr>
          <p:cNvPr id="38" name="Image 0" descr="preencoded.png">    </p:cNvPr>
          <p:cNvPicPr>
            <a:picLocks noChangeAspect="1"/>
          </p:cNvPicPr>
          <p:nvPr/>
        </p:nvPicPr>
        <p:blipFill>
          <a:blip r:embed="rId2"/>
          <a:stretch>
            <a:fillRect/>
          </a:stretch>
        </p:blipFill>
        <p:spPr>
          <a:xfrm>
            <a:off x="7886700" y="4777740"/>
            <a:ext cx="228600" cy="228600"/>
          </a:xfrm>
          <a:prstGeom prst="rect">
            <a:avLst/>
          </a:prstGeom>
        </p:spPr>
      </p:pic>
      <p:sp>
        <p:nvSpPr>
          <p:cNvPr id="39" name="Text 35"/>
          <p:cNvSpPr txBox="1"/>
          <p:nvPr/>
        </p:nvSpPr>
        <p:spPr>
          <a:xfrm>
            <a:off x="8366760" y="4526280"/>
            <a:ext cx="3154680" cy="1444752"/>
          </a:xfrm>
          <a:prstGeom prst="rect">
            <a:avLst/>
          </a:prstGeom>
          <a:noFill/>
          <a:ln/>
        </p:spPr>
        <p:txBody>
          <a:bodyPr wrap="square" lIns="0" tIns="0" rIns="0" bIns="0" rtlCol="0" anchor="ctr"/>
          <a:lstStyle/>
          <a:p>
            <a:pPr indent="0" marL="0">
              <a:buNone/>
            </a:pPr>
            <a:r>
              <a:rPr lang="en-US" sz="1200" b="1" dirty="0">
                <a:solidFill>
                  <a:srgbClr val="111827"/>
                </a:solidFill>
                <a:latin typeface="Calibri" pitchFamily="34" charset="0"/>
                <a:ea typeface="Calibri" pitchFamily="34" charset="-122"/>
                <a:cs typeface="Calibri" pitchFamily="34" charset="-120"/>
              </a:rPr>
              <a:t>Every month since April is above the reweigh target — F27 running 126–144%. Reweighs correct under-declared weights, protecting revenue on every reweighed bill.</a:t>
            </a:r>
            <a:endParaRPr lang="en-US" sz="1200" dirty="0"/>
          </a:p>
        </p:txBody>
      </p:sp>
      <p:sp>
        <p:nvSpPr>
          <p:cNvPr id="40" name="Text 36"/>
          <p:cNvSpPr txBox="1"/>
          <p:nvPr/>
        </p:nvSpPr>
        <p:spPr>
          <a:xfrm>
            <a:off x="548640" y="6108192"/>
            <a:ext cx="11091672" cy="256032"/>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Source: Fork Truck Reweighs dashboard — Mississauga. Target 100% (80–100% amber, &lt;80% red).</a:t>
            </a:r>
            <a:endParaRPr lang="en-US" sz="950" dirty="0"/>
          </a:p>
        </p:txBody>
      </p:sp>
      <p:sp>
        <p:nvSpPr>
          <p:cNvPr id="41" name="Text 37"/>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42" name="Text 38"/>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15 / 27</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PRODUCTIVITY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Productivity — PPH &amp; Units/hr (Sept MTD)</a:t>
            </a:r>
            <a:endParaRPr lang="en-US" sz="3000" dirty="0"/>
          </a:p>
        </p:txBody>
      </p:sp>
      <p:sp>
        <p:nvSpPr>
          <p:cNvPr id="4" name="Shape 2"/>
          <p:cNvSpPr/>
          <p:nvPr/>
        </p:nvSpPr>
        <p:spPr>
          <a:xfrm>
            <a:off x="548640" y="1371600"/>
            <a:ext cx="2601468" cy="1783080"/>
          </a:xfrm>
          <a:prstGeom prst="roundRect">
            <a:avLst>
              <a:gd name="adj" fmla="val 4103"/>
            </a:avLst>
          </a:prstGeom>
          <a:solidFill>
            <a:srgbClr val="F3F4F6"/>
          </a:solidFill>
          <a:ln w="12700">
            <a:solidFill>
              <a:srgbClr val="F3F4F6"/>
            </a:solidFill>
            <a:prstDash val="solid"/>
          </a:ln>
        </p:spPr>
      </p:sp>
      <p:sp>
        <p:nvSpPr>
          <p:cNvPr id="5" name="Text 3"/>
          <p:cNvSpPr txBox="1"/>
          <p:nvPr/>
        </p:nvSpPr>
        <p:spPr>
          <a:xfrm>
            <a:off x="731520" y="1508760"/>
            <a:ext cx="223570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PPH (lbs per dock hour)</a:t>
            </a:r>
            <a:endParaRPr lang="en-US" sz="1100" dirty="0"/>
          </a:p>
        </p:txBody>
      </p:sp>
      <p:sp>
        <p:nvSpPr>
          <p:cNvPr id="6" name="Text 4"/>
          <p:cNvSpPr txBox="1"/>
          <p:nvPr/>
        </p:nvSpPr>
        <p:spPr>
          <a:xfrm>
            <a:off x="731520" y="1783080"/>
            <a:ext cx="2235708" cy="685800"/>
          </a:xfrm>
          <a:prstGeom prst="rect">
            <a:avLst/>
          </a:prstGeom>
          <a:noFill/>
          <a:ln/>
        </p:spPr>
        <p:txBody>
          <a:bodyPr wrap="square" lIns="0" tIns="0" rIns="0" bIns="0" rtlCol="0" anchor="ctr"/>
          <a:lstStyle/>
          <a:p>
            <a:pPr indent="0" marL="0">
              <a:buNone/>
            </a:pPr>
            <a:r>
              <a:rPr lang="en-US" sz="3600" b="1" dirty="0">
                <a:solidFill>
                  <a:srgbClr val="111827"/>
                </a:solidFill>
                <a:latin typeface="Calibri" pitchFamily="34" charset="0"/>
                <a:ea typeface="Calibri" pitchFamily="34" charset="-122"/>
                <a:cs typeface="Calibri" pitchFamily="34" charset="-120"/>
              </a:rPr>
              <a:t>3,327</a:t>
            </a:r>
            <a:endParaRPr lang="en-US" sz="3600" dirty="0"/>
          </a:p>
        </p:txBody>
      </p:sp>
      <p:sp>
        <p:nvSpPr>
          <p:cNvPr id="7" name="Text 5"/>
          <p:cNvSpPr txBox="1"/>
          <p:nvPr/>
        </p:nvSpPr>
        <p:spPr>
          <a:xfrm>
            <a:off x="731520" y="2514600"/>
            <a:ext cx="2235708" cy="548640"/>
          </a:xfrm>
          <a:prstGeom prst="rect">
            <a:avLst/>
          </a:prstGeom>
          <a:noFill/>
          <a:ln/>
        </p:spPr>
        <p:txBody>
          <a:bodyPr wrap="square" lIns="0" tIns="0" rIns="0" bIns="0" rtlCol="0" anchor="t"/>
          <a:lstStyle/>
          <a:p>
            <a:pPr indent="0" marL="0">
              <a:buNone/>
            </a:pPr>
            <a:r>
              <a:rPr lang="en-US" sz="1100" dirty="0">
                <a:solidFill>
                  <a:srgbClr val="6B7280"/>
                </a:solidFill>
                <a:latin typeface="Calibri" pitchFamily="34" charset="0"/>
                <a:ea typeface="Calibri" pitchFamily="34" charset="-122"/>
                <a:cs typeface="Calibri" pitchFamily="34" charset="-120"/>
              </a:rPr>
              <a:t>F26 3,313 · </a:t>
            </a:r>
            <a:pPr indent="0" marL="0">
              <a:buNone/>
            </a:pPr>
            <a:r>
              <a:rPr lang="en-US" sz="1100" b="1" dirty="0">
                <a:solidFill>
                  <a:srgbClr val="059669"/>
                </a:solidFill>
                <a:latin typeface="Calibri" pitchFamily="34" charset="0"/>
                <a:ea typeface="Calibri" pitchFamily="34" charset="-122"/>
                <a:cs typeface="Calibri" pitchFamily="34" charset="-120"/>
              </a:rPr>
              <a:t>+14 (+0.4% YoY)</a:t>
            </a:r>
            <a:endParaRPr lang="en-US" sz="1100" dirty="0"/>
          </a:p>
          <a:p>
            <a:pPr indent="0" marL="0">
              <a:buNone/>
            </a:pPr>
            <a:r>
              <a:rPr lang="en-US" sz="1100" dirty="0">
                <a:solidFill>
                  <a:srgbClr val="6B7280"/>
                </a:solidFill>
                <a:latin typeface="Calibri" pitchFamily="34" charset="0"/>
                <a:ea typeface="Calibri" pitchFamily="34" charset="-122"/>
                <a:cs typeface="Calibri" pitchFamily="34" charset="-120"/>
              </a:rPr>
              <a:t>Goal 4,258 · </a:t>
            </a:r>
            <a:pPr indent="0" marL="0">
              <a:buNone/>
            </a:pPr>
            <a:r>
              <a:rPr lang="en-US" sz="1100" b="1" dirty="0">
                <a:solidFill>
                  <a:srgbClr val="DC2626"/>
                </a:solidFill>
                <a:latin typeface="Calibri" pitchFamily="34" charset="0"/>
                <a:ea typeface="Calibri" pitchFamily="34" charset="-122"/>
                <a:cs typeface="Calibri" pitchFamily="34" charset="-120"/>
              </a:rPr>
              <a:t>−931 (−21.9%)</a:t>
            </a:r>
            <a:endParaRPr lang="en-US" sz="1100" dirty="0"/>
          </a:p>
        </p:txBody>
      </p:sp>
      <p:sp>
        <p:nvSpPr>
          <p:cNvPr id="8" name="Shape 6"/>
          <p:cNvSpPr/>
          <p:nvPr/>
        </p:nvSpPr>
        <p:spPr>
          <a:xfrm>
            <a:off x="3378708" y="1371600"/>
            <a:ext cx="2601468" cy="1783080"/>
          </a:xfrm>
          <a:prstGeom prst="roundRect">
            <a:avLst>
              <a:gd name="adj" fmla="val 4103"/>
            </a:avLst>
          </a:prstGeom>
          <a:solidFill>
            <a:srgbClr val="F3F4F6"/>
          </a:solidFill>
          <a:ln w="12700">
            <a:solidFill>
              <a:srgbClr val="F3F4F6"/>
            </a:solidFill>
            <a:prstDash val="solid"/>
          </a:ln>
        </p:spPr>
      </p:sp>
      <p:sp>
        <p:nvSpPr>
          <p:cNvPr id="9" name="Text 7"/>
          <p:cNvSpPr txBox="1"/>
          <p:nvPr/>
        </p:nvSpPr>
        <p:spPr>
          <a:xfrm>
            <a:off x="3561588" y="1508760"/>
            <a:ext cx="223570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Units per hour</a:t>
            </a:r>
            <a:endParaRPr lang="en-US" sz="1100" dirty="0"/>
          </a:p>
        </p:txBody>
      </p:sp>
      <p:sp>
        <p:nvSpPr>
          <p:cNvPr id="10" name="Text 8"/>
          <p:cNvSpPr txBox="1"/>
          <p:nvPr/>
        </p:nvSpPr>
        <p:spPr>
          <a:xfrm>
            <a:off x="3561588" y="1783080"/>
            <a:ext cx="2235708" cy="685800"/>
          </a:xfrm>
          <a:prstGeom prst="rect">
            <a:avLst/>
          </a:prstGeom>
          <a:noFill/>
          <a:ln/>
        </p:spPr>
        <p:txBody>
          <a:bodyPr wrap="square" lIns="0" tIns="0" rIns="0" bIns="0" rtlCol="0" anchor="ctr"/>
          <a:lstStyle/>
          <a:p>
            <a:pPr indent="0" marL="0">
              <a:buNone/>
            </a:pPr>
            <a:r>
              <a:rPr lang="en-US" sz="3600" b="1" dirty="0">
                <a:solidFill>
                  <a:srgbClr val="059669"/>
                </a:solidFill>
                <a:latin typeface="Calibri" pitchFamily="34" charset="0"/>
                <a:ea typeface="Calibri" pitchFamily="34" charset="-122"/>
                <a:cs typeface="Calibri" pitchFamily="34" charset="-120"/>
              </a:rPr>
              <a:t>15.2</a:t>
            </a:r>
            <a:endParaRPr lang="en-US" sz="3600" dirty="0"/>
          </a:p>
        </p:txBody>
      </p:sp>
      <p:sp>
        <p:nvSpPr>
          <p:cNvPr id="11" name="Text 9"/>
          <p:cNvSpPr txBox="1"/>
          <p:nvPr/>
        </p:nvSpPr>
        <p:spPr>
          <a:xfrm>
            <a:off x="3561588" y="2514600"/>
            <a:ext cx="2235708" cy="548640"/>
          </a:xfrm>
          <a:prstGeom prst="rect">
            <a:avLst/>
          </a:prstGeom>
          <a:noFill/>
          <a:ln/>
        </p:spPr>
        <p:txBody>
          <a:bodyPr wrap="square" lIns="0" tIns="0" rIns="0" bIns="0" rtlCol="0" anchor="t"/>
          <a:lstStyle/>
          <a:p>
            <a:pPr indent="0" marL="0">
              <a:buNone/>
            </a:pPr>
            <a:r>
              <a:rPr lang="en-US" sz="1100" dirty="0">
                <a:solidFill>
                  <a:srgbClr val="6B7280"/>
                </a:solidFill>
                <a:latin typeface="Calibri" pitchFamily="34" charset="0"/>
                <a:ea typeface="Calibri" pitchFamily="34" charset="-122"/>
                <a:cs typeface="Calibri" pitchFamily="34" charset="-120"/>
              </a:rPr>
              <a:t>F26 12.03 · </a:t>
            </a:r>
            <a:pPr indent="0" marL="0">
              <a:buNone/>
            </a:pPr>
            <a:r>
              <a:rPr lang="en-US" sz="1100" b="1" dirty="0">
                <a:solidFill>
                  <a:srgbClr val="059669"/>
                </a:solidFill>
                <a:latin typeface="Calibri" pitchFamily="34" charset="0"/>
                <a:ea typeface="Calibri" pitchFamily="34" charset="-122"/>
                <a:cs typeface="Calibri" pitchFamily="34" charset="-120"/>
              </a:rPr>
              <a:t>+3.2 (+26.7%)</a:t>
            </a:r>
            <a:endParaRPr lang="en-US" sz="1100" dirty="0"/>
          </a:p>
        </p:txBody>
      </p:sp>
      <p:sp>
        <p:nvSpPr>
          <p:cNvPr id="12" name="Shape 10"/>
          <p:cNvSpPr/>
          <p:nvPr/>
        </p:nvSpPr>
        <p:spPr>
          <a:xfrm>
            <a:off x="6208776" y="1371600"/>
            <a:ext cx="2601468" cy="1783080"/>
          </a:xfrm>
          <a:prstGeom prst="roundRect">
            <a:avLst>
              <a:gd name="adj" fmla="val 4103"/>
            </a:avLst>
          </a:prstGeom>
          <a:solidFill>
            <a:srgbClr val="F3F4F6"/>
          </a:solidFill>
          <a:ln w="12700">
            <a:solidFill>
              <a:srgbClr val="F3F4F6"/>
            </a:solidFill>
            <a:prstDash val="solid"/>
          </a:ln>
        </p:spPr>
      </p:sp>
      <p:sp>
        <p:nvSpPr>
          <p:cNvPr id="13" name="Text 11"/>
          <p:cNvSpPr txBox="1"/>
          <p:nvPr/>
        </p:nvSpPr>
        <p:spPr>
          <a:xfrm>
            <a:off x="6391656" y="1508760"/>
            <a:ext cx="223570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Lbs per unit</a:t>
            </a:r>
            <a:endParaRPr lang="en-US" sz="1100" dirty="0"/>
          </a:p>
        </p:txBody>
      </p:sp>
      <p:sp>
        <p:nvSpPr>
          <p:cNvPr id="14" name="Text 12"/>
          <p:cNvSpPr txBox="1"/>
          <p:nvPr/>
        </p:nvSpPr>
        <p:spPr>
          <a:xfrm>
            <a:off x="6391656" y="1783080"/>
            <a:ext cx="2235708" cy="685800"/>
          </a:xfrm>
          <a:prstGeom prst="rect">
            <a:avLst/>
          </a:prstGeom>
          <a:noFill/>
          <a:ln/>
        </p:spPr>
        <p:txBody>
          <a:bodyPr wrap="square" lIns="0" tIns="0" rIns="0" bIns="0" rtlCol="0" anchor="ctr"/>
          <a:lstStyle/>
          <a:p>
            <a:pPr indent="0" marL="0">
              <a:buNone/>
            </a:pPr>
            <a:r>
              <a:rPr lang="en-US" sz="3600" b="1" dirty="0">
                <a:solidFill>
                  <a:srgbClr val="111827"/>
                </a:solidFill>
                <a:latin typeface="Calibri" pitchFamily="34" charset="0"/>
                <a:ea typeface="Calibri" pitchFamily="34" charset="-122"/>
                <a:cs typeface="Calibri" pitchFamily="34" charset="-120"/>
              </a:rPr>
              <a:t>218</a:t>
            </a:r>
            <a:endParaRPr lang="en-US" sz="3600" dirty="0"/>
          </a:p>
        </p:txBody>
      </p:sp>
      <p:sp>
        <p:nvSpPr>
          <p:cNvPr id="15" name="Text 13"/>
          <p:cNvSpPr txBox="1"/>
          <p:nvPr/>
        </p:nvSpPr>
        <p:spPr>
          <a:xfrm>
            <a:off x="6391656" y="2514600"/>
            <a:ext cx="2235708" cy="548640"/>
          </a:xfrm>
          <a:prstGeom prst="rect">
            <a:avLst/>
          </a:prstGeom>
          <a:noFill/>
          <a:ln/>
        </p:spPr>
        <p:txBody>
          <a:bodyPr wrap="square" lIns="0" tIns="0" rIns="0" bIns="0" rtlCol="0" anchor="t"/>
          <a:lstStyle/>
          <a:p>
            <a:pPr indent="0" marL="0">
              <a:buNone/>
            </a:pPr>
            <a:r>
              <a:rPr lang="en-US" sz="1100" dirty="0">
                <a:solidFill>
                  <a:srgbClr val="6B7280"/>
                </a:solidFill>
                <a:latin typeface="Calibri" pitchFamily="34" charset="0"/>
                <a:ea typeface="Calibri" pitchFamily="34" charset="-122"/>
                <a:cs typeface="Calibri" pitchFamily="34" charset="-120"/>
              </a:rPr>
              <a:t>F26 ≈ 275 (3,313 ÷ 12.03) · </a:t>
            </a:r>
            <a:pPr indent="0" marL="0">
              <a:buNone/>
            </a:pPr>
            <a:r>
              <a:rPr lang="en-US" sz="1100" b="1" dirty="0">
                <a:solidFill>
                  <a:srgbClr val="1F2937"/>
                </a:solidFill>
                <a:latin typeface="Calibri" pitchFamily="34" charset="0"/>
                <a:ea typeface="Calibri" pitchFamily="34" charset="-122"/>
                <a:cs typeface="Calibri" pitchFamily="34" charset="-120"/>
              </a:rPr>
              <a:t>−21%</a:t>
            </a:r>
            <a:endParaRPr lang="en-US" sz="1100" dirty="0"/>
          </a:p>
          <a:p>
            <a:pPr indent="0" marL="0">
              <a:buNone/>
            </a:pPr>
            <a:r>
              <a:rPr lang="en-US" sz="1100" dirty="0">
                <a:solidFill>
                  <a:srgbClr val="6B7280"/>
                </a:solidFill>
                <a:latin typeface="Calibri" pitchFamily="34" charset="0"/>
                <a:ea typeface="Calibri" pitchFamily="34" charset="-122"/>
                <a:cs typeface="Calibri" pitchFamily="34" charset="-120"/>
              </a:rPr>
              <a:t>Lighter freight mix</a:t>
            </a:r>
            <a:endParaRPr lang="en-US" sz="1100" dirty="0"/>
          </a:p>
        </p:txBody>
      </p:sp>
      <p:sp>
        <p:nvSpPr>
          <p:cNvPr id="16" name="Shape 14"/>
          <p:cNvSpPr/>
          <p:nvPr/>
        </p:nvSpPr>
        <p:spPr>
          <a:xfrm>
            <a:off x="9038844" y="1371600"/>
            <a:ext cx="2601468" cy="1783080"/>
          </a:xfrm>
          <a:prstGeom prst="roundRect">
            <a:avLst>
              <a:gd name="adj" fmla="val 4103"/>
            </a:avLst>
          </a:prstGeom>
          <a:solidFill>
            <a:srgbClr val="F3F4F6"/>
          </a:solidFill>
          <a:ln w="12700">
            <a:solidFill>
              <a:srgbClr val="F3F4F6"/>
            </a:solidFill>
            <a:prstDash val="solid"/>
          </a:ln>
        </p:spPr>
      </p:sp>
      <p:sp>
        <p:nvSpPr>
          <p:cNvPr id="17" name="Text 15"/>
          <p:cNvSpPr txBox="1"/>
          <p:nvPr/>
        </p:nvSpPr>
        <p:spPr>
          <a:xfrm>
            <a:off x="9221724" y="1508760"/>
            <a:ext cx="223570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OT hours</a:t>
            </a:r>
            <a:endParaRPr lang="en-US" sz="1100" dirty="0"/>
          </a:p>
        </p:txBody>
      </p:sp>
      <p:sp>
        <p:nvSpPr>
          <p:cNvPr id="18" name="Text 16"/>
          <p:cNvSpPr txBox="1"/>
          <p:nvPr/>
        </p:nvSpPr>
        <p:spPr>
          <a:xfrm>
            <a:off x="9221724" y="1783080"/>
            <a:ext cx="2235708" cy="685800"/>
          </a:xfrm>
          <a:prstGeom prst="rect">
            <a:avLst/>
          </a:prstGeom>
          <a:noFill/>
          <a:ln/>
        </p:spPr>
        <p:txBody>
          <a:bodyPr wrap="square" lIns="0" tIns="0" rIns="0" bIns="0" rtlCol="0" anchor="ctr"/>
          <a:lstStyle/>
          <a:p>
            <a:pPr indent="0" marL="0">
              <a:buNone/>
            </a:pPr>
            <a:r>
              <a:rPr lang="en-US" sz="3600" b="1" dirty="0">
                <a:solidFill>
                  <a:srgbClr val="059669"/>
                </a:solidFill>
                <a:latin typeface="Calibri" pitchFamily="34" charset="0"/>
                <a:ea typeface="Calibri" pitchFamily="34" charset="-122"/>
                <a:cs typeface="Calibri" pitchFamily="34" charset="-120"/>
              </a:rPr>
              <a:t>9</a:t>
            </a:r>
            <a:endParaRPr lang="en-US" sz="3600" dirty="0"/>
          </a:p>
        </p:txBody>
      </p:sp>
      <p:sp>
        <p:nvSpPr>
          <p:cNvPr id="19" name="Text 17"/>
          <p:cNvSpPr txBox="1"/>
          <p:nvPr/>
        </p:nvSpPr>
        <p:spPr>
          <a:xfrm>
            <a:off x="9221724" y="2514600"/>
            <a:ext cx="2235708" cy="548640"/>
          </a:xfrm>
          <a:prstGeom prst="rect">
            <a:avLst/>
          </a:prstGeom>
          <a:noFill/>
          <a:ln/>
        </p:spPr>
        <p:txBody>
          <a:bodyPr wrap="square" lIns="0" tIns="0" rIns="0" bIns="0" rtlCol="0" anchor="t"/>
          <a:lstStyle/>
          <a:p>
            <a:pPr indent="0" marL="0">
              <a:buNone/>
            </a:pPr>
            <a:r>
              <a:rPr lang="en-US" sz="1100" b="1" dirty="0">
                <a:solidFill>
                  <a:srgbClr val="059669"/>
                </a:solidFill>
                <a:latin typeface="Calibri" pitchFamily="34" charset="0"/>
                <a:ea typeface="Calibri" pitchFamily="34" charset="-122"/>
                <a:cs typeface="Calibri" pitchFamily="34" charset="-120"/>
              </a:rPr>
              <a:t>0.2% of hours</a:t>
            </a:r>
            <a:endParaRPr lang="en-US" sz="1100" dirty="0"/>
          </a:p>
        </p:txBody>
      </p:sp>
      <p:graphicFrame>
        <p:nvGraphicFramePr>
          <p:cNvPr id="20" name="Chart 0" descr=""/>
          <p:cNvGraphicFramePr/>
          <p:nvPr/>
        </p:nvGraphicFramePr>
        <p:xfrm>
          <a:off x="548640" y="3383280"/>
          <a:ext cx="5120640" cy="2697480"/>
        </p:xfrm>
        <a:graphic xmlns:a="http://schemas.openxmlformats.org/drawingml/2006/main">
          <a:graphicData uri="http://schemas.openxmlformats.org/drawingml/2006/chart">
            <c:chart xmlns:c="http://schemas.openxmlformats.org/drawingml/2006/chart" r:id="rId1"/>
          </a:graphicData>
        </a:graphic>
      </p:graphicFrame>
      <p:sp>
        <p:nvSpPr>
          <p:cNvPr id="21" name="Shape 18"/>
          <p:cNvSpPr/>
          <p:nvPr/>
        </p:nvSpPr>
        <p:spPr>
          <a:xfrm>
            <a:off x="5989320" y="3383280"/>
            <a:ext cx="5650992" cy="2697480"/>
          </a:xfrm>
          <a:prstGeom prst="roundRect">
            <a:avLst>
              <a:gd name="adj" fmla="val 2712"/>
            </a:avLst>
          </a:prstGeom>
          <a:solidFill>
            <a:srgbClr val="F5F3FF"/>
          </a:solidFill>
          <a:ln w="12700">
            <a:solidFill>
              <a:srgbClr val="F5F3FF"/>
            </a:solidFill>
            <a:prstDash val="solid"/>
          </a:ln>
        </p:spPr>
      </p:sp>
      <p:sp>
        <p:nvSpPr>
          <p:cNvPr id="22" name="Shape 19"/>
          <p:cNvSpPr/>
          <p:nvPr/>
        </p:nvSpPr>
        <p:spPr>
          <a:xfrm>
            <a:off x="6217920" y="3584448"/>
            <a:ext cx="457200" cy="457200"/>
          </a:xfrm>
          <a:prstGeom prst="ellipse">
            <a:avLst/>
          </a:prstGeom>
          <a:solidFill>
            <a:srgbClr val="7C3AED"/>
          </a:solidFill>
          <a:ln w="12700">
            <a:solidFill>
              <a:srgbClr val="7C3AED"/>
            </a:solidFill>
            <a:prstDash val="solid"/>
          </a:ln>
        </p:spPr>
      </p:sp>
      <p:pic>
        <p:nvPicPr>
          <p:cNvPr id="23" name="Image 0" descr="preencoded.png">    </p:cNvPr>
          <p:cNvPicPr>
            <a:picLocks noChangeAspect="1"/>
          </p:cNvPicPr>
          <p:nvPr/>
        </p:nvPicPr>
        <p:blipFill>
          <a:blip r:embed="rId2"/>
          <a:stretch>
            <a:fillRect/>
          </a:stretch>
        </p:blipFill>
        <p:spPr>
          <a:xfrm>
            <a:off x="6332220" y="3698748"/>
            <a:ext cx="228600" cy="228600"/>
          </a:xfrm>
          <a:prstGeom prst="rect">
            <a:avLst/>
          </a:prstGeom>
        </p:spPr>
      </p:pic>
      <p:sp>
        <p:nvSpPr>
          <p:cNvPr id="24" name="Text 20"/>
          <p:cNvSpPr txBox="1"/>
          <p:nvPr/>
        </p:nvSpPr>
        <p:spPr>
          <a:xfrm>
            <a:off x="6812280" y="3611880"/>
            <a:ext cx="4572000" cy="411480"/>
          </a:xfrm>
          <a:prstGeom prst="rect">
            <a:avLst/>
          </a:prstGeom>
          <a:noFill/>
          <a:ln/>
        </p:spPr>
        <p:txBody>
          <a:bodyPr wrap="square" lIns="0" tIns="0" rIns="0" bIns="0" rtlCol="0" anchor="ctr"/>
          <a:lstStyle/>
          <a:p>
            <a:pPr indent="0" marL="0">
              <a:buNone/>
            </a:pPr>
            <a:r>
              <a:rPr lang="en-US" sz="1700" b="1" dirty="0">
                <a:solidFill>
                  <a:srgbClr val="111827"/>
                </a:solidFill>
                <a:latin typeface="Calibri" pitchFamily="34" charset="0"/>
                <a:ea typeface="Calibri" pitchFamily="34" charset="-122"/>
                <a:cs typeface="Calibri" pitchFamily="34" charset="-120"/>
              </a:rPr>
              <a:t>What the numbers say</a:t>
            </a:r>
            <a:endParaRPr lang="en-US" sz="1700" dirty="0"/>
          </a:p>
        </p:txBody>
      </p:sp>
      <p:sp>
        <p:nvSpPr>
          <p:cNvPr id="25" name="Text 21"/>
          <p:cNvSpPr txBox="1"/>
          <p:nvPr/>
        </p:nvSpPr>
        <p:spPr>
          <a:xfrm>
            <a:off x="6263640" y="4206240"/>
            <a:ext cx="5166360" cy="1737360"/>
          </a:xfrm>
          <a:prstGeom prst="rect">
            <a:avLst/>
          </a:prstGeom>
          <a:noFill/>
          <a:ln/>
        </p:spPr>
        <p:txBody>
          <a:bodyPr wrap="square" lIns="0" tIns="0" rIns="0" bIns="0" rtlCol="0" anchor="t"/>
          <a:lstStyle/>
          <a:p>
            <a:pPr marL="203200" indent="-203200">
              <a:spcAft>
                <a:spcPts val="1200"/>
              </a:spcAft>
              <a:buSzPct val="100000"/>
              <a:buChar char="•"/>
            </a:pPr>
            <a:r>
              <a:rPr lang="en-US" sz="1400" dirty="0">
                <a:solidFill>
                  <a:srgbClr val="1F2937"/>
                </a:solidFill>
                <a:latin typeface="Calibri" pitchFamily="34" charset="0"/>
                <a:ea typeface="Calibri" pitchFamily="34" charset="-122"/>
                <a:cs typeface="Calibri" pitchFamily="34" charset="-120"/>
              </a:rPr>
              <a:t>Freight mix got lighter (≈275 → 218 lbs/unit), yet PPH held flat YoY because the team is moving 26.7% more units per hour.</a:t>
            </a:r>
            <a:endParaRPr lang="en-US" sz="1400" dirty="0"/>
          </a:p>
          <a:p>
            <a:pPr marL="203200" indent="-203200">
              <a:spcAft>
                <a:spcPts val="1200"/>
              </a:spcAft>
              <a:buSzPct val="100000"/>
              <a:buChar char="•"/>
            </a:pPr>
            <a:r>
              <a:rPr lang="en-US" sz="1400" dirty="0">
                <a:solidFill>
                  <a:srgbClr val="1F2937"/>
                </a:solidFill>
                <a:latin typeface="Calibri" pitchFamily="34" charset="0"/>
                <a:ea typeface="Calibri" pitchFamily="34" charset="-122"/>
                <a:cs typeface="Calibri" pitchFamily="34" charset="-120"/>
              </a:rPr>
              <a:t>Gap to PPH goal: −21.9%. PPH goal is weight-based; freight got lighter (218 vs ≈275 lbs/unit) while units per hour rose.</a:t>
            </a:r>
            <a:endParaRPr lang="en-US" sz="1400" dirty="0"/>
          </a:p>
        </p:txBody>
      </p:sp>
      <p:sp>
        <p:nvSpPr>
          <p:cNvPr id="26" name="Text 22"/>
          <p:cNvSpPr txBox="1"/>
          <p:nvPr/>
        </p:nvSpPr>
        <p:spPr>
          <a:xfrm>
            <a:off x="548640" y="6172200"/>
            <a:ext cx="11091672" cy="256032"/>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Source: Mississauga terminal productivity dashboard, updated for Sat, Sep 26, 2026 · September MTD</a:t>
            </a:r>
            <a:endParaRPr lang="en-US" sz="1000" dirty="0"/>
          </a:p>
        </p:txBody>
      </p:sp>
      <p:sp>
        <p:nvSpPr>
          <p:cNvPr id="27" name="Text 23"/>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8" name="Text 24"/>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16 / 27</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PRODUCTIVITY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Load factor — outbound, F27 Jul–Sep</a:t>
            </a:r>
            <a:endParaRPr lang="en-US" sz="3000" dirty="0"/>
          </a:p>
        </p:txBody>
      </p:sp>
      <p:sp>
        <p:nvSpPr>
          <p:cNvPr id="4" name="Text 2"/>
          <p:cNvSpPr txBox="1"/>
          <p:nvPr/>
        </p:nvSpPr>
        <p:spPr>
          <a:xfrm>
            <a:off x="548640" y="1243584"/>
            <a:ext cx="11091672" cy="274320"/>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LF score = % of loads with load factor &gt;80% · Load % = average load percentage · ex-Moncton and band figures calculated from the report</a:t>
            </a:r>
            <a:endParaRPr lang="en-US" sz="1200" dirty="0"/>
          </a:p>
        </p:txBody>
      </p:sp>
      <p:sp>
        <p:nvSpPr>
          <p:cNvPr id="5" name="Shape 3"/>
          <p:cNvSpPr/>
          <p:nvPr/>
        </p:nvSpPr>
        <p:spPr>
          <a:xfrm>
            <a:off x="548640" y="1600200"/>
            <a:ext cx="2635758" cy="1097280"/>
          </a:xfrm>
          <a:prstGeom prst="roundRect">
            <a:avLst>
              <a:gd name="adj" fmla="val 6667"/>
            </a:avLst>
          </a:prstGeom>
          <a:solidFill>
            <a:srgbClr val="F3F4F6"/>
          </a:solidFill>
          <a:ln w="12700">
            <a:solidFill>
              <a:srgbClr val="F3F4F6"/>
            </a:solidFill>
            <a:prstDash val="solid"/>
          </a:ln>
        </p:spPr>
      </p:sp>
      <p:sp>
        <p:nvSpPr>
          <p:cNvPr id="6" name="Text 4"/>
          <p:cNvSpPr txBox="1"/>
          <p:nvPr/>
        </p:nvSpPr>
        <p:spPr>
          <a:xfrm>
            <a:off x="731520" y="1691640"/>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LF score</a:t>
            </a:r>
            <a:endParaRPr lang="en-US" sz="1100" dirty="0"/>
          </a:p>
        </p:txBody>
      </p:sp>
      <p:sp>
        <p:nvSpPr>
          <p:cNvPr id="7" name="Text 5"/>
          <p:cNvSpPr txBox="1"/>
          <p:nvPr/>
        </p:nvSpPr>
        <p:spPr>
          <a:xfrm>
            <a:off x="731520" y="1947672"/>
            <a:ext cx="2269998" cy="438912"/>
          </a:xfrm>
          <a:prstGeom prst="rect">
            <a:avLst/>
          </a:prstGeom>
          <a:noFill/>
          <a:ln/>
        </p:spPr>
        <p:txBody>
          <a:bodyPr wrap="square" lIns="0" tIns="0" rIns="0" bIns="0" rtlCol="0" anchor="ctr"/>
          <a:lstStyle/>
          <a:p>
            <a:pPr indent="0" marL="0">
              <a:buNone/>
            </a:pPr>
            <a:r>
              <a:rPr lang="en-US" sz="1600" dirty="0">
                <a:solidFill>
                  <a:srgbClr val="6B7280"/>
                </a:solidFill>
                <a:latin typeface="Calibri" pitchFamily="34" charset="0"/>
                <a:ea typeface="Calibri" pitchFamily="34" charset="-122"/>
                <a:cs typeface="Calibri" pitchFamily="34" charset="-120"/>
              </a:rPr>
              <a:t>36.4%</a:t>
            </a:r>
            <a:pPr indent="0" marL="0">
              <a:buNone/>
            </a:pPr>
            <a:r>
              <a:rPr lang="en-US" sz="1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39.5%</a:t>
            </a:r>
            <a:endParaRPr lang="en-US" sz="1600" dirty="0"/>
          </a:p>
        </p:txBody>
      </p:sp>
      <p:sp>
        <p:nvSpPr>
          <p:cNvPr id="8" name="Text 6"/>
          <p:cNvSpPr txBox="1"/>
          <p:nvPr/>
        </p:nvSpPr>
        <p:spPr>
          <a:xfrm>
            <a:off x="731520" y="2404872"/>
            <a:ext cx="2269998"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All lanes → ex-Moncton</a:t>
            </a:r>
            <a:endParaRPr lang="en-US" sz="1000" dirty="0"/>
          </a:p>
        </p:txBody>
      </p:sp>
      <p:sp>
        <p:nvSpPr>
          <p:cNvPr id="9" name="Shape 7"/>
          <p:cNvSpPr/>
          <p:nvPr/>
        </p:nvSpPr>
        <p:spPr>
          <a:xfrm>
            <a:off x="3367278" y="1600200"/>
            <a:ext cx="2635758" cy="1097280"/>
          </a:xfrm>
          <a:prstGeom prst="roundRect">
            <a:avLst>
              <a:gd name="adj" fmla="val 6667"/>
            </a:avLst>
          </a:prstGeom>
          <a:solidFill>
            <a:srgbClr val="F3F4F6"/>
          </a:solidFill>
          <a:ln w="12700">
            <a:solidFill>
              <a:srgbClr val="F3F4F6"/>
            </a:solidFill>
            <a:prstDash val="solid"/>
          </a:ln>
        </p:spPr>
      </p:sp>
      <p:sp>
        <p:nvSpPr>
          <p:cNvPr id="10" name="Text 8"/>
          <p:cNvSpPr txBox="1"/>
          <p:nvPr/>
        </p:nvSpPr>
        <p:spPr>
          <a:xfrm>
            <a:off x="3550158" y="1691640"/>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Average load %</a:t>
            </a:r>
            <a:endParaRPr lang="en-US" sz="1100" dirty="0"/>
          </a:p>
        </p:txBody>
      </p:sp>
      <p:sp>
        <p:nvSpPr>
          <p:cNvPr id="11" name="Text 9"/>
          <p:cNvSpPr txBox="1"/>
          <p:nvPr/>
        </p:nvSpPr>
        <p:spPr>
          <a:xfrm>
            <a:off x="3550158" y="1947672"/>
            <a:ext cx="2269998" cy="438912"/>
          </a:xfrm>
          <a:prstGeom prst="rect">
            <a:avLst/>
          </a:prstGeom>
          <a:noFill/>
          <a:ln/>
        </p:spPr>
        <p:txBody>
          <a:bodyPr wrap="square" lIns="0" tIns="0" rIns="0" bIns="0" rtlCol="0" anchor="ctr"/>
          <a:lstStyle/>
          <a:p>
            <a:pPr indent="0" marL="0">
              <a:buNone/>
            </a:pPr>
            <a:r>
              <a:rPr lang="en-US" sz="1600" dirty="0">
                <a:solidFill>
                  <a:srgbClr val="6B7280"/>
                </a:solidFill>
                <a:latin typeface="Calibri" pitchFamily="34" charset="0"/>
                <a:ea typeface="Calibri" pitchFamily="34" charset="-122"/>
                <a:cs typeface="Calibri" pitchFamily="34" charset="-120"/>
              </a:rPr>
              <a:t>74.9%</a:t>
            </a:r>
            <a:pPr indent="0" marL="0">
              <a:buNone/>
            </a:pPr>
            <a:r>
              <a:rPr lang="en-US" sz="1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75.8%</a:t>
            </a:r>
            <a:endParaRPr lang="en-US" sz="1600" dirty="0"/>
          </a:p>
        </p:txBody>
      </p:sp>
      <p:sp>
        <p:nvSpPr>
          <p:cNvPr id="12" name="Text 10"/>
          <p:cNvSpPr txBox="1"/>
          <p:nvPr/>
        </p:nvSpPr>
        <p:spPr>
          <a:xfrm>
            <a:off x="3550158" y="2404872"/>
            <a:ext cx="2269998"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All lanes → ex-Moncton</a:t>
            </a:r>
            <a:endParaRPr lang="en-US" sz="1000" dirty="0"/>
          </a:p>
        </p:txBody>
      </p:sp>
      <p:sp>
        <p:nvSpPr>
          <p:cNvPr id="13" name="Shape 11"/>
          <p:cNvSpPr/>
          <p:nvPr/>
        </p:nvSpPr>
        <p:spPr>
          <a:xfrm>
            <a:off x="6185916" y="1600200"/>
            <a:ext cx="2635758" cy="1097280"/>
          </a:xfrm>
          <a:prstGeom prst="roundRect">
            <a:avLst>
              <a:gd name="adj" fmla="val 6667"/>
            </a:avLst>
          </a:prstGeom>
          <a:solidFill>
            <a:srgbClr val="F3F4F6"/>
          </a:solidFill>
          <a:ln w="12700">
            <a:solidFill>
              <a:srgbClr val="F3F4F6"/>
            </a:solidFill>
            <a:prstDash val="solid"/>
          </a:ln>
        </p:spPr>
      </p:sp>
      <p:sp>
        <p:nvSpPr>
          <p:cNvPr id="14" name="Text 12"/>
          <p:cNvSpPr txBox="1"/>
          <p:nvPr/>
        </p:nvSpPr>
        <p:spPr>
          <a:xfrm>
            <a:off x="6368796" y="1691640"/>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LF score by distance band</a:t>
            </a:r>
            <a:endParaRPr lang="en-US" sz="1100" dirty="0"/>
          </a:p>
        </p:txBody>
      </p:sp>
      <p:sp>
        <p:nvSpPr>
          <p:cNvPr id="15" name="Text 13"/>
          <p:cNvSpPr txBox="1"/>
          <p:nvPr/>
        </p:nvSpPr>
        <p:spPr>
          <a:xfrm>
            <a:off x="6368796" y="1947672"/>
            <a:ext cx="2269998" cy="438912"/>
          </a:xfrm>
          <a:prstGeom prst="rect">
            <a:avLst/>
          </a:prstGeom>
          <a:noFill/>
          <a:ln/>
        </p:spPr>
        <p:txBody>
          <a:bodyPr wrap="square" lIns="0" tIns="0" rIns="0" bIns="0" rtlCol="0" anchor="ctr"/>
          <a:lstStyle/>
          <a:p>
            <a:pPr indent="0" marL="0">
              <a:buNone/>
            </a:pPr>
            <a:r>
              <a:rPr lang="en-US" sz="2200" b="1" dirty="0">
                <a:solidFill>
                  <a:srgbClr val="111827"/>
                </a:solidFill>
                <a:latin typeface="Calibri" pitchFamily="34" charset="0"/>
                <a:ea typeface="Calibri" pitchFamily="34" charset="-122"/>
                <a:cs typeface="Calibri" pitchFamily="34" charset="-120"/>
              </a:rPr>
              <a:t>53.8%</a:t>
            </a:r>
            <a:pPr indent="0" marL="0">
              <a:buNone/>
            </a:pPr>
            <a:r>
              <a:rPr lang="en-US" sz="1100" dirty="0">
                <a:solidFill>
                  <a:srgbClr val="6B7280"/>
                </a:solidFill>
                <a:latin typeface="Calibri" pitchFamily="34" charset="0"/>
                <a:ea typeface="Calibri" pitchFamily="34" charset="-122"/>
                <a:cs typeface="Calibri" pitchFamily="34" charset="-120"/>
              </a:rPr>
              <a:t>  &gt;1,000</a:t>
            </a:r>
            <a:endParaRPr lang="en-US" sz="2200" dirty="0"/>
          </a:p>
        </p:txBody>
      </p:sp>
      <p:sp>
        <p:nvSpPr>
          <p:cNvPr id="16" name="Text 14"/>
          <p:cNvSpPr txBox="1"/>
          <p:nvPr/>
        </p:nvSpPr>
        <p:spPr>
          <a:xfrm>
            <a:off x="6368796" y="2404872"/>
            <a:ext cx="2269998"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&lt;500: 32.1% · &lt;1,000: 18.9%</a:t>
            </a:r>
            <a:endParaRPr lang="en-US" sz="1000" dirty="0"/>
          </a:p>
        </p:txBody>
      </p:sp>
      <p:sp>
        <p:nvSpPr>
          <p:cNvPr id="17" name="Shape 15"/>
          <p:cNvSpPr/>
          <p:nvPr/>
        </p:nvSpPr>
        <p:spPr>
          <a:xfrm>
            <a:off x="9004554" y="1600200"/>
            <a:ext cx="2635758" cy="1097280"/>
          </a:xfrm>
          <a:prstGeom prst="roundRect">
            <a:avLst>
              <a:gd name="adj" fmla="val 6667"/>
            </a:avLst>
          </a:prstGeom>
          <a:solidFill>
            <a:srgbClr val="F3F4F6"/>
          </a:solidFill>
          <a:ln w="12700">
            <a:solidFill>
              <a:srgbClr val="F3F4F6"/>
            </a:solidFill>
            <a:prstDash val="solid"/>
          </a:ln>
        </p:spPr>
      </p:sp>
      <p:sp>
        <p:nvSpPr>
          <p:cNvPr id="18" name="Text 16"/>
          <p:cNvSpPr txBox="1"/>
          <p:nvPr/>
        </p:nvSpPr>
        <p:spPr>
          <a:xfrm>
            <a:off x="9187434" y="1691640"/>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Outbound loads</a:t>
            </a:r>
            <a:endParaRPr lang="en-US" sz="1100" dirty="0"/>
          </a:p>
        </p:txBody>
      </p:sp>
      <p:sp>
        <p:nvSpPr>
          <p:cNvPr id="19" name="Text 17"/>
          <p:cNvSpPr txBox="1"/>
          <p:nvPr/>
        </p:nvSpPr>
        <p:spPr>
          <a:xfrm>
            <a:off x="9187434" y="1947672"/>
            <a:ext cx="2269998" cy="438912"/>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854</a:t>
            </a:r>
            <a:endParaRPr lang="en-US" sz="2400" dirty="0"/>
          </a:p>
        </p:txBody>
      </p:sp>
      <p:sp>
        <p:nvSpPr>
          <p:cNvPr id="20" name="Text 18"/>
          <p:cNvSpPr txBox="1"/>
          <p:nvPr/>
        </p:nvSpPr>
        <p:spPr>
          <a:xfrm>
            <a:off x="9187434" y="2404872"/>
            <a:ext cx="2269998"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311 loads &gt;80% · 686 ex-Moncton</a:t>
            </a:r>
            <a:endParaRPr lang="en-US" sz="1000" dirty="0"/>
          </a:p>
        </p:txBody>
      </p:sp>
      <p:graphicFrame>
        <p:nvGraphicFramePr>
          <p:cNvPr id="21" name="Chart 0" descr=""/>
          <p:cNvGraphicFramePr/>
          <p:nvPr/>
        </p:nvGraphicFramePr>
        <p:xfrm>
          <a:off x="548640" y="2880360"/>
          <a:ext cx="5852160" cy="3063240"/>
        </p:xfrm>
        <a:graphic xmlns:a="http://schemas.openxmlformats.org/drawingml/2006/main">
          <a:graphicData uri="http://schemas.openxmlformats.org/drawingml/2006/chart">
            <c:chart xmlns:c="http://schemas.openxmlformats.org/drawingml/2006/chart" r:id="rId1"/>
          </a:graphicData>
        </a:graphic>
      </p:graphicFrame>
      <p:sp>
        <p:nvSpPr>
          <p:cNvPr id="22" name="Shape 19"/>
          <p:cNvSpPr/>
          <p:nvPr/>
        </p:nvSpPr>
        <p:spPr>
          <a:xfrm>
            <a:off x="6675120" y="2880360"/>
            <a:ext cx="4965192" cy="914400"/>
          </a:xfrm>
          <a:prstGeom prst="roundRect">
            <a:avLst>
              <a:gd name="adj" fmla="val 8000"/>
            </a:avLst>
          </a:prstGeom>
          <a:solidFill>
            <a:srgbClr val="F3F4F6"/>
          </a:solidFill>
          <a:ln w="12700">
            <a:solidFill>
              <a:srgbClr val="F3F4F6"/>
            </a:solidFill>
            <a:prstDash val="solid"/>
          </a:ln>
        </p:spPr>
      </p:sp>
      <p:sp>
        <p:nvSpPr>
          <p:cNvPr id="23" name="Text 20"/>
          <p:cNvSpPr txBox="1"/>
          <p:nvPr/>
        </p:nvSpPr>
        <p:spPr>
          <a:xfrm>
            <a:off x="6858000" y="2880360"/>
            <a:ext cx="4663440" cy="914400"/>
          </a:xfrm>
          <a:prstGeom prst="rect">
            <a:avLst/>
          </a:prstGeom>
          <a:noFill/>
          <a:ln/>
        </p:spPr>
        <p:txBody>
          <a:bodyPr wrap="square" lIns="0" tIns="0" rIns="0" bIns="0" rtlCol="0" anchor="ctr"/>
          <a:lstStyle/>
          <a:p>
            <a:pPr indent="0" marL="0">
              <a:spcAft>
                <a:spcPts val="400"/>
              </a:spcAft>
              <a:buNone/>
            </a:pPr>
            <a:r>
              <a:rPr lang="en-US" sz="1300" b="1" dirty="0">
                <a:solidFill>
                  <a:srgbClr val="059669"/>
                </a:solidFill>
                <a:latin typeface="Calibri" pitchFamily="34" charset="0"/>
                <a:ea typeface="Calibri" pitchFamily="34" charset="-122"/>
                <a:cs typeface="Calibri" pitchFamily="34" charset="-120"/>
              </a:rPr>
              <a:t>Strong: </a:t>
            </a:r>
            <a:pPr indent="0" marL="0">
              <a:spcAft>
                <a:spcPts val="400"/>
              </a:spcAft>
              <a:buNone/>
            </a:pPr>
            <a:r>
              <a:rPr lang="en-US" sz="1300" dirty="0">
                <a:solidFill>
                  <a:srgbClr val="1F2937"/>
                </a:solidFill>
                <a:latin typeface="Calibri" pitchFamily="34" charset="0"/>
                <a:ea typeface="Calibri" pitchFamily="34" charset="-122"/>
                <a:cs typeface="Calibri" pitchFamily="34" charset="-120"/>
              </a:rPr>
              <a:t>Burnaby · Winnipeg · Calgary</a:t>
            </a:r>
            <a:endParaRPr lang="en-US" sz="1300" dirty="0"/>
          </a:p>
          <a:p>
            <a:pPr indent="0" marL="0">
              <a:spcAft>
                <a:spcPts val="400"/>
              </a:spcAft>
              <a:buNone/>
            </a:pPr>
            <a:r>
              <a:rPr lang="en-US" sz="1300" b="1" dirty="0">
                <a:solidFill>
                  <a:srgbClr val="DC2626"/>
                </a:solidFill>
                <a:latin typeface="Calibri" pitchFamily="34" charset="0"/>
                <a:ea typeface="Calibri" pitchFamily="34" charset="-122"/>
                <a:cs typeface="Calibri" pitchFamily="34" charset="-120"/>
              </a:rPr>
              <a:t>Light: </a:t>
            </a:r>
            <a:pPr indent="0" marL="0">
              <a:spcAft>
                <a:spcPts val="400"/>
              </a:spcAft>
              <a:buNone/>
            </a:pPr>
            <a:r>
              <a:rPr lang="en-US" sz="1300" dirty="0">
                <a:solidFill>
                  <a:srgbClr val="1F2937"/>
                </a:solidFill>
                <a:latin typeface="Calibri" pitchFamily="34" charset="0"/>
                <a:ea typeface="Calibri" pitchFamily="34" charset="-122"/>
                <a:cs typeface="Calibri" pitchFamily="34" charset="-120"/>
              </a:rPr>
              <a:t>Windsor · Quebec City · Dartmouth</a:t>
            </a:r>
            <a:endParaRPr lang="en-US" sz="1300" dirty="0"/>
          </a:p>
        </p:txBody>
      </p:sp>
      <p:sp>
        <p:nvSpPr>
          <p:cNvPr id="24" name="Shape 21"/>
          <p:cNvSpPr/>
          <p:nvPr/>
        </p:nvSpPr>
        <p:spPr>
          <a:xfrm>
            <a:off x="6675120" y="3931920"/>
            <a:ext cx="4965192" cy="960120"/>
          </a:xfrm>
          <a:prstGeom prst="roundRect">
            <a:avLst>
              <a:gd name="adj" fmla="val 7619"/>
            </a:avLst>
          </a:prstGeom>
          <a:solidFill>
            <a:srgbClr val="FFFBEB"/>
          </a:solidFill>
          <a:ln w="12700">
            <a:solidFill>
              <a:srgbClr val="FFFBEB"/>
            </a:solidFill>
            <a:prstDash val="solid"/>
          </a:ln>
        </p:spPr>
      </p:sp>
      <p:sp>
        <p:nvSpPr>
          <p:cNvPr id="25" name="Text 22"/>
          <p:cNvSpPr txBox="1"/>
          <p:nvPr/>
        </p:nvSpPr>
        <p:spPr>
          <a:xfrm>
            <a:off x="6858000" y="3931920"/>
            <a:ext cx="4663440" cy="960120"/>
          </a:xfrm>
          <a:prstGeom prst="rect">
            <a:avLst/>
          </a:prstGeom>
          <a:noFill/>
          <a:ln/>
        </p:spPr>
        <p:txBody>
          <a:bodyPr wrap="square" lIns="0" tIns="0" rIns="0" bIns="0" rtlCol="0" anchor="ctr"/>
          <a:lstStyle/>
          <a:p>
            <a:pPr indent="0" marL="0">
              <a:buNone/>
            </a:pPr>
            <a:r>
              <a:rPr lang="en-US" sz="1200" b="1" dirty="0">
                <a:solidFill>
                  <a:srgbClr val="B45309"/>
                </a:solidFill>
                <a:latin typeface="Calibri" pitchFamily="34" charset="0"/>
                <a:ea typeface="Calibri" pitchFamily="34" charset="-122"/>
                <a:cs typeface="Calibri" pitchFamily="34" charset="-120"/>
              </a:rPr>
              <a:t>Toyota baseload: </a:t>
            </a:r>
            <a:pPr indent="0" marL="0">
              <a:buNone/>
            </a:pPr>
            <a:r>
              <a:rPr lang="en-US" sz="1200" dirty="0">
                <a:solidFill>
                  <a:srgbClr val="1F2937"/>
                </a:solidFill>
                <a:latin typeface="Calibri" pitchFamily="34" charset="0"/>
                <a:ea typeface="Calibri" pitchFamily="34" charset="-122"/>
                <a:cs typeface="Calibri" pitchFamily="34" charset="-120"/>
              </a:rPr>
              <a:t>footage from Bowmanville not captured correctly — fix under way; Moncton 20.5% of bills no cube vs 3.0% other lanes.</a:t>
            </a:r>
            <a:endParaRPr lang="en-US" sz="1200" dirty="0"/>
          </a:p>
        </p:txBody>
      </p:sp>
      <p:sp>
        <p:nvSpPr>
          <p:cNvPr id="26" name="Shape 23"/>
          <p:cNvSpPr/>
          <p:nvPr/>
        </p:nvSpPr>
        <p:spPr>
          <a:xfrm>
            <a:off x="6675120" y="5029200"/>
            <a:ext cx="4965192" cy="914400"/>
          </a:xfrm>
          <a:prstGeom prst="roundRect">
            <a:avLst>
              <a:gd name="adj" fmla="val 8000"/>
            </a:avLst>
          </a:prstGeom>
          <a:solidFill>
            <a:srgbClr val="F5F3FF"/>
          </a:solidFill>
          <a:ln w="12700">
            <a:solidFill>
              <a:srgbClr val="F5F3FF"/>
            </a:solidFill>
            <a:prstDash val="solid"/>
          </a:ln>
        </p:spPr>
      </p:sp>
      <p:sp>
        <p:nvSpPr>
          <p:cNvPr id="27" name="Text 24"/>
          <p:cNvSpPr txBox="1"/>
          <p:nvPr/>
        </p:nvSpPr>
        <p:spPr>
          <a:xfrm>
            <a:off x="6858000" y="5029200"/>
            <a:ext cx="4663440" cy="914400"/>
          </a:xfrm>
          <a:prstGeom prst="rect">
            <a:avLst/>
          </a:prstGeom>
          <a:noFill/>
          <a:ln/>
        </p:spPr>
        <p:txBody>
          <a:bodyPr wrap="square" lIns="0" tIns="0" rIns="0" bIns="0" rtlCol="0" anchor="ctr"/>
          <a:lstStyle/>
          <a:p>
            <a:pPr indent="0" marL="0">
              <a:buNone/>
            </a:pPr>
            <a:r>
              <a:rPr lang="en-US" sz="1250" b="1" dirty="0">
                <a:solidFill>
                  <a:srgbClr val="111827"/>
                </a:solidFill>
                <a:latin typeface="Calibri" pitchFamily="34" charset="0"/>
                <a:ea typeface="Calibri" pitchFamily="34" charset="-122"/>
                <a:cs typeface="Calibri" pitchFamily="34" charset="-120"/>
              </a:rPr>
              <a:t>Biggest open opportunity: consolidation / frequency review on the light lanes, plus cube capture on Moncton.</a:t>
            </a:r>
            <a:endParaRPr lang="en-US" sz="1250" dirty="0"/>
          </a:p>
        </p:txBody>
      </p:sp>
      <p:sp>
        <p:nvSpPr>
          <p:cNvPr id="28" name="Text 25"/>
          <p:cNvSpPr txBox="1"/>
          <p:nvPr/>
        </p:nvSpPr>
        <p:spPr>
          <a:xfrm>
            <a:off x="548640" y="6144768"/>
            <a:ext cx="11091672" cy="228600"/>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Source: Load factor report — Mississauga outbound, F27 Jul–Sep (ready date: all). Distance bands as defined in the report.</a:t>
            </a:r>
            <a:endParaRPr lang="en-US" sz="900" dirty="0"/>
          </a:p>
        </p:txBody>
      </p:sp>
      <p:sp>
        <p:nvSpPr>
          <p:cNvPr id="29" name="Text 26"/>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0" name="Text 27"/>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17 / 27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PRODUCTIVITY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CICO — hours saved</a:t>
            </a:r>
            <a:endParaRPr lang="en-US" sz="30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5852160" cy="914400"/>
        </p:xfrm>
        <a:graphic>
          <a:graphicData uri="http://schemas.openxmlformats.org/drawingml/2006/table">
            <a:tbl>
              <a:tblPr/>
              <a:tblGrid>
                <a:gridCol w="2560320"/>
                <a:gridCol w="1645920"/>
                <a:gridCol w="1645920"/>
              </a:tblGrid>
              <a:tr h="438912">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Week</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Hours saved</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 saved</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438912">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Wk 1 · Sep 1–5</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438912">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Wk 2 · Sep 6–12</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438912">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Wk 3 · Sep 13–19</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438912">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Wk 4 · Sep 20–26</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438912">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September total</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r>
            </a:tbl>
          </a:graphicData>
        </a:graphic>
      </p:graphicFrame>
      <p:sp>
        <p:nvSpPr>
          <p:cNvPr id="5" name="Text 2"/>
          <p:cNvSpPr txBox="1"/>
          <p:nvPr/>
        </p:nvSpPr>
        <p:spPr>
          <a:xfrm>
            <a:off x="548640" y="4133088"/>
            <a:ext cx="5852160" cy="274320"/>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 saved = hours saved × </a:t>
            </a:r>
            <a:pPr indent="0" marL="0">
              <a:buNone/>
            </a:pPr>
            <a:r>
              <a:rPr lang="en-US" sz="1100" b="1" dirty="0">
                <a:solidFill>
                  <a:srgbClr val="111827"/>
                </a:solidFill>
                <a:latin typeface="Calibri" pitchFamily="34" charset="0"/>
                <a:ea typeface="Calibri" pitchFamily="34" charset="-122"/>
                <a:cs typeface="Calibri" pitchFamily="34" charset="-120"/>
              </a:rPr>
              <a:t>$33.43</a:t>
            </a:r>
            <a:pPr indent="0" marL="0">
              <a:buNone/>
            </a:pPr>
            <a:r>
              <a:rPr lang="en-US" sz="1100" dirty="0">
                <a:solidFill>
                  <a:srgbClr val="6B7280"/>
                </a:solidFill>
                <a:latin typeface="Calibri" pitchFamily="34" charset="0"/>
                <a:ea typeface="Calibri" pitchFamily="34" charset="-122"/>
                <a:cs typeface="Calibri" pitchFamily="34" charset="-120"/>
              </a:rPr>
              <a:t>/hr (Sept MTD $/hr, productivity dashboard)</a:t>
            </a:r>
            <a:endParaRPr lang="en-US" sz="1100" dirty="0"/>
          </a:p>
        </p:txBody>
      </p:sp>
      <p:sp>
        <p:nvSpPr>
          <p:cNvPr id="6" name="Shape 3"/>
          <p:cNvSpPr/>
          <p:nvPr/>
        </p:nvSpPr>
        <p:spPr>
          <a:xfrm>
            <a:off x="548640" y="4663440"/>
            <a:ext cx="2834640" cy="1463040"/>
          </a:xfrm>
          <a:prstGeom prst="roundRect">
            <a:avLst>
              <a:gd name="adj" fmla="val 5000"/>
            </a:avLst>
          </a:prstGeom>
          <a:solidFill>
            <a:srgbClr val="F3F4F6"/>
          </a:solidFill>
          <a:ln w="12700">
            <a:solidFill>
              <a:srgbClr val="F3F4F6"/>
            </a:solidFill>
            <a:prstDash val="solid"/>
          </a:ln>
        </p:spPr>
      </p:sp>
      <p:sp>
        <p:nvSpPr>
          <p:cNvPr id="7" name="Text 4"/>
          <p:cNvSpPr txBox="1"/>
          <p:nvPr/>
        </p:nvSpPr>
        <p:spPr>
          <a:xfrm>
            <a:off x="731520" y="4800600"/>
            <a:ext cx="2468880"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September hours saved</a:t>
            </a:r>
            <a:endParaRPr lang="en-US" sz="1100" dirty="0"/>
          </a:p>
        </p:txBody>
      </p:sp>
      <p:sp>
        <p:nvSpPr>
          <p:cNvPr id="8" name="Text 5"/>
          <p:cNvSpPr txBox="1"/>
          <p:nvPr/>
        </p:nvSpPr>
        <p:spPr>
          <a:xfrm>
            <a:off x="731520" y="5074920"/>
            <a:ext cx="2468880" cy="594360"/>
          </a:xfrm>
          <a:prstGeom prst="rect">
            <a:avLst/>
          </a:prstGeom>
          <a:noFill/>
          <a:ln/>
        </p:spPr>
        <p:txBody>
          <a:bodyPr wrap="square" lIns="0" tIns="0" rIns="0" bIns="0" rtlCol="0" anchor="ctr"/>
          <a:lstStyle/>
          <a:p>
            <a:pPr indent="0" marL="0">
              <a:buNone/>
            </a:pPr>
            <a:r>
              <a:rPr lang="en-US" sz="3000" b="1" dirty="0">
                <a:solidFill>
                  <a:srgbClr val="D97706"/>
                </a:solidFill>
                <a:latin typeface="Calibri" pitchFamily="34" charset="0"/>
                <a:ea typeface="Calibri" pitchFamily="34" charset="-122"/>
                <a:cs typeface="Calibri" pitchFamily="34" charset="-120"/>
              </a:rPr>
              <a:t>TBC</a:t>
            </a:r>
            <a:endParaRPr lang="en-US" sz="3000" dirty="0"/>
          </a:p>
        </p:txBody>
      </p:sp>
      <p:sp>
        <p:nvSpPr>
          <p:cNvPr id="9" name="Text 6"/>
          <p:cNvSpPr txBox="1"/>
          <p:nvPr/>
        </p:nvSpPr>
        <p:spPr>
          <a:xfrm>
            <a:off x="731520" y="5696712"/>
            <a:ext cx="246888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Late / lunch / early-off</a:t>
            </a:r>
            <a:endParaRPr lang="en-US" sz="1050" dirty="0"/>
          </a:p>
        </p:txBody>
      </p:sp>
      <p:sp>
        <p:nvSpPr>
          <p:cNvPr id="10" name="Shape 7"/>
          <p:cNvSpPr/>
          <p:nvPr/>
        </p:nvSpPr>
        <p:spPr>
          <a:xfrm>
            <a:off x="3566160" y="4663440"/>
            <a:ext cx="2834640" cy="1463040"/>
          </a:xfrm>
          <a:prstGeom prst="roundRect">
            <a:avLst>
              <a:gd name="adj" fmla="val 5000"/>
            </a:avLst>
          </a:prstGeom>
          <a:solidFill>
            <a:srgbClr val="F3F4F6"/>
          </a:solidFill>
          <a:ln w="12700">
            <a:solidFill>
              <a:srgbClr val="F3F4F6"/>
            </a:solidFill>
            <a:prstDash val="solid"/>
          </a:ln>
        </p:spPr>
      </p:sp>
      <p:sp>
        <p:nvSpPr>
          <p:cNvPr id="11" name="Text 8"/>
          <p:cNvSpPr txBox="1"/>
          <p:nvPr/>
        </p:nvSpPr>
        <p:spPr>
          <a:xfrm>
            <a:off x="3749040" y="4800600"/>
            <a:ext cx="2468880"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September $ saved</a:t>
            </a:r>
            <a:endParaRPr lang="en-US" sz="1100" dirty="0"/>
          </a:p>
        </p:txBody>
      </p:sp>
      <p:sp>
        <p:nvSpPr>
          <p:cNvPr id="12" name="Text 9"/>
          <p:cNvSpPr txBox="1"/>
          <p:nvPr/>
        </p:nvSpPr>
        <p:spPr>
          <a:xfrm>
            <a:off x="3749040" y="5074920"/>
            <a:ext cx="2468880" cy="594360"/>
          </a:xfrm>
          <a:prstGeom prst="rect">
            <a:avLst/>
          </a:prstGeom>
          <a:noFill/>
          <a:ln/>
        </p:spPr>
        <p:txBody>
          <a:bodyPr wrap="square" lIns="0" tIns="0" rIns="0" bIns="0" rtlCol="0" anchor="ctr"/>
          <a:lstStyle/>
          <a:p>
            <a:pPr indent="0" marL="0">
              <a:buNone/>
            </a:pPr>
            <a:r>
              <a:rPr lang="en-US" sz="3000" b="1" dirty="0">
                <a:solidFill>
                  <a:srgbClr val="D97706"/>
                </a:solidFill>
                <a:latin typeface="Calibri" pitchFamily="34" charset="0"/>
                <a:ea typeface="Calibri" pitchFamily="34" charset="-122"/>
                <a:cs typeface="Calibri" pitchFamily="34" charset="-120"/>
              </a:rPr>
              <a:t>TBC</a:t>
            </a:r>
            <a:endParaRPr lang="en-US" sz="3000" dirty="0"/>
          </a:p>
        </p:txBody>
      </p:sp>
      <p:sp>
        <p:nvSpPr>
          <p:cNvPr id="13" name="Text 10"/>
          <p:cNvSpPr txBox="1"/>
          <p:nvPr/>
        </p:nvSpPr>
        <p:spPr>
          <a:xfrm>
            <a:off x="3749040" y="5696712"/>
            <a:ext cx="246888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At </a:t>
            </a:r>
            <a:pPr indent="0" marL="0">
              <a:buNone/>
            </a:pPr>
            <a:r>
              <a:rPr lang="en-US" sz="1050" b="1" dirty="0">
                <a:solidFill>
                  <a:srgbClr val="1F2937"/>
                </a:solidFill>
                <a:latin typeface="Calibri" pitchFamily="34" charset="0"/>
                <a:ea typeface="Calibri" pitchFamily="34" charset="-122"/>
                <a:cs typeface="Calibri" pitchFamily="34" charset="-120"/>
              </a:rPr>
              <a:t>$33.43</a:t>
            </a:r>
            <a:pPr indent="0" marL="0">
              <a:buNone/>
            </a:pPr>
            <a:r>
              <a:rPr lang="en-US" sz="1050" dirty="0">
                <a:solidFill>
                  <a:srgbClr val="6B7280"/>
                </a:solidFill>
                <a:latin typeface="Calibri" pitchFamily="34" charset="0"/>
                <a:ea typeface="Calibri" pitchFamily="34" charset="-122"/>
                <a:cs typeface="Calibri" pitchFamily="34" charset="-120"/>
              </a:rPr>
              <a:t>/hr</a:t>
            </a:r>
            <a:endParaRPr lang="en-US" sz="1050" dirty="0"/>
          </a:p>
        </p:txBody>
      </p:sp>
      <p:sp>
        <p:nvSpPr>
          <p:cNvPr id="14" name="Shape 11"/>
          <p:cNvSpPr/>
          <p:nvPr/>
        </p:nvSpPr>
        <p:spPr>
          <a:xfrm>
            <a:off x="6812280" y="1371600"/>
            <a:ext cx="4828032" cy="4754880"/>
          </a:xfrm>
          <a:prstGeom prst="roundRect">
            <a:avLst>
              <a:gd name="adj" fmla="val 1538"/>
            </a:avLst>
          </a:prstGeom>
          <a:solidFill>
            <a:srgbClr val="F3F4F6"/>
          </a:solidFill>
          <a:ln w="12700">
            <a:solidFill>
              <a:srgbClr val="F3F4F6"/>
            </a:solidFill>
            <a:prstDash val="solid"/>
          </a:ln>
        </p:spPr>
      </p:sp>
      <p:sp>
        <p:nvSpPr>
          <p:cNvPr id="15" name="Text 12"/>
          <p:cNvSpPr txBox="1"/>
          <p:nvPr/>
        </p:nvSpPr>
        <p:spPr>
          <a:xfrm>
            <a:off x="7086600" y="1600200"/>
            <a:ext cx="4389120" cy="411480"/>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What drives the hours saved</a:t>
            </a:r>
            <a:endParaRPr lang="en-US" sz="1800" dirty="0"/>
          </a:p>
        </p:txBody>
      </p:sp>
      <p:sp>
        <p:nvSpPr>
          <p:cNvPr id="16" name="Shape 13"/>
          <p:cNvSpPr/>
          <p:nvPr/>
        </p:nvSpPr>
        <p:spPr>
          <a:xfrm>
            <a:off x="7086600" y="2286000"/>
            <a:ext cx="548640" cy="548640"/>
          </a:xfrm>
          <a:prstGeom prst="ellipse">
            <a:avLst/>
          </a:prstGeom>
          <a:solidFill>
            <a:srgbClr val="EDE9FE"/>
          </a:solidFill>
          <a:ln w="12700">
            <a:solidFill>
              <a:srgbClr val="EDE9FE"/>
            </a:solidFill>
            <a:prstDash val="solid"/>
          </a:ln>
        </p:spPr>
      </p:sp>
      <p:pic>
        <p:nvPicPr>
          <p:cNvPr id="17" name="Image 0" descr="preencoded.png">    </p:cNvPr>
          <p:cNvPicPr>
            <a:picLocks noChangeAspect="1"/>
          </p:cNvPicPr>
          <p:nvPr/>
        </p:nvPicPr>
        <p:blipFill>
          <a:blip r:embed="rId1"/>
          <a:stretch>
            <a:fillRect/>
          </a:stretch>
        </p:blipFill>
        <p:spPr>
          <a:xfrm>
            <a:off x="7223760" y="2423160"/>
            <a:ext cx="274320" cy="274320"/>
          </a:xfrm>
          <a:prstGeom prst="rect">
            <a:avLst/>
          </a:prstGeom>
        </p:spPr>
      </p:pic>
      <p:sp>
        <p:nvSpPr>
          <p:cNvPr id="18" name="Text 14"/>
          <p:cNvSpPr txBox="1"/>
          <p:nvPr/>
        </p:nvSpPr>
        <p:spPr>
          <a:xfrm>
            <a:off x="7818120" y="2194560"/>
            <a:ext cx="3611880" cy="777240"/>
          </a:xfrm>
          <a:prstGeom prst="rect">
            <a:avLst/>
          </a:prstGeom>
          <a:noFill/>
          <a:ln/>
        </p:spPr>
        <p:txBody>
          <a:bodyPr wrap="square" lIns="0" tIns="0" rIns="0" bIns="0" rtlCol="0" anchor="ctr"/>
          <a:lstStyle/>
          <a:p>
            <a:pPr indent="0" marL="0">
              <a:buNone/>
            </a:pPr>
            <a:r>
              <a:rPr lang="en-US" sz="1500" dirty="0">
                <a:solidFill>
                  <a:srgbClr val="1F2937"/>
                </a:solidFill>
                <a:latin typeface="Calibri" pitchFamily="34" charset="0"/>
                <a:ea typeface="Calibri" pitchFamily="34" charset="-122"/>
                <a:cs typeface="Calibri" pitchFamily="34" charset="-120"/>
              </a:rPr>
              <a:t>Late arrivals — pay starts at actual clock-in, not scheduled start.</a:t>
            </a:r>
            <a:endParaRPr lang="en-US" sz="1500" dirty="0"/>
          </a:p>
        </p:txBody>
      </p:sp>
      <p:sp>
        <p:nvSpPr>
          <p:cNvPr id="19" name="Shape 15"/>
          <p:cNvSpPr/>
          <p:nvPr/>
        </p:nvSpPr>
        <p:spPr>
          <a:xfrm>
            <a:off x="7086600" y="3474720"/>
            <a:ext cx="548640" cy="548640"/>
          </a:xfrm>
          <a:prstGeom prst="ellipse">
            <a:avLst/>
          </a:prstGeom>
          <a:solidFill>
            <a:srgbClr val="EDE9FE"/>
          </a:solidFill>
          <a:ln w="12700">
            <a:solidFill>
              <a:srgbClr val="EDE9FE"/>
            </a:solidFill>
            <a:prstDash val="solid"/>
          </a:ln>
        </p:spPr>
      </p:sp>
      <p:pic>
        <p:nvPicPr>
          <p:cNvPr id="20" name="Image 1" descr="preencoded.png">    </p:cNvPr>
          <p:cNvPicPr>
            <a:picLocks noChangeAspect="1"/>
          </p:cNvPicPr>
          <p:nvPr/>
        </p:nvPicPr>
        <p:blipFill>
          <a:blip r:embed="rId2"/>
          <a:stretch>
            <a:fillRect/>
          </a:stretch>
        </p:blipFill>
        <p:spPr>
          <a:xfrm>
            <a:off x="7223760" y="3611880"/>
            <a:ext cx="274320" cy="274320"/>
          </a:xfrm>
          <a:prstGeom prst="rect">
            <a:avLst/>
          </a:prstGeom>
        </p:spPr>
      </p:pic>
      <p:sp>
        <p:nvSpPr>
          <p:cNvPr id="21" name="Text 16"/>
          <p:cNvSpPr txBox="1"/>
          <p:nvPr/>
        </p:nvSpPr>
        <p:spPr>
          <a:xfrm>
            <a:off x="7818120" y="3383280"/>
            <a:ext cx="3611880" cy="777240"/>
          </a:xfrm>
          <a:prstGeom prst="rect">
            <a:avLst/>
          </a:prstGeom>
          <a:noFill/>
          <a:ln/>
        </p:spPr>
        <p:txBody>
          <a:bodyPr wrap="square" lIns="0" tIns="0" rIns="0" bIns="0" rtlCol="0" anchor="ctr"/>
          <a:lstStyle/>
          <a:p>
            <a:pPr indent="0" marL="0">
              <a:buNone/>
            </a:pPr>
            <a:r>
              <a:rPr lang="en-US" sz="1500" dirty="0">
                <a:solidFill>
                  <a:srgbClr val="1F2937"/>
                </a:solidFill>
                <a:latin typeface="Calibri" pitchFamily="34" charset="0"/>
                <a:ea typeface="Calibri" pitchFamily="34" charset="-122"/>
                <a:cs typeface="Calibri" pitchFamily="34" charset="-120"/>
              </a:rPr>
              <a:t>No-lunch punches reviewed daily by the shift supervisor.</a:t>
            </a:r>
            <a:endParaRPr lang="en-US" sz="1500" dirty="0"/>
          </a:p>
        </p:txBody>
      </p:sp>
      <p:sp>
        <p:nvSpPr>
          <p:cNvPr id="22" name="Shape 17"/>
          <p:cNvSpPr/>
          <p:nvPr/>
        </p:nvSpPr>
        <p:spPr>
          <a:xfrm>
            <a:off x="7086600" y="4663440"/>
            <a:ext cx="548640" cy="548640"/>
          </a:xfrm>
          <a:prstGeom prst="ellipse">
            <a:avLst/>
          </a:prstGeom>
          <a:solidFill>
            <a:srgbClr val="EDE9FE"/>
          </a:solidFill>
          <a:ln w="12700">
            <a:solidFill>
              <a:srgbClr val="EDE9FE"/>
            </a:solidFill>
            <a:prstDash val="solid"/>
          </a:ln>
        </p:spPr>
      </p:sp>
      <p:pic>
        <p:nvPicPr>
          <p:cNvPr id="23" name="Image 2" descr="preencoded.png">    </p:cNvPr>
          <p:cNvPicPr>
            <a:picLocks noChangeAspect="1"/>
          </p:cNvPicPr>
          <p:nvPr/>
        </p:nvPicPr>
        <p:blipFill>
          <a:blip r:embed="rId3"/>
          <a:stretch>
            <a:fillRect/>
          </a:stretch>
        </p:blipFill>
        <p:spPr>
          <a:xfrm>
            <a:off x="7223760" y="4800600"/>
            <a:ext cx="274320" cy="274320"/>
          </a:xfrm>
          <a:prstGeom prst="rect">
            <a:avLst/>
          </a:prstGeom>
        </p:spPr>
      </p:pic>
      <p:sp>
        <p:nvSpPr>
          <p:cNvPr id="24" name="Text 18"/>
          <p:cNvSpPr txBox="1"/>
          <p:nvPr/>
        </p:nvSpPr>
        <p:spPr>
          <a:xfrm>
            <a:off x="7818120" y="4572000"/>
            <a:ext cx="3611880" cy="777240"/>
          </a:xfrm>
          <a:prstGeom prst="rect">
            <a:avLst/>
          </a:prstGeom>
          <a:noFill/>
          <a:ln/>
        </p:spPr>
        <p:txBody>
          <a:bodyPr wrap="square" lIns="0" tIns="0" rIns="0" bIns="0" rtlCol="0" anchor="ctr"/>
          <a:lstStyle/>
          <a:p>
            <a:pPr indent="0" marL="0">
              <a:buNone/>
            </a:pPr>
            <a:r>
              <a:rPr lang="en-US" sz="1500" dirty="0">
                <a:solidFill>
                  <a:srgbClr val="1F2937"/>
                </a:solidFill>
                <a:latin typeface="Calibri" pitchFamily="34" charset="0"/>
                <a:ea typeface="Calibri" pitchFamily="34" charset="-122"/>
                <a:cs typeface="Calibri" pitchFamily="34" charset="-120"/>
              </a:rPr>
              <a:t>Part-time / early-off shifts released when volume is done.</a:t>
            </a:r>
            <a:endParaRPr lang="en-US" sz="1500" dirty="0"/>
          </a:p>
        </p:txBody>
      </p:sp>
      <p:sp>
        <p:nvSpPr>
          <p:cNvPr id="25" name="Text 19"/>
          <p:cNvSpPr txBox="1"/>
          <p:nvPr/>
        </p:nvSpPr>
        <p:spPr>
          <a:xfrm>
            <a:off x="7086600" y="5486400"/>
            <a:ext cx="4389120" cy="502920"/>
          </a:xfrm>
          <a:prstGeom prst="rect">
            <a:avLst/>
          </a:prstGeom>
          <a:noFill/>
          <a:ln/>
        </p:spPr>
        <p:txBody>
          <a:bodyPr wrap="square" lIns="0" tIns="0" rIns="0" bIns="0" rtlCol="0" anchor="t"/>
          <a:lstStyle/>
          <a:p>
            <a:pPr indent="0" marL="0">
              <a:buNone/>
            </a:pPr>
            <a:r>
              <a:rPr lang="en-US" sz="1100" i="1" dirty="0">
                <a:solidFill>
                  <a:srgbClr val="6B7280"/>
                </a:solidFill>
                <a:latin typeface="Calibri" pitchFamily="34" charset="0"/>
                <a:ea typeface="Calibri" pitchFamily="34" charset="-122"/>
                <a:cs typeface="Calibri" pitchFamily="34" charset="-120"/>
              </a:rPr>
              <a:t>Clock-in / clock-out (CICO) discipline — late starts, missed lunches and early-offs captured as hours saved.</a:t>
            </a:r>
            <a:endParaRPr lang="en-US" sz="1100" dirty="0"/>
          </a:p>
        </p:txBody>
      </p:sp>
      <p:sp>
        <p:nvSpPr>
          <p:cNvPr id="26" name="Text 20"/>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7" name="Text 21"/>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18 / 27</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PRODUCTIVITY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Productivity — Cost &amp; Volume (Sept MTD)</a:t>
            </a:r>
            <a:endParaRPr lang="en-US" sz="30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6949440" cy="914400"/>
        </p:xfrm>
        <a:graphic>
          <a:graphicData uri="http://schemas.openxmlformats.org/drawingml/2006/table">
            <a:tbl>
              <a:tblPr/>
              <a:tblGrid>
                <a:gridCol w="1828800"/>
                <a:gridCol w="1463040"/>
                <a:gridCol w="1417320"/>
                <a:gridCol w="1325880"/>
                <a:gridCol w="914400"/>
              </a:tblGrid>
              <a:tr h="438912">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Metric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F27 Sept MTD</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F26 Sept</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Change</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438912">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Weight (lbs)*</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111827"/>
                          </a:solidFill>
                          <a:latin typeface="Calibri" pitchFamily="34" charset="0"/>
                          <a:ea typeface="Calibri" pitchFamily="34" charset="-122"/>
                          <a:cs typeface="Calibri" pitchFamily="34" charset="-120"/>
                        </a:rPr>
                        <a:t>13,305,876</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dirty="0">
                          <a:solidFill>
                            <a:srgbClr val="6B7280"/>
                          </a:solidFill>
                          <a:latin typeface="Calibri" pitchFamily="34" charset="0"/>
                          <a:ea typeface="Calibri" pitchFamily="34" charset="-122"/>
                          <a:cs typeface="Calibri" pitchFamily="34" charset="-120"/>
                        </a:rPr>
                        <a:t>20,881,181</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1F2937"/>
                          </a:solidFill>
                          <a:latin typeface="Calibri" pitchFamily="34" charset="0"/>
                          <a:ea typeface="Calibri" pitchFamily="34" charset="-122"/>
                          <a:cs typeface="Calibri" pitchFamily="34" charset="-120"/>
                        </a:rPr>
                        <a:t>−7,575,305</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1F2937"/>
                          </a:solidFill>
                          <a:latin typeface="Calibri" pitchFamily="34" charset="0"/>
                          <a:ea typeface="Calibri" pitchFamily="34" charset="-122"/>
                          <a:cs typeface="Calibri" pitchFamily="34" charset="-120"/>
                        </a:rPr>
                        <a:t>−36.3%</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438912">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 per hour</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111827"/>
                          </a:solidFill>
                          <a:latin typeface="Calibri" pitchFamily="34" charset="0"/>
                          <a:ea typeface="Calibri" pitchFamily="34" charset="-122"/>
                          <a:cs typeface="Calibri" pitchFamily="34" charset="-120"/>
                        </a:rPr>
                        <a:t>$33.43</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dirty="0">
                          <a:solidFill>
                            <a:srgbClr val="6B7280"/>
                          </a:solidFill>
                          <a:latin typeface="Calibri" pitchFamily="34" charset="0"/>
                          <a:ea typeface="Calibri" pitchFamily="34" charset="-122"/>
                          <a:cs typeface="Calibri" pitchFamily="34" charset="-120"/>
                        </a:rPr>
                        <a:t>$31.69</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DC2626"/>
                          </a:solidFill>
                          <a:latin typeface="Calibri" pitchFamily="34" charset="0"/>
                          <a:ea typeface="Calibri" pitchFamily="34" charset="-122"/>
                          <a:cs typeface="Calibri" pitchFamily="34" charset="-120"/>
                        </a:rPr>
                        <a:t>+$1.74</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DC2626"/>
                          </a:solidFill>
                          <a:latin typeface="Calibri" pitchFamily="34" charset="0"/>
                          <a:ea typeface="Calibri" pitchFamily="34" charset="-122"/>
                          <a:cs typeface="Calibri" pitchFamily="34" charset="-120"/>
                        </a:rPr>
                        <a:t>+5.5%</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438912">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Cost per CWT</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111827"/>
                          </a:solidFill>
                          <a:latin typeface="Calibri" pitchFamily="34" charset="0"/>
                          <a:ea typeface="Calibri" pitchFamily="34" charset="-122"/>
                          <a:cs typeface="Calibri" pitchFamily="34" charset="-120"/>
                        </a:rPr>
                        <a:t>$1.0048</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dirty="0">
                          <a:solidFill>
                            <a:srgbClr val="6B7280"/>
                          </a:solidFill>
                          <a:latin typeface="Calibri" pitchFamily="34" charset="0"/>
                          <a:ea typeface="Calibri" pitchFamily="34" charset="-122"/>
                          <a:cs typeface="Calibri" pitchFamily="34" charset="-120"/>
                        </a:rPr>
                        <a:t>$0.9566</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DC2626"/>
                          </a:solidFill>
                          <a:latin typeface="Calibri" pitchFamily="34" charset="0"/>
                          <a:ea typeface="Calibri" pitchFamily="34" charset="-122"/>
                          <a:cs typeface="Calibri" pitchFamily="34" charset="-120"/>
                        </a:rPr>
                        <a:t>+$0.0482</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DC2626"/>
                          </a:solidFill>
                          <a:latin typeface="Calibri" pitchFamily="34" charset="0"/>
                          <a:ea typeface="Calibri" pitchFamily="34" charset="-122"/>
                          <a:cs typeface="Calibri" pitchFamily="34" charset="-120"/>
                        </a:rPr>
                        <a:t>+5.0%</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438912">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Units per hour</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111827"/>
                          </a:solidFill>
                          <a:latin typeface="Calibri" pitchFamily="34" charset="0"/>
                          <a:ea typeface="Calibri" pitchFamily="34" charset="-122"/>
                          <a:cs typeface="Calibri" pitchFamily="34" charset="-120"/>
                        </a:rPr>
                        <a:t>15.24</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dirty="0">
                          <a:solidFill>
                            <a:srgbClr val="6B7280"/>
                          </a:solidFill>
                          <a:latin typeface="Calibri" pitchFamily="34" charset="0"/>
                          <a:ea typeface="Calibri" pitchFamily="34" charset="-122"/>
                          <a:cs typeface="Calibri" pitchFamily="34" charset="-120"/>
                        </a:rPr>
                        <a:t>12.03</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059669"/>
                          </a:solidFill>
                          <a:latin typeface="Calibri" pitchFamily="34" charset="0"/>
                          <a:ea typeface="Calibri" pitchFamily="34" charset="-122"/>
                          <a:cs typeface="Calibri" pitchFamily="34" charset="-120"/>
                        </a:rPr>
                        <a:t>+3.21</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059669"/>
                          </a:solidFill>
                          <a:latin typeface="Calibri" pitchFamily="34" charset="0"/>
                          <a:ea typeface="Calibri" pitchFamily="34" charset="-122"/>
                          <a:cs typeface="Calibri" pitchFamily="34" charset="-120"/>
                        </a:rPr>
                        <a:t>+26.7%</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bl>
          </a:graphicData>
        </a:graphic>
      </p:graphicFrame>
      <p:sp>
        <p:nvSpPr>
          <p:cNvPr id="5" name="Text 2"/>
          <p:cNvSpPr txBox="1"/>
          <p:nvPr/>
        </p:nvSpPr>
        <p:spPr>
          <a:xfrm>
            <a:off x="548640" y="3630168"/>
            <a:ext cx="6949440" cy="256032"/>
          </a:xfrm>
          <a:prstGeom prst="rect">
            <a:avLst/>
          </a:prstGeom>
          <a:noFill/>
          <a:ln/>
        </p:spPr>
        <p:txBody>
          <a:bodyPr wrap="square" lIns="0" tIns="0" rIns="0" bIns="0" rtlCol="0" anchor="ctr"/>
          <a:lstStyle/>
          <a:p>
            <a:pPr indent="0" marL="0">
              <a:buNone/>
            </a:pPr>
            <a:r>
              <a:rPr lang="en-US" sz="1050" i="1" dirty="0">
                <a:solidFill>
                  <a:srgbClr val="6B7280"/>
                </a:solidFill>
                <a:latin typeface="Calibri" pitchFamily="34" charset="0"/>
                <a:ea typeface="Calibri" pitchFamily="34" charset="-122"/>
                <a:cs typeface="Calibri" pitchFamily="34" charset="-120"/>
              </a:rPr>
              <a:t>* F27 weight is MTD to Sep 26; F26 is the September total.</a:t>
            </a:r>
            <a:endParaRPr lang="en-US" sz="1050" dirty="0"/>
          </a:p>
        </p:txBody>
      </p:sp>
      <p:sp>
        <p:nvSpPr>
          <p:cNvPr id="6" name="Text 3"/>
          <p:cNvSpPr txBox="1"/>
          <p:nvPr/>
        </p:nvSpPr>
        <p:spPr>
          <a:xfrm>
            <a:off x="548640" y="4023360"/>
            <a:ext cx="6949440" cy="320040"/>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F27 September MTD</a:t>
            </a:r>
            <a:endParaRPr lang="en-US" sz="1500" dirty="0"/>
          </a:p>
        </p:txBody>
      </p:sp>
      <p:sp>
        <p:nvSpPr>
          <p:cNvPr id="7" name="Shape 4"/>
          <p:cNvSpPr/>
          <p:nvPr/>
        </p:nvSpPr>
        <p:spPr>
          <a:xfrm>
            <a:off x="548640" y="4434840"/>
            <a:ext cx="1600200" cy="1188720"/>
          </a:xfrm>
          <a:prstGeom prst="roundRect">
            <a:avLst>
              <a:gd name="adj" fmla="val 6154"/>
            </a:avLst>
          </a:prstGeom>
          <a:solidFill>
            <a:srgbClr val="F3F4F6"/>
          </a:solidFill>
          <a:ln w="12700">
            <a:solidFill>
              <a:srgbClr val="F3F4F6"/>
            </a:solidFill>
            <a:prstDash val="solid"/>
          </a:ln>
        </p:spPr>
      </p:sp>
      <p:sp>
        <p:nvSpPr>
          <p:cNvPr id="8" name="Text 5"/>
          <p:cNvSpPr txBox="1"/>
          <p:nvPr/>
        </p:nvSpPr>
        <p:spPr>
          <a:xfrm>
            <a:off x="713232" y="4553712"/>
            <a:ext cx="127101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Dock hours</a:t>
            </a:r>
            <a:endParaRPr lang="en-US" sz="1100" dirty="0"/>
          </a:p>
        </p:txBody>
      </p:sp>
      <p:sp>
        <p:nvSpPr>
          <p:cNvPr id="9" name="Text 6"/>
          <p:cNvSpPr txBox="1"/>
          <p:nvPr/>
        </p:nvSpPr>
        <p:spPr>
          <a:xfrm>
            <a:off x="713232" y="4846320"/>
            <a:ext cx="1271016" cy="594360"/>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3,999</a:t>
            </a:r>
            <a:endParaRPr lang="en-US" sz="1800" dirty="0"/>
          </a:p>
        </p:txBody>
      </p:sp>
      <p:sp>
        <p:nvSpPr>
          <p:cNvPr id="10" name="Shape 7"/>
          <p:cNvSpPr/>
          <p:nvPr/>
        </p:nvSpPr>
        <p:spPr>
          <a:xfrm>
            <a:off x="2331720" y="4434840"/>
            <a:ext cx="1600200" cy="1188720"/>
          </a:xfrm>
          <a:prstGeom prst="roundRect">
            <a:avLst>
              <a:gd name="adj" fmla="val 6154"/>
            </a:avLst>
          </a:prstGeom>
          <a:solidFill>
            <a:srgbClr val="F3F4F6"/>
          </a:solidFill>
          <a:ln w="12700">
            <a:solidFill>
              <a:srgbClr val="F3F4F6"/>
            </a:solidFill>
            <a:prstDash val="solid"/>
          </a:ln>
        </p:spPr>
      </p:sp>
      <p:sp>
        <p:nvSpPr>
          <p:cNvPr id="11" name="Text 8"/>
          <p:cNvSpPr txBox="1"/>
          <p:nvPr/>
        </p:nvSpPr>
        <p:spPr>
          <a:xfrm>
            <a:off x="2496312" y="4553712"/>
            <a:ext cx="127101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Units</a:t>
            </a:r>
            <a:endParaRPr lang="en-US" sz="1100" dirty="0"/>
          </a:p>
        </p:txBody>
      </p:sp>
      <p:sp>
        <p:nvSpPr>
          <p:cNvPr id="12" name="Text 9"/>
          <p:cNvSpPr txBox="1"/>
          <p:nvPr/>
        </p:nvSpPr>
        <p:spPr>
          <a:xfrm>
            <a:off x="2496312" y="4846320"/>
            <a:ext cx="1271016" cy="594360"/>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60,933</a:t>
            </a:r>
            <a:endParaRPr lang="en-US" sz="1800" dirty="0"/>
          </a:p>
        </p:txBody>
      </p:sp>
      <p:sp>
        <p:nvSpPr>
          <p:cNvPr id="13" name="Shape 10"/>
          <p:cNvSpPr/>
          <p:nvPr/>
        </p:nvSpPr>
        <p:spPr>
          <a:xfrm>
            <a:off x="4114800" y="4434840"/>
            <a:ext cx="1600200" cy="1188720"/>
          </a:xfrm>
          <a:prstGeom prst="roundRect">
            <a:avLst>
              <a:gd name="adj" fmla="val 6154"/>
            </a:avLst>
          </a:prstGeom>
          <a:solidFill>
            <a:srgbClr val="F3F4F6"/>
          </a:solidFill>
          <a:ln w="12700">
            <a:solidFill>
              <a:srgbClr val="F3F4F6"/>
            </a:solidFill>
            <a:prstDash val="solid"/>
          </a:ln>
        </p:spPr>
      </p:sp>
      <p:sp>
        <p:nvSpPr>
          <p:cNvPr id="14" name="Text 11"/>
          <p:cNvSpPr txBox="1"/>
          <p:nvPr/>
        </p:nvSpPr>
        <p:spPr>
          <a:xfrm>
            <a:off x="4279392" y="4553712"/>
            <a:ext cx="127101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Costs</a:t>
            </a:r>
            <a:endParaRPr lang="en-US" sz="1100" dirty="0"/>
          </a:p>
        </p:txBody>
      </p:sp>
      <p:sp>
        <p:nvSpPr>
          <p:cNvPr id="15" name="Text 12"/>
          <p:cNvSpPr txBox="1"/>
          <p:nvPr/>
        </p:nvSpPr>
        <p:spPr>
          <a:xfrm>
            <a:off x="4279392" y="4846320"/>
            <a:ext cx="1271016" cy="594360"/>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$133,692</a:t>
            </a:r>
            <a:endParaRPr lang="en-US" sz="1800" dirty="0"/>
          </a:p>
        </p:txBody>
      </p:sp>
      <p:sp>
        <p:nvSpPr>
          <p:cNvPr id="16" name="Shape 13"/>
          <p:cNvSpPr/>
          <p:nvPr/>
        </p:nvSpPr>
        <p:spPr>
          <a:xfrm>
            <a:off x="5897880" y="4434840"/>
            <a:ext cx="1600200" cy="1188720"/>
          </a:xfrm>
          <a:prstGeom prst="roundRect">
            <a:avLst>
              <a:gd name="adj" fmla="val 6154"/>
            </a:avLst>
          </a:prstGeom>
          <a:solidFill>
            <a:srgbClr val="F3F4F6"/>
          </a:solidFill>
          <a:ln w="12700">
            <a:solidFill>
              <a:srgbClr val="F3F4F6"/>
            </a:solidFill>
            <a:prstDash val="solid"/>
          </a:ln>
        </p:spPr>
      </p:sp>
      <p:sp>
        <p:nvSpPr>
          <p:cNvPr id="17" name="Text 14"/>
          <p:cNvSpPr txBox="1"/>
          <p:nvPr/>
        </p:nvSpPr>
        <p:spPr>
          <a:xfrm>
            <a:off x="6062472" y="4553712"/>
            <a:ext cx="127101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Cost per unit</a:t>
            </a:r>
            <a:endParaRPr lang="en-US" sz="1100" dirty="0"/>
          </a:p>
        </p:txBody>
      </p:sp>
      <p:sp>
        <p:nvSpPr>
          <p:cNvPr id="18" name="Text 15"/>
          <p:cNvSpPr txBox="1"/>
          <p:nvPr/>
        </p:nvSpPr>
        <p:spPr>
          <a:xfrm>
            <a:off x="6062472" y="4846320"/>
            <a:ext cx="1271016" cy="594360"/>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$2.19</a:t>
            </a:r>
            <a:endParaRPr lang="en-US" sz="1800" dirty="0"/>
          </a:p>
        </p:txBody>
      </p:sp>
      <p:sp>
        <p:nvSpPr>
          <p:cNvPr id="19" name="Shape 16"/>
          <p:cNvSpPr/>
          <p:nvPr/>
        </p:nvSpPr>
        <p:spPr>
          <a:xfrm>
            <a:off x="7863840" y="1371600"/>
            <a:ext cx="3776472" cy="2011680"/>
          </a:xfrm>
          <a:prstGeom prst="roundRect">
            <a:avLst>
              <a:gd name="adj" fmla="val 3636"/>
            </a:avLst>
          </a:prstGeom>
          <a:solidFill>
            <a:srgbClr val="ECFDF5"/>
          </a:solidFill>
          <a:ln w="12700">
            <a:solidFill>
              <a:srgbClr val="ECFDF5"/>
            </a:solidFill>
            <a:prstDash val="solid"/>
          </a:ln>
        </p:spPr>
      </p:sp>
      <p:sp>
        <p:nvSpPr>
          <p:cNvPr id="20" name="Shape 17"/>
          <p:cNvSpPr/>
          <p:nvPr/>
        </p:nvSpPr>
        <p:spPr>
          <a:xfrm>
            <a:off x="8065008" y="1536192"/>
            <a:ext cx="384048" cy="384048"/>
          </a:xfrm>
          <a:prstGeom prst="ellipse">
            <a:avLst/>
          </a:prstGeom>
          <a:solidFill>
            <a:srgbClr val="059669"/>
          </a:solidFill>
          <a:ln w="12700">
            <a:solidFill>
              <a:srgbClr val="059669"/>
            </a:solidFill>
            <a:prstDash val="solid"/>
          </a:ln>
        </p:spPr>
      </p:sp>
      <p:pic>
        <p:nvPicPr>
          <p:cNvPr id="21" name="Image 0" descr="preencoded.png">    </p:cNvPr>
          <p:cNvPicPr>
            <a:picLocks noChangeAspect="1"/>
          </p:cNvPicPr>
          <p:nvPr/>
        </p:nvPicPr>
        <p:blipFill>
          <a:blip r:embed="rId1"/>
          <a:stretch>
            <a:fillRect/>
          </a:stretch>
        </p:blipFill>
        <p:spPr>
          <a:xfrm>
            <a:off x="8161020" y="1632204"/>
            <a:ext cx="192024" cy="192024"/>
          </a:xfrm>
          <a:prstGeom prst="rect">
            <a:avLst/>
          </a:prstGeom>
        </p:spPr>
      </p:pic>
      <p:sp>
        <p:nvSpPr>
          <p:cNvPr id="22" name="Text 18"/>
          <p:cNvSpPr txBox="1"/>
          <p:nvPr/>
        </p:nvSpPr>
        <p:spPr>
          <a:xfrm>
            <a:off x="8549640" y="1536192"/>
            <a:ext cx="2926080" cy="384048"/>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Units-basis productivity value</a:t>
            </a:r>
            <a:endParaRPr lang="en-US" sz="1300" dirty="0"/>
          </a:p>
        </p:txBody>
      </p:sp>
      <p:sp>
        <p:nvSpPr>
          <p:cNvPr id="23" name="Text 19"/>
          <p:cNvSpPr txBox="1"/>
          <p:nvPr/>
        </p:nvSpPr>
        <p:spPr>
          <a:xfrm>
            <a:off x="8065008" y="1975104"/>
            <a:ext cx="3383280" cy="502920"/>
          </a:xfrm>
          <a:prstGeom prst="rect">
            <a:avLst/>
          </a:prstGeom>
          <a:noFill/>
          <a:ln/>
        </p:spPr>
        <p:txBody>
          <a:bodyPr wrap="square" lIns="0" tIns="0" rIns="0" bIns="0" rtlCol="0" anchor="ctr"/>
          <a:lstStyle/>
          <a:p>
            <a:pPr indent="0" marL="0">
              <a:buNone/>
            </a:pPr>
            <a:r>
              <a:rPr lang="en-US" sz="2800" b="1" dirty="0">
                <a:solidFill>
                  <a:srgbClr val="059669"/>
                </a:solidFill>
                <a:latin typeface="Calibri" pitchFamily="34" charset="0"/>
                <a:ea typeface="Calibri" pitchFamily="34" charset="-122"/>
                <a:cs typeface="Calibri" pitchFamily="34" charset="-120"/>
              </a:rPr>
              <a:t>≈ $35.6K</a:t>
            </a:r>
            <a:pPr indent="0" marL="0">
              <a:buNone/>
            </a:pPr>
            <a:r>
              <a:rPr lang="en-US" sz="1200" b="1" dirty="0">
                <a:solidFill>
                  <a:srgbClr val="6B7280"/>
                </a:solidFill>
                <a:latin typeface="Calibri" pitchFamily="34" charset="0"/>
                <a:ea typeface="Calibri" pitchFamily="34" charset="-122"/>
                <a:cs typeface="Calibri" pitchFamily="34" charset="-120"/>
              </a:rPr>
              <a:t>   </a:t>
            </a:r>
            <a:endParaRPr lang="en-US" sz="2800" dirty="0"/>
          </a:p>
        </p:txBody>
      </p:sp>
      <p:sp>
        <p:nvSpPr>
          <p:cNvPr id="24" name="Text 20"/>
          <p:cNvSpPr txBox="1"/>
          <p:nvPr/>
        </p:nvSpPr>
        <p:spPr>
          <a:xfrm>
            <a:off x="8065008" y="2505456"/>
            <a:ext cx="3383280" cy="603504"/>
          </a:xfrm>
          <a:prstGeom prst="rect">
            <a:avLst/>
          </a:prstGeom>
          <a:noFill/>
          <a:ln/>
        </p:spPr>
        <p:txBody>
          <a:bodyPr wrap="square" lIns="0" tIns="0" rIns="0" bIns="0" rtlCol="0" anchor="t"/>
          <a:lstStyle/>
          <a:p>
            <a:pPr indent="0" marL="0">
              <a:buNone/>
            </a:pPr>
            <a:r>
              <a:rPr lang="en-US" sz="1100" dirty="0">
                <a:solidFill>
                  <a:srgbClr val="1F2937"/>
                </a:solidFill>
                <a:latin typeface="Calibri" pitchFamily="34" charset="0"/>
                <a:ea typeface="Calibri" pitchFamily="34" charset="-122"/>
                <a:cs typeface="Calibri" pitchFamily="34" charset="-120"/>
              </a:rPr>
              <a:t>At F26's 12.03 units/hr, 60,933 units would have needed ≈5,065 hrs vs 3,999 actual → ≈1,066 hrs avoided at $33.43/hr (Sept MTD).</a:t>
            </a:r>
            <a:endParaRPr lang="en-US" sz="1100" dirty="0"/>
          </a:p>
        </p:txBody>
      </p:sp>
      <p:sp>
        <p:nvSpPr>
          <p:cNvPr id="25" name="Text 21"/>
          <p:cNvSpPr txBox="1"/>
          <p:nvPr/>
        </p:nvSpPr>
        <p:spPr>
          <a:xfrm>
            <a:off x="8065008" y="3108960"/>
            <a:ext cx="3383280" cy="201168"/>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Calculated from dashboard figures</a:t>
            </a:r>
            <a:endParaRPr lang="en-US" sz="900" dirty="0"/>
          </a:p>
        </p:txBody>
      </p:sp>
      <p:sp>
        <p:nvSpPr>
          <p:cNvPr id="26" name="Shape 22"/>
          <p:cNvSpPr/>
          <p:nvPr/>
        </p:nvSpPr>
        <p:spPr>
          <a:xfrm>
            <a:off x="7863840" y="3566160"/>
            <a:ext cx="3776472" cy="2011680"/>
          </a:xfrm>
          <a:prstGeom prst="roundRect">
            <a:avLst>
              <a:gd name="adj" fmla="val 3636"/>
            </a:avLst>
          </a:prstGeom>
          <a:solidFill>
            <a:srgbClr val="F5F3FF"/>
          </a:solidFill>
          <a:ln w="12700">
            <a:solidFill>
              <a:srgbClr val="F5F3FF"/>
            </a:solidFill>
            <a:prstDash val="solid"/>
          </a:ln>
        </p:spPr>
      </p:sp>
      <p:sp>
        <p:nvSpPr>
          <p:cNvPr id="27" name="Shape 23"/>
          <p:cNvSpPr/>
          <p:nvPr/>
        </p:nvSpPr>
        <p:spPr>
          <a:xfrm>
            <a:off x="8065008" y="3730752"/>
            <a:ext cx="384048" cy="384048"/>
          </a:xfrm>
          <a:prstGeom prst="ellipse">
            <a:avLst/>
          </a:prstGeom>
          <a:solidFill>
            <a:srgbClr val="7C3AED"/>
          </a:solidFill>
          <a:ln w="12700">
            <a:solidFill>
              <a:srgbClr val="7C3AED"/>
            </a:solidFill>
            <a:prstDash val="solid"/>
          </a:ln>
        </p:spPr>
      </p:sp>
      <p:pic>
        <p:nvPicPr>
          <p:cNvPr id="28" name="Image 1" descr="preencoded.png">    </p:cNvPr>
          <p:cNvPicPr>
            <a:picLocks noChangeAspect="1"/>
          </p:cNvPicPr>
          <p:nvPr/>
        </p:nvPicPr>
        <p:blipFill>
          <a:blip r:embed="rId2"/>
          <a:stretch>
            <a:fillRect/>
          </a:stretch>
        </p:blipFill>
        <p:spPr>
          <a:xfrm>
            <a:off x="8161020" y="3826764"/>
            <a:ext cx="192024" cy="192024"/>
          </a:xfrm>
          <a:prstGeom prst="rect">
            <a:avLst/>
          </a:prstGeom>
        </p:spPr>
      </p:pic>
      <p:sp>
        <p:nvSpPr>
          <p:cNvPr id="29" name="Text 24"/>
          <p:cNvSpPr txBox="1"/>
          <p:nvPr/>
        </p:nvSpPr>
        <p:spPr>
          <a:xfrm>
            <a:off x="8549640" y="3730752"/>
            <a:ext cx="2926080" cy="384048"/>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Pace vs reduction target</a:t>
            </a:r>
            <a:endParaRPr lang="en-US" sz="1300" dirty="0"/>
          </a:p>
        </p:txBody>
      </p:sp>
      <p:sp>
        <p:nvSpPr>
          <p:cNvPr id="30" name="Text 25"/>
          <p:cNvSpPr txBox="1"/>
          <p:nvPr/>
        </p:nvSpPr>
        <p:spPr>
          <a:xfrm>
            <a:off x="8065008" y="4169664"/>
            <a:ext cx="3383280" cy="502920"/>
          </a:xfrm>
          <a:prstGeom prst="rect">
            <a:avLst/>
          </a:prstGeom>
          <a:noFill/>
          <a:ln/>
        </p:spPr>
        <p:txBody>
          <a:bodyPr wrap="square" lIns="0" tIns="0" rIns="0" bIns="0" rtlCol="0" anchor="ctr"/>
          <a:lstStyle/>
          <a:p>
            <a:pPr indent="0" marL="0">
              <a:buNone/>
            </a:pPr>
            <a:r>
              <a:rPr lang="en-US" sz="2800" b="1" dirty="0">
                <a:solidFill>
                  <a:srgbClr val="7C3AED"/>
                </a:solidFill>
                <a:latin typeface="Calibri" pitchFamily="34" charset="0"/>
                <a:ea typeface="Calibri" pitchFamily="34" charset="-122"/>
                <a:cs typeface="Calibri" pitchFamily="34" charset="-120"/>
              </a:rPr>
              <a:t>139%</a:t>
            </a:r>
            <a:pPr indent="0" marL="0">
              <a:buNone/>
            </a:pPr>
            <a:r>
              <a:rPr lang="en-US" sz="1200" b="1" dirty="0">
                <a:solidFill>
                  <a:srgbClr val="6B7280"/>
                </a:solidFill>
                <a:latin typeface="Calibri" pitchFamily="34" charset="0"/>
                <a:ea typeface="Calibri" pitchFamily="34" charset="-122"/>
                <a:cs typeface="Calibri" pitchFamily="34" charset="-120"/>
              </a:rPr>
              <a:t>   of 1,181-hr target</a:t>
            </a:r>
            <a:endParaRPr lang="en-US" sz="2800" dirty="0"/>
          </a:p>
        </p:txBody>
      </p:sp>
      <p:sp>
        <p:nvSpPr>
          <p:cNvPr id="31" name="Text 26"/>
          <p:cNvSpPr txBox="1"/>
          <p:nvPr/>
        </p:nvSpPr>
        <p:spPr>
          <a:xfrm>
            <a:off x="8065008" y="4700016"/>
            <a:ext cx="3383280" cy="603504"/>
          </a:xfrm>
          <a:prstGeom prst="rect">
            <a:avLst/>
          </a:prstGeom>
          <a:noFill/>
          <a:ln/>
        </p:spPr>
        <p:txBody>
          <a:bodyPr wrap="square" lIns="0" tIns="0" rIns="0" bIns="0" rtlCol="0" anchor="t"/>
          <a:lstStyle/>
          <a:p>
            <a:pPr indent="0" marL="0">
              <a:buNone/>
            </a:pPr>
            <a:r>
              <a:rPr lang="en-US" sz="1100" dirty="0">
                <a:solidFill>
                  <a:srgbClr val="1F2937"/>
                </a:solidFill>
                <a:latin typeface="Calibri" pitchFamily="34" charset="0"/>
                <a:ea typeface="Calibri" pitchFamily="34" charset="-122"/>
                <a:cs typeface="Calibri" pitchFamily="34" charset="-120"/>
              </a:rPr>
              <a:t>Sept pace ≈4,666 hrs (3,999 ÷ 18/21 working days) vs F26's 6,303 → ≈1,637 hrs lower.</a:t>
            </a:r>
            <a:endParaRPr lang="en-US" sz="1100" dirty="0"/>
          </a:p>
        </p:txBody>
      </p:sp>
      <p:sp>
        <p:nvSpPr>
          <p:cNvPr id="32" name="Text 27"/>
          <p:cNvSpPr txBox="1"/>
          <p:nvPr/>
        </p:nvSpPr>
        <p:spPr>
          <a:xfrm>
            <a:off x="8065008" y="5303520"/>
            <a:ext cx="3383280" cy="201168"/>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Calculated from SCA hours report figures · at current pace</a:t>
            </a:r>
            <a:endParaRPr lang="en-US" sz="900" dirty="0"/>
          </a:p>
        </p:txBody>
      </p:sp>
      <p:sp>
        <p:nvSpPr>
          <p:cNvPr id="33" name="Text 28"/>
          <p:cNvSpPr txBox="1"/>
          <p:nvPr/>
        </p:nvSpPr>
        <p:spPr>
          <a:xfrm>
            <a:off x="548640" y="6035040"/>
            <a:ext cx="11091672" cy="256032"/>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Source: Mississauga terminal productivity dashboard, updated for Sat, Sep 26, 2026 · September MTD</a:t>
            </a:r>
            <a:endParaRPr lang="en-US" sz="1000" dirty="0"/>
          </a:p>
        </p:txBody>
      </p:sp>
      <p:sp>
        <p:nvSpPr>
          <p:cNvPr id="34" name="Text 29"/>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5" name="Text 30"/>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19 / 27</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PRODUCTIVITY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P&amp;D — Trip &amp; stop measures (F27 Q1, Jul–Sep)</a:t>
            </a:r>
            <a:endParaRPr lang="en-US" sz="3000" dirty="0"/>
          </a:p>
        </p:txBody>
      </p:sp>
      <p:sp>
        <p:nvSpPr>
          <p:cNvPr id="4" name="Text 2"/>
          <p:cNvSpPr txBox="1"/>
          <p:nvPr/>
        </p:nvSpPr>
        <p:spPr>
          <a:xfrm>
            <a:off x="548640" y="1298448"/>
            <a:ext cx="5486400" cy="292608"/>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Q1 totals</a:t>
            </a:r>
            <a:endParaRPr lang="en-US" sz="1500" dirty="0"/>
          </a:p>
        </p:txBody>
      </p:sp>
      <p:sp>
        <p:nvSpPr>
          <p:cNvPr id="5" name="Shape 3"/>
          <p:cNvSpPr/>
          <p:nvPr/>
        </p:nvSpPr>
        <p:spPr>
          <a:xfrm>
            <a:off x="548640" y="1645920"/>
            <a:ext cx="1734312" cy="804672"/>
          </a:xfrm>
          <a:prstGeom prst="roundRect">
            <a:avLst>
              <a:gd name="adj" fmla="val 9091"/>
            </a:avLst>
          </a:prstGeom>
          <a:solidFill>
            <a:srgbClr val="F3F4F6"/>
          </a:solidFill>
          <a:ln w="12700">
            <a:solidFill>
              <a:srgbClr val="F3F4F6"/>
            </a:solidFill>
            <a:prstDash val="solid"/>
          </a:ln>
        </p:spPr>
      </p:sp>
      <p:sp>
        <p:nvSpPr>
          <p:cNvPr id="6" name="Text 4"/>
          <p:cNvSpPr txBox="1"/>
          <p:nvPr/>
        </p:nvSpPr>
        <p:spPr>
          <a:xfrm>
            <a:off x="685800" y="17373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Trips</a:t>
            </a:r>
            <a:endParaRPr lang="en-US" sz="1050" dirty="0"/>
          </a:p>
        </p:txBody>
      </p:sp>
      <p:sp>
        <p:nvSpPr>
          <p:cNvPr id="7" name="Text 5"/>
          <p:cNvSpPr txBox="1"/>
          <p:nvPr/>
        </p:nvSpPr>
        <p:spPr>
          <a:xfrm>
            <a:off x="685800" y="19933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4,608</a:t>
            </a:r>
            <a:endParaRPr lang="en-US" sz="1800" dirty="0"/>
          </a:p>
        </p:txBody>
      </p:sp>
      <p:sp>
        <p:nvSpPr>
          <p:cNvPr id="8" name="Shape 6"/>
          <p:cNvSpPr/>
          <p:nvPr/>
        </p:nvSpPr>
        <p:spPr>
          <a:xfrm>
            <a:off x="2420112" y="1645920"/>
            <a:ext cx="1734312" cy="804672"/>
          </a:xfrm>
          <a:prstGeom prst="roundRect">
            <a:avLst>
              <a:gd name="adj" fmla="val 9091"/>
            </a:avLst>
          </a:prstGeom>
          <a:solidFill>
            <a:srgbClr val="F3F4F6"/>
          </a:solidFill>
          <a:ln w="12700">
            <a:solidFill>
              <a:srgbClr val="F3F4F6"/>
            </a:solidFill>
            <a:prstDash val="solid"/>
          </a:ln>
        </p:spPr>
      </p:sp>
      <p:sp>
        <p:nvSpPr>
          <p:cNvPr id="9" name="Text 7"/>
          <p:cNvSpPr txBox="1"/>
          <p:nvPr/>
        </p:nvSpPr>
        <p:spPr>
          <a:xfrm>
            <a:off x="2557272" y="17373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Stops</a:t>
            </a:r>
            <a:endParaRPr lang="en-US" sz="1050" dirty="0"/>
          </a:p>
        </p:txBody>
      </p:sp>
      <p:sp>
        <p:nvSpPr>
          <p:cNvPr id="10" name="Text 8"/>
          <p:cNvSpPr txBox="1"/>
          <p:nvPr/>
        </p:nvSpPr>
        <p:spPr>
          <a:xfrm>
            <a:off x="2557272" y="19933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45,712</a:t>
            </a:r>
            <a:endParaRPr lang="en-US" sz="1800" dirty="0"/>
          </a:p>
        </p:txBody>
      </p:sp>
      <p:sp>
        <p:nvSpPr>
          <p:cNvPr id="11" name="Shape 9"/>
          <p:cNvSpPr/>
          <p:nvPr/>
        </p:nvSpPr>
        <p:spPr>
          <a:xfrm>
            <a:off x="4291584" y="1645920"/>
            <a:ext cx="1734312" cy="804672"/>
          </a:xfrm>
          <a:prstGeom prst="roundRect">
            <a:avLst>
              <a:gd name="adj" fmla="val 9091"/>
            </a:avLst>
          </a:prstGeom>
          <a:solidFill>
            <a:srgbClr val="F3F4F6"/>
          </a:solidFill>
          <a:ln w="12700">
            <a:solidFill>
              <a:srgbClr val="F3F4F6"/>
            </a:solidFill>
            <a:prstDash val="solid"/>
          </a:ln>
        </p:spPr>
      </p:sp>
      <p:sp>
        <p:nvSpPr>
          <p:cNvPr id="12" name="Text 10"/>
          <p:cNvSpPr txBox="1"/>
          <p:nvPr/>
        </p:nvSpPr>
        <p:spPr>
          <a:xfrm>
            <a:off x="4428744" y="17373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Weight (lbs)</a:t>
            </a:r>
            <a:endParaRPr lang="en-US" sz="1050" dirty="0"/>
          </a:p>
        </p:txBody>
      </p:sp>
      <p:sp>
        <p:nvSpPr>
          <p:cNvPr id="13" name="Text 11"/>
          <p:cNvSpPr txBox="1"/>
          <p:nvPr/>
        </p:nvSpPr>
        <p:spPr>
          <a:xfrm>
            <a:off x="4428744" y="19933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32,330,382</a:t>
            </a:r>
            <a:endParaRPr lang="en-US" sz="1800" dirty="0"/>
          </a:p>
        </p:txBody>
      </p:sp>
      <p:sp>
        <p:nvSpPr>
          <p:cNvPr id="14" name="Shape 12"/>
          <p:cNvSpPr/>
          <p:nvPr/>
        </p:nvSpPr>
        <p:spPr>
          <a:xfrm>
            <a:off x="6163056" y="1645920"/>
            <a:ext cx="1734312" cy="804672"/>
          </a:xfrm>
          <a:prstGeom prst="roundRect">
            <a:avLst>
              <a:gd name="adj" fmla="val 9091"/>
            </a:avLst>
          </a:prstGeom>
          <a:solidFill>
            <a:srgbClr val="F3F4F6"/>
          </a:solidFill>
          <a:ln w="12700">
            <a:solidFill>
              <a:srgbClr val="F3F4F6"/>
            </a:solidFill>
            <a:prstDash val="solid"/>
          </a:ln>
        </p:spPr>
      </p:sp>
      <p:sp>
        <p:nvSpPr>
          <p:cNvPr id="15" name="Text 13"/>
          <p:cNvSpPr txBox="1"/>
          <p:nvPr/>
        </p:nvSpPr>
        <p:spPr>
          <a:xfrm>
            <a:off x="6300216" y="17373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Miles</a:t>
            </a:r>
            <a:endParaRPr lang="en-US" sz="1050" dirty="0"/>
          </a:p>
        </p:txBody>
      </p:sp>
      <p:sp>
        <p:nvSpPr>
          <p:cNvPr id="16" name="Text 14"/>
          <p:cNvSpPr txBox="1"/>
          <p:nvPr/>
        </p:nvSpPr>
        <p:spPr>
          <a:xfrm>
            <a:off x="6300216" y="19933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769,055</a:t>
            </a:r>
            <a:endParaRPr lang="en-US" sz="1800" dirty="0"/>
          </a:p>
        </p:txBody>
      </p:sp>
      <p:sp>
        <p:nvSpPr>
          <p:cNvPr id="17" name="Shape 15"/>
          <p:cNvSpPr/>
          <p:nvPr/>
        </p:nvSpPr>
        <p:spPr>
          <a:xfrm>
            <a:off x="8034528" y="1645920"/>
            <a:ext cx="1734312" cy="804672"/>
          </a:xfrm>
          <a:prstGeom prst="roundRect">
            <a:avLst>
              <a:gd name="adj" fmla="val 9091"/>
            </a:avLst>
          </a:prstGeom>
          <a:solidFill>
            <a:srgbClr val="F3F4F6"/>
          </a:solidFill>
          <a:ln w="12700">
            <a:solidFill>
              <a:srgbClr val="F3F4F6"/>
            </a:solidFill>
            <a:prstDash val="solid"/>
          </a:ln>
        </p:spPr>
      </p:sp>
      <p:sp>
        <p:nvSpPr>
          <p:cNvPr id="18" name="Text 16"/>
          <p:cNvSpPr txBox="1"/>
          <p:nvPr/>
        </p:nvSpPr>
        <p:spPr>
          <a:xfrm>
            <a:off x="8171688" y="17373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Hours</a:t>
            </a:r>
            <a:endParaRPr lang="en-US" sz="1050" dirty="0"/>
          </a:p>
        </p:txBody>
      </p:sp>
      <p:sp>
        <p:nvSpPr>
          <p:cNvPr id="19" name="Text 17"/>
          <p:cNvSpPr txBox="1"/>
          <p:nvPr/>
        </p:nvSpPr>
        <p:spPr>
          <a:xfrm>
            <a:off x="8171688" y="19933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21,889</a:t>
            </a:r>
            <a:endParaRPr lang="en-US" sz="1800" dirty="0"/>
          </a:p>
        </p:txBody>
      </p:sp>
      <p:sp>
        <p:nvSpPr>
          <p:cNvPr id="20" name="Shape 18"/>
          <p:cNvSpPr/>
          <p:nvPr/>
        </p:nvSpPr>
        <p:spPr>
          <a:xfrm>
            <a:off x="9906000" y="1645920"/>
            <a:ext cx="1734312" cy="804672"/>
          </a:xfrm>
          <a:prstGeom prst="roundRect">
            <a:avLst>
              <a:gd name="adj" fmla="val 9091"/>
            </a:avLst>
          </a:prstGeom>
          <a:solidFill>
            <a:srgbClr val="F3F4F6"/>
          </a:solidFill>
          <a:ln w="12700">
            <a:solidFill>
              <a:srgbClr val="F3F4F6"/>
            </a:solidFill>
            <a:prstDash val="solid"/>
          </a:ln>
        </p:spPr>
      </p:sp>
      <p:sp>
        <p:nvSpPr>
          <p:cNvPr id="21" name="Text 19"/>
          <p:cNvSpPr txBox="1"/>
          <p:nvPr/>
        </p:nvSpPr>
        <p:spPr>
          <a:xfrm>
            <a:off x="10043160" y="17373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Bills</a:t>
            </a:r>
            <a:endParaRPr lang="en-US" sz="1050" dirty="0"/>
          </a:p>
        </p:txBody>
      </p:sp>
      <p:sp>
        <p:nvSpPr>
          <p:cNvPr id="22" name="Text 20"/>
          <p:cNvSpPr txBox="1"/>
          <p:nvPr/>
        </p:nvSpPr>
        <p:spPr>
          <a:xfrm>
            <a:off x="10043160" y="19933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63,738</a:t>
            </a:r>
            <a:endParaRPr lang="en-US" sz="1800" dirty="0"/>
          </a:p>
        </p:txBody>
      </p:sp>
      <p:sp>
        <p:nvSpPr>
          <p:cNvPr id="23" name="Shape 21"/>
          <p:cNvSpPr/>
          <p:nvPr/>
        </p:nvSpPr>
        <p:spPr>
          <a:xfrm>
            <a:off x="548640" y="2560320"/>
            <a:ext cx="1734312" cy="804672"/>
          </a:xfrm>
          <a:prstGeom prst="roundRect">
            <a:avLst>
              <a:gd name="adj" fmla="val 9091"/>
            </a:avLst>
          </a:prstGeom>
          <a:solidFill>
            <a:srgbClr val="F3F4F6"/>
          </a:solidFill>
          <a:ln w="12700">
            <a:solidFill>
              <a:srgbClr val="F3F4F6"/>
            </a:solidFill>
            <a:prstDash val="solid"/>
          </a:ln>
        </p:spPr>
      </p:sp>
      <p:sp>
        <p:nvSpPr>
          <p:cNvPr id="24" name="Text 22"/>
          <p:cNvSpPr txBox="1"/>
          <p:nvPr/>
        </p:nvSpPr>
        <p:spPr>
          <a:xfrm>
            <a:off x="685800" y="26517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Delivery bills</a:t>
            </a:r>
            <a:endParaRPr lang="en-US" sz="1050" dirty="0"/>
          </a:p>
        </p:txBody>
      </p:sp>
      <p:sp>
        <p:nvSpPr>
          <p:cNvPr id="25" name="Text 23"/>
          <p:cNvSpPr txBox="1"/>
          <p:nvPr/>
        </p:nvSpPr>
        <p:spPr>
          <a:xfrm>
            <a:off x="685800" y="29077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41,725</a:t>
            </a:r>
            <a:endParaRPr lang="en-US" sz="1800" dirty="0"/>
          </a:p>
        </p:txBody>
      </p:sp>
      <p:sp>
        <p:nvSpPr>
          <p:cNvPr id="26" name="Shape 24"/>
          <p:cNvSpPr/>
          <p:nvPr/>
        </p:nvSpPr>
        <p:spPr>
          <a:xfrm>
            <a:off x="2420112" y="2560320"/>
            <a:ext cx="1734312" cy="804672"/>
          </a:xfrm>
          <a:prstGeom prst="roundRect">
            <a:avLst>
              <a:gd name="adj" fmla="val 9091"/>
            </a:avLst>
          </a:prstGeom>
          <a:solidFill>
            <a:srgbClr val="F3F4F6"/>
          </a:solidFill>
          <a:ln w="12700">
            <a:solidFill>
              <a:srgbClr val="F3F4F6"/>
            </a:solidFill>
            <a:prstDash val="solid"/>
          </a:ln>
        </p:spPr>
      </p:sp>
      <p:sp>
        <p:nvSpPr>
          <p:cNvPr id="27" name="Text 25"/>
          <p:cNvSpPr txBox="1"/>
          <p:nvPr/>
        </p:nvSpPr>
        <p:spPr>
          <a:xfrm>
            <a:off x="2557272" y="26517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Pickup bills</a:t>
            </a:r>
            <a:endParaRPr lang="en-US" sz="1050" dirty="0"/>
          </a:p>
        </p:txBody>
      </p:sp>
      <p:sp>
        <p:nvSpPr>
          <p:cNvPr id="28" name="Text 26"/>
          <p:cNvSpPr txBox="1"/>
          <p:nvPr/>
        </p:nvSpPr>
        <p:spPr>
          <a:xfrm>
            <a:off x="2557272" y="29077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24,401</a:t>
            </a:r>
            <a:endParaRPr lang="en-US" sz="1800" dirty="0"/>
          </a:p>
        </p:txBody>
      </p:sp>
      <p:sp>
        <p:nvSpPr>
          <p:cNvPr id="29" name="Shape 27"/>
          <p:cNvSpPr/>
          <p:nvPr/>
        </p:nvSpPr>
        <p:spPr>
          <a:xfrm>
            <a:off x="4291584" y="2560320"/>
            <a:ext cx="1734312" cy="804672"/>
          </a:xfrm>
          <a:prstGeom prst="roundRect">
            <a:avLst>
              <a:gd name="adj" fmla="val 9091"/>
            </a:avLst>
          </a:prstGeom>
          <a:solidFill>
            <a:srgbClr val="F3F4F6"/>
          </a:solidFill>
          <a:ln w="12700">
            <a:solidFill>
              <a:srgbClr val="F3F4F6"/>
            </a:solidFill>
            <a:prstDash val="solid"/>
          </a:ln>
        </p:spPr>
      </p:sp>
      <p:sp>
        <p:nvSpPr>
          <p:cNvPr id="30" name="Text 28"/>
          <p:cNvSpPr txBox="1"/>
          <p:nvPr/>
        </p:nvSpPr>
        <p:spPr>
          <a:xfrm>
            <a:off x="4428744" y="26517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Delivery attempts</a:t>
            </a:r>
            <a:endParaRPr lang="en-US" sz="1050" dirty="0"/>
          </a:p>
        </p:txBody>
      </p:sp>
      <p:sp>
        <p:nvSpPr>
          <p:cNvPr id="31" name="Text 29"/>
          <p:cNvSpPr txBox="1"/>
          <p:nvPr/>
        </p:nvSpPr>
        <p:spPr>
          <a:xfrm>
            <a:off x="4428744" y="29077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643</a:t>
            </a:r>
            <a:endParaRPr lang="en-US" sz="1800" dirty="0"/>
          </a:p>
        </p:txBody>
      </p:sp>
      <p:sp>
        <p:nvSpPr>
          <p:cNvPr id="32" name="Shape 30"/>
          <p:cNvSpPr/>
          <p:nvPr/>
        </p:nvSpPr>
        <p:spPr>
          <a:xfrm>
            <a:off x="6163056" y="2560320"/>
            <a:ext cx="1734312" cy="804672"/>
          </a:xfrm>
          <a:prstGeom prst="roundRect">
            <a:avLst>
              <a:gd name="adj" fmla="val 9091"/>
            </a:avLst>
          </a:prstGeom>
          <a:solidFill>
            <a:srgbClr val="F3F4F6"/>
          </a:solidFill>
          <a:ln w="12700">
            <a:solidFill>
              <a:srgbClr val="F3F4F6"/>
            </a:solidFill>
            <a:prstDash val="solid"/>
          </a:ln>
        </p:spPr>
      </p:sp>
      <p:sp>
        <p:nvSpPr>
          <p:cNvPr id="33" name="Text 31"/>
          <p:cNvSpPr txBox="1"/>
          <p:nvPr/>
        </p:nvSpPr>
        <p:spPr>
          <a:xfrm>
            <a:off x="6300216" y="26517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Pickup attempts</a:t>
            </a:r>
            <a:endParaRPr lang="en-US" sz="1050" dirty="0"/>
          </a:p>
        </p:txBody>
      </p:sp>
      <p:sp>
        <p:nvSpPr>
          <p:cNvPr id="34" name="Text 32"/>
          <p:cNvSpPr txBox="1"/>
          <p:nvPr/>
        </p:nvSpPr>
        <p:spPr>
          <a:xfrm>
            <a:off x="6300216" y="29077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1,848</a:t>
            </a:r>
            <a:endParaRPr lang="en-US" sz="1800" dirty="0"/>
          </a:p>
        </p:txBody>
      </p:sp>
      <p:sp>
        <p:nvSpPr>
          <p:cNvPr id="35" name="Text 33"/>
          <p:cNvSpPr txBox="1"/>
          <p:nvPr/>
        </p:nvSpPr>
        <p:spPr>
          <a:xfrm>
            <a:off x="8034528" y="2560320"/>
            <a:ext cx="3605784" cy="804672"/>
          </a:xfrm>
          <a:prstGeom prst="rect">
            <a:avLst/>
          </a:prstGeom>
          <a:noFill/>
          <a:ln/>
        </p:spPr>
        <p:txBody>
          <a:bodyPr wrap="square" lIns="0" tIns="0" rIns="0" bIns="0" rtlCol="0" anchor="ctr"/>
          <a:lstStyle/>
          <a:p>
            <a:pPr indent="0" marL="0">
              <a:buNone/>
            </a:pPr>
            <a:r>
              <a:rPr lang="en-US" sz="1050" i="1" dirty="0">
                <a:solidFill>
                  <a:srgbClr val="6B7280"/>
                </a:solidFill>
                <a:latin typeface="Calibri" pitchFamily="34" charset="0"/>
                <a:ea typeface="Calibri" pitchFamily="34" charset="-122"/>
                <a:cs typeface="Calibri" pitchFamily="34" charset="-120"/>
              </a:rPr>
              <a:t>Bills 63,738 · Delivery bills 41,725 · Pickup bills 24,401 (counted separately — delivery and pickup bills do not sum to total bills).</a:t>
            </a:r>
            <a:endParaRPr lang="en-US" sz="1050" dirty="0"/>
          </a:p>
        </p:txBody>
      </p:sp>
      <p:sp>
        <p:nvSpPr>
          <p:cNvPr id="36" name="Text 34"/>
          <p:cNvSpPr txBox="1"/>
          <p:nvPr/>
        </p:nvSpPr>
        <p:spPr>
          <a:xfrm>
            <a:off x="548640" y="3520440"/>
            <a:ext cx="5486400" cy="292608"/>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Ratios</a:t>
            </a:r>
            <a:endParaRPr lang="en-US" sz="1500" dirty="0"/>
          </a:p>
        </p:txBody>
      </p:sp>
      <p:sp>
        <p:nvSpPr>
          <p:cNvPr id="37" name="Shape 35"/>
          <p:cNvSpPr/>
          <p:nvPr/>
        </p:nvSpPr>
        <p:spPr>
          <a:xfrm>
            <a:off x="548640" y="3867912"/>
            <a:ext cx="1734312" cy="804672"/>
          </a:xfrm>
          <a:prstGeom prst="roundRect">
            <a:avLst>
              <a:gd name="adj" fmla="val 9091"/>
            </a:avLst>
          </a:prstGeom>
          <a:solidFill>
            <a:srgbClr val="F5F3FF"/>
          </a:solidFill>
          <a:ln w="12700">
            <a:solidFill>
              <a:srgbClr val="F5F3FF"/>
            </a:solidFill>
            <a:prstDash val="solid"/>
          </a:ln>
        </p:spPr>
      </p:sp>
      <p:sp>
        <p:nvSpPr>
          <p:cNvPr id="38" name="Text 36"/>
          <p:cNvSpPr txBox="1"/>
          <p:nvPr/>
        </p:nvSpPr>
        <p:spPr>
          <a:xfrm>
            <a:off x="685800" y="39593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Stops / trip</a:t>
            </a:r>
            <a:endParaRPr lang="en-US" sz="1050" dirty="0"/>
          </a:p>
        </p:txBody>
      </p:sp>
      <p:sp>
        <p:nvSpPr>
          <p:cNvPr id="39" name="Text 37"/>
          <p:cNvSpPr txBox="1"/>
          <p:nvPr/>
        </p:nvSpPr>
        <p:spPr>
          <a:xfrm>
            <a:off x="685800" y="42153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9.92</a:t>
            </a:r>
            <a:endParaRPr lang="en-US" sz="1800" dirty="0"/>
          </a:p>
        </p:txBody>
      </p:sp>
      <p:sp>
        <p:nvSpPr>
          <p:cNvPr id="40" name="Shape 38"/>
          <p:cNvSpPr/>
          <p:nvPr/>
        </p:nvSpPr>
        <p:spPr>
          <a:xfrm>
            <a:off x="2420112" y="3867912"/>
            <a:ext cx="1734312" cy="804672"/>
          </a:xfrm>
          <a:prstGeom prst="roundRect">
            <a:avLst>
              <a:gd name="adj" fmla="val 9091"/>
            </a:avLst>
          </a:prstGeom>
          <a:solidFill>
            <a:srgbClr val="F5F3FF"/>
          </a:solidFill>
          <a:ln w="12700">
            <a:solidFill>
              <a:srgbClr val="F5F3FF"/>
            </a:solidFill>
            <a:prstDash val="solid"/>
          </a:ln>
        </p:spPr>
      </p:sp>
      <p:sp>
        <p:nvSpPr>
          <p:cNvPr id="41" name="Text 39"/>
          <p:cNvSpPr txBox="1"/>
          <p:nvPr/>
        </p:nvSpPr>
        <p:spPr>
          <a:xfrm>
            <a:off x="2557272" y="39593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Weight / trip</a:t>
            </a:r>
            <a:endParaRPr lang="en-US" sz="1050" dirty="0"/>
          </a:p>
        </p:txBody>
      </p:sp>
      <p:sp>
        <p:nvSpPr>
          <p:cNvPr id="42" name="Text 40"/>
          <p:cNvSpPr txBox="1"/>
          <p:nvPr/>
        </p:nvSpPr>
        <p:spPr>
          <a:xfrm>
            <a:off x="2557272" y="42153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7,017 lbs</a:t>
            </a:r>
            <a:endParaRPr lang="en-US" sz="1800" dirty="0"/>
          </a:p>
        </p:txBody>
      </p:sp>
      <p:sp>
        <p:nvSpPr>
          <p:cNvPr id="43" name="Shape 41"/>
          <p:cNvSpPr/>
          <p:nvPr/>
        </p:nvSpPr>
        <p:spPr>
          <a:xfrm>
            <a:off x="4291584" y="3867912"/>
            <a:ext cx="1734312" cy="804672"/>
          </a:xfrm>
          <a:prstGeom prst="roundRect">
            <a:avLst>
              <a:gd name="adj" fmla="val 9091"/>
            </a:avLst>
          </a:prstGeom>
          <a:solidFill>
            <a:srgbClr val="F5F3FF"/>
          </a:solidFill>
          <a:ln w="12700">
            <a:solidFill>
              <a:srgbClr val="F5F3FF"/>
            </a:solidFill>
            <a:prstDash val="solid"/>
          </a:ln>
        </p:spPr>
      </p:sp>
      <p:sp>
        <p:nvSpPr>
          <p:cNvPr id="44" name="Text 42"/>
          <p:cNvSpPr txBox="1"/>
          <p:nvPr/>
        </p:nvSpPr>
        <p:spPr>
          <a:xfrm>
            <a:off x="4428744" y="39593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Bills / trip</a:t>
            </a:r>
            <a:endParaRPr lang="en-US" sz="1050" dirty="0"/>
          </a:p>
        </p:txBody>
      </p:sp>
      <p:sp>
        <p:nvSpPr>
          <p:cNvPr id="45" name="Text 43"/>
          <p:cNvSpPr txBox="1"/>
          <p:nvPr/>
        </p:nvSpPr>
        <p:spPr>
          <a:xfrm>
            <a:off x="4428744" y="42153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13.83</a:t>
            </a:r>
            <a:endParaRPr lang="en-US" sz="1800" dirty="0"/>
          </a:p>
        </p:txBody>
      </p:sp>
      <p:sp>
        <p:nvSpPr>
          <p:cNvPr id="46" name="Shape 44"/>
          <p:cNvSpPr/>
          <p:nvPr/>
        </p:nvSpPr>
        <p:spPr>
          <a:xfrm>
            <a:off x="6163056" y="3867912"/>
            <a:ext cx="1734312" cy="804672"/>
          </a:xfrm>
          <a:prstGeom prst="roundRect">
            <a:avLst>
              <a:gd name="adj" fmla="val 9091"/>
            </a:avLst>
          </a:prstGeom>
          <a:solidFill>
            <a:srgbClr val="F5F3FF"/>
          </a:solidFill>
          <a:ln w="12700">
            <a:solidFill>
              <a:srgbClr val="F5F3FF"/>
            </a:solidFill>
            <a:prstDash val="solid"/>
          </a:ln>
        </p:spPr>
      </p:sp>
      <p:sp>
        <p:nvSpPr>
          <p:cNvPr id="47" name="Text 45"/>
          <p:cNvSpPr txBox="1"/>
          <p:nvPr/>
        </p:nvSpPr>
        <p:spPr>
          <a:xfrm>
            <a:off x="6300216" y="39593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Miles / stop</a:t>
            </a:r>
            <a:endParaRPr lang="en-US" sz="1050" dirty="0"/>
          </a:p>
        </p:txBody>
      </p:sp>
      <p:sp>
        <p:nvSpPr>
          <p:cNvPr id="48" name="Text 46"/>
          <p:cNvSpPr txBox="1"/>
          <p:nvPr/>
        </p:nvSpPr>
        <p:spPr>
          <a:xfrm>
            <a:off x="6300216" y="42153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16.82</a:t>
            </a:r>
            <a:endParaRPr lang="en-US" sz="1800" dirty="0"/>
          </a:p>
        </p:txBody>
      </p:sp>
      <p:sp>
        <p:nvSpPr>
          <p:cNvPr id="49" name="Shape 47"/>
          <p:cNvSpPr/>
          <p:nvPr/>
        </p:nvSpPr>
        <p:spPr>
          <a:xfrm>
            <a:off x="8034528" y="3867912"/>
            <a:ext cx="1734312" cy="804672"/>
          </a:xfrm>
          <a:prstGeom prst="roundRect">
            <a:avLst>
              <a:gd name="adj" fmla="val 9091"/>
            </a:avLst>
          </a:prstGeom>
          <a:solidFill>
            <a:srgbClr val="F5F3FF"/>
          </a:solidFill>
          <a:ln w="12700">
            <a:solidFill>
              <a:srgbClr val="F5F3FF"/>
            </a:solidFill>
            <a:prstDash val="solid"/>
          </a:ln>
        </p:spPr>
      </p:sp>
      <p:sp>
        <p:nvSpPr>
          <p:cNvPr id="50" name="Text 48"/>
          <p:cNvSpPr txBox="1"/>
          <p:nvPr/>
        </p:nvSpPr>
        <p:spPr>
          <a:xfrm>
            <a:off x="8171688" y="39593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Weight / stop</a:t>
            </a:r>
            <a:endParaRPr lang="en-US" sz="1050" dirty="0"/>
          </a:p>
        </p:txBody>
      </p:sp>
      <p:sp>
        <p:nvSpPr>
          <p:cNvPr id="51" name="Text 49"/>
          <p:cNvSpPr txBox="1"/>
          <p:nvPr/>
        </p:nvSpPr>
        <p:spPr>
          <a:xfrm>
            <a:off x="8171688" y="42153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707 lbs</a:t>
            </a:r>
            <a:endParaRPr lang="en-US" sz="1800" dirty="0"/>
          </a:p>
        </p:txBody>
      </p:sp>
      <p:sp>
        <p:nvSpPr>
          <p:cNvPr id="52" name="Shape 50"/>
          <p:cNvSpPr/>
          <p:nvPr/>
        </p:nvSpPr>
        <p:spPr>
          <a:xfrm>
            <a:off x="9906000" y="3867912"/>
            <a:ext cx="1734312" cy="804672"/>
          </a:xfrm>
          <a:prstGeom prst="roundRect">
            <a:avLst>
              <a:gd name="adj" fmla="val 9091"/>
            </a:avLst>
          </a:prstGeom>
          <a:solidFill>
            <a:srgbClr val="F5F3FF"/>
          </a:solidFill>
          <a:ln w="12700">
            <a:solidFill>
              <a:srgbClr val="F5F3FF"/>
            </a:solidFill>
            <a:prstDash val="solid"/>
          </a:ln>
        </p:spPr>
      </p:sp>
      <p:sp>
        <p:nvSpPr>
          <p:cNvPr id="53" name="Text 51"/>
          <p:cNvSpPr txBox="1"/>
          <p:nvPr/>
        </p:nvSpPr>
        <p:spPr>
          <a:xfrm>
            <a:off x="10043160" y="39593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Weight / bill</a:t>
            </a:r>
            <a:endParaRPr lang="en-US" sz="1050" dirty="0"/>
          </a:p>
        </p:txBody>
      </p:sp>
      <p:sp>
        <p:nvSpPr>
          <p:cNvPr id="54" name="Text 52"/>
          <p:cNvSpPr txBox="1"/>
          <p:nvPr/>
        </p:nvSpPr>
        <p:spPr>
          <a:xfrm>
            <a:off x="10043160" y="42153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507 lbs</a:t>
            </a:r>
            <a:endParaRPr lang="en-US" sz="1800" dirty="0"/>
          </a:p>
        </p:txBody>
      </p:sp>
      <p:sp>
        <p:nvSpPr>
          <p:cNvPr id="55" name="Shape 53"/>
          <p:cNvSpPr/>
          <p:nvPr/>
        </p:nvSpPr>
        <p:spPr>
          <a:xfrm>
            <a:off x="548640" y="4782312"/>
            <a:ext cx="1734312" cy="804672"/>
          </a:xfrm>
          <a:prstGeom prst="roundRect">
            <a:avLst>
              <a:gd name="adj" fmla="val 9091"/>
            </a:avLst>
          </a:prstGeom>
          <a:solidFill>
            <a:srgbClr val="F5F3FF"/>
          </a:solidFill>
          <a:ln w="12700">
            <a:solidFill>
              <a:srgbClr val="F5F3FF"/>
            </a:solidFill>
            <a:prstDash val="solid"/>
          </a:ln>
        </p:spPr>
      </p:sp>
      <p:sp>
        <p:nvSpPr>
          <p:cNvPr id="56" name="Text 54"/>
          <p:cNvSpPr txBox="1"/>
          <p:nvPr/>
        </p:nvSpPr>
        <p:spPr>
          <a:xfrm>
            <a:off x="685800" y="48737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Miles / hour</a:t>
            </a:r>
            <a:endParaRPr lang="en-US" sz="1050" dirty="0"/>
          </a:p>
        </p:txBody>
      </p:sp>
      <p:sp>
        <p:nvSpPr>
          <p:cNvPr id="57" name="Text 55"/>
          <p:cNvSpPr txBox="1"/>
          <p:nvPr/>
        </p:nvSpPr>
        <p:spPr>
          <a:xfrm>
            <a:off x="685800" y="51297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35.13</a:t>
            </a:r>
            <a:endParaRPr lang="en-US" sz="1800" dirty="0"/>
          </a:p>
        </p:txBody>
      </p:sp>
      <p:sp>
        <p:nvSpPr>
          <p:cNvPr id="58" name="Shape 56"/>
          <p:cNvSpPr/>
          <p:nvPr/>
        </p:nvSpPr>
        <p:spPr>
          <a:xfrm>
            <a:off x="2420112" y="4782312"/>
            <a:ext cx="1734312" cy="804672"/>
          </a:xfrm>
          <a:prstGeom prst="roundRect">
            <a:avLst>
              <a:gd name="adj" fmla="val 9091"/>
            </a:avLst>
          </a:prstGeom>
          <a:solidFill>
            <a:srgbClr val="F5F3FF"/>
          </a:solidFill>
          <a:ln w="12700">
            <a:solidFill>
              <a:srgbClr val="F5F3FF"/>
            </a:solidFill>
            <a:prstDash val="solid"/>
          </a:ln>
        </p:spPr>
      </p:sp>
      <p:sp>
        <p:nvSpPr>
          <p:cNvPr id="59" name="Text 57"/>
          <p:cNvSpPr txBox="1"/>
          <p:nvPr/>
        </p:nvSpPr>
        <p:spPr>
          <a:xfrm>
            <a:off x="2557272" y="48737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Stops / hour</a:t>
            </a:r>
            <a:endParaRPr lang="en-US" sz="1050" dirty="0"/>
          </a:p>
        </p:txBody>
      </p:sp>
      <p:sp>
        <p:nvSpPr>
          <p:cNvPr id="60" name="Text 58"/>
          <p:cNvSpPr txBox="1"/>
          <p:nvPr/>
        </p:nvSpPr>
        <p:spPr>
          <a:xfrm>
            <a:off x="2557272" y="51297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2.09</a:t>
            </a:r>
            <a:endParaRPr lang="en-US" sz="1800" dirty="0"/>
          </a:p>
        </p:txBody>
      </p:sp>
      <p:sp>
        <p:nvSpPr>
          <p:cNvPr id="61" name="Shape 59"/>
          <p:cNvSpPr/>
          <p:nvPr/>
        </p:nvSpPr>
        <p:spPr>
          <a:xfrm>
            <a:off x="4291584" y="4782312"/>
            <a:ext cx="1734312" cy="804672"/>
          </a:xfrm>
          <a:prstGeom prst="roundRect">
            <a:avLst>
              <a:gd name="adj" fmla="val 9091"/>
            </a:avLst>
          </a:prstGeom>
          <a:solidFill>
            <a:srgbClr val="F5F3FF"/>
          </a:solidFill>
          <a:ln w="12700">
            <a:solidFill>
              <a:srgbClr val="F5F3FF"/>
            </a:solidFill>
            <a:prstDash val="solid"/>
          </a:ln>
        </p:spPr>
      </p:sp>
      <p:sp>
        <p:nvSpPr>
          <p:cNvPr id="62" name="Text 60"/>
          <p:cNvSpPr txBox="1"/>
          <p:nvPr/>
        </p:nvSpPr>
        <p:spPr>
          <a:xfrm>
            <a:off x="4428744" y="48737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Hours / trip</a:t>
            </a:r>
            <a:endParaRPr lang="en-US" sz="1050" dirty="0"/>
          </a:p>
        </p:txBody>
      </p:sp>
      <p:sp>
        <p:nvSpPr>
          <p:cNvPr id="63" name="Text 61"/>
          <p:cNvSpPr txBox="1"/>
          <p:nvPr/>
        </p:nvSpPr>
        <p:spPr>
          <a:xfrm>
            <a:off x="4428744" y="51297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4.75</a:t>
            </a:r>
            <a:endParaRPr lang="en-US" sz="1800" dirty="0"/>
          </a:p>
        </p:txBody>
      </p:sp>
      <p:sp>
        <p:nvSpPr>
          <p:cNvPr id="64" name="Text 62"/>
          <p:cNvSpPr txBox="1"/>
          <p:nvPr/>
        </p:nvSpPr>
        <p:spPr>
          <a:xfrm>
            <a:off x="548640" y="6108192"/>
            <a:ext cx="11091672" cy="256032"/>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Source: P&amp;D daily totals dashboard — Mississauga, F27 Q1 (Jul–Sep 2026).</a:t>
            </a:r>
            <a:endParaRPr lang="en-US" sz="950" dirty="0"/>
          </a:p>
        </p:txBody>
      </p:sp>
      <p:sp>
        <p:nvSpPr>
          <p:cNvPr id="65" name="Text 63"/>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66" name="Text 64"/>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20 / 27</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LOAD QUALITY &amp; EQUIPMENT</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Load quality &amp; securement — planned</a:t>
            </a:r>
            <a:endParaRPr lang="en-US" sz="3000" dirty="0"/>
          </a:p>
        </p:txBody>
      </p:sp>
      <p:sp>
        <p:nvSpPr>
          <p:cNvPr id="4" name="Shape 2"/>
          <p:cNvSpPr/>
          <p:nvPr/>
        </p:nvSpPr>
        <p:spPr>
          <a:xfrm>
            <a:off x="548640" y="1371600"/>
            <a:ext cx="1347826" cy="274320"/>
          </a:xfrm>
          <a:prstGeom prst="roundRect">
            <a:avLst>
              <a:gd name="adj" fmla="val 26667"/>
            </a:avLst>
          </a:prstGeom>
          <a:solidFill>
            <a:srgbClr val="D1FAE5"/>
          </a:solidFill>
          <a:ln w="12700">
            <a:solidFill>
              <a:srgbClr val="D1FAE5"/>
            </a:solidFill>
            <a:prstDash val="solid"/>
          </a:ln>
        </p:spPr>
      </p:sp>
      <p:sp>
        <p:nvSpPr>
          <p:cNvPr id="5" name="Text 3"/>
          <p:cNvSpPr txBox="1"/>
          <p:nvPr/>
        </p:nvSpPr>
        <p:spPr>
          <a:xfrm>
            <a:off x="548640" y="1371600"/>
            <a:ext cx="1347826" cy="274320"/>
          </a:xfrm>
          <a:prstGeom prst="rect">
            <a:avLst/>
          </a:prstGeom>
          <a:noFill/>
          <a:ln/>
        </p:spPr>
        <p:txBody>
          <a:bodyPr wrap="square" lIns="0" tIns="0" rIns="0" bIns="0" rtlCol="0" anchor="ctr"/>
          <a:lstStyle/>
          <a:p>
            <a:pPr algn="ctr" indent="0" marL="0">
              <a:buNone/>
            </a:pPr>
            <a:r>
              <a:rPr lang="en-US" sz="1000" b="1" spc="100" kern="0" dirty="0">
                <a:solidFill>
                  <a:srgbClr val="059669"/>
                </a:solidFill>
                <a:latin typeface="Calibri" pitchFamily="34" charset="0"/>
                <a:ea typeface="Calibri" pitchFamily="34" charset="-122"/>
                <a:cs typeface="Calibri" pitchFamily="34" charset="-120"/>
              </a:rPr>
              <a:t>TARGET</a:t>
            </a:r>
            <a:endParaRPr lang="en-US" sz="1000" dirty="0"/>
          </a:p>
        </p:txBody>
      </p:sp>
      <p:pic>
        <p:nvPicPr>
          <p:cNvPr id="6" name="Image 0" descr="570260 — deck beam, 2nd tier">    </p:cNvPr>
          <p:cNvPicPr>
            <a:picLocks noChangeAspect="1"/>
          </p:cNvPicPr>
          <p:nvPr/>
        </p:nvPicPr>
        <p:blipFill>
          <a:blip r:embed="rId1"/>
          <a:srcRect l="0" r="0" t="0" b="0"/>
          <a:stretch/>
        </p:blipFill>
        <p:spPr>
          <a:xfrm>
            <a:off x="548640" y="1719072"/>
            <a:ext cx="1347826" cy="1797101"/>
          </a:xfrm>
          <a:prstGeom prst="rect">
            <a:avLst/>
          </a:prstGeom>
        </p:spPr>
      </p:pic>
      <p:sp>
        <p:nvSpPr>
          <p:cNvPr id="7" name="Text 4"/>
          <p:cNvSpPr txBox="1"/>
          <p:nvPr/>
        </p:nvSpPr>
        <p:spPr>
          <a:xfrm>
            <a:off x="548640" y="3561893"/>
            <a:ext cx="1347826" cy="411480"/>
          </a:xfrm>
          <a:prstGeom prst="rect">
            <a:avLst/>
          </a:prstGeom>
          <a:noFill/>
          <a:ln/>
        </p:spPr>
        <p:txBody>
          <a:bodyPr wrap="square" lIns="0" tIns="0" rIns="0" bIns="0" rtlCol="0" anchor="t"/>
          <a:lstStyle/>
          <a:p>
            <a:pPr indent="0" marL="0">
              <a:buNone/>
            </a:pPr>
            <a:r>
              <a:rPr lang="en-US" sz="900" dirty="0">
                <a:solidFill>
                  <a:srgbClr val="1F2937"/>
                </a:solidFill>
                <a:latin typeface="Calibri" pitchFamily="34" charset="0"/>
                <a:ea typeface="Calibri" pitchFamily="34" charset="-122"/>
                <a:cs typeface="Calibri" pitchFamily="34" charset="-120"/>
              </a:rPr>
              <a:t>570260 — deck beam, 2nd tier</a:t>
            </a:r>
            <a:endParaRPr lang="en-US" sz="900" dirty="0"/>
          </a:p>
        </p:txBody>
      </p:sp>
      <p:sp>
        <p:nvSpPr>
          <p:cNvPr id="8" name="Shape 5"/>
          <p:cNvSpPr/>
          <p:nvPr/>
        </p:nvSpPr>
        <p:spPr>
          <a:xfrm>
            <a:off x="2006194" y="1371600"/>
            <a:ext cx="1347826" cy="274320"/>
          </a:xfrm>
          <a:prstGeom prst="roundRect">
            <a:avLst>
              <a:gd name="adj" fmla="val 26667"/>
            </a:avLst>
          </a:prstGeom>
          <a:solidFill>
            <a:srgbClr val="D1FAE5"/>
          </a:solidFill>
          <a:ln w="12700">
            <a:solidFill>
              <a:srgbClr val="D1FAE5"/>
            </a:solidFill>
            <a:prstDash val="solid"/>
          </a:ln>
        </p:spPr>
      </p:sp>
      <p:sp>
        <p:nvSpPr>
          <p:cNvPr id="9" name="Text 6"/>
          <p:cNvSpPr txBox="1"/>
          <p:nvPr/>
        </p:nvSpPr>
        <p:spPr>
          <a:xfrm>
            <a:off x="2006194" y="1371600"/>
            <a:ext cx="1347826" cy="274320"/>
          </a:xfrm>
          <a:prstGeom prst="rect">
            <a:avLst/>
          </a:prstGeom>
          <a:noFill/>
          <a:ln/>
        </p:spPr>
        <p:txBody>
          <a:bodyPr wrap="square" lIns="0" tIns="0" rIns="0" bIns="0" rtlCol="0" anchor="ctr"/>
          <a:lstStyle/>
          <a:p>
            <a:pPr algn="ctr" indent="0" marL="0">
              <a:buNone/>
            </a:pPr>
            <a:r>
              <a:rPr lang="en-US" sz="1000" b="1" spc="100" kern="0" dirty="0">
                <a:solidFill>
                  <a:srgbClr val="059669"/>
                </a:solidFill>
                <a:latin typeface="Calibri" pitchFamily="34" charset="0"/>
                <a:ea typeface="Calibri" pitchFamily="34" charset="-122"/>
                <a:cs typeface="Calibri" pitchFamily="34" charset="-120"/>
              </a:rPr>
              <a:t>TARGET</a:t>
            </a:r>
            <a:endParaRPr lang="en-US" sz="1000" dirty="0"/>
          </a:p>
        </p:txBody>
      </p:sp>
      <p:pic>
        <p:nvPicPr>
          <p:cNvPr id="10" name="Image 1" descr="470275 — deck board + strap">    </p:cNvPr>
          <p:cNvPicPr>
            <a:picLocks noChangeAspect="1"/>
          </p:cNvPicPr>
          <p:nvPr/>
        </p:nvPicPr>
        <p:blipFill>
          <a:blip r:embed="rId2"/>
          <a:srcRect l="0" r="0" t="0" b="0"/>
          <a:stretch/>
        </p:blipFill>
        <p:spPr>
          <a:xfrm>
            <a:off x="2006194" y="1719072"/>
            <a:ext cx="1347826" cy="1797101"/>
          </a:xfrm>
          <a:prstGeom prst="rect">
            <a:avLst/>
          </a:prstGeom>
        </p:spPr>
      </p:pic>
      <p:sp>
        <p:nvSpPr>
          <p:cNvPr id="11" name="Text 7"/>
          <p:cNvSpPr txBox="1"/>
          <p:nvPr/>
        </p:nvSpPr>
        <p:spPr>
          <a:xfrm>
            <a:off x="2006194" y="3561893"/>
            <a:ext cx="1347826" cy="411480"/>
          </a:xfrm>
          <a:prstGeom prst="rect">
            <a:avLst/>
          </a:prstGeom>
          <a:noFill/>
          <a:ln/>
        </p:spPr>
        <p:txBody>
          <a:bodyPr wrap="square" lIns="0" tIns="0" rIns="0" bIns="0" rtlCol="0" anchor="t"/>
          <a:lstStyle/>
          <a:p>
            <a:pPr indent="0" marL="0">
              <a:buNone/>
            </a:pPr>
            <a:r>
              <a:rPr lang="en-US" sz="900" dirty="0">
                <a:solidFill>
                  <a:srgbClr val="1F2937"/>
                </a:solidFill>
                <a:latin typeface="Calibri" pitchFamily="34" charset="0"/>
                <a:ea typeface="Calibri" pitchFamily="34" charset="-122"/>
                <a:cs typeface="Calibri" pitchFamily="34" charset="-120"/>
              </a:rPr>
              <a:t>470275 — deck board + strap</a:t>
            </a:r>
            <a:endParaRPr lang="en-US" sz="900" dirty="0"/>
          </a:p>
        </p:txBody>
      </p:sp>
      <p:sp>
        <p:nvSpPr>
          <p:cNvPr id="12" name="Shape 8"/>
          <p:cNvSpPr/>
          <p:nvPr/>
        </p:nvSpPr>
        <p:spPr>
          <a:xfrm>
            <a:off x="3463747" y="1371600"/>
            <a:ext cx="1347826" cy="274320"/>
          </a:xfrm>
          <a:prstGeom prst="roundRect">
            <a:avLst>
              <a:gd name="adj" fmla="val 26667"/>
            </a:avLst>
          </a:prstGeom>
          <a:solidFill>
            <a:srgbClr val="FEE2E2"/>
          </a:solidFill>
          <a:ln w="12700">
            <a:solidFill>
              <a:srgbClr val="FEE2E2"/>
            </a:solidFill>
            <a:prstDash val="solid"/>
          </a:ln>
        </p:spPr>
      </p:sp>
      <p:sp>
        <p:nvSpPr>
          <p:cNvPr id="13" name="Text 9"/>
          <p:cNvSpPr txBox="1"/>
          <p:nvPr/>
        </p:nvSpPr>
        <p:spPr>
          <a:xfrm>
            <a:off x="3463747" y="1371600"/>
            <a:ext cx="1347826" cy="274320"/>
          </a:xfrm>
          <a:prstGeom prst="rect">
            <a:avLst/>
          </a:prstGeom>
          <a:noFill/>
          <a:ln/>
        </p:spPr>
        <p:txBody>
          <a:bodyPr wrap="square" lIns="0" tIns="0" rIns="0" bIns="0" rtlCol="0" anchor="ctr"/>
          <a:lstStyle/>
          <a:p>
            <a:pPr algn="ctr" indent="0" marL="0">
              <a:buNone/>
            </a:pPr>
            <a:r>
              <a:rPr lang="en-US" sz="1000" b="1" spc="100" kern="0" dirty="0">
                <a:solidFill>
                  <a:srgbClr val="DC2626"/>
                </a:solidFill>
                <a:latin typeface="Calibri" pitchFamily="34" charset="0"/>
                <a:ea typeface="Calibri" pitchFamily="34" charset="-122"/>
                <a:cs typeface="Calibri" pitchFamily="34" charset="-120"/>
              </a:rPr>
              <a:t>FIX</a:t>
            </a:r>
            <a:endParaRPr lang="en-US" sz="1000" dirty="0"/>
          </a:p>
        </p:txBody>
      </p:sp>
      <p:pic>
        <p:nvPicPr>
          <p:cNvPr id="14" name="Image 2" descr="470236 — loose on a diagonal">    </p:cNvPr>
          <p:cNvPicPr>
            <a:picLocks noChangeAspect="1"/>
          </p:cNvPicPr>
          <p:nvPr/>
        </p:nvPicPr>
        <p:blipFill>
          <a:blip r:embed="rId3"/>
          <a:srcRect l="0" r="0" t="0" b="0"/>
          <a:stretch/>
        </p:blipFill>
        <p:spPr>
          <a:xfrm>
            <a:off x="3463747" y="1719072"/>
            <a:ext cx="1347826" cy="1797101"/>
          </a:xfrm>
          <a:prstGeom prst="rect">
            <a:avLst/>
          </a:prstGeom>
        </p:spPr>
      </p:pic>
      <p:sp>
        <p:nvSpPr>
          <p:cNvPr id="15" name="Text 10"/>
          <p:cNvSpPr txBox="1"/>
          <p:nvPr/>
        </p:nvSpPr>
        <p:spPr>
          <a:xfrm>
            <a:off x="3463747" y="3561893"/>
            <a:ext cx="1347826" cy="411480"/>
          </a:xfrm>
          <a:prstGeom prst="rect">
            <a:avLst/>
          </a:prstGeom>
          <a:noFill/>
          <a:ln/>
        </p:spPr>
        <p:txBody>
          <a:bodyPr wrap="square" lIns="0" tIns="0" rIns="0" bIns="0" rtlCol="0" anchor="t"/>
          <a:lstStyle/>
          <a:p>
            <a:pPr indent="0" marL="0">
              <a:buNone/>
            </a:pPr>
            <a:r>
              <a:rPr lang="en-US" sz="900" dirty="0">
                <a:solidFill>
                  <a:srgbClr val="1F2937"/>
                </a:solidFill>
                <a:latin typeface="Calibri" pitchFamily="34" charset="0"/>
                <a:ea typeface="Calibri" pitchFamily="34" charset="-122"/>
                <a:cs typeface="Calibri" pitchFamily="34" charset="-120"/>
              </a:rPr>
              <a:t>470236 — loose on a diagonal</a:t>
            </a:r>
            <a:endParaRPr lang="en-US" sz="900" dirty="0"/>
          </a:p>
        </p:txBody>
      </p:sp>
      <p:sp>
        <p:nvSpPr>
          <p:cNvPr id="16" name="Shape 11"/>
          <p:cNvSpPr/>
          <p:nvPr/>
        </p:nvSpPr>
        <p:spPr>
          <a:xfrm>
            <a:off x="4921301" y="1371600"/>
            <a:ext cx="1347826" cy="274320"/>
          </a:xfrm>
          <a:prstGeom prst="roundRect">
            <a:avLst>
              <a:gd name="adj" fmla="val 26667"/>
            </a:avLst>
          </a:prstGeom>
          <a:solidFill>
            <a:srgbClr val="FEE2E2"/>
          </a:solidFill>
          <a:ln w="12700">
            <a:solidFill>
              <a:srgbClr val="FEE2E2"/>
            </a:solidFill>
            <a:prstDash val="solid"/>
          </a:ln>
        </p:spPr>
      </p:sp>
      <p:sp>
        <p:nvSpPr>
          <p:cNvPr id="17" name="Text 12"/>
          <p:cNvSpPr txBox="1"/>
          <p:nvPr/>
        </p:nvSpPr>
        <p:spPr>
          <a:xfrm>
            <a:off x="4921301" y="1371600"/>
            <a:ext cx="1347826" cy="274320"/>
          </a:xfrm>
          <a:prstGeom prst="rect">
            <a:avLst/>
          </a:prstGeom>
          <a:noFill/>
          <a:ln/>
        </p:spPr>
        <p:txBody>
          <a:bodyPr wrap="square" lIns="0" tIns="0" rIns="0" bIns="0" rtlCol="0" anchor="ctr"/>
          <a:lstStyle/>
          <a:p>
            <a:pPr algn="ctr" indent="0" marL="0">
              <a:buNone/>
            </a:pPr>
            <a:r>
              <a:rPr lang="en-US" sz="1000" b="1" spc="100" kern="0" dirty="0">
                <a:solidFill>
                  <a:srgbClr val="DC2626"/>
                </a:solidFill>
                <a:latin typeface="Calibri" pitchFamily="34" charset="0"/>
                <a:ea typeface="Calibri" pitchFamily="34" charset="-122"/>
                <a:cs typeface="Calibri" pitchFamily="34" charset="-120"/>
              </a:rPr>
              <a:t>FIX · MAAX</a:t>
            </a:r>
            <a:endParaRPr lang="en-US" sz="1000" dirty="0"/>
          </a:p>
        </p:txBody>
      </p:sp>
      <p:pic>
        <p:nvPicPr>
          <p:cNvPr id="18" name="Image 3" descr="57937 — glass doors on improvised A-frames">    </p:cNvPr>
          <p:cNvPicPr>
            <a:picLocks noChangeAspect="1"/>
          </p:cNvPicPr>
          <p:nvPr/>
        </p:nvPicPr>
        <p:blipFill>
          <a:blip r:embed="rId4"/>
          <a:srcRect l="0" r="0" t="0" b="0"/>
          <a:stretch/>
        </p:blipFill>
        <p:spPr>
          <a:xfrm>
            <a:off x="4921301" y="1719072"/>
            <a:ext cx="1347826" cy="1797101"/>
          </a:xfrm>
          <a:prstGeom prst="rect">
            <a:avLst/>
          </a:prstGeom>
        </p:spPr>
      </p:pic>
      <p:sp>
        <p:nvSpPr>
          <p:cNvPr id="19" name="Text 13"/>
          <p:cNvSpPr txBox="1"/>
          <p:nvPr/>
        </p:nvSpPr>
        <p:spPr>
          <a:xfrm>
            <a:off x="4921301" y="3561893"/>
            <a:ext cx="1347826" cy="411480"/>
          </a:xfrm>
          <a:prstGeom prst="rect">
            <a:avLst/>
          </a:prstGeom>
          <a:noFill/>
          <a:ln/>
        </p:spPr>
        <p:txBody>
          <a:bodyPr wrap="square" lIns="0" tIns="0" rIns="0" bIns="0" rtlCol="0" anchor="t"/>
          <a:lstStyle/>
          <a:p>
            <a:pPr indent="0" marL="0">
              <a:buNone/>
            </a:pPr>
            <a:r>
              <a:rPr lang="en-US" sz="900" dirty="0">
                <a:solidFill>
                  <a:srgbClr val="1F2937"/>
                </a:solidFill>
                <a:latin typeface="Calibri" pitchFamily="34" charset="0"/>
                <a:ea typeface="Calibri" pitchFamily="34" charset="-122"/>
                <a:cs typeface="Calibri" pitchFamily="34" charset="-120"/>
              </a:rPr>
              <a:t>57937 — glass doors on improvised A-frames</a:t>
            </a:r>
            <a:endParaRPr lang="en-US" sz="900" dirty="0"/>
          </a:p>
        </p:txBody>
      </p:sp>
      <p:sp>
        <p:nvSpPr>
          <p:cNvPr id="20" name="Shape 14"/>
          <p:cNvSpPr/>
          <p:nvPr/>
        </p:nvSpPr>
        <p:spPr>
          <a:xfrm>
            <a:off x="6378854" y="1371600"/>
            <a:ext cx="1347826" cy="274320"/>
          </a:xfrm>
          <a:prstGeom prst="roundRect">
            <a:avLst>
              <a:gd name="adj" fmla="val 26667"/>
            </a:avLst>
          </a:prstGeom>
          <a:solidFill>
            <a:srgbClr val="FEE2E2"/>
          </a:solidFill>
          <a:ln w="12700">
            <a:solidFill>
              <a:srgbClr val="FEE2E2"/>
            </a:solidFill>
            <a:prstDash val="solid"/>
          </a:ln>
        </p:spPr>
      </p:sp>
      <p:sp>
        <p:nvSpPr>
          <p:cNvPr id="21" name="Text 15"/>
          <p:cNvSpPr txBox="1"/>
          <p:nvPr/>
        </p:nvSpPr>
        <p:spPr>
          <a:xfrm>
            <a:off x="6378854" y="1371600"/>
            <a:ext cx="1347826" cy="274320"/>
          </a:xfrm>
          <a:prstGeom prst="rect">
            <a:avLst/>
          </a:prstGeom>
          <a:noFill/>
          <a:ln/>
        </p:spPr>
        <p:txBody>
          <a:bodyPr wrap="square" lIns="0" tIns="0" rIns="0" bIns="0" rtlCol="0" anchor="ctr"/>
          <a:lstStyle/>
          <a:p>
            <a:pPr algn="ctr" indent="0" marL="0">
              <a:buNone/>
            </a:pPr>
            <a:r>
              <a:rPr lang="en-US" sz="1000" b="1" spc="100" kern="0" dirty="0">
                <a:solidFill>
                  <a:srgbClr val="DC2626"/>
                </a:solidFill>
                <a:latin typeface="Calibri" pitchFamily="34" charset="0"/>
                <a:ea typeface="Calibri" pitchFamily="34" charset="-122"/>
                <a:cs typeface="Calibri" pitchFamily="34" charset="-120"/>
              </a:rPr>
              <a:t>FIX · MAAX</a:t>
            </a:r>
            <a:endParaRPr lang="en-US" sz="1000" dirty="0"/>
          </a:p>
        </p:txBody>
      </p:sp>
      <p:pic>
        <p:nvPicPr>
          <p:cNvPr id="22" name="Image 4" descr="Door boxes leaning / toppling">    </p:cNvPr>
          <p:cNvPicPr>
            <a:picLocks noChangeAspect="1"/>
          </p:cNvPicPr>
          <p:nvPr/>
        </p:nvPicPr>
        <p:blipFill>
          <a:blip r:embed="rId5"/>
          <a:srcRect l="0" r="0" t="0" b="0"/>
          <a:stretch/>
        </p:blipFill>
        <p:spPr>
          <a:xfrm>
            <a:off x="6378854" y="1719072"/>
            <a:ext cx="1347826" cy="1797101"/>
          </a:xfrm>
          <a:prstGeom prst="rect">
            <a:avLst/>
          </a:prstGeom>
        </p:spPr>
      </p:pic>
      <p:sp>
        <p:nvSpPr>
          <p:cNvPr id="23" name="Text 16"/>
          <p:cNvSpPr txBox="1"/>
          <p:nvPr/>
        </p:nvSpPr>
        <p:spPr>
          <a:xfrm>
            <a:off x="6378854" y="3561893"/>
            <a:ext cx="1347826" cy="411480"/>
          </a:xfrm>
          <a:prstGeom prst="rect">
            <a:avLst/>
          </a:prstGeom>
          <a:noFill/>
          <a:ln/>
        </p:spPr>
        <p:txBody>
          <a:bodyPr wrap="square" lIns="0" tIns="0" rIns="0" bIns="0" rtlCol="0" anchor="t"/>
          <a:lstStyle/>
          <a:p>
            <a:pPr indent="0" marL="0">
              <a:buNone/>
            </a:pPr>
            <a:r>
              <a:rPr lang="en-US" sz="900" dirty="0">
                <a:solidFill>
                  <a:srgbClr val="1F2937"/>
                </a:solidFill>
                <a:latin typeface="Calibri" pitchFamily="34" charset="0"/>
                <a:ea typeface="Calibri" pitchFamily="34" charset="-122"/>
                <a:cs typeface="Calibri" pitchFamily="34" charset="-120"/>
              </a:rPr>
              <a:t>Door boxes leaning / toppling</a:t>
            </a:r>
            <a:endParaRPr lang="en-US" sz="900" dirty="0"/>
          </a:p>
        </p:txBody>
      </p:sp>
      <p:sp>
        <p:nvSpPr>
          <p:cNvPr id="24" name="Shape 17"/>
          <p:cNvSpPr/>
          <p:nvPr/>
        </p:nvSpPr>
        <p:spPr>
          <a:xfrm>
            <a:off x="548640" y="4069080"/>
            <a:ext cx="4189781" cy="1965960"/>
          </a:xfrm>
          <a:prstGeom prst="roundRect">
            <a:avLst>
              <a:gd name="adj" fmla="val 3721"/>
            </a:avLst>
          </a:prstGeom>
          <a:solidFill>
            <a:srgbClr val="F5F3FF"/>
          </a:solidFill>
          <a:ln w="12700">
            <a:solidFill>
              <a:srgbClr val="F5F3FF"/>
            </a:solidFill>
            <a:prstDash val="solid"/>
          </a:ln>
        </p:spPr>
      </p:sp>
      <p:sp>
        <p:nvSpPr>
          <p:cNvPr id="25" name="Text 18"/>
          <p:cNvSpPr txBox="1"/>
          <p:nvPr/>
        </p:nvSpPr>
        <p:spPr>
          <a:xfrm>
            <a:off x="731520" y="4114800"/>
            <a:ext cx="3869741" cy="1874520"/>
          </a:xfrm>
          <a:prstGeom prst="rect">
            <a:avLst/>
          </a:prstGeom>
          <a:noFill/>
          <a:ln/>
        </p:spPr>
        <p:txBody>
          <a:bodyPr wrap="square" lIns="0" tIns="0" rIns="0" bIns="0" rtlCol="0" anchor="ctr"/>
          <a:lstStyle/>
          <a:p>
            <a:pPr indent="0" marL="0">
              <a:spcAft>
                <a:spcPts val="400"/>
              </a:spcAft>
              <a:buNone/>
            </a:pPr>
            <a:r>
              <a:rPr lang="en-US" sz="1300" b="1" dirty="0">
                <a:solidFill>
                  <a:srgbClr val="7C3AED"/>
                </a:solidFill>
                <a:latin typeface="Calibri" pitchFamily="34" charset="0"/>
                <a:ea typeface="Calibri" pitchFamily="34" charset="-122"/>
                <a:cs typeface="Calibri" pitchFamily="34" charset="-120"/>
              </a:rPr>
              <a:t>Why</a:t>
            </a:r>
            <a:endParaRPr lang="en-US" sz="1200" dirty="0"/>
          </a:p>
          <a:p>
            <a:pPr marL="177800" indent="-177800">
              <a:spcAft>
                <a:spcPts val="400"/>
              </a:spcAft>
              <a:buSzPct val="100000"/>
              <a:buChar char="•"/>
            </a:pPr>
            <a:r>
              <a:rPr lang="en-US" sz="1200" dirty="0">
                <a:solidFill>
                  <a:srgbClr val="1F2937"/>
                </a:solidFill>
                <a:latin typeface="Calibri" pitchFamily="34" charset="0"/>
                <a:ea typeface="Calibri" pitchFamily="34" charset="-122"/>
                <a:cs typeface="Calibri" pitchFamily="34" charset="-120"/>
              </a:rPr>
              <a:t>Uses the top half of the trailer — lifts LF score (36.4% F27).</a:t>
            </a:r>
            <a:endParaRPr lang="en-US" sz="1200" dirty="0"/>
          </a:p>
          <a:p>
            <a:pPr marL="177800" indent="-177800">
              <a:spcAft>
                <a:spcPts val="400"/>
              </a:spcAft>
              <a:buSzPct val="100000"/>
              <a:buChar char="•"/>
            </a:pPr>
            <a:r>
              <a:rPr lang="en-US" sz="1200" dirty="0">
                <a:solidFill>
                  <a:srgbClr val="1F2937"/>
                </a:solidFill>
                <a:latin typeface="Calibri" pitchFamily="34" charset="0"/>
                <a:ea typeface="Calibri" pitchFamily="34" charset="-122"/>
                <a:cs typeface="Calibri" pitchFamily="34" charset="-120"/>
              </a:rPr>
              <a:t>Fewer damaged FBs (1.61% 7-day avg) and claims.</a:t>
            </a:r>
            <a:endParaRPr lang="en-US" sz="1200" dirty="0"/>
          </a:p>
          <a:p>
            <a:pPr marL="177800" indent="-177800">
              <a:spcAft>
                <a:spcPts val="400"/>
              </a:spcAft>
              <a:buSzPct val="100000"/>
              <a:buChar char="•"/>
            </a:pPr>
            <a:r>
              <a:rPr lang="en-US" sz="1200" dirty="0">
                <a:solidFill>
                  <a:srgbClr val="1F2937"/>
                </a:solidFill>
                <a:latin typeface="Calibri" pitchFamily="34" charset="0"/>
                <a:ea typeface="Calibri" pitchFamily="34" charset="-122"/>
                <a:cs typeface="Calibri" pitchFamily="34" charset="-120"/>
              </a:rPr>
              <a:t>Safer unloading.</a:t>
            </a:r>
            <a:endParaRPr lang="en-US" sz="1200" dirty="0"/>
          </a:p>
        </p:txBody>
      </p:sp>
      <p:sp>
        <p:nvSpPr>
          <p:cNvPr id="26" name="Shape 19"/>
          <p:cNvSpPr/>
          <p:nvPr/>
        </p:nvSpPr>
        <p:spPr>
          <a:xfrm>
            <a:off x="4921301" y="4069080"/>
            <a:ext cx="2805379" cy="1965960"/>
          </a:xfrm>
          <a:prstGeom prst="roundRect">
            <a:avLst>
              <a:gd name="adj" fmla="val 3721"/>
            </a:avLst>
          </a:prstGeom>
          <a:solidFill>
            <a:srgbClr val="FFFBEB"/>
          </a:solidFill>
          <a:ln w="12700">
            <a:solidFill>
              <a:srgbClr val="FFFBEB"/>
            </a:solidFill>
            <a:prstDash val="solid"/>
          </a:ln>
        </p:spPr>
      </p:sp>
      <p:sp>
        <p:nvSpPr>
          <p:cNvPr id="27" name="Text 20"/>
          <p:cNvSpPr txBox="1"/>
          <p:nvPr/>
        </p:nvSpPr>
        <p:spPr>
          <a:xfrm>
            <a:off x="5031029" y="4114800"/>
            <a:ext cx="2585923" cy="1874520"/>
          </a:xfrm>
          <a:prstGeom prst="rect">
            <a:avLst/>
          </a:prstGeom>
          <a:noFill/>
          <a:ln/>
        </p:spPr>
        <p:txBody>
          <a:bodyPr wrap="square" lIns="0" tIns="0" rIns="0" bIns="0" rtlCol="0" anchor="ctr"/>
          <a:lstStyle/>
          <a:p>
            <a:pPr indent="0" marL="0">
              <a:buNone/>
            </a:pPr>
            <a:r>
              <a:rPr lang="en-US" sz="1050" b="1" dirty="0">
                <a:solidFill>
                  <a:srgbClr val="B45309"/>
                </a:solidFill>
                <a:latin typeface="Calibri" pitchFamily="34" charset="0"/>
                <a:ea typeface="Calibri" pitchFamily="34" charset="-122"/>
                <a:cs typeface="Calibri" pitchFamily="34" charset="-120"/>
              </a:rPr>
              <a:t>MAAX example: </a:t>
            </a:r>
            <a:pPr indent="0" marL="0">
              <a:buNone/>
            </a:pPr>
            <a:r>
              <a:rPr lang="en-US" sz="1050" dirty="0">
                <a:solidFill>
                  <a:srgbClr val="1F2937"/>
                </a:solidFill>
                <a:latin typeface="Calibri" pitchFamily="34" charset="0"/>
                <a:ea typeface="Calibri" pitchFamily="34" charset="-122"/>
                <a:cs typeface="Calibri" pitchFamily="34" charset="-120"/>
              </a:rPr>
              <a:t>shower doors and bases (thin, all glass) and 75-inch TVs ride standing loose today (trailer 47520). </a:t>
            </a:r>
            <a:pPr indent="0" marL="0">
              <a:buNone/>
            </a:pPr>
            <a:r>
              <a:rPr lang="en-US" sz="1050" b="1" dirty="0">
                <a:solidFill>
                  <a:srgbClr val="111827"/>
                </a:solidFill>
                <a:latin typeface="Calibri" pitchFamily="34" charset="0"/>
                <a:ea typeface="Calibri" pitchFamily="34" charset="-122"/>
                <a:cs typeface="Calibri" pitchFamily="34" charset="-120"/>
              </a:rPr>
              <a:t>Slot them into panel carts — yellow cart rolls by hand, grey cage lifts by forklift</a:t>
            </a:r>
            <a:pPr indent="0" marL="0">
              <a:buNone/>
            </a:pPr>
            <a:r>
              <a:rPr lang="en-US" sz="1050" dirty="0">
                <a:solidFill>
                  <a:srgbClr val="1F2937"/>
                </a:solidFill>
                <a:latin typeface="Calibri" pitchFamily="34" charset="0"/>
                <a:ea typeface="Calibri" pitchFamily="34" charset="-122"/>
                <a:cs typeface="Calibri" pitchFamily="34" charset="-120"/>
              </a:rPr>
              <a:t>: secured in transit, faster in/out, less breakage.</a:t>
            </a:r>
            <a:endParaRPr lang="en-US" sz="1050" dirty="0"/>
          </a:p>
        </p:txBody>
      </p:sp>
      <p:sp>
        <p:nvSpPr>
          <p:cNvPr id="28" name="Shape 21"/>
          <p:cNvSpPr/>
          <p:nvPr/>
        </p:nvSpPr>
        <p:spPr>
          <a:xfrm>
            <a:off x="8001000" y="1371600"/>
            <a:ext cx="3639312" cy="4663440"/>
          </a:xfrm>
          <a:prstGeom prst="roundRect">
            <a:avLst>
              <a:gd name="adj" fmla="val 2010"/>
            </a:avLst>
          </a:prstGeom>
          <a:solidFill>
            <a:srgbClr val="F3F4F6"/>
          </a:solidFill>
          <a:ln w="12700">
            <a:solidFill>
              <a:srgbClr val="F3F4F6"/>
            </a:solidFill>
            <a:prstDash val="solid"/>
          </a:ln>
        </p:spPr>
      </p:sp>
      <p:sp>
        <p:nvSpPr>
          <p:cNvPr id="29" name="Shape 22"/>
          <p:cNvSpPr/>
          <p:nvPr/>
        </p:nvSpPr>
        <p:spPr>
          <a:xfrm>
            <a:off x="8229600" y="1572768"/>
            <a:ext cx="502920" cy="502920"/>
          </a:xfrm>
          <a:prstGeom prst="ellipse">
            <a:avLst/>
          </a:prstGeom>
          <a:solidFill>
            <a:srgbClr val="7C3AED"/>
          </a:solidFill>
          <a:ln w="12700">
            <a:solidFill>
              <a:srgbClr val="7C3AED"/>
            </a:solidFill>
            <a:prstDash val="solid"/>
          </a:ln>
        </p:spPr>
      </p:sp>
      <p:pic>
        <p:nvPicPr>
          <p:cNvPr id="30" name="Image 5" descr="preencoded.png">    </p:cNvPr>
          <p:cNvPicPr>
            <a:picLocks noChangeAspect="1"/>
          </p:cNvPicPr>
          <p:nvPr/>
        </p:nvPicPr>
        <p:blipFill>
          <a:blip r:embed="rId6"/>
          <a:stretch>
            <a:fillRect/>
          </a:stretch>
        </p:blipFill>
        <p:spPr>
          <a:xfrm>
            <a:off x="8355330" y="1698498"/>
            <a:ext cx="251460" cy="251460"/>
          </a:xfrm>
          <a:prstGeom prst="rect">
            <a:avLst/>
          </a:prstGeom>
        </p:spPr>
      </p:pic>
      <p:sp>
        <p:nvSpPr>
          <p:cNvPr id="31" name="Text 23"/>
          <p:cNvSpPr txBox="1"/>
          <p:nvPr/>
        </p:nvSpPr>
        <p:spPr>
          <a:xfrm>
            <a:off x="8869680" y="1572768"/>
            <a:ext cx="2560320" cy="502920"/>
          </a:xfrm>
          <a:prstGeom prst="rect">
            <a:avLst/>
          </a:prstGeom>
          <a:noFill/>
          <a:ln/>
        </p:spPr>
        <p:txBody>
          <a:bodyPr wrap="square" lIns="0" tIns="0" rIns="0" bIns="0" rtlCol="0" anchor="ctr"/>
          <a:lstStyle/>
          <a:p>
            <a:pPr indent="0" marL="0">
              <a:buNone/>
            </a:pPr>
            <a:r>
              <a:rPr lang="en-US" sz="1700" b="1" dirty="0">
                <a:solidFill>
                  <a:srgbClr val="111827"/>
                </a:solidFill>
                <a:latin typeface="Calibri" pitchFamily="34" charset="0"/>
                <a:ea typeface="Calibri" pitchFamily="34" charset="-122"/>
                <a:cs typeface="Calibri" pitchFamily="34" charset="-120"/>
              </a:rPr>
              <a:t>Equipment</a:t>
            </a:r>
            <a:endParaRPr lang="en-US" sz="1700" dirty="0"/>
          </a:p>
        </p:txBody>
      </p:sp>
      <p:sp>
        <p:nvSpPr>
          <p:cNvPr id="32" name="Text 24"/>
          <p:cNvSpPr txBox="1"/>
          <p:nvPr/>
        </p:nvSpPr>
        <p:spPr>
          <a:xfrm>
            <a:off x="8229600" y="2286000"/>
            <a:ext cx="3246120" cy="3566160"/>
          </a:xfrm>
          <a:prstGeom prst="rect">
            <a:avLst/>
          </a:prstGeom>
          <a:noFill/>
          <a:ln/>
        </p:spPr>
        <p:txBody>
          <a:bodyPr wrap="square" lIns="0" tIns="0" rIns="0" bIns="0" rtlCol="0" anchor="t"/>
          <a:lstStyle/>
          <a:p>
            <a:pPr marL="203200" indent="-203200">
              <a:spcAft>
                <a:spcPts val="1000"/>
              </a:spcAft>
              <a:buSzPct val="100000"/>
              <a:buChar char="•"/>
            </a:pPr>
            <a:r>
              <a:rPr lang="en-US" sz="1300" dirty="0">
                <a:solidFill>
                  <a:srgbClr val="1F2937"/>
                </a:solidFill>
                <a:latin typeface="Calibri" pitchFamily="34" charset="0"/>
                <a:ea typeface="Calibri" pitchFamily="34" charset="-122"/>
                <a:cs typeface="Calibri" pitchFamily="34" charset="-120"/>
              </a:rPr>
              <a:t>ANCRA knock-down pallet decks (intermodal)</a:t>
            </a:r>
            <a:endParaRPr lang="en-US" sz="1300" dirty="0"/>
          </a:p>
          <a:p>
            <a:pPr marL="203200" indent="-203200">
              <a:spcAft>
                <a:spcPts val="1000"/>
              </a:spcAft>
              <a:buSzPct val="100000"/>
              <a:buChar char="•"/>
            </a:pPr>
            <a:r>
              <a:rPr lang="en-US" sz="1300" dirty="0">
                <a:solidFill>
                  <a:srgbClr val="1F2937"/>
                </a:solidFill>
                <a:latin typeface="Calibri" pitchFamily="34" charset="0"/>
                <a:ea typeface="Calibri" pitchFamily="34" charset="-122"/>
                <a:cs typeface="Calibri" pitchFamily="34" charset="-120"/>
              </a:rPr>
              <a:t>ANCRA security divider deck-board kits (E-track)</a:t>
            </a:r>
            <a:endParaRPr lang="en-US" sz="1300" dirty="0"/>
          </a:p>
          <a:p>
            <a:pPr marL="203200" indent="-203200">
              <a:spcAft>
                <a:spcPts val="1000"/>
              </a:spcAft>
              <a:buSzPct val="100000"/>
              <a:buChar char="•"/>
            </a:pPr>
            <a:r>
              <a:rPr lang="en-US" sz="1300" dirty="0">
                <a:solidFill>
                  <a:srgbClr val="1F2937"/>
                </a:solidFill>
                <a:latin typeface="Calibri" pitchFamily="34" charset="0"/>
                <a:ea typeface="Calibri" pitchFamily="34" charset="-122"/>
                <a:cs typeface="Calibri" pitchFamily="34" charset="-120"/>
              </a:rPr>
              <a:t>Panel trucks &amp; reconfigurable racks for windows, doors, panels, car parts (Sawtrax, Rack and Shelf, Grainger, Uline)</a:t>
            </a:r>
            <a:endParaRPr lang="en-US" sz="1300" dirty="0"/>
          </a:p>
          <a:p>
            <a:pPr marL="203200" indent="-203200">
              <a:spcAft>
                <a:spcPts val="1000"/>
              </a:spcAft>
              <a:buSzPct val="100000"/>
              <a:buChar char="•"/>
            </a:pPr>
            <a:r>
              <a:rPr lang="en-US" sz="1300" dirty="0">
                <a:solidFill>
                  <a:srgbClr val="1F2937"/>
                </a:solidFill>
                <a:latin typeface="Calibri" pitchFamily="34" charset="0"/>
                <a:ea typeface="Calibri" pitchFamily="34" charset="-122"/>
                <a:cs typeface="Calibri" pitchFamily="34" charset="-120"/>
              </a:rPr>
              <a:t>Load bars &amp; straps on every mixed load</a:t>
            </a:r>
            <a:endParaRPr lang="en-US" sz="1300" dirty="0"/>
          </a:p>
        </p:txBody>
      </p:sp>
      <p:sp>
        <p:nvSpPr>
          <p:cNvPr id="33" name="Text 25"/>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4" name="Text 26"/>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21 / 27</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LOAD QUALITY &amp; EQUIPMENT</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Collapsible load tables — network benefit</a:t>
            </a:r>
            <a:endParaRPr lang="en-US" sz="3000" dirty="0"/>
          </a:p>
        </p:txBody>
      </p:sp>
      <p:sp>
        <p:nvSpPr>
          <p:cNvPr id="4" name="Shape 2"/>
          <p:cNvSpPr/>
          <p:nvPr/>
        </p:nvSpPr>
        <p:spPr>
          <a:xfrm>
            <a:off x="548640" y="1371600"/>
            <a:ext cx="2194560" cy="292608"/>
          </a:xfrm>
          <a:prstGeom prst="roundRect">
            <a:avLst>
              <a:gd name="adj" fmla="val 25000"/>
            </a:avLst>
          </a:prstGeom>
          <a:solidFill>
            <a:srgbClr val="EDE9FE"/>
          </a:solidFill>
          <a:ln w="12700">
            <a:solidFill>
              <a:srgbClr val="EDE9FE"/>
            </a:solidFill>
            <a:prstDash val="solid"/>
          </a:ln>
        </p:spPr>
      </p:sp>
      <p:sp>
        <p:nvSpPr>
          <p:cNvPr id="5" name="Text 3"/>
          <p:cNvSpPr txBox="1"/>
          <p:nvPr/>
        </p:nvSpPr>
        <p:spPr>
          <a:xfrm>
            <a:off x="548640" y="1371600"/>
            <a:ext cx="2194560" cy="292608"/>
          </a:xfrm>
          <a:prstGeom prst="rect">
            <a:avLst/>
          </a:prstGeom>
          <a:noFill/>
          <a:ln/>
        </p:spPr>
        <p:txBody>
          <a:bodyPr wrap="square" lIns="0" tIns="0" rIns="0" bIns="0" rtlCol="0" anchor="ctr"/>
          <a:lstStyle/>
          <a:p>
            <a:pPr algn="ctr" indent="0" marL="0">
              <a:buNone/>
            </a:pPr>
            <a:r>
              <a:rPr lang="en-US" sz="1100" b="1" spc="100" kern="0" dirty="0">
                <a:solidFill>
                  <a:srgbClr val="7C3AED"/>
                </a:solidFill>
                <a:latin typeface="Calibri" pitchFamily="34" charset="0"/>
                <a:ea typeface="Calibri" pitchFamily="34" charset="-122"/>
                <a:cs typeface="Calibri" pitchFamily="34" charset="-120"/>
              </a:rPr>
              <a:t>EXTENDED</a:t>
            </a:r>
            <a:endParaRPr lang="en-US" sz="1100" dirty="0"/>
          </a:p>
        </p:txBody>
      </p:sp>
      <p:pic>
        <p:nvPicPr>
          <p:cNvPr id="6" name="Image 0" descr="Second tier in the trailer">    </p:cNvPr>
          <p:cNvPicPr>
            <a:picLocks noChangeAspect="1"/>
          </p:cNvPicPr>
          <p:nvPr/>
        </p:nvPicPr>
        <p:blipFill>
          <a:blip r:embed="rId1"/>
          <a:srcRect l="0" r="0" t="0" b="0"/>
          <a:stretch/>
        </p:blipFill>
        <p:spPr>
          <a:xfrm>
            <a:off x="548640" y="1737360"/>
            <a:ext cx="2194560" cy="2392070"/>
          </a:xfrm>
          <a:prstGeom prst="rect">
            <a:avLst/>
          </a:prstGeom>
        </p:spPr>
      </p:pic>
      <p:sp>
        <p:nvSpPr>
          <p:cNvPr id="7" name="Text 4"/>
          <p:cNvSpPr txBox="1"/>
          <p:nvPr/>
        </p:nvSpPr>
        <p:spPr>
          <a:xfrm>
            <a:off x="548640" y="4175150"/>
            <a:ext cx="2194560" cy="320040"/>
          </a:xfrm>
          <a:prstGeom prst="rect">
            <a:avLst/>
          </a:prstGeom>
          <a:noFill/>
          <a:ln/>
        </p:spPr>
        <p:txBody>
          <a:bodyPr wrap="square" lIns="0" tIns="0" rIns="0" bIns="0" rtlCol="0" anchor="t"/>
          <a:lstStyle/>
          <a:p>
            <a:pPr indent="0" marL="0">
              <a:buNone/>
            </a:pPr>
            <a:r>
              <a:rPr lang="en-US" sz="1100" dirty="0">
                <a:solidFill>
                  <a:srgbClr val="1F2937"/>
                </a:solidFill>
                <a:latin typeface="Calibri" pitchFamily="34" charset="0"/>
                <a:ea typeface="Calibri" pitchFamily="34" charset="-122"/>
                <a:cs typeface="Calibri" pitchFamily="34" charset="-120"/>
              </a:rPr>
              <a:t>Second tier in the trailer</a:t>
            </a:r>
            <a:endParaRPr lang="en-US" sz="1100" dirty="0"/>
          </a:p>
        </p:txBody>
      </p:sp>
      <p:sp>
        <p:nvSpPr>
          <p:cNvPr id="8" name="Shape 5"/>
          <p:cNvSpPr/>
          <p:nvPr/>
        </p:nvSpPr>
        <p:spPr>
          <a:xfrm>
            <a:off x="2926080" y="1371600"/>
            <a:ext cx="2194560" cy="292608"/>
          </a:xfrm>
          <a:prstGeom prst="roundRect">
            <a:avLst>
              <a:gd name="adj" fmla="val 25000"/>
            </a:avLst>
          </a:prstGeom>
          <a:solidFill>
            <a:srgbClr val="EDE9FE"/>
          </a:solidFill>
          <a:ln w="12700">
            <a:solidFill>
              <a:srgbClr val="EDE9FE"/>
            </a:solidFill>
            <a:prstDash val="solid"/>
          </a:ln>
        </p:spPr>
      </p:sp>
      <p:sp>
        <p:nvSpPr>
          <p:cNvPr id="9" name="Text 6"/>
          <p:cNvSpPr txBox="1"/>
          <p:nvPr/>
        </p:nvSpPr>
        <p:spPr>
          <a:xfrm>
            <a:off x="2926080" y="1371600"/>
            <a:ext cx="2194560" cy="292608"/>
          </a:xfrm>
          <a:prstGeom prst="rect">
            <a:avLst/>
          </a:prstGeom>
          <a:noFill/>
          <a:ln/>
        </p:spPr>
        <p:txBody>
          <a:bodyPr wrap="square" lIns="0" tIns="0" rIns="0" bIns="0" rtlCol="0" anchor="ctr"/>
          <a:lstStyle/>
          <a:p>
            <a:pPr algn="ctr" indent="0" marL="0">
              <a:buNone/>
            </a:pPr>
            <a:r>
              <a:rPr lang="en-US" sz="1100" b="1" spc="100" kern="0" dirty="0">
                <a:solidFill>
                  <a:srgbClr val="7C3AED"/>
                </a:solidFill>
                <a:latin typeface="Calibri" pitchFamily="34" charset="0"/>
                <a:ea typeface="Calibri" pitchFamily="34" charset="-122"/>
                <a:cs typeface="Calibri" pitchFamily="34" charset="-120"/>
              </a:rPr>
              <a:t>FOLDED</a:t>
            </a:r>
            <a:endParaRPr lang="en-US" sz="1100" dirty="0"/>
          </a:p>
        </p:txBody>
      </p:sp>
      <p:pic>
        <p:nvPicPr>
          <p:cNvPr id="10" name="Image 1" descr="Lifted by forklift">    </p:cNvPr>
          <p:cNvPicPr>
            <a:picLocks noChangeAspect="1"/>
          </p:cNvPicPr>
          <p:nvPr/>
        </p:nvPicPr>
        <p:blipFill>
          <a:blip r:embed="rId2"/>
          <a:srcRect l="0" r="0" t="0" b="0"/>
          <a:stretch/>
        </p:blipFill>
        <p:spPr>
          <a:xfrm>
            <a:off x="2926080" y="1737360"/>
            <a:ext cx="2194560" cy="2392070"/>
          </a:xfrm>
          <a:prstGeom prst="rect">
            <a:avLst/>
          </a:prstGeom>
        </p:spPr>
      </p:pic>
      <p:sp>
        <p:nvSpPr>
          <p:cNvPr id="11" name="Text 7"/>
          <p:cNvSpPr txBox="1"/>
          <p:nvPr/>
        </p:nvSpPr>
        <p:spPr>
          <a:xfrm>
            <a:off x="2926080" y="4175150"/>
            <a:ext cx="2194560" cy="320040"/>
          </a:xfrm>
          <a:prstGeom prst="rect">
            <a:avLst/>
          </a:prstGeom>
          <a:noFill/>
          <a:ln/>
        </p:spPr>
        <p:txBody>
          <a:bodyPr wrap="square" lIns="0" tIns="0" rIns="0" bIns="0" rtlCol="0" anchor="t"/>
          <a:lstStyle/>
          <a:p>
            <a:pPr indent="0" marL="0">
              <a:buNone/>
            </a:pPr>
            <a:r>
              <a:rPr lang="en-US" sz="1100" dirty="0">
                <a:solidFill>
                  <a:srgbClr val="1F2937"/>
                </a:solidFill>
                <a:latin typeface="Calibri" pitchFamily="34" charset="0"/>
                <a:ea typeface="Calibri" pitchFamily="34" charset="-122"/>
                <a:cs typeface="Calibri" pitchFamily="34" charset="-120"/>
              </a:rPr>
              <a:t>Lifted by forklift</a:t>
            </a:r>
            <a:endParaRPr lang="en-US" sz="1100" dirty="0"/>
          </a:p>
        </p:txBody>
      </p:sp>
      <p:sp>
        <p:nvSpPr>
          <p:cNvPr id="12" name="Shape 8"/>
          <p:cNvSpPr/>
          <p:nvPr/>
        </p:nvSpPr>
        <p:spPr>
          <a:xfrm>
            <a:off x="5303520" y="1371600"/>
            <a:ext cx="2194560" cy="292608"/>
          </a:xfrm>
          <a:prstGeom prst="roundRect">
            <a:avLst>
              <a:gd name="adj" fmla="val 25000"/>
            </a:avLst>
          </a:prstGeom>
          <a:solidFill>
            <a:srgbClr val="EDE9FE"/>
          </a:solidFill>
          <a:ln w="12700">
            <a:solidFill>
              <a:srgbClr val="EDE9FE"/>
            </a:solidFill>
            <a:prstDash val="solid"/>
          </a:ln>
        </p:spPr>
      </p:sp>
      <p:sp>
        <p:nvSpPr>
          <p:cNvPr id="13" name="Text 9"/>
          <p:cNvSpPr txBox="1"/>
          <p:nvPr/>
        </p:nvSpPr>
        <p:spPr>
          <a:xfrm>
            <a:off x="5303520" y="1371600"/>
            <a:ext cx="2194560" cy="292608"/>
          </a:xfrm>
          <a:prstGeom prst="rect">
            <a:avLst/>
          </a:prstGeom>
          <a:noFill/>
          <a:ln/>
        </p:spPr>
        <p:txBody>
          <a:bodyPr wrap="square" lIns="0" tIns="0" rIns="0" bIns="0" rtlCol="0" anchor="ctr"/>
          <a:lstStyle/>
          <a:p>
            <a:pPr algn="ctr" indent="0" marL="0">
              <a:buNone/>
            </a:pPr>
            <a:r>
              <a:rPr lang="en-US" sz="1100" b="1" spc="100" kern="0" dirty="0">
                <a:solidFill>
                  <a:srgbClr val="7C3AED"/>
                </a:solidFill>
                <a:latin typeface="Calibri" pitchFamily="34" charset="0"/>
                <a:ea typeface="Calibri" pitchFamily="34" charset="-122"/>
                <a:cs typeface="Calibri" pitchFamily="34" charset="-120"/>
              </a:rPr>
              <a:t>STACKED</a:t>
            </a:r>
            <a:endParaRPr lang="en-US" sz="1100" dirty="0"/>
          </a:p>
        </p:txBody>
      </p:sp>
      <p:pic>
        <p:nvPicPr>
          <p:cNvPr id="14" name="Image 2" descr="Small footprint when not in use">    </p:cNvPr>
          <p:cNvPicPr>
            <a:picLocks noChangeAspect="1"/>
          </p:cNvPicPr>
          <p:nvPr/>
        </p:nvPicPr>
        <p:blipFill>
          <a:blip r:embed="rId3"/>
          <a:srcRect l="0" r="0" t="0" b="0"/>
          <a:stretch/>
        </p:blipFill>
        <p:spPr>
          <a:xfrm>
            <a:off x="5303520" y="1737360"/>
            <a:ext cx="2194560" cy="2392070"/>
          </a:xfrm>
          <a:prstGeom prst="rect">
            <a:avLst/>
          </a:prstGeom>
        </p:spPr>
      </p:pic>
      <p:sp>
        <p:nvSpPr>
          <p:cNvPr id="15" name="Text 10"/>
          <p:cNvSpPr txBox="1"/>
          <p:nvPr/>
        </p:nvSpPr>
        <p:spPr>
          <a:xfrm>
            <a:off x="5303520" y="4175150"/>
            <a:ext cx="2194560" cy="320040"/>
          </a:xfrm>
          <a:prstGeom prst="rect">
            <a:avLst/>
          </a:prstGeom>
          <a:noFill/>
          <a:ln/>
        </p:spPr>
        <p:txBody>
          <a:bodyPr wrap="square" lIns="0" tIns="0" rIns="0" bIns="0" rtlCol="0" anchor="t"/>
          <a:lstStyle/>
          <a:p>
            <a:pPr indent="0" marL="0">
              <a:buNone/>
            </a:pPr>
            <a:r>
              <a:rPr lang="en-US" sz="1100" dirty="0">
                <a:solidFill>
                  <a:srgbClr val="1F2937"/>
                </a:solidFill>
                <a:latin typeface="Calibri" pitchFamily="34" charset="0"/>
                <a:ea typeface="Calibri" pitchFamily="34" charset="-122"/>
                <a:cs typeface="Calibri" pitchFamily="34" charset="-120"/>
              </a:rPr>
              <a:t>Small footprint when not in use</a:t>
            </a:r>
            <a:endParaRPr lang="en-US" sz="1100" dirty="0"/>
          </a:p>
        </p:txBody>
      </p:sp>
      <p:sp>
        <p:nvSpPr>
          <p:cNvPr id="16" name="Shape 11"/>
          <p:cNvSpPr/>
          <p:nvPr/>
        </p:nvSpPr>
        <p:spPr>
          <a:xfrm>
            <a:off x="548640" y="4754880"/>
            <a:ext cx="6949440" cy="1280160"/>
          </a:xfrm>
          <a:prstGeom prst="roundRect">
            <a:avLst>
              <a:gd name="adj" fmla="val 5714"/>
            </a:avLst>
          </a:prstGeom>
          <a:solidFill>
            <a:srgbClr val="FFFBEB"/>
          </a:solidFill>
          <a:ln w="12700">
            <a:solidFill>
              <a:srgbClr val="FFFBEB"/>
            </a:solidFill>
            <a:prstDash val="solid"/>
          </a:ln>
        </p:spPr>
      </p:sp>
      <p:sp>
        <p:nvSpPr>
          <p:cNvPr id="17" name="Text 12"/>
          <p:cNvSpPr txBox="1"/>
          <p:nvPr/>
        </p:nvSpPr>
        <p:spPr>
          <a:xfrm>
            <a:off x="731520" y="4800600"/>
            <a:ext cx="6583680" cy="1188720"/>
          </a:xfrm>
          <a:prstGeom prst="rect">
            <a:avLst/>
          </a:prstGeom>
          <a:noFill/>
          <a:ln/>
        </p:spPr>
        <p:txBody>
          <a:bodyPr wrap="square" lIns="0" tIns="0" rIns="0" bIns="0" rtlCol="0" anchor="ctr"/>
          <a:lstStyle/>
          <a:p>
            <a:pPr indent="0" marL="0">
              <a:buNone/>
            </a:pPr>
            <a:r>
              <a:rPr lang="en-US" sz="1250" b="1" dirty="0">
                <a:solidFill>
                  <a:srgbClr val="B45309"/>
                </a:solidFill>
                <a:latin typeface="Calibri" pitchFamily="34" charset="0"/>
                <a:ea typeface="Calibri" pitchFamily="34" charset="-122"/>
                <a:cs typeface="Calibri" pitchFamily="34" charset="-120"/>
              </a:rPr>
              <a:t>Today: </a:t>
            </a:r>
            <a:pPr indent="0" marL="0">
              <a:buNone/>
            </a:pPr>
            <a:r>
              <a:rPr lang="en-US" sz="1250" dirty="0">
                <a:solidFill>
                  <a:srgbClr val="1F2937"/>
                </a:solidFill>
                <a:latin typeface="Calibri" pitchFamily="34" charset="0"/>
                <a:ea typeface="Calibri" pitchFamily="34" charset="-122"/>
                <a:cs typeface="Calibri" pitchFamily="34" charset="-120"/>
              </a:rPr>
              <a:t>large fixed metal load tables take up dock space when not in use. Most terminals are much smaller than ours and could not store them.</a:t>
            </a:r>
            <a:endParaRPr lang="en-US" sz="1250" dirty="0"/>
          </a:p>
        </p:txBody>
      </p:sp>
      <p:sp>
        <p:nvSpPr>
          <p:cNvPr id="18" name="Shape 13"/>
          <p:cNvSpPr/>
          <p:nvPr/>
        </p:nvSpPr>
        <p:spPr>
          <a:xfrm>
            <a:off x="7772400" y="1371600"/>
            <a:ext cx="3867912" cy="4663440"/>
          </a:xfrm>
          <a:prstGeom prst="roundRect">
            <a:avLst>
              <a:gd name="adj" fmla="val 1891"/>
            </a:avLst>
          </a:prstGeom>
          <a:solidFill>
            <a:srgbClr val="F3F4F6"/>
          </a:solidFill>
          <a:ln w="12700">
            <a:solidFill>
              <a:srgbClr val="F3F4F6"/>
            </a:solidFill>
            <a:prstDash val="solid"/>
          </a:ln>
        </p:spPr>
      </p:sp>
      <p:sp>
        <p:nvSpPr>
          <p:cNvPr id="19" name="Shape 14"/>
          <p:cNvSpPr/>
          <p:nvPr/>
        </p:nvSpPr>
        <p:spPr>
          <a:xfrm>
            <a:off x="8001000" y="1572768"/>
            <a:ext cx="502920" cy="502920"/>
          </a:xfrm>
          <a:prstGeom prst="ellipse">
            <a:avLst/>
          </a:prstGeom>
          <a:solidFill>
            <a:srgbClr val="7C3AED"/>
          </a:solidFill>
          <a:ln w="12700">
            <a:solidFill>
              <a:srgbClr val="7C3AED"/>
            </a:solidFill>
            <a:prstDash val="solid"/>
          </a:ln>
        </p:spPr>
      </p:sp>
      <p:pic>
        <p:nvPicPr>
          <p:cNvPr id="20" name="Image 3" descr="preencoded.png">    </p:cNvPr>
          <p:cNvPicPr>
            <a:picLocks noChangeAspect="1"/>
          </p:cNvPicPr>
          <p:nvPr/>
        </p:nvPicPr>
        <p:blipFill>
          <a:blip r:embed="rId4"/>
          <a:stretch>
            <a:fillRect/>
          </a:stretch>
        </p:blipFill>
        <p:spPr>
          <a:xfrm>
            <a:off x="8126730" y="1698498"/>
            <a:ext cx="251460" cy="251460"/>
          </a:xfrm>
          <a:prstGeom prst="rect">
            <a:avLst/>
          </a:prstGeom>
        </p:spPr>
      </p:pic>
      <p:sp>
        <p:nvSpPr>
          <p:cNvPr id="21" name="Text 15"/>
          <p:cNvSpPr txBox="1"/>
          <p:nvPr/>
        </p:nvSpPr>
        <p:spPr>
          <a:xfrm>
            <a:off x="8641080" y="1572768"/>
            <a:ext cx="2834640" cy="502920"/>
          </a:xfrm>
          <a:prstGeom prst="rect">
            <a:avLst/>
          </a:prstGeom>
          <a:noFill/>
          <a:ln/>
        </p:spPr>
        <p:txBody>
          <a:bodyPr wrap="square" lIns="0" tIns="0" rIns="0" bIns="0" rtlCol="0" anchor="ctr"/>
          <a:lstStyle/>
          <a:p>
            <a:pPr indent="0" marL="0">
              <a:buNone/>
            </a:pPr>
            <a:r>
              <a:rPr lang="en-US" sz="1700" b="1" dirty="0">
                <a:solidFill>
                  <a:srgbClr val="111827"/>
                </a:solidFill>
                <a:latin typeface="Calibri" pitchFamily="34" charset="0"/>
                <a:ea typeface="Calibri" pitchFamily="34" charset="-122"/>
                <a:cs typeface="Calibri" pitchFamily="34" charset="-120"/>
              </a:rPr>
              <a:t>Why it matters</a:t>
            </a:r>
            <a:endParaRPr lang="en-US" sz="1700" dirty="0"/>
          </a:p>
        </p:txBody>
      </p:sp>
      <p:sp>
        <p:nvSpPr>
          <p:cNvPr id="22" name="Text 16"/>
          <p:cNvSpPr txBox="1"/>
          <p:nvPr/>
        </p:nvSpPr>
        <p:spPr>
          <a:xfrm>
            <a:off x="8001000" y="2240280"/>
            <a:ext cx="3474720" cy="3657600"/>
          </a:xfrm>
          <a:prstGeom prst="rect">
            <a:avLst/>
          </a:prstGeom>
          <a:noFill/>
          <a:ln/>
        </p:spPr>
        <p:txBody>
          <a:bodyPr wrap="square" lIns="0" tIns="0" rIns="0" bIns="0" rtlCol="0" anchor="t"/>
          <a:lstStyle/>
          <a:p>
            <a:pPr marL="203200" indent="-203200">
              <a:spcAft>
                <a:spcPts val="800"/>
              </a:spcAft>
              <a:buSzPct val="100000"/>
              <a:buChar char="•"/>
            </a:pPr>
            <a:r>
              <a:rPr lang="en-US" sz="1250" dirty="0">
                <a:solidFill>
                  <a:srgbClr val="1F2937"/>
                </a:solidFill>
                <a:latin typeface="Calibri" pitchFamily="34" charset="0"/>
                <a:ea typeface="Calibri" pitchFamily="34" charset="-122"/>
                <a:cs typeface="Calibri" pitchFamily="34" charset="-120"/>
              </a:rPr>
              <a:t>Fold flat and stack when empty — frees dock space</a:t>
            </a:r>
            <a:endParaRPr lang="en-US" sz="1250" dirty="0"/>
          </a:p>
          <a:p>
            <a:pPr marL="203200" indent="-203200">
              <a:spcAft>
                <a:spcPts val="800"/>
              </a:spcAft>
              <a:buSzPct val="100000"/>
              <a:buChar char="•"/>
            </a:pPr>
            <a:r>
              <a:rPr lang="en-US" sz="1250" dirty="0">
                <a:solidFill>
                  <a:srgbClr val="1F2937"/>
                </a:solidFill>
                <a:latin typeface="Calibri" pitchFamily="34" charset="0"/>
                <a:ea typeface="Calibri" pitchFamily="34" charset="-122"/>
                <a:cs typeface="Calibri" pitchFamily="34" charset="-120"/>
              </a:rPr>
              <a:t>Forklift picks them up — less manual handling, faster unload</a:t>
            </a:r>
            <a:endParaRPr lang="en-US" sz="1250" dirty="0"/>
          </a:p>
          <a:p>
            <a:pPr marL="203200" indent="-203200">
              <a:spcAft>
                <a:spcPts val="800"/>
              </a:spcAft>
              <a:buSzPct val="100000"/>
              <a:buChar char="•"/>
            </a:pPr>
            <a:r>
              <a:rPr lang="en-US" sz="1250" dirty="0">
                <a:solidFill>
                  <a:srgbClr val="1F2937"/>
                </a:solidFill>
                <a:latin typeface="Calibri" pitchFamily="34" charset="0"/>
                <a:ea typeface="Calibri" pitchFamily="34" charset="-122"/>
                <a:cs typeface="Calibri" pitchFamily="34" charset="-120"/>
              </a:rPr>
              <a:t>Receiving terminals across the country unload our trailers faster and cleaner — and theirs to us</a:t>
            </a:r>
            <a:endParaRPr lang="en-US" sz="1250" dirty="0"/>
          </a:p>
          <a:p>
            <a:pPr marL="203200" indent="-203200">
              <a:spcAft>
                <a:spcPts val="800"/>
              </a:spcAft>
              <a:buSzPct val="100000"/>
              <a:buChar char="•"/>
            </a:pPr>
            <a:r>
              <a:rPr lang="en-US" sz="1250" dirty="0">
                <a:solidFill>
                  <a:srgbClr val="1F2937"/>
                </a:solidFill>
                <a:latin typeface="Calibri" pitchFamily="34" charset="0"/>
                <a:ea typeface="Calibri" pitchFamily="34" charset="-122"/>
                <a:cs typeface="Calibri" pitchFamily="34" charset="-120"/>
              </a:rPr>
              <a:t>With yellow / grey bin carts, freight rolls out and is staged for final mile or transfer</a:t>
            </a:r>
            <a:endParaRPr lang="en-US" sz="1250" dirty="0"/>
          </a:p>
          <a:p>
            <a:pPr marL="203200" indent="-203200">
              <a:spcAft>
                <a:spcPts val="800"/>
              </a:spcAft>
              <a:buSzPct val="100000"/>
              <a:buChar char="•"/>
            </a:pPr>
            <a:r>
              <a:rPr lang="en-US" sz="1250" dirty="0">
                <a:solidFill>
                  <a:srgbClr val="1F2937"/>
                </a:solidFill>
                <a:latin typeface="Calibri" pitchFamily="34" charset="0"/>
                <a:ea typeface="Calibri" pitchFamily="34" charset="-122"/>
                <a:cs typeface="Calibri" pitchFamily="34" charset="-120"/>
              </a:rPr>
              <a:t>Fewer damages and claims; safer unloading</a:t>
            </a:r>
            <a:endParaRPr lang="en-US" sz="1250" dirty="0"/>
          </a:p>
        </p:txBody>
      </p:sp>
      <p:sp>
        <p:nvSpPr>
          <p:cNvPr id="23" name="Text 17"/>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4" name="Text 18"/>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22 / 27</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TERMINAL</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Physical terminal — relocation</a:t>
            </a:r>
            <a:endParaRPr lang="en-US" sz="3000" dirty="0"/>
          </a:p>
        </p:txBody>
      </p:sp>
      <p:sp>
        <p:nvSpPr>
          <p:cNvPr id="4" name="Shape 2"/>
          <p:cNvSpPr/>
          <p:nvPr/>
        </p:nvSpPr>
        <p:spPr>
          <a:xfrm>
            <a:off x="548640" y="1463040"/>
            <a:ext cx="11091672" cy="2103120"/>
          </a:xfrm>
          <a:prstGeom prst="roundRect">
            <a:avLst>
              <a:gd name="adj" fmla="val 3478"/>
            </a:avLst>
          </a:prstGeom>
          <a:solidFill>
            <a:srgbClr val="F5F3FF"/>
          </a:solidFill>
          <a:ln w="12700">
            <a:solidFill>
              <a:srgbClr val="F5F3FF"/>
            </a:solidFill>
            <a:prstDash val="solid"/>
          </a:ln>
        </p:spPr>
      </p:sp>
      <p:sp>
        <p:nvSpPr>
          <p:cNvPr id="5" name="Shape 3"/>
          <p:cNvSpPr/>
          <p:nvPr/>
        </p:nvSpPr>
        <p:spPr>
          <a:xfrm>
            <a:off x="868680" y="2011680"/>
            <a:ext cx="1005840" cy="1005840"/>
          </a:xfrm>
          <a:prstGeom prst="ellipse">
            <a:avLst/>
          </a:prstGeom>
          <a:solidFill>
            <a:srgbClr val="7C3AED"/>
          </a:solidFill>
          <a:ln w="12700">
            <a:solidFill>
              <a:srgbClr val="7C3AED"/>
            </a:solidFill>
            <a:prstDash val="solid"/>
          </a:ln>
        </p:spPr>
      </p:sp>
      <p:pic>
        <p:nvPicPr>
          <p:cNvPr id="6" name="Image 0" descr="preencoded.png">    </p:cNvPr>
          <p:cNvPicPr>
            <a:picLocks noChangeAspect="1"/>
          </p:cNvPicPr>
          <p:nvPr/>
        </p:nvPicPr>
        <p:blipFill>
          <a:blip r:embed="rId1"/>
          <a:stretch>
            <a:fillRect/>
          </a:stretch>
        </p:blipFill>
        <p:spPr>
          <a:xfrm>
            <a:off x="1120140" y="2263140"/>
            <a:ext cx="502920" cy="502920"/>
          </a:xfrm>
          <a:prstGeom prst="rect">
            <a:avLst/>
          </a:prstGeom>
        </p:spPr>
      </p:pic>
      <p:sp>
        <p:nvSpPr>
          <p:cNvPr id="7" name="Text 4"/>
          <p:cNvSpPr txBox="1"/>
          <p:nvPr/>
        </p:nvSpPr>
        <p:spPr>
          <a:xfrm>
            <a:off x="2148840" y="1737360"/>
            <a:ext cx="9144000" cy="320040"/>
          </a:xfrm>
          <a:prstGeom prst="rect">
            <a:avLst/>
          </a:prstGeom>
          <a:noFill/>
          <a:ln/>
        </p:spPr>
        <p:txBody>
          <a:bodyPr wrap="square" lIns="0" tIns="0" rIns="0" bIns="0" rtlCol="0" anchor="ctr"/>
          <a:lstStyle/>
          <a:p>
            <a:pPr indent="0" marL="0">
              <a:buNone/>
            </a:pPr>
            <a:r>
              <a:rPr lang="en-US" sz="1400" b="1" spc="100" kern="0" dirty="0">
                <a:solidFill>
                  <a:srgbClr val="7C3AED"/>
                </a:solidFill>
                <a:latin typeface="Calibri" pitchFamily="34" charset="0"/>
                <a:ea typeface="Calibri" pitchFamily="34" charset="-122"/>
                <a:cs typeface="Calibri" pitchFamily="34" charset="-120"/>
              </a:rPr>
              <a:t>Terminal relocation</a:t>
            </a:r>
            <a:endParaRPr lang="en-US" sz="1400" dirty="0"/>
          </a:p>
        </p:txBody>
      </p:sp>
      <p:sp>
        <p:nvSpPr>
          <p:cNvPr id="8" name="Text 5"/>
          <p:cNvSpPr txBox="1"/>
          <p:nvPr/>
        </p:nvSpPr>
        <p:spPr>
          <a:xfrm>
            <a:off x="2148840" y="2103120"/>
            <a:ext cx="9235440" cy="685800"/>
          </a:xfrm>
          <a:prstGeom prst="rect">
            <a:avLst/>
          </a:prstGeom>
          <a:noFill/>
          <a:ln/>
        </p:spPr>
        <p:txBody>
          <a:bodyPr wrap="square" lIns="0" tIns="0" rIns="0" bIns="0" rtlCol="0" anchor="ctr"/>
          <a:lstStyle/>
          <a:p>
            <a:pPr indent="0" marL="0">
              <a:buNone/>
            </a:pPr>
            <a:r>
              <a:rPr lang="en-US" sz="3200" b="1" dirty="0">
                <a:solidFill>
                  <a:srgbClr val="111827"/>
                </a:solidFill>
                <a:latin typeface="Calibri" pitchFamily="34" charset="0"/>
                <a:ea typeface="Calibri" pitchFamily="34" charset="-122"/>
                <a:cs typeface="Calibri" pitchFamily="34" charset="-120"/>
              </a:rPr>
              <a:t>Moving to a new building</a:t>
            </a:r>
            <a:endParaRPr lang="en-US" sz="3200" dirty="0"/>
          </a:p>
        </p:txBody>
      </p:sp>
      <p:sp>
        <p:nvSpPr>
          <p:cNvPr id="9" name="Text 6"/>
          <p:cNvSpPr txBox="1"/>
          <p:nvPr/>
        </p:nvSpPr>
        <p:spPr>
          <a:xfrm>
            <a:off x="2148840" y="2834640"/>
            <a:ext cx="9144000" cy="365760"/>
          </a:xfrm>
          <a:prstGeom prst="rect">
            <a:avLst/>
          </a:prstGeom>
          <a:noFill/>
          <a:ln/>
        </p:spPr>
        <p:txBody>
          <a:bodyPr wrap="square" lIns="0" tIns="0" rIns="0" bIns="0" rtlCol="0" anchor="ctr"/>
          <a:lstStyle/>
          <a:p>
            <a:pPr indent="0" marL="0">
              <a:buNone/>
            </a:pPr>
            <a:r>
              <a:rPr lang="en-US" sz="1800" dirty="0">
                <a:solidFill>
                  <a:srgbClr val="1F2937"/>
                </a:solidFill>
                <a:latin typeface="Calibri" pitchFamily="34" charset="0"/>
                <a:ea typeface="Calibri" pitchFamily="34" charset="-122"/>
                <a:cs typeface="Calibri" pitchFamily="34" charset="-120"/>
              </a:rPr>
              <a:t>Expected before end of calendar 2026.</a:t>
            </a:r>
            <a:endParaRPr lang="en-US" sz="1800" dirty="0"/>
          </a:p>
        </p:txBody>
      </p:sp>
      <p:sp>
        <p:nvSpPr>
          <p:cNvPr id="10" name="Shape 7"/>
          <p:cNvSpPr/>
          <p:nvPr/>
        </p:nvSpPr>
        <p:spPr>
          <a:xfrm>
            <a:off x="548640" y="3840480"/>
            <a:ext cx="5408676" cy="2103120"/>
          </a:xfrm>
          <a:prstGeom prst="roundRect">
            <a:avLst>
              <a:gd name="adj" fmla="val 3478"/>
            </a:avLst>
          </a:prstGeom>
          <a:solidFill>
            <a:srgbClr val="F3F4F6"/>
          </a:solidFill>
          <a:ln w="12700">
            <a:solidFill>
              <a:srgbClr val="F3F4F6"/>
            </a:solidFill>
            <a:prstDash val="solid"/>
          </a:ln>
        </p:spPr>
      </p:sp>
      <p:sp>
        <p:nvSpPr>
          <p:cNvPr id="11" name="Shape 8"/>
          <p:cNvSpPr/>
          <p:nvPr/>
        </p:nvSpPr>
        <p:spPr>
          <a:xfrm>
            <a:off x="868680" y="4160520"/>
            <a:ext cx="640080" cy="640080"/>
          </a:xfrm>
          <a:prstGeom prst="ellipse">
            <a:avLst/>
          </a:prstGeom>
          <a:solidFill>
            <a:srgbClr val="EDE9FE"/>
          </a:solidFill>
          <a:ln w="12700">
            <a:solidFill>
              <a:srgbClr val="EDE9FE"/>
            </a:solidFill>
            <a:prstDash val="solid"/>
          </a:ln>
        </p:spPr>
      </p:sp>
      <p:pic>
        <p:nvPicPr>
          <p:cNvPr id="12" name="Image 1" descr="preencoded.png">    </p:cNvPr>
          <p:cNvPicPr>
            <a:picLocks noChangeAspect="1"/>
          </p:cNvPicPr>
          <p:nvPr/>
        </p:nvPicPr>
        <p:blipFill>
          <a:blip r:embed="rId2"/>
          <a:stretch>
            <a:fillRect/>
          </a:stretch>
        </p:blipFill>
        <p:spPr>
          <a:xfrm>
            <a:off x="1028700" y="4320540"/>
            <a:ext cx="320040" cy="320040"/>
          </a:xfrm>
          <a:prstGeom prst="rect">
            <a:avLst/>
          </a:prstGeom>
        </p:spPr>
      </p:pic>
      <p:sp>
        <p:nvSpPr>
          <p:cNvPr id="13" name="Text 9"/>
          <p:cNvSpPr txBox="1"/>
          <p:nvPr/>
        </p:nvSpPr>
        <p:spPr>
          <a:xfrm>
            <a:off x="1737360" y="4160520"/>
            <a:ext cx="3945636" cy="320040"/>
          </a:xfrm>
          <a:prstGeom prst="rect">
            <a:avLst/>
          </a:prstGeom>
          <a:noFill/>
          <a:ln/>
        </p:spPr>
        <p:txBody>
          <a:bodyPr wrap="square" lIns="0" tIns="0" rIns="0" bIns="0" rtlCol="0" anchor="ctr"/>
          <a:lstStyle/>
          <a:p>
            <a:pPr indent="0" marL="0">
              <a:buNone/>
            </a:pPr>
            <a:r>
              <a:rPr lang="en-US" sz="1400" b="1" dirty="0">
                <a:solidFill>
                  <a:srgbClr val="6B7280"/>
                </a:solidFill>
                <a:latin typeface="Calibri" pitchFamily="34" charset="0"/>
                <a:ea typeface="Calibri" pitchFamily="34" charset="-122"/>
                <a:cs typeface="Calibri" pitchFamily="34" charset="-120"/>
              </a:rPr>
              <a:t>Current site</a:t>
            </a:r>
            <a:endParaRPr lang="en-US" sz="1400" dirty="0"/>
          </a:p>
        </p:txBody>
      </p:sp>
      <p:sp>
        <p:nvSpPr>
          <p:cNvPr id="14" name="Text 10"/>
          <p:cNvSpPr txBox="1"/>
          <p:nvPr/>
        </p:nvSpPr>
        <p:spPr>
          <a:xfrm>
            <a:off x="1737360" y="4526280"/>
            <a:ext cx="3945636" cy="1097280"/>
          </a:xfrm>
          <a:prstGeom prst="rect">
            <a:avLst/>
          </a:prstGeom>
          <a:noFill/>
          <a:ln/>
        </p:spPr>
        <p:txBody>
          <a:bodyPr wrap="square" lIns="0" tIns="0" rIns="0" bIns="0" rtlCol="0" anchor="t"/>
          <a:lstStyle/>
          <a:p>
            <a:pPr indent="0" marL="0">
              <a:buNone/>
            </a:pPr>
            <a:r>
              <a:rPr lang="en-US" sz="2000" b="1" dirty="0">
                <a:solidFill>
                  <a:srgbClr val="111827"/>
                </a:solidFill>
                <a:latin typeface="Calibri" pitchFamily="34" charset="0"/>
                <a:ea typeface="Calibri" pitchFamily="34" charset="-122"/>
                <a:cs typeface="Calibri" pitchFamily="34" charset="-120"/>
              </a:rPr>
              <a:t>No major repair spend planned at the current site.</a:t>
            </a:r>
            <a:endParaRPr lang="en-US" sz="2000" dirty="0"/>
          </a:p>
        </p:txBody>
      </p:sp>
      <p:sp>
        <p:nvSpPr>
          <p:cNvPr id="15" name="Shape 11"/>
          <p:cNvSpPr/>
          <p:nvPr/>
        </p:nvSpPr>
        <p:spPr>
          <a:xfrm>
            <a:off x="6231636" y="3840480"/>
            <a:ext cx="5408676" cy="2103120"/>
          </a:xfrm>
          <a:prstGeom prst="roundRect">
            <a:avLst>
              <a:gd name="adj" fmla="val 3478"/>
            </a:avLst>
          </a:prstGeom>
          <a:solidFill>
            <a:srgbClr val="F3F4F6"/>
          </a:solidFill>
          <a:ln w="12700">
            <a:solidFill>
              <a:srgbClr val="F3F4F6"/>
            </a:solidFill>
            <a:prstDash val="solid"/>
          </a:ln>
        </p:spPr>
      </p:sp>
      <p:sp>
        <p:nvSpPr>
          <p:cNvPr id="16" name="Shape 12"/>
          <p:cNvSpPr/>
          <p:nvPr/>
        </p:nvSpPr>
        <p:spPr>
          <a:xfrm>
            <a:off x="6551676" y="4160520"/>
            <a:ext cx="640080" cy="640080"/>
          </a:xfrm>
          <a:prstGeom prst="ellipse">
            <a:avLst/>
          </a:prstGeom>
          <a:solidFill>
            <a:srgbClr val="EDE9FE"/>
          </a:solidFill>
          <a:ln w="12700">
            <a:solidFill>
              <a:srgbClr val="EDE9FE"/>
            </a:solidFill>
            <a:prstDash val="solid"/>
          </a:ln>
        </p:spPr>
      </p:sp>
      <p:pic>
        <p:nvPicPr>
          <p:cNvPr id="17" name="Image 2" descr="preencoded.png">    </p:cNvPr>
          <p:cNvPicPr>
            <a:picLocks noChangeAspect="1"/>
          </p:cNvPicPr>
          <p:nvPr/>
        </p:nvPicPr>
        <p:blipFill>
          <a:blip r:embed="rId3"/>
          <a:stretch>
            <a:fillRect/>
          </a:stretch>
        </p:blipFill>
        <p:spPr>
          <a:xfrm>
            <a:off x="6711696" y="4320540"/>
            <a:ext cx="320040" cy="320040"/>
          </a:xfrm>
          <a:prstGeom prst="rect">
            <a:avLst/>
          </a:prstGeom>
        </p:spPr>
      </p:pic>
      <p:sp>
        <p:nvSpPr>
          <p:cNvPr id="18" name="Text 13"/>
          <p:cNvSpPr txBox="1"/>
          <p:nvPr/>
        </p:nvSpPr>
        <p:spPr>
          <a:xfrm>
            <a:off x="7420356" y="4160520"/>
            <a:ext cx="3945636" cy="320040"/>
          </a:xfrm>
          <a:prstGeom prst="rect">
            <a:avLst/>
          </a:prstGeom>
          <a:noFill/>
          <a:ln/>
        </p:spPr>
        <p:txBody>
          <a:bodyPr wrap="square" lIns="0" tIns="0" rIns="0" bIns="0" rtlCol="0" anchor="ctr"/>
          <a:lstStyle/>
          <a:p>
            <a:pPr indent="0" marL="0">
              <a:buNone/>
            </a:pPr>
            <a:r>
              <a:rPr lang="en-US" sz="1400" b="1" dirty="0">
                <a:solidFill>
                  <a:srgbClr val="6B7280"/>
                </a:solidFill>
                <a:latin typeface="Calibri" pitchFamily="34" charset="0"/>
                <a:ea typeface="Calibri" pitchFamily="34" charset="-122"/>
                <a:cs typeface="Calibri" pitchFamily="34" charset="-120"/>
              </a:rPr>
              <a:t>Focus</a:t>
            </a:r>
            <a:endParaRPr lang="en-US" sz="1400" dirty="0"/>
          </a:p>
        </p:txBody>
      </p:sp>
      <p:sp>
        <p:nvSpPr>
          <p:cNvPr id="19" name="Text 14"/>
          <p:cNvSpPr txBox="1"/>
          <p:nvPr/>
        </p:nvSpPr>
        <p:spPr>
          <a:xfrm>
            <a:off x="7420356" y="4526280"/>
            <a:ext cx="3945636" cy="1097280"/>
          </a:xfrm>
          <a:prstGeom prst="rect">
            <a:avLst/>
          </a:prstGeom>
          <a:noFill/>
          <a:ln/>
        </p:spPr>
        <p:txBody>
          <a:bodyPr wrap="square" lIns="0" tIns="0" rIns="0" bIns="0" rtlCol="0" anchor="t"/>
          <a:lstStyle/>
          <a:p>
            <a:pPr indent="0" marL="0">
              <a:buNone/>
            </a:pPr>
            <a:r>
              <a:rPr lang="en-US" sz="2000" b="1" dirty="0">
                <a:solidFill>
                  <a:srgbClr val="111827"/>
                </a:solidFill>
                <a:latin typeface="Calibri" pitchFamily="34" charset="0"/>
                <a:ea typeface="Calibri" pitchFamily="34" charset="-122"/>
                <a:cs typeface="Calibri" pitchFamily="34" charset="-120"/>
              </a:rPr>
              <a:t>A clean transition to the new building.</a:t>
            </a:r>
            <a:endParaRPr lang="en-US" sz="2000" dirty="0"/>
          </a:p>
        </p:txBody>
      </p:sp>
      <p:sp>
        <p:nvSpPr>
          <p:cNvPr id="20" name="Text 15"/>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1" name="Text 16"/>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23 / 27</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111827"/>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A78BFA"/>
                </a:solidFill>
                <a:latin typeface="Calibri" pitchFamily="34" charset="0"/>
                <a:ea typeface="Calibri" pitchFamily="34" charset="-122"/>
                <a:cs typeface="Calibri" pitchFamily="34" charset="-120"/>
              </a:rPr>
              <a:t>RECAP &amp; OUTLOOK</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FFFFFF"/>
                </a:solidFill>
                <a:latin typeface="Calibri" pitchFamily="34" charset="0"/>
                <a:ea typeface="Calibri" pitchFamily="34" charset="-122"/>
                <a:cs typeface="Calibri" pitchFamily="34" charset="-120"/>
              </a:rPr>
              <a:t>F26 recap &amp; F27 outlook</a:t>
            </a:r>
            <a:endParaRPr lang="en-US" sz="3000" dirty="0"/>
          </a:p>
        </p:txBody>
      </p:sp>
      <p:sp>
        <p:nvSpPr>
          <p:cNvPr id="4" name="Shape 2"/>
          <p:cNvSpPr/>
          <p:nvPr/>
        </p:nvSpPr>
        <p:spPr>
          <a:xfrm>
            <a:off x="548640" y="1463040"/>
            <a:ext cx="2194560" cy="1463040"/>
          </a:xfrm>
          <a:prstGeom prst="roundRect">
            <a:avLst>
              <a:gd name="adj" fmla="val 5000"/>
            </a:avLst>
          </a:prstGeom>
          <a:solidFill>
            <a:srgbClr val="1F2937"/>
          </a:solidFill>
          <a:ln w="12700">
            <a:solidFill>
              <a:srgbClr val="1F2937"/>
            </a:solidFill>
            <a:prstDash val="solid"/>
          </a:ln>
        </p:spPr>
      </p:sp>
      <p:sp>
        <p:nvSpPr>
          <p:cNvPr id="5" name="Text 3"/>
          <p:cNvSpPr txBox="1"/>
          <p:nvPr/>
        </p:nvSpPr>
        <p:spPr>
          <a:xfrm>
            <a:off x="731520" y="1618488"/>
            <a:ext cx="1828800" cy="274320"/>
          </a:xfrm>
          <a:prstGeom prst="rect">
            <a:avLst/>
          </a:prstGeom>
          <a:noFill/>
          <a:ln/>
        </p:spPr>
        <p:txBody>
          <a:bodyPr wrap="square" lIns="0" tIns="0" rIns="0" bIns="0" rtlCol="0" anchor="ctr"/>
          <a:lstStyle/>
          <a:p>
            <a:pPr indent="0" marL="0">
              <a:buNone/>
            </a:pPr>
            <a:r>
              <a:rPr lang="en-US" sz="1200" b="1" dirty="0">
                <a:solidFill>
                  <a:srgbClr val="9CA3AF"/>
                </a:solidFill>
                <a:latin typeface="Calibri" pitchFamily="34" charset="0"/>
                <a:ea typeface="Calibri" pitchFamily="34" charset="-122"/>
                <a:cs typeface="Calibri" pitchFamily="34" charset="-120"/>
              </a:rPr>
              <a:t>F25 actual cost</a:t>
            </a:r>
            <a:endParaRPr lang="en-US" sz="1200" dirty="0"/>
          </a:p>
        </p:txBody>
      </p:sp>
      <p:sp>
        <p:nvSpPr>
          <p:cNvPr id="6" name="Text 4"/>
          <p:cNvSpPr txBox="1"/>
          <p:nvPr/>
        </p:nvSpPr>
        <p:spPr>
          <a:xfrm>
            <a:off x="731520" y="1920240"/>
            <a:ext cx="1828800" cy="548640"/>
          </a:xfrm>
          <a:prstGeom prst="rect">
            <a:avLst/>
          </a:prstGeom>
          <a:noFill/>
          <a:ln/>
        </p:spPr>
        <p:txBody>
          <a:bodyPr wrap="square" lIns="0" tIns="0" rIns="0" bIns="0" rtlCol="0" anchor="ctr"/>
          <a:lstStyle/>
          <a:p>
            <a:pPr indent="0" marL="0">
              <a:buNone/>
            </a:pPr>
            <a:r>
              <a:rPr lang="en-US" sz="2100" b="1" dirty="0">
                <a:solidFill>
                  <a:srgbClr val="FFFFFF"/>
                </a:solidFill>
                <a:latin typeface="Calibri" pitchFamily="34" charset="0"/>
                <a:ea typeface="Calibri" pitchFamily="34" charset="-122"/>
                <a:cs typeface="Calibri" pitchFamily="34" charset="-120"/>
              </a:rPr>
              <a:t>$3,868,598</a:t>
            </a:r>
            <a:endParaRPr lang="en-US" sz="2100" dirty="0"/>
          </a:p>
        </p:txBody>
      </p:sp>
      <p:sp>
        <p:nvSpPr>
          <p:cNvPr id="7" name="Text 5"/>
          <p:cNvSpPr txBox="1"/>
          <p:nvPr/>
        </p:nvSpPr>
        <p:spPr>
          <a:xfrm>
            <a:off x="731520" y="2496312"/>
            <a:ext cx="1828800" cy="274320"/>
          </a:xfrm>
          <a:prstGeom prst="rect">
            <a:avLst/>
          </a:prstGeom>
          <a:noFill/>
          <a:ln/>
        </p:spPr>
        <p:txBody>
          <a:bodyPr wrap="square" lIns="0" tIns="0" rIns="0" bIns="0" rtlCol="0" anchor="ctr"/>
          <a:lstStyle/>
          <a:p>
            <a:pPr indent="0" marL="0">
              <a:buNone/>
            </a:pPr>
            <a:r>
              <a:rPr lang="en-US" sz="1050" dirty="0">
                <a:solidFill>
                  <a:srgbClr val="9CA3AF"/>
                </a:solidFill>
                <a:latin typeface="Calibri" pitchFamily="34" charset="0"/>
                <a:ea typeface="Calibri" pitchFamily="34" charset="-122"/>
                <a:cs typeface="Calibri" pitchFamily="34" charset="-120"/>
              </a:rPr>
              <a:t>Baseline</a:t>
            </a:r>
            <a:endParaRPr lang="en-US" sz="1050" dirty="0"/>
          </a:p>
        </p:txBody>
      </p:sp>
      <p:sp>
        <p:nvSpPr>
          <p:cNvPr id="8" name="Shape 6"/>
          <p:cNvSpPr/>
          <p:nvPr/>
        </p:nvSpPr>
        <p:spPr>
          <a:xfrm>
            <a:off x="2971800" y="1463040"/>
            <a:ext cx="2194560" cy="1463040"/>
          </a:xfrm>
          <a:prstGeom prst="roundRect">
            <a:avLst>
              <a:gd name="adj" fmla="val 5000"/>
            </a:avLst>
          </a:prstGeom>
          <a:solidFill>
            <a:srgbClr val="1F2937"/>
          </a:solidFill>
          <a:ln w="12700">
            <a:solidFill>
              <a:srgbClr val="1F2937"/>
            </a:solidFill>
            <a:prstDash val="solid"/>
          </a:ln>
        </p:spPr>
      </p:sp>
      <p:sp>
        <p:nvSpPr>
          <p:cNvPr id="9" name="Text 7"/>
          <p:cNvSpPr txBox="1"/>
          <p:nvPr/>
        </p:nvSpPr>
        <p:spPr>
          <a:xfrm>
            <a:off x="3154680" y="1618488"/>
            <a:ext cx="1828800" cy="274320"/>
          </a:xfrm>
          <a:prstGeom prst="rect">
            <a:avLst/>
          </a:prstGeom>
          <a:noFill/>
          <a:ln/>
        </p:spPr>
        <p:txBody>
          <a:bodyPr wrap="square" lIns="0" tIns="0" rIns="0" bIns="0" rtlCol="0" anchor="ctr"/>
          <a:lstStyle/>
          <a:p>
            <a:pPr indent="0" marL="0">
              <a:buNone/>
            </a:pPr>
            <a:r>
              <a:rPr lang="en-US" sz="1200" b="1" dirty="0">
                <a:solidFill>
                  <a:srgbClr val="9CA3AF"/>
                </a:solidFill>
                <a:latin typeface="Calibri" pitchFamily="34" charset="0"/>
                <a:ea typeface="Calibri" pitchFamily="34" charset="-122"/>
                <a:cs typeface="Calibri" pitchFamily="34" charset="-120"/>
              </a:rPr>
              <a:t>F26 target cost</a:t>
            </a:r>
            <a:endParaRPr lang="en-US" sz="1200" dirty="0"/>
          </a:p>
        </p:txBody>
      </p:sp>
      <p:sp>
        <p:nvSpPr>
          <p:cNvPr id="10" name="Text 8"/>
          <p:cNvSpPr txBox="1"/>
          <p:nvPr/>
        </p:nvSpPr>
        <p:spPr>
          <a:xfrm>
            <a:off x="3154680" y="1920240"/>
            <a:ext cx="1828800" cy="548640"/>
          </a:xfrm>
          <a:prstGeom prst="rect">
            <a:avLst/>
          </a:prstGeom>
          <a:noFill/>
          <a:ln/>
        </p:spPr>
        <p:txBody>
          <a:bodyPr wrap="square" lIns="0" tIns="0" rIns="0" bIns="0" rtlCol="0" anchor="ctr"/>
          <a:lstStyle/>
          <a:p>
            <a:pPr indent="0" marL="0">
              <a:buNone/>
            </a:pPr>
            <a:r>
              <a:rPr lang="en-US" sz="2100" b="1" dirty="0">
                <a:solidFill>
                  <a:srgbClr val="FFFFFF"/>
                </a:solidFill>
                <a:latin typeface="Calibri" pitchFamily="34" charset="0"/>
                <a:ea typeface="Calibri" pitchFamily="34" charset="-122"/>
                <a:cs typeface="Calibri" pitchFamily="34" charset="-120"/>
              </a:rPr>
              <a:t>$3,482,009</a:t>
            </a:r>
            <a:endParaRPr lang="en-US" sz="2100" dirty="0"/>
          </a:p>
        </p:txBody>
      </p:sp>
      <p:sp>
        <p:nvSpPr>
          <p:cNvPr id="11" name="Text 9"/>
          <p:cNvSpPr txBox="1"/>
          <p:nvPr/>
        </p:nvSpPr>
        <p:spPr>
          <a:xfrm>
            <a:off x="3154680" y="2496312"/>
            <a:ext cx="1828800" cy="274320"/>
          </a:xfrm>
          <a:prstGeom prst="rect">
            <a:avLst/>
          </a:prstGeom>
          <a:noFill/>
          <a:ln/>
        </p:spPr>
        <p:txBody>
          <a:bodyPr wrap="square" lIns="0" tIns="0" rIns="0" bIns="0" rtlCol="0" anchor="ctr"/>
          <a:lstStyle/>
          <a:p>
            <a:pPr indent="0" marL="0">
              <a:buNone/>
            </a:pPr>
            <a:r>
              <a:rPr lang="en-US" sz="1050" dirty="0">
                <a:solidFill>
                  <a:srgbClr val="9CA3AF"/>
                </a:solidFill>
                <a:latin typeface="Calibri" pitchFamily="34" charset="0"/>
                <a:ea typeface="Calibri" pitchFamily="34" charset="-122"/>
                <a:cs typeface="Calibri" pitchFamily="34" charset="-120"/>
              </a:rPr>
              <a:t>Plan set July 2025</a:t>
            </a:r>
            <a:endParaRPr lang="en-US" sz="1050" dirty="0"/>
          </a:p>
        </p:txBody>
      </p:sp>
      <p:sp>
        <p:nvSpPr>
          <p:cNvPr id="12" name="Shape 10"/>
          <p:cNvSpPr/>
          <p:nvPr/>
        </p:nvSpPr>
        <p:spPr>
          <a:xfrm>
            <a:off x="5394960" y="1463040"/>
            <a:ext cx="2194560" cy="1463040"/>
          </a:xfrm>
          <a:prstGeom prst="roundRect">
            <a:avLst>
              <a:gd name="adj" fmla="val 5000"/>
            </a:avLst>
          </a:prstGeom>
          <a:solidFill>
            <a:srgbClr val="1F2937"/>
          </a:solidFill>
          <a:ln w="12700">
            <a:solidFill>
              <a:srgbClr val="1F2937"/>
            </a:solidFill>
            <a:prstDash val="solid"/>
          </a:ln>
        </p:spPr>
      </p:sp>
      <p:sp>
        <p:nvSpPr>
          <p:cNvPr id="13" name="Text 11"/>
          <p:cNvSpPr txBox="1"/>
          <p:nvPr/>
        </p:nvSpPr>
        <p:spPr>
          <a:xfrm>
            <a:off x="5577840" y="1618488"/>
            <a:ext cx="1828800" cy="274320"/>
          </a:xfrm>
          <a:prstGeom prst="rect">
            <a:avLst/>
          </a:prstGeom>
          <a:noFill/>
          <a:ln/>
        </p:spPr>
        <p:txBody>
          <a:bodyPr wrap="square" lIns="0" tIns="0" rIns="0" bIns="0" rtlCol="0" anchor="ctr"/>
          <a:lstStyle/>
          <a:p>
            <a:pPr indent="0" marL="0">
              <a:buNone/>
            </a:pPr>
            <a:r>
              <a:rPr lang="en-US" sz="1200" b="1" dirty="0">
                <a:solidFill>
                  <a:srgbClr val="9CA3AF"/>
                </a:solidFill>
                <a:latin typeface="Calibri" pitchFamily="34" charset="0"/>
                <a:ea typeface="Calibri" pitchFamily="34" charset="-122"/>
                <a:cs typeface="Calibri" pitchFamily="34" charset="-120"/>
              </a:rPr>
              <a:t>Required reduction</a:t>
            </a:r>
            <a:endParaRPr lang="en-US" sz="1200" dirty="0"/>
          </a:p>
        </p:txBody>
      </p:sp>
      <p:sp>
        <p:nvSpPr>
          <p:cNvPr id="14" name="Text 12"/>
          <p:cNvSpPr txBox="1"/>
          <p:nvPr/>
        </p:nvSpPr>
        <p:spPr>
          <a:xfrm>
            <a:off x="5577840" y="1920240"/>
            <a:ext cx="1828800" cy="548640"/>
          </a:xfrm>
          <a:prstGeom prst="rect">
            <a:avLst/>
          </a:prstGeom>
          <a:noFill/>
          <a:ln/>
        </p:spPr>
        <p:txBody>
          <a:bodyPr wrap="square" lIns="0" tIns="0" rIns="0" bIns="0" rtlCol="0" anchor="ctr"/>
          <a:lstStyle/>
          <a:p>
            <a:pPr indent="0" marL="0">
              <a:buNone/>
            </a:pPr>
            <a:r>
              <a:rPr lang="en-US" sz="2100" b="1" dirty="0">
                <a:solidFill>
                  <a:srgbClr val="FFFFFF"/>
                </a:solidFill>
                <a:latin typeface="Calibri" pitchFamily="34" charset="0"/>
                <a:ea typeface="Calibri" pitchFamily="34" charset="-122"/>
                <a:cs typeface="Calibri" pitchFamily="34" charset="-120"/>
              </a:rPr>
              <a:t>$386,589</a:t>
            </a:r>
            <a:endParaRPr lang="en-US" sz="2100" dirty="0"/>
          </a:p>
        </p:txBody>
      </p:sp>
      <p:sp>
        <p:nvSpPr>
          <p:cNvPr id="15" name="Text 13"/>
          <p:cNvSpPr txBox="1"/>
          <p:nvPr/>
        </p:nvSpPr>
        <p:spPr>
          <a:xfrm>
            <a:off x="5577840" y="2496312"/>
            <a:ext cx="1828800" cy="274320"/>
          </a:xfrm>
          <a:prstGeom prst="rect">
            <a:avLst/>
          </a:prstGeom>
          <a:noFill/>
          <a:ln/>
        </p:spPr>
        <p:txBody>
          <a:bodyPr wrap="square" lIns="0" tIns="0" rIns="0" bIns="0" rtlCol="0" anchor="ctr"/>
          <a:lstStyle/>
          <a:p>
            <a:pPr indent="0" marL="0">
              <a:buNone/>
            </a:pPr>
            <a:r>
              <a:rPr lang="en-US" sz="1050" dirty="0">
                <a:solidFill>
                  <a:srgbClr val="9CA3AF"/>
                </a:solidFill>
                <a:latin typeface="Calibri" pitchFamily="34" charset="0"/>
                <a:ea typeface="Calibri" pitchFamily="34" charset="-122"/>
                <a:cs typeface="Calibri" pitchFamily="34" charset="-120"/>
              </a:rPr>
              <a:t>F25 actual − F26 target</a:t>
            </a:r>
            <a:endParaRPr lang="en-US" sz="1050" dirty="0"/>
          </a:p>
        </p:txBody>
      </p:sp>
      <p:sp>
        <p:nvSpPr>
          <p:cNvPr id="16" name="Shape 14"/>
          <p:cNvSpPr/>
          <p:nvPr/>
        </p:nvSpPr>
        <p:spPr>
          <a:xfrm>
            <a:off x="548640" y="3154680"/>
            <a:ext cx="2194560" cy="1463040"/>
          </a:xfrm>
          <a:prstGeom prst="roundRect">
            <a:avLst>
              <a:gd name="adj" fmla="val 5000"/>
            </a:avLst>
          </a:prstGeom>
          <a:solidFill>
            <a:srgbClr val="1F2937"/>
          </a:solidFill>
          <a:ln w="12700">
            <a:solidFill>
              <a:srgbClr val="1F2937"/>
            </a:solidFill>
            <a:prstDash val="solid"/>
          </a:ln>
        </p:spPr>
      </p:sp>
      <p:sp>
        <p:nvSpPr>
          <p:cNvPr id="17" name="Text 15"/>
          <p:cNvSpPr txBox="1"/>
          <p:nvPr/>
        </p:nvSpPr>
        <p:spPr>
          <a:xfrm>
            <a:off x="731520" y="3310128"/>
            <a:ext cx="1828800" cy="274320"/>
          </a:xfrm>
          <a:prstGeom prst="rect">
            <a:avLst/>
          </a:prstGeom>
          <a:noFill/>
          <a:ln/>
        </p:spPr>
        <p:txBody>
          <a:bodyPr wrap="square" lIns="0" tIns="0" rIns="0" bIns="0" rtlCol="0" anchor="ctr"/>
          <a:lstStyle/>
          <a:p>
            <a:pPr indent="0" marL="0">
              <a:buNone/>
            </a:pPr>
            <a:r>
              <a:rPr lang="en-US" sz="1200" b="1" dirty="0">
                <a:solidFill>
                  <a:srgbClr val="9CA3AF"/>
                </a:solidFill>
                <a:latin typeface="Calibri" pitchFamily="34" charset="0"/>
                <a:ea typeface="Calibri" pitchFamily="34" charset="-122"/>
                <a:cs typeface="Calibri" pitchFamily="34" charset="-120"/>
              </a:rPr>
              <a:t>Identified savings</a:t>
            </a:r>
            <a:endParaRPr lang="en-US" sz="1200" dirty="0"/>
          </a:p>
        </p:txBody>
      </p:sp>
      <p:sp>
        <p:nvSpPr>
          <p:cNvPr id="18" name="Text 16"/>
          <p:cNvSpPr txBox="1"/>
          <p:nvPr/>
        </p:nvSpPr>
        <p:spPr>
          <a:xfrm>
            <a:off x="731520" y="3611880"/>
            <a:ext cx="1828800" cy="548640"/>
          </a:xfrm>
          <a:prstGeom prst="rect">
            <a:avLst/>
          </a:prstGeom>
          <a:noFill/>
          <a:ln/>
        </p:spPr>
        <p:txBody>
          <a:bodyPr wrap="square" lIns="0" tIns="0" rIns="0" bIns="0" rtlCol="0" anchor="ctr"/>
          <a:lstStyle/>
          <a:p>
            <a:pPr indent="0" marL="0">
              <a:buNone/>
            </a:pPr>
            <a:r>
              <a:rPr lang="en-US" sz="2100" b="1" dirty="0">
                <a:solidFill>
                  <a:srgbClr val="34D399"/>
                </a:solidFill>
                <a:latin typeface="Calibri" pitchFamily="34" charset="0"/>
                <a:ea typeface="Calibri" pitchFamily="34" charset="-122"/>
                <a:cs typeface="Calibri" pitchFamily="34" charset="-120"/>
              </a:rPr>
              <a:t>$427,001</a:t>
            </a:r>
            <a:endParaRPr lang="en-US" sz="2100" dirty="0"/>
          </a:p>
        </p:txBody>
      </p:sp>
      <p:sp>
        <p:nvSpPr>
          <p:cNvPr id="19" name="Text 17"/>
          <p:cNvSpPr txBox="1"/>
          <p:nvPr/>
        </p:nvSpPr>
        <p:spPr>
          <a:xfrm>
            <a:off x="731520" y="4187952"/>
            <a:ext cx="1828800" cy="274320"/>
          </a:xfrm>
          <a:prstGeom prst="rect">
            <a:avLst/>
          </a:prstGeom>
          <a:noFill/>
          <a:ln/>
        </p:spPr>
        <p:txBody>
          <a:bodyPr wrap="square" lIns="0" tIns="0" rIns="0" bIns="0" rtlCol="0" anchor="ctr"/>
          <a:lstStyle/>
          <a:p>
            <a:pPr indent="0" marL="0">
              <a:buNone/>
            </a:pPr>
            <a:r>
              <a:rPr lang="en-US" sz="1050" dirty="0">
                <a:solidFill>
                  <a:srgbClr val="9CA3AF"/>
                </a:solidFill>
                <a:latin typeface="Calibri" pitchFamily="34" charset="0"/>
                <a:ea typeface="Calibri" pitchFamily="34" charset="-122"/>
                <a:cs typeface="Calibri" pitchFamily="34" charset="-120"/>
              </a:rPr>
              <a:t>110% of required reduction</a:t>
            </a:r>
            <a:endParaRPr lang="en-US" sz="1050" dirty="0"/>
          </a:p>
        </p:txBody>
      </p:sp>
      <p:sp>
        <p:nvSpPr>
          <p:cNvPr id="20" name="Shape 18"/>
          <p:cNvSpPr/>
          <p:nvPr/>
        </p:nvSpPr>
        <p:spPr>
          <a:xfrm>
            <a:off x="2971800" y="3154680"/>
            <a:ext cx="2194560" cy="1463040"/>
          </a:xfrm>
          <a:prstGeom prst="roundRect">
            <a:avLst>
              <a:gd name="adj" fmla="val 5000"/>
            </a:avLst>
          </a:prstGeom>
          <a:solidFill>
            <a:srgbClr val="1F2937"/>
          </a:solidFill>
          <a:ln w="12700">
            <a:solidFill>
              <a:srgbClr val="1F2937"/>
            </a:solidFill>
            <a:prstDash val="solid"/>
          </a:ln>
        </p:spPr>
      </p:sp>
      <p:sp>
        <p:nvSpPr>
          <p:cNvPr id="21" name="Text 19"/>
          <p:cNvSpPr txBox="1"/>
          <p:nvPr/>
        </p:nvSpPr>
        <p:spPr>
          <a:xfrm>
            <a:off x="3154680" y="3310128"/>
            <a:ext cx="1828800" cy="274320"/>
          </a:xfrm>
          <a:prstGeom prst="rect">
            <a:avLst/>
          </a:prstGeom>
          <a:noFill/>
          <a:ln/>
        </p:spPr>
        <p:txBody>
          <a:bodyPr wrap="square" lIns="0" tIns="0" rIns="0" bIns="0" rtlCol="0" anchor="ctr"/>
          <a:lstStyle/>
          <a:p>
            <a:pPr indent="0" marL="0">
              <a:buNone/>
            </a:pPr>
            <a:r>
              <a:rPr lang="en-US" sz="1200" b="1" dirty="0">
                <a:solidFill>
                  <a:srgbClr val="9CA3AF"/>
                </a:solidFill>
                <a:latin typeface="Calibri" pitchFamily="34" charset="0"/>
                <a:ea typeface="Calibri" pitchFamily="34" charset="-122"/>
                <a:cs typeface="Calibri" pitchFamily="34" charset="-120"/>
              </a:rPr>
              <a:t>F26 actual cost</a:t>
            </a:r>
            <a:endParaRPr lang="en-US" sz="1200" dirty="0"/>
          </a:p>
        </p:txBody>
      </p:sp>
      <p:sp>
        <p:nvSpPr>
          <p:cNvPr id="22" name="Text 20"/>
          <p:cNvSpPr txBox="1"/>
          <p:nvPr/>
        </p:nvSpPr>
        <p:spPr>
          <a:xfrm>
            <a:off x="3154680" y="3611880"/>
            <a:ext cx="1828800" cy="548640"/>
          </a:xfrm>
          <a:prstGeom prst="rect">
            <a:avLst/>
          </a:prstGeom>
          <a:noFill/>
          <a:ln/>
        </p:spPr>
        <p:txBody>
          <a:bodyPr wrap="square" lIns="0" tIns="0" rIns="0" bIns="0" rtlCol="0" anchor="ctr"/>
          <a:lstStyle/>
          <a:p>
            <a:pPr indent="0" marL="0">
              <a:buNone/>
            </a:pPr>
            <a:r>
              <a:rPr lang="en-US" sz="2100" b="1" dirty="0">
                <a:solidFill>
                  <a:srgbClr val="D97706"/>
                </a:solidFill>
                <a:latin typeface="Calibri" pitchFamily="34" charset="0"/>
                <a:ea typeface="Calibri" pitchFamily="34" charset="-122"/>
                <a:cs typeface="Calibri" pitchFamily="34" charset="-120"/>
              </a:rPr>
              <a:t>TBC</a:t>
            </a:r>
            <a:endParaRPr lang="en-US" sz="2100" dirty="0"/>
          </a:p>
        </p:txBody>
      </p:sp>
      <p:sp>
        <p:nvSpPr>
          <p:cNvPr id="23" name="Text 21"/>
          <p:cNvSpPr txBox="1"/>
          <p:nvPr/>
        </p:nvSpPr>
        <p:spPr>
          <a:xfrm>
            <a:off x="3154680" y="4187952"/>
            <a:ext cx="1828800" cy="274320"/>
          </a:xfrm>
          <a:prstGeom prst="rect">
            <a:avLst/>
          </a:prstGeom>
          <a:noFill/>
          <a:ln/>
        </p:spPr>
        <p:txBody>
          <a:bodyPr wrap="square" lIns="0" tIns="0" rIns="0" bIns="0" rtlCol="0" anchor="ctr"/>
          <a:lstStyle/>
          <a:p>
            <a:pPr indent="0" marL="0">
              <a:buNone/>
            </a:pPr>
            <a:r>
              <a:rPr lang="en-US" sz="1050" dirty="0">
                <a:solidFill>
                  <a:srgbClr val="9CA3AF"/>
                </a:solidFill>
                <a:latin typeface="Calibri" pitchFamily="34" charset="0"/>
                <a:ea typeface="Calibri" pitchFamily="34" charset="-122"/>
                <a:cs typeface="Calibri" pitchFamily="34" charset="-120"/>
              </a:rPr>
              <a:t>Full year, when closed</a:t>
            </a:r>
            <a:endParaRPr lang="en-US" sz="1050" dirty="0"/>
          </a:p>
        </p:txBody>
      </p:sp>
      <p:sp>
        <p:nvSpPr>
          <p:cNvPr id="24" name="Shape 22"/>
          <p:cNvSpPr/>
          <p:nvPr/>
        </p:nvSpPr>
        <p:spPr>
          <a:xfrm>
            <a:off x="5394960" y="3154680"/>
            <a:ext cx="2194560" cy="1463040"/>
          </a:xfrm>
          <a:prstGeom prst="roundRect">
            <a:avLst>
              <a:gd name="adj" fmla="val 5000"/>
            </a:avLst>
          </a:prstGeom>
          <a:solidFill>
            <a:srgbClr val="1F2937"/>
          </a:solidFill>
          <a:ln w="12700">
            <a:solidFill>
              <a:srgbClr val="1F2937"/>
            </a:solidFill>
            <a:prstDash val="solid"/>
          </a:ln>
        </p:spPr>
      </p:sp>
      <p:sp>
        <p:nvSpPr>
          <p:cNvPr id="25" name="Text 23"/>
          <p:cNvSpPr txBox="1"/>
          <p:nvPr/>
        </p:nvSpPr>
        <p:spPr>
          <a:xfrm>
            <a:off x="5577840" y="3310128"/>
            <a:ext cx="1828800" cy="274320"/>
          </a:xfrm>
          <a:prstGeom prst="rect">
            <a:avLst/>
          </a:prstGeom>
          <a:noFill/>
          <a:ln/>
        </p:spPr>
        <p:txBody>
          <a:bodyPr wrap="square" lIns="0" tIns="0" rIns="0" bIns="0" rtlCol="0" anchor="ctr"/>
          <a:lstStyle/>
          <a:p>
            <a:pPr indent="0" marL="0">
              <a:buNone/>
            </a:pPr>
            <a:r>
              <a:rPr lang="en-US" sz="1200" b="1" dirty="0">
                <a:solidFill>
                  <a:srgbClr val="9CA3AF"/>
                </a:solidFill>
                <a:latin typeface="Calibri" pitchFamily="34" charset="0"/>
                <a:ea typeface="Calibri" pitchFamily="34" charset="-122"/>
                <a:cs typeface="Calibri" pitchFamily="34" charset="-120"/>
              </a:rPr>
              <a:t>F26 actual savings</a:t>
            </a:r>
            <a:endParaRPr lang="en-US" sz="1200" dirty="0"/>
          </a:p>
        </p:txBody>
      </p:sp>
      <p:sp>
        <p:nvSpPr>
          <p:cNvPr id="26" name="Text 24"/>
          <p:cNvSpPr txBox="1"/>
          <p:nvPr/>
        </p:nvSpPr>
        <p:spPr>
          <a:xfrm>
            <a:off x="5577840" y="3611880"/>
            <a:ext cx="1828800" cy="548640"/>
          </a:xfrm>
          <a:prstGeom prst="rect">
            <a:avLst/>
          </a:prstGeom>
          <a:noFill/>
          <a:ln/>
        </p:spPr>
        <p:txBody>
          <a:bodyPr wrap="square" lIns="0" tIns="0" rIns="0" bIns="0" rtlCol="0" anchor="ctr"/>
          <a:lstStyle/>
          <a:p>
            <a:pPr indent="0" marL="0">
              <a:buNone/>
            </a:pPr>
            <a:r>
              <a:rPr lang="en-US" sz="2100" b="1" dirty="0">
                <a:solidFill>
                  <a:srgbClr val="D97706"/>
                </a:solidFill>
                <a:latin typeface="Calibri" pitchFamily="34" charset="0"/>
                <a:ea typeface="Calibri" pitchFamily="34" charset="-122"/>
                <a:cs typeface="Calibri" pitchFamily="34" charset="-120"/>
              </a:rPr>
              <a:t>TBC</a:t>
            </a:r>
            <a:endParaRPr lang="en-US" sz="2100" dirty="0"/>
          </a:p>
        </p:txBody>
      </p:sp>
      <p:sp>
        <p:nvSpPr>
          <p:cNvPr id="27" name="Text 25"/>
          <p:cNvSpPr txBox="1"/>
          <p:nvPr/>
        </p:nvSpPr>
        <p:spPr>
          <a:xfrm>
            <a:off x="5577840" y="4187952"/>
            <a:ext cx="1828800" cy="274320"/>
          </a:xfrm>
          <a:prstGeom prst="rect">
            <a:avLst/>
          </a:prstGeom>
          <a:noFill/>
          <a:ln/>
        </p:spPr>
        <p:txBody>
          <a:bodyPr wrap="square" lIns="0" tIns="0" rIns="0" bIns="0" rtlCol="0" anchor="ctr"/>
          <a:lstStyle/>
          <a:p>
            <a:pPr indent="0" marL="0">
              <a:buNone/>
            </a:pPr>
            <a:r>
              <a:rPr lang="en-US" sz="1050" dirty="0">
                <a:solidFill>
                  <a:srgbClr val="9CA3AF"/>
                </a:solidFill>
                <a:latin typeface="Calibri" pitchFamily="34" charset="0"/>
                <a:ea typeface="Calibri" pitchFamily="34" charset="-122"/>
                <a:cs typeface="Calibri" pitchFamily="34" charset="-120"/>
              </a:rPr>
              <a:t>vs F25 actual</a:t>
            </a:r>
            <a:endParaRPr lang="en-US" sz="1050" dirty="0"/>
          </a:p>
        </p:txBody>
      </p:sp>
      <p:sp>
        <p:nvSpPr>
          <p:cNvPr id="28" name="Text 26"/>
          <p:cNvSpPr txBox="1"/>
          <p:nvPr/>
        </p:nvSpPr>
        <p:spPr>
          <a:xfrm>
            <a:off x="548640" y="5074920"/>
            <a:ext cx="7040880" cy="640080"/>
          </a:xfrm>
          <a:prstGeom prst="rect">
            <a:avLst/>
          </a:prstGeom>
          <a:noFill/>
          <a:ln/>
        </p:spPr>
        <p:txBody>
          <a:bodyPr wrap="square" lIns="0" tIns="0" rIns="0" bIns="0" rtlCol="0" anchor="ctr"/>
          <a:lstStyle/>
          <a:p>
            <a:pPr indent="0" marL="0">
              <a:buNone/>
            </a:pPr>
            <a:r>
              <a:rPr lang="en-US" sz="3000" b="1" dirty="0">
                <a:solidFill>
                  <a:srgbClr val="FFFFFF"/>
                </a:solidFill>
                <a:latin typeface="Calibri" pitchFamily="34" charset="0"/>
                <a:ea typeface="Calibri" pitchFamily="34" charset="-122"/>
                <a:cs typeface="Calibri" pitchFamily="34" charset="-120"/>
              </a:rPr>
              <a:t>Questions &amp; discussion</a:t>
            </a:r>
            <a:endParaRPr lang="en-US" sz="3000" dirty="0"/>
          </a:p>
        </p:txBody>
      </p:sp>
      <p:sp>
        <p:nvSpPr>
          <p:cNvPr id="29" name="Shape 27"/>
          <p:cNvSpPr/>
          <p:nvPr/>
        </p:nvSpPr>
        <p:spPr>
          <a:xfrm>
            <a:off x="7909560" y="1463040"/>
            <a:ext cx="3730752" cy="4617720"/>
          </a:xfrm>
          <a:prstGeom prst="roundRect">
            <a:avLst>
              <a:gd name="adj" fmla="val 1961"/>
            </a:avLst>
          </a:prstGeom>
          <a:solidFill>
            <a:srgbClr val="1F2937"/>
          </a:solidFill>
          <a:ln w="12700">
            <a:solidFill>
              <a:srgbClr val="1F2937"/>
            </a:solidFill>
            <a:prstDash val="solid"/>
          </a:ln>
        </p:spPr>
      </p:sp>
      <p:sp>
        <p:nvSpPr>
          <p:cNvPr id="30" name="Shape 28"/>
          <p:cNvSpPr/>
          <p:nvPr/>
        </p:nvSpPr>
        <p:spPr>
          <a:xfrm>
            <a:off x="8138160" y="1691640"/>
            <a:ext cx="502920" cy="502920"/>
          </a:xfrm>
          <a:prstGeom prst="ellipse">
            <a:avLst/>
          </a:prstGeom>
          <a:solidFill>
            <a:srgbClr val="7C3AED"/>
          </a:solidFill>
          <a:ln w="12700">
            <a:solidFill>
              <a:srgbClr val="7C3AED"/>
            </a:solidFill>
            <a:prstDash val="solid"/>
          </a:ln>
        </p:spPr>
      </p:sp>
      <p:pic>
        <p:nvPicPr>
          <p:cNvPr id="31" name="Image 0" descr="preencoded.png">    </p:cNvPr>
          <p:cNvPicPr>
            <a:picLocks noChangeAspect="1"/>
          </p:cNvPicPr>
          <p:nvPr/>
        </p:nvPicPr>
        <p:blipFill>
          <a:blip r:embed="rId1"/>
          <a:stretch>
            <a:fillRect/>
          </a:stretch>
        </p:blipFill>
        <p:spPr>
          <a:xfrm>
            <a:off x="8263890" y="1817370"/>
            <a:ext cx="251460" cy="251460"/>
          </a:xfrm>
          <a:prstGeom prst="rect">
            <a:avLst/>
          </a:prstGeom>
        </p:spPr>
      </p:pic>
      <p:sp>
        <p:nvSpPr>
          <p:cNvPr id="32" name="Text 29"/>
          <p:cNvSpPr txBox="1"/>
          <p:nvPr/>
        </p:nvSpPr>
        <p:spPr>
          <a:xfrm>
            <a:off x="8778240" y="1691640"/>
            <a:ext cx="2651760" cy="50292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F27 so far</a:t>
            </a:r>
            <a:endParaRPr lang="en-US" sz="1800" dirty="0"/>
          </a:p>
        </p:txBody>
      </p:sp>
      <p:sp>
        <p:nvSpPr>
          <p:cNvPr id="33" name="Text 30"/>
          <p:cNvSpPr txBox="1"/>
          <p:nvPr/>
        </p:nvSpPr>
        <p:spPr>
          <a:xfrm>
            <a:off x="8138160" y="2377440"/>
            <a:ext cx="3291840" cy="3611880"/>
          </a:xfrm>
          <a:prstGeom prst="rect">
            <a:avLst/>
          </a:prstGeom>
          <a:noFill/>
          <a:ln/>
        </p:spPr>
        <p:txBody>
          <a:bodyPr wrap="square" lIns="0" tIns="0" rIns="0" bIns="0" rtlCol="0" anchor="t"/>
          <a:lstStyle/>
          <a:p>
            <a:pPr marL="177800" indent="-177800">
              <a:spcAft>
                <a:spcPts val="900"/>
              </a:spcAft>
              <a:buSzPct val="100000"/>
              <a:buChar char="•"/>
            </a:pPr>
            <a:r>
              <a:rPr lang="en-US" sz="1200" dirty="0">
                <a:solidFill>
                  <a:srgbClr val="E5E7EB"/>
                </a:solidFill>
                <a:latin typeface="Calibri" pitchFamily="34" charset="0"/>
                <a:ea typeface="Calibri" pitchFamily="34" charset="-122"/>
                <a:cs typeface="Calibri" pitchFamily="34" charset="-120"/>
              </a:rPr>
              <a:t>91.1% of SCA hour allowance — 391 hrs under (≈$13.1K).</a:t>
            </a:r>
            <a:endParaRPr lang="en-US" sz="1200" dirty="0"/>
          </a:p>
          <a:p>
            <a:pPr marL="177800" indent="-177800">
              <a:spcAft>
                <a:spcPts val="900"/>
              </a:spcAft>
              <a:buSzPct val="100000"/>
              <a:buChar char="•"/>
            </a:pPr>
            <a:r>
              <a:rPr lang="en-US" sz="1200" dirty="0">
                <a:solidFill>
                  <a:srgbClr val="E5E7EB"/>
                </a:solidFill>
                <a:latin typeface="Calibri" pitchFamily="34" charset="0"/>
                <a:ea typeface="Calibri" pitchFamily="34" charset="-122"/>
                <a:cs typeface="Calibri" pitchFamily="34" charset="-120"/>
              </a:rPr>
              <a:t>SCA dock cost per PRO $6.60 vs $6.85 target (96.3%, watch).</a:t>
            </a:r>
            <a:endParaRPr lang="en-US" sz="1200" dirty="0"/>
          </a:p>
          <a:p>
            <a:pPr marL="177800" indent="-177800">
              <a:spcAft>
                <a:spcPts val="900"/>
              </a:spcAft>
              <a:buSzPct val="100000"/>
              <a:buChar char="•"/>
            </a:pPr>
            <a:r>
              <a:rPr lang="en-US" sz="1200" dirty="0">
                <a:solidFill>
                  <a:srgbClr val="E5E7EB"/>
                </a:solidFill>
                <a:latin typeface="Calibri" pitchFamily="34" charset="0"/>
                <a:ea typeface="Calibri" pitchFamily="34" charset="-122"/>
                <a:cs typeface="Calibri" pitchFamily="34" charset="-120"/>
              </a:rPr>
              <a:t>Cost per unit −16.7%; units/hr +26.7%; OT 9 hrs.</a:t>
            </a:r>
            <a:endParaRPr lang="en-US" sz="1200" dirty="0"/>
          </a:p>
          <a:p>
            <a:pPr marL="177800" indent="-177800">
              <a:spcAft>
                <a:spcPts val="900"/>
              </a:spcAft>
              <a:buSzPct val="100000"/>
              <a:buChar char="•"/>
            </a:pPr>
            <a:r>
              <a:rPr lang="en-US" sz="1200" dirty="0">
                <a:solidFill>
                  <a:srgbClr val="E5E7EB"/>
                </a:solidFill>
                <a:latin typeface="Calibri" pitchFamily="34" charset="0"/>
                <a:ea typeface="Calibri" pitchFamily="34" charset="-122"/>
                <a:cs typeface="Calibri" pitchFamily="34" charset="-120"/>
              </a:rPr>
              <a:t>Focus: PPH 3,327 vs 4,258 goal (−21.9%).</a:t>
            </a:r>
            <a:endParaRPr lang="en-US" sz="1200" dirty="0"/>
          </a:p>
          <a:p>
            <a:pPr marL="177800" indent="-177800">
              <a:spcAft>
                <a:spcPts val="900"/>
              </a:spcAft>
              <a:buSzPct val="100000"/>
              <a:buChar char="•"/>
            </a:pPr>
            <a:r>
              <a:rPr lang="en-US" sz="1200" dirty="0">
                <a:solidFill>
                  <a:srgbClr val="E5E7EB"/>
                </a:solidFill>
                <a:latin typeface="Calibri" pitchFamily="34" charset="0"/>
                <a:ea typeface="Calibri" pitchFamily="34" charset="-122"/>
                <a:cs typeface="Calibri" pitchFamily="34" charset="-120"/>
              </a:rPr>
              <a:t>Savings: 7 initiatives tracked; $61K/yr confirmed (dispatcher role eliminated — dispatch centralized).</a:t>
            </a:r>
            <a:endParaRPr lang="en-US" sz="1200" dirty="0"/>
          </a:p>
          <a:p>
            <a:pPr marL="177800" indent="-177800">
              <a:spcAft>
                <a:spcPts val="900"/>
              </a:spcAft>
              <a:buSzPct val="100000"/>
              <a:buChar char="•"/>
            </a:pPr>
            <a:r>
              <a:rPr lang="en-US" sz="1200" dirty="0">
                <a:solidFill>
                  <a:srgbClr val="E5E7EB"/>
                </a:solidFill>
                <a:latin typeface="Calibri" pitchFamily="34" charset="0"/>
                <a:ea typeface="Calibri" pitchFamily="34" charset="-122"/>
                <a:cs typeface="Calibri" pitchFamily="34" charset="-120"/>
              </a:rPr>
              <a:t>F27 take-out target: </a:t>
            </a:r>
            <a:pP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p>
        </p:txBody>
      </p:sp>
      <p:sp>
        <p:nvSpPr>
          <p:cNvPr id="34" name="Text 31"/>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5" name="Text 32"/>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24 / 27</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BACKUP</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Backup — key numbers for Q&amp;A</a:t>
            </a:r>
            <a:endParaRPr lang="en-US" sz="3000" dirty="0"/>
          </a:p>
        </p:txBody>
      </p:sp>
      <p:sp>
        <p:nvSpPr>
          <p:cNvPr id="4" name="Text 2"/>
          <p:cNvSpPr txBox="1"/>
          <p:nvPr/>
        </p:nvSpPr>
        <p:spPr>
          <a:xfrm>
            <a:off x="548640" y="1243584"/>
            <a:ext cx="11091672" cy="274320"/>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Mississauga · September MTD to Sep 26 unless noted · (calc.) = calculated from report figures</a:t>
            </a:r>
            <a:endParaRPr lang="en-US" sz="1200" dirty="0"/>
          </a:p>
        </p:txBody>
      </p:sp>
      <p:sp>
        <p:nvSpPr>
          <p:cNvPr id="5" name="Shape 3"/>
          <p:cNvSpPr/>
          <p:nvPr/>
        </p:nvSpPr>
        <p:spPr>
          <a:xfrm>
            <a:off x="548640" y="1627632"/>
            <a:ext cx="5431536" cy="822960"/>
          </a:xfrm>
          <a:prstGeom prst="roundRect">
            <a:avLst>
              <a:gd name="adj" fmla="val 8889"/>
            </a:avLst>
          </a:prstGeom>
          <a:solidFill>
            <a:srgbClr val="F3F4F6"/>
          </a:solidFill>
          <a:ln w="12700">
            <a:solidFill>
              <a:srgbClr val="F3F4F6"/>
            </a:solidFill>
            <a:prstDash val="solid"/>
          </a:ln>
        </p:spPr>
      </p:sp>
      <p:sp>
        <p:nvSpPr>
          <p:cNvPr id="6" name="Text 4"/>
          <p:cNvSpPr txBox="1"/>
          <p:nvPr/>
        </p:nvSpPr>
        <p:spPr>
          <a:xfrm>
            <a:off x="685800" y="1627632"/>
            <a:ext cx="1234440" cy="822960"/>
          </a:xfrm>
          <a:prstGeom prst="rect">
            <a:avLst/>
          </a:prstGeom>
          <a:noFill/>
          <a:ln/>
        </p:spPr>
        <p:txBody>
          <a:bodyPr wrap="square" lIns="0" tIns="0" rIns="0" bIns="0" rtlCol="0" anchor="ctr"/>
          <a:lstStyle/>
          <a:p>
            <a:pPr indent="0" marL="0">
              <a:buNone/>
            </a:pPr>
            <a:r>
              <a:rPr lang="en-US" sz="1100" b="1" dirty="0">
                <a:solidFill>
                  <a:srgbClr val="7C3AED"/>
                </a:solidFill>
                <a:latin typeface="Calibri" pitchFamily="34" charset="0"/>
                <a:ea typeface="Calibri" pitchFamily="34" charset="-122"/>
                <a:cs typeface="Calibri" pitchFamily="34" charset="-120"/>
              </a:rPr>
              <a:t>SCA target?</a:t>
            </a:r>
            <a:endParaRPr lang="en-US" sz="1100" dirty="0"/>
          </a:p>
        </p:txBody>
      </p:sp>
      <p:sp>
        <p:nvSpPr>
          <p:cNvPr id="7" name="Text 5"/>
          <p:cNvSpPr txBox="1"/>
          <p:nvPr/>
        </p:nvSpPr>
        <p:spPr>
          <a:xfrm>
            <a:off x="1965960" y="1664208"/>
            <a:ext cx="3877056" cy="749808"/>
          </a:xfrm>
          <a:prstGeom prst="rect">
            <a:avLst/>
          </a:prstGeom>
          <a:noFill/>
          <a:ln/>
        </p:spPr>
        <p:txBody>
          <a:bodyPr wrap="square" lIns="0" tIns="0" rIns="0" bIns="0" rtlCol="0" anchor="ctr"/>
          <a:lstStyle/>
          <a:p>
            <a:pPr indent="0" marL="0">
              <a:buNone/>
            </a:pPr>
            <a:r>
              <a:rPr lang="en-US" sz="1000" dirty="0">
                <a:solidFill>
                  <a:srgbClr val="1F2937"/>
                </a:solidFill>
                <a:latin typeface="Calibri" pitchFamily="34" charset="0"/>
                <a:ea typeface="Calibri" pitchFamily="34" charset="-122"/>
                <a:cs typeface="Calibri" pitchFamily="34" charset="-120"/>
              </a:rPr>
              <a:t>Sept SCA target 5,122 dock hrs (F26 Sept 6,303 − 1,181-hr reduction target) · 244 hrs per working day · SCA dock cost per PRO target $6.85.</a:t>
            </a:r>
            <a:endParaRPr lang="en-US" sz="1000" dirty="0"/>
          </a:p>
        </p:txBody>
      </p:sp>
      <p:sp>
        <p:nvSpPr>
          <p:cNvPr id="8" name="Shape 6"/>
          <p:cNvSpPr/>
          <p:nvPr/>
        </p:nvSpPr>
        <p:spPr>
          <a:xfrm>
            <a:off x="548640" y="2523744"/>
            <a:ext cx="5431536" cy="822960"/>
          </a:xfrm>
          <a:prstGeom prst="roundRect">
            <a:avLst>
              <a:gd name="adj" fmla="val 8889"/>
            </a:avLst>
          </a:prstGeom>
          <a:solidFill>
            <a:srgbClr val="F9FAFB"/>
          </a:solidFill>
          <a:ln w="12700">
            <a:solidFill>
              <a:srgbClr val="F9FAFB"/>
            </a:solidFill>
            <a:prstDash val="solid"/>
          </a:ln>
        </p:spPr>
      </p:sp>
      <p:sp>
        <p:nvSpPr>
          <p:cNvPr id="9" name="Text 7"/>
          <p:cNvSpPr txBox="1"/>
          <p:nvPr/>
        </p:nvSpPr>
        <p:spPr>
          <a:xfrm>
            <a:off x="685800" y="2523744"/>
            <a:ext cx="1234440" cy="822960"/>
          </a:xfrm>
          <a:prstGeom prst="rect">
            <a:avLst/>
          </a:prstGeom>
          <a:noFill/>
          <a:ln/>
        </p:spPr>
        <p:txBody>
          <a:bodyPr wrap="square" lIns="0" tIns="0" rIns="0" bIns="0" rtlCol="0" anchor="ctr"/>
          <a:lstStyle/>
          <a:p>
            <a:pPr indent="0" marL="0">
              <a:buNone/>
            </a:pPr>
            <a:r>
              <a:rPr lang="en-US" sz="1100" b="1" dirty="0">
                <a:solidFill>
                  <a:srgbClr val="7C3AED"/>
                </a:solidFill>
                <a:latin typeface="Calibri" pitchFamily="34" charset="0"/>
                <a:ea typeface="Calibri" pitchFamily="34" charset="-122"/>
                <a:cs typeface="Calibri" pitchFamily="34" charset="-120"/>
              </a:rPr>
              <a:t>Tracking?</a:t>
            </a:r>
            <a:endParaRPr lang="en-US" sz="1100" dirty="0"/>
          </a:p>
        </p:txBody>
      </p:sp>
      <p:sp>
        <p:nvSpPr>
          <p:cNvPr id="10" name="Text 8"/>
          <p:cNvSpPr txBox="1"/>
          <p:nvPr/>
        </p:nvSpPr>
        <p:spPr>
          <a:xfrm>
            <a:off x="1965960" y="2560320"/>
            <a:ext cx="3877056" cy="749808"/>
          </a:xfrm>
          <a:prstGeom prst="rect">
            <a:avLst/>
          </a:prstGeom>
          <a:noFill/>
          <a:ln/>
        </p:spPr>
        <p:txBody>
          <a:bodyPr wrap="square" lIns="0" tIns="0" rIns="0" bIns="0" rtlCol="0" anchor="ctr"/>
          <a:lstStyle/>
          <a:p>
            <a:pPr indent="0" marL="0">
              <a:buNone/>
            </a:pPr>
            <a:r>
              <a:rPr lang="en-US" sz="1000" dirty="0">
                <a:solidFill>
                  <a:srgbClr val="1F2937"/>
                </a:solidFill>
                <a:latin typeface="Calibri" pitchFamily="34" charset="0"/>
                <a:ea typeface="Calibri" pitchFamily="34" charset="-122"/>
                <a:cs typeface="Calibri" pitchFamily="34" charset="-120"/>
              </a:rPr>
              <a:t>3,999 hrs used vs 4,390 allowed MTD = 91.1% (391 hrs under ≈ $13.1K) · pace ≈4,666 hrs vs 5,122 target = 139% of reduction target · SCA dock cost per PRO $6.60 = 96.3% of target (amber).</a:t>
            </a:r>
            <a:endParaRPr lang="en-US" sz="1000" dirty="0"/>
          </a:p>
        </p:txBody>
      </p:sp>
      <p:sp>
        <p:nvSpPr>
          <p:cNvPr id="11" name="Shape 9"/>
          <p:cNvSpPr/>
          <p:nvPr/>
        </p:nvSpPr>
        <p:spPr>
          <a:xfrm>
            <a:off x="548640" y="3419856"/>
            <a:ext cx="5431536" cy="822960"/>
          </a:xfrm>
          <a:prstGeom prst="roundRect">
            <a:avLst>
              <a:gd name="adj" fmla="val 8889"/>
            </a:avLst>
          </a:prstGeom>
          <a:solidFill>
            <a:srgbClr val="F3F4F6"/>
          </a:solidFill>
          <a:ln w="12700">
            <a:solidFill>
              <a:srgbClr val="F3F4F6"/>
            </a:solidFill>
            <a:prstDash val="solid"/>
          </a:ln>
        </p:spPr>
      </p:sp>
      <p:sp>
        <p:nvSpPr>
          <p:cNvPr id="12" name="Text 10"/>
          <p:cNvSpPr txBox="1"/>
          <p:nvPr/>
        </p:nvSpPr>
        <p:spPr>
          <a:xfrm>
            <a:off x="685800" y="3419856"/>
            <a:ext cx="1234440" cy="822960"/>
          </a:xfrm>
          <a:prstGeom prst="rect">
            <a:avLst/>
          </a:prstGeom>
          <a:noFill/>
          <a:ln/>
        </p:spPr>
        <p:txBody>
          <a:bodyPr wrap="square" lIns="0" tIns="0" rIns="0" bIns="0" rtlCol="0" anchor="ctr"/>
          <a:lstStyle/>
          <a:p>
            <a:pPr indent="0" marL="0">
              <a:buNone/>
            </a:pPr>
            <a:r>
              <a:rPr lang="en-US" sz="1100" b="1" dirty="0">
                <a:solidFill>
                  <a:srgbClr val="7C3AED"/>
                </a:solidFill>
                <a:latin typeface="Calibri" pitchFamily="34" charset="0"/>
                <a:ea typeface="Calibri" pitchFamily="34" charset="-122"/>
                <a:cs typeface="Calibri" pitchFamily="34" charset="-120"/>
              </a:rPr>
              <a:t>Spend rate?</a:t>
            </a:r>
            <a:endParaRPr lang="en-US" sz="1100" dirty="0"/>
          </a:p>
        </p:txBody>
      </p:sp>
      <p:sp>
        <p:nvSpPr>
          <p:cNvPr id="13" name="Text 11"/>
          <p:cNvSpPr txBox="1"/>
          <p:nvPr/>
        </p:nvSpPr>
        <p:spPr>
          <a:xfrm>
            <a:off x="1965960" y="3456432"/>
            <a:ext cx="3877056" cy="749808"/>
          </a:xfrm>
          <a:prstGeom prst="rect">
            <a:avLst/>
          </a:prstGeom>
          <a:noFill/>
          <a:ln/>
        </p:spPr>
        <p:txBody>
          <a:bodyPr wrap="square" lIns="0" tIns="0" rIns="0" bIns="0" rtlCol="0" anchor="ctr"/>
          <a:lstStyle/>
          <a:p>
            <a:pPr indent="0" marL="0">
              <a:buNone/>
            </a:pPr>
            <a:r>
              <a:rPr lang="en-US" sz="1000" dirty="0">
                <a:solidFill>
                  <a:srgbClr val="1F2937"/>
                </a:solidFill>
                <a:latin typeface="Calibri" pitchFamily="34" charset="0"/>
                <a:ea typeface="Calibri" pitchFamily="34" charset="-122"/>
                <a:cs typeface="Calibri" pitchFamily="34" charset="-120"/>
              </a:rPr>
              <a:t>Dock labour $133,692 MTD over 18 working days ≈ $7,427 per working day (calc.) · projected Sept ≈ $156K vs $199.7K F26 Sept (≈ −22%, calc.) · $33.43/hr (+5.5% YoY wage rate) · cost per unit $2.19 vs $2.64 (−16.7%).</a:t>
            </a:r>
            <a:endParaRPr lang="en-US" sz="1000" dirty="0"/>
          </a:p>
        </p:txBody>
      </p:sp>
      <p:sp>
        <p:nvSpPr>
          <p:cNvPr id="14" name="Shape 12"/>
          <p:cNvSpPr/>
          <p:nvPr/>
        </p:nvSpPr>
        <p:spPr>
          <a:xfrm>
            <a:off x="548640" y="4315968"/>
            <a:ext cx="5431536" cy="822960"/>
          </a:xfrm>
          <a:prstGeom prst="roundRect">
            <a:avLst>
              <a:gd name="adj" fmla="val 8889"/>
            </a:avLst>
          </a:prstGeom>
          <a:solidFill>
            <a:srgbClr val="F9FAFB"/>
          </a:solidFill>
          <a:ln w="12700">
            <a:solidFill>
              <a:srgbClr val="F9FAFB"/>
            </a:solidFill>
            <a:prstDash val="solid"/>
          </a:ln>
        </p:spPr>
      </p:sp>
      <p:sp>
        <p:nvSpPr>
          <p:cNvPr id="15" name="Text 13"/>
          <p:cNvSpPr txBox="1"/>
          <p:nvPr/>
        </p:nvSpPr>
        <p:spPr>
          <a:xfrm>
            <a:off x="685800" y="4315968"/>
            <a:ext cx="1234440" cy="822960"/>
          </a:xfrm>
          <a:prstGeom prst="rect">
            <a:avLst/>
          </a:prstGeom>
          <a:noFill/>
          <a:ln/>
        </p:spPr>
        <p:txBody>
          <a:bodyPr wrap="square" lIns="0" tIns="0" rIns="0" bIns="0" rtlCol="0" anchor="ctr"/>
          <a:lstStyle/>
          <a:p>
            <a:pPr indent="0" marL="0">
              <a:buNone/>
            </a:pPr>
            <a:r>
              <a:rPr lang="en-US" sz="1100" b="1" dirty="0">
                <a:solidFill>
                  <a:srgbClr val="7C3AED"/>
                </a:solidFill>
                <a:latin typeface="Calibri" pitchFamily="34" charset="0"/>
                <a:ea typeface="Calibri" pitchFamily="34" charset="-122"/>
                <a:cs typeface="Calibri" pitchFamily="34" charset="-120"/>
              </a:rPr>
              <a:t>Agency mix?</a:t>
            </a:r>
            <a:endParaRPr lang="en-US" sz="1100" dirty="0"/>
          </a:p>
        </p:txBody>
      </p:sp>
      <p:sp>
        <p:nvSpPr>
          <p:cNvPr id="16" name="Text 14"/>
          <p:cNvSpPr txBox="1"/>
          <p:nvPr/>
        </p:nvSpPr>
        <p:spPr>
          <a:xfrm>
            <a:off x="1965960" y="4352544"/>
            <a:ext cx="3877056" cy="749808"/>
          </a:xfrm>
          <a:prstGeom prst="rect">
            <a:avLst/>
          </a:prstGeom>
          <a:noFill/>
          <a:ln/>
        </p:spPr>
        <p:txBody>
          <a:bodyPr wrap="square" lIns="0" tIns="0" rIns="0" bIns="0" rtlCol="0" anchor="ctr"/>
          <a:lstStyle/>
          <a:p>
            <a:pPr indent="0" marL="0">
              <a:buNone/>
            </a:pPr>
            <a:r>
              <a:rPr lang="en-US" sz="1000" dirty="0">
                <a:solidFill>
                  <a:srgbClr val="1F2937"/>
                </a:solidFill>
                <a:latin typeface="Calibri" pitchFamily="34" charset="0"/>
                <a:ea typeface="Calibri" pitchFamily="34" charset="-122"/>
                <a:cs typeface="Calibri" pitchFamily="34" charset="-120"/>
              </a:rPr>
              <a:t>Agency 61% of dock hours (2,457 of 3,999) vs 70.5% F26 · agency cost $74,775 = 56% of dock labour vs 65% F26 (calc.).</a:t>
            </a:r>
            <a:endParaRPr lang="en-US" sz="1000" dirty="0"/>
          </a:p>
        </p:txBody>
      </p:sp>
      <p:sp>
        <p:nvSpPr>
          <p:cNvPr id="17" name="Shape 15"/>
          <p:cNvSpPr/>
          <p:nvPr/>
        </p:nvSpPr>
        <p:spPr>
          <a:xfrm>
            <a:off x="548640" y="5212080"/>
            <a:ext cx="5431536" cy="822960"/>
          </a:xfrm>
          <a:prstGeom prst="roundRect">
            <a:avLst>
              <a:gd name="adj" fmla="val 8889"/>
            </a:avLst>
          </a:prstGeom>
          <a:solidFill>
            <a:srgbClr val="F3F4F6"/>
          </a:solidFill>
          <a:ln w="12700">
            <a:solidFill>
              <a:srgbClr val="F3F4F6"/>
            </a:solidFill>
            <a:prstDash val="solid"/>
          </a:ln>
        </p:spPr>
      </p:sp>
      <p:sp>
        <p:nvSpPr>
          <p:cNvPr id="18" name="Text 16"/>
          <p:cNvSpPr txBox="1"/>
          <p:nvPr/>
        </p:nvSpPr>
        <p:spPr>
          <a:xfrm>
            <a:off x="685800" y="5212080"/>
            <a:ext cx="1234440" cy="822960"/>
          </a:xfrm>
          <a:prstGeom prst="rect">
            <a:avLst/>
          </a:prstGeom>
          <a:noFill/>
          <a:ln/>
        </p:spPr>
        <p:txBody>
          <a:bodyPr wrap="square" lIns="0" tIns="0" rIns="0" bIns="0" rtlCol="0" anchor="ctr"/>
          <a:lstStyle/>
          <a:p>
            <a:pPr indent="0" marL="0">
              <a:buNone/>
            </a:pPr>
            <a:r>
              <a:rPr lang="en-US" sz="1100" b="1" dirty="0">
                <a:solidFill>
                  <a:srgbClr val="7C3AED"/>
                </a:solidFill>
                <a:latin typeface="Calibri" pitchFamily="34" charset="0"/>
                <a:ea typeface="Calibri" pitchFamily="34" charset="-122"/>
                <a:cs typeface="Calibri" pitchFamily="34" charset="-120"/>
              </a:rPr>
              <a:t>Year-end goal?</a:t>
            </a:r>
            <a:endParaRPr lang="en-US" sz="1100" dirty="0"/>
          </a:p>
        </p:txBody>
      </p:sp>
      <p:sp>
        <p:nvSpPr>
          <p:cNvPr id="19" name="Text 17"/>
          <p:cNvSpPr txBox="1"/>
          <p:nvPr/>
        </p:nvSpPr>
        <p:spPr>
          <a:xfrm>
            <a:off x="1965960" y="5248656"/>
            <a:ext cx="3877056" cy="749808"/>
          </a:xfrm>
          <a:prstGeom prst="rect">
            <a:avLst/>
          </a:prstGeom>
          <a:noFill/>
          <a:ln/>
        </p:spPr>
        <p:txBody>
          <a:bodyPr wrap="square" lIns="0" tIns="0" rIns="0" bIns="0" rtlCol="0" anchor="ctr"/>
          <a:lstStyle/>
          <a:p>
            <a:pPr indent="0" marL="0">
              <a:buNone/>
            </a:pPr>
            <a:r>
              <a:rPr lang="en-US" sz="1000" dirty="0">
                <a:solidFill>
                  <a:srgbClr val="1F2937"/>
                </a:solidFill>
                <a:latin typeface="Calibri" pitchFamily="34" charset="0"/>
                <a:ea typeface="Calibri" pitchFamily="34" charset="-122"/>
                <a:cs typeface="Calibri" pitchFamily="34" charset="-120"/>
              </a:rPr>
              <a:t>F27 cost take-out target: </a:t>
            </a:r>
            <a:pPr indent="0" marL="0">
              <a:buNone/>
            </a:pPr>
            <a:r>
              <a:rPr lang="en-US" sz="1000" b="1" dirty="0">
                <a:solidFill>
                  <a:srgbClr val="D97706"/>
                </a:solidFill>
                <a:latin typeface="Calibri" pitchFamily="34" charset="0"/>
                <a:ea typeface="Calibri" pitchFamily="34" charset="-122"/>
                <a:cs typeface="Calibri" pitchFamily="34" charset="-120"/>
              </a:rPr>
              <a:t>TBC</a:t>
            </a:r>
            <a:pPr indent="0" marL="0">
              <a:buNone/>
            </a:pPr>
            <a:r>
              <a:rPr lang="en-US" sz="1000" dirty="0">
                <a:solidFill>
                  <a:srgbClr val="1F2937"/>
                </a:solidFill>
                <a:latin typeface="Calibri" pitchFamily="34" charset="0"/>
                <a:ea typeface="Calibri" pitchFamily="34" charset="-122"/>
                <a:cs typeface="Calibri" pitchFamily="34" charset="-120"/>
              </a:rPr>
              <a:t> · identified so far $61K/yr (dispatcher role eliminated).</a:t>
            </a:r>
            <a:endParaRPr lang="en-US" sz="1000" dirty="0"/>
          </a:p>
        </p:txBody>
      </p:sp>
      <p:sp>
        <p:nvSpPr>
          <p:cNvPr id="20" name="Shape 18"/>
          <p:cNvSpPr/>
          <p:nvPr/>
        </p:nvSpPr>
        <p:spPr>
          <a:xfrm>
            <a:off x="6208776" y="1627632"/>
            <a:ext cx="5431536" cy="822960"/>
          </a:xfrm>
          <a:prstGeom prst="roundRect">
            <a:avLst>
              <a:gd name="adj" fmla="val 8889"/>
            </a:avLst>
          </a:prstGeom>
          <a:solidFill>
            <a:srgbClr val="F3F4F6"/>
          </a:solidFill>
          <a:ln w="12700">
            <a:solidFill>
              <a:srgbClr val="F3F4F6"/>
            </a:solidFill>
            <a:prstDash val="solid"/>
          </a:ln>
        </p:spPr>
      </p:sp>
      <p:sp>
        <p:nvSpPr>
          <p:cNvPr id="21" name="Text 19"/>
          <p:cNvSpPr txBox="1"/>
          <p:nvPr/>
        </p:nvSpPr>
        <p:spPr>
          <a:xfrm>
            <a:off x="6345936" y="1627632"/>
            <a:ext cx="1234440" cy="822960"/>
          </a:xfrm>
          <a:prstGeom prst="rect">
            <a:avLst/>
          </a:prstGeom>
          <a:noFill/>
          <a:ln/>
        </p:spPr>
        <p:txBody>
          <a:bodyPr wrap="square" lIns="0" tIns="0" rIns="0" bIns="0" rtlCol="0" anchor="ctr"/>
          <a:lstStyle/>
          <a:p>
            <a:pPr indent="0" marL="0">
              <a:buNone/>
            </a:pPr>
            <a:r>
              <a:rPr lang="en-US" sz="1100" b="1" dirty="0">
                <a:solidFill>
                  <a:srgbClr val="7C3AED"/>
                </a:solidFill>
                <a:latin typeface="Calibri" pitchFamily="34" charset="0"/>
                <a:ea typeface="Calibri" pitchFamily="34" charset="-122"/>
                <a:cs typeface="Calibri" pitchFamily="34" charset="-120"/>
              </a:rPr>
              <a:t>Overtime?</a:t>
            </a:r>
            <a:endParaRPr lang="en-US" sz="1100" dirty="0"/>
          </a:p>
        </p:txBody>
      </p:sp>
      <p:sp>
        <p:nvSpPr>
          <p:cNvPr id="22" name="Text 20"/>
          <p:cNvSpPr txBox="1"/>
          <p:nvPr/>
        </p:nvSpPr>
        <p:spPr>
          <a:xfrm>
            <a:off x="7626096" y="1664208"/>
            <a:ext cx="3877056" cy="749808"/>
          </a:xfrm>
          <a:prstGeom prst="rect">
            <a:avLst/>
          </a:prstGeom>
          <a:noFill/>
          <a:ln/>
        </p:spPr>
        <p:txBody>
          <a:bodyPr wrap="square" lIns="0" tIns="0" rIns="0" bIns="0" rtlCol="0" anchor="ctr"/>
          <a:lstStyle/>
          <a:p>
            <a:pPr indent="0" marL="0">
              <a:buNone/>
            </a:pPr>
            <a:r>
              <a:rPr lang="en-US" sz="1000" dirty="0">
                <a:solidFill>
                  <a:srgbClr val="1F2937"/>
                </a:solidFill>
                <a:latin typeface="Calibri" pitchFamily="34" charset="0"/>
                <a:ea typeface="Calibri" pitchFamily="34" charset="-122"/>
                <a:cs typeface="Calibri" pitchFamily="34" charset="-120"/>
              </a:rPr>
              <a:t>9 hrs Sept (0.2%) · Q1 OT 62.3 hrs, 1.0% of hours.</a:t>
            </a:r>
            <a:endParaRPr lang="en-US" sz="1000" dirty="0"/>
          </a:p>
        </p:txBody>
      </p:sp>
      <p:sp>
        <p:nvSpPr>
          <p:cNvPr id="23" name="Shape 21"/>
          <p:cNvSpPr/>
          <p:nvPr/>
        </p:nvSpPr>
        <p:spPr>
          <a:xfrm>
            <a:off x="6208776" y="2523744"/>
            <a:ext cx="5431536" cy="822960"/>
          </a:xfrm>
          <a:prstGeom prst="roundRect">
            <a:avLst>
              <a:gd name="adj" fmla="val 8889"/>
            </a:avLst>
          </a:prstGeom>
          <a:solidFill>
            <a:srgbClr val="F9FAFB"/>
          </a:solidFill>
          <a:ln w="12700">
            <a:solidFill>
              <a:srgbClr val="F9FAFB"/>
            </a:solidFill>
            <a:prstDash val="solid"/>
          </a:ln>
        </p:spPr>
      </p:sp>
      <p:sp>
        <p:nvSpPr>
          <p:cNvPr id="24" name="Text 22"/>
          <p:cNvSpPr txBox="1"/>
          <p:nvPr/>
        </p:nvSpPr>
        <p:spPr>
          <a:xfrm>
            <a:off x="6345936" y="2523744"/>
            <a:ext cx="1234440" cy="822960"/>
          </a:xfrm>
          <a:prstGeom prst="rect">
            <a:avLst/>
          </a:prstGeom>
          <a:noFill/>
          <a:ln/>
        </p:spPr>
        <p:txBody>
          <a:bodyPr wrap="square" lIns="0" tIns="0" rIns="0" bIns="0" rtlCol="0" anchor="ctr"/>
          <a:lstStyle/>
          <a:p>
            <a:pPr indent="0" marL="0">
              <a:buNone/>
            </a:pPr>
            <a:r>
              <a:rPr lang="en-US" sz="1100" b="1" dirty="0">
                <a:solidFill>
                  <a:srgbClr val="7C3AED"/>
                </a:solidFill>
                <a:latin typeface="Calibri" pitchFamily="34" charset="0"/>
                <a:ea typeface="Calibri" pitchFamily="34" charset="-122"/>
                <a:cs typeface="Calibri" pitchFamily="34" charset="-120"/>
              </a:rPr>
              <a:t>PPH gap?</a:t>
            </a:r>
            <a:endParaRPr lang="en-US" sz="1100" dirty="0"/>
          </a:p>
        </p:txBody>
      </p:sp>
      <p:sp>
        <p:nvSpPr>
          <p:cNvPr id="25" name="Text 23"/>
          <p:cNvSpPr txBox="1"/>
          <p:nvPr/>
        </p:nvSpPr>
        <p:spPr>
          <a:xfrm>
            <a:off x="7626096" y="2560320"/>
            <a:ext cx="3877056" cy="749808"/>
          </a:xfrm>
          <a:prstGeom prst="rect">
            <a:avLst/>
          </a:prstGeom>
          <a:noFill/>
          <a:ln/>
        </p:spPr>
        <p:txBody>
          <a:bodyPr wrap="square" lIns="0" tIns="0" rIns="0" bIns="0" rtlCol="0" anchor="ctr"/>
          <a:lstStyle/>
          <a:p>
            <a:pPr indent="0" marL="0">
              <a:buNone/>
            </a:pPr>
            <a:r>
              <a:rPr lang="en-US" sz="1000" dirty="0">
                <a:solidFill>
                  <a:srgbClr val="1F2937"/>
                </a:solidFill>
                <a:latin typeface="Calibri" pitchFamily="34" charset="0"/>
                <a:ea typeface="Calibri" pitchFamily="34" charset="-122"/>
                <a:cs typeface="Calibri" pitchFamily="34" charset="-120"/>
              </a:rPr>
              <a:t>3,327 vs 4,258 goal (−21.9%); flat YoY on lighter freight (218 vs ≈275 lbs/unit); levers: load factor, Toyota footage capture, shift alignment.</a:t>
            </a:r>
            <a:endParaRPr lang="en-US" sz="1000" dirty="0"/>
          </a:p>
        </p:txBody>
      </p:sp>
      <p:sp>
        <p:nvSpPr>
          <p:cNvPr id="26" name="Shape 24"/>
          <p:cNvSpPr/>
          <p:nvPr/>
        </p:nvSpPr>
        <p:spPr>
          <a:xfrm>
            <a:off x="6208776" y="3419856"/>
            <a:ext cx="5431536" cy="822960"/>
          </a:xfrm>
          <a:prstGeom prst="roundRect">
            <a:avLst>
              <a:gd name="adj" fmla="val 8889"/>
            </a:avLst>
          </a:prstGeom>
          <a:solidFill>
            <a:srgbClr val="F3F4F6"/>
          </a:solidFill>
          <a:ln w="12700">
            <a:solidFill>
              <a:srgbClr val="F3F4F6"/>
            </a:solidFill>
            <a:prstDash val="solid"/>
          </a:ln>
        </p:spPr>
      </p:sp>
      <p:sp>
        <p:nvSpPr>
          <p:cNvPr id="27" name="Text 25"/>
          <p:cNvSpPr txBox="1"/>
          <p:nvPr/>
        </p:nvSpPr>
        <p:spPr>
          <a:xfrm>
            <a:off x="6345936" y="3419856"/>
            <a:ext cx="1234440" cy="822960"/>
          </a:xfrm>
          <a:prstGeom prst="rect">
            <a:avLst/>
          </a:prstGeom>
          <a:noFill/>
          <a:ln/>
        </p:spPr>
        <p:txBody>
          <a:bodyPr wrap="square" lIns="0" tIns="0" rIns="0" bIns="0" rtlCol="0" anchor="ctr"/>
          <a:lstStyle/>
          <a:p>
            <a:pPr indent="0" marL="0">
              <a:buNone/>
            </a:pPr>
            <a:r>
              <a:rPr lang="en-US" sz="1100" b="1" dirty="0">
                <a:solidFill>
                  <a:srgbClr val="7C3AED"/>
                </a:solidFill>
                <a:latin typeface="Calibri" pitchFamily="34" charset="0"/>
                <a:ea typeface="Calibri" pitchFamily="34" charset="-122"/>
                <a:cs typeface="Calibri" pitchFamily="34" charset="-120"/>
              </a:rPr>
              <a:t>Admin hours up?</a:t>
            </a:r>
            <a:endParaRPr lang="en-US" sz="1100" dirty="0"/>
          </a:p>
        </p:txBody>
      </p:sp>
      <p:sp>
        <p:nvSpPr>
          <p:cNvPr id="28" name="Text 26"/>
          <p:cNvSpPr txBox="1"/>
          <p:nvPr/>
        </p:nvSpPr>
        <p:spPr>
          <a:xfrm>
            <a:off x="7626096" y="3456432"/>
            <a:ext cx="3877056" cy="749808"/>
          </a:xfrm>
          <a:prstGeom prst="rect">
            <a:avLst/>
          </a:prstGeom>
          <a:noFill/>
          <a:ln/>
        </p:spPr>
        <p:txBody>
          <a:bodyPr wrap="square" lIns="0" tIns="0" rIns="0" bIns="0" rtlCol="0" anchor="ctr"/>
          <a:lstStyle/>
          <a:p>
            <a:pPr indent="0" marL="0">
              <a:buNone/>
            </a:pPr>
            <a:r>
              <a:rPr lang="en-US" sz="1000" dirty="0">
                <a:solidFill>
                  <a:srgbClr val="1F2937"/>
                </a:solidFill>
                <a:latin typeface="Calibri" pitchFamily="34" charset="0"/>
                <a:ea typeface="Calibri" pitchFamily="34" charset="-122"/>
                <a:cs typeface="Calibri" pitchFamily="34" charset="-120"/>
              </a:rPr>
              <a:t>446 → 909 hrs Q1; admin cost $18.4K vs $9.2K F26, but below F24 $21.5K / F25 $22.7K.</a:t>
            </a:r>
            <a:endParaRPr lang="en-US" sz="1000" dirty="0"/>
          </a:p>
        </p:txBody>
      </p:sp>
      <p:sp>
        <p:nvSpPr>
          <p:cNvPr id="29" name="Shape 27"/>
          <p:cNvSpPr/>
          <p:nvPr/>
        </p:nvSpPr>
        <p:spPr>
          <a:xfrm>
            <a:off x="6208776" y="4315968"/>
            <a:ext cx="5431536" cy="822960"/>
          </a:xfrm>
          <a:prstGeom prst="roundRect">
            <a:avLst>
              <a:gd name="adj" fmla="val 8889"/>
            </a:avLst>
          </a:prstGeom>
          <a:solidFill>
            <a:srgbClr val="F9FAFB"/>
          </a:solidFill>
          <a:ln w="12700">
            <a:solidFill>
              <a:srgbClr val="F9FAFB"/>
            </a:solidFill>
            <a:prstDash val="solid"/>
          </a:ln>
        </p:spPr>
      </p:sp>
      <p:sp>
        <p:nvSpPr>
          <p:cNvPr id="30" name="Text 28"/>
          <p:cNvSpPr txBox="1"/>
          <p:nvPr/>
        </p:nvSpPr>
        <p:spPr>
          <a:xfrm>
            <a:off x="6345936" y="4315968"/>
            <a:ext cx="1234440" cy="822960"/>
          </a:xfrm>
          <a:prstGeom prst="rect">
            <a:avLst/>
          </a:prstGeom>
          <a:noFill/>
          <a:ln/>
        </p:spPr>
        <p:txBody>
          <a:bodyPr wrap="square" lIns="0" tIns="0" rIns="0" bIns="0" rtlCol="0" anchor="ctr"/>
          <a:lstStyle/>
          <a:p>
            <a:pPr indent="0" marL="0">
              <a:buNone/>
            </a:pPr>
            <a:r>
              <a:rPr lang="en-US" sz="1100" b="1" dirty="0">
                <a:solidFill>
                  <a:srgbClr val="7C3AED"/>
                </a:solidFill>
                <a:latin typeface="Calibri" pitchFamily="34" charset="0"/>
                <a:ea typeface="Calibri" pitchFamily="34" charset="-122"/>
                <a:cs typeface="Calibri" pitchFamily="34" charset="-120"/>
              </a:rPr>
              <a:t>Service?</a:t>
            </a:r>
            <a:endParaRPr lang="en-US" sz="1100" dirty="0"/>
          </a:p>
        </p:txBody>
      </p:sp>
      <p:sp>
        <p:nvSpPr>
          <p:cNvPr id="31" name="Text 29"/>
          <p:cNvSpPr txBox="1"/>
          <p:nvPr/>
        </p:nvSpPr>
        <p:spPr>
          <a:xfrm>
            <a:off x="7626096" y="4352544"/>
            <a:ext cx="3877056" cy="749808"/>
          </a:xfrm>
          <a:prstGeom prst="rect">
            <a:avLst/>
          </a:prstGeom>
          <a:noFill/>
          <a:ln/>
        </p:spPr>
        <p:txBody>
          <a:bodyPr wrap="square" lIns="0" tIns="0" rIns="0" bIns="0" rtlCol="0" anchor="ctr"/>
          <a:lstStyle/>
          <a:p>
            <a:pPr indent="0" marL="0">
              <a:buNone/>
            </a:pPr>
            <a:r>
              <a:rPr lang="en-US" sz="1000" dirty="0">
                <a:solidFill>
                  <a:srgbClr val="1F2937"/>
                </a:solidFill>
                <a:latin typeface="Calibri" pitchFamily="34" charset="0"/>
                <a:ea typeface="Calibri" pitchFamily="34" charset="-122"/>
                <a:cs typeface="Calibri" pitchFamily="34" charset="-120"/>
              </a:rPr>
              <a:t>Adj OTS Sept 93.7% (96.7% excl. partner carriers), target 90% · missed PU 4.70% all dates, 3.75% last 7 days, 45% false positives.</a:t>
            </a:r>
            <a:endParaRPr lang="en-US" sz="1000" dirty="0"/>
          </a:p>
        </p:txBody>
      </p:sp>
      <p:sp>
        <p:nvSpPr>
          <p:cNvPr id="32" name="Shape 30"/>
          <p:cNvSpPr/>
          <p:nvPr/>
        </p:nvSpPr>
        <p:spPr>
          <a:xfrm>
            <a:off x="6208776" y="5212080"/>
            <a:ext cx="5431536" cy="822960"/>
          </a:xfrm>
          <a:prstGeom prst="roundRect">
            <a:avLst>
              <a:gd name="adj" fmla="val 8889"/>
            </a:avLst>
          </a:prstGeom>
          <a:solidFill>
            <a:srgbClr val="F3F4F6"/>
          </a:solidFill>
          <a:ln w="12700">
            <a:solidFill>
              <a:srgbClr val="F3F4F6"/>
            </a:solidFill>
            <a:prstDash val="solid"/>
          </a:ln>
        </p:spPr>
      </p:sp>
      <p:sp>
        <p:nvSpPr>
          <p:cNvPr id="33" name="Text 31"/>
          <p:cNvSpPr txBox="1"/>
          <p:nvPr/>
        </p:nvSpPr>
        <p:spPr>
          <a:xfrm>
            <a:off x="6345936" y="5212080"/>
            <a:ext cx="1234440" cy="822960"/>
          </a:xfrm>
          <a:prstGeom prst="rect">
            <a:avLst/>
          </a:prstGeom>
          <a:noFill/>
          <a:ln/>
        </p:spPr>
        <p:txBody>
          <a:bodyPr wrap="square" lIns="0" tIns="0" rIns="0" bIns="0" rtlCol="0" anchor="ctr"/>
          <a:lstStyle/>
          <a:p>
            <a:pPr indent="0" marL="0">
              <a:buNone/>
            </a:pPr>
            <a:r>
              <a:rPr lang="en-US" sz="1100" b="1" dirty="0">
                <a:solidFill>
                  <a:srgbClr val="7C3AED"/>
                </a:solidFill>
                <a:latin typeface="Calibri" pitchFamily="34" charset="0"/>
                <a:ea typeface="Calibri" pitchFamily="34" charset="-122"/>
                <a:cs typeface="Calibri" pitchFamily="34" charset="-120"/>
              </a:rPr>
              <a:t>Safety?</a:t>
            </a:r>
            <a:endParaRPr lang="en-US" sz="1100" dirty="0"/>
          </a:p>
        </p:txBody>
      </p:sp>
      <p:sp>
        <p:nvSpPr>
          <p:cNvPr id="34" name="Text 32"/>
          <p:cNvSpPr txBox="1"/>
          <p:nvPr/>
        </p:nvSpPr>
        <p:spPr>
          <a:xfrm>
            <a:off x="7626096" y="5248656"/>
            <a:ext cx="3877056" cy="749808"/>
          </a:xfrm>
          <a:prstGeom prst="rect">
            <a:avLst/>
          </a:prstGeom>
          <a:noFill/>
          <a:ln/>
        </p:spPr>
        <p:txBody>
          <a:bodyPr wrap="square" lIns="0" tIns="0" rIns="0" bIns="0" rtlCol="0" anchor="ctr"/>
          <a:lstStyle/>
          <a:p>
            <a:pPr indent="0" marL="0">
              <a:buNone/>
            </a:pPr>
            <a:r>
              <a:rPr lang="en-US" sz="1000" dirty="0">
                <a:solidFill>
                  <a:srgbClr val="1F2937"/>
                </a:solidFill>
                <a:latin typeface="Calibri" pitchFamily="34" charset="0"/>
                <a:ea typeface="Calibri" pitchFamily="34" charset="-122"/>
                <a:cs typeface="Calibri" pitchFamily="34" charset="-120"/>
              </a:rPr>
              <a:t>0 recordables F27, TRIR 0.00 vs 1.21 F26 · 384 days since last recordable · Initiatives: 3 completed · 7 active · 4 planned (driver safety reps; route ride-alongs; load securement &amp; decking; freight-handling equipment).</a:t>
            </a:r>
            <a:endParaRPr lang="en-US" sz="1000" dirty="0"/>
          </a:p>
        </p:txBody>
      </p:sp>
      <p:sp>
        <p:nvSpPr>
          <p:cNvPr id="35" name="Text 33"/>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6" name="Text 34"/>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25 / 27</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BACKUP</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Labour distribution — company employees</a:t>
            </a:r>
            <a:endParaRPr lang="en-US" sz="3000" dirty="0"/>
          </a:p>
        </p:txBody>
      </p:sp>
      <p:sp>
        <p:nvSpPr>
          <p:cNvPr id="4" name="Text 2"/>
          <p:cNvSpPr txBox="1"/>
          <p:nvPr/>
        </p:nvSpPr>
        <p:spPr>
          <a:xfrm>
            <a:off x="548640" y="1243584"/>
            <a:ext cx="7315200" cy="274320"/>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Q1 F26 vs Q1 F27 (Jul–Sep; F27 to date)</a:t>
            </a:r>
            <a:endParaRPr lang="en-US" sz="13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7132320" cy="914400"/>
        </p:xfrm>
        <a:graphic>
          <a:graphicData uri="http://schemas.openxmlformats.org/drawingml/2006/table">
            <a:tbl>
              <a:tblPr/>
              <a:tblGrid>
                <a:gridCol w="2743200"/>
                <a:gridCol w="1463040"/>
                <a:gridCol w="1600200"/>
                <a:gridCol w="1325880"/>
              </a:tblGrid>
              <a:tr h="301752">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Metric</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Q1 F26</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Q1 F27 (to date)</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Change</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301752">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Hours worked</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5.7K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6.1K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+0.4K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01752">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Total paid</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$143.5K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$155.3K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+$11.8K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301752">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Regular cost</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$140.9K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$152.3K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+$11.4K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01752">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OT hours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56.7</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62.3</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+5.6</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301752">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OT paid</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$2.2K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$2.4K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+$0.2K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01752">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Head count</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16</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17</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301752">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OT % of hours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1.0%</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1.0%</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301752">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Dock Operations · hours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5,205.40</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5,207.42</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b="1" dirty="0">
                          <a:solidFill>
                            <a:srgbClr val="1F2937"/>
                          </a:solidFill>
                          <a:latin typeface="Calibri" pitchFamily="34" charset="0"/>
                          <a:ea typeface="Calibri" pitchFamily="34" charset="-122"/>
                          <a:cs typeface="Calibri" pitchFamily="34" charset="-120"/>
                        </a:rPr>
                        <a:t>+2.02</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301752">
                <a:tc>
                  <a:txBody>
                    <a:bodyPr/>
                    <a:lstStyle/>
                    <a:p>
                      <a:pPr indent="0" marL="0">
                        <a:buNone/>
                      </a:pPr>
                      <a:r>
                        <a:rPr lang="en-US" sz="1100" dirty="0">
                          <a:solidFill>
                            <a:srgbClr val="111827"/>
                          </a:solidFill>
                          <a:latin typeface="Calibri" pitchFamily="34" charset="0"/>
                          <a:ea typeface="Calibri" pitchFamily="34" charset="-122"/>
                          <a:cs typeface="Calibri" pitchFamily="34" charset="-120"/>
                        </a:rPr>
                        <a:t>Dock Operations · regular $</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$131,452.77</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$133,939.99</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+$2,487.22</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01752">
                <a:tc>
                  <a:txBody>
                    <a:bodyPr/>
                    <a:lstStyle/>
                    <a:p>
                      <a:pPr indent="0" marL="0">
                        <a:buNone/>
                      </a:pPr>
                      <a:r>
                        <a:rPr lang="en-US" sz="1100" dirty="0">
                          <a:solidFill>
                            <a:srgbClr val="111827"/>
                          </a:solidFill>
                          <a:latin typeface="Calibri" pitchFamily="34" charset="0"/>
                          <a:ea typeface="Calibri" pitchFamily="34" charset="-122"/>
                          <a:cs typeface="Calibri" pitchFamily="34" charset="-120"/>
                        </a:rPr>
                        <a:t>Dock Operations · OT $</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$2,203.88</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$2,386.86</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+$182.98</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301752">
                <a:tc>
                  <a:txBody>
                    <a:bodyPr/>
                    <a:lstStyle/>
                    <a:p>
                      <a:pPr indent="0" marL="0">
                        <a:buNone/>
                      </a:pPr>
                      <a:r>
                        <a:rPr lang="en-US" sz="1100" dirty="0">
                          <a:solidFill>
                            <a:srgbClr val="111827"/>
                          </a:solidFill>
                          <a:latin typeface="Calibri" pitchFamily="34" charset="0"/>
                          <a:ea typeface="Calibri" pitchFamily="34" charset="-122"/>
                          <a:cs typeface="Calibri" pitchFamily="34" charset="-120"/>
                        </a:rPr>
                        <a:t>Dock Operations · lead hours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112.85</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01752">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Terminal Admin · hours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446.35</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908.55</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b="1" dirty="0">
                          <a:solidFill>
                            <a:srgbClr val="1F2937"/>
                          </a:solidFill>
                          <a:latin typeface="Calibri" pitchFamily="34" charset="0"/>
                          <a:ea typeface="Calibri" pitchFamily="34" charset="-122"/>
                          <a:cs typeface="Calibri" pitchFamily="34" charset="-120"/>
                        </a:rPr>
                        <a:t>+462.20</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301752">
                <a:tc>
                  <a:txBody>
                    <a:bodyPr/>
                    <a:lstStyle/>
                    <a:p>
                      <a:pPr indent="0" marL="0">
                        <a:buNone/>
                      </a:pPr>
                      <a:r>
                        <a:rPr lang="en-US" sz="1100" dirty="0">
                          <a:solidFill>
                            <a:srgbClr val="111827"/>
                          </a:solidFill>
                          <a:latin typeface="Calibri" pitchFamily="34" charset="0"/>
                          <a:ea typeface="Calibri" pitchFamily="34" charset="-122"/>
                          <a:cs typeface="Calibri" pitchFamily="34" charset="-120"/>
                        </a:rPr>
                        <a:t>Terminal Admin · regular $</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$9,490.76</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$18,400.58</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+$8,909.82</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bl>
          </a:graphicData>
        </a:graphic>
      </p:graphicFrame>
      <p:sp>
        <p:nvSpPr>
          <p:cNvPr id="6" name="Shape 3"/>
          <p:cNvSpPr/>
          <p:nvPr/>
        </p:nvSpPr>
        <p:spPr>
          <a:xfrm>
            <a:off x="8275320" y="1645920"/>
            <a:ext cx="3364992" cy="960120"/>
          </a:xfrm>
          <a:prstGeom prst="roundRect">
            <a:avLst>
              <a:gd name="adj" fmla="val 7619"/>
            </a:avLst>
          </a:prstGeom>
          <a:solidFill>
            <a:srgbClr val="F3F4F6"/>
          </a:solidFill>
          <a:ln w="12700">
            <a:solidFill>
              <a:srgbClr val="F3F4F6"/>
            </a:solidFill>
            <a:prstDash val="solid"/>
          </a:ln>
        </p:spPr>
      </p:sp>
      <p:sp>
        <p:nvSpPr>
          <p:cNvPr id="7" name="Text 4"/>
          <p:cNvSpPr txBox="1"/>
          <p:nvPr/>
        </p:nvSpPr>
        <p:spPr>
          <a:xfrm>
            <a:off x="8458200" y="1737360"/>
            <a:ext cx="3017520"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Company dock hours</a:t>
            </a:r>
            <a:endParaRPr lang="en-US" sz="1100" dirty="0"/>
          </a:p>
        </p:txBody>
      </p:sp>
      <p:sp>
        <p:nvSpPr>
          <p:cNvPr id="8" name="Text 5"/>
          <p:cNvSpPr txBox="1"/>
          <p:nvPr/>
        </p:nvSpPr>
        <p:spPr>
          <a:xfrm>
            <a:off x="8458200" y="1975104"/>
            <a:ext cx="3017520" cy="365760"/>
          </a:xfrm>
          <a:prstGeom prst="rect">
            <a:avLst/>
          </a:prstGeom>
          <a:noFill/>
          <a:ln/>
        </p:spPr>
        <p:txBody>
          <a:bodyPr wrap="square" lIns="0" tIns="0" rIns="0" bIns="0" rtlCol="0" anchor="ctr"/>
          <a:lstStyle/>
          <a:p>
            <a:pPr indent="0" marL="0">
              <a:buNone/>
            </a:pPr>
            <a:r>
              <a:rPr lang="en-US" sz="2000" b="1" dirty="0">
                <a:solidFill>
                  <a:srgbClr val="111827"/>
                </a:solidFill>
                <a:latin typeface="Calibri" pitchFamily="34" charset="0"/>
                <a:ea typeface="Calibri" pitchFamily="34" charset="-122"/>
                <a:cs typeface="Calibri" pitchFamily="34" charset="-120"/>
              </a:rPr>
              <a:t>5,205 → 5,207</a:t>
            </a:r>
            <a:endParaRPr lang="en-US" sz="2000" dirty="0"/>
          </a:p>
        </p:txBody>
      </p:sp>
      <p:sp>
        <p:nvSpPr>
          <p:cNvPr id="9" name="Text 6"/>
          <p:cNvSpPr txBox="1"/>
          <p:nvPr/>
        </p:nvSpPr>
        <p:spPr>
          <a:xfrm>
            <a:off x="8458200" y="2340864"/>
            <a:ext cx="3017520" cy="219456"/>
          </a:xfrm>
          <a:prstGeom prst="rect">
            <a:avLst/>
          </a:prstGeom>
          <a:noFill/>
          <a:ln/>
        </p:spPr>
        <p:txBody>
          <a:bodyPr wrap="square" lIns="0" tIns="0" rIns="0" bIns="0" rtlCol="0" anchor="ctr"/>
          <a:lstStyle/>
          <a:p>
            <a:pPr indent="0" marL="0">
              <a:buNone/>
            </a:pPr>
            <a:r>
              <a:rPr lang="en-US" sz="1050" b="1" dirty="0">
                <a:solidFill>
                  <a:srgbClr val="111827"/>
                </a:solidFill>
                <a:latin typeface="Calibri" pitchFamily="34" charset="0"/>
                <a:ea typeface="Calibri" pitchFamily="34" charset="-122"/>
                <a:cs typeface="Calibri" pitchFamily="34" charset="-120"/>
              </a:rPr>
              <a:t>Flat year over year (+0.04%)</a:t>
            </a:r>
            <a:endParaRPr lang="en-US" sz="1050" dirty="0"/>
          </a:p>
        </p:txBody>
      </p:sp>
      <p:sp>
        <p:nvSpPr>
          <p:cNvPr id="10" name="Shape 7"/>
          <p:cNvSpPr/>
          <p:nvPr/>
        </p:nvSpPr>
        <p:spPr>
          <a:xfrm>
            <a:off x="8275320" y="2697480"/>
            <a:ext cx="3364992" cy="960120"/>
          </a:xfrm>
          <a:prstGeom prst="roundRect">
            <a:avLst>
              <a:gd name="adj" fmla="val 7619"/>
            </a:avLst>
          </a:prstGeom>
          <a:solidFill>
            <a:srgbClr val="F3F4F6"/>
          </a:solidFill>
          <a:ln w="12700">
            <a:solidFill>
              <a:srgbClr val="F3F4F6"/>
            </a:solidFill>
            <a:prstDash val="solid"/>
          </a:ln>
        </p:spPr>
      </p:sp>
      <p:sp>
        <p:nvSpPr>
          <p:cNvPr id="11" name="Text 8"/>
          <p:cNvSpPr txBox="1"/>
          <p:nvPr/>
        </p:nvSpPr>
        <p:spPr>
          <a:xfrm>
            <a:off x="8458200" y="2788920"/>
            <a:ext cx="3017520"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Terminal admin hours</a:t>
            </a:r>
            <a:endParaRPr lang="en-US" sz="1100" dirty="0"/>
          </a:p>
        </p:txBody>
      </p:sp>
      <p:sp>
        <p:nvSpPr>
          <p:cNvPr id="12" name="Text 9"/>
          <p:cNvSpPr txBox="1"/>
          <p:nvPr/>
        </p:nvSpPr>
        <p:spPr>
          <a:xfrm>
            <a:off x="8458200" y="3026664"/>
            <a:ext cx="3017520" cy="365760"/>
          </a:xfrm>
          <a:prstGeom prst="rect">
            <a:avLst/>
          </a:prstGeom>
          <a:noFill/>
          <a:ln/>
        </p:spPr>
        <p:txBody>
          <a:bodyPr wrap="square" lIns="0" tIns="0" rIns="0" bIns="0" rtlCol="0" anchor="ctr"/>
          <a:lstStyle/>
          <a:p>
            <a:pPr indent="0" marL="0">
              <a:buNone/>
            </a:pPr>
            <a:r>
              <a:rPr lang="en-US" sz="2000" b="1" dirty="0">
                <a:solidFill>
                  <a:srgbClr val="111827"/>
                </a:solidFill>
                <a:latin typeface="Calibri" pitchFamily="34" charset="0"/>
                <a:ea typeface="Calibri" pitchFamily="34" charset="-122"/>
                <a:cs typeface="Calibri" pitchFamily="34" charset="-120"/>
              </a:rPr>
              <a:t>446 → 909</a:t>
            </a:r>
            <a:endParaRPr lang="en-US" sz="2000" dirty="0"/>
          </a:p>
        </p:txBody>
      </p:sp>
      <p:sp>
        <p:nvSpPr>
          <p:cNvPr id="13" name="Text 10"/>
          <p:cNvSpPr txBox="1"/>
          <p:nvPr/>
        </p:nvSpPr>
        <p:spPr>
          <a:xfrm>
            <a:off x="8458200" y="3392424"/>
            <a:ext cx="3017520" cy="219456"/>
          </a:xfrm>
          <a:prstGeom prst="rect">
            <a:avLst/>
          </a:prstGeom>
          <a:noFill/>
          <a:ln/>
        </p:spPr>
        <p:txBody>
          <a:bodyPr wrap="square" lIns="0" tIns="0" rIns="0" bIns="0" rtlCol="0" anchor="ctr"/>
          <a:lstStyle/>
          <a:p>
            <a:pPr indent="0" marL="0">
              <a:buNone/>
            </a:pPr>
            <a:r>
              <a:rPr lang="en-US" sz="1050" b="1" dirty="0">
                <a:solidFill>
                  <a:srgbClr val="DC2626"/>
                </a:solidFill>
                <a:latin typeface="Calibri" pitchFamily="34" charset="0"/>
                <a:ea typeface="Calibri" pitchFamily="34" charset="-122"/>
                <a:cs typeface="Calibri" pitchFamily="34" charset="-120"/>
              </a:rPr>
              <a:t>+104% hours — staffing change</a:t>
            </a:r>
            <a:endParaRPr lang="en-US" sz="1050" dirty="0"/>
          </a:p>
        </p:txBody>
      </p:sp>
      <p:graphicFrame>
        <p:nvGraphicFramePr>
          <p:cNvPr id="14" name="Chart 0" descr=""/>
          <p:cNvGraphicFramePr/>
          <p:nvPr/>
        </p:nvGraphicFramePr>
        <p:xfrm>
          <a:off x="8275320" y="3749040"/>
          <a:ext cx="3364992" cy="1463040"/>
        </p:xfrm>
        <a:graphic xmlns:a="http://schemas.openxmlformats.org/drawingml/2006/main">
          <a:graphicData uri="http://schemas.openxmlformats.org/drawingml/2006/chart">
            <c:chart xmlns:c="http://schemas.openxmlformats.org/drawingml/2006/chart" r:id="rId1"/>
          </a:graphicData>
        </a:graphic>
      </p:graphicFrame>
      <p:sp>
        <p:nvSpPr>
          <p:cNvPr id="15" name="Shape 11"/>
          <p:cNvSpPr/>
          <p:nvPr/>
        </p:nvSpPr>
        <p:spPr>
          <a:xfrm>
            <a:off x="8275320" y="5303520"/>
            <a:ext cx="3364992" cy="713232"/>
          </a:xfrm>
          <a:prstGeom prst="roundRect">
            <a:avLst>
              <a:gd name="adj" fmla="val 10256"/>
            </a:avLst>
          </a:prstGeom>
          <a:solidFill>
            <a:srgbClr val="F5F3FF"/>
          </a:solidFill>
          <a:ln w="12700">
            <a:solidFill>
              <a:srgbClr val="F5F3FF"/>
            </a:solidFill>
            <a:prstDash val="solid"/>
          </a:ln>
        </p:spPr>
      </p:sp>
      <p:sp>
        <p:nvSpPr>
          <p:cNvPr id="16" name="Text 12"/>
          <p:cNvSpPr txBox="1"/>
          <p:nvPr/>
        </p:nvSpPr>
        <p:spPr>
          <a:xfrm>
            <a:off x="8412480" y="5330952"/>
            <a:ext cx="3108960" cy="658368"/>
          </a:xfrm>
          <a:prstGeom prst="rect">
            <a:avLst/>
          </a:prstGeom>
          <a:noFill/>
          <a:ln/>
        </p:spPr>
        <p:txBody>
          <a:bodyPr wrap="square" lIns="0" tIns="0" rIns="0" bIns="0" rtlCol="0" anchor="ctr"/>
          <a:lstStyle/>
          <a:p>
            <a:pPr indent="0" marL="0">
              <a:buNone/>
            </a:pPr>
            <a:r>
              <a:rPr lang="en-US" sz="1050" b="1" dirty="0">
                <a:solidFill>
                  <a:srgbClr val="111827"/>
                </a:solidFill>
                <a:latin typeface="Calibri" pitchFamily="34" charset="0"/>
                <a:ea typeface="Calibri" pitchFamily="34" charset="-122"/>
                <a:cs typeface="Calibri" pitchFamily="34" charset="-120"/>
              </a:rPr>
              <a:t>Admin cost doubled vs F26 but is still below F24 (≈$21.5K) and F25 (≈$22.7K) — F26 was the unusually low year.</a:t>
            </a:r>
            <a:endParaRPr lang="en-US" sz="1050" dirty="0"/>
          </a:p>
        </p:txBody>
      </p:sp>
      <p:sp>
        <p:nvSpPr>
          <p:cNvPr id="17" name="Text 13"/>
          <p:cNvSpPr txBox="1"/>
          <p:nvPr/>
        </p:nvSpPr>
        <p:spPr>
          <a:xfrm>
            <a:off x="548640" y="6108192"/>
            <a:ext cx="11091672" cy="256032"/>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Source: Terminal Labor Distribution Report — Mississauga; changes calculated. Q1 admin cost F24–F26 calculated from the weekly Terminal Admin cost report (fiscal weeks 1–13).</a:t>
            </a:r>
            <a:endParaRPr lang="en-US" sz="950" dirty="0"/>
          </a:p>
        </p:txBody>
      </p:sp>
      <p:sp>
        <p:nvSpPr>
          <p:cNvPr id="18" name="Text 14"/>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19" name="Text 15"/>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26 / 27</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BACKUP</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Terminal cost vs PROs &amp; weight (P&amp;L)</a:t>
            </a:r>
            <a:endParaRPr lang="en-US" sz="3000" dirty="0"/>
          </a:p>
        </p:txBody>
      </p:sp>
      <p:sp>
        <p:nvSpPr>
          <p:cNvPr id="4" name="Text 2"/>
          <p:cNvSpPr txBox="1"/>
          <p:nvPr/>
        </p:nvSpPr>
        <p:spPr>
          <a:xfrm>
            <a:off x="548640" y="1243584"/>
            <a:ext cx="11091672" cy="274320"/>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Mississauga · total terminal cost from the net-amount P&amp;L · F27 Jul–Aug vs same months F26</a:t>
            </a:r>
            <a:endParaRPr lang="en-US" sz="1300" dirty="0"/>
          </a:p>
        </p:txBody>
      </p:sp>
      <p:sp>
        <p:nvSpPr>
          <p:cNvPr id="5" name="Shape 3"/>
          <p:cNvSpPr/>
          <p:nvPr/>
        </p:nvSpPr>
        <p:spPr>
          <a:xfrm>
            <a:off x="548640" y="1645920"/>
            <a:ext cx="3108960" cy="1234440"/>
          </a:xfrm>
          <a:prstGeom prst="roundRect">
            <a:avLst>
              <a:gd name="adj" fmla="val 5926"/>
            </a:avLst>
          </a:prstGeom>
          <a:solidFill>
            <a:srgbClr val="F3F4F6"/>
          </a:solidFill>
          <a:ln w="12700">
            <a:solidFill>
              <a:srgbClr val="F3F4F6"/>
            </a:solidFill>
            <a:prstDash val="solid"/>
          </a:ln>
        </p:spPr>
      </p:sp>
      <p:sp>
        <p:nvSpPr>
          <p:cNvPr id="6" name="Text 4"/>
          <p:cNvSpPr txBox="1"/>
          <p:nvPr/>
        </p:nvSpPr>
        <p:spPr>
          <a:xfrm>
            <a:off x="731520" y="1783080"/>
            <a:ext cx="2743200"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Total terminal cost · F27 Jul–Aug</a:t>
            </a:r>
            <a:endParaRPr lang="en-US" sz="1100" dirty="0"/>
          </a:p>
        </p:txBody>
      </p:sp>
      <p:sp>
        <p:nvSpPr>
          <p:cNvPr id="7" name="Text 5"/>
          <p:cNvSpPr txBox="1"/>
          <p:nvPr/>
        </p:nvSpPr>
        <p:spPr>
          <a:xfrm>
            <a:off x="731520" y="2057400"/>
            <a:ext cx="2743200" cy="365760"/>
          </a:xfrm>
          <a:prstGeom prst="rect">
            <a:avLst/>
          </a:prstGeom>
          <a:noFill/>
          <a:ln/>
        </p:spPr>
        <p:txBody>
          <a:bodyPr wrap="square" lIns="0" tIns="0" rIns="0" bIns="0" rtlCol="0" anchor="ctr"/>
          <a:lstStyle/>
          <a:p>
            <a:pPr indent="0" marL="0">
              <a:buNone/>
            </a:pPr>
            <a:r>
              <a:rPr lang="en-US" sz="2800" b="1" dirty="0">
                <a:solidFill>
                  <a:srgbClr val="111827"/>
                </a:solidFill>
                <a:latin typeface="Calibri" pitchFamily="34" charset="0"/>
                <a:ea typeface="Calibri" pitchFamily="34" charset="-122"/>
                <a:cs typeface="Calibri" pitchFamily="34" charset="-120"/>
              </a:rPr>
              <a:t>$2.57M</a:t>
            </a:r>
            <a:endParaRPr lang="en-US" sz="2800" dirty="0"/>
          </a:p>
        </p:txBody>
      </p:sp>
      <p:sp>
        <p:nvSpPr>
          <p:cNvPr id="8" name="Text 6"/>
          <p:cNvSpPr txBox="1"/>
          <p:nvPr/>
        </p:nvSpPr>
        <p:spPr>
          <a:xfrm>
            <a:off x="731520" y="2450592"/>
            <a:ext cx="274320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vs $3.25M same months F26 </a:t>
            </a:r>
            <a:pPr indent="0" marL="0">
              <a:buNone/>
            </a:pPr>
            <a:r>
              <a:rPr lang="en-US" sz="1050" b="1" dirty="0">
                <a:solidFill>
                  <a:srgbClr val="059669"/>
                </a:solidFill>
                <a:latin typeface="Calibri" pitchFamily="34" charset="0"/>
                <a:ea typeface="Calibri" pitchFamily="34" charset="-122"/>
                <a:cs typeface="Calibri" pitchFamily="34" charset="-120"/>
              </a:rPr>
              <a:t>(−21.2%)</a:t>
            </a:r>
            <a:endParaRPr lang="en-US" sz="1050" dirty="0"/>
          </a:p>
        </p:txBody>
      </p:sp>
      <p:sp>
        <p:nvSpPr>
          <p:cNvPr id="9" name="Shape 7"/>
          <p:cNvSpPr/>
          <p:nvPr/>
        </p:nvSpPr>
        <p:spPr>
          <a:xfrm>
            <a:off x="3840480" y="1645920"/>
            <a:ext cx="3108960" cy="1234440"/>
          </a:xfrm>
          <a:prstGeom prst="roundRect">
            <a:avLst>
              <a:gd name="adj" fmla="val 5926"/>
            </a:avLst>
          </a:prstGeom>
          <a:solidFill>
            <a:srgbClr val="F3F4F6"/>
          </a:solidFill>
          <a:ln w="12700">
            <a:solidFill>
              <a:srgbClr val="F3F4F6"/>
            </a:solidFill>
            <a:prstDash val="solid"/>
          </a:ln>
        </p:spPr>
      </p:sp>
      <p:sp>
        <p:nvSpPr>
          <p:cNvPr id="10" name="Text 8"/>
          <p:cNvSpPr txBox="1"/>
          <p:nvPr/>
        </p:nvSpPr>
        <p:spPr>
          <a:xfrm>
            <a:off x="4023360" y="1783080"/>
            <a:ext cx="2743200"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PROs in + out</a:t>
            </a:r>
            <a:endParaRPr lang="en-US" sz="1100" dirty="0"/>
          </a:p>
        </p:txBody>
      </p:sp>
      <p:sp>
        <p:nvSpPr>
          <p:cNvPr id="11" name="Text 9"/>
          <p:cNvSpPr txBox="1"/>
          <p:nvPr/>
        </p:nvSpPr>
        <p:spPr>
          <a:xfrm>
            <a:off x="4023360" y="2057400"/>
            <a:ext cx="2743200" cy="365760"/>
          </a:xfrm>
          <a:prstGeom prst="rect">
            <a:avLst/>
          </a:prstGeom>
          <a:noFill/>
          <a:ln/>
        </p:spPr>
        <p:txBody>
          <a:bodyPr wrap="square" lIns="0" tIns="0" rIns="0" bIns="0" rtlCol="0" anchor="ctr"/>
          <a:lstStyle/>
          <a:p>
            <a:pPr indent="0" marL="0">
              <a:buNone/>
            </a:pPr>
            <a:r>
              <a:rPr lang="en-US" sz="2800" b="1" dirty="0">
                <a:solidFill>
                  <a:srgbClr val="111827"/>
                </a:solidFill>
                <a:latin typeface="Calibri" pitchFamily="34" charset="0"/>
                <a:ea typeface="Calibri" pitchFamily="34" charset="-122"/>
                <a:cs typeface="Calibri" pitchFamily="34" charset="-120"/>
              </a:rPr>
              <a:t>71,392</a:t>
            </a:r>
            <a:endParaRPr lang="en-US" sz="2800" dirty="0"/>
          </a:p>
        </p:txBody>
      </p:sp>
      <p:sp>
        <p:nvSpPr>
          <p:cNvPr id="12" name="Text 10"/>
          <p:cNvSpPr txBox="1"/>
          <p:nvPr/>
        </p:nvSpPr>
        <p:spPr>
          <a:xfrm>
            <a:off x="4023360" y="2450592"/>
            <a:ext cx="274320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vs 77,349 </a:t>
            </a:r>
            <a:pPr indent="0" marL="0">
              <a:buNone/>
            </a:pPr>
            <a:r>
              <a:rPr lang="en-US" sz="1050" b="1" dirty="0">
                <a:solidFill>
                  <a:srgbClr val="059669"/>
                </a:solidFill>
                <a:latin typeface="Calibri" pitchFamily="34" charset="0"/>
                <a:ea typeface="Calibri" pitchFamily="34" charset="-122"/>
                <a:cs typeface="Calibri" pitchFamily="34" charset="-120"/>
              </a:rPr>
              <a:t>(−7.7%)</a:t>
            </a:r>
            <a:endParaRPr lang="en-US" sz="1050" dirty="0"/>
          </a:p>
        </p:txBody>
      </p:sp>
      <p:sp>
        <p:nvSpPr>
          <p:cNvPr id="13" name="Shape 11"/>
          <p:cNvSpPr/>
          <p:nvPr/>
        </p:nvSpPr>
        <p:spPr>
          <a:xfrm>
            <a:off x="548640" y="3063240"/>
            <a:ext cx="3108960" cy="1234440"/>
          </a:xfrm>
          <a:prstGeom prst="roundRect">
            <a:avLst>
              <a:gd name="adj" fmla="val 5926"/>
            </a:avLst>
          </a:prstGeom>
          <a:solidFill>
            <a:srgbClr val="F3F4F6"/>
          </a:solidFill>
          <a:ln w="12700">
            <a:solidFill>
              <a:srgbClr val="F3F4F6"/>
            </a:solidFill>
            <a:prstDash val="solid"/>
          </a:ln>
        </p:spPr>
      </p:sp>
      <p:sp>
        <p:nvSpPr>
          <p:cNvPr id="14" name="Text 12"/>
          <p:cNvSpPr txBox="1"/>
          <p:nvPr/>
        </p:nvSpPr>
        <p:spPr>
          <a:xfrm>
            <a:off x="731520" y="3200400"/>
            <a:ext cx="2743200"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Total terminal cost per PRO</a:t>
            </a:r>
            <a:endParaRPr lang="en-US" sz="1100" dirty="0"/>
          </a:p>
        </p:txBody>
      </p:sp>
      <p:sp>
        <p:nvSpPr>
          <p:cNvPr id="15" name="Text 13"/>
          <p:cNvSpPr txBox="1"/>
          <p:nvPr/>
        </p:nvSpPr>
        <p:spPr>
          <a:xfrm>
            <a:off x="731520" y="3474720"/>
            <a:ext cx="2743200" cy="365760"/>
          </a:xfrm>
          <a:prstGeom prst="rect">
            <a:avLst/>
          </a:prstGeom>
          <a:noFill/>
          <a:ln/>
        </p:spPr>
        <p:txBody>
          <a:bodyPr wrap="square" lIns="0" tIns="0" rIns="0" bIns="0" rtlCol="0" anchor="ctr"/>
          <a:lstStyle/>
          <a:p>
            <a:pPr indent="0" marL="0">
              <a:buNone/>
            </a:pPr>
            <a:r>
              <a:rPr lang="en-US" sz="2800" b="1" dirty="0">
                <a:solidFill>
                  <a:srgbClr val="111827"/>
                </a:solidFill>
                <a:latin typeface="Calibri" pitchFamily="34" charset="0"/>
                <a:ea typeface="Calibri" pitchFamily="34" charset="-122"/>
                <a:cs typeface="Calibri" pitchFamily="34" charset="-120"/>
              </a:rPr>
              <a:t>$35.93</a:t>
            </a:r>
            <a:endParaRPr lang="en-US" sz="2800" dirty="0"/>
          </a:p>
        </p:txBody>
      </p:sp>
      <p:sp>
        <p:nvSpPr>
          <p:cNvPr id="16" name="Text 14"/>
          <p:cNvSpPr txBox="1"/>
          <p:nvPr/>
        </p:nvSpPr>
        <p:spPr>
          <a:xfrm>
            <a:off x="731520" y="3867912"/>
            <a:ext cx="274320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vs $42.07 </a:t>
            </a:r>
            <a:pPr indent="0" marL="0">
              <a:buNone/>
            </a:pPr>
            <a:r>
              <a:rPr lang="en-US" sz="1050" b="1" dirty="0">
                <a:solidFill>
                  <a:srgbClr val="059669"/>
                </a:solidFill>
                <a:latin typeface="Calibri" pitchFamily="34" charset="0"/>
                <a:ea typeface="Calibri" pitchFamily="34" charset="-122"/>
                <a:cs typeface="Calibri" pitchFamily="34" charset="-120"/>
              </a:rPr>
              <a:t>(−14.6%)</a:t>
            </a:r>
            <a:endParaRPr lang="en-US" sz="1050" dirty="0"/>
          </a:p>
        </p:txBody>
      </p:sp>
      <p:sp>
        <p:nvSpPr>
          <p:cNvPr id="17" name="Shape 15"/>
          <p:cNvSpPr/>
          <p:nvPr/>
        </p:nvSpPr>
        <p:spPr>
          <a:xfrm>
            <a:off x="3840480" y="3063240"/>
            <a:ext cx="3108960" cy="1234440"/>
          </a:xfrm>
          <a:prstGeom prst="roundRect">
            <a:avLst>
              <a:gd name="adj" fmla="val 5926"/>
            </a:avLst>
          </a:prstGeom>
          <a:solidFill>
            <a:srgbClr val="F3F4F6"/>
          </a:solidFill>
          <a:ln w="12700">
            <a:solidFill>
              <a:srgbClr val="F3F4F6"/>
            </a:solidFill>
            <a:prstDash val="solid"/>
          </a:ln>
        </p:spPr>
      </p:sp>
      <p:sp>
        <p:nvSpPr>
          <p:cNvPr id="18" name="Text 16"/>
          <p:cNvSpPr txBox="1"/>
          <p:nvPr/>
        </p:nvSpPr>
        <p:spPr>
          <a:xfrm>
            <a:off x="4023360" y="3200400"/>
            <a:ext cx="2743200"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Total terminal cost per CWT</a:t>
            </a:r>
            <a:endParaRPr lang="en-US" sz="1100" dirty="0"/>
          </a:p>
        </p:txBody>
      </p:sp>
      <p:sp>
        <p:nvSpPr>
          <p:cNvPr id="19" name="Text 17"/>
          <p:cNvSpPr txBox="1"/>
          <p:nvPr/>
        </p:nvSpPr>
        <p:spPr>
          <a:xfrm>
            <a:off x="4023360" y="3474720"/>
            <a:ext cx="2743200" cy="365760"/>
          </a:xfrm>
          <a:prstGeom prst="rect">
            <a:avLst/>
          </a:prstGeom>
          <a:noFill/>
          <a:ln/>
        </p:spPr>
        <p:txBody>
          <a:bodyPr wrap="square" lIns="0" tIns="0" rIns="0" bIns="0" rtlCol="0" anchor="ctr"/>
          <a:lstStyle/>
          <a:p>
            <a:pPr indent="0" marL="0">
              <a:buNone/>
            </a:pPr>
            <a:r>
              <a:rPr lang="en-US" sz="2800" b="1" dirty="0">
                <a:solidFill>
                  <a:srgbClr val="111827"/>
                </a:solidFill>
                <a:latin typeface="Calibri" pitchFamily="34" charset="0"/>
                <a:ea typeface="Calibri" pitchFamily="34" charset="-122"/>
                <a:cs typeface="Calibri" pitchFamily="34" charset="-120"/>
              </a:rPr>
              <a:t>$12.75</a:t>
            </a:r>
            <a:endParaRPr lang="en-US" sz="2800" dirty="0"/>
          </a:p>
        </p:txBody>
      </p:sp>
      <p:sp>
        <p:nvSpPr>
          <p:cNvPr id="20" name="Text 18"/>
          <p:cNvSpPr txBox="1"/>
          <p:nvPr/>
        </p:nvSpPr>
        <p:spPr>
          <a:xfrm>
            <a:off x="4023360" y="3867912"/>
            <a:ext cx="274320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vs $14.47 </a:t>
            </a:r>
            <a:pPr indent="0" marL="0">
              <a:buNone/>
            </a:pPr>
            <a:r>
              <a:rPr lang="en-US" sz="1050" b="1" dirty="0">
                <a:solidFill>
                  <a:srgbClr val="059669"/>
                </a:solidFill>
                <a:latin typeface="Calibri" pitchFamily="34" charset="0"/>
                <a:ea typeface="Calibri" pitchFamily="34" charset="-122"/>
                <a:cs typeface="Calibri" pitchFamily="34" charset="-120"/>
              </a:rPr>
              <a:t>(−11.8%)</a:t>
            </a:r>
            <a:endParaRPr lang="en-US" sz="1050" dirty="0"/>
          </a:p>
        </p:txBody>
      </p:sp>
      <p:sp>
        <p:nvSpPr>
          <p:cNvPr id="21" name="Text 19"/>
          <p:cNvSpPr txBox="1"/>
          <p:nvPr/>
        </p:nvSpPr>
        <p:spPr>
          <a:xfrm>
            <a:off x="7178040" y="1600200"/>
            <a:ext cx="4462272" cy="457200"/>
          </a:xfrm>
          <a:prstGeom prst="rect">
            <a:avLst/>
          </a:prstGeom>
          <a:noFill/>
          <a:ln/>
        </p:spPr>
        <p:txBody>
          <a:bodyPr wrap="square" lIns="0" tIns="0" rIns="0" bIns="0" rtlCol="0" anchor="t"/>
          <a:lstStyle/>
          <a:p>
            <a:pPr indent="0" marL="0">
              <a:buNone/>
            </a:pPr>
            <a:r>
              <a:rPr lang="en-US" sz="1200" b="1" dirty="0">
                <a:solidFill>
                  <a:srgbClr val="111827"/>
                </a:solidFill>
                <a:latin typeface="Calibri" pitchFamily="34" charset="0"/>
                <a:ea typeface="Calibri" pitchFamily="34" charset="-122"/>
                <a:cs typeface="Calibri" pitchFamily="34" charset="-120"/>
              </a:rPr>
              <a:t>P&amp;L cost per PRO by department</a:t>
            </a:r>
            <a:endParaRPr lang="en-US" sz="1200" dirty="0"/>
          </a:p>
          <a:p>
            <a:pPr indent="0" marL="0">
              <a:buNone/>
            </a:pPr>
            <a:r>
              <a:rPr lang="en-US" sz="1200" dirty="0">
                <a:solidFill>
                  <a:srgbClr val="6B7280"/>
                </a:solidFill>
                <a:latin typeface="Calibri" pitchFamily="34" charset="0"/>
                <a:ea typeface="Calibri" pitchFamily="34" charset="-122"/>
                <a:cs typeface="Calibri" pitchFamily="34" charset="-120"/>
              </a:rPr>
              <a:t>(F27 Jul–Aug vs F26 Jul–Aug)</a:t>
            </a:r>
            <a:endParaRPr lang="en-US" sz="12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7178040" y="2103120"/>
          <a:ext cx="4462272" cy="914400"/>
        </p:xfrm>
        <a:graphic>
          <a:graphicData uri="http://schemas.openxmlformats.org/drawingml/2006/table">
            <a:tbl>
              <a:tblPr/>
              <a:tblGrid>
                <a:gridCol w="1993392"/>
                <a:gridCol w="822960"/>
                <a:gridCol w="822960"/>
                <a:gridCol w="822960"/>
              </a:tblGrid>
              <a:tr h="402336">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Department</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F26 Jul–Aug</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F27 Jul–Aug</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Change</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402336">
                <a:tc>
                  <a:txBody>
                    <a:bodyPr/>
                    <a:lstStyle/>
                    <a:p>
                      <a:pPr indent="0" marL="0">
                        <a:buNone/>
                      </a:pPr>
                      <a:r>
                        <a:rPr lang="en-US" sz="1150" dirty="0">
                          <a:solidFill>
                            <a:srgbClr val="111827"/>
                          </a:solidFill>
                          <a:latin typeface="Calibri" pitchFamily="34" charset="0"/>
                          <a:ea typeface="Calibri" pitchFamily="34" charset="-122"/>
                          <a:cs typeface="Calibri" pitchFamily="34" charset="-120"/>
                        </a:rPr>
                        <a:t>Terminal Admin (incl. claims)</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50" dirty="0">
                          <a:solidFill>
                            <a:srgbClr val="6B7280"/>
                          </a:solidFill>
                          <a:latin typeface="Calibri" pitchFamily="34" charset="0"/>
                          <a:ea typeface="Calibri" pitchFamily="34" charset="-122"/>
                          <a:cs typeface="Calibri" pitchFamily="34" charset="-120"/>
                        </a:rPr>
                        <a:t>$9.98</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50" b="1" dirty="0">
                          <a:solidFill>
                            <a:srgbClr val="111827"/>
                          </a:solidFill>
                          <a:latin typeface="Calibri" pitchFamily="34" charset="0"/>
                          <a:ea typeface="Calibri" pitchFamily="34" charset="-122"/>
                          <a:cs typeface="Calibri" pitchFamily="34" charset="-120"/>
                        </a:rPr>
                        <a:t>$9.94</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50" b="1" dirty="0">
                          <a:solidFill>
                            <a:srgbClr val="059669"/>
                          </a:solidFill>
                          <a:latin typeface="Calibri" pitchFamily="34" charset="0"/>
                          <a:ea typeface="Calibri" pitchFamily="34" charset="-122"/>
                          <a:cs typeface="Calibri" pitchFamily="34" charset="-120"/>
                        </a:rPr>
                        <a:t>−$0.04</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402336">
                <a:tc>
                  <a:txBody>
                    <a:bodyPr/>
                    <a:lstStyle/>
                    <a:p>
                      <a:pPr indent="0" marL="0">
                        <a:buNone/>
                      </a:pPr>
                      <a:r>
                        <a:rPr lang="en-US" sz="1150" dirty="0">
                          <a:solidFill>
                            <a:srgbClr val="111827"/>
                          </a:solidFill>
                          <a:latin typeface="Calibri" pitchFamily="34" charset="0"/>
                          <a:ea typeface="Calibri" pitchFamily="34" charset="-122"/>
                          <a:cs typeface="Calibri" pitchFamily="34" charset="-120"/>
                        </a:rPr>
                        <a:t>Dock</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50" dirty="0">
                          <a:solidFill>
                            <a:srgbClr val="6B7280"/>
                          </a:solidFill>
                          <a:latin typeface="Calibri" pitchFamily="34" charset="0"/>
                          <a:ea typeface="Calibri" pitchFamily="34" charset="-122"/>
                          <a:cs typeface="Calibri" pitchFamily="34" charset="-120"/>
                        </a:rPr>
                        <a:t>$8.89</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50" b="1" dirty="0">
                          <a:solidFill>
                            <a:srgbClr val="111827"/>
                          </a:solidFill>
                          <a:latin typeface="Calibri" pitchFamily="34" charset="0"/>
                          <a:ea typeface="Calibri" pitchFamily="34" charset="-122"/>
                          <a:cs typeface="Calibri" pitchFamily="34" charset="-120"/>
                        </a:rPr>
                        <a:t>$8.35</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50" b="1" dirty="0">
                          <a:solidFill>
                            <a:srgbClr val="059669"/>
                          </a:solidFill>
                          <a:latin typeface="Calibri" pitchFamily="34" charset="0"/>
                          <a:ea typeface="Calibri" pitchFamily="34" charset="-122"/>
                          <a:cs typeface="Calibri" pitchFamily="34" charset="-120"/>
                        </a:rPr>
                        <a:t>−$0.54</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402336">
                <a:tc>
                  <a:txBody>
                    <a:bodyPr/>
                    <a:lstStyle/>
                    <a:p>
                      <a:pPr indent="0" marL="0">
                        <a:buNone/>
                      </a:pPr>
                      <a:r>
                        <a:rPr lang="en-US" sz="1150" dirty="0">
                          <a:solidFill>
                            <a:srgbClr val="111827"/>
                          </a:solidFill>
                          <a:latin typeface="Calibri" pitchFamily="34" charset="0"/>
                          <a:ea typeface="Calibri" pitchFamily="34" charset="-122"/>
                          <a:cs typeface="Calibri" pitchFamily="34" charset="-120"/>
                        </a:rPr>
                        <a:t>P&amp;D (incl. fuel subsidy)</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50" dirty="0">
                          <a:solidFill>
                            <a:srgbClr val="6B7280"/>
                          </a:solidFill>
                          <a:latin typeface="Calibri" pitchFamily="34" charset="0"/>
                          <a:ea typeface="Calibri" pitchFamily="34" charset="-122"/>
                          <a:cs typeface="Calibri" pitchFamily="34" charset="-120"/>
                        </a:rPr>
                        <a:t>$23.20</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50" b="1" dirty="0">
                          <a:solidFill>
                            <a:srgbClr val="111827"/>
                          </a:solidFill>
                          <a:latin typeface="Calibri" pitchFamily="34" charset="0"/>
                          <a:ea typeface="Calibri" pitchFamily="34" charset="-122"/>
                          <a:cs typeface="Calibri" pitchFamily="34" charset="-120"/>
                        </a:rPr>
                        <a:t>$17.65</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50" b="1" dirty="0">
                          <a:solidFill>
                            <a:srgbClr val="059669"/>
                          </a:solidFill>
                          <a:latin typeface="Calibri" pitchFamily="34" charset="0"/>
                          <a:ea typeface="Calibri" pitchFamily="34" charset="-122"/>
                          <a:cs typeface="Calibri" pitchFamily="34" charset="-120"/>
                        </a:rPr>
                        <a:t>−$5.55</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402336">
                <a:tc>
                  <a:txBody>
                    <a:bodyPr/>
                    <a:lstStyle/>
                    <a:p>
                      <a:pPr indent="0" marL="0">
                        <a:buNone/>
                      </a:pPr>
                      <a:r>
                        <a:rPr lang="en-US" sz="1150" b="1" dirty="0">
                          <a:solidFill>
                            <a:srgbClr val="111827"/>
                          </a:solidFill>
                          <a:latin typeface="Calibri" pitchFamily="34" charset="0"/>
                          <a:ea typeface="Calibri" pitchFamily="34" charset="-122"/>
                          <a:cs typeface="Calibri" pitchFamily="34" charset="-120"/>
                        </a:rPr>
                        <a:t>Total</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c>
                  <a:txBody>
                    <a:bodyPr/>
                    <a:lstStyle/>
                    <a:p>
                      <a:pPr algn="r" indent="0" marL="0">
                        <a:buNone/>
                      </a:pPr>
                      <a:r>
                        <a:rPr lang="en-US" sz="1150" dirty="0">
                          <a:solidFill>
                            <a:srgbClr val="6B7280"/>
                          </a:solidFill>
                          <a:latin typeface="Calibri" pitchFamily="34" charset="0"/>
                          <a:ea typeface="Calibri" pitchFamily="34" charset="-122"/>
                          <a:cs typeface="Calibri" pitchFamily="34" charset="-120"/>
                        </a:rPr>
                        <a:t>$42.07</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c>
                  <a:txBody>
                    <a:bodyPr/>
                    <a:lstStyle/>
                    <a:p>
                      <a:pPr algn="r" indent="0" marL="0">
                        <a:buNone/>
                      </a:pPr>
                      <a:r>
                        <a:rPr lang="en-US" sz="1150" b="1" dirty="0">
                          <a:solidFill>
                            <a:srgbClr val="111827"/>
                          </a:solidFill>
                          <a:latin typeface="Calibri" pitchFamily="34" charset="0"/>
                          <a:ea typeface="Calibri" pitchFamily="34" charset="-122"/>
                          <a:cs typeface="Calibri" pitchFamily="34" charset="-120"/>
                        </a:rPr>
                        <a:t>$35.93</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c>
                  <a:txBody>
                    <a:bodyPr/>
                    <a:lstStyle/>
                    <a:p>
                      <a:pPr algn="r" indent="0" marL="0">
                        <a:buNone/>
                      </a:pPr>
                      <a:r>
                        <a:rPr lang="en-US" sz="1150" b="1" dirty="0">
                          <a:solidFill>
                            <a:srgbClr val="059669"/>
                          </a:solidFill>
                          <a:latin typeface="Calibri" pitchFamily="34" charset="0"/>
                          <a:ea typeface="Calibri" pitchFamily="34" charset="-122"/>
                          <a:cs typeface="Calibri" pitchFamily="34" charset="-120"/>
                        </a:rPr>
                        <a:t>−$6.14</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r>
            </a:tbl>
          </a:graphicData>
        </a:graphic>
      </p:graphicFrame>
      <p:sp>
        <p:nvSpPr>
          <p:cNvPr id="23" name="Shape 20"/>
          <p:cNvSpPr/>
          <p:nvPr/>
        </p:nvSpPr>
        <p:spPr>
          <a:xfrm>
            <a:off x="548640" y="4526280"/>
            <a:ext cx="11091672" cy="1005840"/>
          </a:xfrm>
          <a:prstGeom prst="roundRect">
            <a:avLst>
              <a:gd name="adj" fmla="val 7273"/>
            </a:avLst>
          </a:prstGeom>
          <a:solidFill>
            <a:srgbClr val="F5F3FF"/>
          </a:solidFill>
          <a:ln w="12700">
            <a:solidFill>
              <a:srgbClr val="F5F3FF"/>
            </a:solidFill>
            <a:prstDash val="solid"/>
          </a:ln>
        </p:spPr>
      </p:sp>
      <p:sp>
        <p:nvSpPr>
          <p:cNvPr id="24" name="Shape 21"/>
          <p:cNvSpPr/>
          <p:nvPr/>
        </p:nvSpPr>
        <p:spPr>
          <a:xfrm>
            <a:off x="777240" y="4764024"/>
            <a:ext cx="530352" cy="530352"/>
          </a:xfrm>
          <a:prstGeom prst="ellipse">
            <a:avLst/>
          </a:prstGeom>
          <a:solidFill>
            <a:srgbClr val="7C3AED"/>
          </a:solidFill>
          <a:ln w="12700">
            <a:solidFill>
              <a:srgbClr val="7C3AED"/>
            </a:solidFill>
            <a:prstDash val="solid"/>
          </a:ln>
        </p:spPr>
      </p:sp>
      <p:pic>
        <p:nvPicPr>
          <p:cNvPr id="25" name="Image 0" descr="preencoded.png">    </p:cNvPr>
          <p:cNvPicPr>
            <a:picLocks noChangeAspect="1"/>
          </p:cNvPicPr>
          <p:nvPr/>
        </p:nvPicPr>
        <p:blipFill>
          <a:blip r:embed="rId1"/>
          <a:stretch>
            <a:fillRect/>
          </a:stretch>
        </p:blipFill>
        <p:spPr>
          <a:xfrm>
            <a:off x="909828" y="4896612"/>
            <a:ext cx="265176" cy="265176"/>
          </a:xfrm>
          <a:prstGeom prst="rect">
            <a:avLst/>
          </a:prstGeom>
        </p:spPr>
      </p:pic>
      <p:sp>
        <p:nvSpPr>
          <p:cNvPr id="26" name="Text 22"/>
          <p:cNvSpPr txBox="1"/>
          <p:nvPr/>
        </p:nvSpPr>
        <p:spPr>
          <a:xfrm>
            <a:off x="1508760" y="4526280"/>
            <a:ext cx="9966960" cy="1005840"/>
          </a:xfrm>
          <a:prstGeom prst="rect">
            <a:avLst/>
          </a:prstGeom>
          <a:noFill/>
          <a:ln/>
        </p:spPr>
        <p:txBody>
          <a:bodyPr wrap="square" lIns="0" tIns="0" rIns="0" bIns="0" rtlCol="0" anchor="ctr"/>
          <a:lstStyle/>
          <a:p>
            <a:pPr indent="0" marL="0">
              <a:buNone/>
            </a:pPr>
            <a:r>
              <a:rPr lang="en-US" sz="1300" dirty="0">
                <a:solidFill>
                  <a:srgbClr val="1F2937"/>
                </a:solidFill>
                <a:latin typeface="Calibri" pitchFamily="34" charset="0"/>
                <a:ea typeface="Calibri" pitchFamily="34" charset="-122"/>
                <a:cs typeface="Calibri" pitchFamily="34" charset="-120"/>
              </a:rPr>
              <a:t>Most of the drop is P&amp;D driver mix (agent drivers → owner operators, lower fuel subsidy) — a network P&amp;D change, not claimed as terminal savings. Terminal-controlled lines: net −$163.7K Jul–Aug (P&amp;L variance, not booked).</a:t>
            </a:r>
            <a:endParaRPr lang="en-US" sz="1300" dirty="0"/>
          </a:p>
        </p:txBody>
      </p:sp>
      <p:sp>
        <p:nvSpPr>
          <p:cNvPr id="27" name="Text 23"/>
          <p:cNvSpPr txBox="1"/>
          <p:nvPr/>
        </p:nvSpPr>
        <p:spPr>
          <a:xfrm>
            <a:off x="548640" y="5715000"/>
            <a:ext cx="11091672" cy="457200"/>
          </a:xfrm>
          <a:prstGeom prst="rect">
            <a:avLst/>
          </a:prstGeom>
          <a:noFill/>
          <a:ln/>
        </p:spPr>
        <p:txBody>
          <a:bodyPr wrap="square" lIns="0" tIns="0" rIns="0" bIns="0" rtlCol="0" anchor="t"/>
          <a:lstStyle/>
          <a:p>
            <a:pPr indent="0" marL="0">
              <a:buNone/>
            </a:pPr>
            <a:r>
              <a:rPr lang="en-US" sz="950" i="1" dirty="0">
                <a:solidFill>
                  <a:srgbClr val="6B7280"/>
                </a:solidFill>
                <a:latin typeface="Calibri" pitchFamily="34" charset="0"/>
                <a:ea typeface="Calibri" pitchFamily="34" charset="-122"/>
                <a:cs typeface="Calibri" pitchFamily="34" charset="-120"/>
              </a:rPr>
              <a:t>Revenue allocation broken after Feb 2026 — cost % of revenue not valid since; last valid F26 Jul–Feb 60.8% vs F25 65.7% (simple monthly averages). Weight excludes transfer credits. Source: net-amount P&amp;L pivot and Terminal Analysis, Aug 2026.</a:t>
            </a:r>
            <a:endParaRPr lang="en-US" sz="950" dirty="0"/>
          </a:p>
        </p:txBody>
      </p:sp>
      <p:sp>
        <p:nvSpPr>
          <p:cNvPr id="28" name="Text 24"/>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9" name="Text 25"/>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27 / 27</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Mississauga Terminal · F27 Senior Leadership Review</dc:title>
  <dc:subject>PptxGenJS Presentation</dc:subject>
  <dc:creator>PptxGenJS</dc:creator>
  <cp:lastModifiedBy>PptxGenJS</cp:lastModifiedBy>
  <cp:revision>1</cp:revision>
  <dcterms:created xsi:type="dcterms:W3CDTF">2026-09-29T16:04:30Z</dcterms:created>
  <dcterms:modified xsi:type="dcterms:W3CDTF">2026-09-29T16:04:30Z</dcterms:modified>
</cp:coreProperties>
</file>