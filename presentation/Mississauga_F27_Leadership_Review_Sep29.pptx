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TRIR figures for F27 year to date are being confirmed with OHS and will be filled in before distribution.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Cargo claims on the claims report for our terminal, T-0502, total 13,432.53 dollars; the period for that figure is being confirmed.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September weeks for load factor score and load percentage against the 80 and 98 percent targets; the weekly figures are being confirmed. Consolidating large-customer freight into fewer trailers is the main lever here and is part of the F27 savings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SEPT MTD · AS OF SEP 26</a:t>
            </a:r>
            <a:endParaRPr lang="en-US" sz="1100" dirty="0"/>
          </a:p>
        </p:txBody>
      </p:sp>
      <p:sp>
        <p:nvSpPr>
          <p:cNvPr id="9" name="Text 7"/>
          <p:cNvSpPr txBox="1"/>
          <p:nvPr/>
        </p:nvSpPr>
        <p:spPr>
          <a:xfrm>
            <a:off x="8641080" y="178308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93.7%</a:t>
            </a:r>
            <a:endParaRPr lang="en-US" sz="2200" dirty="0"/>
          </a:p>
        </p:txBody>
      </p:sp>
      <p:sp>
        <p:nvSpPr>
          <p:cNvPr id="10" name="Text 8"/>
          <p:cNvSpPr txBox="1"/>
          <p:nvPr/>
        </p:nvSpPr>
        <p:spPr>
          <a:xfrm>
            <a:off x="10012680" y="178308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OTS Sept (adj., incl. partners)</a:t>
            </a:r>
            <a:endParaRPr lang="en-US" sz="1150" dirty="0"/>
          </a:p>
        </p:txBody>
      </p:sp>
      <p:sp>
        <p:nvSpPr>
          <p:cNvPr id="11" name="Text 9"/>
          <p:cNvSpPr txBox="1"/>
          <p:nvPr/>
        </p:nvSpPr>
        <p:spPr>
          <a:xfrm>
            <a:off x="8641080" y="228600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91.1%</a:t>
            </a:r>
            <a:endParaRPr lang="en-US" sz="2200" dirty="0"/>
          </a:p>
        </p:txBody>
      </p:sp>
      <p:sp>
        <p:nvSpPr>
          <p:cNvPr id="12" name="Text 10"/>
          <p:cNvSpPr txBox="1"/>
          <p:nvPr/>
        </p:nvSpPr>
        <p:spPr>
          <a:xfrm>
            <a:off x="10012680" y="228600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of SCA hour allowance</a:t>
            </a:r>
            <a:endParaRPr lang="en-US" sz="1150" dirty="0"/>
          </a:p>
        </p:txBody>
      </p:sp>
      <p:sp>
        <p:nvSpPr>
          <p:cNvPr id="13" name="Text 11"/>
          <p:cNvSpPr txBox="1"/>
          <p:nvPr/>
        </p:nvSpPr>
        <p:spPr>
          <a:xfrm>
            <a:off x="8641080" y="278892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−16.7%</a:t>
            </a:r>
            <a:endParaRPr lang="en-US" sz="2200" dirty="0"/>
          </a:p>
        </p:txBody>
      </p:sp>
      <p:sp>
        <p:nvSpPr>
          <p:cNvPr id="14" name="Text 12"/>
          <p:cNvSpPr txBox="1"/>
          <p:nvPr/>
        </p:nvSpPr>
        <p:spPr>
          <a:xfrm>
            <a:off x="10012680" y="278892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cost per unit vs F26</a:t>
            </a:r>
            <a:endParaRPr lang="en-US" sz="1150" dirty="0"/>
          </a:p>
        </p:txBody>
      </p:sp>
      <p:sp>
        <p:nvSpPr>
          <p:cNvPr id="15" name="Text 13"/>
          <p:cNvSpPr txBox="1"/>
          <p:nvPr/>
        </p:nvSpPr>
        <p:spPr>
          <a:xfrm>
            <a:off x="8641080" y="329184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+26.7%</a:t>
            </a:r>
            <a:endParaRPr lang="en-US" sz="2200" dirty="0"/>
          </a:p>
        </p:txBody>
      </p:sp>
      <p:sp>
        <p:nvSpPr>
          <p:cNvPr id="16" name="Text 14"/>
          <p:cNvSpPr txBox="1"/>
          <p:nvPr/>
        </p:nvSpPr>
        <p:spPr>
          <a:xfrm>
            <a:off x="10012680" y="329184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units per hour vs F26</a:t>
            </a:r>
            <a:endParaRPr lang="en-US" sz="1150" dirty="0"/>
          </a:p>
        </p:txBody>
      </p:sp>
      <p:sp>
        <p:nvSpPr>
          <p:cNvPr id="17" name="Text 15"/>
          <p:cNvSpPr txBox="1"/>
          <p:nvPr/>
        </p:nvSpPr>
        <p:spPr>
          <a:xfrm>
            <a:off x="8641080" y="379476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 hrs</a:t>
            </a:r>
            <a:endParaRPr lang="en-US" sz="2200" dirty="0"/>
          </a:p>
        </p:txBody>
      </p:sp>
      <p:sp>
        <p:nvSpPr>
          <p:cNvPr id="18" name="Text 16"/>
          <p:cNvSpPr txBox="1"/>
          <p:nvPr/>
        </p:nvSpPr>
        <p:spPr>
          <a:xfrm>
            <a:off x="10012680" y="379476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overtime MTD</a:t>
            </a:r>
            <a:endParaRPr lang="en-US" sz="1150" dirty="0"/>
          </a:p>
        </p:txBody>
      </p:sp>
      <p:sp>
        <p:nvSpPr>
          <p:cNvPr id="19" name="Text 17"/>
          <p:cNvSpPr txBox="1"/>
          <p:nvPr/>
        </p:nvSpPr>
        <p:spPr>
          <a:xfrm>
            <a:off x="8641080" y="437083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0" name="Text 18"/>
          <p:cNvSpPr txBox="1"/>
          <p:nvPr/>
        </p:nvSpPr>
        <p:spPr>
          <a:xfrm>
            <a:off x="8641080" y="4626864"/>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1" name="Text 19"/>
          <p:cNvSpPr txBox="1"/>
          <p:nvPr/>
        </p:nvSpPr>
        <p:spPr>
          <a:xfrm>
            <a:off x="8641080" y="5084064"/>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71600"/>
            <a:ext cx="2072030" cy="1280160"/>
          </a:xfrm>
          <a:prstGeom prst="roundRect">
            <a:avLst>
              <a:gd name="adj" fmla="val 5714"/>
            </a:avLst>
          </a:prstGeom>
          <a:solidFill>
            <a:srgbClr val="F3F4F6"/>
          </a:solidFill>
          <a:ln w="12700">
            <a:solidFill>
              <a:srgbClr val="F3F4F6"/>
            </a:solidFill>
            <a:prstDash val="solid"/>
          </a:ln>
        </p:spPr>
      </p:sp>
      <p:sp>
        <p:nvSpPr>
          <p:cNvPr id="5" name="Text 3"/>
          <p:cNvSpPr txBox="1"/>
          <p:nvPr/>
        </p:nvSpPr>
        <p:spPr>
          <a:xfrm>
            <a:off x="73152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7" name="Text 5"/>
          <p:cNvSpPr txBox="1"/>
          <p:nvPr/>
        </p:nvSpPr>
        <p:spPr>
          <a:xfrm>
            <a:off x="73152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 Sep 29, 2026</a:t>
            </a:r>
            <a:endParaRPr lang="en-US" sz="1050" dirty="0"/>
          </a:p>
        </p:txBody>
      </p:sp>
      <p:sp>
        <p:nvSpPr>
          <p:cNvPr id="8" name="Shape 6"/>
          <p:cNvSpPr/>
          <p:nvPr/>
        </p:nvSpPr>
        <p:spPr>
          <a:xfrm>
            <a:off x="2803550" y="1371600"/>
            <a:ext cx="2072030" cy="1280160"/>
          </a:xfrm>
          <a:prstGeom prst="roundRect">
            <a:avLst>
              <a:gd name="adj" fmla="val 5714"/>
            </a:avLst>
          </a:prstGeom>
          <a:solidFill>
            <a:srgbClr val="F3F4F6"/>
          </a:solidFill>
          <a:ln w="12700">
            <a:solidFill>
              <a:srgbClr val="F3F4F6"/>
            </a:solidFill>
            <a:prstDash val="solid"/>
          </a:ln>
        </p:spPr>
      </p:sp>
      <p:sp>
        <p:nvSpPr>
          <p:cNvPr id="9" name="Text 7"/>
          <p:cNvSpPr txBox="1"/>
          <p:nvPr/>
        </p:nvSpPr>
        <p:spPr>
          <a:xfrm>
            <a:off x="298643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1" name="Text 9"/>
          <p:cNvSpPr txBox="1"/>
          <p:nvPr/>
        </p:nvSpPr>
        <p:spPr>
          <a:xfrm>
            <a:off x="298643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71600"/>
            <a:ext cx="2072030" cy="1280160"/>
          </a:xfrm>
          <a:prstGeom prst="roundRect">
            <a:avLst>
              <a:gd name="adj" fmla="val 5714"/>
            </a:avLst>
          </a:prstGeom>
          <a:solidFill>
            <a:srgbClr val="F3F4F6"/>
          </a:solidFill>
          <a:ln w="12700">
            <a:solidFill>
              <a:srgbClr val="F3F4F6"/>
            </a:solidFill>
            <a:prstDash val="solid"/>
          </a:ln>
        </p:spPr>
      </p:sp>
      <p:sp>
        <p:nvSpPr>
          <p:cNvPr id="13" name="Text 11"/>
          <p:cNvSpPr txBox="1"/>
          <p:nvPr/>
        </p:nvSpPr>
        <p:spPr>
          <a:xfrm>
            <a:off x="524134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target</a:t>
            </a:r>
            <a:endParaRPr lang="en-US" sz="950" dirty="0"/>
          </a:p>
        </p:txBody>
      </p:sp>
      <p:sp>
        <p:nvSpPr>
          <p:cNvPr id="14" name="Text 12"/>
          <p:cNvSpPr txBox="1"/>
          <p:nvPr/>
        </p:nvSpPr>
        <p:spPr>
          <a:xfrm>
            <a:off x="524134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5" name="Text 13"/>
          <p:cNvSpPr txBox="1"/>
          <p:nvPr/>
        </p:nvSpPr>
        <p:spPr>
          <a:xfrm>
            <a:off x="524134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F27 target</a:t>
            </a:r>
            <a:endParaRPr lang="en-US" sz="1050" dirty="0"/>
          </a:p>
        </p:txBody>
      </p:sp>
      <p:sp>
        <p:nvSpPr>
          <p:cNvPr id="16" name="Shape 14"/>
          <p:cNvSpPr/>
          <p:nvPr/>
        </p:nvSpPr>
        <p:spPr>
          <a:xfrm>
            <a:off x="7313371" y="1371600"/>
            <a:ext cx="2072030" cy="1280160"/>
          </a:xfrm>
          <a:prstGeom prst="roundRect">
            <a:avLst>
              <a:gd name="adj" fmla="val 5714"/>
            </a:avLst>
          </a:prstGeom>
          <a:solidFill>
            <a:srgbClr val="F3F4F6"/>
          </a:solidFill>
          <a:ln w="12700">
            <a:solidFill>
              <a:srgbClr val="F3F4F6"/>
            </a:solidFill>
            <a:prstDash val="solid"/>
          </a:ln>
        </p:spPr>
      </p:sp>
      <p:sp>
        <p:nvSpPr>
          <p:cNvPr id="17" name="Text 15"/>
          <p:cNvSpPr txBox="1"/>
          <p:nvPr/>
        </p:nvSpPr>
        <p:spPr>
          <a:xfrm>
            <a:off x="749625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YTD</a:t>
            </a:r>
            <a:endParaRPr lang="en-US" sz="950" dirty="0"/>
          </a:p>
        </p:txBody>
      </p:sp>
      <p:sp>
        <p:nvSpPr>
          <p:cNvPr id="18" name="Text 16"/>
          <p:cNvSpPr txBox="1"/>
          <p:nvPr/>
        </p:nvSpPr>
        <p:spPr>
          <a:xfrm>
            <a:off x="749625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9" name="Text 17"/>
          <p:cNvSpPr txBox="1"/>
          <p:nvPr/>
        </p:nvSpPr>
        <p:spPr>
          <a:xfrm>
            <a:off x="749625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20" name="Shape 18"/>
          <p:cNvSpPr/>
          <p:nvPr/>
        </p:nvSpPr>
        <p:spPr>
          <a:xfrm>
            <a:off x="9568282" y="1371600"/>
            <a:ext cx="2072030" cy="1280160"/>
          </a:xfrm>
          <a:prstGeom prst="roundRect">
            <a:avLst>
              <a:gd name="adj" fmla="val 5714"/>
            </a:avLst>
          </a:prstGeom>
          <a:solidFill>
            <a:srgbClr val="F3F4F6"/>
          </a:solidFill>
          <a:ln w="12700">
            <a:solidFill>
              <a:srgbClr val="F3F4F6"/>
            </a:solidFill>
            <a:prstDash val="solid"/>
          </a:ln>
        </p:spPr>
      </p:sp>
      <p:sp>
        <p:nvSpPr>
          <p:cNvPr id="21" name="Text 19"/>
          <p:cNvSpPr txBox="1"/>
          <p:nvPr/>
        </p:nvSpPr>
        <p:spPr>
          <a:xfrm>
            <a:off x="9751162"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23" name="Text 21"/>
          <p:cNvSpPr txBox="1"/>
          <p:nvPr/>
        </p:nvSpPr>
        <p:spPr>
          <a:xfrm>
            <a:off x="9751162"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As of Sep 29, 2026</a:t>
            </a:r>
            <a:endParaRPr lang="en-US" sz="1050" dirty="0"/>
          </a:p>
        </p:txBody>
      </p:sp>
      <p:sp>
        <p:nvSpPr>
          <p:cNvPr id="24" name="Text 22"/>
          <p:cNvSpPr txBox="1"/>
          <p:nvPr/>
        </p:nvSpPr>
        <p:spPr>
          <a:xfrm>
            <a:off x="548640" y="2907792"/>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5" name="Shape 23"/>
          <p:cNvSpPr/>
          <p:nvPr/>
        </p:nvSpPr>
        <p:spPr>
          <a:xfrm>
            <a:off x="548640" y="3429000"/>
            <a:ext cx="420624" cy="420624"/>
          </a:xfrm>
          <a:prstGeom prst="ellipse">
            <a:avLst/>
          </a:prstGeom>
          <a:solidFill>
            <a:srgbClr val="EDE9FE"/>
          </a:solidFill>
          <a:ln w="12700">
            <a:solidFill>
              <a:srgbClr val="EDE9FE"/>
            </a:solidFill>
            <a:prstDash val="solid"/>
          </a:ln>
        </p:spPr>
      </p:sp>
      <p:pic>
        <p:nvPicPr>
          <p:cNvPr id="26" name="Image 0" descr="preencoded.png">    </p:cNvPr>
          <p:cNvPicPr>
            <a:picLocks noChangeAspect="1"/>
          </p:cNvPicPr>
          <p:nvPr/>
        </p:nvPicPr>
        <p:blipFill>
          <a:blip r:embed="rId1"/>
          <a:stretch>
            <a:fillRect/>
          </a:stretch>
        </p:blipFill>
        <p:spPr>
          <a:xfrm>
            <a:off x="653796" y="3534156"/>
            <a:ext cx="210312" cy="210312"/>
          </a:xfrm>
          <a:prstGeom prst="rect">
            <a:avLst/>
          </a:prstGeom>
        </p:spPr>
      </p:pic>
      <p:sp>
        <p:nvSpPr>
          <p:cNvPr id="27" name="Text 24"/>
          <p:cNvSpPr txBox="1"/>
          <p:nvPr/>
        </p:nvSpPr>
        <p:spPr>
          <a:xfrm>
            <a:off x="1170432" y="3364992"/>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400" dirty="0"/>
          </a:p>
        </p:txBody>
      </p:sp>
      <p:sp>
        <p:nvSpPr>
          <p:cNvPr id="28" name="Shape 25"/>
          <p:cNvSpPr/>
          <p:nvPr/>
        </p:nvSpPr>
        <p:spPr>
          <a:xfrm>
            <a:off x="548640" y="4032504"/>
            <a:ext cx="420624" cy="420624"/>
          </a:xfrm>
          <a:prstGeom prst="ellipse">
            <a:avLst/>
          </a:prstGeom>
          <a:solidFill>
            <a:srgbClr val="EDE9FE"/>
          </a:solidFill>
          <a:ln w="12700">
            <a:solidFill>
              <a:srgbClr val="EDE9FE"/>
            </a:solidFill>
            <a:prstDash val="solid"/>
          </a:ln>
        </p:spPr>
      </p:sp>
      <p:pic>
        <p:nvPicPr>
          <p:cNvPr id="29" name="Image 1" descr="preencoded.png">    </p:cNvPr>
          <p:cNvPicPr>
            <a:picLocks noChangeAspect="1"/>
          </p:cNvPicPr>
          <p:nvPr/>
        </p:nvPicPr>
        <p:blipFill>
          <a:blip r:embed="rId2"/>
          <a:stretch>
            <a:fillRect/>
          </a:stretch>
        </p:blipFill>
        <p:spPr>
          <a:xfrm>
            <a:off x="653796" y="4137660"/>
            <a:ext cx="210312" cy="210312"/>
          </a:xfrm>
          <a:prstGeom prst="rect">
            <a:avLst/>
          </a:prstGeom>
        </p:spPr>
      </p:pic>
      <p:sp>
        <p:nvSpPr>
          <p:cNvPr id="30" name="Text 26"/>
          <p:cNvSpPr txBox="1"/>
          <p:nvPr/>
        </p:nvSpPr>
        <p:spPr>
          <a:xfrm>
            <a:off x="1170432" y="3968496"/>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400" dirty="0"/>
          </a:p>
        </p:txBody>
      </p:sp>
      <p:sp>
        <p:nvSpPr>
          <p:cNvPr id="31" name="Shape 27"/>
          <p:cNvSpPr/>
          <p:nvPr/>
        </p:nvSpPr>
        <p:spPr>
          <a:xfrm>
            <a:off x="548640" y="4636008"/>
            <a:ext cx="420624" cy="420624"/>
          </a:xfrm>
          <a:prstGeom prst="ellipse">
            <a:avLst/>
          </a:prstGeom>
          <a:solidFill>
            <a:srgbClr val="EDE9FE"/>
          </a:solidFill>
          <a:ln w="12700">
            <a:solidFill>
              <a:srgbClr val="EDE9FE"/>
            </a:solidFill>
            <a:prstDash val="solid"/>
          </a:ln>
        </p:spPr>
      </p:sp>
      <p:pic>
        <p:nvPicPr>
          <p:cNvPr id="32" name="Image 2" descr="preencoded.png">    </p:cNvPr>
          <p:cNvPicPr>
            <a:picLocks noChangeAspect="1"/>
          </p:cNvPicPr>
          <p:nvPr/>
        </p:nvPicPr>
        <p:blipFill>
          <a:blip r:embed="rId3"/>
          <a:stretch>
            <a:fillRect/>
          </a:stretch>
        </p:blipFill>
        <p:spPr>
          <a:xfrm>
            <a:off x="653796" y="4741164"/>
            <a:ext cx="210312" cy="210312"/>
          </a:xfrm>
          <a:prstGeom prst="rect">
            <a:avLst/>
          </a:prstGeom>
        </p:spPr>
      </p:pic>
      <p:sp>
        <p:nvSpPr>
          <p:cNvPr id="33" name="Text 28"/>
          <p:cNvSpPr txBox="1"/>
          <p:nvPr/>
        </p:nvSpPr>
        <p:spPr>
          <a:xfrm>
            <a:off x="1170432" y="4572000"/>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400" dirty="0"/>
          </a:p>
        </p:txBody>
      </p:sp>
      <p:sp>
        <p:nvSpPr>
          <p:cNvPr id="34" name="Shape 29"/>
          <p:cNvSpPr/>
          <p:nvPr/>
        </p:nvSpPr>
        <p:spPr>
          <a:xfrm>
            <a:off x="548640" y="5239512"/>
            <a:ext cx="420624" cy="420624"/>
          </a:xfrm>
          <a:prstGeom prst="ellipse">
            <a:avLst/>
          </a:prstGeom>
          <a:solidFill>
            <a:srgbClr val="EDE9FE"/>
          </a:solidFill>
          <a:ln w="12700">
            <a:solidFill>
              <a:srgbClr val="EDE9FE"/>
            </a:solidFill>
            <a:prstDash val="solid"/>
          </a:ln>
        </p:spPr>
      </p:sp>
      <p:pic>
        <p:nvPicPr>
          <p:cNvPr id="35" name="Image 3" descr="preencoded.png">    </p:cNvPr>
          <p:cNvPicPr>
            <a:picLocks noChangeAspect="1"/>
          </p:cNvPicPr>
          <p:nvPr/>
        </p:nvPicPr>
        <p:blipFill>
          <a:blip r:embed="rId4"/>
          <a:stretch>
            <a:fillRect/>
          </a:stretch>
        </p:blipFill>
        <p:spPr>
          <a:xfrm>
            <a:off x="653796" y="5344668"/>
            <a:ext cx="210312" cy="210312"/>
          </a:xfrm>
          <a:prstGeom prst="rect">
            <a:avLst/>
          </a:prstGeom>
        </p:spPr>
      </p:pic>
      <p:sp>
        <p:nvSpPr>
          <p:cNvPr id="36" name="Text 30"/>
          <p:cNvSpPr txBox="1"/>
          <p:nvPr/>
        </p:nvSpPr>
        <p:spPr>
          <a:xfrm>
            <a:off x="1170432" y="5175504"/>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400" dirty="0"/>
          </a:p>
        </p:txBody>
      </p:sp>
      <p:sp>
        <p:nvSpPr>
          <p:cNvPr id="37" name="Shape 31"/>
          <p:cNvSpPr/>
          <p:nvPr/>
        </p:nvSpPr>
        <p:spPr>
          <a:xfrm>
            <a:off x="548640" y="5843016"/>
            <a:ext cx="420624" cy="420624"/>
          </a:xfrm>
          <a:prstGeom prst="ellipse">
            <a:avLst/>
          </a:prstGeom>
          <a:solidFill>
            <a:srgbClr val="EDE9FE"/>
          </a:solidFill>
          <a:ln w="12700">
            <a:solidFill>
              <a:srgbClr val="EDE9FE"/>
            </a:solidFill>
            <a:prstDash val="solid"/>
          </a:ln>
        </p:spPr>
      </p:sp>
      <p:pic>
        <p:nvPicPr>
          <p:cNvPr id="38" name="Image 4" descr="preencoded.png">    </p:cNvPr>
          <p:cNvPicPr>
            <a:picLocks noChangeAspect="1"/>
          </p:cNvPicPr>
          <p:nvPr/>
        </p:nvPicPr>
        <p:blipFill>
          <a:blip r:embed="rId5"/>
          <a:stretch>
            <a:fillRect/>
          </a:stretch>
        </p:blipFill>
        <p:spPr>
          <a:xfrm>
            <a:off x="653796" y="5948172"/>
            <a:ext cx="210312" cy="210312"/>
          </a:xfrm>
          <a:prstGeom prst="rect">
            <a:avLst/>
          </a:prstGeom>
        </p:spPr>
      </p:pic>
      <p:sp>
        <p:nvSpPr>
          <p:cNvPr id="39" name="Text 32"/>
          <p:cNvSpPr txBox="1"/>
          <p:nvPr/>
        </p:nvSpPr>
        <p:spPr>
          <a:xfrm>
            <a:off x="1170432" y="5779008"/>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400" dirty="0"/>
          </a:p>
        </p:txBody>
      </p:sp>
      <p:sp>
        <p:nvSpPr>
          <p:cNvPr id="40"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1"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2103120"/>
          </a:xfrm>
          <a:prstGeom prst="roundRect">
            <a:avLst>
              <a:gd name="adj" fmla="val 347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48256"/>
            <a:ext cx="3310128" cy="1627632"/>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Excluding false positives, missed PU % would be ≈2.6%.</a:t>
            </a:r>
            <a:endParaRPr lang="en-US" sz="11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3886200"/>
          <a:ext cx="3685032" cy="914400"/>
        </p:xfrm>
        <a:graphic>
          <a:graphicData uri="http://schemas.openxmlformats.org/drawingml/2006/table">
            <a:tbl>
              <a:tblPr/>
              <a:tblGrid>
                <a:gridCol w="2130552"/>
                <a:gridCol w="731520"/>
                <a:gridCol w="82296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Text 18"/>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 Mississauga, all dates through Sep 26, 2026. Sep 7 spike (85.7%) = Labour Day, low volume. *wk 39 partial.</a:t>
            </a:r>
            <a:endParaRPr lang="en-US" sz="950" dirty="0"/>
          </a:p>
        </p:txBody>
      </p:sp>
      <p:sp>
        <p:nvSpPr>
          <p:cNvPr id="24"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selected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 75.4%</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6" name="Shape 3"/>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7" name="Text 4"/>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9" name="Text 6"/>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0" name="Shape 7"/>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1" name="Text 8"/>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3" name="Text 10"/>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14" name="Shape 11"/>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15" name="Text 12"/>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7" name="Text 14"/>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18" name="Shape 15"/>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19" name="Text 16"/>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0" name="Text 17"/>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1" name="Text 18"/>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Period: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September</a:t>
            </a:r>
            <a:endParaRPr lang="en-US" sz="3000" dirty="0"/>
          </a:p>
        </p:txBody>
      </p:sp>
      <p:sp>
        <p:nvSpPr>
          <p:cNvPr id="4" name="Text 2"/>
          <p:cNvSpPr txBox="1"/>
          <p:nvPr/>
        </p:nvSpPr>
        <p:spPr>
          <a:xfrm>
            <a:off x="548640" y="1261872"/>
            <a:ext cx="10972800" cy="32004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Weekly LF score vs </a:t>
            </a:r>
            <a:pPr indent="0" marL="0">
              <a:buNone/>
            </a:pPr>
            <a:r>
              <a:rPr lang="en-US" sz="1500" b="1" dirty="0">
                <a:solidFill>
                  <a:srgbClr val="111827"/>
                </a:solidFill>
                <a:latin typeface="Calibri" pitchFamily="34" charset="0"/>
                <a:ea typeface="Calibri" pitchFamily="34" charset="-122"/>
                <a:cs typeface="Calibri" pitchFamily="34" charset="-120"/>
              </a:rPr>
              <a:t>80%</a:t>
            </a:r>
            <a:pPr indent="0" marL="0">
              <a:buNone/>
            </a:pPr>
            <a:r>
              <a:rPr lang="en-US" sz="1500" dirty="0">
                <a:solidFill>
                  <a:srgbClr val="6B7280"/>
                </a:solidFill>
                <a:latin typeface="Calibri" pitchFamily="34" charset="0"/>
                <a:ea typeface="Calibri" pitchFamily="34" charset="-122"/>
                <a:cs typeface="Calibri" pitchFamily="34" charset="-120"/>
              </a:rPr>
              <a:t> target  ·  load % vs </a:t>
            </a:r>
            <a:pPr indent="0" marL="0">
              <a:buNone/>
            </a:pPr>
            <a:r>
              <a:rPr lang="en-US" sz="1500" b="1" dirty="0">
                <a:solidFill>
                  <a:srgbClr val="111827"/>
                </a:solidFill>
                <a:latin typeface="Calibri" pitchFamily="34" charset="0"/>
                <a:ea typeface="Calibri" pitchFamily="34" charset="-122"/>
                <a:cs typeface="Calibri" pitchFamily="34" charset="-120"/>
              </a:rPr>
              <a:t>98%</a:t>
            </a:r>
            <a:pPr indent="0" marL="0">
              <a:buNone/>
            </a:pPr>
            <a:r>
              <a:rPr lang="en-US" sz="1500" dirty="0">
                <a:solidFill>
                  <a:srgbClr val="6B7280"/>
                </a:solidFill>
                <a:latin typeface="Calibri" pitchFamily="34" charset="0"/>
                <a:ea typeface="Calibri" pitchFamily="34" charset="-122"/>
                <a:cs typeface="Calibri" pitchFamily="34" charset="-120"/>
              </a:rPr>
              <a:t> target</a:t>
            </a:r>
            <a:endParaRPr lang="en-US" sz="1500" dirty="0"/>
          </a:p>
        </p:txBody>
      </p:sp>
      <p:sp>
        <p:nvSpPr>
          <p:cNvPr id="5" name="Shape 3"/>
          <p:cNvSpPr/>
          <p:nvPr/>
        </p:nvSpPr>
        <p:spPr>
          <a:xfrm>
            <a:off x="548640" y="1783080"/>
            <a:ext cx="2567178" cy="3291840"/>
          </a:xfrm>
          <a:prstGeom prst="roundRect">
            <a:avLst>
              <a:gd name="adj" fmla="val 2850"/>
            </a:avLst>
          </a:prstGeom>
          <a:solidFill>
            <a:srgbClr val="F3F4F6"/>
          </a:solidFill>
          <a:ln w="12700">
            <a:solidFill>
              <a:srgbClr val="F3F4F6"/>
            </a:solidFill>
            <a:prstDash val="solid"/>
          </a:ln>
        </p:spPr>
      </p:sp>
      <p:sp>
        <p:nvSpPr>
          <p:cNvPr id="6" name="Shape 4"/>
          <p:cNvSpPr/>
          <p:nvPr/>
        </p:nvSpPr>
        <p:spPr>
          <a:xfrm>
            <a:off x="777240" y="2011680"/>
            <a:ext cx="457200" cy="457200"/>
          </a:xfrm>
          <a:prstGeom prst="ellipse">
            <a:avLst/>
          </a:prstGeom>
          <a:solidFill>
            <a:srgbClr val="7C3AED"/>
          </a:solidFill>
          <a:ln w="12700">
            <a:solidFill>
              <a:srgbClr val="7C3AED"/>
            </a:solidFill>
            <a:prstDash val="solid"/>
          </a:ln>
        </p:spPr>
      </p:sp>
      <p:sp>
        <p:nvSpPr>
          <p:cNvPr id="7"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71600"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1–5</a:t>
            </a:r>
            <a:endParaRPr lang="en-US" sz="1600" dirty="0"/>
          </a:p>
        </p:txBody>
      </p:sp>
      <p:sp>
        <p:nvSpPr>
          <p:cNvPr id="9" name="Text 7"/>
          <p:cNvSpPr txBox="1"/>
          <p:nvPr/>
        </p:nvSpPr>
        <p:spPr>
          <a:xfrm>
            <a:off x="777240"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10" name="Text 8"/>
          <p:cNvSpPr txBox="1"/>
          <p:nvPr/>
        </p:nvSpPr>
        <p:spPr>
          <a:xfrm>
            <a:off x="777240"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1" name="Text 9"/>
          <p:cNvSpPr txBox="1"/>
          <p:nvPr/>
        </p:nvSpPr>
        <p:spPr>
          <a:xfrm>
            <a:off x="777240"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12" name="Text 10"/>
          <p:cNvSpPr txBox="1"/>
          <p:nvPr/>
        </p:nvSpPr>
        <p:spPr>
          <a:xfrm>
            <a:off x="777240"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13" name="Text 11"/>
          <p:cNvSpPr txBox="1"/>
          <p:nvPr/>
        </p:nvSpPr>
        <p:spPr>
          <a:xfrm>
            <a:off x="777240"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Text 12"/>
          <p:cNvSpPr txBox="1"/>
          <p:nvPr/>
        </p:nvSpPr>
        <p:spPr>
          <a:xfrm>
            <a:off x="777240"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15" name="Shape 13"/>
          <p:cNvSpPr/>
          <p:nvPr/>
        </p:nvSpPr>
        <p:spPr>
          <a:xfrm>
            <a:off x="3390138" y="1783080"/>
            <a:ext cx="2567178" cy="3291840"/>
          </a:xfrm>
          <a:prstGeom prst="roundRect">
            <a:avLst>
              <a:gd name="adj" fmla="val 2850"/>
            </a:avLst>
          </a:prstGeom>
          <a:solidFill>
            <a:srgbClr val="F3F4F6"/>
          </a:solidFill>
          <a:ln w="12700">
            <a:solidFill>
              <a:srgbClr val="F3F4F6"/>
            </a:solidFill>
            <a:prstDash val="solid"/>
          </a:ln>
        </p:spPr>
      </p:sp>
      <p:sp>
        <p:nvSpPr>
          <p:cNvPr id="16" name="Shape 14"/>
          <p:cNvSpPr/>
          <p:nvPr/>
        </p:nvSpPr>
        <p:spPr>
          <a:xfrm>
            <a:off x="3618738" y="2011680"/>
            <a:ext cx="457200" cy="457200"/>
          </a:xfrm>
          <a:prstGeom prst="ellipse">
            <a:avLst/>
          </a:prstGeom>
          <a:solidFill>
            <a:srgbClr val="7C3AED"/>
          </a:solidFill>
          <a:ln w="12700">
            <a:solidFill>
              <a:srgbClr val="7C3AED"/>
            </a:solidFill>
            <a:prstDash val="solid"/>
          </a:ln>
        </p:spPr>
      </p:sp>
      <p:sp>
        <p:nvSpPr>
          <p:cNvPr id="17" name="Text 15"/>
          <p:cNvSpPr txBox="1"/>
          <p:nvPr/>
        </p:nvSpPr>
        <p:spPr>
          <a:xfrm>
            <a:off x="3618738"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4213098"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6–12</a:t>
            </a:r>
            <a:endParaRPr lang="en-US" sz="1600" dirty="0"/>
          </a:p>
        </p:txBody>
      </p:sp>
      <p:sp>
        <p:nvSpPr>
          <p:cNvPr id="19" name="Text 17"/>
          <p:cNvSpPr txBox="1"/>
          <p:nvPr/>
        </p:nvSpPr>
        <p:spPr>
          <a:xfrm>
            <a:off x="3618738"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20" name="Text 18"/>
          <p:cNvSpPr txBox="1"/>
          <p:nvPr/>
        </p:nvSpPr>
        <p:spPr>
          <a:xfrm>
            <a:off x="3618738"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1" name="Text 19"/>
          <p:cNvSpPr txBox="1"/>
          <p:nvPr/>
        </p:nvSpPr>
        <p:spPr>
          <a:xfrm>
            <a:off x="3618738"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22" name="Text 20"/>
          <p:cNvSpPr txBox="1"/>
          <p:nvPr/>
        </p:nvSpPr>
        <p:spPr>
          <a:xfrm>
            <a:off x="3618738"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23" name="Text 21"/>
          <p:cNvSpPr txBox="1"/>
          <p:nvPr/>
        </p:nvSpPr>
        <p:spPr>
          <a:xfrm>
            <a:off x="3618738"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4" name="Text 22"/>
          <p:cNvSpPr txBox="1"/>
          <p:nvPr/>
        </p:nvSpPr>
        <p:spPr>
          <a:xfrm>
            <a:off x="3618738"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25" name="Shape 23"/>
          <p:cNvSpPr/>
          <p:nvPr/>
        </p:nvSpPr>
        <p:spPr>
          <a:xfrm>
            <a:off x="6231636" y="1783080"/>
            <a:ext cx="2567178" cy="3291840"/>
          </a:xfrm>
          <a:prstGeom prst="roundRect">
            <a:avLst>
              <a:gd name="adj" fmla="val 2850"/>
            </a:avLst>
          </a:prstGeom>
          <a:solidFill>
            <a:srgbClr val="F3F4F6"/>
          </a:solidFill>
          <a:ln w="12700">
            <a:solidFill>
              <a:srgbClr val="F3F4F6"/>
            </a:solidFill>
            <a:prstDash val="solid"/>
          </a:ln>
        </p:spPr>
      </p:sp>
      <p:sp>
        <p:nvSpPr>
          <p:cNvPr id="26" name="Shape 24"/>
          <p:cNvSpPr/>
          <p:nvPr/>
        </p:nvSpPr>
        <p:spPr>
          <a:xfrm>
            <a:off x="6460236" y="2011680"/>
            <a:ext cx="457200" cy="457200"/>
          </a:xfrm>
          <a:prstGeom prst="ellipse">
            <a:avLst/>
          </a:prstGeom>
          <a:solidFill>
            <a:srgbClr val="7C3AED"/>
          </a:solidFill>
          <a:ln w="12700">
            <a:solidFill>
              <a:srgbClr val="7C3AED"/>
            </a:solidFill>
            <a:prstDash val="solid"/>
          </a:ln>
        </p:spPr>
      </p:sp>
      <p:sp>
        <p:nvSpPr>
          <p:cNvPr id="27" name="Text 25"/>
          <p:cNvSpPr txBox="1"/>
          <p:nvPr/>
        </p:nvSpPr>
        <p:spPr>
          <a:xfrm>
            <a:off x="6460236"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7054596"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13–19</a:t>
            </a:r>
            <a:endParaRPr lang="en-US" sz="1600" dirty="0"/>
          </a:p>
        </p:txBody>
      </p:sp>
      <p:sp>
        <p:nvSpPr>
          <p:cNvPr id="29" name="Text 27"/>
          <p:cNvSpPr txBox="1"/>
          <p:nvPr/>
        </p:nvSpPr>
        <p:spPr>
          <a:xfrm>
            <a:off x="6460236"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30" name="Text 28"/>
          <p:cNvSpPr txBox="1"/>
          <p:nvPr/>
        </p:nvSpPr>
        <p:spPr>
          <a:xfrm>
            <a:off x="6460236"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1" name="Text 29"/>
          <p:cNvSpPr txBox="1"/>
          <p:nvPr/>
        </p:nvSpPr>
        <p:spPr>
          <a:xfrm>
            <a:off x="6460236"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32" name="Text 30"/>
          <p:cNvSpPr txBox="1"/>
          <p:nvPr/>
        </p:nvSpPr>
        <p:spPr>
          <a:xfrm>
            <a:off x="6460236"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33" name="Text 31"/>
          <p:cNvSpPr txBox="1"/>
          <p:nvPr/>
        </p:nvSpPr>
        <p:spPr>
          <a:xfrm>
            <a:off x="6460236"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4" name="Text 32"/>
          <p:cNvSpPr txBox="1"/>
          <p:nvPr/>
        </p:nvSpPr>
        <p:spPr>
          <a:xfrm>
            <a:off x="6460236"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35" name="Shape 33"/>
          <p:cNvSpPr/>
          <p:nvPr/>
        </p:nvSpPr>
        <p:spPr>
          <a:xfrm>
            <a:off x="9073134" y="1783080"/>
            <a:ext cx="2567178" cy="3291840"/>
          </a:xfrm>
          <a:prstGeom prst="roundRect">
            <a:avLst>
              <a:gd name="adj" fmla="val 2850"/>
            </a:avLst>
          </a:prstGeom>
          <a:solidFill>
            <a:srgbClr val="F3F4F6"/>
          </a:solidFill>
          <a:ln w="12700">
            <a:solidFill>
              <a:srgbClr val="F3F4F6"/>
            </a:solidFill>
            <a:prstDash val="solid"/>
          </a:ln>
        </p:spPr>
      </p:sp>
      <p:sp>
        <p:nvSpPr>
          <p:cNvPr id="36" name="Shape 34"/>
          <p:cNvSpPr/>
          <p:nvPr/>
        </p:nvSpPr>
        <p:spPr>
          <a:xfrm>
            <a:off x="9301734" y="2011680"/>
            <a:ext cx="457200" cy="457200"/>
          </a:xfrm>
          <a:prstGeom prst="ellipse">
            <a:avLst/>
          </a:prstGeom>
          <a:solidFill>
            <a:srgbClr val="7C3AED"/>
          </a:solidFill>
          <a:ln w="12700">
            <a:solidFill>
              <a:srgbClr val="7C3AED"/>
            </a:solidFill>
            <a:prstDash val="solid"/>
          </a:ln>
        </p:spPr>
      </p:sp>
      <p:sp>
        <p:nvSpPr>
          <p:cNvPr id="37" name="Text 35"/>
          <p:cNvSpPr txBox="1"/>
          <p:nvPr/>
        </p:nvSpPr>
        <p:spPr>
          <a:xfrm>
            <a:off x="9301734"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8" name="Text 36"/>
          <p:cNvSpPr txBox="1"/>
          <p:nvPr/>
        </p:nvSpPr>
        <p:spPr>
          <a:xfrm>
            <a:off x="9896094"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20–26</a:t>
            </a:r>
            <a:endParaRPr lang="en-US" sz="1600" dirty="0"/>
          </a:p>
        </p:txBody>
      </p:sp>
      <p:sp>
        <p:nvSpPr>
          <p:cNvPr id="39" name="Text 37"/>
          <p:cNvSpPr txBox="1"/>
          <p:nvPr/>
        </p:nvSpPr>
        <p:spPr>
          <a:xfrm>
            <a:off x="9301734"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40" name="Text 38"/>
          <p:cNvSpPr txBox="1"/>
          <p:nvPr/>
        </p:nvSpPr>
        <p:spPr>
          <a:xfrm>
            <a:off x="9301734"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1" name="Text 39"/>
          <p:cNvSpPr txBox="1"/>
          <p:nvPr/>
        </p:nvSpPr>
        <p:spPr>
          <a:xfrm>
            <a:off x="9301734"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42" name="Text 40"/>
          <p:cNvSpPr txBox="1"/>
          <p:nvPr/>
        </p:nvSpPr>
        <p:spPr>
          <a:xfrm>
            <a:off x="9301734"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43" name="Text 41"/>
          <p:cNvSpPr txBox="1"/>
          <p:nvPr/>
        </p:nvSpPr>
        <p:spPr>
          <a:xfrm>
            <a:off x="9301734"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4" name="Text 42"/>
          <p:cNvSpPr txBox="1"/>
          <p:nvPr/>
        </p:nvSpPr>
        <p:spPr>
          <a:xfrm>
            <a:off x="9301734"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45" name="Shape 43"/>
          <p:cNvSpPr/>
          <p:nvPr/>
        </p:nvSpPr>
        <p:spPr>
          <a:xfrm>
            <a:off x="548640" y="5303520"/>
            <a:ext cx="11091672" cy="868680"/>
          </a:xfrm>
          <a:prstGeom prst="roundRect">
            <a:avLst>
              <a:gd name="adj" fmla="val 8421"/>
            </a:avLst>
          </a:prstGeom>
          <a:solidFill>
            <a:srgbClr val="F5F3FF"/>
          </a:solidFill>
          <a:ln w="12700">
            <a:solidFill>
              <a:srgbClr val="F5F3FF"/>
            </a:solidFill>
            <a:prstDash val="solid"/>
          </a:ln>
        </p:spPr>
      </p:sp>
      <p:sp>
        <p:nvSpPr>
          <p:cNvPr id="46" name="Shape 44"/>
          <p:cNvSpPr/>
          <p:nvPr/>
        </p:nvSpPr>
        <p:spPr>
          <a:xfrm>
            <a:off x="777240" y="5477256"/>
            <a:ext cx="512064" cy="512064"/>
          </a:xfrm>
          <a:prstGeom prst="ellipse">
            <a:avLst/>
          </a:prstGeom>
          <a:solidFill>
            <a:srgbClr val="7C3AED"/>
          </a:solidFill>
          <a:ln w="12700">
            <a:solidFill>
              <a:srgbClr val="7C3AED"/>
            </a:solidFill>
            <a:prstDash val="solid"/>
          </a:ln>
        </p:spPr>
      </p:sp>
      <p:pic>
        <p:nvPicPr>
          <p:cNvPr id="47" name="Image 0" descr="preencoded.png">    </p:cNvPr>
          <p:cNvPicPr>
            <a:picLocks noChangeAspect="1"/>
          </p:cNvPicPr>
          <p:nvPr/>
        </p:nvPicPr>
        <p:blipFill>
          <a:blip r:embed="rId1"/>
          <a:stretch>
            <a:fillRect/>
          </a:stretch>
        </p:blipFill>
        <p:spPr>
          <a:xfrm>
            <a:off x="905256" y="5605272"/>
            <a:ext cx="256032" cy="256032"/>
          </a:xfrm>
          <a:prstGeom prst="rect">
            <a:avLst/>
          </a:prstGeom>
        </p:spPr>
      </p:pic>
      <p:sp>
        <p:nvSpPr>
          <p:cNvPr id="48" name="Text 45"/>
          <p:cNvSpPr txBox="1"/>
          <p:nvPr/>
        </p:nvSpPr>
        <p:spPr>
          <a:xfrm>
            <a:off x="1508760" y="5303520"/>
            <a:ext cx="9966960" cy="86868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Load factor &amp; trailer consolidation  ·  </a:t>
            </a:r>
            <a:pPr indent="0" marL="0">
              <a:buNone/>
            </a:pPr>
            <a:r>
              <a:rPr lang="en-US" sz="1500" dirty="0">
                <a:solidFill>
                  <a:srgbClr val="1F2937"/>
                </a:solidFill>
                <a:latin typeface="Calibri" pitchFamily="34" charset="0"/>
                <a:ea typeface="Calibri" pitchFamily="34" charset="-122"/>
                <a:cs typeface="Calibri" pitchFamily="34" charset="-120"/>
              </a:rPr>
              <a:t>Consolidating large-customer freight into fewer trailers.</a:t>
            </a:r>
            <a:endParaRPr lang="en-US" sz="1500" dirty="0"/>
          </a:p>
        </p:txBody>
      </p:sp>
      <p:sp>
        <p:nvSpPr>
          <p:cNvPr id="49" name="Text 4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0" name="Text 4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2026-09-29T13:49:00Z</dcterms:created>
  <dcterms:modified xsi:type="dcterms:W3CDTF">2026-09-29T13:49:00Z</dcterms:modified>
</cp:coreProperties>
</file>