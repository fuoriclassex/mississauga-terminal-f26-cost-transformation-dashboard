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TRIR figures for F27 year to date are being confirmed with OHS and will be filled in before distribution. Day to day, supervisors own STEP observations, every shift starts with a tailgate and equipment checks, and dock conditions are logged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reviewed with OHS for root cause and an action plan, and certifications are renewed before they expire. For F27 we are adding a weekly STEP target per supervisor, a near-miss reporting push, and a certification tracker with 30-day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freight bills scanned by trip type for the week of September 6 to 11, against the 98 percent target; the percentages are being confirmed from the scanning report. Compliance is checked every shift so gaps are fixed the same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with a target band of dock hours for each shift. The bands are being finalized and will be filled in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initiatives in the F27 savings plan, carrying forward three that were sustained from F26 and adding accessorial recovery and load factor consolidation. Dollar amounts and the F27 take-out target are being confirmed with Finance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September weeks for load factor score and load percentage against the 80 and 98 percent targets; the weekly figures are being confirmed. Consolidating large-customer freight into fewer trailers is the main lever here and is part of the F27 savings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state of the building: how many dock doors we have, how many are out of service, and the repairs we need, by priority. The list and cost estimates are being finalized with facilities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SEPT MTD · AS OF SEP 26</a:t>
            </a:r>
            <a:endParaRPr lang="en-US" sz="1100" dirty="0"/>
          </a:p>
        </p:txBody>
      </p:sp>
      <p:sp>
        <p:nvSpPr>
          <p:cNvPr id="9" name="Text 7"/>
          <p:cNvSpPr txBox="1"/>
          <p:nvPr/>
        </p:nvSpPr>
        <p:spPr>
          <a:xfrm>
            <a:off x="8641080" y="178308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93.7%</a:t>
            </a:r>
            <a:endParaRPr lang="en-US" sz="2200" dirty="0"/>
          </a:p>
        </p:txBody>
      </p:sp>
      <p:sp>
        <p:nvSpPr>
          <p:cNvPr id="10" name="Text 8"/>
          <p:cNvSpPr txBox="1"/>
          <p:nvPr/>
        </p:nvSpPr>
        <p:spPr>
          <a:xfrm>
            <a:off x="10012680" y="178308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OTS Sept (adj., incl. partners)</a:t>
            </a:r>
            <a:endParaRPr lang="en-US" sz="1150" dirty="0"/>
          </a:p>
        </p:txBody>
      </p:sp>
      <p:sp>
        <p:nvSpPr>
          <p:cNvPr id="11" name="Text 9"/>
          <p:cNvSpPr txBox="1"/>
          <p:nvPr/>
        </p:nvSpPr>
        <p:spPr>
          <a:xfrm>
            <a:off x="8641080" y="228600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91.1%</a:t>
            </a:r>
            <a:endParaRPr lang="en-US" sz="2200" dirty="0"/>
          </a:p>
        </p:txBody>
      </p:sp>
      <p:sp>
        <p:nvSpPr>
          <p:cNvPr id="12" name="Text 10"/>
          <p:cNvSpPr txBox="1"/>
          <p:nvPr/>
        </p:nvSpPr>
        <p:spPr>
          <a:xfrm>
            <a:off x="10012680" y="228600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of SCA hour allowance</a:t>
            </a:r>
            <a:endParaRPr lang="en-US" sz="1150" dirty="0"/>
          </a:p>
        </p:txBody>
      </p:sp>
      <p:sp>
        <p:nvSpPr>
          <p:cNvPr id="13" name="Text 11"/>
          <p:cNvSpPr txBox="1"/>
          <p:nvPr/>
        </p:nvSpPr>
        <p:spPr>
          <a:xfrm>
            <a:off x="8641080" y="278892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−16.7%</a:t>
            </a:r>
            <a:endParaRPr lang="en-US" sz="2200" dirty="0"/>
          </a:p>
        </p:txBody>
      </p:sp>
      <p:sp>
        <p:nvSpPr>
          <p:cNvPr id="14" name="Text 12"/>
          <p:cNvSpPr txBox="1"/>
          <p:nvPr/>
        </p:nvSpPr>
        <p:spPr>
          <a:xfrm>
            <a:off x="10012680" y="278892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cost per unit vs F26</a:t>
            </a:r>
            <a:endParaRPr lang="en-US" sz="1150" dirty="0"/>
          </a:p>
        </p:txBody>
      </p:sp>
      <p:sp>
        <p:nvSpPr>
          <p:cNvPr id="15" name="Text 13"/>
          <p:cNvSpPr txBox="1"/>
          <p:nvPr/>
        </p:nvSpPr>
        <p:spPr>
          <a:xfrm>
            <a:off x="8641080" y="329184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+26.7%</a:t>
            </a:r>
            <a:endParaRPr lang="en-US" sz="2200" dirty="0"/>
          </a:p>
        </p:txBody>
      </p:sp>
      <p:sp>
        <p:nvSpPr>
          <p:cNvPr id="16" name="Text 14"/>
          <p:cNvSpPr txBox="1"/>
          <p:nvPr/>
        </p:nvSpPr>
        <p:spPr>
          <a:xfrm>
            <a:off x="10012680" y="329184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units per hour vs F26</a:t>
            </a:r>
            <a:endParaRPr lang="en-US" sz="1150" dirty="0"/>
          </a:p>
        </p:txBody>
      </p:sp>
      <p:sp>
        <p:nvSpPr>
          <p:cNvPr id="17" name="Text 15"/>
          <p:cNvSpPr txBox="1"/>
          <p:nvPr/>
        </p:nvSpPr>
        <p:spPr>
          <a:xfrm>
            <a:off x="8641080" y="379476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 hrs</a:t>
            </a:r>
            <a:endParaRPr lang="en-US" sz="2200" dirty="0"/>
          </a:p>
        </p:txBody>
      </p:sp>
      <p:sp>
        <p:nvSpPr>
          <p:cNvPr id="18" name="Text 16"/>
          <p:cNvSpPr txBox="1"/>
          <p:nvPr/>
        </p:nvSpPr>
        <p:spPr>
          <a:xfrm>
            <a:off x="10012680" y="379476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overtime MTD</a:t>
            </a:r>
            <a:endParaRPr lang="en-US" sz="1150" dirty="0"/>
          </a:p>
        </p:txBody>
      </p:sp>
      <p:sp>
        <p:nvSpPr>
          <p:cNvPr id="19" name="Text 17"/>
          <p:cNvSpPr txBox="1"/>
          <p:nvPr/>
        </p:nvSpPr>
        <p:spPr>
          <a:xfrm>
            <a:off x="8641080" y="437083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0" name="Text 18"/>
          <p:cNvSpPr txBox="1"/>
          <p:nvPr/>
        </p:nvSpPr>
        <p:spPr>
          <a:xfrm>
            <a:off x="8641080" y="4626864"/>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1" name="Text 19"/>
          <p:cNvSpPr txBox="1"/>
          <p:nvPr/>
        </p:nvSpPr>
        <p:spPr>
          <a:xfrm>
            <a:off x="8641080" y="5084064"/>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daily safety practices, incident process, F27 plans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vs allowance, dock labour &amp; cost per unit,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cost &amp; volume, load factor, CICO hours saved</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Dock doors and urgent repairs</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71600"/>
            <a:ext cx="2072030" cy="1280160"/>
          </a:xfrm>
          <a:prstGeom prst="roundRect">
            <a:avLst>
              <a:gd name="adj" fmla="val 5714"/>
            </a:avLst>
          </a:prstGeom>
          <a:solidFill>
            <a:srgbClr val="F3F4F6"/>
          </a:solidFill>
          <a:ln w="12700">
            <a:solidFill>
              <a:srgbClr val="F3F4F6"/>
            </a:solidFill>
            <a:prstDash val="solid"/>
          </a:ln>
        </p:spPr>
      </p:sp>
      <p:sp>
        <p:nvSpPr>
          <p:cNvPr id="5" name="Text 3"/>
          <p:cNvSpPr txBox="1"/>
          <p:nvPr/>
        </p:nvSpPr>
        <p:spPr>
          <a:xfrm>
            <a:off x="73152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7" name="Text 5"/>
          <p:cNvSpPr txBox="1"/>
          <p:nvPr/>
        </p:nvSpPr>
        <p:spPr>
          <a:xfrm>
            <a:off x="73152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 Sep 29, 2026</a:t>
            </a:r>
            <a:endParaRPr lang="en-US" sz="1050" dirty="0"/>
          </a:p>
        </p:txBody>
      </p:sp>
      <p:sp>
        <p:nvSpPr>
          <p:cNvPr id="8" name="Shape 6"/>
          <p:cNvSpPr/>
          <p:nvPr/>
        </p:nvSpPr>
        <p:spPr>
          <a:xfrm>
            <a:off x="2803550" y="1371600"/>
            <a:ext cx="2072030" cy="1280160"/>
          </a:xfrm>
          <a:prstGeom prst="roundRect">
            <a:avLst>
              <a:gd name="adj" fmla="val 5714"/>
            </a:avLst>
          </a:prstGeom>
          <a:solidFill>
            <a:srgbClr val="F3F4F6"/>
          </a:solidFill>
          <a:ln w="12700">
            <a:solidFill>
              <a:srgbClr val="F3F4F6"/>
            </a:solidFill>
            <a:prstDash val="solid"/>
          </a:ln>
        </p:spPr>
      </p:sp>
      <p:sp>
        <p:nvSpPr>
          <p:cNvPr id="9" name="Text 7"/>
          <p:cNvSpPr txBox="1"/>
          <p:nvPr/>
        </p:nvSpPr>
        <p:spPr>
          <a:xfrm>
            <a:off x="298643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1" name="Text 9"/>
          <p:cNvSpPr txBox="1"/>
          <p:nvPr/>
        </p:nvSpPr>
        <p:spPr>
          <a:xfrm>
            <a:off x="298643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71600"/>
            <a:ext cx="2072030" cy="1280160"/>
          </a:xfrm>
          <a:prstGeom prst="roundRect">
            <a:avLst>
              <a:gd name="adj" fmla="val 5714"/>
            </a:avLst>
          </a:prstGeom>
          <a:solidFill>
            <a:srgbClr val="F3F4F6"/>
          </a:solidFill>
          <a:ln w="12700">
            <a:solidFill>
              <a:srgbClr val="F3F4F6"/>
            </a:solidFill>
            <a:prstDash val="solid"/>
          </a:ln>
        </p:spPr>
      </p:sp>
      <p:sp>
        <p:nvSpPr>
          <p:cNvPr id="13" name="Text 11"/>
          <p:cNvSpPr txBox="1"/>
          <p:nvPr/>
        </p:nvSpPr>
        <p:spPr>
          <a:xfrm>
            <a:off x="524134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target</a:t>
            </a:r>
            <a:endParaRPr lang="en-US" sz="950" dirty="0"/>
          </a:p>
        </p:txBody>
      </p:sp>
      <p:sp>
        <p:nvSpPr>
          <p:cNvPr id="14" name="Text 12"/>
          <p:cNvSpPr txBox="1"/>
          <p:nvPr/>
        </p:nvSpPr>
        <p:spPr>
          <a:xfrm>
            <a:off x="524134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5" name="Text 13"/>
          <p:cNvSpPr txBox="1"/>
          <p:nvPr/>
        </p:nvSpPr>
        <p:spPr>
          <a:xfrm>
            <a:off x="524134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F27 target</a:t>
            </a:r>
            <a:endParaRPr lang="en-US" sz="1050" dirty="0"/>
          </a:p>
        </p:txBody>
      </p:sp>
      <p:sp>
        <p:nvSpPr>
          <p:cNvPr id="16" name="Shape 14"/>
          <p:cNvSpPr/>
          <p:nvPr/>
        </p:nvSpPr>
        <p:spPr>
          <a:xfrm>
            <a:off x="7313371" y="1371600"/>
            <a:ext cx="2072030" cy="1280160"/>
          </a:xfrm>
          <a:prstGeom prst="roundRect">
            <a:avLst>
              <a:gd name="adj" fmla="val 5714"/>
            </a:avLst>
          </a:prstGeom>
          <a:solidFill>
            <a:srgbClr val="F3F4F6"/>
          </a:solidFill>
          <a:ln w="12700">
            <a:solidFill>
              <a:srgbClr val="F3F4F6"/>
            </a:solidFill>
            <a:prstDash val="solid"/>
          </a:ln>
        </p:spPr>
      </p:sp>
      <p:sp>
        <p:nvSpPr>
          <p:cNvPr id="17" name="Text 15"/>
          <p:cNvSpPr txBox="1"/>
          <p:nvPr/>
        </p:nvSpPr>
        <p:spPr>
          <a:xfrm>
            <a:off x="749625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YTD</a:t>
            </a:r>
            <a:endParaRPr lang="en-US" sz="950" dirty="0"/>
          </a:p>
        </p:txBody>
      </p:sp>
      <p:sp>
        <p:nvSpPr>
          <p:cNvPr id="18" name="Text 16"/>
          <p:cNvSpPr txBox="1"/>
          <p:nvPr/>
        </p:nvSpPr>
        <p:spPr>
          <a:xfrm>
            <a:off x="749625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9" name="Text 17"/>
          <p:cNvSpPr txBox="1"/>
          <p:nvPr/>
        </p:nvSpPr>
        <p:spPr>
          <a:xfrm>
            <a:off x="749625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to date</a:t>
            </a:r>
            <a:endParaRPr lang="en-US" sz="1050" dirty="0"/>
          </a:p>
        </p:txBody>
      </p:sp>
      <p:sp>
        <p:nvSpPr>
          <p:cNvPr id="20" name="Shape 18"/>
          <p:cNvSpPr/>
          <p:nvPr/>
        </p:nvSpPr>
        <p:spPr>
          <a:xfrm>
            <a:off x="9568282" y="1371600"/>
            <a:ext cx="2072030" cy="1280160"/>
          </a:xfrm>
          <a:prstGeom prst="roundRect">
            <a:avLst>
              <a:gd name="adj" fmla="val 5714"/>
            </a:avLst>
          </a:prstGeom>
          <a:solidFill>
            <a:srgbClr val="F3F4F6"/>
          </a:solidFill>
          <a:ln w="12700">
            <a:solidFill>
              <a:srgbClr val="F3F4F6"/>
            </a:solidFill>
            <a:prstDash val="solid"/>
          </a:ln>
        </p:spPr>
      </p:sp>
      <p:sp>
        <p:nvSpPr>
          <p:cNvPr id="21" name="Text 19"/>
          <p:cNvSpPr txBox="1"/>
          <p:nvPr/>
        </p:nvSpPr>
        <p:spPr>
          <a:xfrm>
            <a:off x="9751162"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23" name="Text 21"/>
          <p:cNvSpPr txBox="1"/>
          <p:nvPr/>
        </p:nvSpPr>
        <p:spPr>
          <a:xfrm>
            <a:off x="9751162"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As of Sep 29, 2026</a:t>
            </a:r>
            <a:endParaRPr lang="en-US" sz="1050" dirty="0"/>
          </a:p>
        </p:txBody>
      </p:sp>
      <p:sp>
        <p:nvSpPr>
          <p:cNvPr id="24" name="Text 22"/>
          <p:cNvSpPr txBox="1"/>
          <p:nvPr/>
        </p:nvSpPr>
        <p:spPr>
          <a:xfrm>
            <a:off x="548640" y="2907792"/>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today</a:t>
            </a:r>
            <a:endParaRPr lang="en-US" sz="1800" dirty="0"/>
          </a:p>
        </p:txBody>
      </p:sp>
      <p:sp>
        <p:nvSpPr>
          <p:cNvPr id="25" name="Shape 23"/>
          <p:cNvSpPr/>
          <p:nvPr/>
        </p:nvSpPr>
        <p:spPr>
          <a:xfrm>
            <a:off x="548640" y="3429000"/>
            <a:ext cx="420624" cy="420624"/>
          </a:xfrm>
          <a:prstGeom prst="ellipse">
            <a:avLst/>
          </a:prstGeom>
          <a:solidFill>
            <a:srgbClr val="EDE9FE"/>
          </a:solidFill>
          <a:ln w="12700">
            <a:solidFill>
              <a:srgbClr val="EDE9FE"/>
            </a:solidFill>
            <a:prstDash val="solid"/>
          </a:ln>
        </p:spPr>
      </p:sp>
      <p:pic>
        <p:nvPicPr>
          <p:cNvPr id="26" name="Image 0" descr="preencoded.png">    </p:cNvPr>
          <p:cNvPicPr>
            <a:picLocks noChangeAspect="1"/>
          </p:cNvPicPr>
          <p:nvPr/>
        </p:nvPicPr>
        <p:blipFill>
          <a:blip r:embed="rId1"/>
          <a:stretch>
            <a:fillRect/>
          </a:stretch>
        </p:blipFill>
        <p:spPr>
          <a:xfrm>
            <a:off x="653796" y="3534156"/>
            <a:ext cx="210312" cy="210312"/>
          </a:xfrm>
          <a:prstGeom prst="rect">
            <a:avLst/>
          </a:prstGeom>
        </p:spPr>
      </p:pic>
      <p:sp>
        <p:nvSpPr>
          <p:cNvPr id="27" name="Text 24"/>
          <p:cNvSpPr txBox="1"/>
          <p:nvPr/>
        </p:nvSpPr>
        <p:spPr>
          <a:xfrm>
            <a:off x="1170432" y="3364992"/>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Supervisors and managers are accountable for STEP observations — non-compliance is addressed on the spot and documented on the OHS shared drive.</a:t>
            </a:r>
            <a:endParaRPr lang="en-US" sz="1400" dirty="0"/>
          </a:p>
        </p:txBody>
      </p:sp>
      <p:sp>
        <p:nvSpPr>
          <p:cNvPr id="28" name="Shape 25"/>
          <p:cNvSpPr/>
          <p:nvPr/>
        </p:nvSpPr>
        <p:spPr>
          <a:xfrm>
            <a:off x="548640" y="4032504"/>
            <a:ext cx="420624" cy="420624"/>
          </a:xfrm>
          <a:prstGeom prst="ellipse">
            <a:avLst/>
          </a:prstGeom>
          <a:solidFill>
            <a:srgbClr val="EDE9FE"/>
          </a:solidFill>
          <a:ln w="12700">
            <a:solidFill>
              <a:srgbClr val="EDE9FE"/>
            </a:solidFill>
            <a:prstDash val="solid"/>
          </a:ln>
        </p:spPr>
      </p:sp>
      <p:pic>
        <p:nvPicPr>
          <p:cNvPr id="29" name="Image 1" descr="preencoded.png">    </p:cNvPr>
          <p:cNvPicPr>
            <a:picLocks noChangeAspect="1"/>
          </p:cNvPicPr>
          <p:nvPr/>
        </p:nvPicPr>
        <p:blipFill>
          <a:blip r:embed="rId2"/>
          <a:stretch>
            <a:fillRect/>
          </a:stretch>
        </p:blipFill>
        <p:spPr>
          <a:xfrm>
            <a:off x="653796" y="4137660"/>
            <a:ext cx="210312" cy="210312"/>
          </a:xfrm>
          <a:prstGeom prst="rect">
            <a:avLst/>
          </a:prstGeom>
        </p:spPr>
      </p:pic>
      <p:sp>
        <p:nvSpPr>
          <p:cNvPr id="30" name="Text 26"/>
          <p:cNvSpPr txBox="1"/>
          <p:nvPr/>
        </p:nvSpPr>
        <p:spPr>
          <a:xfrm>
            <a:off x="1170432" y="3968496"/>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Tailgates every shift; forklift pre- and post-shift inspections; shunt pre-trip meeting every shift using the new checklist.</a:t>
            </a:r>
            <a:endParaRPr lang="en-US" sz="1400" dirty="0"/>
          </a:p>
        </p:txBody>
      </p:sp>
      <p:sp>
        <p:nvSpPr>
          <p:cNvPr id="31" name="Shape 27"/>
          <p:cNvSpPr/>
          <p:nvPr/>
        </p:nvSpPr>
        <p:spPr>
          <a:xfrm>
            <a:off x="548640" y="4636008"/>
            <a:ext cx="420624" cy="420624"/>
          </a:xfrm>
          <a:prstGeom prst="ellipse">
            <a:avLst/>
          </a:prstGeom>
          <a:solidFill>
            <a:srgbClr val="EDE9FE"/>
          </a:solidFill>
          <a:ln w="12700">
            <a:solidFill>
              <a:srgbClr val="EDE9FE"/>
            </a:solidFill>
            <a:prstDash val="solid"/>
          </a:ln>
        </p:spPr>
      </p:sp>
      <p:pic>
        <p:nvPicPr>
          <p:cNvPr id="32" name="Image 2" descr="preencoded.png">    </p:cNvPr>
          <p:cNvPicPr>
            <a:picLocks noChangeAspect="1"/>
          </p:cNvPicPr>
          <p:nvPr/>
        </p:nvPicPr>
        <p:blipFill>
          <a:blip r:embed="rId3"/>
          <a:stretch>
            <a:fillRect/>
          </a:stretch>
        </p:blipFill>
        <p:spPr>
          <a:xfrm>
            <a:off x="653796" y="4741164"/>
            <a:ext cx="210312" cy="210312"/>
          </a:xfrm>
          <a:prstGeom prst="rect">
            <a:avLst/>
          </a:prstGeom>
        </p:spPr>
      </p:pic>
      <p:sp>
        <p:nvSpPr>
          <p:cNvPr id="33" name="Text 28"/>
          <p:cNvSpPr txBox="1"/>
          <p:nvPr/>
        </p:nvSpPr>
        <p:spPr>
          <a:xfrm>
            <a:off x="1170432" y="4572000"/>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Chock check on every door (spares on hand). Daily placard check with the yard check; drivers remove placards when shunts are called.</a:t>
            </a:r>
            <a:endParaRPr lang="en-US" sz="1400" dirty="0"/>
          </a:p>
        </p:txBody>
      </p:sp>
      <p:sp>
        <p:nvSpPr>
          <p:cNvPr id="34" name="Shape 29"/>
          <p:cNvSpPr/>
          <p:nvPr/>
        </p:nvSpPr>
        <p:spPr>
          <a:xfrm>
            <a:off x="548640" y="5239512"/>
            <a:ext cx="420624" cy="420624"/>
          </a:xfrm>
          <a:prstGeom prst="ellipse">
            <a:avLst/>
          </a:prstGeom>
          <a:solidFill>
            <a:srgbClr val="EDE9FE"/>
          </a:solidFill>
          <a:ln w="12700">
            <a:solidFill>
              <a:srgbClr val="EDE9FE"/>
            </a:solidFill>
            <a:prstDash val="solid"/>
          </a:ln>
        </p:spPr>
      </p:sp>
      <p:pic>
        <p:nvPicPr>
          <p:cNvPr id="35" name="Image 3" descr="preencoded.png">    </p:cNvPr>
          <p:cNvPicPr>
            <a:picLocks noChangeAspect="1"/>
          </p:cNvPicPr>
          <p:nvPr/>
        </p:nvPicPr>
        <p:blipFill>
          <a:blip r:embed="rId4"/>
          <a:stretch>
            <a:fillRect/>
          </a:stretch>
        </p:blipFill>
        <p:spPr>
          <a:xfrm>
            <a:off x="653796" y="5344668"/>
            <a:ext cx="210312" cy="210312"/>
          </a:xfrm>
          <a:prstGeom prst="rect">
            <a:avLst/>
          </a:prstGeom>
        </p:spPr>
      </p:pic>
      <p:sp>
        <p:nvSpPr>
          <p:cNvPr id="36" name="Text 30"/>
          <p:cNvSpPr txBox="1"/>
          <p:nvPr/>
        </p:nvSpPr>
        <p:spPr>
          <a:xfrm>
            <a:off x="1170432" y="5175504"/>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No loading forklifts on straight trucks — prevents serious injuries and equipment damage.</a:t>
            </a:r>
            <a:endParaRPr lang="en-US" sz="1400" dirty="0"/>
          </a:p>
        </p:txBody>
      </p:sp>
      <p:sp>
        <p:nvSpPr>
          <p:cNvPr id="37" name="Shape 31"/>
          <p:cNvSpPr/>
          <p:nvPr/>
        </p:nvSpPr>
        <p:spPr>
          <a:xfrm>
            <a:off x="548640" y="5843016"/>
            <a:ext cx="420624" cy="420624"/>
          </a:xfrm>
          <a:prstGeom prst="ellipse">
            <a:avLst/>
          </a:prstGeom>
          <a:solidFill>
            <a:srgbClr val="EDE9FE"/>
          </a:solidFill>
          <a:ln w="12700">
            <a:solidFill>
              <a:srgbClr val="EDE9FE"/>
            </a:solidFill>
            <a:prstDash val="solid"/>
          </a:ln>
        </p:spPr>
      </p:sp>
      <p:pic>
        <p:nvPicPr>
          <p:cNvPr id="38" name="Image 4" descr="preencoded.png">    </p:cNvPr>
          <p:cNvPicPr>
            <a:picLocks noChangeAspect="1"/>
          </p:cNvPicPr>
          <p:nvPr/>
        </p:nvPicPr>
        <p:blipFill>
          <a:blip r:embed="rId5"/>
          <a:stretch>
            <a:fillRect/>
          </a:stretch>
        </p:blipFill>
        <p:spPr>
          <a:xfrm>
            <a:off x="653796" y="5948172"/>
            <a:ext cx="210312" cy="210312"/>
          </a:xfrm>
          <a:prstGeom prst="rect">
            <a:avLst/>
          </a:prstGeom>
        </p:spPr>
      </p:pic>
      <p:sp>
        <p:nvSpPr>
          <p:cNvPr id="39" name="Text 32"/>
          <p:cNvSpPr txBox="1"/>
          <p:nvPr/>
        </p:nvSpPr>
        <p:spPr>
          <a:xfrm>
            <a:off x="1170432" y="5779008"/>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Safety equipment and dock conditions inspected and logged on the H&amp;S inspection sheet, collected monthly by OHS and reviewed at JHSC.</a:t>
            </a:r>
            <a:endParaRPr lang="en-US" sz="1400" dirty="0"/>
          </a:p>
        </p:txBody>
      </p:sp>
      <p:sp>
        <p:nvSpPr>
          <p:cNvPr id="40"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1"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process &amp; F27 plans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When an incident happens</a:t>
            </a:r>
            <a:endParaRPr lang="en-US" sz="2000" dirty="0"/>
          </a:p>
        </p:txBody>
      </p:sp>
      <p:sp>
        <p:nvSpPr>
          <p:cNvPr id="8" name="Text 5"/>
          <p:cNvSpPr txBox="1"/>
          <p:nvPr/>
        </p:nvSpPr>
        <p:spPr>
          <a:xfrm>
            <a:off x="868680" y="2468880"/>
            <a:ext cx="4892040" cy="3474720"/>
          </a:xfrm>
          <a:prstGeom prst="rect">
            <a:avLst/>
          </a:prstGeom>
          <a:noFill/>
          <a:ln/>
        </p:spPr>
        <p:txBody>
          <a:bodyPr wrap="square" lIns="0" tIns="0" rIns="0" bIns="0" rtlCol="0" anchor="t"/>
          <a:lstStyle/>
          <a:p>
            <a:pPr marL="203200" indent="-203200">
              <a:spcAft>
                <a:spcPts val="1400"/>
              </a:spcAft>
              <a:buSzPct val="100000"/>
              <a:buChar char="•"/>
            </a:pPr>
            <a:r>
              <a:rPr lang="en-US" sz="1500" dirty="0">
                <a:solidFill>
                  <a:srgbClr val="1F2937"/>
                </a:solidFill>
                <a:latin typeface="Calibri" pitchFamily="34" charset="0"/>
                <a:ea typeface="Calibri" pitchFamily="34" charset="-122"/>
                <a:cs typeface="Calibri" pitchFamily="34" charset="-120"/>
              </a:rPr>
              <a:t>Every incident reported promptly; supervisors work directly with OHS on WSIB forms and a safe return to work.</a:t>
            </a:r>
            <a:endParaRPr lang="en-US" sz="1500" dirty="0"/>
          </a:p>
          <a:p>
            <a:pPr marL="203200" indent="-203200">
              <a:spcAft>
                <a:spcPts val="1400"/>
              </a:spcAft>
              <a:buSzPct val="100000"/>
              <a:buChar char="•"/>
            </a:pPr>
            <a:r>
              <a:rPr lang="en-US" sz="1500" dirty="0">
                <a:solidFill>
                  <a:srgbClr val="1F2937"/>
                </a:solidFill>
                <a:latin typeface="Calibri" pitchFamily="34" charset="0"/>
                <a:ea typeface="Calibri" pitchFamily="34" charset="-122"/>
                <a:cs typeface="Calibri" pitchFamily="34" charset="-120"/>
              </a:rPr>
              <a:t>Root cause and action plan reviewed with OHS for every incident to prevent repeats.</a:t>
            </a:r>
            <a:endParaRPr lang="en-US" sz="1500" dirty="0"/>
          </a:p>
          <a:p>
            <a:pPr marL="203200" indent="-203200">
              <a:spcAft>
                <a:spcPts val="1400"/>
              </a:spcAft>
              <a:buSzPct val="100000"/>
              <a:buChar char="•"/>
            </a:pPr>
            <a:r>
              <a:rPr lang="en-US" sz="1500" dirty="0">
                <a:solidFill>
                  <a:srgbClr val="1F2937"/>
                </a:solidFill>
                <a:latin typeface="Calibri" pitchFamily="34" charset="0"/>
                <a:ea typeface="Calibri" pitchFamily="34" charset="-122"/>
                <a:cs typeface="Calibri" pitchFamily="34" charset="-120"/>
              </a:rPr>
              <a:t>Monthly safety e-learning for supervisors and managers on topics tied to our operation.</a:t>
            </a:r>
            <a:endParaRPr lang="en-US" sz="1500" dirty="0"/>
          </a:p>
          <a:p>
            <a:pPr marL="203200" indent="-203200">
              <a:spcAft>
                <a:spcPts val="1400"/>
              </a:spcAft>
              <a:buSzPct val="100000"/>
              <a:buChar char="•"/>
            </a:pPr>
            <a:r>
              <a:rPr lang="en-US" sz="1500" dirty="0">
                <a:solidFill>
                  <a:srgbClr val="1F2937"/>
                </a:solidFill>
                <a:latin typeface="Calibri" pitchFamily="34" charset="0"/>
                <a:ea typeface="Calibri" pitchFamily="34" charset="-122"/>
                <a:cs typeface="Calibri" pitchFamily="34" charset="-120"/>
              </a:rPr>
              <a:t>Forklift and TDG certifications renewed before they expire.</a:t>
            </a:r>
            <a:endParaRPr lang="en-US" sz="15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F27 plans</a:t>
            </a:r>
            <a:endParaRPr lang="en-US" sz="2000" dirty="0"/>
          </a:p>
        </p:txBody>
      </p:sp>
      <p:sp>
        <p:nvSpPr>
          <p:cNvPr id="13" name="Shape 9"/>
          <p:cNvSpPr/>
          <p:nvPr/>
        </p:nvSpPr>
        <p:spPr>
          <a:xfrm>
            <a:off x="6611112" y="2514600"/>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514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68880"/>
            <a:ext cx="4206240" cy="73152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Weekly STEP observation target per supervisor, reviewed in the Monday ops meeting.</a:t>
            </a:r>
            <a:endParaRPr lang="en-US" sz="1500" dirty="0"/>
          </a:p>
        </p:txBody>
      </p:sp>
      <p:sp>
        <p:nvSpPr>
          <p:cNvPr id="16" name="Shape 12"/>
          <p:cNvSpPr/>
          <p:nvPr/>
        </p:nvSpPr>
        <p:spPr>
          <a:xfrm>
            <a:off x="6611112" y="3383280"/>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3383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3337560"/>
            <a:ext cx="4206240" cy="73152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Near-miss reporting push — every near miss logged and discussed at the next tailgate.</a:t>
            </a:r>
            <a:endParaRPr lang="en-US" sz="1500" dirty="0"/>
          </a:p>
        </p:txBody>
      </p:sp>
      <p:sp>
        <p:nvSpPr>
          <p:cNvPr id="19" name="Shape 15"/>
          <p:cNvSpPr/>
          <p:nvPr/>
        </p:nvSpPr>
        <p:spPr>
          <a:xfrm>
            <a:off x="6611112" y="4251960"/>
            <a:ext cx="384048" cy="384048"/>
          </a:xfrm>
          <a:prstGeom prst="ellipse">
            <a:avLst/>
          </a:prstGeom>
          <a:solidFill>
            <a:srgbClr val="7C3AED"/>
          </a:solidFill>
          <a:ln w="12700">
            <a:solidFill>
              <a:srgbClr val="7C3AED"/>
            </a:solidFill>
            <a:prstDash val="solid"/>
          </a:ln>
        </p:spPr>
      </p:sp>
      <p:sp>
        <p:nvSpPr>
          <p:cNvPr id="20" name="Text 16"/>
          <p:cNvSpPr txBox="1"/>
          <p:nvPr/>
        </p:nvSpPr>
        <p:spPr>
          <a:xfrm>
            <a:off x="6611112" y="4251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7"/>
          <p:cNvSpPr txBox="1"/>
          <p:nvPr/>
        </p:nvSpPr>
        <p:spPr>
          <a:xfrm>
            <a:off x="7178040" y="4206240"/>
            <a:ext cx="4206240" cy="731520"/>
          </a:xfrm>
          <a:prstGeom prst="rect">
            <a:avLst/>
          </a:prstGeom>
          <a:noFill/>
          <a:ln/>
        </p:spPr>
        <p:txBody>
          <a:bodyPr wrap="square" lIns="0" tIns="0" rIns="0" bIns="0" rtlCol="0" anchor="t"/>
          <a:lstStyle/>
          <a:p>
            <a:pPr indent="0" marL="0">
              <a:buNone/>
            </a:pPr>
            <a:r>
              <a:rPr lang="en-US" sz="1500" dirty="0">
                <a:solidFill>
                  <a:srgbClr val="1F2937"/>
                </a:solidFill>
                <a:latin typeface="Calibri" pitchFamily="34" charset="0"/>
                <a:ea typeface="Calibri" pitchFamily="34" charset="-122"/>
                <a:cs typeface="Calibri" pitchFamily="34" charset="-120"/>
              </a:rPr>
              <a:t>Certification tracker (forklift / TDG) with 30-day expiry alerts.</a:t>
            </a:r>
            <a:endParaRPr lang="en-US" sz="1500" dirty="0"/>
          </a:p>
        </p:txBody>
      </p:sp>
      <p:sp>
        <p:nvSpPr>
          <p:cNvPr id="22" name="Shape 18"/>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3" name="Text 19"/>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4" name="Text 20"/>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5"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2103120"/>
          </a:xfrm>
          <a:prstGeom prst="roundRect">
            <a:avLst>
              <a:gd name="adj" fmla="val 347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48256"/>
            <a:ext cx="3310128" cy="1627632"/>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Excluding false positives, missed PU % would be ≈2.6%.</a:t>
            </a:r>
            <a:endParaRPr lang="en-US" sz="11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3886200"/>
          <a:ext cx="3685032" cy="914400"/>
        </p:xfrm>
        <a:graphic>
          <a:graphicData uri="http://schemas.openxmlformats.org/drawingml/2006/table">
            <a:tbl>
              <a:tblPr/>
              <a:tblGrid>
                <a:gridCol w="2130552"/>
                <a:gridCol w="731520"/>
                <a:gridCol w="822960"/>
              </a:tblGrid>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Text 18"/>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 Mississauga, all dates through Sep 26, 2026. Sep 7 spike (85.7%) = Labour Day, low volume. *wk 39 partial.</a:t>
            </a:r>
            <a:endParaRPr lang="en-US" sz="950" dirty="0"/>
          </a:p>
        </p:txBody>
      </p:sp>
      <p:sp>
        <p:nvSpPr>
          <p:cNvPr id="24"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61872"/>
            <a:ext cx="10972800" cy="32004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Freight bills scanned  ·  </a:t>
            </a:r>
            <a:pPr indent="0" marL="0">
              <a:buNone/>
            </a:pPr>
            <a:r>
              <a:rPr lang="en-US" sz="1500" b="1" dirty="0">
                <a:solidFill>
                  <a:srgbClr val="111827"/>
                </a:solidFill>
                <a:latin typeface="Calibri" pitchFamily="34" charset="0"/>
                <a:ea typeface="Calibri" pitchFamily="34" charset="-122"/>
                <a:cs typeface="Calibri" pitchFamily="34" charset="-120"/>
              </a:rPr>
              <a:t>Sep 6 – Sep 11, 2026</a:t>
            </a:r>
            <a:pPr indent="0" marL="0">
              <a:buNone/>
            </a:pPr>
            <a:r>
              <a:rPr lang="en-US" sz="1500" dirty="0">
                <a:solidFill>
                  <a:srgbClr val="6B7280"/>
                </a:solidFill>
                <a:latin typeface="Calibri" pitchFamily="34" charset="0"/>
                <a:ea typeface="Calibri" pitchFamily="34" charset="-122"/>
                <a:cs typeface="Calibri" pitchFamily="34" charset="-120"/>
              </a:rPr>
              <a:t>  ·  Target 98%</a:t>
            </a:r>
            <a:endParaRPr lang="en-US" sz="1500" dirty="0"/>
          </a:p>
        </p:txBody>
      </p:sp>
      <p:sp>
        <p:nvSpPr>
          <p:cNvPr id="5" name="Shape 3"/>
          <p:cNvSpPr/>
          <p:nvPr/>
        </p:nvSpPr>
        <p:spPr>
          <a:xfrm>
            <a:off x="548640" y="1783080"/>
            <a:ext cx="2567178" cy="2971800"/>
          </a:xfrm>
          <a:prstGeom prst="roundRect">
            <a:avLst>
              <a:gd name="adj" fmla="val 2850"/>
            </a:avLst>
          </a:prstGeom>
          <a:solidFill>
            <a:srgbClr val="F3F4F6"/>
          </a:solidFill>
          <a:ln w="12700">
            <a:solidFill>
              <a:srgbClr val="F3F4F6"/>
            </a:solidFill>
            <a:prstDash val="solid"/>
          </a:ln>
        </p:spPr>
      </p:sp>
      <p:sp>
        <p:nvSpPr>
          <p:cNvPr id="6" name="Shape 4"/>
          <p:cNvSpPr/>
          <p:nvPr/>
        </p:nvSpPr>
        <p:spPr>
          <a:xfrm>
            <a:off x="777240" y="201168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137410"/>
            <a:ext cx="251460" cy="251460"/>
          </a:xfrm>
          <a:prstGeom prst="rect">
            <a:avLst/>
          </a:prstGeom>
        </p:spPr>
      </p:pic>
      <p:sp>
        <p:nvSpPr>
          <p:cNvPr id="8" name="Text 5"/>
          <p:cNvSpPr txBox="1"/>
          <p:nvPr/>
        </p:nvSpPr>
        <p:spPr>
          <a:xfrm>
            <a:off x="777240" y="2651760"/>
            <a:ext cx="2109978"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Delivery trips</a:t>
            </a:r>
            <a:endParaRPr lang="en-US" sz="1600" dirty="0"/>
          </a:p>
        </p:txBody>
      </p:sp>
      <p:sp>
        <p:nvSpPr>
          <p:cNvPr id="9" name="Text 6"/>
          <p:cNvSpPr txBox="1"/>
          <p:nvPr/>
        </p:nvSpPr>
        <p:spPr>
          <a:xfrm>
            <a:off x="777240" y="3017520"/>
            <a:ext cx="2109978" cy="777240"/>
          </a:xfrm>
          <a:prstGeom prst="rect">
            <a:avLst/>
          </a:prstGeom>
          <a:noFill/>
          <a:ln/>
        </p:spPr>
        <p:txBody>
          <a:bodyPr wrap="square" lIns="0" tIns="0" rIns="0" bIns="0" rtlCol="0" anchor="ctr"/>
          <a:lstStyle/>
          <a:p>
            <a:pPr indent="0" marL="0">
              <a:buNone/>
            </a:pPr>
            <a:r>
              <a:rPr lang="en-US" sz="4000" b="1" dirty="0">
                <a:solidFill>
                  <a:srgbClr val="D97706"/>
                </a:solidFill>
                <a:latin typeface="Calibri" pitchFamily="34" charset="0"/>
                <a:ea typeface="Calibri" pitchFamily="34" charset="-122"/>
                <a:cs typeface="Calibri" pitchFamily="34" charset="-120"/>
              </a:rPr>
              <a:t>TBC</a:t>
            </a:r>
            <a:endParaRPr lang="en-US" sz="4000" dirty="0"/>
          </a:p>
        </p:txBody>
      </p:sp>
      <p:sp>
        <p:nvSpPr>
          <p:cNvPr id="10" name="Text 7"/>
          <p:cNvSpPr txBox="1"/>
          <p:nvPr/>
        </p:nvSpPr>
        <p:spPr>
          <a:xfrm>
            <a:off x="777240" y="3840480"/>
            <a:ext cx="2109978"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Target 98%</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Gap to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Fiscal YTD: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11" name="Shape 8"/>
          <p:cNvSpPr/>
          <p:nvPr/>
        </p:nvSpPr>
        <p:spPr>
          <a:xfrm>
            <a:off x="3390138" y="1783080"/>
            <a:ext cx="2567178" cy="2971800"/>
          </a:xfrm>
          <a:prstGeom prst="roundRect">
            <a:avLst>
              <a:gd name="adj" fmla="val 2850"/>
            </a:avLst>
          </a:prstGeom>
          <a:solidFill>
            <a:srgbClr val="F3F4F6"/>
          </a:solidFill>
          <a:ln w="12700">
            <a:solidFill>
              <a:srgbClr val="F3F4F6"/>
            </a:solidFill>
            <a:prstDash val="solid"/>
          </a:ln>
        </p:spPr>
      </p:sp>
      <p:sp>
        <p:nvSpPr>
          <p:cNvPr id="12" name="Shape 9"/>
          <p:cNvSpPr/>
          <p:nvPr/>
        </p:nvSpPr>
        <p:spPr>
          <a:xfrm>
            <a:off x="3618738" y="2011680"/>
            <a:ext cx="502920" cy="502920"/>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3744468" y="2137410"/>
            <a:ext cx="251460" cy="251460"/>
          </a:xfrm>
          <a:prstGeom prst="rect">
            <a:avLst/>
          </a:prstGeom>
        </p:spPr>
      </p:pic>
      <p:sp>
        <p:nvSpPr>
          <p:cNvPr id="14" name="Text 10"/>
          <p:cNvSpPr txBox="1"/>
          <p:nvPr/>
        </p:nvSpPr>
        <p:spPr>
          <a:xfrm>
            <a:off x="3618738" y="2651760"/>
            <a:ext cx="2109978"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Line haul · outbound</a:t>
            </a:r>
            <a:endParaRPr lang="en-US" sz="1600" dirty="0"/>
          </a:p>
        </p:txBody>
      </p:sp>
      <p:sp>
        <p:nvSpPr>
          <p:cNvPr id="15" name="Text 11"/>
          <p:cNvSpPr txBox="1"/>
          <p:nvPr/>
        </p:nvSpPr>
        <p:spPr>
          <a:xfrm>
            <a:off x="3618738" y="3017520"/>
            <a:ext cx="2109978" cy="777240"/>
          </a:xfrm>
          <a:prstGeom prst="rect">
            <a:avLst/>
          </a:prstGeom>
          <a:noFill/>
          <a:ln/>
        </p:spPr>
        <p:txBody>
          <a:bodyPr wrap="square" lIns="0" tIns="0" rIns="0" bIns="0" rtlCol="0" anchor="ctr"/>
          <a:lstStyle/>
          <a:p>
            <a:pPr indent="0" marL="0">
              <a:buNone/>
            </a:pPr>
            <a:r>
              <a:rPr lang="en-US" sz="4000" b="1" dirty="0">
                <a:solidFill>
                  <a:srgbClr val="D97706"/>
                </a:solidFill>
                <a:latin typeface="Calibri" pitchFamily="34" charset="0"/>
                <a:ea typeface="Calibri" pitchFamily="34" charset="-122"/>
                <a:cs typeface="Calibri" pitchFamily="34" charset="-120"/>
              </a:rPr>
              <a:t>TBC</a:t>
            </a:r>
            <a:endParaRPr lang="en-US" sz="4000" dirty="0"/>
          </a:p>
        </p:txBody>
      </p:sp>
      <p:sp>
        <p:nvSpPr>
          <p:cNvPr id="16" name="Text 12"/>
          <p:cNvSpPr txBox="1"/>
          <p:nvPr/>
        </p:nvSpPr>
        <p:spPr>
          <a:xfrm>
            <a:off x="3618738" y="3840480"/>
            <a:ext cx="2109978"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Target 98%</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Gap to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Fiscal YTD: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17" name="Shape 13"/>
          <p:cNvSpPr/>
          <p:nvPr/>
        </p:nvSpPr>
        <p:spPr>
          <a:xfrm>
            <a:off x="6231636" y="1783080"/>
            <a:ext cx="2567178" cy="2971800"/>
          </a:xfrm>
          <a:prstGeom prst="roundRect">
            <a:avLst>
              <a:gd name="adj" fmla="val 2850"/>
            </a:avLst>
          </a:prstGeom>
          <a:solidFill>
            <a:srgbClr val="F3F4F6"/>
          </a:solidFill>
          <a:ln w="12700">
            <a:solidFill>
              <a:srgbClr val="F3F4F6"/>
            </a:solidFill>
            <a:prstDash val="solid"/>
          </a:ln>
        </p:spPr>
      </p:sp>
      <p:sp>
        <p:nvSpPr>
          <p:cNvPr id="18" name="Shape 14"/>
          <p:cNvSpPr/>
          <p:nvPr/>
        </p:nvSpPr>
        <p:spPr>
          <a:xfrm>
            <a:off x="6460236" y="2011680"/>
            <a:ext cx="502920" cy="502920"/>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6585966" y="2137410"/>
            <a:ext cx="251460" cy="251460"/>
          </a:xfrm>
          <a:prstGeom prst="rect">
            <a:avLst/>
          </a:prstGeom>
        </p:spPr>
      </p:pic>
      <p:sp>
        <p:nvSpPr>
          <p:cNvPr id="20" name="Text 15"/>
          <p:cNvSpPr txBox="1"/>
          <p:nvPr/>
        </p:nvSpPr>
        <p:spPr>
          <a:xfrm>
            <a:off x="6460236" y="2651760"/>
            <a:ext cx="2109978"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Line haul · inbound</a:t>
            </a:r>
            <a:endParaRPr lang="en-US" sz="1600" dirty="0"/>
          </a:p>
        </p:txBody>
      </p:sp>
      <p:sp>
        <p:nvSpPr>
          <p:cNvPr id="21" name="Text 16"/>
          <p:cNvSpPr txBox="1"/>
          <p:nvPr/>
        </p:nvSpPr>
        <p:spPr>
          <a:xfrm>
            <a:off x="6460236" y="3017520"/>
            <a:ext cx="2109978" cy="777240"/>
          </a:xfrm>
          <a:prstGeom prst="rect">
            <a:avLst/>
          </a:prstGeom>
          <a:noFill/>
          <a:ln/>
        </p:spPr>
        <p:txBody>
          <a:bodyPr wrap="square" lIns="0" tIns="0" rIns="0" bIns="0" rtlCol="0" anchor="ctr"/>
          <a:lstStyle/>
          <a:p>
            <a:pPr indent="0" marL="0">
              <a:buNone/>
            </a:pPr>
            <a:r>
              <a:rPr lang="en-US" sz="4000" b="1" dirty="0">
                <a:solidFill>
                  <a:srgbClr val="D97706"/>
                </a:solidFill>
                <a:latin typeface="Calibri" pitchFamily="34" charset="0"/>
                <a:ea typeface="Calibri" pitchFamily="34" charset="-122"/>
                <a:cs typeface="Calibri" pitchFamily="34" charset="-120"/>
              </a:rPr>
              <a:t>TBC</a:t>
            </a:r>
            <a:endParaRPr lang="en-US" sz="4000" dirty="0"/>
          </a:p>
        </p:txBody>
      </p:sp>
      <p:sp>
        <p:nvSpPr>
          <p:cNvPr id="22" name="Text 17"/>
          <p:cNvSpPr txBox="1"/>
          <p:nvPr/>
        </p:nvSpPr>
        <p:spPr>
          <a:xfrm>
            <a:off x="6460236" y="3840480"/>
            <a:ext cx="2109978"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Target 98%</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Gap to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23" name="Shape 18"/>
          <p:cNvSpPr/>
          <p:nvPr/>
        </p:nvSpPr>
        <p:spPr>
          <a:xfrm>
            <a:off x="9073134" y="1783080"/>
            <a:ext cx="2567178" cy="2971800"/>
          </a:xfrm>
          <a:prstGeom prst="roundRect">
            <a:avLst>
              <a:gd name="adj" fmla="val 2850"/>
            </a:avLst>
          </a:prstGeom>
          <a:solidFill>
            <a:srgbClr val="F3F4F6"/>
          </a:solidFill>
          <a:ln w="12700">
            <a:solidFill>
              <a:srgbClr val="F3F4F6"/>
            </a:solidFill>
            <a:prstDash val="solid"/>
          </a:ln>
        </p:spPr>
      </p:sp>
      <p:sp>
        <p:nvSpPr>
          <p:cNvPr id="24" name="Shape 19"/>
          <p:cNvSpPr/>
          <p:nvPr/>
        </p:nvSpPr>
        <p:spPr>
          <a:xfrm>
            <a:off x="9301734" y="2011680"/>
            <a:ext cx="502920" cy="502920"/>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9427464" y="2137410"/>
            <a:ext cx="251460" cy="251460"/>
          </a:xfrm>
          <a:prstGeom prst="rect">
            <a:avLst/>
          </a:prstGeom>
        </p:spPr>
      </p:pic>
      <p:sp>
        <p:nvSpPr>
          <p:cNvPr id="26" name="Text 20"/>
          <p:cNvSpPr txBox="1"/>
          <p:nvPr/>
        </p:nvSpPr>
        <p:spPr>
          <a:xfrm>
            <a:off x="9301734" y="2651760"/>
            <a:ext cx="2109978"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Pickup trips</a:t>
            </a:r>
            <a:endParaRPr lang="en-US" sz="1600" dirty="0"/>
          </a:p>
        </p:txBody>
      </p:sp>
      <p:sp>
        <p:nvSpPr>
          <p:cNvPr id="27" name="Text 21"/>
          <p:cNvSpPr txBox="1"/>
          <p:nvPr/>
        </p:nvSpPr>
        <p:spPr>
          <a:xfrm>
            <a:off x="9301734" y="3017520"/>
            <a:ext cx="2109978" cy="777240"/>
          </a:xfrm>
          <a:prstGeom prst="rect">
            <a:avLst/>
          </a:prstGeom>
          <a:noFill/>
          <a:ln/>
        </p:spPr>
        <p:txBody>
          <a:bodyPr wrap="square" lIns="0" tIns="0" rIns="0" bIns="0" rtlCol="0" anchor="ctr"/>
          <a:lstStyle/>
          <a:p>
            <a:pPr indent="0" marL="0">
              <a:buNone/>
            </a:pPr>
            <a:r>
              <a:rPr lang="en-US" sz="4000" b="1" dirty="0">
                <a:solidFill>
                  <a:srgbClr val="D97706"/>
                </a:solidFill>
                <a:latin typeface="Calibri" pitchFamily="34" charset="0"/>
                <a:ea typeface="Calibri" pitchFamily="34" charset="-122"/>
                <a:cs typeface="Calibri" pitchFamily="34" charset="-120"/>
              </a:rPr>
              <a:t>TBC</a:t>
            </a:r>
            <a:endParaRPr lang="en-US" sz="4000" dirty="0"/>
          </a:p>
        </p:txBody>
      </p:sp>
      <p:sp>
        <p:nvSpPr>
          <p:cNvPr id="28" name="Text 22"/>
          <p:cNvSpPr txBox="1"/>
          <p:nvPr/>
        </p:nvSpPr>
        <p:spPr>
          <a:xfrm>
            <a:off x="9301734" y="3840480"/>
            <a:ext cx="2109978" cy="77724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Target 98%</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Gap to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29" name="Shape 23"/>
          <p:cNvSpPr/>
          <p:nvPr/>
        </p:nvSpPr>
        <p:spPr>
          <a:xfrm>
            <a:off x="548640" y="5029200"/>
            <a:ext cx="11091672" cy="1143000"/>
          </a:xfrm>
          <a:prstGeom prst="roundRect">
            <a:avLst>
              <a:gd name="adj" fmla="val 6400"/>
            </a:avLst>
          </a:prstGeom>
          <a:solidFill>
            <a:srgbClr val="F5F3FF"/>
          </a:solidFill>
          <a:ln w="12700">
            <a:solidFill>
              <a:srgbClr val="F5F3FF"/>
            </a:solidFill>
            <a:prstDash val="solid"/>
          </a:ln>
        </p:spPr>
      </p:sp>
      <p:sp>
        <p:nvSpPr>
          <p:cNvPr id="30" name="Shape 24"/>
          <p:cNvSpPr/>
          <p:nvPr/>
        </p:nvSpPr>
        <p:spPr>
          <a:xfrm>
            <a:off x="777240" y="5303520"/>
            <a:ext cx="566928" cy="566928"/>
          </a:xfrm>
          <a:prstGeom prst="ellipse">
            <a:avLst/>
          </a:prstGeom>
          <a:solidFill>
            <a:srgbClr val="7C3AED"/>
          </a:solidFill>
          <a:ln w="12700">
            <a:solidFill>
              <a:srgbClr val="7C3AED"/>
            </a:solidFill>
            <a:prstDash val="solid"/>
          </a:ln>
        </p:spPr>
      </p:sp>
      <p:pic>
        <p:nvPicPr>
          <p:cNvPr id="31" name="Image 4" descr="preencoded.png">    </p:cNvPr>
          <p:cNvPicPr>
            <a:picLocks noChangeAspect="1"/>
          </p:cNvPicPr>
          <p:nvPr/>
        </p:nvPicPr>
        <p:blipFill>
          <a:blip r:embed="rId5"/>
          <a:stretch>
            <a:fillRect/>
          </a:stretch>
        </p:blipFill>
        <p:spPr>
          <a:xfrm>
            <a:off x="918972" y="5445252"/>
            <a:ext cx="283464" cy="283464"/>
          </a:xfrm>
          <a:prstGeom prst="rect">
            <a:avLst/>
          </a:prstGeom>
        </p:spPr>
      </p:pic>
      <p:sp>
        <p:nvSpPr>
          <p:cNvPr id="32" name="Text 25"/>
          <p:cNvSpPr txBox="1"/>
          <p:nvPr/>
        </p:nvSpPr>
        <p:spPr>
          <a:xfrm>
            <a:off x="1554480" y="5138928"/>
            <a:ext cx="9875520" cy="914400"/>
          </a:xfrm>
          <a:prstGeom prst="rect">
            <a:avLst/>
          </a:prstGeom>
          <a:noFill/>
          <a:ln/>
        </p:spPr>
        <p:txBody>
          <a:bodyPr wrap="square" lIns="0" tIns="0" rIns="0" bIns="0" rtlCol="0" anchor="ctr"/>
          <a:lstStyle/>
          <a:p>
            <a:pPr indent="0" marL="0">
              <a:spcAft>
                <a:spcPts val="400"/>
              </a:spcAft>
              <a:buNone/>
            </a:pPr>
            <a:r>
              <a:rPr lang="en-US" sz="1500" b="1" dirty="0">
                <a:solidFill>
                  <a:srgbClr val="111827"/>
                </a:solidFill>
                <a:latin typeface="Calibri" pitchFamily="34" charset="0"/>
                <a:ea typeface="Calibri" pitchFamily="34" charset="-122"/>
                <a:cs typeface="Calibri" pitchFamily="34" charset="-120"/>
              </a:rPr>
              <a:t>Scanning compliance checked every shift (see Scanning slide).</a:t>
            </a:r>
            <a:endParaRPr lang="en-US" sz="1500" dirty="0"/>
          </a:p>
          <a:p>
            <a:pPr indent="0" marL="0">
              <a:spcAft>
                <a:spcPts val="400"/>
              </a:spcAft>
              <a:buNone/>
            </a:pPr>
            <a:r>
              <a:rPr lang="en-US" sz="150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500" dirty="0"/>
          </a:p>
        </p:txBody>
      </p:sp>
      <p:sp>
        <p:nvSpPr>
          <p:cNvPr id="33"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Target dock hours per shift</a:t>
            </a:r>
            <a:endParaRPr lang="en-US" sz="1600" dirty="0"/>
          </a:p>
        </p:txBody>
      </p:sp>
      <p:sp>
        <p:nvSpPr>
          <p:cNvPr id="26" name="Text 17"/>
          <p:cNvSpPr txBox="1"/>
          <p:nvPr/>
        </p:nvSpPr>
        <p:spPr>
          <a:xfrm>
            <a:off x="8001000" y="2286000"/>
            <a:ext cx="347472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Per day · aligned to P&amp;D activity</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001000" y="2743200"/>
          <a:ext cx="3429000" cy="914400"/>
        </p:xfrm>
        <a:graphic>
          <a:graphicData uri="http://schemas.openxmlformats.org/drawingml/2006/table">
            <a:tbl>
              <a:tblPr/>
              <a:tblGrid>
                <a:gridCol w="1417320"/>
                <a:gridCol w="1005840"/>
                <a:gridCol w="10058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Shift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Days</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Afternoon</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Midnight</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937760"/>
            <a:ext cx="3429000" cy="731520"/>
          </a:xfrm>
          <a:prstGeom prst="rect">
            <a:avLst/>
          </a:prstGeom>
          <a:noFill/>
          <a:ln/>
        </p:spPr>
        <p:txBody>
          <a:bodyPr wrap="square" lIns="0" tIns="0" rIns="0" bIns="0"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Dock hours reviewed against these bands in the weekly SCA meeting.</a:t>
            </a:r>
            <a:endParaRPr lang="en-US" sz="1200" dirty="0"/>
          </a:p>
        </p:txBody>
      </p:sp>
      <p:sp>
        <p:nvSpPr>
          <p:cNvPr id="29"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234440"/>
                <a:gridCol w="1325880"/>
                <a:gridCol w="164592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Dock labour — shift hours aligned to P&amp;D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Agency / contract labour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CICO hours saved (late / lunch / early-off)</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Accessorial billing recovery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 factor &amp; trailer consolidation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Shunting optimization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Forklift rentals returned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Cargo claims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5669280"/>
            <a:ext cx="8229600" cy="27432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F27 plan = full-year $; realized = Jul 1, 2026 to date.</a:t>
            </a:r>
            <a:endParaRPr lang="en-US" sz="1050" dirty="0"/>
          </a:p>
        </p:txBody>
      </p:sp>
      <p:sp>
        <p:nvSpPr>
          <p:cNvPr id="6" name="Shape 3"/>
          <p:cNvSpPr/>
          <p:nvPr/>
        </p:nvSpPr>
        <p:spPr>
          <a:xfrm>
            <a:off x="9052560" y="1371600"/>
            <a:ext cx="2587752" cy="1325880"/>
          </a:xfrm>
          <a:prstGeom prst="roundRect">
            <a:avLst>
              <a:gd name="adj" fmla="val 5517"/>
            </a:avLst>
          </a:prstGeom>
          <a:solidFill>
            <a:srgbClr val="F5F3FF"/>
          </a:solidFill>
          <a:ln w="12700">
            <a:solidFill>
              <a:srgbClr val="F5F3FF"/>
            </a:solidFill>
            <a:prstDash val="solid"/>
          </a:ln>
        </p:spPr>
      </p:sp>
      <p:sp>
        <p:nvSpPr>
          <p:cNvPr id="7" name="Text 4"/>
          <p:cNvSpPr txBox="1"/>
          <p:nvPr/>
        </p:nvSpPr>
        <p:spPr>
          <a:xfrm>
            <a:off x="9235440" y="150876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8" name="Text 5"/>
          <p:cNvSpPr txBox="1"/>
          <p:nvPr/>
        </p:nvSpPr>
        <p:spPr>
          <a:xfrm>
            <a:off x="9235440" y="178308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9" name="Text 6"/>
          <p:cNvSpPr txBox="1"/>
          <p:nvPr/>
        </p:nvSpPr>
        <p:spPr>
          <a:xfrm>
            <a:off x="9235440" y="226771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0" name="Shape 7"/>
          <p:cNvSpPr/>
          <p:nvPr/>
        </p:nvSpPr>
        <p:spPr>
          <a:xfrm>
            <a:off x="9052560" y="2880360"/>
            <a:ext cx="2587752" cy="1325880"/>
          </a:xfrm>
          <a:prstGeom prst="roundRect">
            <a:avLst>
              <a:gd name="adj" fmla="val 5517"/>
            </a:avLst>
          </a:prstGeom>
          <a:solidFill>
            <a:srgbClr val="F3F4F6"/>
          </a:solidFill>
          <a:ln w="12700">
            <a:solidFill>
              <a:srgbClr val="F3F4F6"/>
            </a:solidFill>
            <a:prstDash val="solid"/>
          </a:ln>
        </p:spPr>
      </p:sp>
      <p:sp>
        <p:nvSpPr>
          <p:cNvPr id="11" name="Text 8"/>
          <p:cNvSpPr txBox="1"/>
          <p:nvPr/>
        </p:nvSpPr>
        <p:spPr>
          <a:xfrm>
            <a:off x="9235440" y="301752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(plan total)</a:t>
            </a:r>
            <a:endParaRPr lang="en-US" sz="1100" dirty="0"/>
          </a:p>
        </p:txBody>
      </p:sp>
      <p:sp>
        <p:nvSpPr>
          <p:cNvPr id="12" name="Text 9"/>
          <p:cNvSpPr txBox="1"/>
          <p:nvPr/>
        </p:nvSpPr>
        <p:spPr>
          <a:xfrm>
            <a:off x="9235440" y="329184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13" name="Text 10"/>
          <p:cNvSpPr txBox="1"/>
          <p:nvPr/>
        </p:nvSpPr>
        <p:spPr>
          <a:xfrm>
            <a:off x="9235440" y="377647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 of target: </a:t>
            </a:r>
            <a:pPr indent="0" marL="0">
              <a:buNone/>
            </a:pPr>
            <a:r>
              <a:rPr lang="en-US" sz="1050" b="1" dirty="0">
                <a:solidFill>
                  <a:srgbClr val="D97706"/>
                </a:solidFill>
                <a:latin typeface="Calibri" pitchFamily="34" charset="0"/>
                <a:ea typeface="Calibri" pitchFamily="34" charset="-122"/>
                <a:cs typeface="Calibri" pitchFamily="34" charset="-120"/>
              </a:rPr>
              <a:t>TBC</a:t>
            </a:r>
            <a:endParaRPr lang="en-US" sz="1050" dirty="0"/>
          </a:p>
        </p:txBody>
      </p:sp>
      <p:sp>
        <p:nvSpPr>
          <p:cNvPr id="14" name="Shape 11"/>
          <p:cNvSpPr/>
          <p:nvPr/>
        </p:nvSpPr>
        <p:spPr>
          <a:xfrm>
            <a:off x="9052560" y="4389120"/>
            <a:ext cx="2587752" cy="1325880"/>
          </a:xfrm>
          <a:prstGeom prst="roundRect">
            <a:avLst>
              <a:gd name="adj" fmla="val 5517"/>
            </a:avLst>
          </a:prstGeom>
          <a:solidFill>
            <a:srgbClr val="F3F4F6"/>
          </a:solidFill>
          <a:ln w="12700">
            <a:solidFill>
              <a:srgbClr val="F3F4F6"/>
            </a:solidFill>
            <a:prstDash val="solid"/>
          </a:ln>
        </p:spPr>
      </p:sp>
      <p:sp>
        <p:nvSpPr>
          <p:cNvPr id="15" name="Text 12"/>
          <p:cNvSpPr txBox="1"/>
          <p:nvPr/>
        </p:nvSpPr>
        <p:spPr>
          <a:xfrm>
            <a:off x="9235440" y="452628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6" name="Text 13"/>
          <p:cNvSpPr txBox="1"/>
          <p:nvPr/>
        </p:nvSpPr>
        <p:spPr>
          <a:xfrm>
            <a:off x="9235440" y="480060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17" name="Text 14"/>
          <p:cNvSpPr txBox="1"/>
          <p:nvPr/>
        </p:nvSpPr>
        <p:spPr>
          <a:xfrm>
            <a:off x="9235440" y="528523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to date</a:t>
            </a:r>
            <a:endParaRPr lang="en-US" sz="1050" dirty="0"/>
          </a:p>
        </p:txBody>
      </p:sp>
      <p:sp>
        <p:nvSpPr>
          <p:cNvPr id="18"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September</a:t>
            </a:r>
            <a:endParaRPr lang="en-US" sz="3000" dirty="0"/>
          </a:p>
        </p:txBody>
      </p:sp>
      <p:sp>
        <p:nvSpPr>
          <p:cNvPr id="4" name="Text 2"/>
          <p:cNvSpPr txBox="1"/>
          <p:nvPr/>
        </p:nvSpPr>
        <p:spPr>
          <a:xfrm>
            <a:off x="548640" y="1261872"/>
            <a:ext cx="10972800" cy="32004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Weekly LF score vs </a:t>
            </a:r>
            <a:pPr indent="0" marL="0">
              <a:buNone/>
            </a:pPr>
            <a:r>
              <a:rPr lang="en-US" sz="1500" b="1" dirty="0">
                <a:solidFill>
                  <a:srgbClr val="111827"/>
                </a:solidFill>
                <a:latin typeface="Calibri" pitchFamily="34" charset="0"/>
                <a:ea typeface="Calibri" pitchFamily="34" charset="-122"/>
                <a:cs typeface="Calibri" pitchFamily="34" charset="-120"/>
              </a:rPr>
              <a:t>80%</a:t>
            </a:r>
            <a:pPr indent="0" marL="0">
              <a:buNone/>
            </a:pPr>
            <a:r>
              <a:rPr lang="en-US" sz="1500" dirty="0">
                <a:solidFill>
                  <a:srgbClr val="6B7280"/>
                </a:solidFill>
                <a:latin typeface="Calibri" pitchFamily="34" charset="0"/>
                <a:ea typeface="Calibri" pitchFamily="34" charset="-122"/>
                <a:cs typeface="Calibri" pitchFamily="34" charset="-120"/>
              </a:rPr>
              <a:t> target  ·  load % vs </a:t>
            </a:r>
            <a:pPr indent="0" marL="0">
              <a:buNone/>
            </a:pPr>
            <a:r>
              <a:rPr lang="en-US" sz="1500" b="1" dirty="0">
                <a:solidFill>
                  <a:srgbClr val="111827"/>
                </a:solidFill>
                <a:latin typeface="Calibri" pitchFamily="34" charset="0"/>
                <a:ea typeface="Calibri" pitchFamily="34" charset="-122"/>
                <a:cs typeface="Calibri" pitchFamily="34" charset="-120"/>
              </a:rPr>
              <a:t>98%</a:t>
            </a:r>
            <a:pPr indent="0" marL="0">
              <a:buNone/>
            </a:pPr>
            <a:r>
              <a:rPr lang="en-US" sz="1500" dirty="0">
                <a:solidFill>
                  <a:srgbClr val="6B7280"/>
                </a:solidFill>
                <a:latin typeface="Calibri" pitchFamily="34" charset="0"/>
                <a:ea typeface="Calibri" pitchFamily="34" charset="-122"/>
                <a:cs typeface="Calibri" pitchFamily="34" charset="-120"/>
              </a:rPr>
              <a:t> target</a:t>
            </a:r>
            <a:endParaRPr lang="en-US" sz="1500" dirty="0"/>
          </a:p>
        </p:txBody>
      </p:sp>
      <p:sp>
        <p:nvSpPr>
          <p:cNvPr id="5" name="Shape 3"/>
          <p:cNvSpPr/>
          <p:nvPr/>
        </p:nvSpPr>
        <p:spPr>
          <a:xfrm>
            <a:off x="548640" y="1783080"/>
            <a:ext cx="2567178" cy="3291840"/>
          </a:xfrm>
          <a:prstGeom prst="roundRect">
            <a:avLst>
              <a:gd name="adj" fmla="val 2850"/>
            </a:avLst>
          </a:prstGeom>
          <a:solidFill>
            <a:srgbClr val="F3F4F6"/>
          </a:solidFill>
          <a:ln w="12700">
            <a:solidFill>
              <a:srgbClr val="F3F4F6"/>
            </a:solidFill>
            <a:prstDash val="solid"/>
          </a:ln>
        </p:spPr>
      </p:sp>
      <p:sp>
        <p:nvSpPr>
          <p:cNvPr id="6" name="Shape 4"/>
          <p:cNvSpPr/>
          <p:nvPr/>
        </p:nvSpPr>
        <p:spPr>
          <a:xfrm>
            <a:off x="777240" y="2011680"/>
            <a:ext cx="457200" cy="457200"/>
          </a:xfrm>
          <a:prstGeom prst="ellipse">
            <a:avLst/>
          </a:prstGeom>
          <a:solidFill>
            <a:srgbClr val="7C3AED"/>
          </a:solidFill>
          <a:ln w="12700">
            <a:solidFill>
              <a:srgbClr val="7C3AED"/>
            </a:solidFill>
            <a:prstDash val="solid"/>
          </a:ln>
        </p:spPr>
      </p:sp>
      <p:sp>
        <p:nvSpPr>
          <p:cNvPr id="7"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71600"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1–5</a:t>
            </a:r>
            <a:endParaRPr lang="en-US" sz="1600" dirty="0"/>
          </a:p>
        </p:txBody>
      </p:sp>
      <p:sp>
        <p:nvSpPr>
          <p:cNvPr id="9" name="Text 7"/>
          <p:cNvSpPr txBox="1"/>
          <p:nvPr/>
        </p:nvSpPr>
        <p:spPr>
          <a:xfrm>
            <a:off x="777240"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10" name="Text 8"/>
          <p:cNvSpPr txBox="1"/>
          <p:nvPr/>
        </p:nvSpPr>
        <p:spPr>
          <a:xfrm>
            <a:off x="777240"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1" name="Text 9"/>
          <p:cNvSpPr txBox="1"/>
          <p:nvPr/>
        </p:nvSpPr>
        <p:spPr>
          <a:xfrm>
            <a:off x="777240"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12" name="Text 10"/>
          <p:cNvSpPr txBox="1"/>
          <p:nvPr/>
        </p:nvSpPr>
        <p:spPr>
          <a:xfrm>
            <a:off x="777240"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13" name="Text 11"/>
          <p:cNvSpPr txBox="1"/>
          <p:nvPr/>
        </p:nvSpPr>
        <p:spPr>
          <a:xfrm>
            <a:off x="777240"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Text 12"/>
          <p:cNvSpPr txBox="1"/>
          <p:nvPr/>
        </p:nvSpPr>
        <p:spPr>
          <a:xfrm>
            <a:off x="777240"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15" name="Shape 13"/>
          <p:cNvSpPr/>
          <p:nvPr/>
        </p:nvSpPr>
        <p:spPr>
          <a:xfrm>
            <a:off x="3390138" y="1783080"/>
            <a:ext cx="2567178" cy="3291840"/>
          </a:xfrm>
          <a:prstGeom prst="roundRect">
            <a:avLst>
              <a:gd name="adj" fmla="val 2850"/>
            </a:avLst>
          </a:prstGeom>
          <a:solidFill>
            <a:srgbClr val="F3F4F6"/>
          </a:solidFill>
          <a:ln w="12700">
            <a:solidFill>
              <a:srgbClr val="F3F4F6"/>
            </a:solidFill>
            <a:prstDash val="solid"/>
          </a:ln>
        </p:spPr>
      </p:sp>
      <p:sp>
        <p:nvSpPr>
          <p:cNvPr id="16" name="Shape 14"/>
          <p:cNvSpPr/>
          <p:nvPr/>
        </p:nvSpPr>
        <p:spPr>
          <a:xfrm>
            <a:off x="3618738" y="2011680"/>
            <a:ext cx="457200" cy="457200"/>
          </a:xfrm>
          <a:prstGeom prst="ellipse">
            <a:avLst/>
          </a:prstGeom>
          <a:solidFill>
            <a:srgbClr val="7C3AED"/>
          </a:solidFill>
          <a:ln w="12700">
            <a:solidFill>
              <a:srgbClr val="7C3AED"/>
            </a:solidFill>
            <a:prstDash val="solid"/>
          </a:ln>
        </p:spPr>
      </p:sp>
      <p:sp>
        <p:nvSpPr>
          <p:cNvPr id="17" name="Text 15"/>
          <p:cNvSpPr txBox="1"/>
          <p:nvPr/>
        </p:nvSpPr>
        <p:spPr>
          <a:xfrm>
            <a:off x="3618738"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4213098"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6–12</a:t>
            </a:r>
            <a:endParaRPr lang="en-US" sz="1600" dirty="0"/>
          </a:p>
        </p:txBody>
      </p:sp>
      <p:sp>
        <p:nvSpPr>
          <p:cNvPr id="19" name="Text 17"/>
          <p:cNvSpPr txBox="1"/>
          <p:nvPr/>
        </p:nvSpPr>
        <p:spPr>
          <a:xfrm>
            <a:off x="3618738"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20" name="Text 18"/>
          <p:cNvSpPr txBox="1"/>
          <p:nvPr/>
        </p:nvSpPr>
        <p:spPr>
          <a:xfrm>
            <a:off x="3618738"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1" name="Text 19"/>
          <p:cNvSpPr txBox="1"/>
          <p:nvPr/>
        </p:nvSpPr>
        <p:spPr>
          <a:xfrm>
            <a:off x="3618738"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22" name="Text 20"/>
          <p:cNvSpPr txBox="1"/>
          <p:nvPr/>
        </p:nvSpPr>
        <p:spPr>
          <a:xfrm>
            <a:off x="3618738"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23" name="Text 21"/>
          <p:cNvSpPr txBox="1"/>
          <p:nvPr/>
        </p:nvSpPr>
        <p:spPr>
          <a:xfrm>
            <a:off x="3618738"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4" name="Text 22"/>
          <p:cNvSpPr txBox="1"/>
          <p:nvPr/>
        </p:nvSpPr>
        <p:spPr>
          <a:xfrm>
            <a:off x="3618738"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25" name="Shape 23"/>
          <p:cNvSpPr/>
          <p:nvPr/>
        </p:nvSpPr>
        <p:spPr>
          <a:xfrm>
            <a:off x="6231636" y="1783080"/>
            <a:ext cx="2567178" cy="3291840"/>
          </a:xfrm>
          <a:prstGeom prst="roundRect">
            <a:avLst>
              <a:gd name="adj" fmla="val 2850"/>
            </a:avLst>
          </a:prstGeom>
          <a:solidFill>
            <a:srgbClr val="F3F4F6"/>
          </a:solidFill>
          <a:ln w="12700">
            <a:solidFill>
              <a:srgbClr val="F3F4F6"/>
            </a:solidFill>
            <a:prstDash val="solid"/>
          </a:ln>
        </p:spPr>
      </p:sp>
      <p:sp>
        <p:nvSpPr>
          <p:cNvPr id="26" name="Shape 24"/>
          <p:cNvSpPr/>
          <p:nvPr/>
        </p:nvSpPr>
        <p:spPr>
          <a:xfrm>
            <a:off x="6460236" y="2011680"/>
            <a:ext cx="457200" cy="457200"/>
          </a:xfrm>
          <a:prstGeom prst="ellipse">
            <a:avLst/>
          </a:prstGeom>
          <a:solidFill>
            <a:srgbClr val="7C3AED"/>
          </a:solidFill>
          <a:ln w="12700">
            <a:solidFill>
              <a:srgbClr val="7C3AED"/>
            </a:solidFill>
            <a:prstDash val="solid"/>
          </a:ln>
        </p:spPr>
      </p:sp>
      <p:sp>
        <p:nvSpPr>
          <p:cNvPr id="27" name="Text 25"/>
          <p:cNvSpPr txBox="1"/>
          <p:nvPr/>
        </p:nvSpPr>
        <p:spPr>
          <a:xfrm>
            <a:off x="6460236"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7054596"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13–19</a:t>
            </a:r>
            <a:endParaRPr lang="en-US" sz="1600" dirty="0"/>
          </a:p>
        </p:txBody>
      </p:sp>
      <p:sp>
        <p:nvSpPr>
          <p:cNvPr id="29" name="Text 27"/>
          <p:cNvSpPr txBox="1"/>
          <p:nvPr/>
        </p:nvSpPr>
        <p:spPr>
          <a:xfrm>
            <a:off x="6460236"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30" name="Text 28"/>
          <p:cNvSpPr txBox="1"/>
          <p:nvPr/>
        </p:nvSpPr>
        <p:spPr>
          <a:xfrm>
            <a:off x="6460236"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1" name="Text 29"/>
          <p:cNvSpPr txBox="1"/>
          <p:nvPr/>
        </p:nvSpPr>
        <p:spPr>
          <a:xfrm>
            <a:off x="6460236"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32" name="Text 30"/>
          <p:cNvSpPr txBox="1"/>
          <p:nvPr/>
        </p:nvSpPr>
        <p:spPr>
          <a:xfrm>
            <a:off x="6460236"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33" name="Text 31"/>
          <p:cNvSpPr txBox="1"/>
          <p:nvPr/>
        </p:nvSpPr>
        <p:spPr>
          <a:xfrm>
            <a:off x="6460236"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4" name="Text 32"/>
          <p:cNvSpPr txBox="1"/>
          <p:nvPr/>
        </p:nvSpPr>
        <p:spPr>
          <a:xfrm>
            <a:off x="6460236"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35" name="Shape 33"/>
          <p:cNvSpPr/>
          <p:nvPr/>
        </p:nvSpPr>
        <p:spPr>
          <a:xfrm>
            <a:off x="9073134" y="1783080"/>
            <a:ext cx="2567178" cy="3291840"/>
          </a:xfrm>
          <a:prstGeom prst="roundRect">
            <a:avLst>
              <a:gd name="adj" fmla="val 2850"/>
            </a:avLst>
          </a:prstGeom>
          <a:solidFill>
            <a:srgbClr val="F3F4F6"/>
          </a:solidFill>
          <a:ln w="12700">
            <a:solidFill>
              <a:srgbClr val="F3F4F6"/>
            </a:solidFill>
            <a:prstDash val="solid"/>
          </a:ln>
        </p:spPr>
      </p:sp>
      <p:sp>
        <p:nvSpPr>
          <p:cNvPr id="36" name="Shape 34"/>
          <p:cNvSpPr/>
          <p:nvPr/>
        </p:nvSpPr>
        <p:spPr>
          <a:xfrm>
            <a:off x="9301734" y="2011680"/>
            <a:ext cx="457200" cy="457200"/>
          </a:xfrm>
          <a:prstGeom prst="ellipse">
            <a:avLst/>
          </a:prstGeom>
          <a:solidFill>
            <a:srgbClr val="7C3AED"/>
          </a:solidFill>
          <a:ln w="12700">
            <a:solidFill>
              <a:srgbClr val="7C3AED"/>
            </a:solidFill>
            <a:prstDash val="solid"/>
          </a:ln>
        </p:spPr>
      </p:sp>
      <p:sp>
        <p:nvSpPr>
          <p:cNvPr id="37" name="Text 35"/>
          <p:cNvSpPr txBox="1"/>
          <p:nvPr/>
        </p:nvSpPr>
        <p:spPr>
          <a:xfrm>
            <a:off x="9301734"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8" name="Text 36"/>
          <p:cNvSpPr txBox="1"/>
          <p:nvPr/>
        </p:nvSpPr>
        <p:spPr>
          <a:xfrm>
            <a:off x="9896094"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20–26</a:t>
            </a:r>
            <a:endParaRPr lang="en-US" sz="1600" dirty="0"/>
          </a:p>
        </p:txBody>
      </p:sp>
      <p:sp>
        <p:nvSpPr>
          <p:cNvPr id="39" name="Text 37"/>
          <p:cNvSpPr txBox="1"/>
          <p:nvPr/>
        </p:nvSpPr>
        <p:spPr>
          <a:xfrm>
            <a:off x="9301734"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40" name="Text 38"/>
          <p:cNvSpPr txBox="1"/>
          <p:nvPr/>
        </p:nvSpPr>
        <p:spPr>
          <a:xfrm>
            <a:off x="9301734"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1" name="Text 39"/>
          <p:cNvSpPr txBox="1"/>
          <p:nvPr/>
        </p:nvSpPr>
        <p:spPr>
          <a:xfrm>
            <a:off x="9301734"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42" name="Text 40"/>
          <p:cNvSpPr txBox="1"/>
          <p:nvPr/>
        </p:nvSpPr>
        <p:spPr>
          <a:xfrm>
            <a:off x="9301734"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43" name="Text 41"/>
          <p:cNvSpPr txBox="1"/>
          <p:nvPr/>
        </p:nvSpPr>
        <p:spPr>
          <a:xfrm>
            <a:off x="9301734"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4" name="Text 42"/>
          <p:cNvSpPr txBox="1"/>
          <p:nvPr/>
        </p:nvSpPr>
        <p:spPr>
          <a:xfrm>
            <a:off x="9301734"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45" name="Shape 43"/>
          <p:cNvSpPr/>
          <p:nvPr/>
        </p:nvSpPr>
        <p:spPr>
          <a:xfrm>
            <a:off x="548640" y="5303520"/>
            <a:ext cx="11091672" cy="868680"/>
          </a:xfrm>
          <a:prstGeom prst="roundRect">
            <a:avLst>
              <a:gd name="adj" fmla="val 8421"/>
            </a:avLst>
          </a:prstGeom>
          <a:solidFill>
            <a:srgbClr val="F5F3FF"/>
          </a:solidFill>
          <a:ln w="12700">
            <a:solidFill>
              <a:srgbClr val="F5F3FF"/>
            </a:solidFill>
            <a:prstDash val="solid"/>
          </a:ln>
        </p:spPr>
      </p:sp>
      <p:sp>
        <p:nvSpPr>
          <p:cNvPr id="46" name="Shape 44"/>
          <p:cNvSpPr/>
          <p:nvPr/>
        </p:nvSpPr>
        <p:spPr>
          <a:xfrm>
            <a:off x="777240" y="5477256"/>
            <a:ext cx="512064" cy="512064"/>
          </a:xfrm>
          <a:prstGeom prst="ellipse">
            <a:avLst/>
          </a:prstGeom>
          <a:solidFill>
            <a:srgbClr val="7C3AED"/>
          </a:solidFill>
          <a:ln w="12700">
            <a:solidFill>
              <a:srgbClr val="7C3AED"/>
            </a:solidFill>
            <a:prstDash val="solid"/>
          </a:ln>
        </p:spPr>
      </p:sp>
      <p:pic>
        <p:nvPicPr>
          <p:cNvPr id="47" name="Image 0" descr="preencoded.png">    </p:cNvPr>
          <p:cNvPicPr>
            <a:picLocks noChangeAspect="1"/>
          </p:cNvPicPr>
          <p:nvPr/>
        </p:nvPicPr>
        <p:blipFill>
          <a:blip r:embed="rId1"/>
          <a:stretch>
            <a:fillRect/>
          </a:stretch>
        </p:blipFill>
        <p:spPr>
          <a:xfrm>
            <a:off x="905256" y="5605272"/>
            <a:ext cx="256032" cy="256032"/>
          </a:xfrm>
          <a:prstGeom prst="rect">
            <a:avLst/>
          </a:prstGeom>
        </p:spPr>
      </p:pic>
      <p:sp>
        <p:nvSpPr>
          <p:cNvPr id="48" name="Text 45"/>
          <p:cNvSpPr txBox="1"/>
          <p:nvPr/>
        </p:nvSpPr>
        <p:spPr>
          <a:xfrm>
            <a:off x="1508760" y="5303520"/>
            <a:ext cx="9966960" cy="86868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Load factor &amp; trailer consolidation  ·  </a:t>
            </a:r>
            <a:pPr indent="0" marL="0">
              <a:buNone/>
            </a:pPr>
            <a:r>
              <a:rPr lang="en-US" sz="1500" dirty="0">
                <a:solidFill>
                  <a:srgbClr val="1F2937"/>
                </a:solidFill>
                <a:latin typeface="Calibri" pitchFamily="34" charset="0"/>
                <a:ea typeface="Calibri" pitchFamily="34" charset="-122"/>
                <a:cs typeface="Calibri" pitchFamily="34" charset="-120"/>
              </a:rPr>
              <a:t>Consolidating large-customer freight into fewer trailers.</a:t>
            </a:r>
            <a:endParaRPr lang="en-US" sz="1500" dirty="0"/>
          </a:p>
        </p:txBody>
      </p:sp>
      <p:sp>
        <p:nvSpPr>
          <p:cNvPr id="49" name="Text 4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0" name="Text 4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Status of the physical terminal</a:t>
            </a:r>
            <a:endParaRPr lang="en-US" sz="3000" dirty="0"/>
          </a:p>
        </p:txBody>
      </p:sp>
      <p:sp>
        <p:nvSpPr>
          <p:cNvPr id="4" name="Shape 2"/>
          <p:cNvSpPr/>
          <p:nvPr/>
        </p:nvSpPr>
        <p:spPr>
          <a:xfrm>
            <a:off x="548640" y="1371600"/>
            <a:ext cx="3514344" cy="1234440"/>
          </a:xfrm>
          <a:prstGeom prst="roundRect">
            <a:avLst>
              <a:gd name="adj" fmla="val 5926"/>
            </a:avLst>
          </a:prstGeom>
          <a:solidFill>
            <a:srgbClr val="F3F4F6"/>
          </a:solidFill>
          <a:ln w="12700">
            <a:solidFill>
              <a:srgbClr val="F3F4F6"/>
            </a:solidFill>
            <a:prstDash val="solid"/>
          </a:ln>
        </p:spPr>
      </p:sp>
      <p:sp>
        <p:nvSpPr>
          <p:cNvPr id="5" name="Shape 3"/>
          <p:cNvSpPr/>
          <p:nvPr/>
        </p:nvSpPr>
        <p:spPr>
          <a:xfrm>
            <a:off x="777240" y="1709928"/>
            <a:ext cx="566928" cy="566928"/>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18972" y="1851660"/>
            <a:ext cx="283464" cy="283464"/>
          </a:xfrm>
          <a:prstGeom prst="rect">
            <a:avLst/>
          </a:prstGeom>
        </p:spPr>
      </p:pic>
      <p:sp>
        <p:nvSpPr>
          <p:cNvPr id="7" name="Text 4"/>
          <p:cNvSpPr txBox="1"/>
          <p:nvPr/>
        </p:nvSpPr>
        <p:spPr>
          <a:xfrm>
            <a:off x="1554480"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Total dock doors</a:t>
            </a:r>
            <a:endParaRPr lang="en-US" sz="1200" dirty="0"/>
          </a:p>
        </p:txBody>
      </p:sp>
      <p:sp>
        <p:nvSpPr>
          <p:cNvPr id="8" name="Text 5"/>
          <p:cNvSpPr txBox="1"/>
          <p:nvPr/>
        </p:nvSpPr>
        <p:spPr>
          <a:xfrm>
            <a:off x="1554480"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9" name="Shape 6"/>
          <p:cNvSpPr/>
          <p:nvPr/>
        </p:nvSpPr>
        <p:spPr>
          <a:xfrm>
            <a:off x="4337304" y="1371600"/>
            <a:ext cx="3514344" cy="1234440"/>
          </a:xfrm>
          <a:prstGeom prst="roundRect">
            <a:avLst>
              <a:gd name="adj" fmla="val 5926"/>
            </a:avLst>
          </a:prstGeom>
          <a:solidFill>
            <a:srgbClr val="F3F4F6"/>
          </a:solidFill>
          <a:ln w="12700">
            <a:solidFill>
              <a:srgbClr val="F3F4F6"/>
            </a:solidFill>
            <a:prstDash val="solid"/>
          </a:ln>
        </p:spPr>
      </p:sp>
      <p:sp>
        <p:nvSpPr>
          <p:cNvPr id="10" name="Shape 7"/>
          <p:cNvSpPr/>
          <p:nvPr/>
        </p:nvSpPr>
        <p:spPr>
          <a:xfrm>
            <a:off x="4565904" y="1709928"/>
            <a:ext cx="566928" cy="566928"/>
          </a:xfrm>
          <a:prstGeom prst="ellipse">
            <a:avLst/>
          </a:prstGeom>
          <a:solidFill>
            <a:srgbClr val="EDE9FE"/>
          </a:solidFill>
          <a:ln w="12700">
            <a:solidFill>
              <a:srgbClr val="EDE9FE"/>
            </a:solidFill>
            <a:prstDash val="solid"/>
          </a:ln>
        </p:spPr>
      </p:sp>
      <p:pic>
        <p:nvPicPr>
          <p:cNvPr id="11" name="Image 1" descr="preencoded.png">    </p:cNvPr>
          <p:cNvPicPr>
            <a:picLocks noChangeAspect="1"/>
          </p:cNvPicPr>
          <p:nvPr/>
        </p:nvPicPr>
        <p:blipFill>
          <a:blip r:embed="rId2"/>
          <a:stretch>
            <a:fillRect/>
          </a:stretch>
        </p:blipFill>
        <p:spPr>
          <a:xfrm>
            <a:off x="4707636" y="1851660"/>
            <a:ext cx="283464" cy="283464"/>
          </a:xfrm>
          <a:prstGeom prst="rect">
            <a:avLst/>
          </a:prstGeom>
        </p:spPr>
      </p:pic>
      <p:sp>
        <p:nvSpPr>
          <p:cNvPr id="12" name="Text 8"/>
          <p:cNvSpPr txBox="1"/>
          <p:nvPr/>
        </p:nvSpPr>
        <p:spPr>
          <a:xfrm>
            <a:off x="5343144"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out of service</a:t>
            </a:r>
            <a:endParaRPr lang="en-US" sz="1200" dirty="0"/>
          </a:p>
        </p:txBody>
      </p:sp>
      <p:sp>
        <p:nvSpPr>
          <p:cNvPr id="13" name="Text 9"/>
          <p:cNvSpPr txBox="1"/>
          <p:nvPr/>
        </p:nvSpPr>
        <p:spPr>
          <a:xfrm>
            <a:off x="5343144"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Shape 10"/>
          <p:cNvSpPr/>
          <p:nvPr/>
        </p:nvSpPr>
        <p:spPr>
          <a:xfrm>
            <a:off x="8125968" y="1371600"/>
            <a:ext cx="3514344" cy="1234440"/>
          </a:xfrm>
          <a:prstGeom prst="roundRect">
            <a:avLst>
              <a:gd name="adj" fmla="val 5926"/>
            </a:avLst>
          </a:prstGeom>
          <a:solidFill>
            <a:srgbClr val="F3F4F6"/>
          </a:solidFill>
          <a:ln w="12700">
            <a:solidFill>
              <a:srgbClr val="F3F4F6"/>
            </a:solidFill>
            <a:prstDash val="solid"/>
          </a:ln>
        </p:spPr>
      </p:sp>
      <p:sp>
        <p:nvSpPr>
          <p:cNvPr id="15" name="Shape 11"/>
          <p:cNvSpPr/>
          <p:nvPr/>
        </p:nvSpPr>
        <p:spPr>
          <a:xfrm>
            <a:off x="8354568" y="1709928"/>
            <a:ext cx="566928" cy="566928"/>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8496300" y="1851660"/>
            <a:ext cx="283464" cy="283464"/>
          </a:xfrm>
          <a:prstGeom prst="rect">
            <a:avLst/>
          </a:prstGeom>
        </p:spPr>
      </p:pic>
      <p:sp>
        <p:nvSpPr>
          <p:cNvPr id="17" name="Text 12"/>
          <p:cNvSpPr txBox="1"/>
          <p:nvPr/>
        </p:nvSpPr>
        <p:spPr>
          <a:xfrm>
            <a:off x="9131808"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in service</a:t>
            </a:r>
            <a:endParaRPr lang="en-US" sz="1200" dirty="0"/>
          </a:p>
        </p:txBody>
      </p:sp>
      <p:sp>
        <p:nvSpPr>
          <p:cNvPr id="18" name="Text 13"/>
          <p:cNvSpPr txBox="1"/>
          <p:nvPr/>
        </p:nvSpPr>
        <p:spPr>
          <a:xfrm>
            <a:off x="9131808"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9" name="Text 14"/>
          <p:cNvSpPr txBox="1"/>
          <p:nvPr/>
        </p:nvSpPr>
        <p:spPr>
          <a:xfrm>
            <a:off x="548640" y="2880360"/>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Urgent repairs &amp; needs</a:t>
            </a:r>
            <a:endParaRPr lang="en-US" sz="1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1672" cy="914400"/>
        </p:xfrm>
        <a:graphic>
          <a:graphicData uri="http://schemas.openxmlformats.org/drawingml/2006/table">
            <a:tbl>
              <a:tblPr/>
              <a:tblGrid>
                <a:gridCol w="1463040"/>
                <a:gridCol w="5120640"/>
                <a:gridCol w="1737360"/>
                <a:gridCol w="277063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Est. cost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300" b="1" dirty="0">
                          <a:solidFill>
                            <a:srgbClr val="DC2626"/>
                          </a:solidFill>
                          <a:latin typeface="Calibri" pitchFamily="34" charset="0"/>
                          <a:ea typeface="Calibri" pitchFamily="34" charset="-122"/>
                          <a:cs typeface="Calibri" pitchFamily="34" charset="-120"/>
                        </a:rPr>
                        <a:t>Urgent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Total estimated cost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423160"/>
            <a:ext cx="3291840" cy="34747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91.1% of SCA hour allowance — 391 hrs under (≈$13.1K).</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PRO $6.60 vs $6.85 target (96.3%, watch).</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unit −16.7%; units/hr +26.7%; OT 9 hrs.</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Focus: PPH 3,327 vs 4,258 goal (−21.9%).</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F27 take-out target: </a:t>
            </a:r>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2026-09-29T13:03:17Z</dcterms:created>
  <dcterms:modified xsi:type="dcterms:W3CDTF">2026-09-29T13:03:17Z</dcterms:modified>
</cp:coreProperties>
</file>