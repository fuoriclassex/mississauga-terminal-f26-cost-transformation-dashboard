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labour cost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Sheet1!$B$2:$B$3</c:f>
              <c:numCache>
                <c:formatCode>General</c:formatCode>
                <c:ptCount val="2"/>
                <c:pt idx="0">
                  <c:v>69281.3</c:v>
                </c:pt>
                <c:pt idx="1">
                  <c:v>58917.47</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Sheet1!$C$2:$C$3</c:f>
              <c:numCache>
                <c:formatCode>General</c:formatCode>
                <c:ptCount val="2"/>
                <c:pt idx="0">
                  <c:v>130457.82</c:v>
                </c:pt>
                <c:pt idx="1">
                  <c:v>74774.87</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11827"/>
                </a:solidFill>
                <a:latin typeface="Calibri"/>
              </a:defRPr>
            </a:pPr>
            <a:r>
              <a:rPr sz="1000" b="0" i="0" u="none" strike="noStrike">
                <a:solidFill>
                  <a:srgbClr val="111827"/>
                </a:solidFill>
                <a:latin typeface="Calibri"/>
              </a:rPr>
              <a:t>Terminal Admin cost — Q1 by fiscal year</a:t>
            </a:r>
          </a:p>
        </c:rich>
      </c:tx>
      <c:layout/>
      <c:overlay val="0"/>
    </c:title>
    <c:autoTitleDeleted val="0"/>
    <c:plotArea>
      <c:layout/>
      <c:barChart>
        <c:barDir val="col"/>
        <c:grouping val="clustered"/>
        <c:varyColors val="0"/>
        <c:ser>
          <c:idx val="0"/>
          <c:order val="0"/>
          <c:tx>
            <c:strRef>
              <c:f>Sheet1!$B$1</c:f>
              <c:strCache>
                <c:ptCount val="1"/>
                <c:pt idx="0">
                  <c:v>Terminal Admin cost</c:v>
                </c:pt>
              </c:strCache>
            </c:strRef>
          </c:tx>
          <c:spPr>
            <a:solidFill>
              <a:srgbClr val="A78BFA"/>
            </a:solidFill>
            <a:effectLst/>
          </c:spPr>
          <c:invertIfNegative val="0"/>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9CA3AF"/>
              </a:solidFill>
              <a:effectLst/>
            </c:spPr>
          </c:dPt>
          <c:dPt>
            <c:idx val="3"/>
            <c:invertIfNegative val="0"/>
            <c:bubble3D val="0"/>
            <c:spPr>
              <a:solidFill>
                <a:srgbClr val="7C3AED"/>
              </a:solidFill>
              <a:effectLst/>
            </c:spPr>
          </c:dPt>
          <c:cat>
            <c:multiLvlStrRef>
              <c:f>Sheet1!$A$2:$A$5</c:f>
              <c:multiLvlStrCache>
                <c:ptCount val="4"/>
                <c:lvl>
                  <c:pt idx="0">
                    <c:v>F24</c:v>
                  </c:pt>
                  <c:pt idx="1">
                    <c:v>F25</c:v>
                  </c:pt>
                  <c:pt idx="2">
                    <c:v>F26</c:v>
                  </c:pt>
                  <c:pt idx="3">
                    <c:v>F27</c:v>
                  </c:pt>
                </c:lvl>
              </c:multiLvlStrCache>
            </c:multiLvlStrRef>
          </c:cat>
          <c:val>
            <c:numRef>
              <c:f>Sheet1!$B$2:$B$5</c:f>
              <c:numCache>
                <c:formatCode>General</c:formatCode>
                <c:ptCount val="4"/>
                <c:pt idx="0">
                  <c:v>21.5</c:v>
                </c:pt>
                <c:pt idx="1">
                  <c:v>22.7</c:v>
                </c:pt>
                <c:pt idx="2">
                  <c:v>9.2</c:v>
                </c:pt>
                <c:pt idx="3">
                  <c:v>18.4</c:v>
                </c:pt>
              </c:numCache>
            </c:numRef>
          </c:val>
        </c:ser>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Top 6 accessorials · units this month</a:t>
            </a:r>
          </a:p>
        </c:rich>
      </c:tx>
      <c:layout/>
      <c:overlay val="0"/>
    </c:title>
    <c:autoTitleDeleted val="0"/>
    <c:plotArea>
      <c:layout/>
      <c:barChart>
        <c:barDir val="bar"/>
        <c:grouping val="clustered"/>
        <c:varyColors val="0"/>
        <c:ser>
          <c:idx val="0"/>
          <c:order val="0"/>
          <c:tx>
            <c:strRef>
              <c:f>Sheet1!$B$1</c:f>
              <c:strCache>
                <c:ptCount val="1"/>
                <c:pt idx="0">
                  <c:v>Units</c:v>
                </c:pt>
              </c:strCache>
            </c:strRef>
          </c:tx>
          <c:spPr>
            <a:solidFill>
              <a:srgbClr val="7C3AED"/>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Private residence delivery</c:v>
                  </c:pt>
                  <c:pt idx="1">
                    <c:v>Tailgate delivery</c:v>
                  </c:pt>
                  <c:pt idx="2">
                    <c:v>Appointment delivery</c:v>
                  </c:pt>
                  <c:pt idx="3">
                    <c:v>Appointment pick-up</c:v>
                  </c:pt>
                  <c:pt idx="4">
                    <c:v>Tailgate pick-up</c:v>
                  </c:pt>
                  <c:pt idx="5">
                    <c:v>Private residence pick-up</c:v>
                  </c:pt>
                </c:lvl>
              </c:multiLvlStrCache>
            </c:multiLvlStrRef>
          </c:cat>
          <c:val>
            <c:numRef>
              <c:f>Sheet1!$B$2:$B$7</c:f>
              <c:numCache>
                <c:formatCode>General</c:formatCode>
                <c:ptCount val="6"/>
                <c:pt idx="0">
                  <c:v>18400</c:v>
                </c:pt>
                <c:pt idx="1">
                  <c:v>6174</c:v>
                </c:pt>
                <c:pt idx="2">
                  <c:v>5468</c:v>
                </c:pt>
                <c:pt idx="3">
                  <c:v>807</c:v>
                </c:pt>
                <c:pt idx="4">
                  <c:v>630</c:v>
                </c:pt>
                <c:pt idx="5">
                  <c:v>578</c:v>
                </c:pt>
              </c:numCache>
            </c:numRef>
          </c:val>
        </c:ser>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2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Weekly accessorial units · 12 weeks (*partial)</a:t>
            </a:r>
          </a:p>
        </c:rich>
      </c:tx>
      <c:layout/>
      <c:overlay val="0"/>
    </c:title>
    <c:autoTitleDeleted val="0"/>
    <c:plotArea>
      <c:layout/>
      <c:barChart>
        <c:barDir val="col"/>
        <c:grouping val="clustered"/>
        <c:varyColors val="0"/>
        <c:ser>
          <c:idx val="0"/>
          <c:order val="0"/>
          <c:tx>
            <c:strRef>
              <c:f>Sheet1!$B$1</c:f>
              <c:strCache>
                <c:ptCount val="1"/>
                <c:pt idx="0">
                  <c:v>Units (K)</c:v>
                </c:pt>
              </c:strCache>
            </c:strRef>
          </c:tx>
          <c:spPr>
            <a:solidFill>
              <a:srgbClr val="A78BFA"/>
            </a:solidFill>
            <a:effectLst/>
          </c:spPr>
          <c:invertIfNegative val="0"/>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Jul 13</c:v>
                  </c:pt>
                  <c:pt idx="1">
                    <c:v>Jul 20</c:v>
                  </c:pt>
                  <c:pt idx="2">
                    <c:v>Jul 27</c:v>
                  </c:pt>
                  <c:pt idx="3">
                    <c:v>Aug 3</c:v>
                  </c:pt>
                  <c:pt idx="4">
                    <c:v>Aug 10</c:v>
                  </c:pt>
                  <c:pt idx="5">
                    <c:v>Aug 17</c:v>
                  </c:pt>
                  <c:pt idx="6">
                    <c:v>Aug 24</c:v>
                  </c:pt>
                  <c:pt idx="7">
                    <c:v>Aug 31</c:v>
                  </c:pt>
                  <c:pt idx="8">
                    <c:v>Sep 7</c:v>
                  </c:pt>
                  <c:pt idx="9">
                    <c:v>Sep 14</c:v>
                  </c:pt>
                  <c:pt idx="10">
                    <c:v>Sep 21</c:v>
                  </c:pt>
                  <c:pt idx="11">
                    <c:v>Sep 28*</c:v>
                  </c:pt>
                </c:lvl>
              </c:multiLvlStrCache>
            </c:multiLvlStrRef>
          </c:cat>
          <c:val>
            <c:numRef>
              <c:f>Sheet1!$B$2:$B$13</c:f>
              <c:numCache>
                <c:formatCode>General</c:formatCode>
                <c:ptCount val="12"/>
                <c:pt idx="0">
                  <c:v>8</c:v>
                </c:pt>
                <c:pt idx="1">
                  <c:v>7.9</c:v>
                </c:pt>
                <c:pt idx="2">
                  <c:v>7.2</c:v>
                </c:pt>
                <c:pt idx="3">
                  <c:v>6.3</c:v>
                </c:pt>
                <c:pt idx="4">
                  <c:v>7.6</c:v>
                </c:pt>
                <c:pt idx="5">
                  <c:v>7.1</c:v>
                </c:pt>
                <c:pt idx="6">
                  <c:v>8.1</c:v>
                </c:pt>
                <c:pt idx="7">
                  <c:v>7.7</c:v>
                </c:pt>
                <c:pt idx="8">
                  <c:v>6.7</c:v>
                </c:pt>
                <c:pt idx="9">
                  <c:v>7.5</c:v>
                </c:pt>
                <c:pt idx="10">
                  <c:v>6.6</c:v>
                </c:pt>
                <c:pt idx="11">
                  <c:v>2.8</c:v>
                </c:pt>
              </c:numCache>
            </c:numRef>
          </c:val>
        </c:ser>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8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Reweighs % of target by month · 2026</a:t>
            </a:r>
          </a:p>
        </c:rich>
      </c:tx>
      <c:layout/>
      <c:overlay val="0"/>
    </c:title>
    <c:autoTitleDeleted val="0"/>
    <c:plotArea>
      <c:layout/>
      <c:barChart>
        <c:barDir val="col"/>
        <c:grouping val="clustered"/>
        <c:varyColors val="0"/>
        <c:ser>
          <c:idx val="0"/>
          <c:order val="0"/>
          <c:tx>
            <c:strRef>
              <c:f>Sheet1!$B$1</c:f>
              <c:strCache>
                <c:ptCount val="1"/>
                <c:pt idx="0">
                  <c:v>Reweighs % of target</c:v>
                </c:pt>
              </c:strCache>
            </c:strRef>
          </c:tx>
          <c:spPr>
            <a:solidFill>
              <a:srgbClr val="A78BF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A78BFA"/>
              </a:solidFill>
              <a:effectLst/>
            </c:spPr>
          </c:dPt>
          <c:dPt>
            <c:idx val="3"/>
            <c:invertIfNegative val="0"/>
            <c:bubble3D val="0"/>
            <c:spPr>
              <a:solidFill>
                <a:srgbClr val="A78BFA"/>
              </a:solidFill>
              <a:effectLst/>
            </c:spPr>
          </c:dPt>
          <c:dPt>
            <c:idx val="4"/>
            <c:invertIfNegative val="0"/>
            <c:bubble3D val="0"/>
            <c:spPr>
              <a:solidFill>
                <a:srgbClr val="7C3AED"/>
              </a:solidFill>
              <a:effectLst/>
            </c:spPr>
          </c:dPt>
          <c:dPt>
            <c:idx val="5"/>
            <c:invertIfNegative val="0"/>
            <c:bubble3D val="0"/>
            <c:spPr>
              <a:solidFill>
                <a:srgbClr val="7C3AED"/>
              </a:solidFill>
              <a:effectLst/>
            </c:spPr>
          </c:dPt>
          <c:dPt>
            <c:idx val="6"/>
            <c:invertIfNegative val="0"/>
            <c:bubble3D val="0"/>
            <c:spPr>
              <a:solidFill>
                <a:srgbClr val="7C3AED"/>
              </a:solidFill>
              <a:effectLst/>
            </c:spPr>
          </c:dPt>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Sheet1!$B$2:$B$8</c:f>
              <c:numCache>
                <c:formatCode>General</c:formatCode>
                <c:ptCount val="7"/>
                <c:pt idx="0">
                  <c:v>75.4</c:v>
                </c:pt>
                <c:pt idx="1">
                  <c:v>144.3</c:v>
                </c:pt>
                <c:pt idx="2">
                  <c:v>111.5</c:v>
                </c:pt>
                <c:pt idx="3">
                  <c:v>124.1</c:v>
                </c:pt>
                <c:pt idx="4">
                  <c:v>143.9</c:v>
                </c:pt>
                <c:pt idx="5">
                  <c:v>126.4</c:v>
                </c:pt>
                <c:pt idx="6">
                  <c:v>131.8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Target 100%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Sheet1!$C$2:$C$8</c:f>
              <c:numCache>
                <c:formatCode>General</c:formatCode>
                <c:ptCount val="7"/>
                <c:pt idx="0">
                  <c:v>100</c:v>
                </c:pt>
                <c:pt idx="1">
                  <c:v>100</c:v>
                </c:pt>
                <c:pt idx="2">
                  <c:v>100</c:v>
                </c:pt>
                <c:pt idx="3">
                  <c:v>100</c:v>
                </c:pt>
                <c:pt idx="4">
                  <c:v>100</c:v>
                </c:pt>
                <c:pt idx="5">
                  <c:v>100</c:v>
                </c:pt>
                <c:pt idx="6">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6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C4B5F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7C3AE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safety, service, SCA, productivity, and the status of the building. Our September month-to-date headlines: adjusted on-time service is 93.7 percent, we are at 91.1 percent of our SCA hour allowance, cost per unit is down 16.7 percent and units per hour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topics today, in the same order as the other terminals.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our safety work stands. Completed: the roofing work zones are barricaded with N95 masks available, and the new shunt pre-trip checklist is used every shift. Our ongoing practices include incident reporting: incidents are reported promptly and supervisors work directly with OHS on WSIB forms and a safe return to work; we document detailed descriptions, identify root cause with OHS, and follow up corrective actions so controls prevent recurrence; and forklift and TDG training is completed before expiry. Planned are load securement and decking with ANCRA decks and divider deck-board kits, and freight-handling equipment such as panel trucks and racks for windows, panels and car parts to improve handling and cut damages, and two driver-led initiatives we will take to Safety: driver safety reps — our top safety-score drivers join the monthly safety meeting and speak for drivers, because drivers follow respected peers, people protect standards they help set, and drivers raise concerns with a peer they would not raise with a manager — and manager and supervisor route ride-alongs with a quarterly quota that ramps up to every driver once a year, so leaders see road challenges first-hand. The ideas list is where we go next, including agency onboarding and a safety plan for the new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the latest day was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September 1 to 28, 91.37 percent of freight bills were scanned in and out of the terminal, 90.50 percent were completely scanned, and 90.66 percent of items were scanned. September is in line with fiscal year to date: 91.37 percent of freight bills scanned against 91.55 percent fiscal year to date, and slightly down on the last period. That still leaves about 4,550 freight bills not scanned this month, and closing that gap also reduces the already-serviced false positives we saw in missed pickups.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SCA dock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 labour cost month to date is 133.7 thousand against 199.7 thousand for all of last September, with the biggest drop in agency wages. Remember F27 is 18 of 21 working days, so the like-for-like signal is cost per unit: 2.19 against 2.64, down 16.7 percent, which on this month's units is roughly 26.9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company-employee labour only, first quarter F26 against first quarter F27 to date. Company dock operations hours are essentially flat, 5,205 against 5,207, so the hour reduction on the SCA slides has come from agency labour. Terminal admin hours roughly doubled, from 446 to 909, and admin cost doubled against F26, but it is still below F24 and F25; F26 was the unusually low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Per-shift headcount by agency and D&amp;R is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Accessorials are revenue we only get if the service is coded on the freight bill. This month private-residence, tailgate and appointment deliveries make up about 91 percent of roughly 32,900 accessorial units. Weekly volume has run between about 6 and 8 thousand units; the week of September 28 is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truck reweighs protect revenue by correcting under-declared weights on freight we originate. Every month since April has been above the 100 percent reweigh target, and F27 has run between 126 and 144 percent, with 123 percent over the last seven days. The overall 85.16 percent, 44,283 reweighs against a 52 thousand target, is lower because it covers all selected dates including the March ramp-up month at 75.4 percent; week 40 is only a partial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F27 initiative tracker, laid out like the F26 page. One initiative is confirmed: eliminating the dispatcher role and centralizing dispatch saves 61,000 dollars a year. Six more are in progress or planned — agency labour mix, running under the SCA hour allowance, load securement and decking, freight-handling equipment, accessorial capture and Toyota footage capture — and their dollar values and the F27 take-out target are being confirmed with Finance. Cargo claims for August 2026 were 13,432.53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today's rates hold, our F27 savings outlook is about 563 thousand dollars for the year — roughly 47 thousand dollars a month against the same months of F26. Labour is the engine: Admin agency labour is down about 25 percent and Dock labour about 4 percent, and every extra 1 percent we take out of labour is worth roughly 50 thousand dollars a year. The 61 thousand dollar dispatcher saving is confirmed, and the next levers — load securement, freight-handling equipment, accessorial capture and Toyota footage capture — are being sized and come on top. To be clear, these are estimates based on the current run-rate, not booked savings.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PPH goal is weight-based; freight got lighter, 218 versus about 275 pounds per unit, while units per hour rose.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is down on last year and the hourly rate is up 5.5 percent, which pushes cost per CWT up about 5 percent. Offsetting that, units per hour are up 26.7 percent: at last year's rate, this month's units would have needed roughly 1,066 more hours, worth about 35.6 thousand dollars. And at the current pace we are ahead of the 1,181-hour reduction target, at roughly 139 percent of it; both values are calculated from report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pickup and delivery measures for the first quarter of F27, July to September, from the P&amp;D daily totals dashboard. We ran 4,608 trips averaging just under 10 stops and about 14 bills per trip, at 2.09 stops per hour. These give us the baseline to track P&amp;D productivity through the rest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consolidation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good and bad loads look like on our dock. The target loads use a deck beam or deck board to build a second tier and are strapped; the fix examples are loose freight on a diagonal and MAAX glass shower doors on improvised wooden A-frames or leaning in transit. We plan to add ANCRA knock-down pallet decks and divider deck-board kits, panel trucks and racks for windows, doors, panels and car parts, and load bars and straps on every mixed load, to lift load factor, reduce damages and claims, and make unloading safer. For example, MAAX shower doors and bases and 75-inch TVs currently ride standing loose, as on trailer 47520; slotting them into panel carts, the yellow cart by hand or the grey cage by forklift, secures them in transit, speeds loading and unloading, and cuts breakage.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collapsible load tables. Extended, they build a second tier in the trailer; folded, a forklift lifts them; when empty they stack in a small footprint. Today our load tables are big fixed metal tables that take up dock space, and most terminals are much smaller than ours and could not store them. The benefit goes beyond Mississauga: we send outbound trailers to terminals across the country, and well-loaded trailers with collapsible tables and bin carts are faster and safer for them to unload and stage for final mile or transfer, and the same applies to inbound trailers to us. Less handling, fewer damages and claims, and safer unloading.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Clock-in and clock-out discipline turns late starts, missed lunches and early releases into hours we do not pay for. Weekly hours saved are being confirmed; once entered, dollars are calculated at the September month-to-date rate of 33.43 per hour from the productivity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moving to a new building, expected before the end of calendar 2026.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use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image" Target="../media/image-17-1.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image" Target="../media/image-21-3.jpg"/><Relationship Id="rId4" Type="http://schemas.openxmlformats.org/officeDocument/2006/relationships/image" Target="../media/image-21-4.jpg"/><Relationship Id="rId5" Type="http://schemas.openxmlformats.org/officeDocument/2006/relationships/image" Target="../media/image-21-5.jp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image" Target="../media/image-22-3.jp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ctr"/>
          <a:lstStyle/>
          <a:p>
            <a:pPr indent="0" marL="0">
              <a:buNone/>
            </a:pPr>
            <a:r>
              <a:rPr lang="en-US" sz="1400" b="1" spc="300" kern="0" dirty="0">
                <a:solidFill>
                  <a:srgbClr val="A78BFA"/>
                </a:solidFill>
                <a:latin typeface="Calibri" pitchFamily="34" charset="0"/>
                <a:ea typeface="Calibri" pitchFamily="34" charset="-122"/>
                <a:cs typeface="Calibri" pitchFamily="34" charset="-120"/>
              </a:rPr>
              <a:t>DAY &amp; ROSS · MISSISSAUGA TERMINAL</a:t>
            </a:r>
            <a:endParaRPr lang="en-US" sz="1400" dirty="0"/>
          </a:p>
        </p:txBody>
      </p:sp>
      <p:sp>
        <p:nvSpPr>
          <p:cNvPr id="3" name="Text 1"/>
          <p:cNvSpPr txBox="1"/>
          <p:nvPr/>
        </p:nvSpPr>
        <p:spPr>
          <a:xfrm>
            <a:off x="731520" y="1828800"/>
            <a:ext cx="74980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Mississauga Terminal ·</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F27 Senior Leadership Review</a:t>
            </a:r>
            <a:endParaRPr lang="en-US" sz="3400" dirty="0"/>
          </a:p>
        </p:txBody>
      </p:sp>
      <p:sp>
        <p:nvSpPr>
          <p:cNvPr id="4" name="Text 2"/>
          <p:cNvSpPr txBox="1"/>
          <p:nvPr/>
        </p:nvSpPr>
        <p:spPr>
          <a:xfrm>
            <a:off x="731520" y="3429000"/>
            <a:ext cx="7498080" cy="457200"/>
          </a:xfrm>
          <a:prstGeom prst="rect">
            <a:avLst/>
          </a:prstGeom>
          <a:noFill/>
          <a:ln/>
        </p:spPr>
        <p:txBody>
          <a:bodyPr wrap="square" lIns="0" tIns="0" rIns="0" bIns="0" rtlCol="0" anchor="ctr"/>
          <a:lstStyle/>
          <a:p>
            <a:pPr indent="0" marL="0">
              <a:buNone/>
            </a:pPr>
            <a:r>
              <a:rPr lang="en-US" sz="2000" dirty="0">
                <a:solidFill>
                  <a:srgbClr val="D1D5DB"/>
                </a:solidFill>
                <a:latin typeface="Calibri" pitchFamily="34" charset="0"/>
                <a:ea typeface="Calibri" pitchFamily="34" charset="-122"/>
                <a:cs typeface="Calibri" pitchFamily="34" charset="-120"/>
              </a:rPr>
              <a:t>Safety · Service · SCA · Productivity · Terminal</a:t>
            </a:r>
            <a:endParaRPr lang="en-US" sz="2000" dirty="0"/>
          </a:p>
        </p:txBody>
      </p:sp>
      <p:sp>
        <p:nvSpPr>
          <p:cNvPr id="5" name="Text 3"/>
          <p:cNvSpPr txBox="1"/>
          <p:nvPr/>
        </p:nvSpPr>
        <p:spPr>
          <a:xfrm>
            <a:off x="731520" y="4343400"/>
            <a:ext cx="74980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Sep 29, 2026</a:t>
            </a:r>
            <a:pPr indent="0" marL="0">
              <a:buNone/>
            </a:pPr>
            <a:r>
              <a:rPr lang="en-US" sz="1600" dirty="0">
                <a:solidFill>
                  <a:srgbClr val="9CA3AF"/>
                </a:solidFill>
                <a:latin typeface="Calibri" pitchFamily="34" charset="0"/>
                <a:ea typeface="Calibri" pitchFamily="34" charset="-122"/>
                <a:cs typeface="Calibri" pitchFamily="34" charset="-120"/>
              </a:rPr>
              <a:t>   ·   SVP &amp; Senior Leadership</a:t>
            </a:r>
            <a:endParaRPr lang="en-US" sz="1600" dirty="0"/>
          </a:p>
        </p:txBody>
      </p:sp>
      <p:sp>
        <p:nvSpPr>
          <p:cNvPr id="6" name="Text 4"/>
          <p:cNvSpPr txBox="1"/>
          <p:nvPr/>
        </p:nvSpPr>
        <p:spPr>
          <a:xfrm>
            <a:off x="731520" y="4754880"/>
            <a:ext cx="7498080" cy="320040"/>
          </a:xfrm>
          <a:prstGeom prst="rect">
            <a:avLst/>
          </a:prstGeom>
          <a:noFill/>
          <a:ln/>
        </p:spPr>
        <p:txBody>
          <a:bodyPr wrap="square" lIns="0" tIns="0" rIns="0" bIns="0" rtlCol="0" anchor="ctr"/>
          <a:lstStyle/>
          <a:p>
            <a:pPr indent="0" marL="0">
              <a:buNone/>
            </a:pPr>
            <a:r>
              <a:rPr lang="en-US" sz="1400" dirty="0">
                <a:solidFill>
                  <a:srgbClr val="9CA3AF"/>
                </a:solidFill>
                <a:latin typeface="Calibri" pitchFamily="34" charset="0"/>
                <a:ea typeface="Calibri" pitchFamily="34" charset="-122"/>
                <a:cs typeface="Calibri" pitchFamily="34" charset="-120"/>
              </a:rPr>
              <a:t>Fiscal F27 · Jul 1, 2026 – Jun 30, 2027</a:t>
            </a:r>
            <a:endParaRPr lang="en-US" sz="1400" dirty="0"/>
          </a:p>
        </p:txBody>
      </p:sp>
      <p:sp>
        <p:nvSpPr>
          <p:cNvPr id="7" name="Shape 5"/>
          <p:cNvSpPr/>
          <p:nvPr/>
        </p:nvSpPr>
        <p:spPr>
          <a:xfrm>
            <a:off x="8412480" y="1280160"/>
            <a:ext cx="3227832" cy="4434840"/>
          </a:xfrm>
          <a:prstGeom prst="roundRect">
            <a:avLst>
              <a:gd name="adj" fmla="val 2266"/>
            </a:avLst>
          </a:prstGeom>
          <a:solidFill>
            <a:srgbClr val="1F2937"/>
          </a:solidFill>
          <a:ln w="12700">
            <a:solidFill>
              <a:srgbClr val="1F2937"/>
            </a:solidFill>
            <a:prstDash val="solid"/>
          </a:ln>
        </p:spPr>
      </p:sp>
      <p:sp>
        <p:nvSpPr>
          <p:cNvPr id="8" name="Text 6"/>
          <p:cNvSpPr txBox="1"/>
          <p:nvPr/>
        </p:nvSpPr>
        <p:spPr>
          <a:xfrm>
            <a:off x="8641080" y="1463040"/>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F27 HEADLINES · LATEST</a:t>
            </a:r>
            <a:endParaRPr lang="en-US" sz="1100" dirty="0"/>
          </a:p>
        </p:txBody>
      </p:sp>
      <p:sp>
        <p:nvSpPr>
          <p:cNvPr id="9" name="Text 7"/>
          <p:cNvSpPr txBox="1"/>
          <p:nvPr/>
        </p:nvSpPr>
        <p:spPr>
          <a:xfrm>
            <a:off x="8641080" y="1719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0.00</a:t>
            </a:r>
            <a:endParaRPr lang="en-US" sz="2100" dirty="0"/>
          </a:p>
        </p:txBody>
      </p:sp>
      <p:sp>
        <p:nvSpPr>
          <p:cNvPr id="10" name="Text 8"/>
          <p:cNvSpPr txBox="1"/>
          <p:nvPr/>
        </p:nvSpPr>
        <p:spPr>
          <a:xfrm>
            <a:off x="10012680" y="1719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TRIR F27 YTD (Jul–Aug)</a:t>
            </a:r>
            <a:endParaRPr lang="en-US" sz="1100" dirty="0"/>
          </a:p>
        </p:txBody>
      </p:sp>
      <p:sp>
        <p:nvSpPr>
          <p:cNvPr id="11" name="Text 9"/>
          <p:cNvSpPr txBox="1"/>
          <p:nvPr/>
        </p:nvSpPr>
        <p:spPr>
          <a:xfrm>
            <a:off x="8641080" y="21762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93.7%</a:t>
            </a:r>
            <a:endParaRPr lang="en-US" sz="2100" dirty="0"/>
          </a:p>
        </p:txBody>
      </p:sp>
      <p:sp>
        <p:nvSpPr>
          <p:cNvPr id="12" name="Text 10"/>
          <p:cNvSpPr txBox="1"/>
          <p:nvPr/>
        </p:nvSpPr>
        <p:spPr>
          <a:xfrm>
            <a:off x="10012680" y="21762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OTS Sept (adj., incl. partners)</a:t>
            </a:r>
            <a:endParaRPr lang="en-US" sz="1100" dirty="0"/>
          </a:p>
        </p:txBody>
      </p:sp>
      <p:sp>
        <p:nvSpPr>
          <p:cNvPr id="13" name="Text 11"/>
          <p:cNvSpPr txBox="1"/>
          <p:nvPr/>
        </p:nvSpPr>
        <p:spPr>
          <a:xfrm>
            <a:off x="8641080" y="26334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91.1%</a:t>
            </a:r>
            <a:endParaRPr lang="en-US" sz="2100" dirty="0"/>
          </a:p>
        </p:txBody>
      </p:sp>
      <p:sp>
        <p:nvSpPr>
          <p:cNvPr id="14" name="Text 12"/>
          <p:cNvSpPr txBox="1"/>
          <p:nvPr/>
        </p:nvSpPr>
        <p:spPr>
          <a:xfrm>
            <a:off x="10012680" y="26334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of SCA hour allowance</a:t>
            </a:r>
            <a:endParaRPr lang="en-US" sz="1100" dirty="0"/>
          </a:p>
        </p:txBody>
      </p:sp>
      <p:sp>
        <p:nvSpPr>
          <p:cNvPr id="15" name="Text 13"/>
          <p:cNvSpPr txBox="1"/>
          <p:nvPr/>
        </p:nvSpPr>
        <p:spPr>
          <a:xfrm>
            <a:off x="8641080" y="30906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−16.7%</a:t>
            </a:r>
            <a:endParaRPr lang="en-US" sz="2100" dirty="0"/>
          </a:p>
        </p:txBody>
      </p:sp>
      <p:sp>
        <p:nvSpPr>
          <p:cNvPr id="16" name="Text 14"/>
          <p:cNvSpPr txBox="1"/>
          <p:nvPr/>
        </p:nvSpPr>
        <p:spPr>
          <a:xfrm>
            <a:off x="10012680" y="30906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cost per unit vs F26</a:t>
            </a:r>
            <a:endParaRPr lang="en-US" sz="1100" dirty="0"/>
          </a:p>
        </p:txBody>
      </p:sp>
      <p:sp>
        <p:nvSpPr>
          <p:cNvPr id="17" name="Text 15"/>
          <p:cNvSpPr txBox="1"/>
          <p:nvPr/>
        </p:nvSpPr>
        <p:spPr>
          <a:xfrm>
            <a:off x="8641080" y="35478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+26.7%</a:t>
            </a:r>
            <a:endParaRPr lang="en-US" sz="2100" dirty="0"/>
          </a:p>
        </p:txBody>
      </p:sp>
      <p:sp>
        <p:nvSpPr>
          <p:cNvPr id="18" name="Text 16"/>
          <p:cNvSpPr txBox="1"/>
          <p:nvPr/>
        </p:nvSpPr>
        <p:spPr>
          <a:xfrm>
            <a:off x="10012680" y="35478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units per hour vs F26</a:t>
            </a:r>
            <a:endParaRPr lang="en-US" sz="1100" dirty="0"/>
          </a:p>
        </p:txBody>
      </p:sp>
      <p:sp>
        <p:nvSpPr>
          <p:cNvPr id="19" name="Text 17"/>
          <p:cNvSpPr txBox="1"/>
          <p:nvPr/>
        </p:nvSpPr>
        <p:spPr>
          <a:xfrm>
            <a:off x="8641080" y="4005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 hrs</a:t>
            </a:r>
            <a:endParaRPr lang="en-US" sz="2100" dirty="0"/>
          </a:p>
        </p:txBody>
      </p:sp>
      <p:sp>
        <p:nvSpPr>
          <p:cNvPr id="20" name="Text 18"/>
          <p:cNvSpPr txBox="1"/>
          <p:nvPr/>
        </p:nvSpPr>
        <p:spPr>
          <a:xfrm>
            <a:off x="10012680" y="4005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overtime MTD</a:t>
            </a:r>
            <a:endParaRPr lang="en-US" sz="1100" dirty="0"/>
          </a:p>
        </p:txBody>
      </p:sp>
      <p:sp>
        <p:nvSpPr>
          <p:cNvPr id="21" name="Text 19"/>
          <p:cNvSpPr txBox="1"/>
          <p:nvPr/>
        </p:nvSpPr>
        <p:spPr>
          <a:xfrm>
            <a:off x="8641080" y="4507992"/>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FOCUS</a:t>
            </a:r>
            <a:endParaRPr lang="en-US" sz="1100" dirty="0"/>
          </a:p>
        </p:txBody>
      </p:sp>
      <p:sp>
        <p:nvSpPr>
          <p:cNvPr id="22" name="Text 20"/>
          <p:cNvSpPr txBox="1"/>
          <p:nvPr/>
        </p:nvSpPr>
        <p:spPr>
          <a:xfrm>
            <a:off x="8641080" y="4754880"/>
            <a:ext cx="2834640" cy="457200"/>
          </a:xfrm>
          <a:prstGeom prst="rect">
            <a:avLst/>
          </a:prstGeom>
          <a:noFill/>
          <a:ln/>
        </p:spPr>
        <p:txBody>
          <a:bodyPr wrap="square" lIns="0" tIns="0" rIns="0" bIns="0" rtlCol="0" anchor="ctr"/>
          <a:lstStyle/>
          <a:p>
            <a:pPr indent="0" marL="0">
              <a:buNone/>
            </a:pPr>
            <a:r>
              <a:rPr lang="en-US" sz="2200" b="1" dirty="0">
                <a:solidFill>
                  <a:srgbClr val="F87171"/>
                </a:solidFill>
                <a:latin typeface="Calibri" pitchFamily="34" charset="0"/>
                <a:ea typeface="Calibri" pitchFamily="34" charset="-122"/>
                <a:cs typeface="Calibri" pitchFamily="34" charset="-120"/>
              </a:rPr>
              <a:t>−21.9%</a:t>
            </a:r>
            <a:pPr indent="0" marL="0">
              <a:buNone/>
            </a:pPr>
            <a:r>
              <a:rPr lang="en-US" sz="1300" dirty="0">
                <a:solidFill>
                  <a:srgbClr val="D1D5DB"/>
                </a:solidFill>
                <a:latin typeface="Calibri" pitchFamily="34" charset="0"/>
                <a:ea typeface="Calibri" pitchFamily="34" charset="-122"/>
                <a:cs typeface="Calibri" pitchFamily="34" charset="-120"/>
              </a:rPr>
              <a:t>  PPH gap to goal</a:t>
            </a:r>
            <a:endParaRPr lang="en-US" sz="2200" dirty="0"/>
          </a:p>
        </p:txBody>
      </p:sp>
      <p:sp>
        <p:nvSpPr>
          <p:cNvPr id="23" name="Text 21"/>
          <p:cNvSpPr txBox="1"/>
          <p:nvPr/>
        </p:nvSpPr>
        <p:spPr>
          <a:xfrm>
            <a:off x="8641080" y="5212080"/>
            <a:ext cx="2834640" cy="274320"/>
          </a:xfrm>
          <a:prstGeom prst="rect">
            <a:avLst/>
          </a:prstGeom>
          <a:noFill/>
          <a:ln/>
        </p:spPr>
        <p:txBody>
          <a:bodyPr wrap="square" lIns="0" tIns="0" rIns="0" bIns="0" rtlCol="0" anchor="ctr"/>
          <a:lstStyle/>
          <a:p>
            <a:pPr indent="0" marL="0">
              <a:buNone/>
            </a:pPr>
            <a:r>
              <a:rPr lang="en-US" sz="1100" dirty="0">
                <a:solidFill>
                  <a:srgbClr val="9CA3AF"/>
                </a:solidFill>
                <a:latin typeface="Calibri" pitchFamily="34" charset="0"/>
                <a:ea typeface="Calibri" pitchFamily="34" charset="-122"/>
                <a:cs typeface="Calibri" pitchFamily="34" charset="-120"/>
              </a:rPr>
              <a:t>3,327 vs 4,258 goal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50876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5087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50876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50492"/>
            <a:ext cx="283464" cy="283464"/>
          </a:xfrm>
          <a:prstGeom prst="rect">
            <a:avLst/>
          </a:prstGeom>
        </p:spPr>
      </p:pic>
      <p:sp>
        <p:nvSpPr>
          <p:cNvPr id="8" name="Text 5"/>
          <p:cNvSpPr txBox="1"/>
          <p:nvPr/>
        </p:nvSpPr>
        <p:spPr>
          <a:xfrm>
            <a:off x="2103120" y="14721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8196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safety initiatives</a:t>
            </a:r>
            <a:endParaRPr lang="en-US" sz="1300" dirty="0"/>
          </a:p>
        </p:txBody>
      </p:sp>
      <p:sp>
        <p:nvSpPr>
          <p:cNvPr id="10" name="Shape 7"/>
          <p:cNvSpPr/>
          <p:nvPr/>
        </p:nvSpPr>
        <p:spPr>
          <a:xfrm>
            <a:off x="548640" y="2423160"/>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4231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423160"/>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564892"/>
            <a:ext cx="283464" cy="283464"/>
          </a:xfrm>
          <a:prstGeom prst="rect">
            <a:avLst/>
          </a:prstGeom>
        </p:spPr>
      </p:pic>
      <p:sp>
        <p:nvSpPr>
          <p:cNvPr id="14" name="Text 10"/>
          <p:cNvSpPr txBox="1"/>
          <p:nvPr/>
        </p:nvSpPr>
        <p:spPr>
          <a:xfrm>
            <a:off x="2103120" y="23865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7340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missed pickups, scanning compliance</a:t>
            </a:r>
            <a:endParaRPr lang="en-US" sz="1300" dirty="0"/>
          </a:p>
        </p:txBody>
      </p:sp>
      <p:sp>
        <p:nvSpPr>
          <p:cNvPr id="16" name="Shape 12"/>
          <p:cNvSpPr/>
          <p:nvPr/>
        </p:nvSpPr>
        <p:spPr>
          <a:xfrm>
            <a:off x="548640" y="3337560"/>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33375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3337560"/>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3479292"/>
            <a:ext cx="283464" cy="283464"/>
          </a:xfrm>
          <a:prstGeom prst="rect">
            <a:avLst/>
          </a:prstGeom>
        </p:spPr>
      </p:pic>
      <p:sp>
        <p:nvSpPr>
          <p:cNvPr id="20" name="Text 15"/>
          <p:cNvSpPr txBox="1"/>
          <p:nvPr/>
        </p:nvSpPr>
        <p:spPr>
          <a:xfrm>
            <a:off x="2103120" y="33009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SCA</a:t>
            </a:r>
            <a:endParaRPr lang="en-US" sz="1900" dirty="0"/>
          </a:p>
        </p:txBody>
      </p:sp>
      <p:sp>
        <p:nvSpPr>
          <p:cNvPr id="21" name="Text 16"/>
          <p:cNvSpPr txBox="1"/>
          <p:nvPr/>
        </p:nvSpPr>
        <p:spPr>
          <a:xfrm>
            <a:off x="2103120" y="36484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Cost per PRO, hours, labour, accessorials, savings tracker</a:t>
            </a:r>
            <a:endParaRPr lang="en-US" sz="1300" dirty="0"/>
          </a:p>
        </p:txBody>
      </p:sp>
      <p:sp>
        <p:nvSpPr>
          <p:cNvPr id="22" name="Shape 17"/>
          <p:cNvSpPr/>
          <p:nvPr/>
        </p:nvSpPr>
        <p:spPr>
          <a:xfrm>
            <a:off x="548640" y="4251960"/>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4251960"/>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4393692"/>
            <a:ext cx="283464" cy="283464"/>
          </a:xfrm>
          <a:prstGeom prst="rect">
            <a:avLst/>
          </a:prstGeom>
        </p:spPr>
      </p:pic>
      <p:sp>
        <p:nvSpPr>
          <p:cNvPr id="26" name="Text 20"/>
          <p:cNvSpPr txBox="1"/>
          <p:nvPr/>
        </p:nvSpPr>
        <p:spPr>
          <a:xfrm>
            <a:off x="2103120" y="42153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a:t>
            </a:r>
            <a:endParaRPr lang="en-US" sz="1900" dirty="0"/>
          </a:p>
        </p:txBody>
      </p:sp>
      <p:sp>
        <p:nvSpPr>
          <p:cNvPr id="27" name="Text 21"/>
          <p:cNvSpPr txBox="1"/>
          <p:nvPr/>
        </p:nvSpPr>
        <p:spPr>
          <a:xfrm>
            <a:off x="2103120" y="45628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cost &amp; volume, P&amp;D measures, load factor, CICO</a:t>
            </a:r>
            <a:endParaRPr lang="en-US" sz="1300" dirty="0"/>
          </a:p>
        </p:txBody>
      </p:sp>
      <p:sp>
        <p:nvSpPr>
          <p:cNvPr id="28" name="Shape 22"/>
          <p:cNvSpPr/>
          <p:nvPr/>
        </p:nvSpPr>
        <p:spPr>
          <a:xfrm>
            <a:off x="548640" y="5166360"/>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5166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5166360"/>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5308092"/>
            <a:ext cx="283464" cy="283464"/>
          </a:xfrm>
          <a:prstGeom prst="rect">
            <a:avLst/>
          </a:prstGeom>
        </p:spPr>
      </p:pic>
      <p:sp>
        <p:nvSpPr>
          <p:cNvPr id="32" name="Text 25"/>
          <p:cNvSpPr txBox="1"/>
          <p:nvPr/>
        </p:nvSpPr>
        <p:spPr>
          <a:xfrm>
            <a:off x="2103120" y="51297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Status of the physical terminal</a:t>
            </a:r>
            <a:endParaRPr lang="en-US" sz="1900" dirty="0"/>
          </a:p>
        </p:txBody>
      </p:sp>
      <p:sp>
        <p:nvSpPr>
          <p:cNvPr id="33" name="Text 26"/>
          <p:cNvSpPr txBox="1"/>
          <p:nvPr/>
        </p:nvSpPr>
        <p:spPr>
          <a:xfrm>
            <a:off x="2103120" y="54772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Moving to a new building — expected before end of calendar 2026.</a:t>
            </a:r>
            <a:endParaRPr lang="en-US" sz="1300" dirty="0"/>
          </a:p>
        </p:txBody>
      </p:sp>
      <p:sp>
        <p:nvSpPr>
          <p:cNvPr id="34" name="Shape 2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35" name="Shape 28"/>
          <p:cNvSpPr/>
          <p:nvPr/>
        </p:nvSpPr>
        <p:spPr>
          <a:xfrm>
            <a:off x="8275320" y="1783080"/>
            <a:ext cx="502920" cy="502920"/>
          </a:xfrm>
          <a:prstGeom prst="ellipse">
            <a:avLst/>
          </a:prstGeom>
          <a:solidFill>
            <a:srgbClr val="EDE9FE"/>
          </a:solidFill>
          <a:ln w="12700">
            <a:solidFill>
              <a:srgbClr val="EDE9FE"/>
            </a:solidFill>
            <a:prstDash val="solid"/>
          </a:ln>
        </p:spPr>
      </p:sp>
      <p:pic>
        <p:nvPicPr>
          <p:cNvPr id="36" name="Image 5" descr="preencoded.png">    </p:cNvPr>
          <p:cNvPicPr>
            <a:picLocks noChangeAspect="1"/>
          </p:cNvPicPr>
          <p:nvPr/>
        </p:nvPicPr>
        <p:blipFill>
          <a:blip r:embed="rId6"/>
          <a:stretch>
            <a:fillRect/>
          </a:stretch>
        </p:blipFill>
        <p:spPr>
          <a:xfrm>
            <a:off x="8401050" y="1908810"/>
            <a:ext cx="251460" cy="251460"/>
          </a:xfrm>
          <a:prstGeom prst="rect">
            <a:avLst/>
          </a:prstGeom>
        </p:spPr>
      </p:pic>
      <p:sp>
        <p:nvSpPr>
          <p:cNvPr id="37" name="Text 2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38" name="Text 3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39"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0"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0 recordables Jul–Aug; TRIR 0.00 vs 1.21 F26.</a:t>
            </a:r>
            <a:endParaRPr lang="en-US" sz="14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shift</a:t>
            </a:r>
            <a:endParaRPr lang="en-US" sz="1800" dirty="0"/>
          </a:p>
        </p:txBody>
      </p:sp>
      <p:sp>
        <p:nvSpPr>
          <p:cNvPr id="27" name="Shape 25"/>
          <p:cNvSpPr/>
          <p:nvPr/>
        </p:nvSpPr>
        <p:spPr>
          <a:xfrm>
            <a:off x="548640" y="3575304"/>
            <a:ext cx="384048" cy="384048"/>
          </a:xfrm>
          <a:prstGeom prst="ellipse">
            <a:avLst/>
          </a:prstGeom>
          <a:solidFill>
            <a:srgbClr val="EDE9FE"/>
          </a:solidFill>
          <a:ln w="12700">
            <a:solidFill>
              <a:srgbClr val="EDE9FE"/>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EDE9FE"/>
          </a:solidFill>
          <a:ln w="12700">
            <a:solidFill>
              <a:srgbClr val="EDE9FE"/>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EDE9FE"/>
          </a:solidFill>
          <a:ln w="12700">
            <a:solidFill>
              <a:srgbClr val="EDE9FE"/>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EDE9FE"/>
          </a:solidFill>
          <a:ln w="12700">
            <a:solidFill>
              <a:srgbClr val="EDE9FE"/>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EDE9FE"/>
          </a:solidFill>
          <a:ln w="12700">
            <a:solidFill>
              <a:srgbClr val="EDE9FE"/>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2500" b="1" dirty="0">
                <a:solidFill>
                  <a:srgbClr val="111827"/>
                </a:solidFill>
                <a:latin typeface="Calibri" pitchFamily="34" charset="0"/>
                <a:ea typeface="Calibri" pitchFamily="34" charset="-122"/>
                <a:cs typeface="Calibri" pitchFamily="34" charset="-120"/>
              </a:rPr>
              <a:t>Safety initiatives — completed · active · planned · ideas</a:t>
            </a:r>
            <a:endParaRPr lang="en-US" sz="2500" dirty="0"/>
          </a:p>
        </p:txBody>
      </p:sp>
      <p:sp>
        <p:nvSpPr>
          <p:cNvPr id="4" name="Shape 2"/>
          <p:cNvSpPr/>
          <p:nvPr/>
        </p:nvSpPr>
        <p:spPr>
          <a:xfrm>
            <a:off x="548640" y="1371600"/>
            <a:ext cx="5431536" cy="2240280"/>
          </a:xfrm>
          <a:prstGeom prst="roundRect">
            <a:avLst>
              <a:gd name="adj" fmla="val 3265"/>
            </a:avLst>
          </a:prstGeom>
          <a:solidFill>
            <a:srgbClr val="F3F4F6"/>
          </a:solidFill>
          <a:ln w="12700">
            <a:solidFill>
              <a:srgbClr val="F3F4F6"/>
            </a:solidFill>
            <a:prstDash val="solid"/>
          </a:ln>
        </p:spPr>
      </p:sp>
      <p:sp>
        <p:nvSpPr>
          <p:cNvPr id="5" name="Shape 3"/>
          <p:cNvSpPr/>
          <p:nvPr/>
        </p:nvSpPr>
        <p:spPr>
          <a:xfrm>
            <a:off x="731520" y="1536192"/>
            <a:ext cx="1920240" cy="329184"/>
          </a:xfrm>
          <a:prstGeom prst="roundRect">
            <a:avLst>
              <a:gd name="adj" fmla="val 22222"/>
            </a:avLst>
          </a:prstGeom>
          <a:solidFill>
            <a:srgbClr val="D1FAE5"/>
          </a:solidFill>
          <a:ln w="12700">
            <a:solidFill>
              <a:srgbClr val="D1FAE5"/>
            </a:solidFill>
            <a:prstDash val="solid"/>
          </a:ln>
        </p:spPr>
      </p:sp>
      <p:sp>
        <p:nvSpPr>
          <p:cNvPr id="6" name="Text 4"/>
          <p:cNvSpPr txBox="1"/>
          <p:nvPr/>
        </p:nvSpPr>
        <p:spPr>
          <a:xfrm>
            <a:off x="731520"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059669"/>
                </a:solidFill>
                <a:latin typeface="Calibri" pitchFamily="34" charset="0"/>
                <a:ea typeface="Calibri" pitchFamily="34" charset="-122"/>
                <a:cs typeface="Calibri" pitchFamily="34" charset="-120"/>
              </a:rPr>
              <a:t>COMPLETED</a:t>
            </a:r>
            <a:endParaRPr lang="en-US" sz="1150" dirty="0"/>
          </a:p>
        </p:txBody>
      </p:sp>
      <p:sp>
        <p:nvSpPr>
          <p:cNvPr id="7" name="Text 5"/>
          <p:cNvSpPr txBox="1"/>
          <p:nvPr/>
        </p:nvSpPr>
        <p:spPr>
          <a:xfrm>
            <a:off x="2788920"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3 done</a:t>
            </a:r>
            <a:endParaRPr lang="en-US" sz="1050" dirty="0"/>
          </a:p>
        </p:txBody>
      </p:sp>
      <p:sp>
        <p:nvSpPr>
          <p:cNvPr id="8" name="Text 6"/>
          <p:cNvSpPr txBox="1"/>
          <p:nvPr/>
        </p:nvSpPr>
        <p:spPr>
          <a:xfrm>
            <a:off x="777240"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Roofing work zones barricaded — no access under overhead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N95 masks available on the dock during roofing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New shunt pre-trip checklist rolled out — used every shift.</a:t>
            </a:r>
            <a:endParaRPr lang="en-US" sz="1250" dirty="0"/>
          </a:p>
        </p:txBody>
      </p:sp>
      <p:sp>
        <p:nvSpPr>
          <p:cNvPr id="9" name="Shape 7"/>
          <p:cNvSpPr/>
          <p:nvPr/>
        </p:nvSpPr>
        <p:spPr>
          <a:xfrm>
            <a:off x="6208776" y="1371600"/>
            <a:ext cx="5431536" cy="2240280"/>
          </a:xfrm>
          <a:prstGeom prst="roundRect">
            <a:avLst>
              <a:gd name="adj" fmla="val 3265"/>
            </a:avLst>
          </a:prstGeom>
          <a:solidFill>
            <a:srgbClr val="F3F4F6"/>
          </a:solidFill>
          <a:ln w="12700">
            <a:solidFill>
              <a:srgbClr val="F3F4F6"/>
            </a:solidFill>
            <a:prstDash val="solid"/>
          </a:ln>
        </p:spPr>
      </p:sp>
      <p:sp>
        <p:nvSpPr>
          <p:cNvPr id="10" name="Shape 8"/>
          <p:cNvSpPr/>
          <p:nvPr/>
        </p:nvSpPr>
        <p:spPr>
          <a:xfrm>
            <a:off x="6391656" y="1536192"/>
            <a:ext cx="1920240" cy="329184"/>
          </a:xfrm>
          <a:prstGeom prst="roundRect">
            <a:avLst>
              <a:gd name="adj" fmla="val 22222"/>
            </a:avLst>
          </a:prstGeom>
          <a:solidFill>
            <a:srgbClr val="DBEAFE"/>
          </a:solidFill>
          <a:ln w="12700">
            <a:solidFill>
              <a:srgbClr val="DBEAFE"/>
            </a:solidFill>
            <a:prstDash val="solid"/>
          </a:ln>
        </p:spPr>
      </p:sp>
      <p:sp>
        <p:nvSpPr>
          <p:cNvPr id="11" name="Text 9"/>
          <p:cNvSpPr txBox="1"/>
          <p:nvPr/>
        </p:nvSpPr>
        <p:spPr>
          <a:xfrm>
            <a:off x="6391656"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2563EB"/>
                </a:solidFill>
                <a:latin typeface="Calibri" pitchFamily="34" charset="0"/>
                <a:ea typeface="Calibri" pitchFamily="34" charset="-122"/>
                <a:cs typeface="Calibri" pitchFamily="34" charset="-120"/>
              </a:rPr>
              <a:t>ACTIVE</a:t>
            </a:r>
            <a:endParaRPr lang="en-US" sz="1150" dirty="0"/>
          </a:p>
        </p:txBody>
      </p:sp>
      <p:sp>
        <p:nvSpPr>
          <p:cNvPr id="12" name="Text 10"/>
          <p:cNvSpPr txBox="1"/>
          <p:nvPr/>
        </p:nvSpPr>
        <p:spPr>
          <a:xfrm>
            <a:off x="8449056"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7 ongoing</a:t>
            </a:r>
            <a:endParaRPr lang="en-US" sz="1050" dirty="0"/>
          </a:p>
        </p:txBody>
      </p:sp>
      <p:sp>
        <p:nvSpPr>
          <p:cNvPr id="13" name="Text 11"/>
          <p:cNvSpPr txBox="1"/>
          <p:nvPr/>
        </p:nvSpPr>
        <p:spPr>
          <a:xfrm>
            <a:off x="6437376"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Tailgates + safety moments after incidents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Forklift pre/post inspections — every operator</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No forklifts loaded on straight trucks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H&amp;S inspections → OHS / JHSC review</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STEP observations — non-compliance addressed on the spot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Incident root cause + corrective-action follow-up with OHS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e-learning; forklift / TDG renewed before expiry</a:t>
            </a:r>
            <a:endParaRPr lang="en-US" sz="1050" dirty="0"/>
          </a:p>
        </p:txBody>
      </p:sp>
      <p:sp>
        <p:nvSpPr>
          <p:cNvPr id="14" name="Shape 12"/>
          <p:cNvSpPr/>
          <p:nvPr/>
        </p:nvSpPr>
        <p:spPr>
          <a:xfrm>
            <a:off x="548640" y="3749040"/>
            <a:ext cx="5431536" cy="2240280"/>
          </a:xfrm>
          <a:prstGeom prst="roundRect">
            <a:avLst>
              <a:gd name="adj" fmla="val 3265"/>
            </a:avLst>
          </a:prstGeom>
          <a:solidFill>
            <a:srgbClr val="F3F4F6"/>
          </a:solidFill>
          <a:ln w="12700">
            <a:solidFill>
              <a:srgbClr val="F3F4F6"/>
            </a:solidFill>
            <a:prstDash val="solid"/>
          </a:ln>
        </p:spPr>
      </p:sp>
      <p:sp>
        <p:nvSpPr>
          <p:cNvPr id="15" name="Shape 13"/>
          <p:cNvSpPr/>
          <p:nvPr/>
        </p:nvSpPr>
        <p:spPr>
          <a:xfrm>
            <a:off x="731520" y="3913632"/>
            <a:ext cx="1920240" cy="329184"/>
          </a:xfrm>
          <a:prstGeom prst="roundRect">
            <a:avLst>
              <a:gd name="adj" fmla="val 22222"/>
            </a:avLst>
          </a:prstGeom>
          <a:solidFill>
            <a:srgbClr val="FEF3C7"/>
          </a:solidFill>
          <a:ln w="12700">
            <a:solidFill>
              <a:srgbClr val="FEF3C7"/>
            </a:solidFill>
            <a:prstDash val="solid"/>
          </a:ln>
        </p:spPr>
      </p:sp>
      <p:sp>
        <p:nvSpPr>
          <p:cNvPr id="16" name="Text 14"/>
          <p:cNvSpPr txBox="1"/>
          <p:nvPr/>
        </p:nvSpPr>
        <p:spPr>
          <a:xfrm>
            <a:off x="731520"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B45309"/>
                </a:solidFill>
                <a:latin typeface="Calibri" pitchFamily="34" charset="0"/>
                <a:ea typeface="Calibri" pitchFamily="34" charset="-122"/>
                <a:cs typeface="Calibri" pitchFamily="34" charset="-120"/>
              </a:rPr>
              <a:t>PLANNED</a:t>
            </a:r>
            <a:endParaRPr lang="en-US" sz="1150" dirty="0"/>
          </a:p>
        </p:txBody>
      </p:sp>
      <p:sp>
        <p:nvSpPr>
          <p:cNvPr id="17" name="Text 15"/>
          <p:cNvSpPr txBox="1"/>
          <p:nvPr/>
        </p:nvSpPr>
        <p:spPr>
          <a:xfrm>
            <a:off x="2788920" y="391363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4 planned</a:t>
            </a:r>
            <a:endParaRPr lang="en-US" sz="1050" dirty="0"/>
          </a:p>
        </p:txBody>
      </p:sp>
      <p:sp>
        <p:nvSpPr>
          <p:cNvPr id="18" name="Text 16"/>
          <p:cNvSpPr txBox="1"/>
          <p:nvPr/>
        </p:nvSpPr>
        <p:spPr>
          <a:xfrm>
            <a:off x="777240" y="4343400"/>
            <a:ext cx="5020056" cy="1554480"/>
          </a:xfrm>
          <a:prstGeom prst="rect">
            <a:avLst/>
          </a:prstGeom>
          <a:noFill/>
          <a:ln/>
        </p:spPr>
        <p:txBody>
          <a:bodyPr wrap="square" lIns="0" tIns="0" rIns="0" bIns="0" rtlCol="0" anchor="t"/>
          <a:lstStyle/>
          <a:p>
            <a:pPr indent="0" marL="0">
              <a:buNone/>
            </a:pPr>
            <a:r>
              <a:rPr lang="en-US" sz="1000" b="1" dirty="0">
                <a:solidFill>
                  <a:srgbClr val="111827"/>
                </a:solidFill>
                <a:latin typeface="Calibri" pitchFamily="34" charset="0"/>
                <a:ea typeface="Calibri" pitchFamily="34" charset="-122"/>
                <a:cs typeface="Calibri" pitchFamily="34" charset="-120"/>
              </a:rPr>
              <a:t>Driver safety reps: </a:t>
            </a:r>
            <a:pPr indent="0" marL="0">
              <a:buNone/>
            </a:pPr>
            <a:r>
              <a:rPr lang="en-US" sz="1000" dirty="0">
                <a:solidFill>
                  <a:srgbClr val="1F2937"/>
                </a:solidFill>
                <a:latin typeface="Calibri" pitchFamily="34" charset="0"/>
                <a:ea typeface="Calibri" pitchFamily="34" charset="-122"/>
                <a:cs typeface="Calibri" pitchFamily="34" charset="-120"/>
              </a:rPr>
              <a:t>top safety-score drivers join the monthly safety meeting and speak for drivers.</a:t>
            </a:r>
            <a:endParaRPr lang="en-US" sz="1000" dirty="0"/>
          </a:p>
          <a:p>
            <a:pPr indent="0" marL="0">
              <a:buNone/>
            </a:pPr>
            <a:r>
              <a:rPr lang="en-US" sz="1000" b="1" dirty="0">
                <a:solidFill>
                  <a:srgbClr val="111827"/>
                </a:solidFill>
                <a:latin typeface="Calibri" pitchFamily="34" charset="0"/>
                <a:ea typeface="Calibri" pitchFamily="34" charset="-122"/>
                <a:cs typeface="Calibri" pitchFamily="34" charset="-120"/>
              </a:rPr>
              <a:t>Route ride-alongs: </a:t>
            </a:r>
            <a:pPr indent="0" marL="0">
              <a:buNone/>
            </a:pPr>
            <a:r>
              <a:rPr lang="en-US" sz="1000" dirty="0">
                <a:solidFill>
                  <a:srgbClr val="1F2937"/>
                </a:solidFill>
                <a:latin typeface="Calibri" pitchFamily="34" charset="0"/>
                <a:ea typeface="Calibri" pitchFamily="34" charset="-122"/>
                <a:cs typeface="Calibri" pitchFamily="34" charset="-120"/>
              </a:rPr>
              <a:t>managers &amp; supervisors, quarterly quota ramping to every driver yearly.</a:t>
            </a:r>
            <a:endParaRPr lang="en-US" sz="1000" dirty="0"/>
          </a:p>
          <a:p>
            <a:pPr indent="0" marL="0">
              <a:buNone/>
            </a:pPr>
            <a:r>
              <a:rPr lang="en-US" sz="1000" b="1" dirty="0">
                <a:solidFill>
                  <a:srgbClr val="111827"/>
                </a:solidFill>
                <a:latin typeface="Calibri" pitchFamily="34" charset="0"/>
                <a:ea typeface="Calibri" pitchFamily="34" charset="-122"/>
                <a:cs typeface="Calibri" pitchFamily="34" charset="-120"/>
              </a:rPr>
              <a:t>Load securement &amp; decking </a:t>
            </a:r>
            <a:pPr indent="0" marL="0">
              <a:buNone/>
            </a:pPr>
            <a:r>
              <a:rPr lang="en-US" sz="1000" dirty="0">
                <a:solidFill>
                  <a:srgbClr val="1F2937"/>
                </a:solidFill>
                <a:latin typeface="Calibri" pitchFamily="34" charset="0"/>
                <a:ea typeface="Calibri" pitchFamily="34" charset="-122"/>
                <a:cs typeface="Calibri" pitchFamily="34" charset="-120"/>
              </a:rPr>
              <a:t>(ANCRA decks, divider kits).</a:t>
            </a:r>
            <a:endParaRPr lang="en-US" sz="1000" dirty="0"/>
          </a:p>
          <a:p>
            <a:pPr indent="0" marL="0">
              <a:buNone/>
            </a:pPr>
            <a:r>
              <a:rPr lang="en-US" sz="1000" b="1" dirty="0">
                <a:solidFill>
                  <a:srgbClr val="111827"/>
                </a:solidFill>
                <a:latin typeface="Calibri" pitchFamily="34" charset="0"/>
                <a:ea typeface="Calibri" pitchFamily="34" charset="-122"/>
                <a:cs typeface="Calibri" pitchFamily="34" charset="-120"/>
              </a:rPr>
              <a:t>Freight-handling equipment: </a:t>
            </a:r>
            <a:pPr indent="0" marL="0">
              <a:buNone/>
            </a:pPr>
            <a:r>
              <a:rPr lang="en-US" sz="1000" dirty="0">
                <a:solidFill>
                  <a:srgbClr val="1F2937"/>
                </a:solidFill>
                <a:latin typeface="Calibri" pitchFamily="34" charset="0"/>
                <a:ea typeface="Calibri" pitchFamily="34" charset="-122"/>
                <a:cs typeface="Calibri" pitchFamily="34" charset="-120"/>
              </a:rPr>
              <a:t>panel trucks &amp; racks for windows, panels, car parts.</a:t>
            </a:r>
            <a:endParaRPr lang="en-US" sz="1000" dirty="0"/>
          </a:p>
        </p:txBody>
      </p:sp>
      <p:sp>
        <p:nvSpPr>
          <p:cNvPr id="19" name="Shape 17"/>
          <p:cNvSpPr/>
          <p:nvPr/>
        </p:nvSpPr>
        <p:spPr>
          <a:xfrm>
            <a:off x="6208776" y="3749040"/>
            <a:ext cx="5431536" cy="2240280"/>
          </a:xfrm>
          <a:prstGeom prst="roundRect">
            <a:avLst>
              <a:gd name="adj" fmla="val 3265"/>
            </a:avLst>
          </a:prstGeom>
          <a:solidFill>
            <a:srgbClr val="F5F3FF"/>
          </a:solidFill>
          <a:ln w="12700">
            <a:solidFill>
              <a:srgbClr val="F5F3FF"/>
            </a:solidFill>
            <a:prstDash val="solid"/>
          </a:ln>
        </p:spPr>
      </p:sp>
      <p:sp>
        <p:nvSpPr>
          <p:cNvPr id="20" name="Shape 18"/>
          <p:cNvSpPr/>
          <p:nvPr/>
        </p:nvSpPr>
        <p:spPr>
          <a:xfrm>
            <a:off x="6391656" y="3913632"/>
            <a:ext cx="1920240" cy="329184"/>
          </a:xfrm>
          <a:prstGeom prst="roundRect">
            <a:avLst>
              <a:gd name="adj" fmla="val 22222"/>
            </a:avLst>
          </a:prstGeom>
          <a:solidFill>
            <a:srgbClr val="EDE9FE"/>
          </a:solidFill>
          <a:ln w="12700">
            <a:solidFill>
              <a:srgbClr val="EDE9FE"/>
            </a:solidFill>
            <a:prstDash val="solid"/>
          </a:ln>
        </p:spPr>
      </p:sp>
      <p:sp>
        <p:nvSpPr>
          <p:cNvPr id="21" name="Text 19"/>
          <p:cNvSpPr txBox="1"/>
          <p:nvPr/>
        </p:nvSpPr>
        <p:spPr>
          <a:xfrm>
            <a:off x="6391656"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7C3AED"/>
                </a:solidFill>
                <a:latin typeface="Calibri" pitchFamily="34" charset="0"/>
                <a:ea typeface="Calibri" pitchFamily="34" charset="-122"/>
                <a:cs typeface="Calibri" pitchFamily="34" charset="-120"/>
              </a:rPr>
              <a:t>IDEAS TO ACTION</a:t>
            </a:r>
            <a:endParaRPr lang="en-US" sz="1150" dirty="0"/>
          </a:p>
        </p:txBody>
      </p:sp>
      <p:sp>
        <p:nvSpPr>
          <p:cNvPr id="22" name="Text 20"/>
          <p:cNvSpPr txBox="1"/>
          <p:nvPr/>
        </p:nvSpPr>
        <p:spPr>
          <a:xfrm>
            <a:off x="6437376"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Agency safety onboarding (agency ~61% of dock hours)</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New-building safety plan before the move</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Near-miss reporting</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Pedestrian–forklift separation</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Trailer securement audit each shift</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Winter yard readiness</a:t>
            </a:r>
            <a:endParaRPr lang="en-US" sz="1100" dirty="0"/>
          </a:p>
        </p:txBody>
      </p:sp>
      <p:sp>
        <p:nvSpPr>
          <p:cNvPr id="23"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 95.8% incl. · 97.8% excl.</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 (see Scanning slide).</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TF (terminal) and P&amp;D working collectively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Interline (IN) and transborder (TB) lates reviewed with the interline team —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Adj On Time dashboard — Mississauga, calendar 2026 through Sep 28. Partner carriers = "beyond interliner" freight. Late codes by reason: </a:t>
            </a:r>
            <a:pPr indent="0" marL="0">
              <a:buNone/>
            </a:pPr>
            <a:r>
              <a:rPr lang="en-US" sz="950" b="1" i="1" dirty="0">
                <a:solidFill>
                  <a:srgbClr val="D97706"/>
                </a:solidFill>
                <a:latin typeface="Calibri" pitchFamily="34" charset="0"/>
                <a:ea typeface="Calibri" pitchFamily="34" charset="-122"/>
                <a:cs typeface="Calibri" pitchFamily="34" charset="-120"/>
              </a:rPr>
              <a:t>TBC</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CCC / made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 issue – log…</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7-day avg 1.61%; latest day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 Sep 7 spike (85.7%) = Labour Day. *wk 39 partial.</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Scanning compliance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Scanning efficiency in/out of terminals · Sep 1–28, 2026 (28 days) · all trip types</a:t>
            </a:r>
            <a:endParaRPr lang="en-US" sz="1300" dirty="0"/>
          </a:p>
        </p:txBody>
      </p:sp>
      <p:sp>
        <p:nvSpPr>
          <p:cNvPr id="5" name="Shape 3"/>
          <p:cNvSpPr/>
          <p:nvPr/>
        </p:nvSpPr>
        <p:spPr>
          <a:xfrm>
            <a:off x="548640" y="1691640"/>
            <a:ext cx="3514344" cy="3154680"/>
          </a:xfrm>
          <a:prstGeom prst="roundRect">
            <a:avLst>
              <a:gd name="adj" fmla="val 2319"/>
            </a:avLst>
          </a:prstGeom>
          <a:solidFill>
            <a:srgbClr val="F3F4F6"/>
          </a:solidFill>
          <a:ln w="12700">
            <a:solidFill>
              <a:srgbClr val="F3F4F6"/>
            </a:solidFill>
            <a:prstDash val="solid"/>
          </a:ln>
        </p:spPr>
      </p:sp>
      <p:sp>
        <p:nvSpPr>
          <p:cNvPr id="6" name="Shape 4"/>
          <p:cNvSpPr/>
          <p:nvPr/>
        </p:nvSpPr>
        <p:spPr>
          <a:xfrm>
            <a:off x="777240" y="1920240"/>
            <a:ext cx="502920" cy="502920"/>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902970" y="2045970"/>
            <a:ext cx="251460" cy="251460"/>
          </a:xfrm>
          <a:prstGeom prst="rect">
            <a:avLst/>
          </a:prstGeom>
        </p:spPr>
      </p:pic>
      <p:sp>
        <p:nvSpPr>
          <p:cNvPr id="8" name="Text 5"/>
          <p:cNvSpPr txBox="1"/>
          <p:nvPr/>
        </p:nvSpPr>
        <p:spPr>
          <a:xfrm>
            <a:off x="1417320"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scanned</a:t>
            </a:r>
            <a:endParaRPr lang="en-US" sz="1500" dirty="0"/>
          </a:p>
        </p:txBody>
      </p:sp>
      <p:sp>
        <p:nvSpPr>
          <p:cNvPr id="9" name="Text 6"/>
          <p:cNvSpPr txBox="1"/>
          <p:nvPr/>
        </p:nvSpPr>
        <p:spPr>
          <a:xfrm>
            <a:off x="777240"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91.37%</a:t>
            </a:r>
            <a:endParaRPr lang="en-US" sz="4400" dirty="0"/>
          </a:p>
        </p:txBody>
      </p:sp>
      <p:sp>
        <p:nvSpPr>
          <p:cNvPr id="10" name="Text 7"/>
          <p:cNvSpPr txBox="1"/>
          <p:nvPr/>
        </p:nvSpPr>
        <p:spPr>
          <a:xfrm>
            <a:off x="731520"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48.22K of 52.77K FBs · fiscal YTD 91.55%</a:t>
            </a:r>
            <a:endParaRPr lang="en-US" sz="1050" dirty="0"/>
          </a:p>
        </p:txBody>
      </p:sp>
      <p:sp>
        <p:nvSpPr>
          <p:cNvPr id="11" name="Shape 8"/>
          <p:cNvSpPr/>
          <p:nvPr/>
        </p:nvSpPr>
        <p:spPr>
          <a:xfrm>
            <a:off x="777240" y="3703320"/>
            <a:ext cx="1600200" cy="329184"/>
          </a:xfrm>
          <a:prstGeom prst="roundRect">
            <a:avLst>
              <a:gd name="adj" fmla="val 22222"/>
            </a:avLst>
          </a:prstGeom>
          <a:solidFill>
            <a:srgbClr val="FEE2E2"/>
          </a:solidFill>
          <a:ln w="12700">
            <a:solidFill>
              <a:srgbClr val="FEE2E2"/>
            </a:solidFill>
            <a:prstDash val="solid"/>
          </a:ln>
        </p:spPr>
      </p:sp>
      <p:sp>
        <p:nvSpPr>
          <p:cNvPr id="12" name="Text 9"/>
          <p:cNvSpPr txBox="1"/>
          <p:nvPr/>
        </p:nvSpPr>
        <p:spPr>
          <a:xfrm>
            <a:off x="777240"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−0.22 pts</a:t>
            </a:r>
            <a:endParaRPr lang="en-US" sz="1200" dirty="0"/>
          </a:p>
        </p:txBody>
      </p:sp>
      <p:sp>
        <p:nvSpPr>
          <p:cNvPr id="13" name="Text 10"/>
          <p:cNvSpPr txBox="1"/>
          <p:nvPr/>
        </p:nvSpPr>
        <p:spPr>
          <a:xfrm>
            <a:off x="2468880"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14" name="Shape 11"/>
          <p:cNvSpPr/>
          <p:nvPr/>
        </p:nvSpPr>
        <p:spPr>
          <a:xfrm>
            <a:off x="777240" y="4123944"/>
            <a:ext cx="1600200" cy="329184"/>
          </a:xfrm>
          <a:prstGeom prst="roundRect">
            <a:avLst>
              <a:gd name="adj" fmla="val 22222"/>
            </a:avLst>
          </a:prstGeom>
          <a:solidFill>
            <a:srgbClr val="D1FAE5"/>
          </a:solidFill>
          <a:ln w="12700">
            <a:solidFill>
              <a:srgbClr val="D1FAE5"/>
            </a:solidFill>
            <a:prstDash val="solid"/>
          </a:ln>
        </p:spPr>
      </p:sp>
      <p:sp>
        <p:nvSpPr>
          <p:cNvPr id="15" name="Text 12"/>
          <p:cNvSpPr txBox="1"/>
          <p:nvPr/>
        </p:nvSpPr>
        <p:spPr>
          <a:xfrm>
            <a:off x="777240"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+0.47 pts</a:t>
            </a:r>
            <a:endParaRPr lang="en-US" sz="1200" dirty="0"/>
          </a:p>
        </p:txBody>
      </p:sp>
      <p:sp>
        <p:nvSpPr>
          <p:cNvPr id="16" name="Text 13"/>
          <p:cNvSpPr txBox="1"/>
          <p:nvPr/>
        </p:nvSpPr>
        <p:spPr>
          <a:xfrm>
            <a:off x="2468880"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17" name="Shape 14"/>
          <p:cNvSpPr/>
          <p:nvPr/>
        </p:nvSpPr>
        <p:spPr>
          <a:xfrm>
            <a:off x="4337304" y="1691640"/>
            <a:ext cx="3514344" cy="3154680"/>
          </a:xfrm>
          <a:prstGeom prst="roundRect">
            <a:avLst>
              <a:gd name="adj" fmla="val 2319"/>
            </a:avLst>
          </a:prstGeom>
          <a:solidFill>
            <a:srgbClr val="F3F4F6"/>
          </a:solidFill>
          <a:ln w="12700">
            <a:solidFill>
              <a:srgbClr val="F3F4F6"/>
            </a:solidFill>
            <a:prstDash val="solid"/>
          </a:ln>
        </p:spPr>
      </p:sp>
      <p:sp>
        <p:nvSpPr>
          <p:cNvPr id="18" name="Shape 15"/>
          <p:cNvSpPr/>
          <p:nvPr/>
        </p:nvSpPr>
        <p:spPr>
          <a:xfrm>
            <a:off x="4565904" y="1920240"/>
            <a:ext cx="502920" cy="502920"/>
          </a:xfrm>
          <a:prstGeom prst="ellipse">
            <a:avLst/>
          </a:prstGeom>
          <a:solidFill>
            <a:srgbClr val="EDE9FE"/>
          </a:solidFill>
          <a:ln w="12700">
            <a:solidFill>
              <a:srgbClr val="EDE9FE"/>
            </a:solidFill>
            <a:prstDash val="solid"/>
          </a:ln>
        </p:spPr>
      </p:sp>
      <p:pic>
        <p:nvPicPr>
          <p:cNvPr id="19" name="Image 1" descr="preencoded.png">    </p:cNvPr>
          <p:cNvPicPr>
            <a:picLocks noChangeAspect="1"/>
          </p:cNvPicPr>
          <p:nvPr/>
        </p:nvPicPr>
        <p:blipFill>
          <a:blip r:embed="rId2"/>
          <a:stretch>
            <a:fillRect/>
          </a:stretch>
        </p:blipFill>
        <p:spPr>
          <a:xfrm>
            <a:off x="4691634" y="2045970"/>
            <a:ext cx="251460" cy="251460"/>
          </a:xfrm>
          <a:prstGeom prst="rect">
            <a:avLst/>
          </a:prstGeom>
        </p:spPr>
      </p:pic>
      <p:sp>
        <p:nvSpPr>
          <p:cNvPr id="20" name="Text 16"/>
          <p:cNvSpPr txBox="1"/>
          <p:nvPr/>
        </p:nvSpPr>
        <p:spPr>
          <a:xfrm>
            <a:off x="5205984"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completely scanned</a:t>
            </a:r>
            <a:endParaRPr lang="en-US" sz="1500" dirty="0"/>
          </a:p>
        </p:txBody>
      </p:sp>
      <p:sp>
        <p:nvSpPr>
          <p:cNvPr id="21" name="Text 17"/>
          <p:cNvSpPr txBox="1"/>
          <p:nvPr/>
        </p:nvSpPr>
        <p:spPr>
          <a:xfrm>
            <a:off x="4565904"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90.50%</a:t>
            </a:r>
            <a:endParaRPr lang="en-US" sz="4400" dirty="0"/>
          </a:p>
        </p:txBody>
      </p:sp>
      <p:sp>
        <p:nvSpPr>
          <p:cNvPr id="22" name="Text 18"/>
          <p:cNvSpPr txBox="1"/>
          <p:nvPr/>
        </p:nvSpPr>
        <p:spPr>
          <a:xfrm>
            <a:off x="4520184"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47.76K of 52.77K FBs · fiscal YTD 90.54%</a:t>
            </a:r>
            <a:endParaRPr lang="en-US" sz="1050" dirty="0"/>
          </a:p>
        </p:txBody>
      </p:sp>
      <p:sp>
        <p:nvSpPr>
          <p:cNvPr id="23" name="Shape 19"/>
          <p:cNvSpPr/>
          <p:nvPr/>
        </p:nvSpPr>
        <p:spPr>
          <a:xfrm>
            <a:off x="4565904" y="3703320"/>
            <a:ext cx="1600200" cy="329184"/>
          </a:xfrm>
          <a:prstGeom prst="roundRect">
            <a:avLst>
              <a:gd name="adj" fmla="val 22222"/>
            </a:avLst>
          </a:prstGeom>
          <a:solidFill>
            <a:srgbClr val="FEE2E2"/>
          </a:solidFill>
          <a:ln w="12700">
            <a:solidFill>
              <a:srgbClr val="FEE2E2"/>
            </a:solidFill>
            <a:prstDash val="solid"/>
          </a:ln>
        </p:spPr>
      </p:sp>
      <p:sp>
        <p:nvSpPr>
          <p:cNvPr id="24" name="Text 20"/>
          <p:cNvSpPr txBox="1"/>
          <p:nvPr/>
        </p:nvSpPr>
        <p:spPr>
          <a:xfrm>
            <a:off x="4565904"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−0.20 pts</a:t>
            </a:r>
            <a:endParaRPr lang="en-US" sz="1200" dirty="0"/>
          </a:p>
        </p:txBody>
      </p:sp>
      <p:sp>
        <p:nvSpPr>
          <p:cNvPr id="25" name="Text 21"/>
          <p:cNvSpPr txBox="1"/>
          <p:nvPr/>
        </p:nvSpPr>
        <p:spPr>
          <a:xfrm>
            <a:off x="6257544"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26" name="Shape 22"/>
          <p:cNvSpPr/>
          <p:nvPr/>
        </p:nvSpPr>
        <p:spPr>
          <a:xfrm>
            <a:off x="4565904" y="4123944"/>
            <a:ext cx="1600200" cy="329184"/>
          </a:xfrm>
          <a:prstGeom prst="roundRect">
            <a:avLst>
              <a:gd name="adj" fmla="val 22222"/>
            </a:avLst>
          </a:prstGeom>
          <a:solidFill>
            <a:srgbClr val="D1FAE5"/>
          </a:solidFill>
          <a:ln w="12700">
            <a:solidFill>
              <a:srgbClr val="D1FAE5"/>
            </a:solidFill>
            <a:prstDash val="solid"/>
          </a:ln>
        </p:spPr>
      </p:sp>
      <p:sp>
        <p:nvSpPr>
          <p:cNvPr id="27" name="Text 23"/>
          <p:cNvSpPr txBox="1"/>
          <p:nvPr/>
        </p:nvSpPr>
        <p:spPr>
          <a:xfrm>
            <a:off x="4565904"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+0.60 pts</a:t>
            </a:r>
            <a:endParaRPr lang="en-US" sz="1200" dirty="0"/>
          </a:p>
        </p:txBody>
      </p:sp>
      <p:sp>
        <p:nvSpPr>
          <p:cNvPr id="28" name="Text 24"/>
          <p:cNvSpPr txBox="1"/>
          <p:nvPr/>
        </p:nvSpPr>
        <p:spPr>
          <a:xfrm>
            <a:off x="6257544"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29" name="Shape 25"/>
          <p:cNvSpPr/>
          <p:nvPr/>
        </p:nvSpPr>
        <p:spPr>
          <a:xfrm>
            <a:off x="8125968" y="1691640"/>
            <a:ext cx="3514344" cy="3154680"/>
          </a:xfrm>
          <a:prstGeom prst="roundRect">
            <a:avLst>
              <a:gd name="adj" fmla="val 2319"/>
            </a:avLst>
          </a:prstGeom>
          <a:solidFill>
            <a:srgbClr val="F3F4F6"/>
          </a:solidFill>
          <a:ln w="12700">
            <a:solidFill>
              <a:srgbClr val="F3F4F6"/>
            </a:solidFill>
            <a:prstDash val="solid"/>
          </a:ln>
        </p:spPr>
      </p:sp>
      <p:sp>
        <p:nvSpPr>
          <p:cNvPr id="30" name="Shape 26"/>
          <p:cNvSpPr/>
          <p:nvPr/>
        </p:nvSpPr>
        <p:spPr>
          <a:xfrm>
            <a:off x="8354568" y="1920240"/>
            <a:ext cx="502920" cy="502920"/>
          </a:xfrm>
          <a:prstGeom prst="ellipse">
            <a:avLst/>
          </a:prstGeom>
          <a:solidFill>
            <a:srgbClr val="EDE9FE"/>
          </a:solidFill>
          <a:ln w="12700">
            <a:solidFill>
              <a:srgbClr val="EDE9FE"/>
            </a:solidFill>
            <a:prstDash val="solid"/>
          </a:ln>
        </p:spPr>
      </p:sp>
      <p:pic>
        <p:nvPicPr>
          <p:cNvPr id="31" name="Image 2" descr="preencoded.png">    </p:cNvPr>
          <p:cNvPicPr>
            <a:picLocks noChangeAspect="1"/>
          </p:cNvPicPr>
          <p:nvPr/>
        </p:nvPicPr>
        <p:blipFill>
          <a:blip r:embed="rId3"/>
          <a:stretch>
            <a:fillRect/>
          </a:stretch>
        </p:blipFill>
        <p:spPr>
          <a:xfrm>
            <a:off x="8480298" y="2045970"/>
            <a:ext cx="251460" cy="251460"/>
          </a:xfrm>
          <a:prstGeom prst="rect">
            <a:avLst/>
          </a:prstGeom>
        </p:spPr>
      </p:pic>
      <p:sp>
        <p:nvSpPr>
          <p:cNvPr id="32" name="Text 27"/>
          <p:cNvSpPr txBox="1"/>
          <p:nvPr/>
        </p:nvSpPr>
        <p:spPr>
          <a:xfrm>
            <a:off x="8994648"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Items scanned</a:t>
            </a:r>
            <a:endParaRPr lang="en-US" sz="1500" dirty="0"/>
          </a:p>
        </p:txBody>
      </p:sp>
      <p:sp>
        <p:nvSpPr>
          <p:cNvPr id="33" name="Text 28"/>
          <p:cNvSpPr txBox="1"/>
          <p:nvPr/>
        </p:nvSpPr>
        <p:spPr>
          <a:xfrm>
            <a:off x="8354568"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90.66%</a:t>
            </a:r>
            <a:endParaRPr lang="en-US" sz="4400" dirty="0"/>
          </a:p>
        </p:txBody>
      </p:sp>
      <p:sp>
        <p:nvSpPr>
          <p:cNvPr id="34" name="Text 29"/>
          <p:cNvSpPr txBox="1"/>
          <p:nvPr/>
        </p:nvSpPr>
        <p:spPr>
          <a:xfrm>
            <a:off x="8308848"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73.85K of 81.46K items · fiscal YTD 90.61%</a:t>
            </a:r>
            <a:endParaRPr lang="en-US" sz="1050" dirty="0"/>
          </a:p>
        </p:txBody>
      </p:sp>
      <p:sp>
        <p:nvSpPr>
          <p:cNvPr id="35" name="Shape 30"/>
          <p:cNvSpPr/>
          <p:nvPr/>
        </p:nvSpPr>
        <p:spPr>
          <a:xfrm>
            <a:off x="8354568" y="3703320"/>
            <a:ext cx="1600200" cy="329184"/>
          </a:xfrm>
          <a:prstGeom prst="roundRect">
            <a:avLst>
              <a:gd name="adj" fmla="val 22222"/>
            </a:avLst>
          </a:prstGeom>
          <a:solidFill>
            <a:srgbClr val="FEE2E2"/>
          </a:solidFill>
          <a:ln w="12700">
            <a:solidFill>
              <a:srgbClr val="FEE2E2"/>
            </a:solidFill>
            <a:prstDash val="solid"/>
          </a:ln>
        </p:spPr>
      </p:sp>
      <p:sp>
        <p:nvSpPr>
          <p:cNvPr id="36" name="Text 31"/>
          <p:cNvSpPr txBox="1"/>
          <p:nvPr/>
        </p:nvSpPr>
        <p:spPr>
          <a:xfrm>
            <a:off x="8354568"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−0.13 pts</a:t>
            </a:r>
            <a:endParaRPr lang="en-US" sz="1200" dirty="0"/>
          </a:p>
        </p:txBody>
      </p:sp>
      <p:sp>
        <p:nvSpPr>
          <p:cNvPr id="37" name="Text 32"/>
          <p:cNvSpPr txBox="1"/>
          <p:nvPr/>
        </p:nvSpPr>
        <p:spPr>
          <a:xfrm>
            <a:off x="10046208"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38" name="Shape 33"/>
          <p:cNvSpPr/>
          <p:nvPr/>
        </p:nvSpPr>
        <p:spPr>
          <a:xfrm>
            <a:off x="8354568" y="4123944"/>
            <a:ext cx="1600200" cy="329184"/>
          </a:xfrm>
          <a:prstGeom prst="roundRect">
            <a:avLst>
              <a:gd name="adj" fmla="val 22222"/>
            </a:avLst>
          </a:prstGeom>
          <a:solidFill>
            <a:srgbClr val="D1FAE5"/>
          </a:solidFill>
          <a:ln w="12700">
            <a:solidFill>
              <a:srgbClr val="D1FAE5"/>
            </a:solidFill>
            <a:prstDash val="solid"/>
          </a:ln>
        </p:spPr>
      </p:sp>
      <p:sp>
        <p:nvSpPr>
          <p:cNvPr id="39" name="Text 34"/>
          <p:cNvSpPr txBox="1"/>
          <p:nvPr/>
        </p:nvSpPr>
        <p:spPr>
          <a:xfrm>
            <a:off x="8354568"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+1.54 pts</a:t>
            </a:r>
            <a:endParaRPr lang="en-US" sz="1200" dirty="0"/>
          </a:p>
        </p:txBody>
      </p:sp>
      <p:sp>
        <p:nvSpPr>
          <p:cNvPr id="40" name="Text 35"/>
          <p:cNvSpPr txBox="1"/>
          <p:nvPr/>
        </p:nvSpPr>
        <p:spPr>
          <a:xfrm>
            <a:off x="10046208"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41" name="Shape 36"/>
          <p:cNvSpPr/>
          <p:nvPr/>
        </p:nvSpPr>
        <p:spPr>
          <a:xfrm>
            <a:off x="548640" y="5029200"/>
            <a:ext cx="11091672" cy="960120"/>
          </a:xfrm>
          <a:prstGeom prst="roundRect">
            <a:avLst>
              <a:gd name="adj" fmla="val 7619"/>
            </a:avLst>
          </a:prstGeom>
          <a:solidFill>
            <a:srgbClr val="F5F3FF"/>
          </a:solidFill>
          <a:ln w="12700">
            <a:solidFill>
              <a:srgbClr val="F5F3FF"/>
            </a:solidFill>
            <a:prstDash val="solid"/>
          </a:ln>
        </p:spPr>
      </p:sp>
      <p:sp>
        <p:nvSpPr>
          <p:cNvPr id="42" name="Shape 37"/>
          <p:cNvSpPr/>
          <p:nvPr/>
        </p:nvSpPr>
        <p:spPr>
          <a:xfrm>
            <a:off x="777240" y="5239512"/>
            <a:ext cx="548640" cy="548640"/>
          </a:xfrm>
          <a:prstGeom prst="ellipse">
            <a:avLst/>
          </a:prstGeom>
          <a:solidFill>
            <a:srgbClr val="7C3AED"/>
          </a:solidFill>
          <a:ln w="12700">
            <a:solidFill>
              <a:srgbClr val="7C3AED"/>
            </a:solidFill>
            <a:prstDash val="solid"/>
          </a:ln>
        </p:spPr>
      </p:sp>
      <p:pic>
        <p:nvPicPr>
          <p:cNvPr id="43" name="Image 3" descr="preencoded.png">    </p:cNvPr>
          <p:cNvPicPr>
            <a:picLocks noChangeAspect="1"/>
          </p:cNvPicPr>
          <p:nvPr/>
        </p:nvPicPr>
        <p:blipFill>
          <a:blip r:embed="rId4"/>
          <a:stretch>
            <a:fillRect/>
          </a:stretch>
        </p:blipFill>
        <p:spPr>
          <a:xfrm>
            <a:off x="914400" y="5376672"/>
            <a:ext cx="274320" cy="274320"/>
          </a:xfrm>
          <a:prstGeom prst="rect">
            <a:avLst/>
          </a:prstGeom>
        </p:spPr>
      </p:pic>
      <p:sp>
        <p:nvSpPr>
          <p:cNvPr id="44" name="Text 38"/>
          <p:cNvSpPr txBox="1"/>
          <p:nvPr/>
        </p:nvSpPr>
        <p:spPr>
          <a:xfrm>
            <a:off x="1508760" y="5029200"/>
            <a:ext cx="9966960" cy="960120"/>
          </a:xfrm>
          <a:prstGeom prst="rect">
            <a:avLst/>
          </a:prstGeom>
          <a:noFill/>
          <a:ln/>
        </p:spPr>
        <p:txBody>
          <a:bodyPr wrap="square" lIns="0" tIns="0" rIns="0" bIns="0" rtlCol="0" anchor="ctr"/>
          <a:lstStyle/>
          <a:p>
            <a:pPr indent="0" marL="0">
              <a:buNone/>
            </a:pPr>
            <a:r>
              <a:rPr lang="en-US" sz="1350" b="1" dirty="0">
                <a:solidFill>
                  <a:srgbClr val="111827"/>
                </a:solidFill>
                <a:latin typeface="Calibri" pitchFamily="34" charset="0"/>
                <a:ea typeface="Calibri" pitchFamily="34" charset="-122"/>
                <a:cs typeface="Calibri" pitchFamily="34" charset="-120"/>
              </a:rPr>
              <a:t>September is in line with fiscal YTD: freight bills scanned 91.37% (FYTD 91.55%). ≈4.55K freight bills were not scanned in/out Sep 1–28 — closing that gap also cuts 'already serviced' missed-PU false positives.</a:t>
            </a:r>
            <a:endParaRPr lang="en-US" sz="1350" dirty="0"/>
          </a:p>
          <a:p>
            <a:pPr indent="0" marL="0">
              <a:buNone/>
            </a:pPr>
            <a:r>
              <a:rPr lang="en-US" sz="1000" i="1" dirty="0">
                <a:solidFill>
                  <a:srgbClr val="6B7280"/>
                </a:solidFill>
                <a:latin typeface="Calibri" pitchFamily="34" charset="0"/>
                <a:ea typeface="Calibri" pitchFamily="34" charset="-122"/>
                <a:cs typeface="Calibri" pitchFamily="34" charset="-120"/>
              </a:rPr>
              <a:t>Calculated: 52.77K − 48.22K = 4.55K FBs not scanned (Sep 1–28)</a:t>
            </a:r>
            <a:endParaRPr lang="en-US" sz="1350" dirty="0"/>
          </a:p>
        </p:txBody>
      </p:sp>
      <p:sp>
        <p:nvSpPr>
          <p:cNvPr id="45" name="Text 39"/>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Compliance Reporting — Scanning Efficiency In/Out of Terminals · D&amp;R Commerce Mississauga · Sep 1–28, 2026 (28 days) · all trip types</a:t>
            </a:r>
            <a:endParaRPr lang="en-US" sz="950" dirty="0"/>
          </a:p>
        </p:txBody>
      </p:sp>
      <p:sp>
        <p:nvSpPr>
          <p:cNvPr id="46" name="Text 4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7" name="Text 4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dock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SCA dock 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WATCH</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Monthly input</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Dock labour cost &amp; cost per unit</a:t>
            </a:r>
            <a:endParaRPr lang="en-US" sz="3000" dirty="0"/>
          </a:p>
        </p:txBody>
      </p:sp>
      <p:graphicFrame>
        <p:nvGraphicFramePr>
          <p:cNvPr id="4" name="Chart 0" descr=""/>
          <p:cNvGraphicFramePr/>
          <p:nvPr/>
        </p:nvGraphicFramePr>
        <p:xfrm>
          <a:off x="548640" y="1325880"/>
          <a:ext cx="585216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4754880"/>
            <a:ext cx="5852160" cy="1234440"/>
          </a:xfrm>
          <a:prstGeom prst="roundRect">
            <a:avLst>
              <a:gd name="adj" fmla="val 5926"/>
            </a:avLst>
          </a:prstGeom>
          <a:solidFill>
            <a:srgbClr val="ECFDF5"/>
          </a:solidFill>
          <a:ln w="12700">
            <a:solidFill>
              <a:srgbClr val="ECFDF5"/>
            </a:solidFill>
            <a:prstDash val="solid"/>
          </a:ln>
        </p:spPr>
      </p:sp>
      <p:sp>
        <p:nvSpPr>
          <p:cNvPr id="6" name="Shape 3"/>
          <p:cNvSpPr/>
          <p:nvPr/>
        </p:nvSpPr>
        <p:spPr>
          <a:xfrm>
            <a:off x="731520" y="4956048"/>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2"/>
          <a:stretch>
            <a:fillRect/>
          </a:stretch>
        </p:blipFill>
        <p:spPr>
          <a:xfrm>
            <a:off x="857250" y="5081778"/>
            <a:ext cx="251460" cy="251460"/>
          </a:xfrm>
          <a:prstGeom prst="rect">
            <a:avLst/>
          </a:prstGeom>
        </p:spPr>
      </p:pic>
      <p:sp>
        <p:nvSpPr>
          <p:cNvPr id="8" name="Text 4"/>
          <p:cNvSpPr txBox="1"/>
          <p:nvPr/>
        </p:nvSpPr>
        <p:spPr>
          <a:xfrm>
            <a:off x="1417320" y="4846320"/>
            <a:ext cx="4846320" cy="22860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Cost per unit</a:t>
            </a:r>
            <a:endParaRPr lang="en-US" sz="1200" dirty="0"/>
          </a:p>
        </p:txBody>
      </p:sp>
      <p:sp>
        <p:nvSpPr>
          <p:cNvPr id="9" name="Text 5"/>
          <p:cNvSpPr txBox="1"/>
          <p:nvPr/>
        </p:nvSpPr>
        <p:spPr>
          <a:xfrm>
            <a:off x="1417320" y="5074920"/>
            <a:ext cx="4846320" cy="384048"/>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$2.64 → $2.19</a:t>
            </a:r>
            <a:pPr indent="0" marL="0">
              <a:buNone/>
            </a:pPr>
            <a:r>
              <a:rPr lang="en-US" sz="1500" b="1" dirty="0">
                <a:solidFill>
                  <a:srgbClr val="059669"/>
                </a:solidFill>
                <a:latin typeface="Calibri" pitchFamily="34" charset="0"/>
                <a:ea typeface="Calibri" pitchFamily="34" charset="-122"/>
                <a:cs typeface="Calibri" pitchFamily="34" charset="-120"/>
              </a:rPr>
              <a:t>   −16.7%</a:t>
            </a:r>
            <a:endParaRPr lang="en-US" sz="2200" dirty="0"/>
          </a:p>
        </p:txBody>
      </p:sp>
      <p:sp>
        <p:nvSpPr>
          <p:cNvPr id="10" name="Text 6"/>
          <p:cNvSpPr txBox="1"/>
          <p:nvPr/>
        </p:nvSpPr>
        <p:spPr>
          <a:xfrm>
            <a:off x="1417320" y="5468112"/>
            <a:ext cx="4892040" cy="246888"/>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At F26's CPU, F27's 60,933 units would have cost ≈$26.9K more.</a:t>
            </a:r>
            <a:endParaRPr lang="en-US" sz="1050" dirty="0"/>
          </a:p>
        </p:txBody>
      </p:sp>
      <p:sp>
        <p:nvSpPr>
          <p:cNvPr id="11" name="Text 7"/>
          <p:cNvSpPr txBox="1"/>
          <p:nvPr/>
        </p:nvSpPr>
        <p:spPr>
          <a:xfrm>
            <a:off x="1417320" y="5715000"/>
            <a:ext cx="484632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(F26 CPU − F27 CPU) × F27 units</a:t>
            </a:r>
            <a:endParaRPr lang="en-US" sz="900" dirty="0"/>
          </a:p>
        </p:txBody>
      </p:sp>
      <p:sp>
        <p:nvSpPr>
          <p:cNvPr id="12" name="Shape 8"/>
          <p:cNvSpPr/>
          <p:nvPr/>
        </p:nvSpPr>
        <p:spPr>
          <a:xfrm>
            <a:off x="6675120" y="1371600"/>
            <a:ext cx="4965192" cy="987552"/>
          </a:xfrm>
          <a:prstGeom prst="roundRect">
            <a:avLst>
              <a:gd name="adj" fmla="val 7407"/>
            </a:avLst>
          </a:prstGeom>
          <a:solidFill>
            <a:srgbClr val="F3F4F6"/>
          </a:solidFill>
          <a:ln w="12700">
            <a:solidFill>
              <a:srgbClr val="F3F4F6"/>
            </a:solidFill>
            <a:prstDash val="solid"/>
          </a:ln>
        </p:spPr>
      </p:sp>
      <p:sp>
        <p:nvSpPr>
          <p:cNvPr id="13" name="Text 9"/>
          <p:cNvSpPr txBox="1"/>
          <p:nvPr/>
        </p:nvSpPr>
        <p:spPr>
          <a:xfrm>
            <a:off x="6858000" y="149961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Total dock labour</a:t>
            </a:r>
            <a:endParaRPr lang="en-US" sz="1300" dirty="0"/>
          </a:p>
        </p:txBody>
      </p:sp>
      <p:sp>
        <p:nvSpPr>
          <p:cNvPr id="14" name="Text 10"/>
          <p:cNvSpPr txBox="1"/>
          <p:nvPr/>
        </p:nvSpPr>
        <p:spPr>
          <a:xfrm>
            <a:off x="6858000" y="1938528"/>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$133,692 MTD vs $199,739 F26</a:t>
            </a:r>
            <a:endParaRPr lang="en-US" sz="1100" dirty="0"/>
          </a:p>
        </p:txBody>
      </p:sp>
      <p:sp>
        <p:nvSpPr>
          <p:cNvPr id="15" name="Text 11"/>
          <p:cNvSpPr txBox="1"/>
          <p:nvPr/>
        </p:nvSpPr>
        <p:spPr>
          <a:xfrm>
            <a:off x="9418320" y="1371600"/>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−$66,047</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−33.1%</a:t>
            </a:r>
            <a:endParaRPr lang="en-US" sz="2400" dirty="0"/>
          </a:p>
          <a:p>
            <a:pPr algn="r" indent="0" marL="0">
              <a:buNone/>
            </a:pPr>
            <a:r>
              <a:rPr lang="en-US" sz="950" b="1" dirty="0">
                <a:solidFill>
                  <a:srgbClr val="059669"/>
                </a:solidFill>
                <a:latin typeface="Calibri" pitchFamily="34" charset="0"/>
                <a:ea typeface="Calibri" pitchFamily="34" charset="-122"/>
                <a:cs typeface="Calibri" pitchFamily="34" charset="-120"/>
              </a:rPr>
              <a:t>(MTD vs full month)</a:t>
            </a:r>
            <a:endParaRPr lang="en-US" sz="2400" dirty="0"/>
          </a:p>
        </p:txBody>
      </p:sp>
      <p:sp>
        <p:nvSpPr>
          <p:cNvPr id="16" name="Shape 12"/>
          <p:cNvSpPr/>
          <p:nvPr/>
        </p:nvSpPr>
        <p:spPr>
          <a:xfrm>
            <a:off x="6675120" y="2496312"/>
            <a:ext cx="4965192" cy="987552"/>
          </a:xfrm>
          <a:prstGeom prst="roundRect">
            <a:avLst>
              <a:gd name="adj" fmla="val 7407"/>
            </a:avLst>
          </a:prstGeom>
          <a:solidFill>
            <a:srgbClr val="F3F4F6"/>
          </a:solidFill>
          <a:ln w="12700">
            <a:solidFill>
              <a:srgbClr val="F3F4F6"/>
            </a:solidFill>
            <a:prstDash val="solid"/>
          </a:ln>
        </p:spPr>
      </p:sp>
      <p:sp>
        <p:nvSpPr>
          <p:cNvPr id="17" name="Text 13"/>
          <p:cNvSpPr txBox="1"/>
          <p:nvPr/>
        </p:nvSpPr>
        <p:spPr>
          <a:xfrm>
            <a:off x="6858000" y="2624328"/>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Agency wages</a:t>
            </a:r>
            <a:endParaRPr lang="en-US" sz="1300" dirty="0"/>
          </a:p>
        </p:txBody>
      </p:sp>
      <p:sp>
        <p:nvSpPr>
          <p:cNvPr id="18" name="Text 14"/>
          <p:cNvSpPr txBox="1"/>
          <p:nvPr/>
        </p:nvSpPr>
        <p:spPr>
          <a:xfrm>
            <a:off x="6858000" y="3063240"/>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$74,775 MTD vs $130,458 F26</a:t>
            </a:r>
            <a:endParaRPr lang="en-US" sz="1100" dirty="0"/>
          </a:p>
        </p:txBody>
      </p:sp>
      <p:sp>
        <p:nvSpPr>
          <p:cNvPr id="19" name="Text 15"/>
          <p:cNvSpPr txBox="1"/>
          <p:nvPr/>
        </p:nvSpPr>
        <p:spPr>
          <a:xfrm>
            <a:off x="9418320" y="2496312"/>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−$55,683</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−42.7%</a:t>
            </a:r>
            <a:endParaRPr lang="en-US" sz="2400" dirty="0"/>
          </a:p>
        </p:txBody>
      </p:sp>
      <p:sp>
        <p:nvSpPr>
          <p:cNvPr id="20" name="Shape 16"/>
          <p:cNvSpPr/>
          <p:nvPr/>
        </p:nvSpPr>
        <p:spPr>
          <a:xfrm>
            <a:off x="6675120" y="3621024"/>
            <a:ext cx="4965192" cy="987552"/>
          </a:xfrm>
          <a:prstGeom prst="roundRect">
            <a:avLst>
              <a:gd name="adj" fmla="val 7407"/>
            </a:avLst>
          </a:prstGeom>
          <a:solidFill>
            <a:srgbClr val="F3F4F6"/>
          </a:solidFill>
          <a:ln w="12700">
            <a:solidFill>
              <a:srgbClr val="F3F4F6"/>
            </a:solidFill>
            <a:prstDash val="solid"/>
          </a:ln>
        </p:spPr>
      </p:sp>
      <p:sp>
        <p:nvSpPr>
          <p:cNvPr id="21" name="Text 17"/>
          <p:cNvSpPr txBox="1"/>
          <p:nvPr/>
        </p:nvSpPr>
        <p:spPr>
          <a:xfrm>
            <a:off x="6858000" y="3749040"/>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Company wages</a:t>
            </a:r>
            <a:endParaRPr lang="en-US" sz="1300" dirty="0"/>
          </a:p>
        </p:txBody>
      </p:sp>
      <p:sp>
        <p:nvSpPr>
          <p:cNvPr id="22" name="Text 18"/>
          <p:cNvSpPr txBox="1"/>
          <p:nvPr/>
        </p:nvSpPr>
        <p:spPr>
          <a:xfrm>
            <a:off x="6858000" y="4187952"/>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$58,917 MTD vs $69,281 F26</a:t>
            </a:r>
            <a:endParaRPr lang="en-US" sz="1100" dirty="0"/>
          </a:p>
        </p:txBody>
      </p:sp>
      <p:sp>
        <p:nvSpPr>
          <p:cNvPr id="23" name="Text 19"/>
          <p:cNvSpPr txBox="1"/>
          <p:nvPr/>
        </p:nvSpPr>
        <p:spPr>
          <a:xfrm>
            <a:off x="9418320" y="3621024"/>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−$10,364</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−15.0%</a:t>
            </a:r>
            <a:endParaRPr lang="en-US" sz="2400" dirty="0"/>
          </a:p>
        </p:txBody>
      </p:sp>
      <p:sp>
        <p:nvSpPr>
          <p:cNvPr id="24" name="Shape 20"/>
          <p:cNvSpPr/>
          <p:nvPr/>
        </p:nvSpPr>
        <p:spPr>
          <a:xfrm>
            <a:off x="6675120" y="4754880"/>
            <a:ext cx="4965192" cy="1234440"/>
          </a:xfrm>
          <a:prstGeom prst="roundRect">
            <a:avLst>
              <a:gd name="adj" fmla="val 5926"/>
            </a:avLst>
          </a:prstGeom>
          <a:solidFill>
            <a:srgbClr val="F3F4F6"/>
          </a:solidFill>
          <a:ln w="12700">
            <a:solidFill>
              <a:srgbClr val="F3F4F6"/>
            </a:solidFill>
            <a:prstDash val="solid"/>
          </a:ln>
        </p:spPr>
      </p:sp>
      <p:sp>
        <p:nvSpPr>
          <p:cNvPr id="25" name="Text 21"/>
          <p:cNvSpPr txBox="1"/>
          <p:nvPr/>
        </p:nvSpPr>
        <p:spPr>
          <a:xfrm>
            <a:off x="6858000" y="488289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 handled</a:t>
            </a:r>
            <a:endParaRPr lang="en-US" sz="1300" dirty="0"/>
          </a:p>
        </p:txBody>
      </p:sp>
      <p:sp>
        <p:nvSpPr>
          <p:cNvPr id="26" name="Text 22"/>
          <p:cNvSpPr txBox="1"/>
          <p:nvPr/>
        </p:nvSpPr>
        <p:spPr>
          <a:xfrm>
            <a:off x="6858000" y="5568696"/>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60,933 MTD vs 75,801 F26</a:t>
            </a:r>
            <a:endParaRPr lang="en-US" sz="1100" dirty="0"/>
          </a:p>
        </p:txBody>
      </p:sp>
      <p:sp>
        <p:nvSpPr>
          <p:cNvPr id="27" name="Text 23"/>
          <p:cNvSpPr txBox="1"/>
          <p:nvPr/>
        </p:nvSpPr>
        <p:spPr>
          <a:xfrm>
            <a:off x="9418320" y="4754880"/>
            <a:ext cx="2039112" cy="1234440"/>
          </a:xfrm>
          <a:prstGeom prst="rect">
            <a:avLst/>
          </a:prstGeom>
          <a:noFill/>
          <a:ln/>
        </p:spPr>
        <p:txBody>
          <a:bodyPr wrap="square" lIns="0" tIns="0" rIns="0" bIns="0" rtlCol="0" anchor="ctr"/>
          <a:lstStyle/>
          <a:p>
            <a:pPr algn="r" indent="0" marL="0">
              <a:buNone/>
            </a:pPr>
            <a:r>
              <a:rPr lang="en-US" sz="2400" b="1" dirty="0">
                <a:solidFill>
                  <a:srgbClr val="1F2937"/>
                </a:solidFill>
                <a:latin typeface="Calibri" pitchFamily="34" charset="0"/>
                <a:ea typeface="Calibri" pitchFamily="34" charset="-122"/>
                <a:cs typeface="Calibri" pitchFamily="34" charset="-120"/>
              </a:rPr>
              <a:t>−14,868</a:t>
            </a:r>
            <a:endParaRPr lang="en-US" sz="2400" dirty="0"/>
          </a:p>
          <a:p>
            <a:pPr algn="r" indent="0" marL="0">
              <a:buNone/>
            </a:pPr>
            <a:r>
              <a:rPr lang="en-US" sz="1300" b="1" dirty="0">
                <a:solidFill>
                  <a:srgbClr val="1F2937"/>
                </a:solidFill>
                <a:latin typeface="Calibri" pitchFamily="34" charset="0"/>
                <a:ea typeface="Calibri" pitchFamily="34" charset="-122"/>
                <a:cs typeface="Calibri" pitchFamily="34" charset="-120"/>
              </a:rPr>
              <a:t>−19.6%</a:t>
            </a:r>
            <a:endParaRPr lang="en-US" sz="2400" dirty="0"/>
          </a:p>
        </p:txBody>
      </p:sp>
      <p:sp>
        <p:nvSpPr>
          <p:cNvPr id="28" name="Text 24"/>
          <p:cNvSpPr txBox="1"/>
          <p:nvPr/>
        </p:nvSpPr>
        <p:spPr>
          <a:xfrm>
            <a:off x="548640" y="6089904"/>
            <a:ext cx="1109167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F26 = full September; F27 = MTD to Sep 26 (18 of 21 working days). Source: SCA Cost-per-PRO report &amp; productivity dashboard — Mississauga, Sep 26, 2026.</a:t>
            </a:r>
            <a:endParaRPr lang="en-US" sz="950" dirty="0"/>
          </a:p>
        </p:txBody>
      </p:sp>
      <p:sp>
        <p:nvSpPr>
          <p:cNvPr id="29"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Labour distribution — company employees</a:t>
            </a:r>
            <a:endParaRPr lang="en-US" sz="3000" dirty="0"/>
          </a:p>
        </p:txBody>
      </p:sp>
      <p:sp>
        <p:nvSpPr>
          <p:cNvPr id="4" name="Text 2"/>
          <p:cNvSpPr txBox="1"/>
          <p:nvPr/>
        </p:nvSpPr>
        <p:spPr>
          <a:xfrm>
            <a:off x="548640" y="1243584"/>
            <a:ext cx="73152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Q1 F26 vs Q1 F27 (Jul–Sep; F27 to date)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132320" cy="914400"/>
        </p:xfrm>
        <a:graphic>
          <a:graphicData uri="http://schemas.openxmlformats.org/drawingml/2006/table">
            <a:tbl>
              <a:tblPr/>
              <a:tblGrid>
                <a:gridCol w="2743200"/>
                <a:gridCol w="1463040"/>
                <a:gridCol w="1600200"/>
                <a:gridCol w="132588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Metric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F27 (to date)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Hours worked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5.7K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6.1K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Total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$143.5K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$155.3K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+$11.8K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Regular cost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$140.9K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$152.3K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56.7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62.3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Head count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 of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Dock Operations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5,205.40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5,207.42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+2.02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$131,452.77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$133,939.99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+$2,487.22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OT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$2,203.88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$2,386.86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+$182.98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lead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112.85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Terminal Admin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446.35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908.55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+462.20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Terminal Admin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$9,490.76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$18,400.58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+$8,909.82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Shape 3"/>
          <p:cNvSpPr/>
          <p:nvPr/>
        </p:nvSpPr>
        <p:spPr>
          <a:xfrm>
            <a:off x="8275320" y="1645920"/>
            <a:ext cx="3364992" cy="960120"/>
          </a:xfrm>
          <a:prstGeom prst="roundRect">
            <a:avLst>
              <a:gd name="adj" fmla="val 7619"/>
            </a:avLst>
          </a:prstGeom>
          <a:solidFill>
            <a:srgbClr val="F3F4F6"/>
          </a:solidFill>
          <a:ln w="12700">
            <a:solidFill>
              <a:srgbClr val="F3F4F6"/>
            </a:solidFill>
            <a:prstDash val="solid"/>
          </a:ln>
        </p:spPr>
      </p:sp>
      <p:sp>
        <p:nvSpPr>
          <p:cNvPr id="7" name="Text 4"/>
          <p:cNvSpPr txBox="1"/>
          <p:nvPr/>
        </p:nvSpPr>
        <p:spPr>
          <a:xfrm>
            <a:off x="8458200" y="173736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Company dock hours</a:t>
            </a:r>
            <a:endParaRPr lang="en-US" sz="1100" dirty="0"/>
          </a:p>
        </p:txBody>
      </p:sp>
      <p:sp>
        <p:nvSpPr>
          <p:cNvPr id="8" name="Text 5"/>
          <p:cNvSpPr txBox="1"/>
          <p:nvPr/>
        </p:nvSpPr>
        <p:spPr>
          <a:xfrm>
            <a:off x="8458200" y="197510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5,205 → 5,207</a:t>
            </a:r>
            <a:endParaRPr lang="en-US" sz="2000" dirty="0"/>
          </a:p>
        </p:txBody>
      </p:sp>
      <p:sp>
        <p:nvSpPr>
          <p:cNvPr id="9" name="Text 6"/>
          <p:cNvSpPr txBox="1"/>
          <p:nvPr/>
        </p:nvSpPr>
        <p:spPr>
          <a:xfrm>
            <a:off x="8458200" y="2340864"/>
            <a:ext cx="3017520" cy="219456"/>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Flat year over year (+0.04%)</a:t>
            </a:r>
            <a:endParaRPr lang="en-US" sz="1050" dirty="0"/>
          </a:p>
        </p:txBody>
      </p:sp>
      <p:sp>
        <p:nvSpPr>
          <p:cNvPr id="10" name="Shape 7"/>
          <p:cNvSpPr/>
          <p:nvPr/>
        </p:nvSpPr>
        <p:spPr>
          <a:xfrm>
            <a:off x="8275320" y="2697480"/>
            <a:ext cx="3364992" cy="960120"/>
          </a:xfrm>
          <a:prstGeom prst="roundRect">
            <a:avLst>
              <a:gd name="adj" fmla="val 7619"/>
            </a:avLst>
          </a:prstGeom>
          <a:solidFill>
            <a:srgbClr val="F3F4F6"/>
          </a:solidFill>
          <a:ln w="12700">
            <a:solidFill>
              <a:srgbClr val="F3F4F6"/>
            </a:solidFill>
            <a:prstDash val="solid"/>
          </a:ln>
        </p:spPr>
      </p:sp>
      <p:sp>
        <p:nvSpPr>
          <p:cNvPr id="11" name="Text 8"/>
          <p:cNvSpPr txBox="1"/>
          <p:nvPr/>
        </p:nvSpPr>
        <p:spPr>
          <a:xfrm>
            <a:off x="8458200" y="278892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Terminal admin hours</a:t>
            </a:r>
            <a:endParaRPr lang="en-US" sz="1100" dirty="0"/>
          </a:p>
        </p:txBody>
      </p:sp>
      <p:sp>
        <p:nvSpPr>
          <p:cNvPr id="12" name="Text 9"/>
          <p:cNvSpPr txBox="1"/>
          <p:nvPr/>
        </p:nvSpPr>
        <p:spPr>
          <a:xfrm>
            <a:off x="8458200" y="302666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446 → 909</a:t>
            </a:r>
            <a:endParaRPr lang="en-US" sz="2000" dirty="0"/>
          </a:p>
        </p:txBody>
      </p:sp>
      <p:sp>
        <p:nvSpPr>
          <p:cNvPr id="13" name="Text 10"/>
          <p:cNvSpPr txBox="1"/>
          <p:nvPr/>
        </p:nvSpPr>
        <p:spPr>
          <a:xfrm>
            <a:off x="8458200" y="3392424"/>
            <a:ext cx="3017520" cy="219456"/>
          </a:xfrm>
          <a:prstGeom prst="rect">
            <a:avLst/>
          </a:prstGeom>
          <a:noFill/>
          <a:ln/>
        </p:spPr>
        <p:txBody>
          <a:bodyPr wrap="square" lIns="0" tIns="0" rIns="0" bIns="0"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+104% hours — staffing change</a:t>
            </a:r>
            <a:endParaRPr lang="en-US" sz="1050" dirty="0"/>
          </a:p>
        </p:txBody>
      </p:sp>
      <p:graphicFrame>
        <p:nvGraphicFramePr>
          <p:cNvPr id="14" name="Chart 0" descr=""/>
          <p:cNvGraphicFramePr/>
          <p:nvPr/>
        </p:nvGraphicFramePr>
        <p:xfrm>
          <a:off x="8275320" y="3749040"/>
          <a:ext cx="3364992" cy="146304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5303520"/>
            <a:ext cx="3364992" cy="713232"/>
          </a:xfrm>
          <a:prstGeom prst="roundRect">
            <a:avLst>
              <a:gd name="adj" fmla="val 10256"/>
            </a:avLst>
          </a:prstGeom>
          <a:solidFill>
            <a:srgbClr val="F5F3FF"/>
          </a:solidFill>
          <a:ln w="12700">
            <a:solidFill>
              <a:srgbClr val="F5F3FF"/>
            </a:solidFill>
            <a:prstDash val="solid"/>
          </a:ln>
        </p:spPr>
      </p:sp>
      <p:sp>
        <p:nvSpPr>
          <p:cNvPr id="16" name="Text 12"/>
          <p:cNvSpPr txBox="1"/>
          <p:nvPr/>
        </p:nvSpPr>
        <p:spPr>
          <a:xfrm>
            <a:off x="8412480" y="5330952"/>
            <a:ext cx="3108960" cy="658368"/>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Admin cost doubled vs F26 but is still below F24 (≈$21.5K) and F25 (≈$22.7K) — F26 was the unusually low year.</a:t>
            </a:r>
            <a:endParaRPr lang="en-US" sz="1050" dirty="0"/>
          </a:p>
        </p:txBody>
      </p:sp>
      <p:sp>
        <p:nvSpPr>
          <p:cNvPr id="17" name="Text 1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Terminal Labor Distribution Report — Mississauga; changes calculated. Q1 admin cost F24–F26 calculated from the weekly Terminal Admin cost report (fiscal weeks 1–13).</a:t>
            </a:r>
            <a:endParaRPr lang="en-US" sz="950" dirty="0"/>
          </a:p>
        </p:txBody>
      </p:sp>
      <p:sp>
        <p:nvSpPr>
          <p:cNvPr id="18" name="Text 1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with target dock-hour bands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 audit on freight bills (appointment, tailgate, storage, inside delivery) before invoicing.</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400" dirty="0"/>
          </a:p>
        </p:txBody>
      </p:sp>
      <p:sp>
        <p:nvSpPr>
          <p:cNvPr id="16" name="Shape 10"/>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17" name="Shape 11"/>
          <p:cNvSpPr/>
          <p:nvPr/>
        </p:nvSpPr>
        <p:spPr>
          <a:xfrm>
            <a:off x="8001000" y="1645920"/>
            <a:ext cx="502920" cy="502920"/>
          </a:xfrm>
          <a:prstGeom prst="ellipse">
            <a:avLst/>
          </a:prstGeom>
          <a:solidFill>
            <a:srgbClr val="7C3AED"/>
          </a:solidFill>
          <a:ln w="12700">
            <a:solidFill>
              <a:srgbClr val="7C3AED"/>
            </a:solidFill>
            <a:prstDash val="solid"/>
          </a:ln>
        </p:spPr>
      </p:sp>
      <p:pic>
        <p:nvPicPr>
          <p:cNvPr id="18" name="Image 4" descr="preencoded.png">    </p:cNvPr>
          <p:cNvPicPr>
            <a:picLocks noChangeAspect="1"/>
          </p:cNvPicPr>
          <p:nvPr/>
        </p:nvPicPr>
        <p:blipFill>
          <a:blip r:embed="rId5"/>
          <a:stretch>
            <a:fillRect/>
          </a:stretch>
        </p:blipFill>
        <p:spPr>
          <a:xfrm>
            <a:off x="8126730" y="1771650"/>
            <a:ext cx="251460" cy="251460"/>
          </a:xfrm>
          <a:prstGeom prst="rect">
            <a:avLst/>
          </a:prstGeom>
        </p:spPr>
      </p:pic>
      <p:sp>
        <p:nvSpPr>
          <p:cNvPr id="19" name="Text 12"/>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0" name="Text 13"/>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2" name="Text 14"/>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3" name="Text 15"/>
          <p:cNvSpPr txBox="1"/>
          <p:nvPr/>
        </p:nvSpPr>
        <p:spPr>
          <a:xfrm>
            <a:off x="8001000" y="4800600"/>
            <a:ext cx="3429000" cy="9144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Per-shift headcount (days / afternoons / midnights, dock + admin, agency vs D&amp;R): </a:t>
            </a:r>
            <a:pP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p>
        </p:txBody>
      </p:sp>
      <p:sp>
        <p:nvSpPr>
          <p:cNvPr id="24" name="Text 1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5" name="Text 1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Accessorial capture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unit volume report · Mississauga · current month (reactive)</a:t>
            </a:r>
            <a:endParaRPr lang="en-US" sz="1300" dirty="0"/>
          </a:p>
        </p:txBody>
      </p:sp>
      <p:graphicFrame>
        <p:nvGraphicFramePr>
          <p:cNvPr id="5" name="Chart 0" descr=""/>
          <p:cNvGraphicFramePr/>
          <p:nvPr/>
        </p:nvGraphicFramePr>
        <p:xfrm>
          <a:off x="548640" y="1645920"/>
          <a:ext cx="557784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355080" y="1645920"/>
          <a:ext cx="5285232" cy="306324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548640" y="4892040"/>
            <a:ext cx="2468880" cy="1097280"/>
          </a:xfrm>
          <a:prstGeom prst="roundRect">
            <a:avLst>
              <a:gd name="adj" fmla="val 6667"/>
            </a:avLst>
          </a:prstGeom>
          <a:solidFill>
            <a:srgbClr val="F3F4F6"/>
          </a:solidFill>
          <a:ln w="12700">
            <a:solidFill>
              <a:srgbClr val="F3F4F6"/>
            </a:solidFill>
            <a:prstDash val="solid"/>
          </a:ln>
        </p:spPr>
      </p:sp>
      <p:sp>
        <p:nvSpPr>
          <p:cNvPr id="8" name="Text 4"/>
          <p:cNvSpPr txBox="1"/>
          <p:nvPr/>
        </p:nvSpPr>
        <p:spPr>
          <a:xfrm>
            <a:off x="731520" y="4983480"/>
            <a:ext cx="210312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units this month</a:t>
            </a:r>
            <a:endParaRPr lang="en-US" sz="1100" dirty="0"/>
          </a:p>
        </p:txBody>
      </p:sp>
      <p:sp>
        <p:nvSpPr>
          <p:cNvPr id="9" name="Text 5"/>
          <p:cNvSpPr txBox="1"/>
          <p:nvPr/>
        </p:nvSpPr>
        <p:spPr>
          <a:xfrm>
            <a:off x="731520" y="5239512"/>
            <a:ext cx="2103120" cy="45720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≈32,921</a:t>
            </a:r>
            <a:endParaRPr lang="en-US" sz="2600" dirty="0"/>
          </a:p>
        </p:txBody>
      </p:sp>
      <p:sp>
        <p:nvSpPr>
          <p:cNvPr id="10" name="Text 6"/>
          <p:cNvSpPr txBox="1"/>
          <p:nvPr/>
        </p:nvSpPr>
        <p:spPr>
          <a:xfrm>
            <a:off x="731520" y="5687568"/>
            <a:ext cx="210312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sum of 14 types</a:t>
            </a:r>
            <a:endParaRPr lang="en-US" sz="900" dirty="0"/>
          </a:p>
        </p:txBody>
      </p:sp>
      <p:sp>
        <p:nvSpPr>
          <p:cNvPr id="11" name="Shape 7"/>
          <p:cNvSpPr/>
          <p:nvPr/>
        </p:nvSpPr>
        <p:spPr>
          <a:xfrm>
            <a:off x="3200400" y="4892040"/>
            <a:ext cx="3931920" cy="1097280"/>
          </a:xfrm>
          <a:prstGeom prst="roundRect">
            <a:avLst>
              <a:gd name="adj" fmla="val 6667"/>
            </a:avLst>
          </a:prstGeom>
          <a:solidFill>
            <a:srgbClr val="F3F4F6"/>
          </a:solidFill>
          <a:ln w="12700">
            <a:solidFill>
              <a:srgbClr val="F3F4F6"/>
            </a:solidFill>
            <a:prstDash val="solid"/>
          </a:ln>
        </p:spPr>
      </p:sp>
      <p:sp>
        <p:nvSpPr>
          <p:cNvPr id="12" name="Text 8"/>
          <p:cNvSpPr txBox="1"/>
          <p:nvPr/>
        </p:nvSpPr>
        <p:spPr>
          <a:xfrm>
            <a:off x="3383280" y="4956048"/>
            <a:ext cx="3611880" cy="96926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Other types: </a:t>
            </a:r>
            <a:pPr indent="0" marL="0">
              <a:buNone/>
            </a:pPr>
            <a:r>
              <a:rPr lang="en-US" sz="950" dirty="0">
                <a:solidFill>
                  <a:srgbClr val="6B7280"/>
                </a:solidFill>
                <a:latin typeface="Calibri" pitchFamily="34" charset="0"/>
                <a:ea typeface="Calibri" pitchFamily="34" charset="-122"/>
                <a:cs typeface="Calibri" pitchFamily="34" charset="-120"/>
              </a:rPr>
              <a:t>Inside delivery 315 · Storage 279 · Limited access delivery 90 · Tradeshow delivery 82 · Inside pick-up 64 · Detention w/ power at delivery 17 · Limited access pick-up 14 · Tradeshow pick-up 3</a:t>
            </a:r>
            <a:endParaRPr lang="en-US" sz="950" dirty="0"/>
          </a:p>
        </p:txBody>
      </p:sp>
      <p:sp>
        <p:nvSpPr>
          <p:cNvPr id="13" name="Shape 9"/>
          <p:cNvSpPr/>
          <p:nvPr/>
        </p:nvSpPr>
        <p:spPr>
          <a:xfrm>
            <a:off x="7315200" y="4892040"/>
            <a:ext cx="4325112" cy="1097280"/>
          </a:xfrm>
          <a:prstGeom prst="roundRect">
            <a:avLst>
              <a:gd name="adj" fmla="val 6667"/>
            </a:avLst>
          </a:prstGeom>
          <a:solidFill>
            <a:srgbClr val="F5F3FF"/>
          </a:solidFill>
          <a:ln w="12700">
            <a:solidFill>
              <a:srgbClr val="F5F3FF"/>
            </a:solidFill>
            <a:prstDash val="solid"/>
          </a:ln>
        </p:spPr>
      </p:sp>
      <p:sp>
        <p:nvSpPr>
          <p:cNvPr id="14" name="Shape 10"/>
          <p:cNvSpPr/>
          <p:nvPr/>
        </p:nvSpPr>
        <p:spPr>
          <a:xfrm>
            <a:off x="7498080" y="5184648"/>
            <a:ext cx="502920" cy="502920"/>
          </a:xfrm>
          <a:prstGeom prst="ellipse">
            <a:avLst/>
          </a:prstGeom>
          <a:solidFill>
            <a:srgbClr val="7C3AED"/>
          </a:solidFill>
          <a:ln w="12700">
            <a:solidFill>
              <a:srgbClr val="7C3AED"/>
            </a:solidFill>
            <a:prstDash val="solid"/>
          </a:ln>
        </p:spPr>
      </p:sp>
      <p:pic>
        <p:nvPicPr>
          <p:cNvPr id="15" name="Image 0" descr="preencoded.png">    </p:cNvPr>
          <p:cNvPicPr>
            <a:picLocks noChangeAspect="1"/>
          </p:cNvPicPr>
          <p:nvPr/>
        </p:nvPicPr>
        <p:blipFill>
          <a:blip r:embed="rId3"/>
          <a:stretch>
            <a:fillRect/>
          </a:stretch>
        </p:blipFill>
        <p:spPr>
          <a:xfrm>
            <a:off x="7623810" y="5310378"/>
            <a:ext cx="251460" cy="251460"/>
          </a:xfrm>
          <a:prstGeom prst="rect">
            <a:avLst/>
          </a:prstGeom>
        </p:spPr>
      </p:pic>
      <p:sp>
        <p:nvSpPr>
          <p:cNvPr id="16" name="Text 11"/>
          <p:cNvSpPr txBox="1"/>
          <p:nvPr/>
        </p:nvSpPr>
        <p:spPr>
          <a:xfrm>
            <a:off x="8138160" y="4892040"/>
            <a:ext cx="3383280" cy="10972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accessorial coded = revenue captured; private-residence, tailgate and appointment deliveries are ~91% of volume.</a:t>
            </a:r>
            <a:endParaRPr lang="en-US" sz="1200" dirty="0"/>
          </a:p>
        </p:txBody>
      </p:sp>
      <p:sp>
        <p:nvSpPr>
          <p:cNvPr id="17" name="Text 1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Accessorial unit volume report — Mississauga. Weekly values in thousands of units; week of Sep 28 is partial.</a:t>
            </a:r>
            <a:endParaRPr lang="en-US" sz="950" dirty="0"/>
          </a:p>
        </p:txBody>
      </p:sp>
      <p:sp>
        <p:nvSpPr>
          <p:cNvPr id="18" name="Text 1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Revenue protection — Fork truck reweighs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Mississauga as origin terminal · reweighs as % of target (target 100%)</a:t>
            </a:r>
            <a:endParaRPr lang="en-US" sz="1300" dirty="0"/>
          </a:p>
        </p:txBody>
      </p:sp>
      <p:sp>
        <p:nvSpPr>
          <p:cNvPr id="5" name="Shape 3"/>
          <p:cNvSpPr/>
          <p:nvPr/>
        </p:nvSpPr>
        <p:spPr>
          <a:xfrm>
            <a:off x="548640" y="1645920"/>
            <a:ext cx="2635758" cy="1188720"/>
          </a:xfrm>
          <a:prstGeom prst="roundRect">
            <a:avLst>
              <a:gd name="adj" fmla="val 6154"/>
            </a:avLst>
          </a:prstGeom>
          <a:solidFill>
            <a:srgbClr val="F3F4F6"/>
          </a:solidFill>
          <a:ln w="12700">
            <a:solidFill>
              <a:srgbClr val="F3F4F6"/>
            </a:solidFill>
            <a:prstDash val="solid"/>
          </a:ln>
        </p:spPr>
      </p:sp>
      <p:sp>
        <p:nvSpPr>
          <p:cNvPr id="6" name="Text 4"/>
          <p:cNvSpPr txBox="1"/>
          <p:nvPr/>
        </p:nvSpPr>
        <p:spPr>
          <a:xfrm>
            <a:off x="731520"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7" name="Text 5"/>
          <p:cNvSpPr txBox="1"/>
          <p:nvPr/>
        </p:nvSpPr>
        <p:spPr>
          <a:xfrm>
            <a:off x="731520"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123.28%</a:t>
            </a:r>
            <a:endParaRPr lang="en-US" sz="2600" dirty="0"/>
          </a:p>
        </p:txBody>
      </p:sp>
      <p:sp>
        <p:nvSpPr>
          <p:cNvPr id="8" name="Text 6"/>
          <p:cNvSpPr txBox="1"/>
          <p:nvPr/>
        </p:nvSpPr>
        <p:spPr>
          <a:xfrm>
            <a:off x="731520"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9" name="Shape 7"/>
          <p:cNvSpPr/>
          <p:nvPr/>
        </p:nvSpPr>
        <p:spPr>
          <a:xfrm>
            <a:off x="3367278" y="1645920"/>
            <a:ext cx="2635758" cy="1188720"/>
          </a:xfrm>
          <a:prstGeom prst="roundRect">
            <a:avLst>
              <a:gd name="adj" fmla="val 6154"/>
            </a:avLst>
          </a:prstGeom>
          <a:solidFill>
            <a:srgbClr val="F3F4F6"/>
          </a:solidFill>
          <a:ln w="12700">
            <a:solidFill>
              <a:srgbClr val="F3F4F6"/>
            </a:solidFill>
            <a:prstDash val="solid"/>
          </a:ln>
        </p:spPr>
      </p:sp>
      <p:sp>
        <p:nvSpPr>
          <p:cNvPr id="10" name="Text 8"/>
          <p:cNvSpPr txBox="1"/>
          <p:nvPr/>
        </p:nvSpPr>
        <p:spPr>
          <a:xfrm>
            <a:off x="3550158"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F27</a:t>
            </a:r>
            <a:endParaRPr lang="en-US" sz="1100" dirty="0"/>
          </a:p>
        </p:txBody>
      </p:sp>
      <p:sp>
        <p:nvSpPr>
          <p:cNvPr id="11" name="Text 9"/>
          <p:cNvSpPr txBox="1"/>
          <p:nvPr/>
        </p:nvSpPr>
        <p:spPr>
          <a:xfrm>
            <a:off x="3550158"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131.8%</a:t>
            </a:r>
            <a:endParaRPr lang="en-US" sz="2600" dirty="0"/>
          </a:p>
        </p:txBody>
      </p:sp>
      <p:sp>
        <p:nvSpPr>
          <p:cNvPr id="12" name="Text 10"/>
          <p:cNvSpPr txBox="1"/>
          <p:nvPr/>
        </p:nvSpPr>
        <p:spPr>
          <a:xfrm>
            <a:off x="3550158"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13" name="Shape 11"/>
          <p:cNvSpPr/>
          <p:nvPr/>
        </p:nvSpPr>
        <p:spPr>
          <a:xfrm>
            <a:off x="6185916" y="1645920"/>
            <a:ext cx="2635758" cy="1188720"/>
          </a:xfrm>
          <a:prstGeom prst="roundRect">
            <a:avLst>
              <a:gd name="adj" fmla="val 6154"/>
            </a:avLst>
          </a:prstGeom>
          <a:solidFill>
            <a:srgbClr val="F3F4F6"/>
          </a:solidFill>
          <a:ln w="12700">
            <a:solidFill>
              <a:srgbClr val="F3F4F6"/>
            </a:solidFill>
            <a:prstDash val="solid"/>
          </a:ln>
        </p:spPr>
      </p:sp>
      <p:sp>
        <p:nvSpPr>
          <p:cNvPr id="14" name="Text 12"/>
          <p:cNvSpPr txBox="1"/>
          <p:nvPr/>
        </p:nvSpPr>
        <p:spPr>
          <a:xfrm>
            <a:off x="6368796"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months</a:t>
            </a:r>
            <a:endParaRPr lang="en-US" sz="1100" dirty="0"/>
          </a:p>
        </p:txBody>
      </p:sp>
      <p:sp>
        <p:nvSpPr>
          <p:cNvPr id="15" name="Text 13"/>
          <p:cNvSpPr txBox="1"/>
          <p:nvPr/>
        </p:nvSpPr>
        <p:spPr>
          <a:xfrm>
            <a:off x="6368796"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t>
            </a:r>
            <a:endParaRPr lang="en-US" sz="1050" dirty="0"/>
          </a:p>
        </p:txBody>
      </p:sp>
      <p:sp>
        <p:nvSpPr>
          <p:cNvPr id="16" name="Text 14"/>
          <p:cNvSpPr txBox="1"/>
          <p:nvPr/>
        </p:nvSpPr>
        <p:spPr>
          <a:xfrm>
            <a:off x="6368796"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143.9%</a:t>
            </a:r>
            <a:endParaRPr lang="en-US" sz="1300" dirty="0"/>
          </a:p>
        </p:txBody>
      </p:sp>
      <p:sp>
        <p:nvSpPr>
          <p:cNvPr id="17" name="Text 15"/>
          <p:cNvSpPr txBox="1"/>
          <p:nvPr/>
        </p:nvSpPr>
        <p:spPr>
          <a:xfrm>
            <a:off x="7125462"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Aug</a:t>
            </a:r>
            <a:endParaRPr lang="en-US" sz="1050" dirty="0"/>
          </a:p>
        </p:txBody>
      </p:sp>
      <p:sp>
        <p:nvSpPr>
          <p:cNvPr id="18" name="Text 16"/>
          <p:cNvSpPr txBox="1"/>
          <p:nvPr/>
        </p:nvSpPr>
        <p:spPr>
          <a:xfrm>
            <a:off x="7125462"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126.4%</a:t>
            </a:r>
            <a:endParaRPr lang="en-US" sz="1300" dirty="0"/>
          </a:p>
        </p:txBody>
      </p:sp>
      <p:sp>
        <p:nvSpPr>
          <p:cNvPr id="19" name="Text 17"/>
          <p:cNvSpPr txBox="1"/>
          <p:nvPr/>
        </p:nvSpPr>
        <p:spPr>
          <a:xfrm>
            <a:off x="7882128"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a:t>
            </a:r>
            <a:endParaRPr lang="en-US" sz="1050" dirty="0"/>
          </a:p>
        </p:txBody>
      </p:sp>
      <p:sp>
        <p:nvSpPr>
          <p:cNvPr id="20" name="Text 18"/>
          <p:cNvSpPr txBox="1"/>
          <p:nvPr/>
        </p:nvSpPr>
        <p:spPr>
          <a:xfrm>
            <a:off x="7882128"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131.8%</a:t>
            </a:r>
            <a:endParaRPr lang="en-US" sz="1300" dirty="0"/>
          </a:p>
        </p:txBody>
      </p:sp>
      <p:sp>
        <p:nvSpPr>
          <p:cNvPr id="21" name="Shape 19"/>
          <p:cNvSpPr/>
          <p:nvPr/>
        </p:nvSpPr>
        <p:spPr>
          <a:xfrm>
            <a:off x="9004554" y="1645920"/>
            <a:ext cx="2635758" cy="1188720"/>
          </a:xfrm>
          <a:prstGeom prst="roundRect">
            <a:avLst>
              <a:gd name="adj" fmla="val 6154"/>
            </a:avLst>
          </a:prstGeom>
          <a:solidFill>
            <a:srgbClr val="F3F4F6"/>
          </a:solidFill>
          <a:ln w="12700">
            <a:solidFill>
              <a:srgbClr val="F3F4F6"/>
            </a:solidFill>
            <a:prstDash val="solid"/>
          </a:ln>
        </p:spPr>
      </p:sp>
      <p:sp>
        <p:nvSpPr>
          <p:cNvPr id="22" name="Text 20"/>
          <p:cNvSpPr txBox="1"/>
          <p:nvPr/>
        </p:nvSpPr>
        <p:spPr>
          <a:xfrm>
            <a:off x="9187434" y="1783080"/>
            <a:ext cx="2269998" cy="274320"/>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Total reweighs · all dates</a:t>
            </a:r>
            <a:endParaRPr lang="en-US" sz="1050" dirty="0"/>
          </a:p>
        </p:txBody>
      </p:sp>
      <p:sp>
        <p:nvSpPr>
          <p:cNvPr id="23" name="Text 21"/>
          <p:cNvSpPr txBox="1"/>
          <p:nvPr/>
        </p:nvSpPr>
        <p:spPr>
          <a:xfrm>
            <a:off x="9187434" y="2057400"/>
            <a:ext cx="2269998" cy="320040"/>
          </a:xfrm>
          <a:prstGeom prst="rect">
            <a:avLst/>
          </a:prstGeom>
          <a:noFill/>
          <a:ln/>
        </p:spPr>
        <p:txBody>
          <a:bodyPr wrap="square" lIns="0" tIns="0" rIns="0" bIns="0" rtlCol="0" anchor="ctr"/>
          <a:lstStyle/>
          <a:p>
            <a:pPr indent="0" marL="0">
              <a:buNone/>
            </a:pPr>
            <a:r>
              <a:rPr lang="en-US" sz="2600" b="1" dirty="0">
                <a:solidFill>
                  <a:srgbClr val="B45309"/>
                </a:solidFill>
                <a:latin typeface="Calibri" pitchFamily="34" charset="0"/>
                <a:ea typeface="Calibri" pitchFamily="34" charset="-122"/>
                <a:cs typeface="Calibri" pitchFamily="34" charset="-120"/>
              </a:rPr>
              <a:t>85.16%</a:t>
            </a:r>
            <a:endParaRPr lang="en-US" sz="2600" dirty="0"/>
          </a:p>
        </p:txBody>
      </p:sp>
      <p:sp>
        <p:nvSpPr>
          <p:cNvPr id="24" name="Text 22"/>
          <p:cNvSpPr txBox="1"/>
          <p:nvPr/>
        </p:nvSpPr>
        <p:spPr>
          <a:xfrm>
            <a:off x="9187434"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44,283 vs 52K · incl. Mar ramp-up</a:t>
            </a:r>
            <a:endParaRPr lang="en-US" sz="1050" dirty="0"/>
          </a:p>
        </p:txBody>
      </p:sp>
      <p:graphicFrame>
        <p:nvGraphicFramePr>
          <p:cNvPr id="25" name="Chart 0" descr=""/>
          <p:cNvGraphicFramePr/>
          <p:nvPr/>
        </p:nvGraphicFramePr>
        <p:xfrm>
          <a:off x="548640" y="3017520"/>
          <a:ext cx="676656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48640" y="5760720"/>
            <a:ext cx="6766560" cy="256032"/>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Dark bars = F27 (Jul–Sep) · light bars = F26 (Mar–Jun) · March = ramp-up month (75.4%)</a:t>
            </a:r>
            <a:endParaRPr lang="en-US" sz="950" dirty="0"/>
          </a:p>
        </p:txBody>
      </p:sp>
      <p:sp>
        <p:nvSpPr>
          <p:cNvPr id="27" name="Shape 24"/>
          <p:cNvSpPr/>
          <p:nvPr/>
        </p:nvSpPr>
        <p:spPr>
          <a:xfrm>
            <a:off x="7589520" y="3017520"/>
            <a:ext cx="4050792" cy="1325880"/>
          </a:xfrm>
          <a:prstGeom prst="roundRect">
            <a:avLst>
              <a:gd name="adj" fmla="val 5517"/>
            </a:avLst>
          </a:prstGeom>
          <a:solidFill>
            <a:srgbClr val="F3F4F6"/>
          </a:solidFill>
          <a:ln w="12700">
            <a:solidFill>
              <a:srgbClr val="F3F4F6"/>
            </a:solidFill>
            <a:prstDash val="solid"/>
          </a:ln>
        </p:spPr>
      </p:sp>
      <p:sp>
        <p:nvSpPr>
          <p:cNvPr id="28" name="Text 25"/>
          <p:cNvSpPr txBox="1"/>
          <p:nvPr/>
        </p:nvSpPr>
        <p:spPr>
          <a:xfrm>
            <a:off x="7772400" y="3108960"/>
            <a:ext cx="3657600" cy="25603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Recent weeks</a:t>
            </a:r>
            <a:endParaRPr lang="en-US" sz="1200" dirty="0"/>
          </a:p>
        </p:txBody>
      </p:sp>
      <p:sp>
        <p:nvSpPr>
          <p:cNvPr id="29" name="Text 26"/>
          <p:cNvSpPr txBox="1"/>
          <p:nvPr/>
        </p:nvSpPr>
        <p:spPr>
          <a:xfrm>
            <a:off x="777240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38</a:t>
            </a:r>
            <a:endParaRPr lang="en-US" sz="1050" dirty="0"/>
          </a:p>
        </p:txBody>
      </p:sp>
      <p:sp>
        <p:nvSpPr>
          <p:cNvPr id="30" name="Text 27"/>
          <p:cNvSpPr txBox="1"/>
          <p:nvPr/>
        </p:nvSpPr>
        <p:spPr>
          <a:xfrm>
            <a:off x="777240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128.2%</a:t>
            </a:r>
            <a:endParaRPr lang="en-US" sz="1800" dirty="0"/>
          </a:p>
        </p:txBody>
      </p:sp>
      <p:sp>
        <p:nvSpPr>
          <p:cNvPr id="31" name="Text 28"/>
          <p:cNvSpPr txBox="1"/>
          <p:nvPr/>
        </p:nvSpPr>
        <p:spPr>
          <a:xfrm>
            <a:off x="900684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39</a:t>
            </a:r>
            <a:endParaRPr lang="en-US" sz="1050" dirty="0"/>
          </a:p>
        </p:txBody>
      </p:sp>
      <p:sp>
        <p:nvSpPr>
          <p:cNvPr id="32" name="Text 29"/>
          <p:cNvSpPr txBox="1"/>
          <p:nvPr/>
        </p:nvSpPr>
        <p:spPr>
          <a:xfrm>
            <a:off x="900684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130.8%</a:t>
            </a:r>
            <a:endParaRPr lang="en-US" sz="1800" dirty="0"/>
          </a:p>
        </p:txBody>
      </p:sp>
      <p:sp>
        <p:nvSpPr>
          <p:cNvPr id="33" name="Text 30"/>
          <p:cNvSpPr txBox="1"/>
          <p:nvPr/>
        </p:nvSpPr>
        <p:spPr>
          <a:xfrm>
            <a:off x="1024128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a:t>
            </a:r>
            <a:endParaRPr lang="en-US" sz="1050" dirty="0"/>
          </a:p>
        </p:txBody>
      </p:sp>
      <p:sp>
        <p:nvSpPr>
          <p:cNvPr id="34" name="Text 31"/>
          <p:cNvSpPr txBox="1"/>
          <p:nvPr/>
        </p:nvSpPr>
        <p:spPr>
          <a:xfrm>
            <a:off x="10241280" y="3630168"/>
            <a:ext cx="1188720" cy="411480"/>
          </a:xfrm>
          <a:prstGeom prst="rect">
            <a:avLst/>
          </a:prstGeom>
          <a:noFill/>
          <a:ln/>
        </p:spPr>
        <p:txBody>
          <a:bodyPr wrap="square" lIns="0" tIns="0" rIns="0" bIns="0" rtlCol="0" anchor="ctr"/>
          <a:lstStyle/>
          <a:p>
            <a:pPr indent="0" marL="0">
              <a:buNone/>
            </a:pPr>
            <a:r>
              <a:rPr lang="en-US" sz="1800" b="1" dirty="0">
                <a:solidFill>
                  <a:srgbClr val="B45309"/>
                </a:solidFill>
                <a:latin typeface="Calibri" pitchFamily="34" charset="0"/>
                <a:ea typeface="Calibri" pitchFamily="34" charset="-122"/>
                <a:cs typeface="Calibri" pitchFamily="34" charset="-120"/>
              </a:rPr>
              <a:t>93.2%</a:t>
            </a:r>
            <a:endParaRPr lang="en-US" sz="1800" dirty="0"/>
          </a:p>
        </p:txBody>
      </p:sp>
      <p:sp>
        <p:nvSpPr>
          <p:cNvPr id="35" name="Text 32"/>
          <p:cNvSpPr txBox="1"/>
          <p:nvPr/>
        </p:nvSpPr>
        <p:spPr>
          <a:xfrm>
            <a:off x="7772400" y="4041648"/>
            <a:ext cx="36576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*Week 40 partial</a:t>
            </a:r>
            <a:endParaRPr lang="en-US" sz="900" dirty="0"/>
          </a:p>
        </p:txBody>
      </p:sp>
      <p:sp>
        <p:nvSpPr>
          <p:cNvPr id="36" name="Shape 33"/>
          <p:cNvSpPr/>
          <p:nvPr/>
        </p:nvSpPr>
        <p:spPr>
          <a:xfrm>
            <a:off x="7589520" y="4480560"/>
            <a:ext cx="4050792" cy="1536192"/>
          </a:xfrm>
          <a:prstGeom prst="roundRect">
            <a:avLst>
              <a:gd name="adj" fmla="val 4762"/>
            </a:avLst>
          </a:prstGeom>
          <a:solidFill>
            <a:srgbClr val="F5F3FF"/>
          </a:solidFill>
          <a:ln w="12700">
            <a:solidFill>
              <a:srgbClr val="F5F3FF"/>
            </a:solidFill>
            <a:prstDash val="solid"/>
          </a:ln>
        </p:spPr>
      </p:sp>
      <p:sp>
        <p:nvSpPr>
          <p:cNvPr id="37" name="Shape 34"/>
          <p:cNvSpPr/>
          <p:nvPr/>
        </p:nvSpPr>
        <p:spPr>
          <a:xfrm>
            <a:off x="7772400" y="4663440"/>
            <a:ext cx="457200" cy="457200"/>
          </a:xfrm>
          <a:prstGeom prst="ellipse">
            <a:avLst/>
          </a:prstGeom>
          <a:solidFill>
            <a:srgbClr val="7C3AED"/>
          </a:solidFill>
          <a:ln w="12700">
            <a:solidFill>
              <a:srgbClr val="7C3AED"/>
            </a:solidFill>
            <a:prstDash val="solid"/>
          </a:ln>
        </p:spPr>
      </p:sp>
      <p:pic>
        <p:nvPicPr>
          <p:cNvPr id="38" name="Image 0" descr="preencoded.png">    </p:cNvPr>
          <p:cNvPicPr>
            <a:picLocks noChangeAspect="1"/>
          </p:cNvPicPr>
          <p:nvPr/>
        </p:nvPicPr>
        <p:blipFill>
          <a:blip r:embed="rId2"/>
          <a:stretch>
            <a:fillRect/>
          </a:stretch>
        </p:blipFill>
        <p:spPr>
          <a:xfrm>
            <a:off x="7886700" y="4777740"/>
            <a:ext cx="228600" cy="228600"/>
          </a:xfrm>
          <a:prstGeom prst="rect">
            <a:avLst/>
          </a:prstGeom>
        </p:spPr>
      </p:pic>
      <p:sp>
        <p:nvSpPr>
          <p:cNvPr id="39" name="Text 35"/>
          <p:cNvSpPr txBox="1"/>
          <p:nvPr/>
        </p:nvSpPr>
        <p:spPr>
          <a:xfrm>
            <a:off x="8366760" y="4526280"/>
            <a:ext cx="3154680" cy="144475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month since April is above the reweigh target — F27 running 126–144%. Reweighs correct under-declared weights, protecting revenue on every reweighed bill.</a:t>
            </a:r>
            <a:endParaRPr lang="en-US" sz="1200" dirty="0"/>
          </a:p>
        </p:txBody>
      </p:sp>
      <p:sp>
        <p:nvSpPr>
          <p:cNvPr id="40" name="Text 36"/>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Fork Truck Reweighs dashboard — Mississauga. Target 100% (80–100% amber, &lt;80% red).</a:t>
            </a:r>
            <a:endParaRPr lang="en-US" sz="950" dirty="0"/>
          </a:p>
        </p:txBody>
      </p:sp>
      <p:sp>
        <p:nvSpPr>
          <p:cNvPr id="41" name="Text 3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2" name="Text 3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 initiative tracker</a:t>
            </a:r>
            <a:endParaRPr lang="en-US" sz="3000" dirty="0"/>
          </a:p>
        </p:txBody>
      </p:sp>
      <p:sp>
        <p:nvSpPr>
          <p:cNvPr id="4" name="Shape 2"/>
          <p:cNvSpPr/>
          <p:nvPr/>
        </p:nvSpPr>
        <p:spPr>
          <a:xfrm>
            <a:off x="548640" y="1371600"/>
            <a:ext cx="2635758" cy="1005840"/>
          </a:xfrm>
          <a:prstGeom prst="roundRect">
            <a:avLst>
              <a:gd name="adj" fmla="val 7273"/>
            </a:avLst>
          </a:prstGeom>
          <a:solidFill>
            <a:srgbClr val="F5F3FF"/>
          </a:solidFill>
          <a:ln w="12700">
            <a:solidFill>
              <a:srgbClr val="F5F3FF"/>
            </a:solidFill>
            <a:prstDash val="solid"/>
          </a:ln>
        </p:spPr>
      </p:sp>
      <p:sp>
        <p:nvSpPr>
          <p:cNvPr id="5" name="Text 3"/>
          <p:cNvSpPr txBox="1"/>
          <p:nvPr/>
        </p:nvSpPr>
        <p:spPr>
          <a:xfrm>
            <a:off x="731520"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6" name="Text 4"/>
          <p:cNvSpPr txBox="1"/>
          <p:nvPr/>
        </p:nvSpPr>
        <p:spPr>
          <a:xfrm>
            <a:off x="731520"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7" name="Text 5"/>
          <p:cNvSpPr txBox="1"/>
          <p:nvPr/>
        </p:nvSpPr>
        <p:spPr>
          <a:xfrm>
            <a:off x="731520"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8" name="Shape 6"/>
          <p:cNvSpPr/>
          <p:nvPr/>
        </p:nvSpPr>
        <p:spPr>
          <a:xfrm>
            <a:off x="3367278" y="1371600"/>
            <a:ext cx="2635758" cy="1005840"/>
          </a:xfrm>
          <a:prstGeom prst="roundRect">
            <a:avLst>
              <a:gd name="adj" fmla="val 7273"/>
            </a:avLst>
          </a:prstGeom>
          <a:solidFill>
            <a:srgbClr val="F3F4F6"/>
          </a:solidFill>
          <a:ln w="12700">
            <a:solidFill>
              <a:srgbClr val="F3F4F6"/>
            </a:solidFill>
            <a:prstDash val="solid"/>
          </a:ln>
        </p:spPr>
      </p:sp>
      <p:sp>
        <p:nvSpPr>
          <p:cNvPr id="9" name="Text 7"/>
          <p:cNvSpPr txBox="1"/>
          <p:nvPr/>
        </p:nvSpPr>
        <p:spPr>
          <a:xfrm>
            <a:off x="3550158"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a:t>
            </a:r>
            <a:endParaRPr lang="en-US" sz="1100" dirty="0"/>
          </a:p>
        </p:txBody>
      </p:sp>
      <p:sp>
        <p:nvSpPr>
          <p:cNvPr id="10" name="Text 8"/>
          <p:cNvSpPr txBox="1"/>
          <p:nvPr/>
        </p:nvSpPr>
        <p:spPr>
          <a:xfrm>
            <a:off x="3550158" y="1700784"/>
            <a:ext cx="2269998" cy="384048"/>
          </a:xfrm>
          <a:prstGeom prst="rect">
            <a:avLst/>
          </a:prstGeom>
          <a:noFill/>
          <a:ln/>
        </p:spPr>
        <p:txBody>
          <a:bodyPr wrap="square" lIns="0" tIns="0" rIns="0" bIns="0" rtlCol="0" anchor="ctr"/>
          <a:lstStyle/>
          <a:p>
            <a:pPr indent="0" marL="0">
              <a:buNone/>
            </a:pPr>
            <a:r>
              <a:rPr lang="en-US" sz="2200" b="1" dirty="0">
                <a:solidFill>
                  <a:srgbClr val="059669"/>
                </a:solidFill>
                <a:latin typeface="Calibri" pitchFamily="34" charset="0"/>
                <a:ea typeface="Calibri" pitchFamily="34" charset="-122"/>
                <a:cs typeface="Calibri" pitchFamily="34" charset="-120"/>
              </a:rPr>
              <a:t>$61,000/yr</a:t>
            </a:r>
            <a:endParaRPr lang="en-US" sz="2200" dirty="0"/>
          </a:p>
        </p:txBody>
      </p:sp>
      <p:sp>
        <p:nvSpPr>
          <p:cNvPr id="11" name="Text 9"/>
          <p:cNvSpPr txBox="1"/>
          <p:nvPr/>
        </p:nvSpPr>
        <p:spPr>
          <a:xfrm>
            <a:off x="3550158"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1 confirmed initiative</a:t>
            </a:r>
            <a:endParaRPr lang="en-US" sz="1000" dirty="0"/>
          </a:p>
        </p:txBody>
      </p:sp>
      <p:sp>
        <p:nvSpPr>
          <p:cNvPr id="12" name="Shape 10"/>
          <p:cNvSpPr/>
          <p:nvPr/>
        </p:nvSpPr>
        <p:spPr>
          <a:xfrm>
            <a:off x="6185916" y="1371600"/>
            <a:ext cx="2635758" cy="1005840"/>
          </a:xfrm>
          <a:prstGeom prst="roundRect">
            <a:avLst>
              <a:gd name="adj" fmla="val 7273"/>
            </a:avLst>
          </a:prstGeom>
          <a:solidFill>
            <a:srgbClr val="F3F4F6"/>
          </a:solidFill>
          <a:ln w="12700">
            <a:solidFill>
              <a:srgbClr val="F3F4F6"/>
            </a:solidFill>
            <a:prstDash val="solid"/>
          </a:ln>
        </p:spPr>
      </p:sp>
      <p:sp>
        <p:nvSpPr>
          <p:cNvPr id="13" name="Text 11"/>
          <p:cNvSpPr txBox="1"/>
          <p:nvPr/>
        </p:nvSpPr>
        <p:spPr>
          <a:xfrm>
            <a:off x="6368796"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Still to identify</a:t>
            </a:r>
            <a:endParaRPr lang="en-US" sz="1100" dirty="0"/>
          </a:p>
        </p:txBody>
      </p:sp>
      <p:sp>
        <p:nvSpPr>
          <p:cNvPr id="14" name="Text 12"/>
          <p:cNvSpPr txBox="1"/>
          <p:nvPr/>
        </p:nvSpPr>
        <p:spPr>
          <a:xfrm>
            <a:off x="6368796"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5" name="Text 13"/>
          <p:cNvSpPr txBox="1"/>
          <p:nvPr/>
        </p:nvSpPr>
        <p:spPr>
          <a:xfrm>
            <a:off x="6368796"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Target − identified</a:t>
            </a:r>
            <a:endParaRPr lang="en-US" sz="1000" dirty="0"/>
          </a:p>
        </p:txBody>
      </p:sp>
      <p:sp>
        <p:nvSpPr>
          <p:cNvPr id="16" name="Shape 14"/>
          <p:cNvSpPr/>
          <p:nvPr/>
        </p:nvSpPr>
        <p:spPr>
          <a:xfrm>
            <a:off x="9004554" y="1371600"/>
            <a:ext cx="2635758" cy="1005840"/>
          </a:xfrm>
          <a:prstGeom prst="roundRect">
            <a:avLst>
              <a:gd name="adj" fmla="val 7273"/>
            </a:avLst>
          </a:prstGeom>
          <a:solidFill>
            <a:srgbClr val="F3F4F6"/>
          </a:solidFill>
          <a:ln w="12700">
            <a:solidFill>
              <a:srgbClr val="F3F4F6"/>
            </a:solidFill>
            <a:prstDash val="solid"/>
          </a:ln>
        </p:spPr>
      </p:sp>
      <p:sp>
        <p:nvSpPr>
          <p:cNvPr id="17" name="Text 15"/>
          <p:cNvSpPr txBox="1"/>
          <p:nvPr/>
        </p:nvSpPr>
        <p:spPr>
          <a:xfrm>
            <a:off x="9187434"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8" name="Text 16"/>
          <p:cNvSpPr txBox="1"/>
          <p:nvPr/>
        </p:nvSpPr>
        <p:spPr>
          <a:xfrm>
            <a:off x="9187434"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9" name="Text 17"/>
          <p:cNvSpPr txBox="1"/>
          <p:nvPr/>
        </p:nvSpPr>
        <p:spPr>
          <a:xfrm>
            <a:off x="9187434"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91672" cy="914400"/>
        </p:xfrm>
        <a:graphic>
          <a:graphicData uri="http://schemas.openxmlformats.org/drawingml/2006/table">
            <a:tbl>
              <a:tblPr/>
              <a:tblGrid>
                <a:gridCol w="411480"/>
                <a:gridCol w="5120640"/>
                <a:gridCol w="2148840"/>
                <a:gridCol w="1463040"/>
                <a:gridCol w="1947672"/>
              </a:tblGrid>
              <a:tr h="36576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Initiative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 yr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Dispatcher role eliminated (dispatch centralized)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Admin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59669"/>
                          </a:solidFill>
                          <a:latin typeface="Calibri" pitchFamily="34" charset="0"/>
                          <a:ea typeface="Calibri" pitchFamily="34" charset="-122"/>
                          <a:cs typeface="Calibri" pitchFamily="34" charset="-120"/>
                        </a:rPr>
                        <a:t>Confirmed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Agency labour mix (≤61% of dock hours vs 70.5% F26)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Hours under SCA allowance (391 hrs Sept MTD ≈ $13.1K)</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Load securement &amp; decking (ANCRA)</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Linehaul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Freight-handling equipment (panel carts)</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Claims &amp; damage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Accessorial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protection</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Toyota baseload footage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gridSpan="3">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Total identified $61,000/yr · Target </a:t>
                      </a:r>
                      <a:pP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hMerge="1">
                  <a:tcPr/>
                </a:tc>
                <a:tc hMerge="1">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1" name="Text 18"/>
          <p:cNvSpPr txBox="1"/>
          <p:nvPr/>
        </p:nvSpPr>
        <p:spPr>
          <a:xfrm>
            <a:off x="548640" y="594360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$/yr = full-year F27 run-rate. Cargo claims (Claims report, T-0502): $13,432.53 for August 2026 — see also damaged FB on slide 6.</a:t>
            </a:r>
            <a:endParaRPr lang="en-US" sz="95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outlook — monthly and yearly roll-up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Jul–Aug actual · Sep–Jun outlook at the current rate · savings vs the same month in F26</a:t>
            </a:r>
            <a:endParaRPr lang="en-US" sz="1300" dirty="0"/>
          </a:p>
        </p:txBody>
      </p:sp>
      <p:sp>
        <p:nvSpPr>
          <p:cNvPr id="5" name="Shape 3"/>
          <p:cNvSpPr/>
          <p:nvPr/>
        </p:nvSpPr>
        <p:spPr>
          <a:xfrm>
            <a:off x="548640" y="1627632"/>
            <a:ext cx="2635758" cy="987552"/>
          </a:xfrm>
          <a:prstGeom prst="roundRect">
            <a:avLst>
              <a:gd name="adj" fmla="val 7407"/>
            </a:avLst>
          </a:prstGeom>
          <a:solidFill>
            <a:srgbClr val="F3F4F6"/>
          </a:solidFill>
          <a:ln w="12700">
            <a:solidFill>
              <a:srgbClr val="F3F4F6"/>
            </a:solidFill>
            <a:prstDash val="solid"/>
          </a:ln>
        </p:spPr>
      </p:sp>
      <p:sp>
        <p:nvSpPr>
          <p:cNvPr id="6" name="Text 4"/>
          <p:cNvSpPr txBox="1"/>
          <p:nvPr/>
        </p:nvSpPr>
        <p:spPr>
          <a:xfrm>
            <a:off x="731520"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Admin labour</a:t>
            </a:r>
            <a:endParaRPr lang="en-US" sz="1100" dirty="0"/>
          </a:p>
        </p:txBody>
      </p:sp>
      <p:sp>
        <p:nvSpPr>
          <p:cNvPr id="7" name="Text 5"/>
          <p:cNvSpPr txBox="1"/>
          <p:nvPr/>
        </p:nvSpPr>
        <p:spPr>
          <a:xfrm>
            <a:off x="731520"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$211.0K</a:t>
            </a:r>
            <a:endParaRPr lang="en-US" sz="2400" dirty="0"/>
          </a:p>
        </p:txBody>
      </p:sp>
      <p:sp>
        <p:nvSpPr>
          <p:cNvPr id="8" name="Text 6"/>
          <p:cNvSpPr txBox="1"/>
          <p:nvPr/>
        </p:nvSpPr>
        <p:spPr>
          <a:xfrm>
            <a:off x="731520"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≈$17.6K per month</a:t>
            </a:r>
            <a:endParaRPr lang="en-US" sz="1050" dirty="0"/>
          </a:p>
        </p:txBody>
      </p:sp>
      <p:sp>
        <p:nvSpPr>
          <p:cNvPr id="9" name="Shape 7"/>
          <p:cNvSpPr/>
          <p:nvPr/>
        </p:nvSpPr>
        <p:spPr>
          <a:xfrm>
            <a:off x="3367278" y="1627632"/>
            <a:ext cx="2635758" cy="987552"/>
          </a:xfrm>
          <a:prstGeom prst="roundRect">
            <a:avLst>
              <a:gd name="adj" fmla="val 7407"/>
            </a:avLst>
          </a:prstGeom>
          <a:solidFill>
            <a:srgbClr val="F3F4F6"/>
          </a:solidFill>
          <a:ln w="12700">
            <a:solidFill>
              <a:srgbClr val="F3F4F6"/>
            </a:solidFill>
            <a:prstDash val="solid"/>
          </a:ln>
        </p:spPr>
      </p:sp>
      <p:sp>
        <p:nvSpPr>
          <p:cNvPr id="10" name="Text 8"/>
          <p:cNvSpPr txBox="1"/>
          <p:nvPr/>
        </p:nvSpPr>
        <p:spPr>
          <a:xfrm>
            <a:off x="3550158"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labour</a:t>
            </a:r>
            <a:endParaRPr lang="en-US" sz="1100" dirty="0"/>
          </a:p>
        </p:txBody>
      </p:sp>
      <p:sp>
        <p:nvSpPr>
          <p:cNvPr id="11" name="Text 9"/>
          <p:cNvSpPr txBox="1"/>
          <p:nvPr/>
        </p:nvSpPr>
        <p:spPr>
          <a:xfrm>
            <a:off x="3550158"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$125.9K</a:t>
            </a:r>
            <a:endParaRPr lang="en-US" sz="2400" dirty="0"/>
          </a:p>
        </p:txBody>
      </p:sp>
      <p:sp>
        <p:nvSpPr>
          <p:cNvPr id="12" name="Text 10"/>
          <p:cNvSpPr txBox="1"/>
          <p:nvPr/>
        </p:nvSpPr>
        <p:spPr>
          <a:xfrm>
            <a:off x="3550158"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≈$10.5K per month</a:t>
            </a:r>
            <a:endParaRPr lang="en-US" sz="1050" dirty="0"/>
          </a:p>
        </p:txBody>
      </p:sp>
      <p:sp>
        <p:nvSpPr>
          <p:cNvPr id="13" name="Shape 11"/>
          <p:cNvSpPr/>
          <p:nvPr/>
        </p:nvSpPr>
        <p:spPr>
          <a:xfrm>
            <a:off x="6185916" y="1627632"/>
            <a:ext cx="2635758" cy="987552"/>
          </a:xfrm>
          <a:prstGeom prst="roundRect">
            <a:avLst>
              <a:gd name="adj" fmla="val 7407"/>
            </a:avLst>
          </a:prstGeom>
          <a:solidFill>
            <a:srgbClr val="F3F4F6"/>
          </a:solidFill>
          <a:ln w="12700">
            <a:solidFill>
              <a:srgbClr val="F3F4F6"/>
            </a:solidFill>
            <a:prstDash val="solid"/>
          </a:ln>
        </p:spPr>
      </p:sp>
      <p:sp>
        <p:nvSpPr>
          <p:cNvPr id="14" name="Text 12"/>
          <p:cNvSpPr txBox="1"/>
          <p:nvPr/>
        </p:nvSpPr>
        <p:spPr>
          <a:xfrm>
            <a:off x="6368796"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Other lines (net of claims)</a:t>
            </a:r>
            <a:endParaRPr lang="en-US" sz="1100" dirty="0"/>
          </a:p>
        </p:txBody>
      </p:sp>
      <p:sp>
        <p:nvSpPr>
          <p:cNvPr id="15" name="Text 13"/>
          <p:cNvSpPr txBox="1"/>
          <p:nvPr/>
        </p:nvSpPr>
        <p:spPr>
          <a:xfrm>
            <a:off x="6368796"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$164.9K</a:t>
            </a:r>
            <a:endParaRPr lang="en-US" sz="2400" dirty="0"/>
          </a:p>
        </p:txBody>
      </p:sp>
      <p:sp>
        <p:nvSpPr>
          <p:cNvPr id="16" name="Text 14"/>
          <p:cNvSpPr txBox="1"/>
          <p:nvPr/>
        </p:nvSpPr>
        <p:spPr>
          <a:xfrm>
            <a:off x="6368796"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≈$13.7K per month</a:t>
            </a:r>
            <a:endParaRPr lang="en-US" sz="1050" dirty="0"/>
          </a:p>
        </p:txBody>
      </p:sp>
      <p:sp>
        <p:nvSpPr>
          <p:cNvPr id="17" name="Shape 15"/>
          <p:cNvSpPr/>
          <p:nvPr/>
        </p:nvSpPr>
        <p:spPr>
          <a:xfrm>
            <a:off x="9004554" y="1627632"/>
            <a:ext cx="2635758" cy="987552"/>
          </a:xfrm>
          <a:prstGeom prst="roundRect">
            <a:avLst>
              <a:gd name="adj" fmla="val 7407"/>
            </a:avLst>
          </a:prstGeom>
          <a:solidFill>
            <a:srgbClr val="111827"/>
          </a:solidFill>
          <a:ln w="12700">
            <a:solidFill>
              <a:srgbClr val="111827"/>
            </a:solidFill>
            <a:prstDash val="solid"/>
          </a:ln>
        </p:spPr>
      </p:sp>
      <p:sp>
        <p:nvSpPr>
          <p:cNvPr id="18" name="Text 16"/>
          <p:cNvSpPr txBox="1"/>
          <p:nvPr/>
        </p:nvSpPr>
        <p:spPr>
          <a:xfrm>
            <a:off x="9187434" y="1719072"/>
            <a:ext cx="2269998" cy="237744"/>
          </a:xfrm>
          <a:prstGeom prst="rect">
            <a:avLst/>
          </a:prstGeom>
          <a:noFill/>
          <a:ln/>
        </p:spPr>
        <p:txBody>
          <a:bodyPr wrap="square" lIns="0" tIns="0" rIns="0" bIns="0" rtlCol="0" anchor="ctr"/>
          <a:lstStyle/>
          <a:p>
            <a:pPr indent="0" marL="0">
              <a:buNone/>
            </a:pPr>
            <a:r>
              <a:rPr lang="en-US" sz="1000" b="1" dirty="0">
                <a:solidFill>
                  <a:srgbClr val="9CA3AF"/>
                </a:solidFill>
                <a:latin typeface="Calibri" pitchFamily="34" charset="0"/>
                <a:ea typeface="Calibri" pitchFamily="34" charset="-122"/>
                <a:cs typeface="Calibri" pitchFamily="34" charset="-120"/>
              </a:rPr>
              <a:t>F27 total outlook + dispatcher</a:t>
            </a:r>
            <a:endParaRPr lang="en-US" sz="1000" dirty="0"/>
          </a:p>
        </p:txBody>
      </p:sp>
      <p:sp>
        <p:nvSpPr>
          <p:cNvPr id="19" name="Text 17"/>
          <p:cNvSpPr txBox="1"/>
          <p:nvPr/>
        </p:nvSpPr>
        <p:spPr>
          <a:xfrm>
            <a:off x="9187434" y="1956816"/>
            <a:ext cx="2269998" cy="384048"/>
          </a:xfrm>
          <a:prstGeom prst="rect">
            <a:avLst/>
          </a:prstGeom>
          <a:noFill/>
          <a:ln/>
        </p:spPr>
        <p:txBody>
          <a:bodyPr wrap="square" lIns="0" tIns="0" rIns="0" bIns="0" rtlCol="0" anchor="ctr"/>
          <a:lstStyle/>
          <a:p>
            <a:pPr indent="0" marL="0">
              <a:buNone/>
            </a:pPr>
            <a:r>
              <a:rPr lang="en-US" sz="2400" b="1" dirty="0">
                <a:solidFill>
                  <a:srgbClr val="FACC15"/>
                </a:solidFill>
                <a:latin typeface="Calibri" pitchFamily="34" charset="0"/>
                <a:ea typeface="Calibri" pitchFamily="34" charset="-122"/>
                <a:cs typeface="Calibri" pitchFamily="34" charset="-120"/>
              </a:rPr>
              <a:t>$562.9K</a:t>
            </a:r>
            <a:endParaRPr lang="en-US" sz="2400" dirty="0"/>
          </a:p>
        </p:txBody>
      </p:sp>
      <p:sp>
        <p:nvSpPr>
          <p:cNvPr id="20" name="Text 18"/>
          <p:cNvSpPr txBox="1"/>
          <p:nvPr/>
        </p:nvSpPr>
        <p:spPr>
          <a:xfrm>
            <a:off x="9187434" y="2340864"/>
            <a:ext cx="2269998" cy="219456"/>
          </a:xfrm>
          <a:prstGeom prst="rect">
            <a:avLst/>
          </a:prstGeom>
          <a:noFill/>
          <a:ln/>
        </p:spPr>
        <p:txBody>
          <a:bodyPr wrap="square" lIns="0" tIns="0" rIns="0" bIns="0" rtlCol="0" anchor="ctr"/>
          <a:lstStyle/>
          <a:p>
            <a:pPr indent="0" marL="0">
              <a:buNone/>
            </a:pPr>
            <a:r>
              <a:rPr lang="en-US" sz="1050" dirty="0">
                <a:solidFill>
                  <a:srgbClr val="D1D5DB"/>
                </a:solidFill>
                <a:latin typeface="Calibri" pitchFamily="34" charset="0"/>
                <a:ea typeface="Calibri" pitchFamily="34" charset="-122"/>
                <a:cs typeface="Calibri" pitchFamily="34" charset="-120"/>
              </a:rPr>
              <a:t>≈$46.9K per month · target </a:t>
            </a:r>
            <a:pPr indent="0" marL="0">
              <a:buNone/>
            </a:pPr>
            <a:r>
              <a:rPr lang="en-US" sz="1050" b="1" dirty="0">
                <a:solidFill>
                  <a:srgbClr val="FBBF24"/>
                </a:solidFill>
                <a:latin typeface="Calibri" pitchFamily="34" charset="0"/>
                <a:ea typeface="Calibri" pitchFamily="34" charset="-122"/>
                <a:cs typeface="Calibri" pitchFamily="34" charset="-120"/>
              </a:rPr>
              <a:t>TBC</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761488"/>
          <a:ext cx="7040880" cy="914400"/>
        </p:xfrm>
        <a:graphic>
          <a:graphicData uri="http://schemas.openxmlformats.org/drawingml/2006/table">
            <a:tbl>
              <a:tblPr/>
              <a:tblGrid>
                <a:gridCol w="3520440"/>
                <a:gridCol w="1188720"/>
                <a:gridCol w="1097280"/>
                <a:gridCol w="1234440"/>
              </a:tblGrid>
              <a:tr h="23774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Line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Jul–Aug rate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month</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F27 year</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Agency labour — Admin</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−25.3%</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$24.8K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$298.1K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Company wages &amp; benefits — Admin</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+12.7%</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($7.3K)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($87.0K)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Admin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$17.6K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$211.0K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Agency labour — Dock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−5.6%</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$7.7K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$92.2K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Company wages &amp; benefits — Dock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$33.8K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Dock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$10.5K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$125.9K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Dock owner-operator base</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−97.4%</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$14.1K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$169.5K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Rentals (dock + building)</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−96.9%</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$4.3K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$52.0K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Cargo claims</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+60.9%</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($4.7K)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($56.7K)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Other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$13.7K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$164.9K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Dispatcher role (confirmed)</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$61.0K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F27 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$46.9K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$562.9K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2" name="Shape 19"/>
          <p:cNvSpPr/>
          <p:nvPr/>
        </p:nvSpPr>
        <p:spPr>
          <a:xfrm>
            <a:off x="7818120" y="2761488"/>
            <a:ext cx="3822192" cy="3145536"/>
          </a:xfrm>
          <a:prstGeom prst="roundRect">
            <a:avLst>
              <a:gd name="adj" fmla="val 2326"/>
            </a:avLst>
          </a:prstGeom>
          <a:solidFill>
            <a:srgbClr val="F5F3FF"/>
          </a:solidFill>
          <a:ln w="12700">
            <a:solidFill>
              <a:srgbClr val="F5F3FF"/>
            </a:solidFill>
            <a:prstDash val="solid"/>
          </a:ln>
        </p:spPr>
      </p:sp>
      <p:sp>
        <p:nvSpPr>
          <p:cNvPr id="23" name="Shape 20"/>
          <p:cNvSpPr/>
          <p:nvPr/>
        </p:nvSpPr>
        <p:spPr>
          <a:xfrm>
            <a:off x="8046720" y="2971800"/>
            <a:ext cx="502920" cy="502920"/>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1"/>
          <a:stretch>
            <a:fillRect/>
          </a:stretch>
        </p:blipFill>
        <p:spPr>
          <a:xfrm>
            <a:off x="8172450" y="3097530"/>
            <a:ext cx="251460" cy="251460"/>
          </a:xfrm>
          <a:prstGeom prst="rect">
            <a:avLst/>
          </a:prstGeom>
        </p:spPr>
      </p:pic>
      <p:sp>
        <p:nvSpPr>
          <p:cNvPr id="25" name="Text 21"/>
          <p:cNvSpPr txBox="1"/>
          <p:nvPr/>
        </p:nvSpPr>
        <p:spPr>
          <a:xfrm>
            <a:off x="8686800" y="3017520"/>
            <a:ext cx="2834640" cy="41148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How we reach the goal</a:t>
            </a:r>
            <a:endParaRPr lang="en-US" sz="1600" dirty="0"/>
          </a:p>
        </p:txBody>
      </p:sp>
      <p:sp>
        <p:nvSpPr>
          <p:cNvPr id="26" name="Text 22"/>
          <p:cNvSpPr txBox="1"/>
          <p:nvPr/>
        </p:nvSpPr>
        <p:spPr>
          <a:xfrm>
            <a:off x="8046720" y="3611880"/>
            <a:ext cx="3383280" cy="2148840"/>
          </a:xfrm>
          <a:prstGeom prst="rect">
            <a:avLst/>
          </a:prstGeom>
          <a:noFill/>
          <a:ln/>
        </p:spPr>
        <p:txBody>
          <a:bodyPr wrap="square" lIns="0" tIns="0" rIns="0" bIns="0" rtlCol="0" anchor="t"/>
          <a:lstStyle/>
          <a:p>
            <a:pPr indent="0" marL="0">
              <a:spcAft>
                <a:spcPts val="800"/>
              </a:spcAft>
              <a:buNone/>
            </a:pPr>
            <a:r>
              <a:rPr lang="en-US" sz="1250" b="1" dirty="0">
                <a:solidFill>
                  <a:srgbClr val="111827"/>
                </a:solidFill>
                <a:latin typeface="Calibri" pitchFamily="34" charset="0"/>
                <a:ea typeface="Calibri" pitchFamily="34" charset="-122"/>
                <a:cs typeface="Calibri" pitchFamily="34" charset="-120"/>
              </a:rPr>
              <a:t>Hold Admin labour 13.5% and Dock labour 4.2% below F26.</a:t>
            </a:r>
            <a:endParaRPr lang="en-US" sz="1250" dirty="0"/>
          </a:p>
          <a:p>
            <a:pPr indent="0" marL="0">
              <a:spcAft>
                <a:spcPts val="800"/>
              </a:spcAft>
              <a:buNone/>
            </a:pPr>
            <a:r>
              <a:rPr lang="en-US" sz="1250" dirty="0">
                <a:solidFill>
                  <a:srgbClr val="1F2937"/>
                </a:solidFill>
                <a:latin typeface="Calibri" pitchFamily="34" charset="0"/>
                <a:ea typeface="Calibri" pitchFamily="34" charset="-122"/>
                <a:cs typeface="Calibri" pitchFamily="34" charset="-120"/>
              </a:rPr>
              <a:t>Every extra 1% ≈ $18.6K/yr Admin, ≈ $31.7K/yr Dock.</a:t>
            </a:r>
            <a:endParaRPr lang="en-US" sz="1250" dirty="0"/>
          </a:p>
          <a:p>
            <a:pPr indent="0" marL="0">
              <a:buNone/>
            </a:pPr>
            <a:r>
              <a:rPr lang="en-US" sz="1250" b="1" dirty="0">
                <a:solidFill>
                  <a:srgbClr val="7C3AED"/>
                </a:solidFill>
                <a:latin typeface="Calibri" pitchFamily="34" charset="0"/>
                <a:ea typeface="Calibri" pitchFamily="34" charset="-122"/>
                <a:cs typeface="Calibri" pitchFamily="34" charset="-120"/>
              </a:rPr>
              <a:t>Next levers on top: </a:t>
            </a:r>
            <a:pPr indent="0" marL="0">
              <a:buNone/>
            </a:pPr>
            <a:r>
              <a:rPr lang="en-US" sz="1250" dirty="0">
                <a:solidFill>
                  <a:srgbClr val="1F2937"/>
                </a:solidFill>
                <a:latin typeface="Calibri" pitchFamily="34" charset="0"/>
                <a:ea typeface="Calibri" pitchFamily="34" charset="-122"/>
                <a:cs typeface="Calibri" pitchFamily="34" charset="-120"/>
              </a:rPr>
              <a:t>load securement &amp; decking, freight-handling equipment, accessorial capture, Toyota footage capture.</a:t>
            </a:r>
            <a:endParaRPr lang="en-US" sz="1250" dirty="0"/>
          </a:p>
        </p:txBody>
      </p:sp>
      <p:sp>
        <p:nvSpPr>
          <p:cNvPr id="27" name="Text 23"/>
          <p:cNvSpPr txBox="1"/>
          <p:nvPr/>
        </p:nvSpPr>
        <p:spPr>
          <a:xfrm>
            <a:off x="548640" y="6016752"/>
            <a:ext cx="11091672" cy="384048"/>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Outlook = each line's Jul–Aug % change vs the same months of F26, applied to the remaining F26 months if the rate holds. Estimates, not booked savings. Source: net-amount P&amp;L pivot; claims use the claims report for August ($13,432.53).</a:t>
            </a:r>
            <a:endParaRPr lang="en-US" sz="95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PPH goal is weight-based; freight got lighter (218 vs ≈275 lbs/unit) while units per hour rose.</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Cost &amp; Volume (Sept MTD)</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463040"/>
                <a:gridCol w="1417320"/>
                <a:gridCol w="1325880"/>
                <a:gridCol w="91440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Sept MTD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F26 Sept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Weight (lbs)*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13,305,876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20,881,181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−7,575,305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−36.3%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$33.43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$31.69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+$1.74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Cost per CWT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$1.0048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$0.9566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+$0.0482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Units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15.24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12.03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+26.7%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Text 2"/>
          <p:cNvSpPr txBox="1"/>
          <p:nvPr/>
        </p:nvSpPr>
        <p:spPr>
          <a:xfrm>
            <a:off x="548640" y="3630168"/>
            <a:ext cx="6949440" cy="25603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 F27 weight is MTD to Sep 26; F26 is the September total.</a:t>
            </a:r>
            <a:endParaRPr lang="en-US" sz="1050" dirty="0"/>
          </a:p>
        </p:txBody>
      </p:sp>
      <p:sp>
        <p:nvSpPr>
          <p:cNvPr id="6" name="Text 3"/>
          <p:cNvSpPr txBox="1"/>
          <p:nvPr/>
        </p:nvSpPr>
        <p:spPr>
          <a:xfrm>
            <a:off x="548640" y="4023360"/>
            <a:ext cx="6949440"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F27 September MTD</a:t>
            </a:r>
            <a:endParaRPr lang="en-US" sz="1500" dirty="0"/>
          </a:p>
        </p:txBody>
      </p:sp>
      <p:sp>
        <p:nvSpPr>
          <p:cNvPr id="7" name="Shape 4"/>
          <p:cNvSpPr/>
          <p:nvPr/>
        </p:nvSpPr>
        <p:spPr>
          <a:xfrm>
            <a:off x="548640" y="4434840"/>
            <a:ext cx="1600200" cy="1188720"/>
          </a:xfrm>
          <a:prstGeom prst="roundRect">
            <a:avLst>
              <a:gd name="adj" fmla="val 6154"/>
            </a:avLst>
          </a:prstGeom>
          <a:solidFill>
            <a:srgbClr val="F3F4F6"/>
          </a:solidFill>
          <a:ln w="12700">
            <a:solidFill>
              <a:srgbClr val="F3F4F6"/>
            </a:solidFill>
            <a:prstDash val="solid"/>
          </a:ln>
        </p:spPr>
      </p:sp>
      <p:sp>
        <p:nvSpPr>
          <p:cNvPr id="8" name="Text 5"/>
          <p:cNvSpPr txBox="1"/>
          <p:nvPr/>
        </p:nvSpPr>
        <p:spPr>
          <a:xfrm>
            <a:off x="71323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hours</a:t>
            </a:r>
            <a:endParaRPr lang="en-US" sz="1100" dirty="0"/>
          </a:p>
        </p:txBody>
      </p:sp>
      <p:sp>
        <p:nvSpPr>
          <p:cNvPr id="9" name="Text 6"/>
          <p:cNvSpPr txBox="1"/>
          <p:nvPr/>
        </p:nvSpPr>
        <p:spPr>
          <a:xfrm>
            <a:off x="71323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3,999</a:t>
            </a:r>
            <a:endParaRPr lang="en-US" sz="1800" dirty="0"/>
          </a:p>
        </p:txBody>
      </p:sp>
      <p:sp>
        <p:nvSpPr>
          <p:cNvPr id="10" name="Shape 7"/>
          <p:cNvSpPr/>
          <p:nvPr/>
        </p:nvSpPr>
        <p:spPr>
          <a:xfrm>
            <a:off x="2331720" y="4434840"/>
            <a:ext cx="1600200" cy="1188720"/>
          </a:xfrm>
          <a:prstGeom prst="roundRect">
            <a:avLst>
              <a:gd name="adj" fmla="val 6154"/>
            </a:avLst>
          </a:prstGeom>
          <a:solidFill>
            <a:srgbClr val="F3F4F6"/>
          </a:solidFill>
          <a:ln w="12700">
            <a:solidFill>
              <a:srgbClr val="F3F4F6"/>
            </a:solidFill>
            <a:prstDash val="solid"/>
          </a:ln>
        </p:spPr>
      </p:sp>
      <p:sp>
        <p:nvSpPr>
          <p:cNvPr id="11" name="Text 8"/>
          <p:cNvSpPr txBox="1"/>
          <p:nvPr/>
        </p:nvSpPr>
        <p:spPr>
          <a:xfrm>
            <a:off x="249631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a:t>
            </a:r>
            <a:endParaRPr lang="en-US" sz="1100" dirty="0"/>
          </a:p>
        </p:txBody>
      </p:sp>
      <p:sp>
        <p:nvSpPr>
          <p:cNvPr id="12" name="Text 9"/>
          <p:cNvSpPr txBox="1"/>
          <p:nvPr/>
        </p:nvSpPr>
        <p:spPr>
          <a:xfrm>
            <a:off x="249631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60,933</a:t>
            </a:r>
            <a:endParaRPr lang="en-US" sz="1800" dirty="0"/>
          </a:p>
        </p:txBody>
      </p:sp>
      <p:sp>
        <p:nvSpPr>
          <p:cNvPr id="13" name="Shape 10"/>
          <p:cNvSpPr/>
          <p:nvPr/>
        </p:nvSpPr>
        <p:spPr>
          <a:xfrm>
            <a:off x="4114800" y="4434840"/>
            <a:ext cx="1600200" cy="1188720"/>
          </a:xfrm>
          <a:prstGeom prst="roundRect">
            <a:avLst>
              <a:gd name="adj" fmla="val 6154"/>
            </a:avLst>
          </a:prstGeom>
          <a:solidFill>
            <a:srgbClr val="F3F4F6"/>
          </a:solidFill>
          <a:ln w="12700">
            <a:solidFill>
              <a:srgbClr val="F3F4F6"/>
            </a:solidFill>
            <a:prstDash val="solid"/>
          </a:ln>
        </p:spPr>
      </p:sp>
      <p:sp>
        <p:nvSpPr>
          <p:cNvPr id="14" name="Text 11"/>
          <p:cNvSpPr txBox="1"/>
          <p:nvPr/>
        </p:nvSpPr>
        <p:spPr>
          <a:xfrm>
            <a:off x="427939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Costs</a:t>
            </a:r>
            <a:endParaRPr lang="en-US" sz="1100" dirty="0"/>
          </a:p>
        </p:txBody>
      </p:sp>
      <p:sp>
        <p:nvSpPr>
          <p:cNvPr id="15" name="Text 12"/>
          <p:cNvSpPr txBox="1"/>
          <p:nvPr/>
        </p:nvSpPr>
        <p:spPr>
          <a:xfrm>
            <a:off x="427939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$133,692</a:t>
            </a:r>
            <a:endParaRPr lang="en-US" sz="1800" dirty="0"/>
          </a:p>
        </p:txBody>
      </p:sp>
      <p:sp>
        <p:nvSpPr>
          <p:cNvPr id="16" name="Shape 13"/>
          <p:cNvSpPr/>
          <p:nvPr/>
        </p:nvSpPr>
        <p:spPr>
          <a:xfrm>
            <a:off x="5897880" y="4434840"/>
            <a:ext cx="1600200" cy="1188720"/>
          </a:xfrm>
          <a:prstGeom prst="roundRect">
            <a:avLst>
              <a:gd name="adj" fmla="val 6154"/>
            </a:avLst>
          </a:prstGeom>
          <a:solidFill>
            <a:srgbClr val="F3F4F6"/>
          </a:solidFill>
          <a:ln w="12700">
            <a:solidFill>
              <a:srgbClr val="F3F4F6"/>
            </a:solidFill>
            <a:prstDash val="solid"/>
          </a:ln>
        </p:spPr>
      </p:sp>
      <p:sp>
        <p:nvSpPr>
          <p:cNvPr id="17" name="Text 14"/>
          <p:cNvSpPr txBox="1"/>
          <p:nvPr/>
        </p:nvSpPr>
        <p:spPr>
          <a:xfrm>
            <a:off x="606247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 per unit</a:t>
            </a:r>
            <a:endParaRPr lang="en-US" sz="1100" dirty="0"/>
          </a:p>
        </p:txBody>
      </p:sp>
      <p:sp>
        <p:nvSpPr>
          <p:cNvPr id="18" name="Text 15"/>
          <p:cNvSpPr txBox="1"/>
          <p:nvPr/>
        </p:nvSpPr>
        <p:spPr>
          <a:xfrm>
            <a:off x="606247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$2.19</a:t>
            </a:r>
            <a:endParaRPr lang="en-US" sz="1800" dirty="0"/>
          </a:p>
        </p:txBody>
      </p:sp>
      <p:sp>
        <p:nvSpPr>
          <p:cNvPr id="19" name="Shape 16"/>
          <p:cNvSpPr/>
          <p:nvPr/>
        </p:nvSpPr>
        <p:spPr>
          <a:xfrm>
            <a:off x="7863840" y="1371600"/>
            <a:ext cx="3776472" cy="2011680"/>
          </a:xfrm>
          <a:prstGeom prst="roundRect">
            <a:avLst>
              <a:gd name="adj" fmla="val 3636"/>
            </a:avLst>
          </a:prstGeom>
          <a:solidFill>
            <a:srgbClr val="ECFDF5"/>
          </a:solidFill>
          <a:ln w="12700">
            <a:solidFill>
              <a:srgbClr val="ECFDF5"/>
            </a:solidFill>
            <a:prstDash val="solid"/>
          </a:ln>
        </p:spPr>
      </p:sp>
      <p:sp>
        <p:nvSpPr>
          <p:cNvPr id="20" name="Shape 17"/>
          <p:cNvSpPr/>
          <p:nvPr/>
        </p:nvSpPr>
        <p:spPr>
          <a:xfrm>
            <a:off x="8065008" y="1536192"/>
            <a:ext cx="384048" cy="384048"/>
          </a:xfrm>
          <a:prstGeom prst="ellipse">
            <a:avLst/>
          </a:prstGeom>
          <a:solidFill>
            <a:srgbClr val="059669"/>
          </a:solidFill>
          <a:ln w="12700">
            <a:solidFill>
              <a:srgbClr val="059669"/>
            </a:solidFill>
            <a:prstDash val="solid"/>
          </a:ln>
        </p:spPr>
      </p:sp>
      <p:pic>
        <p:nvPicPr>
          <p:cNvPr id="21" name="Image 0" descr="preencoded.png">    </p:cNvPr>
          <p:cNvPicPr>
            <a:picLocks noChangeAspect="1"/>
          </p:cNvPicPr>
          <p:nvPr/>
        </p:nvPicPr>
        <p:blipFill>
          <a:blip r:embed="rId1"/>
          <a:stretch>
            <a:fillRect/>
          </a:stretch>
        </p:blipFill>
        <p:spPr>
          <a:xfrm>
            <a:off x="8161020" y="1632204"/>
            <a:ext cx="192024" cy="192024"/>
          </a:xfrm>
          <a:prstGeom prst="rect">
            <a:avLst/>
          </a:prstGeom>
        </p:spPr>
      </p:pic>
      <p:sp>
        <p:nvSpPr>
          <p:cNvPr id="22" name="Text 18"/>
          <p:cNvSpPr txBox="1"/>
          <p:nvPr/>
        </p:nvSpPr>
        <p:spPr>
          <a:xfrm>
            <a:off x="8549640" y="153619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Units-basis productivity value</a:t>
            </a:r>
            <a:endParaRPr lang="en-US" sz="1300" dirty="0"/>
          </a:p>
        </p:txBody>
      </p:sp>
      <p:sp>
        <p:nvSpPr>
          <p:cNvPr id="23" name="Text 19"/>
          <p:cNvSpPr txBox="1"/>
          <p:nvPr/>
        </p:nvSpPr>
        <p:spPr>
          <a:xfrm>
            <a:off x="8065008" y="1975104"/>
            <a:ext cx="3383280" cy="50292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$35.6K</a:t>
            </a:r>
            <a:pPr indent="0" marL="0">
              <a:buNone/>
            </a:pPr>
            <a:r>
              <a:rPr lang="en-US" sz="1200" b="1" dirty="0">
                <a:solidFill>
                  <a:srgbClr val="6B7280"/>
                </a:solidFill>
                <a:latin typeface="Calibri" pitchFamily="34" charset="0"/>
                <a:ea typeface="Calibri" pitchFamily="34" charset="-122"/>
                <a:cs typeface="Calibri" pitchFamily="34" charset="-120"/>
              </a:rPr>
              <a:t>   </a:t>
            </a:r>
            <a:endParaRPr lang="en-US" sz="2800" dirty="0"/>
          </a:p>
        </p:txBody>
      </p:sp>
      <p:sp>
        <p:nvSpPr>
          <p:cNvPr id="24" name="Text 20"/>
          <p:cNvSpPr txBox="1"/>
          <p:nvPr/>
        </p:nvSpPr>
        <p:spPr>
          <a:xfrm>
            <a:off x="8065008" y="250545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At F26's 12.03 units/hr, 60,933 units would have needed ≈5,065 hrs vs 3,999 actual → ≈1,066 hrs avoided at $33.43/hr (Sept MTD).</a:t>
            </a:r>
            <a:endParaRPr lang="en-US" sz="1100" dirty="0"/>
          </a:p>
        </p:txBody>
      </p:sp>
      <p:sp>
        <p:nvSpPr>
          <p:cNvPr id="25" name="Text 21"/>
          <p:cNvSpPr txBox="1"/>
          <p:nvPr/>
        </p:nvSpPr>
        <p:spPr>
          <a:xfrm>
            <a:off x="8065008" y="310896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dashboard figures</a:t>
            </a:r>
            <a:endParaRPr lang="en-US" sz="900" dirty="0"/>
          </a:p>
        </p:txBody>
      </p:sp>
      <p:sp>
        <p:nvSpPr>
          <p:cNvPr id="26" name="Shape 22"/>
          <p:cNvSpPr/>
          <p:nvPr/>
        </p:nvSpPr>
        <p:spPr>
          <a:xfrm>
            <a:off x="7863840" y="3566160"/>
            <a:ext cx="3776472" cy="2011680"/>
          </a:xfrm>
          <a:prstGeom prst="roundRect">
            <a:avLst>
              <a:gd name="adj" fmla="val 3636"/>
            </a:avLst>
          </a:prstGeom>
          <a:solidFill>
            <a:srgbClr val="F5F3FF"/>
          </a:solidFill>
          <a:ln w="12700">
            <a:solidFill>
              <a:srgbClr val="F5F3FF"/>
            </a:solidFill>
            <a:prstDash val="solid"/>
          </a:ln>
        </p:spPr>
      </p:sp>
      <p:sp>
        <p:nvSpPr>
          <p:cNvPr id="27" name="Shape 23"/>
          <p:cNvSpPr/>
          <p:nvPr/>
        </p:nvSpPr>
        <p:spPr>
          <a:xfrm>
            <a:off x="8065008" y="3730752"/>
            <a:ext cx="384048" cy="384048"/>
          </a:xfrm>
          <a:prstGeom prst="ellipse">
            <a:avLst/>
          </a:prstGeom>
          <a:solidFill>
            <a:srgbClr val="7C3AED"/>
          </a:solidFill>
          <a:ln w="12700">
            <a:solidFill>
              <a:srgbClr val="7C3AED"/>
            </a:solidFill>
            <a:prstDash val="solid"/>
          </a:ln>
        </p:spPr>
      </p:sp>
      <p:pic>
        <p:nvPicPr>
          <p:cNvPr id="28" name="Image 1" descr="preencoded.png">    </p:cNvPr>
          <p:cNvPicPr>
            <a:picLocks noChangeAspect="1"/>
          </p:cNvPicPr>
          <p:nvPr/>
        </p:nvPicPr>
        <p:blipFill>
          <a:blip r:embed="rId2"/>
          <a:stretch>
            <a:fillRect/>
          </a:stretch>
        </p:blipFill>
        <p:spPr>
          <a:xfrm>
            <a:off x="8161020" y="3826764"/>
            <a:ext cx="192024" cy="192024"/>
          </a:xfrm>
          <a:prstGeom prst="rect">
            <a:avLst/>
          </a:prstGeom>
        </p:spPr>
      </p:pic>
      <p:sp>
        <p:nvSpPr>
          <p:cNvPr id="29" name="Text 24"/>
          <p:cNvSpPr txBox="1"/>
          <p:nvPr/>
        </p:nvSpPr>
        <p:spPr>
          <a:xfrm>
            <a:off x="8549640" y="373075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Pace vs reduction target</a:t>
            </a:r>
            <a:endParaRPr lang="en-US" sz="1300" dirty="0"/>
          </a:p>
        </p:txBody>
      </p:sp>
      <p:sp>
        <p:nvSpPr>
          <p:cNvPr id="30" name="Text 25"/>
          <p:cNvSpPr txBox="1"/>
          <p:nvPr/>
        </p:nvSpPr>
        <p:spPr>
          <a:xfrm>
            <a:off x="8065008" y="4169664"/>
            <a:ext cx="3383280" cy="502920"/>
          </a:xfrm>
          <a:prstGeom prst="rect">
            <a:avLst/>
          </a:prstGeom>
          <a:noFill/>
          <a:ln/>
        </p:spPr>
        <p:txBody>
          <a:bodyPr wrap="square" lIns="0" tIns="0" rIns="0" bIns="0" rtlCol="0" anchor="ctr"/>
          <a:lstStyle/>
          <a:p>
            <a:pPr indent="0" marL="0">
              <a:buNone/>
            </a:pPr>
            <a:r>
              <a:rPr lang="en-US" sz="2800" b="1" dirty="0">
                <a:solidFill>
                  <a:srgbClr val="7C3AED"/>
                </a:solidFill>
                <a:latin typeface="Calibri" pitchFamily="34" charset="0"/>
                <a:ea typeface="Calibri" pitchFamily="34" charset="-122"/>
                <a:cs typeface="Calibri" pitchFamily="34" charset="-120"/>
              </a:rPr>
              <a:t>139%</a:t>
            </a:r>
            <a:pPr indent="0" marL="0">
              <a:buNone/>
            </a:pPr>
            <a:r>
              <a:rPr lang="en-US" sz="1200" b="1" dirty="0">
                <a:solidFill>
                  <a:srgbClr val="6B7280"/>
                </a:solidFill>
                <a:latin typeface="Calibri" pitchFamily="34" charset="0"/>
                <a:ea typeface="Calibri" pitchFamily="34" charset="-122"/>
                <a:cs typeface="Calibri" pitchFamily="34" charset="-120"/>
              </a:rPr>
              <a:t>   of 1,181-hr target</a:t>
            </a:r>
            <a:endParaRPr lang="en-US" sz="2800" dirty="0"/>
          </a:p>
        </p:txBody>
      </p:sp>
      <p:sp>
        <p:nvSpPr>
          <p:cNvPr id="31" name="Text 26"/>
          <p:cNvSpPr txBox="1"/>
          <p:nvPr/>
        </p:nvSpPr>
        <p:spPr>
          <a:xfrm>
            <a:off x="8065008" y="470001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Sept pace ≈4,666 hrs (3,999 ÷ 18/21 working days) vs F26's 6,303 → ≈1,637 hrs lower.</a:t>
            </a:r>
            <a:endParaRPr lang="en-US" sz="1100" dirty="0"/>
          </a:p>
        </p:txBody>
      </p:sp>
      <p:sp>
        <p:nvSpPr>
          <p:cNvPr id="32" name="Text 27"/>
          <p:cNvSpPr txBox="1"/>
          <p:nvPr/>
        </p:nvSpPr>
        <p:spPr>
          <a:xfrm>
            <a:off x="8065008" y="530352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 · at current pace</a:t>
            </a:r>
            <a:endParaRPr lang="en-US" sz="900" dirty="0"/>
          </a:p>
        </p:txBody>
      </p:sp>
      <p:sp>
        <p:nvSpPr>
          <p:cNvPr id="33" name="Text 28"/>
          <p:cNvSpPr txBox="1"/>
          <p:nvPr/>
        </p:nvSpPr>
        <p:spPr>
          <a:xfrm>
            <a:off x="548640" y="603504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34"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P&amp;D — Trip &amp; stop measures (F27 Q1, Jul–Sep)</a:t>
            </a:r>
            <a:endParaRPr lang="en-US" sz="3000" dirty="0"/>
          </a:p>
        </p:txBody>
      </p:sp>
      <p:sp>
        <p:nvSpPr>
          <p:cNvPr id="4" name="Text 2"/>
          <p:cNvSpPr txBox="1"/>
          <p:nvPr/>
        </p:nvSpPr>
        <p:spPr>
          <a:xfrm>
            <a:off x="548640" y="1298448"/>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Q1 totals</a:t>
            </a:r>
            <a:endParaRPr lang="en-US" sz="1500" dirty="0"/>
          </a:p>
        </p:txBody>
      </p:sp>
      <p:sp>
        <p:nvSpPr>
          <p:cNvPr id="5" name="Shape 3"/>
          <p:cNvSpPr/>
          <p:nvPr/>
        </p:nvSpPr>
        <p:spPr>
          <a:xfrm>
            <a:off x="548640" y="1645920"/>
            <a:ext cx="1734312" cy="804672"/>
          </a:xfrm>
          <a:prstGeom prst="roundRect">
            <a:avLst>
              <a:gd name="adj" fmla="val 9091"/>
            </a:avLst>
          </a:prstGeom>
          <a:solidFill>
            <a:srgbClr val="F3F4F6"/>
          </a:solidFill>
          <a:ln w="12700">
            <a:solidFill>
              <a:srgbClr val="F3F4F6"/>
            </a:solidFill>
            <a:prstDash val="solid"/>
          </a:ln>
        </p:spPr>
      </p:sp>
      <p:sp>
        <p:nvSpPr>
          <p:cNvPr id="6" name="Text 4"/>
          <p:cNvSpPr txBox="1"/>
          <p:nvPr/>
        </p:nvSpPr>
        <p:spPr>
          <a:xfrm>
            <a:off x="68580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Trips</a:t>
            </a:r>
            <a:endParaRPr lang="en-US" sz="1050" dirty="0"/>
          </a:p>
        </p:txBody>
      </p:sp>
      <p:sp>
        <p:nvSpPr>
          <p:cNvPr id="7" name="Text 5"/>
          <p:cNvSpPr txBox="1"/>
          <p:nvPr/>
        </p:nvSpPr>
        <p:spPr>
          <a:xfrm>
            <a:off x="68580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4,608</a:t>
            </a:r>
            <a:endParaRPr lang="en-US" sz="1800" dirty="0"/>
          </a:p>
        </p:txBody>
      </p:sp>
      <p:sp>
        <p:nvSpPr>
          <p:cNvPr id="8" name="Shape 6"/>
          <p:cNvSpPr/>
          <p:nvPr/>
        </p:nvSpPr>
        <p:spPr>
          <a:xfrm>
            <a:off x="2420112" y="1645920"/>
            <a:ext cx="1734312" cy="804672"/>
          </a:xfrm>
          <a:prstGeom prst="roundRect">
            <a:avLst>
              <a:gd name="adj" fmla="val 9091"/>
            </a:avLst>
          </a:prstGeom>
          <a:solidFill>
            <a:srgbClr val="F3F4F6"/>
          </a:solidFill>
          <a:ln w="12700">
            <a:solidFill>
              <a:srgbClr val="F3F4F6"/>
            </a:solidFill>
            <a:prstDash val="solid"/>
          </a:ln>
        </p:spPr>
      </p:sp>
      <p:sp>
        <p:nvSpPr>
          <p:cNvPr id="9" name="Text 7"/>
          <p:cNvSpPr txBox="1"/>
          <p:nvPr/>
        </p:nvSpPr>
        <p:spPr>
          <a:xfrm>
            <a:off x="2557272"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a:t>
            </a:r>
            <a:endParaRPr lang="en-US" sz="1050" dirty="0"/>
          </a:p>
        </p:txBody>
      </p:sp>
      <p:sp>
        <p:nvSpPr>
          <p:cNvPr id="10" name="Text 8"/>
          <p:cNvSpPr txBox="1"/>
          <p:nvPr/>
        </p:nvSpPr>
        <p:spPr>
          <a:xfrm>
            <a:off x="2557272"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45,712</a:t>
            </a:r>
            <a:endParaRPr lang="en-US" sz="1800" dirty="0"/>
          </a:p>
        </p:txBody>
      </p:sp>
      <p:sp>
        <p:nvSpPr>
          <p:cNvPr id="11" name="Shape 9"/>
          <p:cNvSpPr/>
          <p:nvPr/>
        </p:nvSpPr>
        <p:spPr>
          <a:xfrm>
            <a:off x="4291584" y="1645920"/>
            <a:ext cx="1734312" cy="804672"/>
          </a:xfrm>
          <a:prstGeom prst="roundRect">
            <a:avLst>
              <a:gd name="adj" fmla="val 9091"/>
            </a:avLst>
          </a:prstGeom>
          <a:solidFill>
            <a:srgbClr val="F3F4F6"/>
          </a:solidFill>
          <a:ln w="12700">
            <a:solidFill>
              <a:srgbClr val="F3F4F6"/>
            </a:solidFill>
            <a:prstDash val="solid"/>
          </a:ln>
        </p:spPr>
      </p:sp>
      <p:sp>
        <p:nvSpPr>
          <p:cNvPr id="12" name="Text 10"/>
          <p:cNvSpPr txBox="1"/>
          <p:nvPr/>
        </p:nvSpPr>
        <p:spPr>
          <a:xfrm>
            <a:off x="4428744"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(lbs)</a:t>
            </a:r>
            <a:endParaRPr lang="en-US" sz="1050" dirty="0"/>
          </a:p>
        </p:txBody>
      </p:sp>
      <p:sp>
        <p:nvSpPr>
          <p:cNvPr id="13" name="Text 11"/>
          <p:cNvSpPr txBox="1"/>
          <p:nvPr/>
        </p:nvSpPr>
        <p:spPr>
          <a:xfrm>
            <a:off x="4428744"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32,330,382</a:t>
            </a:r>
            <a:endParaRPr lang="en-US" sz="1800" dirty="0"/>
          </a:p>
        </p:txBody>
      </p:sp>
      <p:sp>
        <p:nvSpPr>
          <p:cNvPr id="14" name="Shape 12"/>
          <p:cNvSpPr/>
          <p:nvPr/>
        </p:nvSpPr>
        <p:spPr>
          <a:xfrm>
            <a:off x="6163056" y="1645920"/>
            <a:ext cx="1734312" cy="804672"/>
          </a:xfrm>
          <a:prstGeom prst="roundRect">
            <a:avLst>
              <a:gd name="adj" fmla="val 9091"/>
            </a:avLst>
          </a:prstGeom>
          <a:solidFill>
            <a:srgbClr val="F3F4F6"/>
          </a:solidFill>
          <a:ln w="12700">
            <a:solidFill>
              <a:srgbClr val="F3F4F6"/>
            </a:solidFill>
            <a:prstDash val="solid"/>
          </a:ln>
        </p:spPr>
      </p:sp>
      <p:sp>
        <p:nvSpPr>
          <p:cNvPr id="15" name="Text 13"/>
          <p:cNvSpPr txBox="1"/>
          <p:nvPr/>
        </p:nvSpPr>
        <p:spPr>
          <a:xfrm>
            <a:off x="6300216"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a:t>
            </a:r>
            <a:endParaRPr lang="en-US" sz="1050" dirty="0"/>
          </a:p>
        </p:txBody>
      </p:sp>
      <p:sp>
        <p:nvSpPr>
          <p:cNvPr id="16" name="Text 14"/>
          <p:cNvSpPr txBox="1"/>
          <p:nvPr/>
        </p:nvSpPr>
        <p:spPr>
          <a:xfrm>
            <a:off x="6300216"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769,055</a:t>
            </a:r>
            <a:endParaRPr lang="en-US" sz="1800" dirty="0"/>
          </a:p>
        </p:txBody>
      </p:sp>
      <p:sp>
        <p:nvSpPr>
          <p:cNvPr id="17" name="Shape 15"/>
          <p:cNvSpPr/>
          <p:nvPr/>
        </p:nvSpPr>
        <p:spPr>
          <a:xfrm>
            <a:off x="8034528" y="1645920"/>
            <a:ext cx="1734312" cy="804672"/>
          </a:xfrm>
          <a:prstGeom prst="roundRect">
            <a:avLst>
              <a:gd name="adj" fmla="val 9091"/>
            </a:avLst>
          </a:prstGeom>
          <a:solidFill>
            <a:srgbClr val="F3F4F6"/>
          </a:solidFill>
          <a:ln w="12700">
            <a:solidFill>
              <a:srgbClr val="F3F4F6"/>
            </a:solidFill>
            <a:prstDash val="solid"/>
          </a:ln>
        </p:spPr>
      </p:sp>
      <p:sp>
        <p:nvSpPr>
          <p:cNvPr id="18" name="Text 16"/>
          <p:cNvSpPr txBox="1"/>
          <p:nvPr/>
        </p:nvSpPr>
        <p:spPr>
          <a:xfrm>
            <a:off x="8171688"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a:t>
            </a:r>
            <a:endParaRPr lang="en-US" sz="1050" dirty="0"/>
          </a:p>
        </p:txBody>
      </p:sp>
      <p:sp>
        <p:nvSpPr>
          <p:cNvPr id="19" name="Text 17"/>
          <p:cNvSpPr txBox="1"/>
          <p:nvPr/>
        </p:nvSpPr>
        <p:spPr>
          <a:xfrm>
            <a:off x="8171688"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21,889</a:t>
            </a:r>
            <a:endParaRPr lang="en-US" sz="1800" dirty="0"/>
          </a:p>
        </p:txBody>
      </p:sp>
      <p:sp>
        <p:nvSpPr>
          <p:cNvPr id="20" name="Shape 18"/>
          <p:cNvSpPr/>
          <p:nvPr/>
        </p:nvSpPr>
        <p:spPr>
          <a:xfrm>
            <a:off x="9906000" y="1645920"/>
            <a:ext cx="1734312" cy="804672"/>
          </a:xfrm>
          <a:prstGeom prst="roundRect">
            <a:avLst>
              <a:gd name="adj" fmla="val 9091"/>
            </a:avLst>
          </a:prstGeom>
          <a:solidFill>
            <a:srgbClr val="F3F4F6"/>
          </a:solidFill>
          <a:ln w="12700">
            <a:solidFill>
              <a:srgbClr val="F3F4F6"/>
            </a:solidFill>
            <a:prstDash val="solid"/>
          </a:ln>
        </p:spPr>
      </p:sp>
      <p:sp>
        <p:nvSpPr>
          <p:cNvPr id="21" name="Text 19"/>
          <p:cNvSpPr txBox="1"/>
          <p:nvPr/>
        </p:nvSpPr>
        <p:spPr>
          <a:xfrm>
            <a:off x="1004316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a:t>
            </a:r>
            <a:endParaRPr lang="en-US" sz="1050" dirty="0"/>
          </a:p>
        </p:txBody>
      </p:sp>
      <p:sp>
        <p:nvSpPr>
          <p:cNvPr id="22" name="Text 20"/>
          <p:cNvSpPr txBox="1"/>
          <p:nvPr/>
        </p:nvSpPr>
        <p:spPr>
          <a:xfrm>
            <a:off x="1004316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63,738</a:t>
            </a:r>
            <a:endParaRPr lang="en-US" sz="1800" dirty="0"/>
          </a:p>
        </p:txBody>
      </p:sp>
      <p:sp>
        <p:nvSpPr>
          <p:cNvPr id="23" name="Shape 21"/>
          <p:cNvSpPr/>
          <p:nvPr/>
        </p:nvSpPr>
        <p:spPr>
          <a:xfrm>
            <a:off x="548640" y="2560320"/>
            <a:ext cx="1734312" cy="804672"/>
          </a:xfrm>
          <a:prstGeom prst="roundRect">
            <a:avLst>
              <a:gd name="adj" fmla="val 9091"/>
            </a:avLst>
          </a:prstGeom>
          <a:solidFill>
            <a:srgbClr val="F3F4F6"/>
          </a:solidFill>
          <a:ln w="12700">
            <a:solidFill>
              <a:srgbClr val="F3F4F6"/>
            </a:solidFill>
            <a:prstDash val="solid"/>
          </a:ln>
        </p:spPr>
      </p:sp>
      <p:sp>
        <p:nvSpPr>
          <p:cNvPr id="24" name="Text 22"/>
          <p:cNvSpPr txBox="1"/>
          <p:nvPr/>
        </p:nvSpPr>
        <p:spPr>
          <a:xfrm>
            <a:off x="685800"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a:t>
            </a:r>
            <a:endParaRPr lang="en-US" sz="1050" dirty="0"/>
          </a:p>
        </p:txBody>
      </p:sp>
      <p:sp>
        <p:nvSpPr>
          <p:cNvPr id="25" name="Text 23"/>
          <p:cNvSpPr txBox="1"/>
          <p:nvPr/>
        </p:nvSpPr>
        <p:spPr>
          <a:xfrm>
            <a:off x="685800"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41,725</a:t>
            </a:r>
            <a:endParaRPr lang="en-US" sz="1800" dirty="0"/>
          </a:p>
        </p:txBody>
      </p:sp>
      <p:sp>
        <p:nvSpPr>
          <p:cNvPr id="26" name="Shape 24"/>
          <p:cNvSpPr/>
          <p:nvPr/>
        </p:nvSpPr>
        <p:spPr>
          <a:xfrm>
            <a:off x="2420112" y="2560320"/>
            <a:ext cx="1734312" cy="804672"/>
          </a:xfrm>
          <a:prstGeom prst="roundRect">
            <a:avLst>
              <a:gd name="adj" fmla="val 9091"/>
            </a:avLst>
          </a:prstGeom>
          <a:solidFill>
            <a:srgbClr val="F3F4F6"/>
          </a:solidFill>
          <a:ln w="12700">
            <a:solidFill>
              <a:srgbClr val="F3F4F6"/>
            </a:solidFill>
            <a:prstDash val="solid"/>
          </a:ln>
        </p:spPr>
      </p:sp>
      <p:sp>
        <p:nvSpPr>
          <p:cNvPr id="27" name="Text 25"/>
          <p:cNvSpPr txBox="1"/>
          <p:nvPr/>
        </p:nvSpPr>
        <p:spPr>
          <a:xfrm>
            <a:off x="2557272"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a:t>
            </a:r>
            <a:endParaRPr lang="en-US" sz="1050" dirty="0"/>
          </a:p>
        </p:txBody>
      </p:sp>
      <p:sp>
        <p:nvSpPr>
          <p:cNvPr id="28" name="Text 26"/>
          <p:cNvSpPr txBox="1"/>
          <p:nvPr/>
        </p:nvSpPr>
        <p:spPr>
          <a:xfrm>
            <a:off x="2557272"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24,401</a:t>
            </a:r>
            <a:endParaRPr lang="en-US" sz="1800" dirty="0"/>
          </a:p>
        </p:txBody>
      </p:sp>
      <p:sp>
        <p:nvSpPr>
          <p:cNvPr id="29" name="Shape 27"/>
          <p:cNvSpPr/>
          <p:nvPr/>
        </p:nvSpPr>
        <p:spPr>
          <a:xfrm>
            <a:off x="4291584" y="2560320"/>
            <a:ext cx="1734312" cy="804672"/>
          </a:xfrm>
          <a:prstGeom prst="roundRect">
            <a:avLst>
              <a:gd name="adj" fmla="val 9091"/>
            </a:avLst>
          </a:prstGeom>
          <a:solidFill>
            <a:srgbClr val="F3F4F6"/>
          </a:solidFill>
          <a:ln w="12700">
            <a:solidFill>
              <a:srgbClr val="F3F4F6"/>
            </a:solidFill>
            <a:prstDash val="solid"/>
          </a:ln>
        </p:spPr>
      </p:sp>
      <p:sp>
        <p:nvSpPr>
          <p:cNvPr id="30" name="Text 28"/>
          <p:cNvSpPr txBox="1"/>
          <p:nvPr/>
        </p:nvSpPr>
        <p:spPr>
          <a:xfrm>
            <a:off x="4428744"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attempts</a:t>
            </a:r>
            <a:endParaRPr lang="en-US" sz="1050" dirty="0"/>
          </a:p>
        </p:txBody>
      </p:sp>
      <p:sp>
        <p:nvSpPr>
          <p:cNvPr id="31" name="Text 29"/>
          <p:cNvSpPr txBox="1"/>
          <p:nvPr/>
        </p:nvSpPr>
        <p:spPr>
          <a:xfrm>
            <a:off x="4428744"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643</a:t>
            </a:r>
            <a:endParaRPr lang="en-US" sz="1800" dirty="0"/>
          </a:p>
        </p:txBody>
      </p:sp>
      <p:sp>
        <p:nvSpPr>
          <p:cNvPr id="32" name="Shape 30"/>
          <p:cNvSpPr/>
          <p:nvPr/>
        </p:nvSpPr>
        <p:spPr>
          <a:xfrm>
            <a:off x="6163056" y="2560320"/>
            <a:ext cx="1734312" cy="804672"/>
          </a:xfrm>
          <a:prstGeom prst="roundRect">
            <a:avLst>
              <a:gd name="adj" fmla="val 9091"/>
            </a:avLst>
          </a:prstGeom>
          <a:solidFill>
            <a:srgbClr val="F3F4F6"/>
          </a:solidFill>
          <a:ln w="12700">
            <a:solidFill>
              <a:srgbClr val="F3F4F6"/>
            </a:solidFill>
            <a:prstDash val="solid"/>
          </a:ln>
        </p:spPr>
      </p:sp>
      <p:sp>
        <p:nvSpPr>
          <p:cNvPr id="33" name="Text 31"/>
          <p:cNvSpPr txBox="1"/>
          <p:nvPr/>
        </p:nvSpPr>
        <p:spPr>
          <a:xfrm>
            <a:off x="6300216"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attempts</a:t>
            </a:r>
            <a:endParaRPr lang="en-US" sz="1050" dirty="0"/>
          </a:p>
        </p:txBody>
      </p:sp>
      <p:sp>
        <p:nvSpPr>
          <p:cNvPr id="34" name="Text 32"/>
          <p:cNvSpPr txBox="1"/>
          <p:nvPr/>
        </p:nvSpPr>
        <p:spPr>
          <a:xfrm>
            <a:off x="6300216"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1,848</a:t>
            </a:r>
            <a:endParaRPr lang="en-US" sz="1800" dirty="0"/>
          </a:p>
        </p:txBody>
      </p:sp>
      <p:sp>
        <p:nvSpPr>
          <p:cNvPr id="35" name="Text 33"/>
          <p:cNvSpPr txBox="1"/>
          <p:nvPr/>
        </p:nvSpPr>
        <p:spPr>
          <a:xfrm>
            <a:off x="8034528" y="2560320"/>
            <a:ext cx="3605784" cy="80467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Bills 63,738 · Delivery bills 41,725 · Pickup bills 24,401 (counted separately — delivery and pickup bills do not sum to total bills).</a:t>
            </a:r>
            <a:endParaRPr lang="en-US" sz="1050" dirty="0"/>
          </a:p>
        </p:txBody>
      </p:sp>
      <p:sp>
        <p:nvSpPr>
          <p:cNvPr id="36" name="Text 34"/>
          <p:cNvSpPr txBox="1"/>
          <p:nvPr/>
        </p:nvSpPr>
        <p:spPr>
          <a:xfrm>
            <a:off x="548640" y="3520440"/>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Ratios</a:t>
            </a:r>
            <a:endParaRPr lang="en-US" sz="1500" dirty="0"/>
          </a:p>
        </p:txBody>
      </p:sp>
      <p:sp>
        <p:nvSpPr>
          <p:cNvPr id="37" name="Shape 35"/>
          <p:cNvSpPr/>
          <p:nvPr/>
        </p:nvSpPr>
        <p:spPr>
          <a:xfrm>
            <a:off x="548640" y="3867912"/>
            <a:ext cx="1734312" cy="804672"/>
          </a:xfrm>
          <a:prstGeom prst="roundRect">
            <a:avLst>
              <a:gd name="adj" fmla="val 9091"/>
            </a:avLst>
          </a:prstGeom>
          <a:solidFill>
            <a:srgbClr val="F5F3FF"/>
          </a:solidFill>
          <a:ln w="12700">
            <a:solidFill>
              <a:srgbClr val="F5F3FF"/>
            </a:solidFill>
            <a:prstDash val="solid"/>
          </a:ln>
        </p:spPr>
      </p:sp>
      <p:sp>
        <p:nvSpPr>
          <p:cNvPr id="38" name="Text 36"/>
          <p:cNvSpPr txBox="1"/>
          <p:nvPr/>
        </p:nvSpPr>
        <p:spPr>
          <a:xfrm>
            <a:off x="68580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trip</a:t>
            </a:r>
            <a:endParaRPr lang="en-US" sz="1050" dirty="0"/>
          </a:p>
        </p:txBody>
      </p:sp>
      <p:sp>
        <p:nvSpPr>
          <p:cNvPr id="39" name="Text 37"/>
          <p:cNvSpPr txBox="1"/>
          <p:nvPr/>
        </p:nvSpPr>
        <p:spPr>
          <a:xfrm>
            <a:off x="68580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9.92</a:t>
            </a:r>
            <a:endParaRPr lang="en-US" sz="1800" dirty="0"/>
          </a:p>
        </p:txBody>
      </p:sp>
      <p:sp>
        <p:nvSpPr>
          <p:cNvPr id="40" name="Shape 38"/>
          <p:cNvSpPr/>
          <p:nvPr/>
        </p:nvSpPr>
        <p:spPr>
          <a:xfrm>
            <a:off x="2420112" y="3867912"/>
            <a:ext cx="1734312" cy="804672"/>
          </a:xfrm>
          <a:prstGeom prst="roundRect">
            <a:avLst>
              <a:gd name="adj" fmla="val 9091"/>
            </a:avLst>
          </a:prstGeom>
          <a:solidFill>
            <a:srgbClr val="F5F3FF"/>
          </a:solidFill>
          <a:ln w="12700">
            <a:solidFill>
              <a:srgbClr val="F5F3FF"/>
            </a:solidFill>
            <a:prstDash val="solid"/>
          </a:ln>
        </p:spPr>
      </p:sp>
      <p:sp>
        <p:nvSpPr>
          <p:cNvPr id="41" name="Text 39"/>
          <p:cNvSpPr txBox="1"/>
          <p:nvPr/>
        </p:nvSpPr>
        <p:spPr>
          <a:xfrm>
            <a:off x="2557272"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trip</a:t>
            </a:r>
            <a:endParaRPr lang="en-US" sz="1050" dirty="0"/>
          </a:p>
        </p:txBody>
      </p:sp>
      <p:sp>
        <p:nvSpPr>
          <p:cNvPr id="42" name="Text 40"/>
          <p:cNvSpPr txBox="1"/>
          <p:nvPr/>
        </p:nvSpPr>
        <p:spPr>
          <a:xfrm>
            <a:off x="2557272"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7,017 lbs</a:t>
            </a:r>
            <a:endParaRPr lang="en-US" sz="1800" dirty="0"/>
          </a:p>
        </p:txBody>
      </p:sp>
      <p:sp>
        <p:nvSpPr>
          <p:cNvPr id="43" name="Shape 41"/>
          <p:cNvSpPr/>
          <p:nvPr/>
        </p:nvSpPr>
        <p:spPr>
          <a:xfrm>
            <a:off x="4291584" y="3867912"/>
            <a:ext cx="1734312" cy="804672"/>
          </a:xfrm>
          <a:prstGeom prst="roundRect">
            <a:avLst>
              <a:gd name="adj" fmla="val 9091"/>
            </a:avLst>
          </a:prstGeom>
          <a:solidFill>
            <a:srgbClr val="F5F3FF"/>
          </a:solidFill>
          <a:ln w="12700">
            <a:solidFill>
              <a:srgbClr val="F5F3FF"/>
            </a:solidFill>
            <a:prstDash val="solid"/>
          </a:ln>
        </p:spPr>
      </p:sp>
      <p:sp>
        <p:nvSpPr>
          <p:cNvPr id="44" name="Text 42"/>
          <p:cNvSpPr txBox="1"/>
          <p:nvPr/>
        </p:nvSpPr>
        <p:spPr>
          <a:xfrm>
            <a:off x="4428744"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 / trip</a:t>
            </a:r>
            <a:endParaRPr lang="en-US" sz="1050" dirty="0"/>
          </a:p>
        </p:txBody>
      </p:sp>
      <p:sp>
        <p:nvSpPr>
          <p:cNvPr id="45" name="Text 43"/>
          <p:cNvSpPr txBox="1"/>
          <p:nvPr/>
        </p:nvSpPr>
        <p:spPr>
          <a:xfrm>
            <a:off x="4428744"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13.83</a:t>
            </a:r>
            <a:endParaRPr lang="en-US" sz="1800" dirty="0"/>
          </a:p>
        </p:txBody>
      </p:sp>
      <p:sp>
        <p:nvSpPr>
          <p:cNvPr id="46" name="Shape 44"/>
          <p:cNvSpPr/>
          <p:nvPr/>
        </p:nvSpPr>
        <p:spPr>
          <a:xfrm>
            <a:off x="6163056" y="3867912"/>
            <a:ext cx="1734312" cy="804672"/>
          </a:xfrm>
          <a:prstGeom prst="roundRect">
            <a:avLst>
              <a:gd name="adj" fmla="val 9091"/>
            </a:avLst>
          </a:prstGeom>
          <a:solidFill>
            <a:srgbClr val="F5F3FF"/>
          </a:solidFill>
          <a:ln w="12700">
            <a:solidFill>
              <a:srgbClr val="F5F3FF"/>
            </a:solidFill>
            <a:prstDash val="solid"/>
          </a:ln>
        </p:spPr>
      </p:sp>
      <p:sp>
        <p:nvSpPr>
          <p:cNvPr id="47" name="Text 45"/>
          <p:cNvSpPr txBox="1"/>
          <p:nvPr/>
        </p:nvSpPr>
        <p:spPr>
          <a:xfrm>
            <a:off x="6300216"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stop</a:t>
            </a:r>
            <a:endParaRPr lang="en-US" sz="1050" dirty="0"/>
          </a:p>
        </p:txBody>
      </p:sp>
      <p:sp>
        <p:nvSpPr>
          <p:cNvPr id="48" name="Text 46"/>
          <p:cNvSpPr txBox="1"/>
          <p:nvPr/>
        </p:nvSpPr>
        <p:spPr>
          <a:xfrm>
            <a:off x="6300216"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16.82</a:t>
            </a:r>
            <a:endParaRPr lang="en-US" sz="1800" dirty="0"/>
          </a:p>
        </p:txBody>
      </p:sp>
      <p:sp>
        <p:nvSpPr>
          <p:cNvPr id="49" name="Shape 47"/>
          <p:cNvSpPr/>
          <p:nvPr/>
        </p:nvSpPr>
        <p:spPr>
          <a:xfrm>
            <a:off x="8034528" y="3867912"/>
            <a:ext cx="1734312" cy="804672"/>
          </a:xfrm>
          <a:prstGeom prst="roundRect">
            <a:avLst>
              <a:gd name="adj" fmla="val 9091"/>
            </a:avLst>
          </a:prstGeom>
          <a:solidFill>
            <a:srgbClr val="F5F3FF"/>
          </a:solidFill>
          <a:ln w="12700">
            <a:solidFill>
              <a:srgbClr val="F5F3FF"/>
            </a:solidFill>
            <a:prstDash val="solid"/>
          </a:ln>
        </p:spPr>
      </p:sp>
      <p:sp>
        <p:nvSpPr>
          <p:cNvPr id="50" name="Text 48"/>
          <p:cNvSpPr txBox="1"/>
          <p:nvPr/>
        </p:nvSpPr>
        <p:spPr>
          <a:xfrm>
            <a:off x="8171688"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stop</a:t>
            </a:r>
            <a:endParaRPr lang="en-US" sz="1050" dirty="0"/>
          </a:p>
        </p:txBody>
      </p:sp>
      <p:sp>
        <p:nvSpPr>
          <p:cNvPr id="51" name="Text 49"/>
          <p:cNvSpPr txBox="1"/>
          <p:nvPr/>
        </p:nvSpPr>
        <p:spPr>
          <a:xfrm>
            <a:off x="8171688"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707 lbs</a:t>
            </a:r>
            <a:endParaRPr lang="en-US" sz="1800" dirty="0"/>
          </a:p>
        </p:txBody>
      </p:sp>
      <p:sp>
        <p:nvSpPr>
          <p:cNvPr id="52" name="Shape 50"/>
          <p:cNvSpPr/>
          <p:nvPr/>
        </p:nvSpPr>
        <p:spPr>
          <a:xfrm>
            <a:off x="9906000" y="3867912"/>
            <a:ext cx="1734312" cy="804672"/>
          </a:xfrm>
          <a:prstGeom prst="roundRect">
            <a:avLst>
              <a:gd name="adj" fmla="val 9091"/>
            </a:avLst>
          </a:prstGeom>
          <a:solidFill>
            <a:srgbClr val="F5F3FF"/>
          </a:solidFill>
          <a:ln w="12700">
            <a:solidFill>
              <a:srgbClr val="F5F3FF"/>
            </a:solidFill>
            <a:prstDash val="solid"/>
          </a:ln>
        </p:spPr>
      </p:sp>
      <p:sp>
        <p:nvSpPr>
          <p:cNvPr id="53" name="Text 51"/>
          <p:cNvSpPr txBox="1"/>
          <p:nvPr/>
        </p:nvSpPr>
        <p:spPr>
          <a:xfrm>
            <a:off x="1004316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bill</a:t>
            </a:r>
            <a:endParaRPr lang="en-US" sz="1050" dirty="0"/>
          </a:p>
        </p:txBody>
      </p:sp>
      <p:sp>
        <p:nvSpPr>
          <p:cNvPr id="54" name="Text 52"/>
          <p:cNvSpPr txBox="1"/>
          <p:nvPr/>
        </p:nvSpPr>
        <p:spPr>
          <a:xfrm>
            <a:off x="1004316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507 lbs</a:t>
            </a:r>
            <a:endParaRPr lang="en-US" sz="1800" dirty="0"/>
          </a:p>
        </p:txBody>
      </p:sp>
      <p:sp>
        <p:nvSpPr>
          <p:cNvPr id="55" name="Shape 53"/>
          <p:cNvSpPr/>
          <p:nvPr/>
        </p:nvSpPr>
        <p:spPr>
          <a:xfrm>
            <a:off x="548640" y="4782312"/>
            <a:ext cx="1734312" cy="804672"/>
          </a:xfrm>
          <a:prstGeom prst="roundRect">
            <a:avLst>
              <a:gd name="adj" fmla="val 9091"/>
            </a:avLst>
          </a:prstGeom>
          <a:solidFill>
            <a:srgbClr val="F5F3FF"/>
          </a:solidFill>
          <a:ln w="12700">
            <a:solidFill>
              <a:srgbClr val="F5F3FF"/>
            </a:solidFill>
            <a:prstDash val="solid"/>
          </a:ln>
        </p:spPr>
      </p:sp>
      <p:sp>
        <p:nvSpPr>
          <p:cNvPr id="56" name="Text 54"/>
          <p:cNvSpPr txBox="1"/>
          <p:nvPr/>
        </p:nvSpPr>
        <p:spPr>
          <a:xfrm>
            <a:off x="68580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hour</a:t>
            </a:r>
            <a:endParaRPr lang="en-US" sz="1050" dirty="0"/>
          </a:p>
        </p:txBody>
      </p:sp>
      <p:sp>
        <p:nvSpPr>
          <p:cNvPr id="57" name="Text 55"/>
          <p:cNvSpPr txBox="1"/>
          <p:nvPr/>
        </p:nvSpPr>
        <p:spPr>
          <a:xfrm>
            <a:off x="68580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35.13</a:t>
            </a:r>
            <a:endParaRPr lang="en-US" sz="1800" dirty="0"/>
          </a:p>
        </p:txBody>
      </p:sp>
      <p:sp>
        <p:nvSpPr>
          <p:cNvPr id="58" name="Shape 56"/>
          <p:cNvSpPr/>
          <p:nvPr/>
        </p:nvSpPr>
        <p:spPr>
          <a:xfrm>
            <a:off x="2420112" y="4782312"/>
            <a:ext cx="1734312" cy="804672"/>
          </a:xfrm>
          <a:prstGeom prst="roundRect">
            <a:avLst>
              <a:gd name="adj" fmla="val 9091"/>
            </a:avLst>
          </a:prstGeom>
          <a:solidFill>
            <a:srgbClr val="F5F3FF"/>
          </a:solidFill>
          <a:ln w="12700">
            <a:solidFill>
              <a:srgbClr val="F5F3FF"/>
            </a:solidFill>
            <a:prstDash val="solid"/>
          </a:ln>
        </p:spPr>
      </p:sp>
      <p:sp>
        <p:nvSpPr>
          <p:cNvPr id="59" name="Text 57"/>
          <p:cNvSpPr txBox="1"/>
          <p:nvPr/>
        </p:nvSpPr>
        <p:spPr>
          <a:xfrm>
            <a:off x="2557272"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hour</a:t>
            </a:r>
            <a:endParaRPr lang="en-US" sz="1050" dirty="0"/>
          </a:p>
        </p:txBody>
      </p:sp>
      <p:sp>
        <p:nvSpPr>
          <p:cNvPr id="60" name="Text 58"/>
          <p:cNvSpPr txBox="1"/>
          <p:nvPr/>
        </p:nvSpPr>
        <p:spPr>
          <a:xfrm>
            <a:off x="2557272"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2.09</a:t>
            </a:r>
            <a:endParaRPr lang="en-US" sz="1800" dirty="0"/>
          </a:p>
        </p:txBody>
      </p:sp>
      <p:sp>
        <p:nvSpPr>
          <p:cNvPr id="61" name="Shape 59"/>
          <p:cNvSpPr/>
          <p:nvPr/>
        </p:nvSpPr>
        <p:spPr>
          <a:xfrm>
            <a:off x="4291584" y="4782312"/>
            <a:ext cx="1734312" cy="804672"/>
          </a:xfrm>
          <a:prstGeom prst="roundRect">
            <a:avLst>
              <a:gd name="adj" fmla="val 9091"/>
            </a:avLst>
          </a:prstGeom>
          <a:solidFill>
            <a:srgbClr val="F5F3FF"/>
          </a:solidFill>
          <a:ln w="12700">
            <a:solidFill>
              <a:srgbClr val="F5F3FF"/>
            </a:solidFill>
            <a:prstDash val="solid"/>
          </a:ln>
        </p:spPr>
      </p:sp>
      <p:sp>
        <p:nvSpPr>
          <p:cNvPr id="62" name="Text 60"/>
          <p:cNvSpPr txBox="1"/>
          <p:nvPr/>
        </p:nvSpPr>
        <p:spPr>
          <a:xfrm>
            <a:off x="4428744"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 / trip</a:t>
            </a:r>
            <a:endParaRPr lang="en-US" sz="1050" dirty="0"/>
          </a:p>
        </p:txBody>
      </p:sp>
      <p:sp>
        <p:nvSpPr>
          <p:cNvPr id="63" name="Text 61"/>
          <p:cNvSpPr txBox="1"/>
          <p:nvPr/>
        </p:nvSpPr>
        <p:spPr>
          <a:xfrm>
            <a:off x="4428744"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4.75</a:t>
            </a:r>
            <a:endParaRPr lang="en-US" sz="1800" dirty="0"/>
          </a:p>
        </p:txBody>
      </p:sp>
      <p:sp>
        <p:nvSpPr>
          <p:cNvPr id="64" name="Text 6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P&amp;D daily totals dashboard — Mississauga, F27 Q1 (Jul–Sep 2026).</a:t>
            </a:r>
            <a:endParaRPr lang="en-US" sz="950" dirty="0"/>
          </a:p>
        </p:txBody>
      </p:sp>
      <p:sp>
        <p:nvSpPr>
          <p:cNvPr id="65" name="Text 6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66" name="Text 6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26</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loads with load factor &gt;80% · Load % = average load percentage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75.8%</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&lt;1,000: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loads &gt;80% · 686 ex-Moncton</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footage from Bowmanville not captured correctly — fix under way; Moncton 20.5% of bills no cube vs 3.0%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5F3FF"/>
          </a:solidFill>
          <a:ln w="12700">
            <a:solidFill>
              <a:srgbClr val="F5F3FF"/>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consolidation /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26</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quality &amp; securement — planned</a:t>
            </a:r>
            <a:endParaRPr lang="en-US" sz="3000" dirty="0"/>
          </a:p>
        </p:txBody>
      </p:sp>
      <p:sp>
        <p:nvSpPr>
          <p:cNvPr id="4" name="Shape 2"/>
          <p:cNvSpPr/>
          <p:nvPr/>
        </p:nvSpPr>
        <p:spPr>
          <a:xfrm>
            <a:off x="548640" y="1371600"/>
            <a:ext cx="1347826" cy="274320"/>
          </a:xfrm>
          <a:prstGeom prst="roundRect">
            <a:avLst>
              <a:gd name="adj" fmla="val 26667"/>
            </a:avLst>
          </a:prstGeom>
          <a:solidFill>
            <a:srgbClr val="D1FAE5"/>
          </a:solidFill>
          <a:ln w="12700">
            <a:solidFill>
              <a:srgbClr val="D1FAE5"/>
            </a:solidFill>
            <a:prstDash val="solid"/>
          </a:ln>
        </p:spPr>
      </p:sp>
      <p:sp>
        <p:nvSpPr>
          <p:cNvPr id="5" name="Text 3"/>
          <p:cNvSpPr txBox="1"/>
          <p:nvPr/>
        </p:nvSpPr>
        <p:spPr>
          <a:xfrm>
            <a:off x="548640"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6" name="Image 0" descr="570260 — deck beam, 2nd tier">    </p:cNvPr>
          <p:cNvPicPr>
            <a:picLocks noChangeAspect="1"/>
          </p:cNvPicPr>
          <p:nvPr/>
        </p:nvPicPr>
        <p:blipFill>
          <a:blip r:embed="rId1"/>
          <a:srcRect l="0" r="0" t="0" b="0"/>
          <a:stretch/>
        </p:blipFill>
        <p:spPr>
          <a:xfrm>
            <a:off x="548640" y="1719072"/>
            <a:ext cx="1347826" cy="1797101"/>
          </a:xfrm>
          <a:prstGeom prst="rect">
            <a:avLst/>
          </a:prstGeom>
        </p:spPr>
      </p:pic>
      <p:sp>
        <p:nvSpPr>
          <p:cNvPr id="7" name="Text 4"/>
          <p:cNvSpPr txBox="1"/>
          <p:nvPr/>
        </p:nvSpPr>
        <p:spPr>
          <a:xfrm>
            <a:off x="548640"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570260 — deck beam, 2nd tier</a:t>
            </a:r>
            <a:endParaRPr lang="en-US" sz="900" dirty="0"/>
          </a:p>
        </p:txBody>
      </p:sp>
      <p:sp>
        <p:nvSpPr>
          <p:cNvPr id="8" name="Shape 5"/>
          <p:cNvSpPr/>
          <p:nvPr/>
        </p:nvSpPr>
        <p:spPr>
          <a:xfrm>
            <a:off x="2006194" y="1371600"/>
            <a:ext cx="1347826" cy="274320"/>
          </a:xfrm>
          <a:prstGeom prst="roundRect">
            <a:avLst>
              <a:gd name="adj" fmla="val 26667"/>
            </a:avLst>
          </a:prstGeom>
          <a:solidFill>
            <a:srgbClr val="D1FAE5"/>
          </a:solidFill>
          <a:ln w="12700">
            <a:solidFill>
              <a:srgbClr val="D1FAE5"/>
            </a:solidFill>
            <a:prstDash val="solid"/>
          </a:ln>
        </p:spPr>
      </p:sp>
      <p:sp>
        <p:nvSpPr>
          <p:cNvPr id="9" name="Text 6"/>
          <p:cNvSpPr txBox="1"/>
          <p:nvPr/>
        </p:nvSpPr>
        <p:spPr>
          <a:xfrm>
            <a:off x="200619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10" name="Image 1" descr="470275 — deck board + strap">    </p:cNvPr>
          <p:cNvPicPr>
            <a:picLocks noChangeAspect="1"/>
          </p:cNvPicPr>
          <p:nvPr/>
        </p:nvPicPr>
        <p:blipFill>
          <a:blip r:embed="rId2"/>
          <a:srcRect l="0" r="0" t="0" b="0"/>
          <a:stretch/>
        </p:blipFill>
        <p:spPr>
          <a:xfrm>
            <a:off x="2006194" y="1719072"/>
            <a:ext cx="1347826" cy="1797101"/>
          </a:xfrm>
          <a:prstGeom prst="rect">
            <a:avLst/>
          </a:prstGeom>
        </p:spPr>
      </p:pic>
      <p:sp>
        <p:nvSpPr>
          <p:cNvPr id="11" name="Text 7"/>
          <p:cNvSpPr txBox="1"/>
          <p:nvPr/>
        </p:nvSpPr>
        <p:spPr>
          <a:xfrm>
            <a:off x="200619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470275 — deck board + strap</a:t>
            </a:r>
            <a:endParaRPr lang="en-US" sz="900" dirty="0"/>
          </a:p>
        </p:txBody>
      </p:sp>
      <p:sp>
        <p:nvSpPr>
          <p:cNvPr id="12" name="Shape 8"/>
          <p:cNvSpPr/>
          <p:nvPr/>
        </p:nvSpPr>
        <p:spPr>
          <a:xfrm>
            <a:off x="3463747" y="1371600"/>
            <a:ext cx="1347826" cy="274320"/>
          </a:xfrm>
          <a:prstGeom prst="roundRect">
            <a:avLst>
              <a:gd name="adj" fmla="val 26667"/>
            </a:avLst>
          </a:prstGeom>
          <a:solidFill>
            <a:srgbClr val="FEE2E2"/>
          </a:solidFill>
          <a:ln w="12700">
            <a:solidFill>
              <a:srgbClr val="FEE2E2"/>
            </a:solidFill>
            <a:prstDash val="solid"/>
          </a:ln>
        </p:spPr>
      </p:sp>
      <p:sp>
        <p:nvSpPr>
          <p:cNvPr id="13" name="Text 9"/>
          <p:cNvSpPr txBox="1"/>
          <p:nvPr/>
        </p:nvSpPr>
        <p:spPr>
          <a:xfrm>
            <a:off x="3463747"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a:t>
            </a:r>
            <a:endParaRPr lang="en-US" sz="1000" dirty="0"/>
          </a:p>
        </p:txBody>
      </p:sp>
      <p:pic>
        <p:nvPicPr>
          <p:cNvPr id="14" name="Image 2" descr="470236 — loose on a diagonal">    </p:cNvPr>
          <p:cNvPicPr>
            <a:picLocks noChangeAspect="1"/>
          </p:cNvPicPr>
          <p:nvPr/>
        </p:nvPicPr>
        <p:blipFill>
          <a:blip r:embed="rId3"/>
          <a:srcRect l="0" r="0" t="0" b="0"/>
          <a:stretch/>
        </p:blipFill>
        <p:spPr>
          <a:xfrm>
            <a:off x="3463747" y="1719072"/>
            <a:ext cx="1347826" cy="1797101"/>
          </a:xfrm>
          <a:prstGeom prst="rect">
            <a:avLst/>
          </a:prstGeom>
        </p:spPr>
      </p:pic>
      <p:sp>
        <p:nvSpPr>
          <p:cNvPr id="15" name="Text 10"/>
          <p:cNvSpPr txBox="1"/>
          <p:nvPr/>
        </p:nvSpPr>
        <p:spPr>
          <a:xfrm>
            <a:off x="3463747"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470236 — loose on a diagonal</a:t>
            </a:r>
            <a:endParaRPr lang="en-US" sz="900" dirty="0"/>
          </a:p>
        </p:txBody>
      </p:sp>
      <p:sp>
        <p:nvSpPr>
          <p:cNvPr id="16" name="Shape 11"/>
          <p:cNvSpPr/>
          <p:nvPr/>
        </p:nvSpPr>
        <p:spPr>
          <a:xfrm>
            <a:off x="4921301" y="1371600"/>
            <a:ext cx="1347826" cy="274320"/>
          </a:xfrm>
          <a:prstGeom prst="roundRect">
            <a:avLst>
              <a:gd name="adj" fmla="val 26667"/>
            </a:avLst>
          </a:prstGeom>
          <a:solidFill>
            <a:srgbClr val="FEE2E2"/>
          </a:solidFill>
          <a:ln w="12700">
            <a:solidFill>
              <a:srgbClr val="FEE2E2"/>
            </a:solidFill>
            <a:prstDash val="solid"/>
          </a:ln>
        </p:spPr>
      </p:sp>
      <p:sp>
        <p:nvSpPr>
          <p:cNvPr id="17" name="Text 12"/>
          <p:cNvSpPr txBox="1"/>
          <p:nvPr/>
        </p:nvSpPr>
        <p:spPr>
          <a:xfrm>
            <a:off x="4921301"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18" name="Image 3" descr="57937 — glass doors on improvised A-frames">    </p:cNvPr>
          <p:cNvPicPr>
            <a:picLocks noChangeAspect="1"/>
          </p:cNvPicPr>
          <p:nvPr/>
        </p:nvPicPr>
        <p:blipFill>
          <a:blip r:embed="rId4"/>
          <a:srcRect l="0" r="0" t="0" b="0"/>
          <a:stretch/>
        </p:blipFill>
        <p:spPr>
          <a:xfrm>
            <a:off x="4921301" y="1719072"/>
            <a:ext cx="1347826" cy="1797101"/>
          </a:xfrm>
          <a:prstGeom prst="rect">
            <a:avLst/>
          </a:prstGeom>
        </p:spPr>
      </p:pic>
      <p:sp>
        <p:nvSpPr>
          <p:cNvPr id="19" name="Text 13"/>
          <p:cNvSpPr txBox="1"/>
          <p:nvPr/>
        </p:nvSpPr>
        <p:spPr>
          <a:xfrm>
            <a:off x="4921301"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57937 — glass doors on improvised A-frames</a:t>
            </a:r>
            <a:endParaRPr lang="en-US" sz="900" dirty="0"/>
          </a:p>
        </p:txBody>
      </p:sp>
      <p:sp>
        <p:nvSpPr>
          <p:cNvPr id="20" name="Shape 14"/>
          <p:cNvSpPr/>
          <p:nvPr/>
        </p:nvSpPr>
        <p:spPr>
          <a:xfrm>
            <a:off x="6378854" y="1371600"/>
            <a:ext cx="1347826" cy="274320"/>
          </a:xfrm>
          <a:prstGeom prst="roundRect">
            <a:avLst>
              <a:gd name="adj" fmla="val 26667"/>
            </a:avLst>
          </a:prstGeom>
          <a:solidFill>
            <a:srgbClr val="FEE2E2"/>
          </a:solidFill>
          <a:ln w="12700">
            <a:solidFill>
              <a:srgbClr val="FEE2E2"/>
            </a:solidFill>
            <a:prstDash val="solid"/>
          </a:ln>
        </p:spPr>
      </p:sp>
      <p:sp>
        <p:nvSpPr>
          <p:cNvPr id="21" name="Text 15"/>
          <p:cNvSpPr txBox="1"/>
          <p:nvPr/>
        </p:nvSpPr>
        <p:spPr>
          <a:xfrm>
            <a:off x="637885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22" name="Image 4" descr="Door boxes leaning / toppling">    </p:cNvPr>
          <p:cNvPicPr>
            <a:picLocks noChangeAspect="1"/>
          </p:cNvPicPr>
          <p:nvPr/>
        </p:nvPicPr>
        <p:blipFill>
          <a:blip r:embed="rId5"/>
          <a:srcRect l="0" r="0" t="0" b="0"/>
          <a:stretch/>
        </p:blipFill>
        <p:spPr>
          <a:xfrm>
            <a:off x="6378854" y="1719072"/>
            <a:ext cx="1347826" cy="1797101"/>
          </a:xfrm>
          <a:prstGeom prst="rect">
            <a:avLst/>
          </a:prstGeom>
        </p:spPr>
      </p:pic>
      <p:sp>
        <p:nvSpPr>
          <p:cNvPr id="23" name="Text 16"/>
          <p:cNvSpPr txBox="1"/>
          <p:nvPr/>
        </p:nvSpPr>
        <p:spPr>
          <a:xfrm>
            <a:off x="637885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Door boxes leaning / toppling</a:t>
            </a:r>
            <a:endParaRPr lang="en-US" sz="900" dirty="0"/>
          </a:p>
        </p:txBody>
      </p:sp>
      <p:sp>
        <p:nvSpPr>
          <p:cNvPr id="24" name="Shape 17"/>
          <p:cNvSpPr/>
          <p:nvPr/>
        </p:nvSpPr>
        <p:spPr>
          <a:xfrm>
            <a:off x="548640" y="4069080"/>
            <a:ext cx="4189781" cy="1965960"/>
          </a:xfrm>
          <a:prstGeom prst="roundRect">
            <a:avLst>
              <a:gd name="adj" fmla="val 3721"/>
            </a:avLst>
          </a:prstGeom>
          <a:solidFill>
            <a:srgbClr val="F5F3FF"/>
          </a:solidFill>
          <a:ln w="12700">
            <a:solidFill>
              <a:srgbClr val="F5F3FF"/>
            </a:solidFill>
            <a:prstDash val="solid"/>
          </a:ln>
        </p:spPr>
      </p:sp>
      <p:sp>
        <p:nvSpPr>
          <p:cNvPr id="25" name="Text 18"/>
          <p:cNvSpPr txBox="1"/>
          <p:nvPr/>
        </p:nvSpPr>
        <p:spPr>
          <a:xfrm>
            <a:off x="731520" y="4114800"/>
            <a:ext cx="3869741" cy="1874520"/>
          </a:xfrm>
          <a:prstGeom prst="rect">
            <a:avLst/>
          </a:prstGeom>
          <a:noFill/>
          <a:ln/>
        </p:spPr>
        <p:txBody>
          <a:bodyPr wrap="square" lIns="0" tIns="0" rIns="0" bIns="0" rtlCol="0" anchor="ctr"/>
          <a:lstStyle/>
          <a:p>
            <a:pPr indent="0" marL="0">
              <a:spcAft>
                <a:spcPts val="400"/>
              </a:spcAft>
              <a:buNone/>
            </a:pPr>
            <a:r>
              <a:rPr lang="en-US" sz="1300" b="1" dirty="0">
                <a:solidFill>
                  <a:srgbClr val="7C3AED"/>
                </a:solidFill>
                <a:latin typeface="Calibri" pitchFamily="34" charset="0"/>
                <a:ea typeface="Calibri" pitchFamily="34" charset="-122"/>
                <a:cs typeface="Calibri" pitchFamily="34" charset="-120"/>
              </a:rPr>
              <a:t>Why</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Uses the top half of the trailer — lifts LF score (36.4% F27).</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Fewer damaged FBs (1.61% 7-day avg) and claims.</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Safer unloading.</a:t>
            </a:r>
            <a:endParaRPr lang="en-US" sz="1200" dirty="0"/>
          </a:p>
        </p:txBody>
      </p:sp>
      <p:sp>
        <p:nvSpPr>
          <p:cNvPr id="26" name="Shape 19"/>
          <p:cNvSpPr/>
          <p:nvPr/>
        </p:nvSpPr>
        <p:spPr>
          <a:xfrm>
            <a:off x="4921301" y="4069080"/>
            <a:ext cx="2805379" cy="1965960"/>
          </a:xfrm>
          <a:prstGeom prst="roundRect">
            <a:avLst>
              <a:gd name="adj" fmla="val 3721"/>
            </a:avLst>
          </a:prstGeom>
          <a:solidFill>
            <a:srgbClr val="FFFBEB"/>
          </a:solidFill>
          <a:ln w="12700">
            <a:solidFill>
              <a:srgbClr val="FFFBEB"/>
            </a:solidFill>
            <a:prstDash val="solid"/>
          </a:ln>
        </p:spPr>
      </p:sp>
      <p:sp>
        <p:nvSpPr>
          <p:cNvPr id="27" name="Text 20"/>
          <p:cNvSpPr txBox="1"/>
          <p:nvPr/>
        </p:nvSpPr>
        <p:spPr>
          <a:xfrm>
            <a:off x="5031029" y="4114800"/>
            <a:ext cx="2585923" cy="187452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MAAX example: </a:t>
            </a:r>
            <a:pPr indent="0" marL="0">
              <a:buNone/>
            </a:pPr>
            <a:r>
              <a:rPr lang="en-US" sz="1050" dirty="0">
                <a:solidFill>
                  <a:srgbClr val="1F2937"/>
                </a:solidFill>
                <a:latin typeface="Calibri" pitchFamily="34" charset="0"/>
                <a:ea typeface="Calibri" pitchFamily="34" charset="-122"/>
                <a:cs typeface="Calibri" pitchFamily="34" charset="-120"/>
              </a:rPr>
              <a:t>shower doors and bases (thin, all glass) and 75-inch TVs ride standing loose today (trailer 47520). </a:t>
            </a:r>
            <a:pPr indent="0" marL="0">
              <a:buNone/>
            </a:pPr>
            <a:r>
              <a:rPr lang="en-US" sz="1050" b="1" dirty="0">
                <a:solidFill>
                  <a:srgbClr val="111827"/>
                </a:solidFill>
                <a:latin typeface="Calibri" pitchFamily="34" charset="0"/>
                <a:ea typeface="Calibri" pitchFamily="34" charset="-122"/>
                <a:cs typeface="Calibri" pitchFamily="34" charset="-120"/>
              </a:rPr>
              <a:t>Slot them into panel carts — yellow cart rolls by hand, grey cage lifts by forklift</a:t>
            </a:r>
            <a:pPr indent="0" marL="0">
              <a:buNone/>
            </a:pPr>
            <a:r>
              <a:rPr lang="en-US" sz="1050" dirty="0">
                <a:solidFill>
                  <a:srgbClr val="1F2937"/>
                </a:solidFill>
                <a:latin typeface="Calibri" pitchFamily="34" charset="0"/>
                <a:ea typeface="Calibri" pitchFamily="34" charset="-122"/>
                <a:cs typeface="Calibri" pitchFamily="34" charset="-120"/>
              </a:rPr>
              <a:t>: secured in transit, faster in/out, less breakage.</a:t>
            </a:r>
            <a:endParaRPr lang="en-US" sz="1050" dirty="0"/>
          </a:p>
        </p:txBody>
      </p:sp>
      <p:sp>
        <p:nvSpPr>
          <p:cNvPr id="28" name="Shape 21"/>
          <p:cNvSpPr/>
          <p:nvPr/>
        </p:nvSpPr>
        <p:spPr>
          <a:xfrm>
            <a:off x="8001000" y="1371600"/>
            <a:ext cx="3639312" cy="4663440"/>
          </a:xfrm>
          <a:prstGeom prst="roundRect">
            <a:avLst>
              <a:gd name="adj" fmla="val 2010"/>
            </a:avLst>
          </a:prstGeom>
          <a:solidFill>
            <a:srgbClr val="F3F4F6"/>
          </a:solidFill>
          <a:ln w="12700">
            <a:solidFill>
              <a:srgbClr val="F3F4F6"/>
            </a:solidFill>
            <a:prstDash val="solid"/>
          </a:ln>
        </p:spPr>
      </p:sp>
      <p:sp>
        <p:nvSpPr>
          <p:cNvPr id="29" name="Shape 22"/>
          <p:cNvSpPr/>
          <p:nvPr/>
        </p:nvSpPr>
        <p:spPr>
          <a:xfrm>
            <a:off x="8229600" y="1572768"/>
            <a:ext cx="502920" cy="502920"/>
          </a:xfrm>
          <a:prstGeom prst="ellipse">
            <a:avLst/>
          </a:prstGeom>
          <a:solidFill>
            <a:srgbClr val="7C3AED"/>
          </a:solidFill>
          <a:ln w="12700">
            <a:solidFill>
              <a:srgbClr val="7C3AED"/>
            </a:solidFill>
            <a:prstDash val="solid"/>
          </a:ln>
        </p:spPr>
      </p:sp>
      <p:pic>
        <p:nvPicPr>
          <p:cNvPr id="30" name="Image 5" descr="preencoded.png">    </p:cNvPr>
          <p:cNvPicPr>
            <a:picLocks noChangeAspect="1"/>
          </p:cNvPicPr>
          <p:nvPr/>
        </p:nvPicPr>
        <p:blipFill>
          <a:blip r:embed="rId6"/>
          <a:stretch>
            <a:fillRect/>
          </a:stretch>
        </p:blipFill>
        <p:spPr>
          <a:xfrm>
            <a:off x="8355330" y="1698498"/>
            <a:ext cx="251460" cy="251460"/>
          </a:xfrm>
          <a:prstGeom prst="rect">
            <a:avLst/>
          </a:prstGeom>
        </p:spPr>
      </p:pic>
      <p:sp>
        <p:nvSpPr>
          <p:cNvPr id="31" name="Text 23"/>
          <p:cNvSpPr txBox="1"/>
          <p:nvPr/>
        </p:nvSpPr>
        <p:spPr>
          <a:xfrm>
            <a:off x="8869680" y="1572768"/>
            <a:ext cx="256032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Equipment</a:t>
            </a:r>
            <a:endParaRPr lang="en-US" sz="1700" dirty="0"/>
          </a:p>
        </p:txBody>
      </p:sp>
      <p:sp>
        <p:nvSpPr>
          <p:cNvPr id="32" name="Text 24"/>
          <p:cNvSpPr txBox="1"/>
          <p:nvPr/>
        </p:nvSpPr>
        <p:spPr>
          <a:xfrm>
            <a:off x="8229600" y="2286000"/>
            <a:ext cx="3246120" cy="3566160"/>
          </a:xfrm>
          <a:prstGeom prst="rect">
            <a:avLst/>
          </a:prstGeom>
          <a:noFill/>
          <a:ln/>
        </p:spPr>
        <p:txBody>
          <a:bodyPr wrap="square" lIns="0" tIns="0" rIns="0" bIns="0" rtlCol="0" anchor="t"/>
          <a:lstStyle/>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knock-down pallet decks (intermodal)</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security divider deck-board kits (E-track)</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Panel trucks &amp; reconfigurable racks for windows, doors, panels, car parts (Sawtrax, Rack and Shelf, Grainger, Uline)</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Load bars &amp; straps on every mixed load</a:t>
            </a:r>
            <a:endParaRPr lang="en-US" sz="1300" dirty="0"/>
          </a:p>
        </p:txBody>
      </p:sp>
      <p:sp>
        <p:nvSpPr>
          <p:cNvPr id="33"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4"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 / 26</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Collapsible load tables — network benefit</a:t>
            </a:r>
            <a:endParaRPr lang="en-US" sz="3000" dirty="0"/>
          </a:p>
        </p:txBody>
      </p:sp>
      <p:sp>
        <p:nvSpPr>
          <p:cNvPr id="4" name="Shape 2"/>
          <p:cNvSpPr/>
          <p:nvPr/>
        </p:nvSpPr>
        <p:spPr>
          <a:xfrm>
            <a:off x="548640" y="1371600"/>
            <a:ext cx="2194560" cy="292608"/>
          </a:xfrm>
          <a:prstGeom prst="roundRect">
            <a:avLst>
              <a:gd name="adj" fmla="val 25000"/>
            </a:avLst>
          </a:prstGeom>
          <a:solidFill>
            <a:srgbClr val="EDE9FE"/>
          </a:solidFill>
          <a:ln w="12700">
            <a:solidFill>
              <a:srgbClr val="EDE9FE"/>
            </a:solidFill>
            <a:prstDash val="solid"/>
          </a:ln>
        </p:spPr>
      </p:sp>
      <p:sp>
        <p:nvSpPr>
          <p:cNvPr id="5" name="Text 3"/>
          <p:cNvSpPr txBox="1"/>
          <p:nvPr/>
        </p:nvSpPr>
        <p:spPr>
          <a:xfrm>
            <a:off x="54864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EXTENDED</a:t>
            </a:r>
            <a:endParaRPr lang="en-US" sz="1100" dirty="0"/>
          </a:p>
        </p:txBody>
      </p:sp>
      <p:pic>
        <p:nvPicPr>
          <p:cNvPr id="6" name="Image 0" descr="Second tier in the trailer">    </p:cNvPr>
          <p:cNvPicPr>
            <a:picLocks noChangeAspect="1"/>
          </p:cNvPicPr>
          <p:nvPr/>
        </p:nvPicPr>
        <p:blipFill>
          <a:blip r:embed="rId1"/>
          <a:srcRect l="0" r="0" t="0" b="0"/>
          <a:stretch/>
        </p:blipFill>
        <p:spPr>
          <a:xfrm>
            <a:off x="548640" y="1737360"/>
            <a:ext cx="2194560" cy="2392070"/>
          </a:xfrm>
          <a:prstGeom prst="rect">
            <a:avLst/>
          </a:prstGeom>
        </p:spPr>
      </p:pic>
      <p:sp>
        <p:nvSpPr>
          <p:cNvPr id="7" name="Text 4"/>
          <p:cNvSpPr txBox="1"/>
          <p:nvPr/>
        </p:nvSpPr>
        <p:spPr>
          <a:xfrm>
            <a:off x="54864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Second tier in the trailer</a:t>
            </a:r>
            <a:endParaRPr lang="en-US" sz="1100" dirty="0"/>
          </a:p>
        </p:txBody>
      </p:sp>
      <p:sp>
        <p:nvSpPr>
          <p:cNvPr id="8" name="Shape 5"/>
          <p:cNvSpPr/>
          <p:nvPr/>
        </p:nvSpPr>
        <p:spPr>
          <a:xfrm>
            <a:off x="2926080" y="1371600"/>
            <a:ext cx="2194560" cy="292608"/>
          </a:xfrm>
          <a:prstGeom prst="roundRect">
            <a:avLst>
              <a:gd name="adj" fmla="val 25000"/>
            </a:avLst>
          </a:prstGeom>
          <a:solidFill>
            <a:srgbClr val="EDE9FE"/>
          </a:solidFill>
          <a:ln w="12700">
            <a:solidFill>
              <a:srgbClr val="EDE9FE"/>
            </a:solidFill>
            <a:prstDash val="solid"/>
          </a:ln>
        </p:spPr>
      </p:sp>
      <p:sp>
        <p:nvSpPr>
          <p:cNvPr id="9" name="Text 6"/>
          <p:cNvSpPr txBox="1"/>
          <p:nvPr/>
        </p:nvSpPr>
        <p:spPr>
          <a:xfrm>
            <a:off x="292608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FOLDED</a:t>
            </a:r>
            <a:endParaRPr lang="en-US" sz="1100" dirty="0"/>
          </a:p>
        </p:txBody>
      </p:sp>
      <p:pic>
        <p:nvPicPr>
          <p:cNvPr id="10" name="Image 1" descr="Lifted by forklift">    </p:cNvPr>
          <p:cNvPicPr>
            <a:picLocks noChangeAspect="1"/>
          </p:cNvPicPr>
          <p:nvPr/>
        </p:nvPicPr>
        <p:blipFill>
          <a:blip r:embed="rId2"/>
          <a:srcRect l="0" r="0" t="0" b="0"/>
          <a:stretch/>
        </p:blipFill>
        <p:spPr>
          <a:xfrm>
            <a:off x="2926080" y="1737360"/>
            <a:ext cx="2194560" cy="2392070"/>
          </a:xfrm>
          <a:prstGeom prst="rect">
            <a:avLst/>
          </a:prstGeom>
        </p:spPr>
      </p:pic>
      <p:sp>
        <p:nvSpPr>
          <p:cNvPr id="11" name="Text 7"/>
          <p:cNvSpPr txBox="1"/>
          <p:nvPr/>
        </p:nvSpPr>
        <p:spPr>
          <a:xfrm>
            <a:off x="292608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Lifted by forklift</a:t>
            </a:r>
            <a:endParaRPr lang="en-US" sz="1100" dirty="0"/>
          </a:p>
        </p:txBody>
      </p:sp>
      <p:sp>
        <p:nvSpPr>
          <p:cNvPr id="12" name="Shape 8"/>
          <p:cNvSpPr/>
          <p:nvPr/>
        </p:nvSpPr>
        <p:spPr>
          <a:xfrm>
            <a:off x="5303520" y="1371600"/>
            <a:ext cx="2194560" cy="292608"/>
          </a:xfrm>
          <a:prstGeom prst="roundRect">
            <a:avLst>
              <a:gd name="adj" fmla="val 25000"/>
            </a:avLst>
          </a:prstGeom>
          <a:solidFill>
            <a:srgbClr val="EDE9FE"/>
          </a:solidFill>
          <a:ln w="12700">
            <a:solidFill>
              <a:srgbClr val="EDE9FE"/>
            </a:solidFill>
            <a:prstDash val="solid"/>
          </a:ln>
        </p:spPr>
      </p:sp>
      <p:sp>
        <p:nvSpPr>
          <p:cNvPr id="13" name="Text 9"/>
          <p:cNvSpPr txBox="1"/>
          <p:nvPr/>
        </p:nvSpPr>
        <p:spPr>
          <a:xfrm>
            <a:off x="530352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STACKED</a:t>
            </a:r>
            <a:endParaRPr lang="en-US" sz="1100" dirty="0"/>
          </a:p>
        </p:txBody>
      </p:sp>
      <p:pic>
        <p:nvPicPr>
          <p:cNvPr id="14" name="Image 2" descr="Small footprint when not in use">    </p:cNvPr>
          <p:cNvPicPr>
            <a:picLocks noChangeAspect="1"/>
          </p:cNvPicPr>
          <p:nvPr/>
        </p:nvPicPr>
        <p:blipFill>
          <a:blip r:embed="rId3"/>
          <a:srcRect l="0" r="0" t="0" b="0"/>
          <a:stretch/>
        </p:blipFill>
        <p:spPr>
          <a:xfrm>
            <a:off x="5303520" y="1737360"/>
            <a:ext cx="2194560" cy="2392070"/>
          </a:xfrm>
          <a:prstGeom prst="rect">
            <a:avLst/>
          </a:prstGeom>
        </p:spPr>
      </p:pic>
      <p:sp>
        <p:nvSpPr>
          <p:cNvPr id="15" name="Text 10"/>
          <p:cNvSpPr txBox="1"/>
          <p:nvPr/>
        </p:nvSpPr>
        <p:spPr>
          <a:xfrm>
            <a:off x="530352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Small footprint when not in use</a:t>
            </a:r>
            <a:endParaRPr lang="en-US" sz="1100" dirty="0"/>
          </a:p>
        </p:txBody>
      </p:sp>
      <p:sp>
        <p:nvSpPr>
          <p:cNvPr id="16" name="Shape 11"/>
          <p:cNvSpPr/>
          <p:nvPr/>
        </p:nvSpPr>
        <p:spPr>
          <a:xfrm>
            <a:off x="548640" y="4754880"/>
            <a:ext cx="6949440" cy="1280160"/>
          </a:xfrm>
          <a:prstGeom prst="roundRect">
            <a:avLst>
              <a:gd name="adj" fmla="val 5714"/>
            </a:avLst>
          </a:prstGeom>
          <a:solidFill>
            <a:srgbClr val="FFFBEB"/>
          </a:solidFill>
          <a:ln w="12700">
            <a:solidFill>
              <a:srgbClr val="FFFBEB"/>
            </a:solidFill>
            <a:prstDash val="solid"/>
          </a:ln>
        </p:spPr>
      </p:sp>
      <p:sp>
        <p:nvSpPr>
          <p:cNvPr id="17" name="Text 12"/>
          <p:cNvSpPr txBox="1"/>
          <p:nvPr/>
        </p:nvSpPr>
        <p:spPr>
          <a:xfrm>
            <a:off x="731520" y="4800600"/>
            <a:ext cx="6583680" cy="1188720"/>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Today: </a:t>
            </a:r>
            <a:pPr indent="0" marL="0">
              <a:buNone/>
            </a:pPr>
            <a:r>
              <a:rPr lang="en-US" sz="1250" dirty="0">
                <a:solidFill>
                  <a:srgbClr val="1F2937"/>
                </a:solidFill>
                <a:latin typeface="Calibri" pitchFamily="34" charset="0"/>
                <a:ea typeface="Calibri" pitchFamily="34" charset="-122"/>
                <a:cs typeface="Calibri" pitchFamily="34" charset="-120"/>
              </a:rPr>
              <a:t>large fixed metal load tables take up dock space when not in use. Most terminals are much smaller than ours and could not store them.</a:t>
            </a:r>
            <a:endParaRPr lang="en-US" sz="1250" dirty="0"/>
          </a:p>
        </p:txBody>
      </p:sp>
      <p:sp>
        <p:nvSpPr>
          <p:cNvPr id="18" name="Shape 13"/>
          <p:cNvSpPr/>
          <p:nvPr/>
        </p:nvSpPr>
        <p:spPr>
          <a:xfrm>
            <a:off x="7772400" y="1371600"/>
            <a:ext cx="3867912" cy="4663440"/>
          </a:xfrm>
          <a:prstGeom prst="roundRect">
            <a:avLst>
              <a:gd name="adj" fmla="val 1891"/>
            </a:avLst>
          </a:prstGeom>
          <a:solidFill>
            <a:srgbClr val="F3F4F6"/>
          </a:solidFill>
          <a:ln w="12700">
            <a:solidFill>
              <a:srgbClr val="F3F4F6"/>
            </a:solidFill>
            <a:prstDash val="solid"/>
          </a:ln>
        </p:spPr>
      </p:sp>
      <p:sp>
        <p:nvSpPr>
          <p:cNvPr id="19" name="Shape 14"/>
          <p:cNvSpPr/>
          <p:nvPr/>
        </p:nvSpPr>
        <p:spPr>
          <a:xfrm>
            <a:off x="8001000" y="1572768"/>
            <a:ext cx="502920" cy="502920"/>
          </a:xfrm>
          <a:prstGeom prst="ellipse">
            <a:avLst/>
          </a:prstGeom>
          <a:solidFill>
            <a:srgbClr val="7C3AED"/>
          </a:solidFill>
          <a:ln w="12700">
            <a:solidFill>
              <a:srgbClr val="7C3AED"/>
            </a:solidFill>
            <a:prstDash val="solid"/>
          </a:ln>
        </p:spPr>
      </p:sp>
      <p:pic>
        <p:nvPicPr>
          <p:cNvPr id="20" name="Image 3" descr="preencoded.png">    </p:cNvPr>
          <p:cNvPicPr>
            <a:picLocks noChangeAspect="1"/>
          </p:cNvPicPr>
          <p:nvPr/>
        </p:nvPicPr>
        <p:blipFill>
          <a:blip r:embed="rId4"/>
          <a:stretch>
            <a:fillRect/>
          </a:stretch>
        </p:blipFill>
        <p:spPr>
          <a:xfrm>
            <a:off x="8126730" y="1698498"/>
            <a:ext cx="251460" cy="251460"/>
          </a:xfrm>
          <a:prstGeom prst="rect">
            <a:avLst/>
          </a:prstGeom>
        </p:spPr>
      </p:pic>
      <p:sp>
        <p:nvSpPr>
          <p:cNvPr id="21" name="Text 15"/>
          <p:cNvSpPr txBox="1"/>
          <p:nvPr/>
        </p:nvSpPr>
        <p:spPr>
          <a:xfrm>
            <a:off x="8641080" y="1572768"/>
            <a:ext cx="283464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Why it matters</a:t>
            </a:r>
            <a:endParaRPr lang="en-US" sz="1700" dirty="0"/>
          </a:p>
        </p:txBody>
      </p:sp>
      <p:sp>
        <p:nvSpPr>
          <p:cNvPr id="22" name="Text 16"/>
          <p:cNvSpPr txBox="1"/>
          <p:nvPr/>
        </p:nvSpPr>
        <p:spPr>
          <a:xfrm>
            <a:off x="8001000" y="2240280"/>
            <a:ext cx="3474720" cy="3657600"/>
          </a:xfrm>
          <a:prstGeom prst="rect">
            <a:avLst/>
          </a:prstGeom>
          <a:noFill/>
          <a:ln/>
        </p:spPr>
        <p:txBody>
          <a:bodyPr wrap="square" lIns="0" tIns="0" rIns="0" bIns="0" rtlCol="0" anchor="t"/>
          <a:lstStyle/>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Fold flat and stack when empty — frees dock space</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Forklift picks them up — less manual handling, faster unload</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Receiving terminals across the country unload our trailers faster and cleaner — and theirs to us</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With yellow / grey bin carts, freight rolls out and is staged for final mile or transfer</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Fewer damages and claims; safer unloading</a:t>
            </a:r>
            <a:endParaRPr lang="en-US" sz="1250" dirty="0"/>
          </a:p>
        </p:txBody>
      </p:sp>
      <p:sp>
        <p:nvSpPr>
          <p:cNvPr id="23" name="Text 1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1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22 / 26</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hours saved</a:t>
            </a:r>
            <a:endParaRPr lang="en-US" sz="3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2560320"/>
                <a:gridCol w="1645920"/>
                <a:gridCol w="16459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Week</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Hours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1 · Sep 1–5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2 · Sep 6–12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3 · Sep 13–19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4 · Sep 20–26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September 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4133088"/>
            <a:ext cx="5852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 saved = hours saved × </a:t>
            </a:r>
            <a:pPr indent="0" marL="0">
              <a:buNone/>
            </a:pPr>
            <a:r>
              <a:rPr lang="en-US" sz="1100" b="1" dirty="0">
                <a:solidFill>
                  <a:srgbClr val="111827"/>
                </a:solidFill>
                <a:latin typeface="Calibri" pitchFamily="34" charset="0"/>
                <a:ea typeface="Calibri" pitchFamily="34" charset="-122"/>
                <a:cs typeface="Calibri" pitchFamily="34" charset="-120"/>
              </a:rPr>
              <a:t>$33.43</a:t>
            </a:r>
            <a:pPr indent="0" marL="0">
              <a:buNone/>
            </a:pPr>
            <a:r>
              <a:rPr lang="en-US" sz="1100" dirty="0">
                <a:solidFill>
                  <a:srgbClr val="6B7280"/>
                </a:solidFill>
                <a:latin typeface="Calibri" pitchFamily="34" charset="0"/>
                <a:ea typeface="Calibri" pitchFamily="34" charset="-122"/>
                <a:cs typeface="Calibri" pitchFamily="34" charset="-120"/>
              </a:rPr>
              <a:t>/hr (Sept MTD $/hr, productivity dashboard)</a:t>
            </a:r>
            <a:endParaRPr lang="en-US" sz="1100" dirty="0"/>
          </a:p>
        </p:txBody>
      </p:sp>
      <p:sp>
        <p:nvSpPr>
          <p:cNvPr id="6" name="Shape 3"/>
          <p:cNvSpPr/>
          <p:nvPr/>
        </p:nvSpPr>
        <p:spPr>
          <a:xfrm>
            <a:off x="548640" y="4663440"/>
            <a:ext cx="2834640" cy="1463040"/>
          </a:xfrm>
          <a:prstGeom prst="roundRect">
            <a:avLst>
              <a:gd name="adj" fmla="val 5000"/>
            </a:avLst>
          </a:prstGeom>
          <a:solidFill>
            <a:srgbClr val="F3F4F6"/>
          </a:solidFill>
          <a:ln w="12700">
            <a:solidFill>
              <a:srgbClr val="F3F4F6"/>
            </a:solidFill>
            <a:prstDash val="solid"/>
          </a:ln>
        </p:spPr>
      </p:sp>
      <p:sp>
        <p:nvSpPr>
          <p:cNvPr id="7" name="Text 4"/>
          <p:cNvSpPr txBox="1"/>
          <p:nvPr/>
        </p:nvSpPr>
        <p:spPr>
          <a:xfrm>
            <a:off x="73152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hours saved</a:t>
            </a:r>
            <a:endParaRPr lang="en-US" sz="1100" dirty="0"/>
          </a:p>
        </p:txBody>
      </p:sp>
      <p:sp>
        <p:nvSpPr>
          <p:cNvPr id="8" name="Text 5"/>
          <p:cNvSpPr txBox="1"/>
          <p:nvPr/>
        </p:nvSpPr>
        <p:spPr>
          <a:xfrm>
            <a:off x="73152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9" name="Text 6"/>
          <p:cNvSpPr txBox="1"/>
          <p:nvPr/>
        </p:nvSpPr>
        <p:spPr>
          <a:xfrm>
            <a:off x="73152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Late / lunch / early-off</a:t>
            </a:r>
            <a:endParaRPr lang="en-US" sz="1050" dirty="0"/>
          </a:p>
        </p:txBody>
      </p:sp>
      <p:sp>
        <p:nvSpPr>
          <p:cNvPr id="10" name="Shape 7"/>
          <p:cNvSpPr/>
          <p:nvPr/>
        </p:nvSpPr>
        <p:spPr>
          <a:xfrm>
            <a:off x="3566160" y="4663440"/>
            <a:ext cx="2834640" cy="1463040"/>
          </a:xfrm>
          <a:prstGeom prst="roundRect">
            <a:avLst>
              <a:gd name="adj" fmla="val 5000"/>
            </a:avLst>
          </a:prstGeom>
          <a:solidFill>
            <a:srgbClr val="F3F4F6"/>
          </a:solidFill>
          <a:ln w="12700">
            <a:solidFill>
              <a:srgbClr val="F3F4F6"/>
            </a:solidFill>
            <a:prstDash val="solid"/>
          </a:ln>
        </p:spPr>
      </p:sp>
      <p:sp>
        <p:nvSpPr>
          <p:cNvPr id="11" name="Text 8"/>
          <p:cNvSpPr txBox="1"/>
          <p:nvPr/>
        </p:nvSpPr>
        <p:spPr>
          <a:xfrm>
            <a:off x="374904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saved</a:t>
            </a:r>
            <a:endParaRPr lang="en-US" sz="1100" dirty="0"/>
          </a:p>
        </p:txBody>
      </p:sp>
      <p:sp>
        <p:nvSpPr>
          <p:cNvPr id="12" name="Text 9"/>
          <p:cNvSpPr txBox="1"/>
          <p:nvPr/>
        </p:nvSpPr>
        <p:spPr>
          <a:xfrm>
            <a:off x="374904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3" name="Text 10"/>
          <p:cNvSpPr txBox="1"/>
          <p:nvPr/>
        </p:nvSpPr>
        <p:spPr>
          <a:xfrm>
            <a:off x="374904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At </a:t>
            </a:r>
            <a:pPr indent="0" marL="0">
              <a:buNone/>
            </a:pPr>
            <a:r>
              <a:rPr lang="en-US" sz="1050" b="1" dirty="0">
                <a:solidFill>
                  <a:srgbClr val="1F2937"/>
                </a:solidFill>
                <a:latin typeface="Calibri" pitchFamily="34" charset="0"/>
                <a:ea typeface="Calibri" pitchFamily="34" charset="-122"/>
                <a:cs typeface="Calibri" pitchFamily="34" charset="-120"/>
              </a:rPr>
              <a:t>$33.43</a:t>
            </a:r>
            <a:pPr indent="0" marL="0">
              <a:buNone/>
            </a:pPr>
            <a:r>
              <a:rPr lang="en-US" sz="1050" dirty="0">
                <a:solidFill>
                  <a:srgbClr val="6B7280"/>
                </a:solidFill>
                <a:latin typeface="Calibri" pitchFamily="34" charset="0"/>
                <a:ea typeface="Calibri" pitchFamily="34" charset="-122"/>
                <a:cs typeface="Calibri" pitchFamily="34" charset="-120"/>
              </a:rPr>
              <a:t>/hr</a:t>
            </a:r>
            <a:endParaRPr lang="en-US" sz="1050" dirty="0"/>
          </a:p>
        </p:txBody>
      </p:sp>
      <p:sp>
        <p:nvSpPr>
          <p:cNvPr id="14" name="Shape 11"/>
          <p:cNvSpPr/>
          <p:nvPr/>
        </p:nvSpPr>
        <p:spPr>
          <a:xfrm>
            <a:off x="6812280" y="1371600"/>
            <a:ext cx="4828032" cy="4754880"/>
          </a:xfrm>
          <a:prstGeom prst="roundRect">
            <a:avLst>
              <a:gd name="adj" fmla="val 1538"/>
            </a:avLst>
          </a:prstGeom>
          <a:solidFill>
            <a:srgbClr val="F3F4F6"/>
          </a:solidFill>
          <a:ln w="12700">
            <a:solidFill>
              <a:srgbClr val="F3F4F6"/>
            </a:solidFill>
            <a:prstDash val="solid"/>
          </a:ln>
        </p:spPr>
      </p:sp>
      <p:sp>
        <p:nvSpPr>
          <p:cNvPr id="15" name="Text 12"/>
          <p:cNvSpPr txBox="1"/>
          <p:nvPr/>
        </p:nvSpPr>
        <p:spPr>
          <a:xfrm>
            <a:off x="7086600" y="1600200"/>
            <a:ext cx="438912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drives the hours saved</a:t>
            </a:r>
            <a:endParaRPr lang="en-US" sz="1800" dirty="0"/>
          </a:p>
        </p:txBody>
      </p:sp>
      <p:sp>
        <p:nvSpPr>
          <p:cNvPr id="16" name="Shape 13"/>
          <p:cNvSpPr/>
          <p:nvPr/>
        </p:nvSpPr>
        <p:spPr>
          <a:xfrm>
            <a:off x="7086600" y="2286000"/>
            <a:ext cx="548640" cy="548640"/>
          </a:xfrm>
          <a:prstGeom prst="ellipse">
            <a:avLst/>
          </a:prstGeom>
          <a:solidFill>
            <a:srgbClr val="EDE9FE"/>
          </a:solidFill>
          <a:ln w="12700">
            <a:solidFill>
              <a:srgbClr val="EDE9FE"/>
            </a:solidFill>
            <a:prstDash val="solid"/>
          </a:ln>
        </p:spPr>
      </p:sp>
      <p:pic>
        <p:nvPicPr>
          <p:cNvPr id="17" name="Image 0" descr="preencoded.png">    </p:cNvPr>
          <p:cNvPicPr>
            <a:picLocks noChangeAspect="1"/>
          </p:cNvPicPr>
          <p:nvPr/>
        </p:nvPicPr>
        <p:blipFill>
          <a:blip r:embed="rId1"/>
          <a:stretch>
            <a:fillRect/>
          </a:stretch>
        </p:blipFill>
        <p:spPr>
          <a:xfrm>
            <a:off x="7223760" y="2423160"/>
            <a:ext cx="274320" cy="274320"/>
          </a:xfrm>
          <a:prstGeom prst="rect">
            <a:avLst/>
          </a:prstGeom>
        </p:spPr>
      </p:pic>
      <p:sp>
        <p:nvSpPr>
          <p:cNvPr id="18" name="Text 14"/>
          <p:cNvSpPr txBox="1"/>
          <p:nvPr/>
        </p:nvSpPr>
        <p:spPr>
          <a:xfrm>
            <a:off x="7818120" y="219456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Late arrivals — pay starts at actual clock-in, not scheduled start.</a:t>
            </a:r>
            <a:endParaRPr lang="en-US" sz="1500" dirty="0"/>
          </a:p>
        </p:txBody>
      </p:sp>
      <p:sp>
        <p:nvSpPr>
          <p:cNvPr id="19" name="Shape 15"/>
          <p:cNvSpPr/>
          <p:nvPr/>
        </p:nvSpPr>
        <p:spPr>
          <a:xfrm>
            <a:off x="7086600" y="3474720"/>
            <a:ext cx="548640" cy="548640"/>
          </a:xfrm>
          <a:prstGeom prst="ellipse">
            <a:avLst/>
          </a:prstGeom>
          <a:solidFill>
            <a:srgbClr val="EDE9FE"/>
          </a:solidFill>
          <a:ln w="12700">
            <a:solidFill>
              <a:srgbClr val="EDE9FE"/>
            </a:solidFill>
            <a:prstDash val="solid"/>
          </a:ln>
        </p:spPr>
      </p:sp>
      <p:pic>
        <p:nvPicPr>
          <p:cNvPr id="20" name="Image 1" descr="preencoded.png">    </p:cNvPr>
          <p:cNvPicPr>
            <a:picLocks noChangeAspect="1"/>
          </p:cNvPicPr>
          <p:nvPr/>
        </p:nvPicPr>
        <p:blipFill>
          <a:blip r:embed="rId2"/>
          <a:stretch>
            <a:fillRect/>
          </a:stretch>
        </p:blipFill>
        <p:spPr>
          <a:xfrm>
            <a:off x="7223760" y="3611880"/>
            <a:ext cx="274320" cy="274320"/>
          </a:xfrm>
          <a:prstGeom prst="rect">
            <a:avLst/>
          </a:prstGeom>
        </p:spPr>
      </p:pic>
      <p:sp>
        <p:nvSpPr>
          <p:cNvPr id="21" name="Text 16"/>
          <p:cNvSpPr txBox="1"/>
          <p:nvPr/>
        </p:nvSpPr>
        <p:spPr>
          <a:xfrm>
            <a:off x="7818120" y="338328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No-lunch punches reviewed daily by the shift supervisor.</a:t>
            </a:r>
            <a:endParaRPr lang="en-US" sz="1500" dirty="0"/>
          </a:p>
        </p:txBody>
      </p:sp>
      <p:sp>
        <p:nvSpPr>
          <p:cNvPr id="22" name="Shape 17"/>
          <p:cNvSpPr/>
          <p:nvPr/>
        </p:nvSpPr>
        <p:spPr>
          <a:xfrm>
            <a:off x="7086600" y="4663440"/>
            <a:ext cx="548640" cy="548640"/>
          </a:xfrm>
          <a:prstGeom prst="ellipse">
            <a:avLst/>
          </a:prstGeom>
          <a:solidFill>
            <a:srgbClr val="EDE9FE"/>
          </a:solidFill>
          <a:ln w="12700">
            <a:solidFill>
              <a:srgbClr val="EDE9FE"/>
            </a:solidFill>
            <a:prstDash val="solid"/>
          </a:ln>
        </p:spPr>
      </p:sp>
      <p:pic>
        <p:nvPicPr>
          <p:cNvPr id="23" name="Image 2" descr="preencoded.png">    </p:cNvPr>
          <p:cNvPicPr>
            <a:picLocks noChangeAspect="1"/>
          </p:cNvPicPr>
          <p:nvPr/>
        </p:nvPicPr>
        <p:blipFill>
          <a:blip r:embed="rId3"/>
          <a:stretch>
            <a:fillRect/>
          </a:stretch>
        </p:blipFill>
        <p:spPr>
          <a:xfrm>
            <a:off x="7223760" y="4800600"/>
            <a:ext cx="274320" cy="274320"/>
          </a:xfrm>
          <a:prstGeom prst="rect">
            <a:avLst/>
          </a:prstGeom>
        </p:spPr>
      </p:pic>
      <p:sp>
        <p:nvSpPr>
          <p:cNvPr id="24" name="Text 18"/>
          <p:cNvSpPr txBox="1"/>
          <p:nvPr/>
        </p:nvSpPr>
        <p:spPr>
          <a:xfrm>
            <a:off x="7818120" y="457200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Part-time / early-off shifts released when volume is done.</a:t>
            </a:r>
            <a:endParaRPr lang="en-US" sz="1500" dirty="0"/>
          </a:p>
        </p:txBody>
      </p:sp>
      <p:sp>
        <p:nvSpPr>
          <p:cNvPr id="25" name="Text 19"/>
          <p:cNvSpPr txBox="1"/>
          <p:nvPr/>
        </p:nvSpPr>
        <p:spPr>
          <a:xfrm>
            <a:off x="7086600" y="5486400"/>
            <a:ext cx="4389120" cy="502920"/>
          </a:xfrm>
          <a:prstGeom prst="rect">
            <a:avLst/>
          </a:prstGeom>
          <a:noFill/>
          <a:ln/>
        </p:spPr>
        <p:txBody>
          <a:bodyPr wrap="square" lIns="0" tIns="0" rIns="0" bIns="0" rtlCol="0" anchor="t"/>
          <a:lstStyle/>
          <a:p>
            <a:pPr indent="0" marL="0">
              <a:buNone/>
            </a:pPr>
            <a:r>
              <a:rPr lang="en-US" sz="1100" i="1" dirty="0">
                <a:solidFill>
                  <a:srgbClr val="6B7280"/>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100" dirty="0"/>
          </a:p>
        </p:txBody>
      </p:sp>
      <p:sp>
        <p:nvSpPr>
          <p:cNvPr id="26"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7"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23 / 26</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5F3FF"/>
          </a:solidFill>
          <a:ln w="12700">
            <a:solidFill>
              <a:srgbClr val="F5F3FF"/>
            </a:solidFill>
            <a:prstDash val="solid"/>
          </a:ln>
        </p:spPr>
      </p:sp>
      <p:sp>
        <p:nvSpPr>
          <p:cNvPr id="5" name="Shape 3"/>
          <p:cNvSpPr/>
          <p:nvPr/>
        </p:nvSpPr>
        <p:spPr>
          <a:xfrm>
            <a:off x="868680" y="2011680"/>
            <a:ext cx="1005840" cy="1005840"/>
          </a:xfrm>
          <a:prstGeom prst="ellipse">
            <a:avLst/>
          </a:prstGeom>
          <a:solidFill>
            <a:srgbClr val="7C3AED"/>
          </a:solidFill>
          <a:ln w="127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7C3AED"/>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Expected before end of calendar 2026.</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EDE9FE"/>
          </a:solidFill>
          <a:ln w="12700">
            <a:solidFill>
              <a:srgbClr val="EDE9FE"/>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EDE9FE"/>
          </a:solidFill>
          <a:ln w="12700">
            <a:solidFill>
              <a:srgbClr val="EDE9FE"/>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24 / 26</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91.1% of SCA hour allowance — 391 hrs under (≈$13.1K).</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SCA dock 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Cost per unit −16.7%; units/hr +26.7%; OT 9 hrs.</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7 initiatives tracked; $61K/yr confirmed (dispatcher role eliminated — dispatch centralized).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25 / 26</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Backup — key numbers for Q&amp;A</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Mississauga · September MTD to Sep 26 unless noted · (calc.) = calculated from report figures</a:t>
            </a:r>
            <a:endParaRPr lang="en-US" sz="1200" dirty="0"/>
          </a:p>
        </p:txBody>
      </p:sp>
      <p:sp>
        <p:nvSpPr>
          <p:cNvPr id="5" name="Shape 3"/>
          <p:cNvSpPr/>
          <p:nvPr/>
        </p:nvSpPr>
        <p:spPr>
          <a:xfrm>
            <a:off x="548640" y="1627632"/>
            <a:ext cx="5431536" cy="822960"/>
          </a:xfrm>
          <a:prstGeom prst="roundRect">
            <a:avLst>
              <a:gd name="adj" fmla="val 8889"/>
            </a:avLst>
          </a:prstGeom>
          <a:solidFill>
            <a:srgbClr val="F3F4F6"/>
          </a:solidFill>
          <a:ln w="12700">
            <a:solidFill>
              <a:srgbClr val="F3F4F6"/>
            </a:solidFill>
            <a:prstDash val="solid"/>
          </a:ln>
        </p:spPr>
      </p:sp>
      <p:sp>
        <p:nvSpPr>
          <p:cNvPr id="6" name="Text 4"/>
          <p:cNvSpPr txBox="1"/>
          <p:nvPr/>
        </p:nvSpPr>
        <p:spPr>
          <a:xfrm>
            <a:off x="685800"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SCA target?</a:t>
            </a:r>
            <a:endParaRPr lang="en-US" sz="1100" dirty="0"/>
          </a:p>
        </p:txBody>
      </p:sp>
      <p:sp>
        <p:nvSpPr>
          <p:cNvPr id="7" name="Text 5"/>
          <p:cNvSpPr txBox="1"/>
          <p:nvPr/>
        </p:nvSpPr>
        <p:spPr>
          <a:xfrm>
            <a:off x="1965960"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Sept SCA target 5,122 dock hrs (F26 Sept 6,303 − 1,181-hr reduction target) · 244 hrs per working day · SCA dock cost per PRO target $6.85.</a:t>
            </a:r>
            <a:endParaRPr lang="en-US" sz="1000" dirty="0"/>
          </a:p>
        </p:txBody>
      </p:sp>
      <p:sp>
        <p:nvSpPr>
          <p:cNvPr id="8" name="Shape 6"/>
          <p:cNvSpPr/>
          <p:nvPr/>
        </p:nvSpPr>
        <p:spPr>
          <a:xfrm>
            <a:off x="548640" y="2523744"/>
            <a:ext cx="5431536" cy="822960"/>
          </a:xfrm>
          <a:prstGeom prst="roundRect">
            <a:avLst>
              <a:gd name="adj" fmla="val 8889"/>
            </a:avLst>
          </a:prstGeom>
          <a:solidFill>
            <a:srgbClr val="F9FAFB"/>
          </a:solidFill>
          <a:ln w="12700">
            <a:solidFill>
              <a:srgbClr val="F9FAFB"/>
            </a:solidFill>
            <a:prstDash val="solid"/>
          </a:ln>
        </p:spPr>
      </p:sp>
      <p:sp>
        <p:nvSpPr>
          <p:cNvPr id="9" name="Text 7"/>
          <p:cNvSpPr txBox="1"/>
          <p:nvPr/>
        </p:nvSpPr>
        <p:spPr>
          <a:xfrm>
            <a:off x="685800"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Tracking?</a:t>
            </a:r>
            <a:endParaRPr lang="en-US" sz="1100" dirty="0"/>
          </a:p>
        </p:txBody>
      </p:sp>
      <p:sp>
        <p:nvSpPr>
          <p:cNvPr id="10" name="Text 8"/>
          <p:cNvSpPr txBox="1"/>
          <p:nvPr/>
        </p:nvSpPr>
        <p:spPr>
          <a:xfrm>
            <a:off x="1965960"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3,999 hrs used vs 4,390 allowed MTD = 91.1% (391 hrs under ≈ $13.1K) · pace ≈4,666 hrs vs 5,122 target = 139% of reduction target · SCA dock cost per PRO $6.60 = 96.3% of target (amber).</a:t>
            </a:r>
            <a:endParaRPr lang="en-US" sz="1000" dirty="0"/>
          </a:p>
        </p:txBody>
      </p:sp>
      <p:sp>
        <p:nvSpPr>
          <p:cNvPr id="11" name="Shape 9"/>
          <p:cNvSpPr/>
          <p:nvPr/>
        </p:nvSpPr>
        <p:spPr>
          <a:xfrm>
            <a:off x="548640" y="3419856"/>
            <a:ext cx="5431536" cy="822960"/>
          </a:xfrm>
          <a:prstGeom prst="roundRect">
            <a:avLst>
              <a:gd name="adj" fmla="val 8889"/>
            </a:avLst>
          </a:prstGeom>
          <a:solidFill>
            <a:srgbClr val="F3F4F6"/>
          </a:solidFill>
          <a:ln w="12700">
            <a:solidFill>
              <a:srgbClr val="F3F4F6"/>
            </a:solidFill>
            <a:prstDash val="solid"/>
          </a:ln>
        </p:spPr>
      </p:sp>
      <p:sp>
        <p:nvSpPr>
          <p:cNvPr id="12" name="Text 10"/>
          <p:cNvSpPr txBox="1"/>
          <p:nvPr/>
        </p:nvSpPr>
        <p:spPr>
          <a:xfrm>
            <a:off x="685800"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Spend rate?</a:t>
            </a:r>
            <a:endParaRPr lang="en-US" sz="1100" dirty="0"/>
          </a:p>
        </p:txBody>
      </p:sp>
      <p:sp>
        <p:nvSpPr>
          <p:cNvPr id="13" name="Text 11"/>
          <p:cNvSpPr txBox="1"/>
          <p:nvPr/>
        </p:nvSpPr>
        <p:spPr>
          <a:xfrm>
            <a:off x="1965960"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Dock labour $133,692 MTD over 18 working days ≈ $7,427 per working day (calc.) · projected Sept ≈ $156K vs $199.7K F26 Sept (≈ −22%, calc.) · $33.43/hr (+5.5% YoY wage rate) · cost per unit $2.19 vs $2.64 (−16.7%).</a:t>
            </a:r>
            <a:endParaRPr lang="en-US" sz="1000" dirty="0"/>
          </a:p>
        </p:txBody>
      </p:sp>
      <p:sp>
        <p:nvSpPr>
          <p:cNvPr id="14" name="Shape 12"/>
          <p:cNvSpPr/>
          <p:nvPr/>
        </p:nvSpPr>
        <p:spPr>
          <a:xfrm>
            <a:off x="548640" y="4315968"/>
            <a:ext cx="5431536" cy="822960"/>
          </a:xfrm>
          <a:prstGeom prst="roundRect">
            <a:avLst>
              <a:gd name="adj" fmla="val 8889"/>
            </a:avLst>
          </a:prstGeom>
          <a:solidFill>
            <a:srgbClr val="F9FAFB"/>
          </a:solidFill>
          <a:ln w="12700">
            <a:solidFill>
              <a:srgbClr val="F9FAFB"/>
            </a:solidFill>
            <a:prstDash val="solid"/>
          </a:ln>
        </p:spPr>
      </p:sp>
      <p:sp>
        <p:nvSpPr>
          <p:cNvPr id="15" name="Text 13"/>
          <p:cNvSpPr txBox="1"/>
          <p:nvPr/>
        </p:nvSpPr>
        <p:spPr>
          <a:xfrm>
            <a:off x="685800"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Agency mix?</a:t>
            </a:r>
            <a:endParaRPr lang="en-US" sz="1100" dirty="0"/>
          </a:p>
        </p:txBody>
      </p:sp>
      <p:sp>
        <p:nvSpPr>
          <p:cNvPr id="16" name="Text 14"/>
          <p:cNvSpPr txBox="1"/>
          <p:nvPr/>
        </p:nvSpPr>
        <p:spPr>
          <a:xfrm>
            <a:off x="1965960"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Agency 61% of dock hours (2,457 of 3,999) vs 70.5% F26 · agency cost $74,775 = 56% of dock labour vs 65% F26 (calc.).</a:t>
            </a:r>
            <a:endParaRPr lang="en-US" sz="1000" dirty="0"/>
          </a:p>
        </p:txBody>
      </p:sp>
      <p:sp>
        <p:nvSpPr>
          <p:cNvPr id="17" name="Shape 15"/>
          <p:cNvSpPr/>
          <p:nvPr/>
        </p:nvSpPr>
        <p:spPr>
          <a:xfrm>
            <a:off x="548640" y="5212080"/>
            <a:ext cx="5431536" cy="822960"/>
          </a:xfrm>
          <a:prstGeom prst="roundRect">
            <a:avLst>
              <a:gd name="adj" fmla="val 8889"/>
            </a:avLst>
          </a:prstGeom>
          <a:solidFill>
            <a:srgbClr val="F3F4F6"/>
          </a:solidFill>
          <a:ln w="12700">
            <a:solidFill>
              <a:srgbClr val="F3F4F6"/>
            </a:solidFill>
            <a:prstDash val="solid"/>
          </a:ln>
        </p:spPr>
      </p:sp>
      <p:sp>
        <p:nvSpPr>
          <p:cNvPr id="18" name="Text 16"/>
          <p:cNvSpPr txBox="1"/>
          <p:nvPr/>
        </p:nvSpPr>
        <p:spPr>
          <a:xfrm>
            <a:off x="685800"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Year-end goal?</a:t>
            </a:r>
            <a:endParaRPr lang="en-US" sz="1100" dirty="0"/>
          </a:p>
        </p:txBody>
      </p:sp>
      <p:sp>
        <p:nvSpPr>
          <p:cNvPr id="19" name="Text 17"/>
          <p:cNvSpPr txBox="1"/>
          <p:nvPr/>
        </p:nvSpPr>
        <p:spPr>
          <a:xfrm>
            <a:off x="1965960"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F27 cost take-out target: </a:t>
            </a:r>
            <a:pPr indent="0" marL="0">
              <a:buNone/>
            </a:pPr>
            <a:r>
              <a:rPr lang="en-US" sz="1000" b="1" dirty="0">
                <a:solidFill>
                  <a:srgbClr val="D97706"/>
                </a:solidFill>
                <a:latin typeface="Calibri" pitchFamily="34" charset="0"/>
                <a:ea typeface="Calibri" pitchFamily="34" charset="-122"/>
                <a:cs typeface="Calibri" pitchFamily="34" charset="-120"/>
              </a:rPr>
              <a:t>TBC</a:t>
            </a:r>
            <a:pPr indent="0" marL="0">
              <a:buNone/>
            </a:pPr>
            <a:r>
              <a:rPr lang="en-US" sz="1000" dirty="0">
                <a:solidFill>
                  <a:srgbClr val="1F2937"/>
                </a:solidFill>
                <a:latin typeface="Calibri" pitchFamily="34" charset="0"/>
                <a:ea typeface="Calibri" pitchFamily="34" charset="-122"/>
                <a:cs typeface="Calibri" pitchFamily="34" charset="-120"/>
              </a:rPr>
              <a:t> · identified so far $61K/yr (dispatcher role eliminated).</a:t>
            </a:r>
            <a:endParaRPr lang="en-US" sz="1000" dirty="0"/>
          </a:p>
        </p:txBody>
      </p:sp>
      <p:sp>
        <p:nvSpPr>
          <p:cNvPr id="20" name="Shape 18"/>
          <p:cNvSpPr/>
          <p:nvPr/>
        </p:nvSpPr>
        <p:spPr>
          <a:xfrm>
            <a:off x="6208776" y="1627632"/>
            <a:ext cx="5431536" cy="822960"/>
          </a:xfrm>
          <a:prstGeom prst="roundRect">
            <a:avLst>
              <a:gd name="adj" fmla="val 8889"/>
            </a:avLst>
          </a:prstGeom>
          <a:solidFill>
            <a:srgbClr val="F3F4F6"/>
          </a:solidFill>
          <a:ln w="12700">
            <a:solidFill>
              <a:srgbClr val="F3F4F6"/>
            </a:solidFill>
            <a:prstDash val="solid"/>
          </a:ln>
        </p:spPr>
      </p:sp>
      <p:sp>
        <p:nvSpPr>
          <p:cNvPr id="21" name="Text 19"/>
          <p:cNvSpPr txBox="1"/>
          <p:nvPr/>
        </p:nvSpPr>
        <p:spPr>
          <a:xfrm>
            <a:off x="6345936"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Overtime?</a:t>
            </a:r>
            <a:endParaRPr lang="en-US" sz="1100" dirty="0"/>
          </a:p>
        </p:txBody>
      </p:sp>
      <p:sp>
        <p:nvSpPr>
          <p:cNvPr id="22" name="Text 20"/>
          <p:cNvSpPr txBox="1"/>
          <p:nvPr/>
        </p:nvSpPr>
        <p:spPr>
          <a:xfrm>
            <a:off x="7626096"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9 hrs Sept (0.2%) · Q1 OT 62.3 hrs, 1.0% of hours.</a:t>
            </a:r>
            <a:endParaRPr lang="en-US" sz="1000" dirty="0"/>
          </a:p>
        </p:txBody>
      </p:sp>
      <p:sp>
        <p:nvSpPr>
          <p:cNvPr id="23" name="Shape 21"/>
          <p:cNvSpPr/>
          <p:nvPr/>
        </p:nvSpPr>
        <p:spPr>
          <a:xfrm>
            <a:off x="6208776" y="2523744"/>
            <a:ext cx="5431536" cy="822960"/>
          </a:xfrm>
          <a:prstGeom prst="roundRect">
            <a:avLst>
              <a:gd name="adj" fmla="val 8889"/>
            </a:avLst>
          </a:prstGeom>
          <a:solidFill>
            <a:srgbClr val="F9FAFB"/>
          </a:solidFill>
          <a:ln w="12700">
            <a:solidFill>
              <a:srgbClr val="F9FAFB"/>
            </a:solidFill>
            <a:prstDash val="solid"/>
          </a:ln>
        </p:spPr>
      </p:sp>
      <p:sp>
        <p:nvSpPr>
          <p:cNvPr id="24" name="Text 22"/>
          <p:cNvSpPr txBox="1"/>
          <p:nvPr/>
        </p:nvSpPr>
        <p:spPr>
          <a:xfrm>
            <a:off x="6345936"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PPH gap?</a:t>
            </a:r>
            <a:endParaRPr lang="en-US" sz="1100" dirty="0"/>
          </a:p>
        </p:txBody>
      </p:sp>
      <p:sp>
        <p:nvSpPr>
          <p:cNvPr id="25" name="Text 23"/>
          <p:cNvSpPr txBox="1"/>
          <p:nvPr/>
        </p:nvSpPr>
        <p:spPr>
          <a:xfrm>
            <a:off x="7626096"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3,327 vs 4,258 goal (−21.9%); flat YoY on lighter freight (218 vs ≈275 lbs/unit); levers: load factor, Toyota footage capture, shift alignment.</a:t>
            </a:r>
            <a:endParaRPr lang="en-US" sz="1000" dirty="0"/>
          </a:p>
        </p:txBody>
      </p:sp>
      <p:sp>
        <p:nvSpPr>
          <p:cNvPr id="26" name="Shape 24"/>
          <p:cNvSpPr/>
          <p:nvPr/>
        </p:nvSpPr>
        <p:spPr>
          <a:xfrm>
            <a:off x="6208776" y="3419856"/>
            <a:ext cx="5431536" cy="822960"/>
          </a:xfrm>
          <a:prstGeom prst="roundRect">
            <a:avLst>
              <a:gd name="adj" fmla="val 8889"/>
            </a:avLst>
          </a:prstGeom>
          <a:solidFill>
            <a:srgbClr val="F3F4F6"/>
          </a:solidFill>
          <a:ln w="12700">
            <a:solidFill>
              <a:srgbClr val="F3F4F6"/>
            </a:solidFill>
            <a:prstDash val="solid"/>
          </a:ln>
        </p:spPr>
      </p:sp>
      <p:sp>
        <p:nvSpPr>
          <p:cNvPr id="27" name="Text 25"/>
          <p:cNvSpPr txBox="1"/>
          <p:nvPr/>
        </p:nvSpPr>
        <p:spPr>
          <a:xfrm>
            <a:off x="6345936"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Admin hours up?</a:t>
            </a:r>
            <a:endParaRPr lang="en-US" sz="1100" dirty="0"/>
          </a:p>
        </p:txBody>
      </p:sp>
      <p:sp>
        <p:nvSpPr>
          <p:cNvPr id="28" name="Text 26"/>
          <p:cNvSpPr txBox="1"/>
          <p:nvPr/>
        </p:nvSpPr>
        <p:spPr>
          <a:xfrm>
            <a:off x="7626096"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446 → 909 hrs Q1; admin cost $18.4K vs $9.2K F26, but below F24 $21.5K / F25 $22.7K.</a:t>
            </a:r>
            <a:endParaRPr lang="en-US" sz="1000" dirty="0"/>
          </a:p>
        </p:txBody>
      </p:sp>
      <p:sp>
        <p:nvSpPr>
          <p:cNvPr id="29" name="Shape 27"/>
          <p:cNvSpPr/>
          <p:nvPr/>
        </p:nvSpPr>
        <p:spPr>
          <a:xfrm>
            <a:off x="6208776" y="4315968"/>
            <a:ext cx="5431536" cy="822960"/>
          </a:xfrm>
          <a:prstGeom prst="roundRect">
            <a:avLst>
              <a:gd name="adj" fmla="val 8889"/>
            </a:avLst>
          </a:prstGeom>
          <a:solidFill>
            <a:srgbClr val="F9FAFB"/>
          </a:solidFill>
          <a:ln w="12700">
            <a:solidFill>
              <a:srgbClr val="F9FAFB"/>
            </a:solidFill>
            <a:prstDash val="solid"/>
          </a:ln>
        </p:spPr>
      </p:sp>
      <p:sp>
        <p:nvSpPr>
          <p:cNvPr id="30" name="Text 28"/>
          <p:cNvSpPr txBox="1"/>
          <p:nvPr/>
        </p:nvSpPr>
        <p:spPr>
          <a:xfrm>
            <a:off x="6345936"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Service?</a:t>
            </a:r>
            <a:endParaRPr lang="en-US" sz="1100" dirty="0"/>
          </a:p>
        </p:txBody>
      </p:sp>
      <p:sp>
        <p:nvSpPr>
          <p:cNvPr id="31" name="Text 29"/>
          <p:cNvSpPr txBox="1"/>
          <p:nvPr/>
        </p:nvSpPr>
        <p:spPr>
          <a:xfrm>
            <a:off x="7626096"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Adj OTS Sept 93.7% (96.7% excl. partner carriers), target 90% · missed PU 4.70% all dates, 3.75% last 7 days, 45% false positives.</a:t>
            </a:r>
            <a:endParaRPr lang="en-US" sz="1000" dirty="0"/>
          </a:p>
        </p:txBody>
      </p:sp>
      <p:sp>
        <p:nvSpPr>
          <p:cNvPr id="32" name="Shape 30"/>
          <p:cNvSpPr/>
          <p:nvPr/>
        </p:nvSpPr>
        <p:spPr>
          <a:xfrm>
            <a:off x="6208776" y="5212080"/>
            <a:ext cx="5431536" cy="822960"/>
          </a:xfrm>
          <a:prstGeom prst="roundRect">
            <a:avLst>
              <a:gd name="adj" fmla="val 8889"/>
            </a:avLst>
          </a:prstGeom>
          <a:solidFill>
            <a:srgbClr val="F3F4F6"/>
          </a:solidFill>
          <a:ln w="12700">
            <a:solidFill>
              <a:srgbClr val="F3F4F6"/>
            </a:solidFill>
            <a:prstDash val="solid"/>
          </a:ln>
        </p:spPr>
      </p:sp>
      <p:sp>
        <p:nvSpPr>
          <p:cNvPr id="33" name="Text 31"/>
          <p:cNvSpPr txBox="1"/>
          <p:nvPr/>
        </p:nvSpPr>
        <p:spPr>
          <a:xfrm>
            <a:off x="6345936"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Safety?</a:t>
            </a:r>
            <a:endParaRPr lang="en-US" sz="1100" dirty="0"/>
          </a:p>
        </p:txBody>
      </p:sp>
      <p:sp>
        <p:nvSpPr>
          <p:cNvPr id="34" name="Text 32"/>
          <p:cNvSpPr txBox="1"/>
          <p:nvPr/>
        </p:nvSpPr>
        <p:spPr>
          <a:xfrm>
            <a:off x="7626096"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0 recordables F27, TRIR 0.00 vs 1.21 F26 · 384 days since last recordable · Initiatives: 3 completed · 7 active · 4 planned (driver safety reps; route ride-alongs; load securement &amp; decking; freight-handling equipment).</a:t>
            </a:r>
            <a:endParaRPr lang="en-US" sz="1000" dirty="0"/>
          </a:p>
        </p:txBody>
      </p:sp>
      <p:sp>
        <p:nvSpPr>
          <p:cNvPr id="35" name="Text 3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26 / 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2026-09-29T15:53:30Z</dcterms:created>
  <dcterms:modified xsi:type="dcterms:W3CDTF">2026-09-29T15:53:30Z</dcterms:modified>
</cp:coreProperties>
</file>