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FDBA7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D&amp;R</c:v>
                </c:pt>
              </c:strCache>
            </c:strRef>
          </c:tx>
          <c:spPr>
            <a:solidFill>
              <a:srgbClr val="EA580C"/>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EA580C"/>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FDBA74"/>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EA580C"/>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units per hour are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then a recap: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people-led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percent or more new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near-miss reporting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percent or more new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451 thousand dollars for the year — roughly 38 thousand dollars a month against the same months of F26. It is built on our two contract labour buckets: Admin contract labour is down about 25 percent, worth about 298 thousand a year, and Dock contract labour is down about 6 percent, worth about 92 thousand, plus the confirmed 61 thousand dollar dispatcher saving. Every extra 1 percent off contract labour is worth about 28 thousand a year. These are estimates if the current rate holds, not booked savings; load securement, handling equipment, accessorials and Toyota footage capture come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Because the goal is weight-based, lighter freight holds PPH down even as units per hour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image" Target="../media/image-16-5.jp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EA580C"/>
          </a:solidFill>
          <a:ln w="12700">
            <a:solidFill>
              <a:srgbClr val="EA580C"/>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FFEDD5"/>
          </a:solidFill>
          <a:ln w="12700">
            <a:solidFill>
              <a:srgbClr val="FFEDD5"/>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EA580C"/>
          </a:solidFill>
          <a:ln w="12700">
            <a:solidFill>
              <a:srgbClr val="EA580C"/>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EA580C"/>
          </a:solidFill>
          <a:ln w="12700">
            <a:solidFill>
              <a:srgbClr val="EA580C"/>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FFEDD5"/>
          </a:solidFill>
          <a:ln w="12700">
            <a:solidFill>
              <a:srgbClr val="FFEDD5"/>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cost per PRO, hours, staffing by shift</a:t>
            </a:r>
            <a:endParaRPr lang="en-US" sz="1300" dirty="0"/>
          </a:p>
        </p:txBody>
      </p:sp>
      <p:sp>
        <p:nvSpPr>
          <p:cNvPr id="22" name="Shape 17"/>
          <p:cNvSpPr/>
          <p:nvPr/>
        </p:nvSpPr>
        <p:spPr>
          <a:xfrm>
            <a:off x="548640" y="3493008"/>
            <a:ext cx="566928" cy="566928"/>
          </a:xfrm>
          <a:prstGeom prst="ellipse">
            <a:avLst/>
          </a:prstGeom>
          <a:solidFill>
            <a:srgbClr val="EA580C"/>
          </a:solidFill>
          <a:ln w="12700">
            <a:solidFill>
              <a:srgbClr val="EA580C"/>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FFEDD5"/>
          </a:solidFill>
          <a:ln w="12700">
            <a:solidFill>
              <a:srgbClr val="FFEDD5"/>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EA580C"/>
          </a:solidFill>
          <a:ln w="12700">
            <a:solidFill>
              <a:srgbClr val="EA580C"/>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FFEDD5"/>
          </a:solidFill>
          <a:ln w="12700">
            <a:solidFill>
              <a:srgbClr val="FFEDD5"/>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EA580C"/>
          </a:solidFill>
          <a:ln w="12700">
            <a:solidFill>
              <a:srgbClr val="EA580C"/>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FFEDD5"/>
          </a:solidFill>
          <a:ln w="12700">
            <a:solidFill>
              <a:srgbClr val="FFEDD5"/>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EA580C"/>
          </a:solidFill>
          <a:ln w="12700">
            <a:solidFill>
              <a:srgbClr val="EA580C"/>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FFEDD5"/>
          </a:solidFill>
          <a:ln w="12700">
            <a:solidFill>
              <a:srgbClr val="FFEDD5"/>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FFEDD5"/>
          </a:solidFill>
          <a:ln w="12700">
            <a:solidFill>
              <a:srgbClr val="FFEDD5"/>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19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day</a:t>
            </a:r>
            <a:endParaRPr lang="en-US" sz="1800" dirty="0"/>
          </a:p>
        </p:txBody>
      </p:sp>
      <p:sp>
        <p:nvSpPr>
          <p:cNvPr id="27" name="Shape 25"/>
          <p:cNvSpPr/>
          <p:nvPr/>
        </p:nvSpPr>
        <p:spPr>
          <a:xfrm>
            <a:off x="548640" y="3575304"/>
            <a:ext cx="384048" cy="384048"/>
          </a:xfrm>
          <a:prstGeom prst="ellipse">
            <a:avLst/>
          </a:prstGeom>
          <a:solidFill>
            <a:srgbClr val="FFEDD5"/>
          </a:solidFill>
          <a:ln w="12700">
            <a:solidFill>
              <a:srgbClr val="FFEDD5"/>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FFEDD5"/>
          </a:solidFill>
          <a:ln w="12700">
            <a:solidFill>
              <a:srgbClr val="FFEDD5"/>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FFEDD5"/>
          </a:solidFill>
          <a:ln w="12700">
            <a:solidFill>
              <a:srgbClr val="FFEDD5"/>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FFEDD5"/>
          </a:solidFill>
          <a:ln w="12700">
            <a:solidFill>
              <a:srgbClr val="FFEDD5"/>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FFEDD5"/>
          </a:solidFill>
          <a:ln w="12700">
            <a:solidFill>
              <a:srgbClr val="FFEDD5"/>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19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supported by Safety — safe work practices, lifting, forklift &amp; seat belt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FF7ED"/>
          </a:solidFill>
          <a:ln w="12700">
            <a:solidFill>
              <a:srgbClr val="FFF7ED"/>
            </a:solidFill>
            <a:prstDash val="solid"/>
          </a:ln>
        </p:spPr>
      </p:sp>
      <p:sp>
        <p:nvSpPr>
          <p:cNvPr id="20" name="Shape 18"/>
          <p:cNvSpPr/>
          <p:nvPr/>
        </p:nvSpPr>
        <p:spPr>
          <a:xfrm>
            <a:off x="6391656" y="3913632"/>
            <a:ext cx="1920240" cy="329184"/>
          </a:xfrm>
          <a:prstGeom prst="roundRect">
            <a:avLst>
              <a:gd name="adj" fmla="val 22222"/>
            </a:avLst>
          </a:prstGeom>
          <a:solidFill>
            <a:srgbClr val="FFEDD5"/>
          </a:solidFill>
          <a:ln w="12700">
            <a:solidFill>
              <a:srgbClr val="FFEDD5"/>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EA580C"/>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19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EA580C"/>
          </a:solidFill>
          <a:ln w="12700">
            <a:solidFill>
              <a:srgbClr val="EA580C"/>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Ride-alongs per quarter ramp up: 8 → 11 → 13 (of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ride with every driver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EA580C"/>
          </a:solidFill>
          <a:ln w="12700">
            <a:solidFill>
              <a:srgbClr val="EA580C"/>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 new temp (agency)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safe work practices,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Short check-ins: seat belt on the forklift; what to do if there is a spill</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FF7ED"/>
          </a:solidFill>
          <a:ln w="12700">
            <a:solidFill>
              <a:srgbClr val="FFF7ED"/>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19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 39 adj 94.8% · week 40 (Sun–Mon) 96.6%</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FF7ED"/>
          </a:solidFill>
          <a:ln w="12700">
            <a:solidFill>
              <a:srgbClr val="FFF7ED"/>
            </a:solidFill>
            <a:prstDash val="solid"/>
          </a:ln>
        </p:spPr>
      </p:sp>
      <p:sp>
        <p:nvSpPr>
          <p:cNvPr id="23" name="Shape 20"/>
          <p:cNvSpPr/>
          <p:nvPr/>
        </p:nvSpPr>
        <p:spPr>
          <a:xfrm>
            <a:off x="731520" y="5404104"/>
            <a:ext cx="475488" cy="475488"/>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Terminal and P&amp;D teams working together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 — largely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failures (AS code excluded — not a service failure): week 39 = 66 (top: TF 22); week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19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FF7ED"/>
          </a:solidFill>
          <a:ln w="12700">
            <a:solidFill>
              <a:srgbClr val="FFF7ED"/>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*Week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19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contract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$298.1K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≈$24.8K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contract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$92.2K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≈$7.7K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Dispatcher role (confirmed)</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$61.0K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≈$5.1K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$451.2K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≈$37.6K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Admin (agency)</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Dock (agency temps)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Contract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$32.5K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$390.2K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 annual value)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$451.2K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FF7ED"/>
          </a:solidFill>
          <a:ln w="12700">
            <a:solidFill>
              <a:srgbClr val="FFF7ED"/>
            </a:solidFill>
            <a:prstDash val="solid"/>
          </a:ln>
        </p:spPr>
      </p:sp>
      <p:sp>
        <p:nvSpPr>
          <p:cNvPr id="23" name="Shape 20"/>
          <p:cNvSpPr/>
          <p:nvPr/>
        </p:nvSpPr>
        <p:spPr>
          <a:xfrm>
            <a:off x="8046720" y="2971800"/>
            <a:ext cx="502920" cy="502920"/>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hold and grow the outlook</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the Jul–Aug rates: Admin contract labour −25%, Dock contract labour −6%.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off contract labour ≈ $28.2K/yr (Admin $11.8K, Dock $16.4K).</a:t>
            </a:r>
            <a:endParaRPr lang="en-US" sz="1250" dirty="0"/>
          </a:p>
          <a:p>
            <a:pPr indent="0" marL="0">
              <a:buNone/>
            </a:pPr>
            <a:r>
              <a:rPr lang="en-US" sz="1250" b="1" dirty="0">
                <a:solidFill>
                  <a:srgbClr val="EA580C"/>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the two contract labour buckets (Admin, Dock): each bucket's Jul–Aug % change vs the same months of F26, applied to the remaining F26 months if the rate holds, plus the confirmed dispatcher saving. Estimates, not booked savings. D&amp;R employee wages &amp; benefits (dock and admin) tracked separately. Source: net-amount P&amp;L pivot.</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19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FF7ED"/>
          </a:solidFill>
          <a:ln w="12700">
            <a:solidFill>
              <a:srgbClr val="FFF7ED"/>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Only the dispatcher saving is confirmed; other values TBC.</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19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95–100% OF TARGET</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Dock salaries &amp; benefits (month)</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FF7ED"/>
          </a:solidFill>
          <a:ln w="12700">
            <a:solidFill>
              <a:srgbClr val="FFF7ED"/>
            </a:solidFill>
            <a:prstDash val="solid"/>
          </a:ln>
        </p:spPr>
      </p:sp>
      <p:sp>
        <p:nvSpPr>
          <p:cNvPr id="30" name="Shape 28"/>
          <p:cNvSpPr/>
          <p:nvPr/>
        </p:nvSpPr>
        <p:spPr>
          <a:xfrm>
            <a:off x="6217920" y="4965192"/>
            <a:ext cx="566928" cy="566928"/>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19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19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FFEDD5"/>
          </a:solidFill>
          <a:ln w="12700">
            <a:solidFill>
              <a:srgbClr val="FFEDD5"/>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FFEDD5"/>
          </a:solidFill>
          <a:ln w="12700">
            <a:solidFill>
              <a:srgbClr val="FFEDD5"/>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FFEDD5"/>
          </a:solidFill>
          <a:ln w="12700">
            <a:solidFill>
              <a:srgbClr val="FFEDD5"/>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Accessorials checked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FFEDD5"/>
          </a:solidFill>
          <a:ln w="12700">
            <a:solidFill>
              <a:srgbClr val="FFEDD5"/>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tracked every shift.</a:t>
            </a:r>
            <a:endParaRPr lang="en-US" sz="1400" dirty="0"/>
          </a:p>
        </p:txBody>
      </p:sp>
      <p:sp>
        <p:nvSpPr>
          <p:cNvPr id="16" name="Shape 10"/>
          <p:cNvSpPr/>
          <p:nvPr/>
        </p:nvSpPr>
        <p:spPr>
          <a:xfrm>
            <a:off x="7772400" y="1417320"/>
            <a:ext cx="3867912" cy="4526280"/>
          </a:xfrm>
          <a:prstGeom prst="roundRect">
            <a:avLst>
              <a:gd name="adj" fmla="val 1891"/>
            </a:avLst>
          </a:prstGeom>
          <a:solidFill>
            <a:srgbClr val="FFF7ED"/>
          </a:solidFill>
          <a:ln w="12700">
            <a:solidFill>
              <a:srgbClr val="FFF7ED"/>
            </a:solidFill>
            <a:prstDash val="solid"/>
          </a:ln>
        </p:spPr>
      </p:sp>
      <p:sp>
        <p:nvSpPr>
          <p:cNvPr id="17" name="Shape 11"/>
          <p:cNvSpPr/>
          <p:nvPr/>
        </p:nvSpPr>
        <p:spPr>
          <a:xfrm>
            <a:off x="8001000" y="1645920"/>
            <a:ext cx="502920" cy="502920"/>
          </a:xfrm>
          <a:prstGeom prst="ellipse">
            <a:avLst/>
          </a:prstGeom>
          <a:solidFill>
            <a:srgbClr val="EA580C"/>
          </a:solidFill>
          <a:ln w="12700">
            <a:solidFill>
              <a:srgbClr val="EA580C"/>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example (Wed Sep 9) in the table below.</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FF7ED"/>
          </a:solidFill>
          <a:ln w="12700">
            <a:solidFill>
              <a:srgbClr val="FFF7ED"/>
            </a:solidFill>
            <a:prstDash val="solid"/>
          </a:ln>
        </p:spPr>
      </p:sp>
      <p:sp>
        <p:nvSpPr>
          <p:cNvPr id="22" name="Shape 19"/>
          <p:cNvSpPr/>
          <p:nvPr/>
        </p:nvSpPr>
        <p:spPr>
          <a:xfrm>
            <a:off x="6217920" y="3584448"/>
            <a:ext cx="457200" cy="457200"/>
          </a:xfrm>
          <a:prstGeom prst="ellipse">
            <a:avLst/>
          </a:prstGeom>
          <a:solidFill>
            <a:srgbClr val="EA580C"/>
          </a:solidFill>
          <a:ln w="12700">
            <a:solidFill>
              <a:srgbClr val="EA580C"/>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The goal is weight-based, so lighter freight holds PPH down even as units per hour rise.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19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outbound loads more than 80% full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 band</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500–1,000: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trailer floor footage loaded at Bowmanville not captured correctly — fix under way; 20.5% of Moncton bills have no cube recorded vs 3.0% on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FF7ED"/>
          </a:solidFill>
          <a:ln w="12700">
            <a:solidFill>
              <a:srgbClr val="FFF7ED"/>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FFEDD5"/>
          </a:solidFill>
          <a:ln w="12700">
            <a:solidFill>
              <a:srgbClr val="FFEDD5"/>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FFEDD5"/>
          </a:solidFill>
          <a:ln w="12700">
            <a:solidFill>
              <a:srgbClr val="FFEDD5"/>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today and the plan</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Glass doors on makeshift 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Glass doors on makeshift 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FF7ED"/>
          </a:solidFill>
          <a:ln w="12700">
            <a:solidFill>
              <a:srgbClr val="FFF7ED"/>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EA580C"/>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EA580C"/>
          </a:solidFill>
          <a:ln w="12700">
            <a:solidFill>
              <a:srgbClr val="EA580C"/>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carts &amp; reconfigurable racks for windows, doors, panels, car parts</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FFEDD5"/>
          </a:solidFill>
          <a:ln w="12700">
            <a:solidFill>
              <a:srgbClr val="FFEDD5"/>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FFEDD5"/>
          </a:solidFill>
          <a:ln w="12700">
            <a:solidFill>
              <a:srgbClr val="FFEDD5"/>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FFEDD5"/>
          </a:solidFill>
          <a:ln w="12700">
            <a:solidFill>
              <a:srgbClr val="FFEDD5"/>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STACKABLE</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and smaller terminals have no room to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EA580C"/>
          </a:solidFill>
          <a:ln w="12700">
            <a:solidFill>
              <a:srgbClr val="EA580C"/>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FF7ED"/>
          </a:solidFill>
          <a:ln w="12700">
            <a:solidFill>
              <a:srgbClr val="FFF7ED"/>
            </a:solidFill>
            <a:prstDash val="solid"/>
          </a:ln>
        </p:spPr>
      </p:sp>
      <p:sp>
        <p:nvSpPr>
          <p:cNvPr id="5" name="Shape 3"/>
          <p:cNvSpPr/>
          <p:nvPr/>
        </p:nvSpPr>
        <p:spPr>
          <a:xfrm>
            <a:off x="868680" y="2011680"/>
            <a:ext cx="1005840" cy="100584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EA580C"/>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FFEDD5"/>
          </a:solidFill>
          <a:ln w="12700">
            <a:solidFill>
              <a:srgbClr val="FFEDD5"/>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FFEDD5"/>
          </a:solidFill>
          <a:ln w="12700">
            <a:solidFill>
              <a:srgbClr val="FFEDD5"/>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FB923C"/>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Contract labour outlook ≈$390.2K vs F26 if current rates hold (≈$32.5K/mo; estimate, not booked).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Sept MTD: 91.1% of SCA hour allowance — 391 hrs under.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more being sized.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2026-09-29T17:29:33Z</dcterms:created>
  <dcterms:modified xsi:type="dcterms:W3CDTF">2026-09-29T17:29:33Z</dcterms:modified>
</cp:coreProperties>
</file>