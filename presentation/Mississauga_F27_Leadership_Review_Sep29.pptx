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1.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plus backup: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driver-led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In peak we hire 10 to 20 percent more staff on every shift, so we will ask the Safety representative to help with training material and on-the-job spot checks for new dock, general labour and forklift staff — an added layer on top of operations checks.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91.37 percent of freight bills scanned against 91.55 percent fiscal year to date,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563 thousand dollars for the year — roughly 47 thousand dollars a month against the same months of F26. Labour is the engine: Admin agency labour is down about 25 percent and Dock labour about 4 percent, and every extra 1 percent we take out of labour is worth roughly 50 thousand dollars a year. The 61 thousand dollar dispatcher saving is confirmed, and the next levers — load securement, freight-handling equipment, accessorial capture and Toyota footage capture — are being sized and come on top. To be clear, these are estimates based on the current run-rate, not booked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laid out like the F26 page.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PPH goal is weight-based; freight got lighter, 218 versus about 275 pounds per unit, while units per hour 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 On the P&amp;L, total terminal cost for July and August was 2.57 million dollars against 3.25 million in the same months of F26, and cost per PRO fell from 42.07 to 35.93 dollars. Most of that drop is P&amp;D driver mix, agent drivers moving to owner operators with a lower fuel subsidy, which is a network P&amp;D change we are not claiming as terminal savings; the terminal-controlled lines are net 163.7 thousand dollars lower, a P&amp;L variance that is not booked. Cost as a percent of revenue is not valid after February 2026 because revenue allocation broke; the last valid comparison was 60.8 percent for F26 July to February against 65.7 percent in F25.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image" Target="../media/image-21-5.jp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2816352"/>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cost per PRO, hours, labour, accessorials</a:t>
            </a:r>
            <a:endParaRPr lang="en-US" sz="1300" dirty="0"/>
          </a:p>
        </p:txBody>
      </p:sp>
      <p:sp>
        <p:nvSpPr>
          <p:cNvPr id="22" name="Shape 17"/>
          <p:cNvSpPr/>
          <p:nvPr/>
        </p:nvSpPr>
        <p:spPr>
          <a:xfrm>
            <a:off x="548640" y="3493008"/>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 cost &amp; volume, P&amp;D measures</a:t>
            </a:r>
            <a:endParaRPr lang="en-US" sz="1300" dirty="0"/>
          </a:p>
        </p:txBody>
      </p:sp>
      <p:sp>
        <p:nvSpPr>
          <p:cNvPr id="28" name="Shape 22"/>
          <p:cNvSpPr/>
          <p:nvPr/>
        </p:nvSpPr>
        <p:spPr>
          <a:xfrm>
            <a:off x="548640" y="4169664"/>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7C3AED"/>
          </a:solidFill>
          <a:ln w="12700">
            <a:solidFill>
              <a:srgbClr val="7C3AED"/>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EDE9FE"/>
          </a:solidFill>
          <a:ln w="12700">
            <a:solidFill>
              <a:srgbClr val="EDE9FE"/>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7C3AED"/>
          </a:solidFill>
          <a:ln w="12700">
            <a:solidFill>
              <a:srgbClr val="7C3AED"/>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EDE9FE"/>
          </a:solidFill>
          <a:ln w="12700">
            <a:solidFill>
              <a:srgbClr val="EDE9FE"/>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Backup</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Key numbers, labour distribution, terminal cost vs PROs &amp; weight</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EDE9FE"/>
          </a:solidFill>
          <a:ln w="12700">
            <a:solidFill>
              <a:srgbClr val="EDE9FE"/>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0 recordables Jul–Aug; TRIR 0.00 vs 1.21 F26.</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 Safety-led training material + spot checks (10–20% more staff)</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Agency safety onboarding (agency ~61% of dock hours)</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Terminal OTS: Wk 39 adj 94.79% · Wk 40 (Sun–Mon) 96.55%</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 — largely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fails (AS excluded — not a service fail): wk 39 = 66 (TF 22 · uncoded 14 · IN 9 · other 9 · DL 8 · OT 3 · LH 1); wk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freight bills scanned 91.37% (FYTD 91.55%).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$211.0K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≈$17.6K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$125.9K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≈$10.5K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Other lines (net of claims)</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$164.9K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≈$13.7K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 + dispatcher</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$562.9K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≈$46.9K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+12.7%</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($7.3K)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($87.0K)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Admin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$211.0K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$33.8K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Dock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$10.5K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$125.9K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Dock owner-operator base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−97.4%</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$14.1K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$169.5K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Rentals (dock + building)</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−96.9%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$4.3K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$52.0K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Cargo claims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($4.7K)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($56.7K)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Other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$13.7K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$164.9K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$46.9K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$562.9K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5F3FF"/>
          </a:solidFill>
          <a:ln w="12700">
            <a:solidFill>
              <a:srgbClr val="F5F3FF"/>
            </a:solidFill>
            <a:prstDash val="solid"/>
          </a:ln>
        </p:spPr>
      </p:sp>
      <p:sp>
        <p:nvSpPr>
          <p:cNvPr id="23" name="Shape 20"/>
          <p:cNvSpPr/>
          <p:nvPr/>
        </p:nvSpPr>
        <p:spPr>
          <a:xfrm>
            <a:off x="8046720" y="2971800"/>
            <a:ext cx="502920" cy="502920"/>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reach the goal</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Admin labour 13.5% and Dock labour 4.2% below F26.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 $18.6K/yr Admin, ≈ $31.7K/yr Dock.</a:t>
            </a:r>
            <a:endParaRPr lang="en-US" sz="1250" dirty="0"/>
          </a:p>
          <a:p>
            <a:pPr indent="0" marL="0">
              <a:buNone/>
            </a:pPr>
            <a:r>
              <a:rPr lang="en-US" sz="1250" b="1" dirty="0">
                <a:solidFill>
                  <a:srgbClr val="7C3AED"/>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each line's Jul–Aug % change vs the same months of F26, applied to the remaining F26 months if the rate holds. Estimates, not booked savings. Source: net-amount P&amp;L pivot; claims use the claims report for August ($13,432.53).</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 ≈ $13.1K)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Cargo claims (Claims report, T-0502): $13,432.53 for August 2026 — see also damaged FB on slide 6.</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16" name="Shape 10"/>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17" name="Shape 11"/>
          <p:cNvSpPr/>
          <p:nvPr/>
        </p:nvSpPr>
        <p:spPr>
          <a:xfrm>
            <a:off x="8001000" y="1645920"/>
            <a:ext cx="502920" cy="502920"/>
          </a:xfrm>
          <a:prstGeom prst="ellipse">
            <a:avLst/>
          </a:prstGeom>
          <a:solidFill>
            <a:srgbClr val="7C3AED"/>
          </a:solidFill>
          <a:ln w="12700">
            <a:solidFill>
              <a:srgbClr val="7C3AED"/>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 shift (example day Wed Sep 9): see table at left.</a:t>
            </a:r>
            <a:endParaRPr lang="en-US" sz="11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a:p>
            <a:pPr algn="r" indent="0" marL="0">
              <a:buNone/>
            </a:pPr>
            <a:r>
              <a:rPr lang="en-US" sz="950" b="1" dirty="0">
                <a:solidFill>
                  <a:srgbClr val="059669"/>
                </a:solidFill>
                <a:latin typeface="Calibri" pitchFamily="34" charset="0"/>
                <a:ea typeface="Calibri" pitchFamily="34" charset="-122"/>
                <a:cs typeface="Calibri" pitchFamily="34" charset="-120"/>
              </a:rPr>
              <a:t>(MTD vs full month)</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reweighed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PPH goal is weight-based; freight got lighter (218 vs ≈275 lbs/unit) while units per hour rose.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EDE9FE"/>
          </a:solidFill>
          <a:ln w="12700">
            <a:solidFill>
              <a:srgbClr val="EDE9FE"/>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Text 33"/>
          <p:cNvSpPr txBox="1"/>
          <p:nvPr/>
        </p:nvSpPr>
        <p:spPr>
          <a:xfrm>
            <a:off x="8034528" y="2560320"/>
            <a:ext cx="3605784" cy="80467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Bills 63,738 · Delivery bills 41,725 · Pickup bills 24,401 (counted separately — delivery and pickup bills do not sum to total bills).</a:t>
            </a:r>
            <a:endParaRPr lang="en-US" sz="1050" dirty="0"/>
          </a:p>
        </p:txBody>
      </p:sp>
      <p:sp>
        <p:nvSpPr>
          <p:cNvPr id="36" name="Text 34"/>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7" name="Shape 35"/>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38" name="Text 36"/>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39" name="Text 37"/>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0" name="Shape 38"/>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1" name="Text 39"/>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2" name="Text 40"/>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3" name="Shape 41"/>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4" name="Text 42"/>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45" name="Text 43"/>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46" name="Shape 44"/>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7" name="Text 45"/>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48" name="Text 46"/>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49" name="Shape 47"/>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0" name="Text 48"/>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51" name="Text 49"/>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52" name="Shape 50"/>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3" name="Text 51"/>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54" name="Text 52"/>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55" name="Shape 53"/>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6" name="Text 54"/>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57" name="Text 55"/>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58" name="Shape 56"/>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59" name="Text 57"/>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60" name="Text 58"/>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61" name="Shape 59"/>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2" name="Text 60"/>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63" name="Text 61"/>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64" name="Text 6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65" name="Text 6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66" name="Text 6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planned</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570260 — 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570260 — 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470275 — 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470275 — 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470236 — 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470236 — 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57937 — glass doors on improvised A-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57937 — glass doors on improvised A-frames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(trailer 47520).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trucks &amp; reconfigurable racks for windows, doors, panels, car parts (Sawtrax, Rack and Shelf, Grainger, Uline)</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EDE9FE"/>
          </a:solidFill>
          <a:ln w="12700">
            <a:solidFill>
              <a:srgbClr val="EDE9FE"/>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EDE9FE"/>
          </a:solidFill>
          <a:ln w="12700">
            <a:solidFill>
              <a:srgbClr val="EDE9FE"/>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EDE9FE"/>
          </a:solidFill>
          <a:ln w="12700">
            <a:solidFill>
              <a:srgbClr val="EDE9FE"/>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STACKED</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Most terminals are much smaller than ours and could not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7C3AED"/>
          </a:solidFill>
          <a:ln w="12700">
            <a:solidFill>
              <a:srgbClr val="7C3AED"/>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 / 27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 / 27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Outlook ≈$562.9K below F26 if current rates hold (≈$46.9K/mo), incl. $61K dispatcher.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 / 27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SCA dock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SCA dock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$61K/yr (dispatcher role) · F27 outlook ≈$562.9K below F26 (≈$46.9K/mo) if current rates hold.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 · Initiatives: 3 completed · 7 active · 5 planned (driver safety reps; route ride-alongs; peak onboarding with Safety; load securement &amp; decking; freight-handling equipment).</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25 / 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 / 27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Terminal cost vs PROs &amp; weight (P&amp;L)</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 total terminal cost from the net-amount P&amp;L · F27 Jul–Aug vs same months F26</a:t>
            </a:r>
            <a:endParaRPr lang="en-US" sz="1300" dirty="0"/>
          </a:p>
        </p:txBody>
      </p:sp>
      <p:sp>
        <p:nvSpPr>
          <p:cNvPr id="5" name="Shape 3"/>
          <p:cNvSpPr/>
          <p:nvPr/>
        </p:nvSpPr>
        <p:spPr>
          <a:xfrm>
            <a:off x="548640" y="1645920"/>
            <a:ext cx="3108960" cy="1234440"/>
          </a:xfrm>
          <a:prstGeom prst="roundRect">
            <a:avLst>
              <a:gd name="adj" fmla="val 5926"/>
            </a:avLst>
          </a:prstGeom>
          <a:solidFill>
            <a:srgbClr val="F3F4F6"/>
          </a:solidFill>
          <a:ln w="12700">
            <a:solidFill>
              <a:srgbClr val="F3F4F6"/>
            </a:solidFill>
            <a:prstDash val="solid"/>
          </a:ln>
        </p:spPr>
      </p:sp>
      <p:sp>
        <p:nvSpPr>
          <p:cNvPr id="6" name="Text 4"/>
          <p:cNvSpPr txBox="1"/>
          <p:nvPr/>
        </p:nvSpPr>
        <p:spPr>
          <a:xfrm>
            <a:off x="731520" y="1783080"/>
            <a:ext cx="274320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terminal cost · F27 Jul–Aug</a:t>
            </a:r>
            <a:endParaRPr lang="en-US" sz="1100" dirty="0"/>
          </a:p>
        </p:txBody>
      </p:sp>
      <p:sp>
        <p:nvSpPr>
          <p:cNvPr id="7" name="Text 5"/>
          <p:cNvSpPr txBox="1"/>
          <p:nvPr/>
        </p:nvSpPr>
        <p:spPr>
          <a:xfrm>
            <a:off x="731520" y="2057400"/>
            <a:ext cx="2743200" cy="36576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$2.57M</a:t>
            </a:r>
            <a:endParaRPr lang="en-US" sz="2800" dirty="0"/>
          </a:p>
        </p:txBody>
      </p:sp>
      <p:sp>
        <p:nvSpPr>
          <p:cNvPr id="8" name="Text 6"/>
          <p:cNvSpPr txBox="1"/>
          <p:nvPr/>
        </p:nvSpPr>
        <p:spPr>
          <a:xfrm>
            <a:off x="731520" y="2450592"/>
            <a:ext cx="2743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$3.25M same months F26 </a:t>
            </a:r>
            <a:pPr indent="0" marL="0">
              <a:buNone/>
            </a:pPr>
            <a:r>
              <a:rPr lang="en-US" sz="1050" b="1" dirty="0">
                <a:solidFill>
                  <a:srgbClr val="059669"/>
                </a:solidFill>
                <a:latin typeface="Calibri" pitchFamily="34" charset="0"/>
                <a:ea typeface="Calibri" pitchFamily="34" charset="-122"/>
                <a:cs typeface="Calibri" pitchFamily="34" charset="-120"/>
              </a:rPr>
              <a:t>(−21.2%)</a:t>
            </a:r>
            <a:endParaRPr lang="en-US" sz="1050" dirty="0"/>
          </a:p>
        </p:txBody>
      </p:sp>
      <p:sp>
        <p:nvSpPr>
          <p:cNvPr id="9" name="Shape 7"/>
          <p:cNvSpPr/>
          <p:nvPr/>
        </p:nvSpPr>
        <p:spPr>
          <a:xfrm>
            <a:off x="3840480" y="1645920"/>
            <a:ext cx="3108960" cy="1234440"/>
          </a:xfrm>
          <a:prstGeom prst="roundRect">
            <a:avLst>
              <a:gd name="adj" fmla="val 5926"/>
            </a:avLst>
          </a:prstGeom>
          <a:solidFill>
            <a:srgbClr val="F3F4F6"/>
          </a:solidFill>
          <a:ln w="12700">
            <a:solidFill>
              <a:srgbClr val="F3F4F6"/>
            </a:solidFill>
            <a:prstDash val="solid"/>
          </a:ln>
        </p:spPr>
      </p:sp>
      <p:sp>
        <p:nvSpPr>
          <p:cNvPr id="10" name="Text 8"/>
          <p:cNvSpPr txBox="1"/>
          <p:nvPr/>
        </p:nvSpPr>
        <p:spPr>
          <a:xfrm>
            <a:off x="4023360" y="1783080"/>
            <a:ext cx="274320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PROs in + out</a:t>
            </a:r>
            <a:endParaRPr lang="en-US" sz="1100" dirty="0"/>
          </a:p>
        </p:txBody>
      </p:sp>
      <p:sp>
        <p:nvSpPr>
          <p:cNvPr id="11" name="Text 9"/>
          <p:cNvSpPr txBox="1"/>
          <p:nvPr/>
        </p:nvSpPr>
        <p:spPr>
          <a:xfrm>
            <a:off x="4023360" y="2057400"/>
            <a:ext cx="2743200" cy="36576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71,392</a:t>
            </a:r>
            <a:endParaRPr lang="en-US" sz="2800" dirty="0"/>
          </a:p>
        </p:txBody>
      </p:sp>
      <p:sp>
        <p:nvSpPr>
          <p:cNvPr id="12" name="Text 10"/>
          <p:cNvSpPr txBox="1"/>
          <p:nvPr/>
        </p:nvSpPr>
        <p:spPr>
          <a:xfrm>
            <a:off x="4023360" y="2450592"/>
            <a:ext cx="2743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77,349 </a:t>
            </a:r>
            <a:pPr indent="0" marL="0">
              <a:buNone/>
            </a:pPr>
            <a:r>
              <a:rPr lang="en-US" sz="1050" b="1" dirty="0">
                <a:solidFill>
                  <a:srgbClr val="059669"/>
                </a:solidFill>
                <a:latin typeface="Calibri" pitchFamily="34" charset="0"/>
                <a:ea typeface="Calibri" pitchFamily="34" charset="-122"/>
                <a:cs typeface="Calibri" pitchFamily="34" charset="-120"/>
              </a:rPr>
              <a:t>(−7.7%)</a:t>
            </a:r>
            <a:endParaRPr lang="en-US" sz="1050" dirty="0"/>
          </a:p>
        </p:txBody>
      </p:sp>
      <p:sp>
        <p:nvSpPr>
          <p:cNvPr id="13" name="Shape 11"/>
          <p:cNvSpPr/>
          <p:nvPr/>
        </p:nvSpPr>
        <p:spPr>
          <a:xfrm>
            <a:off x="548640" y="3063240"/>
            <a:ext cx="3108960" cy="1234440"/>
          </a:xfrm>
          <a:prstGeom prst="roundRect">
            <a:avLst>
              <a:gd name="adj" fmla="val 5926"/>
            </a:avLst>
          </a:prstGeom>
          <a:solidFill>
            <a:srgbClr val="F3F4F6"/>
          </a:solidFill>
          <a:ln w="12700">
            <a:solidFill>
              <a:srgbClr val="F3F4F6"/>
            </a:solidFill>
            <a:prstDash val="solid"/>
          </a:ln>
        </p:spPr>
      </p:sp>
      <p:sp>
        <p:nvSpPr>
          <p:cNvPr id="14" name="Text 12"/>
          <p:cNvSpPr txBox="1"/>
          <p:nvPr/>
        </p:nvSpPr>
        <p:spPr>
          <a:xfrm>
            <a:off x="731520" y="3200400"/>
            <a:ext cx="274320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terminal cost per PRO</a:t>
            </a:r>
            <a:endParaRPr lang="en-US" sz="1100" dirty="0"/>
          </a:p>
        </p:txBody>
      </p:sp>
      <p:sp>
        <p:nvSpPr>
          <p:cNvPr id="15" name="Text 13"/>
          <p:cNvSpPr txBox="1"/>
          <p:nvPr/>
        </p:nvSpPr>
        <p:spPr>
          <a:xfrm>
            <a:off x="731520" y="3474720"/>
            <a:ext cx="2743200" cy="36576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$35.93</a:t>
            </a:r>
            <a:endParaRPr lang="en-US" sz="2800" dirty="0"/>
          </a:p>
        </p:txBody>
      </p:sp>
      <p:sp>
        <p:nvSpPr>
          <p:cNvPr id="16" name="Text 14"/>
          <p:cNvSpPr txBox="1"/>
          <p:nvPr/>
        </p:nvSpPr>
        <p:spPr>
          <a:xfrm>
            <a:off x="731520" y="3867912"/>
            <a:ext cx="2743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$42.07 </a:t>
            </a:r>
            <a:pPr indent="0" marL="0">
              <a:buNone/>
            </a:pPr>
            <a:r>
              <a:rPr lang="en-US" sz="1050" b="1" dirty="0">
                <a:solidFill>
                  <a:srgbClr val="059669"/>
                </a:solidFill>
                <a:latin typeface="Calibri" pitchFamily="34" charset="0"/>
                <a:ea typeface="Calibri" pitchFamily="34" charset="-122"/>
                <a:cs typeface="Calibri" pitchFamily="34" charset="-120"/>
              </a:rPr>
              <a:t>(−14.6%)</a:t>
            </a:r>
            <a:endParaRPr lang="en-US" sz="1050" dirty="0"/>
          </a:p>
        </p:txBody>
      </p:sp>
      <p:sp>
        <p:nvSpPr>
          <p:cNvPr id="17" name="Shape 15"/>
          <p:cNvSpPr/>
          <p:nvPr/>
        </p:nvSpPr>
        <p:spPr>
          <a:xfrm>
            <a:off x="3840480" y="3063240"/>
            <a:ext cx="3108960" cy="1234440"/>
          </a:xfrm>
          <a:prstGeom prst="roundRect">
            <a:avLst>
              <a:gd name="adj" fmla="val 5926"/>
            </a:avLst>
          </a:prstGeom>
          <a:solidFill>
            <a:srgbClr val="F3F4F6"/>
          </a:solidFill>
          <a:ln w="12700">
            <a:solidFill>
              <a:srgbClr val="F3F4F6"/>
            </a:solidFill>
            <a:prstDash val="solid"/>
          </a:ln>
        </p:spPr>
      </p:sp>
      <p:sp>
        <p:nvSpPr>
          <p:cNvPr id="18" name="Text 16"/>
          <p:cNvSpPr txBox="1"/>
          <p:nvPr/>
        </p:nvSpPr>
        <p:spPr>
          <a:xfrm>
            <a:off x="4023360" y="3200400"/>
            <a:ext cx="274320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terminal cost per CWT</a:t>
            </a:r>
            <a:endParaRPr lang="en-US" sz="1100" dirty="0"/>
          </a:p>
        </p:txBody>
      </p:sp>
      <p:sp>
        <p:nvSpPr>
          <p:cNvPr id="19" name="Text 17"/>
          <p:cNvSpPr txBox="1"/>
          <p:nvPr/>
        </p:nvSpPr>
        <p:spPr>
          <a:xfrm>
            <a:off x="4023360" y="3474720"/>
            <a:ext cx="2743200" cy="36576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$12.75</a:t>
            </a:r>
            <a:endParaRPr lang="en-US" sz="2800" dirty="0"/>
          </a:p>
        </p:txBody>
      </p:sp>
      <p:sp>
        <p:nvSpPr>
          <p:cNvPr id="20" name="Text 18"/>
          <p:cNvSpPr txBox="1"/>
          <p:nvPr/>
        </p:nvSpPr>
        <p:spPr>
          <a:xfrm>
            <a:off x="4023360" y="3867912"/>
            <a:ext cx="2743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$14.47 </a:t>
            </a:r>
            <a:pPr indent="0" marL="0">
              <a:buNone/>
            </a:pPr>
            <a:r>
              <a:rPr lang="en-US" sz="1050" b="1" dirty="0">
                <a:solidFill>
                  <a:srgbClr val="059669"/>
                </a:solidFill>
                <a:latin typeface="Calibri" pitchFamily="34" charset="0"/>
                <a:ea typeface="Calibri" pitchFamily="34" charset="-122"/>
                <a:cs typeface="Calibri" pitchFamily="34" charset="-120"/>
              </a:rPr>
              <a:t>(−11.8%)</a:t>
            </a:r>
            <a:endParaRPr lang="en-US" sz="1050" dirty="0"/>
          </a:p>
        </p:txBody>
      </p:sp>
      <p:sp>
        <p:nvSpPr>
          <p:cNvPr id="21" name="Text 19"/>
          <p:cNvSpPr txBox="1"/>
          <p:nvPr/>
        </p:nvSpPr>
        <p:spPr>
          <a:xfrm>
            <a:off x="7178040" y="1600200"/>
            <a:ext cx="4462272" cy="457200"/>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P&amp;L cost per PRO by department</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(F27 Jul–Aug vs F26 Jul–Aug)</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178040" y="2103120"/>
          <a:ext cx="4462272" cy="914400"/>
        </p:xfrm>
        <a:graphic>
          <a:graphicData uri="http://schemas.openxmlformats.org/drawingml/2006/table">
            <a:tbl>
              <a:tblPr/>
              <a:tblGrid>
                <a:gridCol w="1993392"/>
                <a:gridCol w="822960"/>
                <a:gridCol w="822960"/>
                <a:gridCol w="822960"/>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Department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Jul–Aug</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Jul–Aug</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02336">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Terminal Admin (incl. claims)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6B7280"/>
                          </a:solidFill>
                          <a:latin typeface="Calibri" pitchFamily="34" charset="0"/>
                          <a:ea typeface="Calibri" pitchFamily="34" charset="-122"/>
                          <a:cs typeface="Calibri" pitchFamily="34" charset="-120"/>
                        </a:rPr>
                        <a:t>$9.98</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11827"/>
                          </a:solidFill>
                          <a:latin typeface="Calibri" pitchFamily="34" charset="0"/>
                          <a:ea typeface="Calibri" pitchFamily="34" charset="-122"/>
                          <a:cs typeface="Calibri" pitchFamily="34" charset="-120"/>
                        </a:rPr>
                        <a:t>$9.94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−$0.04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Dock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50" dirty="0">
                          <a:solidFill>
                            <a:srgbClr val="6B7280"/>
                          </a:solidFill>
                          <a:latin typeface="Calibri" pitchFamily="34" charset="0"/>
                          <a:ea typeface="Calibri" pitchFamily="34" charset="-122"/>
                          <a:cs typeface="Calibri" pitchFamily="34" charset="-120"/>
                        </a:rPr>
                        <a:t>$8.89</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50" b="1" dirty="0">
                          <a:solidFill>
                            <a:srgbClr val="111827"/>
                          </a:solidFill>
                          <a:latin typeface="Calibri" pitchFamily="34" charset="0"/>
                          <a:ea typeface="Calibri" pitchFamily="34" charset="-122"/>
                          <a:cs typeface="Calibri" pitchFamily="34" charset="-120"/>
                        </a:rPr>
                        <a:t>$8.35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−$0.54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02336">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P&amp;D (incl. fuel subsidy)</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6B7280"/>
                          </a:solidFill>
                          <a:latin typeface="Calibri" pitchFamily="34" charset="0"/>
                          <a:ea typeface="Calibri" pitchFamily="34" charset="-122"/>
                          <a:cs typeface="Calibri" pitchFamily="34" charset="-120"/>
                        </a:rPr>
                        <a:t>$23.20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11827"/>
                          </a:solidFill>
                          <a:latin typeface="Calibri" pitchFamily="34" charset="0"/>
                          <a:ea typeface="Calibri" pitchFamily="34" charset="-122"/>
                          <a:cs typeface="Calibri" pitchFamily="34" charset="-120"/>
                        </a:rPr>
                        <a:t>$17.65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−$5.55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02336">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150" dirty="0">
                          <a:solidFill>
                            <a:srgbClr val="6B7280"/>
                          </a:solidFill>
                          <a:latin typeface="Calibri" pitchFamily="34" charset="0"/>
                          <a:ea typeface="Calibri" pitchFamily="34" charset="-122"/>
                          <a:cs typeface="Calibri" pitchFamily="34" charset="-120"/>
                        </a:rPr>
                        <a:t>$42.07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150" b="1" dirty="0">
                          <a:solidFill>
                            <a:srgbClr val="111827"/>
                          </a:solidFill>
                          <a:latin typeface="Calibri" pitchFamily="34" charset="0"/>
                          <a:ea typeface="Calibri" pitchFamily="34" charset="-122"/>
                          <a:cs typeface="Calibri" pitchFamily="34" charset="-120"/>
                        </a:rPr>
                        <a:t>$35.93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3" name="Shape 20"/>
          <p:cNvSpPr/>
          <p:nvPr/>
        </p:nvSpPr>
        <p:spPr>
          <a:xfrm>
            <a:off x="548640" y="4526280"/>
            <a:ext cx="11091672" cy="1005840"/>
          </a:xfrm>
          <a:prstGeom prst="roundRect">
            <a:avLst>
              <a:gd name="adj" fmla="val 7273"/>
            </a:avLst>
          </a:prstGeom>
          <a:solidFill>
            <a:srgbClr val="F5F3FF"/>
          </a:solidFill>
          <a:ln w="12700">
            <a:solidFill>
              <a:srgbClr val="F5F3FF"/>
            </a:solidFill>
            <a:prstDash val="solid"/>
          </a:ln>
        </p:spPr>
      </p:sp>
      <p:sp>
        <p:nvSpPr>
          <p:cNvPr id="24" name="Shape 21"/>
          <p:cNvSpPr/>
          <p:nvPr/>
        </p:nvSpPr>
        <p:spPr>
          <a:xfrm>
            <a:off x="777240" y="4764024"/>
            <a:ext cx="530352" cy="530352"/>
          </a:xfrm>
          <a:prstGeom prst="ellipse">
            <a:avLst/>
          </a:prstGeom>
          <a:solidFill>
            <a:srgbClr val="7C3AED"/>
          </a:solidFill>
          <a:ln w="12700">
            <a:solidFill>
              <a:srgbClr val="7C3AED"/>
            </a:solidFill>
            <a:prstDash val="solid"/>
          </a:ln>
        </p:spPr>
      </p:sp>
      <p:pic>
        <p:nvPicPr>
          <p:cNvPr id="25" name="Image 0" descr="preencoded.png">    </p:cNvPr>
          <p:cNvPicPr>
            <a:picLocks noChangeAspect="1"/>
          </p:cNvPicPr>
          <p:nvPr/>
        </p:nvPicPr>
        <p:blipFill>
          <a:blip r:embed="rId1"/>
          <a:stretch>
            <a:fillRect/>
          </a:stretch>
        </p:blipFill>
        <p:spPr>
          <a:xfrm>
            <a:off x="909828" y="4896612"/>
            <a:ext cx="265176" cy="265176"/>
          </a:xfrm>
          <a:prstGeom prst="rect">
            <a:avLst/>
          </a:prstGeom>
        </p:spPr>
      </p:pic>
      <p:sp>
        <p:nvSpPr>
          <p:cNvPr id="26" name="Text 22"/>
          <p:cNvSpPr txBox="1"/>
          <p:nvPr/>
        </p:nvSpPr>
        <p:spPr>
          <a:xfrm>
            <a:off x="1508760" y="4526280"/>
            <a:ext cx="9966960" cy="10058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Most of the drop is P&amp;D driver mix (agent drivers → owner operators, lower fuel subsidy) — a network P&amp;D change, not claimed as terminal savings. Terminal-controlled lines: net −$163.7K Jul–Aug (P&amp;L variance, not booked).</a:t>
            </a:r>
            <a:endParaRPr lang="en-US" sz="1300" dirty="0"/>
          </a:p>
        </p:txBody>
      </p:sp>
      <p:sp>
        <p:nvSpPr>
          <p:cNvPr id="27" name="Text 23"/>
          <p:cNvSpPr txBox="1"/>
          <p:nvPr/>
        </p:nvSpPr>
        <p:spPr>
          <a:xfrm>
            <a:off x="548640" y="5715000"/>
            <a:ext cx="11091672" cy="45720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Revenue allocation broken after Feb 2026 — cost % of revenue not valid since; last valid F26 Jul–Feb 60.8% vs F25 Jul–Feb 65.7% (simple monthly averages). Weight excludes transfer credits. Source: net-amount P&amp;L pivot and Terminal Analysis, Aug 2026.</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 / 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2026-09-29T16:07:46Z</dcterms:created>
  <dcterms:modified xsi:type="dcterms:W3CDTF">2026-09-29T16:07:46Z</dcterms:modified>
</cp:coreProperties>
</file>