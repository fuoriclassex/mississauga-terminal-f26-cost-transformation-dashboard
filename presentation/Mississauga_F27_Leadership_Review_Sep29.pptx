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company F27 KPI goals and where Mississauga stands. On-time service is 93.7 percent in September, in the Exceeded band, and has improved every month since July. Missed pickups are the gap at 5.23 percent against a 1 percent goal, but about 45 percent of those are OPS false positives, so the close-out fix and daily pickup review close most of it. Headhaul load factor is at goal at 74.9 percent for F27 so far, 75.7 percent excluding Moncton. Damages, reweighs and cubing are on the plan and we are confirming the matching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jp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KPI goals — where we are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Company F27 goal plan · Mississauga latest</a:t>
            </a:r>
            <a:endParaRPr lang="en-US" sz="1300" dirty="0"/>
          </a:p>
        </p:txBody>
      </p:sp>
      <p:sp>
        <p:nvSpPr>
          <p:cNvPr id="5" name="Shape 3"/>
          <p:cNvSpPr/>
          <p:nvPr/>
        </p:nvSpPr>
        <p:spPr>
          <a:xfrm>
            <a:off x="548640" y="1645920"/>
            <a:ext cx="3544824" cy="3108960"/>
          </a:xfrm>
          <a:prstGeom prst="roundRect">
            <a:avLst>
              <a:gd name="adj" fmla="val 2353"/>
            </a:avLst>
          </a:prstGeom>
          <a:solidFill>
            <a:srgbClr val="F3F4F6"/>
          </a:solidFill>
          <a:ln w="12700">
            <a:solidFill>
              <a:srgbClr val="F3F4F6"/>
            </a:solidFill>
            <a:prstDash val="solid"/>
          </a:ln>
        </p:spPr>
      </p:sp>
      <p:sp>
        <p:nvSpPr>
          <p:cNvPr id="6" name="Text 4"/>
          <p:cNvSpPr txBox="1"/>
          <p:nvPr/>
        </p:nvSpPr>
        <p:spPr>
          <a:xfrm>
            <a:off x="777240"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On-time service</a:t>
            </a:r>
            <a:endParaRPr lang="en-US" sz="1600" dirty="0"/>
          </a:p>
        </p:txBody>
      </p:sp>
      <p:sp>
        <p:nvSpPr>
          <p:cNvPr id="7" name="Text 5"/>
          <p:cNvSpPr txBox="1"/>
          <p:nvPr/>
        </p:nvSpPr>
        <p:spPr>
          <a:xfrm>
            <a:off x="777240"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incl. interliners</a:t>
            </a:r>
            <a:endParaRPr lang="en-US" sz="1050" dirty="0"/>
          </a:p>
        </p:txBody>
      </p:sp>
      <p:sp>
        <p:nvSpPr>
          <p:cNvPr id="8" name="Shape 6"/>
          <p:cNvSpPr/>
          <p:nvPr/>
        </p:nvSpPr>
        <p:spPr>
          <a:xfrm>
            <a:off x="777240" y="2395728"/>
            <a:ext cx="2011680" cy="292608"/>
          </a:xfrm>
          <a:prstGeom prst="roundRect">
            <a:avLst>
              <a:gd name="adj" fmla="val 25000"/>
            </a:avLst>
          </a:prstGeom>
          <a:solidFill>
            <a:srgbClr val="D1FAE5"/>
          </a:solidFill>
          <a:ln w="12700">
            <a:solidFill>
              <a:srgbClr val="D1FAE5"/>
            </a:solidFill>
            <a:prstDash val="solid"/>
          </a:ln>
        </p:spPr>
      </p:sp>
      <p:sp>
        <p:nvSpPr>
          <p:cNvPr id="9" name="Text 7"/>
          <p:cNvSpPr txBox="1"/>
          <p:nvPr/>
        </p:nvSpPr>
        <p:spPr>
          <a:xfrm>
            <a:off x="777240"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EXCEEDED</a:t>
            </a:r>
            <a:endParaRPr lang="en-US" sz="1000" dirty="0"/>
          </a:p>
        </p:txBody>
      </p:sp>
      <p:sp>
        <p:nvSpPr>
          <p:cNvPr id="10" name="Text 8"/>
          <p:cNvSpPr txBox="1"/>
          <p:nvPr/>
        </p:nvSpPr>
        <p:spPr>
          <a:xfrm>
            <a:off x="777240" y="2761488"/>
            <a:ext cx="3087624" cy="640080"/>
          </a:xfrm>
          <a:prstGeom prst="rect">
            <a:avLst/>
          </a:prstGeom>
          <a:noFill/>
          <a:ln/>
        </p:spPr>
        <p:txBody>
          <a:bodyPr wrap="square" lIns="0" tIns="0" rIns="0" bIns="0" rtlCol="0" anchor="ctr"/>
          <a:lstStyle/>
          <a:p>
            <a:pPr indent="0" marL="0">
              <a:buNone/>
            </a:pPr>
            <a:r>
              <a:rPr lang="en-US" sz="4000" b="1" dirty="0">
                <a:solidFill>
                  <a:srgbClr val="111827"/>
                </a:solidFill>
                <a:latin typeface="Calibri" pitchFamily="34" charset="0"/>
                <a:ea typeface="Calibri" pitchFamily="34" charset="-122"/>
                <a:cs typeface="Calibri" pitchFamily="34" charset="-120"/>
              </a:rPr>
              <a:t>93.7%</a:t>
            </a:r>
            <a:endParaRPr lang="en-US" sz="4000" dirty="0"/>
          </a:p>
        </p:txBody>
      </p:sp>
      <p:sp>
        <p:nvSpPr>
          <p:cNvPr id="11" name="Text 9"/>
          <p:cNvSpPr txBox="1"/>
          <p:nvPr/>
        </p:nvSpPr>
        <p:spPr>
          <a:xfrm>
            <a:off x="777240"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 goal ≥ 91%</a:t>
            </a:r>
            <a:endParaRPr lang="en-US" sz="1100" dirty="0"/>
          </a:p>
        </p:txBody>
      </p:sp>
      <p:sp>
        <p:nvSpPr>
          <p:cNvPr id="12" name="Text 10"/>
          <p:cNvSpPr txBox="1"/>
          <p:nvPr/>
        </p:nvSpPr>
        <p:spPr>
          <a:xfrm>
            <a:off x="777240"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Up every month since July (89.3 → 91.7 → 93.7). Hold 92%+ through peak.</a:t>
            </a:r>
            <a:endParaRPr lang="en-US" sz="1200" dirty="0"/>
          </a:p>
        </p:txBody>
      </p:sp>
      <p:sp>
        <p:nvSpPr>
          <p:cNvPr id="13" name="Shape 11"/>
          <p:cNvSpPr/>
          <p:nvPr/>
        </p:nvSpPr>
        <p:spPr>
          <a:xfrm>
            <a:off x="4322064" y="1645920"/>
            <a:ext cx="3544824" cy="3108960"/>
          </a:xfrm>
          <a:prstGeom prst="roundRect">
            <a:avLst>
              <a:gd name="adj" fmla="val 2353"/>
            </a:avLst>
          </a:prstGeom>
          <a:solidFill>
            <a:srgbClr val="F3F4F6"/>
          </a:solidFill>
          <a:ln w="12700">
            <a:solidFill>
              <a:srgbClr val="F3F4F6"/>
            </a:solidFill>
            <a:prstDash val="solid"/>
          </a:ln>
        </p:spPr>
      </p:sp>
      <p:sp>
        <p:nvSpPr>
          <p:cNvPr id="14" name="Text 12"/>
          <p:cNvSpPr txBox="1"/>
          <p:nvPr/>
        </p:nvSpPr>
        <p:spPr>
          <a:xfrm>
            <a:off x="4550664"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Missed pickups</a:t>
            </a:r>
            <a:endParaRPr lang="en-US" sz="1600" dirty="0"/>
          </a:p>
        </p:txBody>
      </p:sp>
      <p:sp>
        <p:nvSpPr>
          <p:cNvPr id="15" name="Text 13"/>
          <p:cNvSpPr txBox="1"/>
          <p:nvPr/>
        </p:nvSpPr>
        <p:spPr>
          <a:xfrm>
            <a:off x="4550664"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pickups</a:t>
            </a:r>
            <a:endParaRPr lang="en-US" sz="1050" dirty="0"/>
          </a:p>
        </p:txBody>
      </p:sp>
      <p:sp>
        <p:nvSpPr>
          <p:cNvPr id="16" name="Shape 14"/>
          <p:cNvSpPr/>
          <p:nvPr/>
        </p:nvSpPr>
        <p:spPr>
          <a:xfrm>
            <a:off x="4550664" y="2395728"/>
            <a:ext cx="2011680" cy="292608"/>
          </a:xfrm>
          <a:prstGeom prst="roundRect">
            <a:avLst>
              <a:gd name="adj" fmla="val 25000"/>
            </a:avLst>
          </a:prstGeom>
          <a:solidFill>
            <a:srgbClr val="FEE2E2"/>
          </a:solidFill>
          <a:ln w="12700">
            <a:solidFill>
              <a:srgbClr val="FEE2E2"/>
            </a:solidFill>
            <a:prstDash val="solid"/>
          </a:ln>
        </p:spPr>
      </p:sp>
      <p:sp>
        <p:nvSpPr>
          <p:cNvPr id="17" name="Text 15"/>
          <p:cNvSpPr txBox="1"/>
          <p:nvPr/>
        </p:nvSpPr>
        <p:spPr>
          <a:xfrm>
            <a:off x="4550664"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NEEDS IMPROVEMENT</a:t>
            </a:r>
            <a:endParaRPr lang="en-US" sz="1000" dirty="0"/>
          </a:p>
        </p:txBody>
      </p:sp>
      <p:sp>
        <p:nvSpPr>
          <p:cNvPr id="18" name="Text 16"/>
          <p:cNvSpPr txBox="1"/>
          <p:nvPr/>
        </p:nvSpPr>
        <p:spPr>
          <a:xfrm>
            <a:off x="4550664" y="2761488"/>
            <a:ext cx="3087624" cy="64008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5.23%</a:t>
            </a:r>
            <a:endParaRPr lang="en-US" sz="4000" dirty="0"/>
          </a:p>
        </p:txBody>
      </p:sp>
      <p:sp>
        <p:nvSpPr>
          <p:cNvPr id="19" name="Text 17"/>
          <p:cNvSpPr txBox="1"/>
          <p:nvPr/>
        </p:nvSpPr>
        <p:spPr>
          <a:xfrm>
            <a:off x="4550664"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MTD · goal ≤ 1%</a:t>
            </a:r>
            <a:endParaRPr lang="en-US" sz="1100" dirty="0"/>
          </a:p>
        </p:txBody>
      </p:sp>
      <p:sp>
        <p:nvSpPr>
          <p:cNvPr id="20" name="Text 18"/>
          <p:cNvSpPr txBox="1"/>
          <p:nvPr/>
        </p:nvSpPr>
        <p:spPr>
          <a:xfrm>
            <a:off x="4550664"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≈45% are OPS false positives — close-out fix and daily PU review close most of the gap.</a:t>
            </a:r>
            <a:endParaRPr lang="en-US" sz="1200" dirty="0"/>
          </a:p>
        </p:txBody>
      </p:sp>
      <p:sp>
        <p:nvSpPr>
          <p:cNvPr id="21" name="Shape 19"/>
          <p:cNvSpPr/>
          <p:nvPr/>
        </p:nvSpPr>
        <p:spPr>
          <a:xfrm>
            <a:off x="8095488" y="1645920"/>
            <a:ext cx="3544824" cy="3108960"/>
          </a:xfrm>
          <a:prstGeom prst="roundRect">
            <a:avLst>
              <a:gd name="adj" fmla="val 2353"/>
            </a:avLst>
          </a:prstGeom>
          <a:solidFill>
            <a:srgbClr val="F3F4F6"/>
          </a:solidFill>
          <a:ln w="12700">
            <a:solidFill>
              <a:srgbClr val="F3F4F6"/>
            </a:solidFill>
            <a:prstDash val="solid"/>
          </a:ln>
        </p:spPr>
      </p:sp>
      <p:sp>
        <p:nvSpPr>
          <p:cNvPr id="22" name="Text 20"/>
          <p:cNvSpPr txBox="1"/>
          <p:nvPr/>
        </p:nvSpPr>
        <p:spPr>
          <a:xfrm>
            <a:off x="8324088"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Load factor — headhaul</a:t>
            </a:r>
            <a:endParaRPr lang="en-US" sz="1600" dirty="0"/>
          </a:p>
        </p:txBody>
      </p:sp>
      <p:sp>
        <p:nvSpPr>
          <p:cNvPr id="23" name="Text 21"/>
          <p:cNvSpPr txBox="1"/>
          <p:nvPr/>
        </p:nvSpPr>
        <p:spPr>
          <a:xfrm>
            <a:off x="8324088"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average load %</a:t>
            </a:r>
            <a:endParaRPr lang="en-US" sz="1050" dirty="0"/>
          </a:p>
        </p:txBody>
      </p:sp>
      <p:sp>
        <p:nvSpPr>
          <p:cNvPr id="24" name="Shape 22"/>
          <p:cNvSpPr/>
          <p:nvPr/>
        </p:nvSpPr>
        <p:spPr>
          <a:xfrm>
            <a:off x="8324088" y="2395728"/>
            <a:ext cx="2011680" cy="292608"/>
          </a:xfrm>
          <a:prstGeom prst="roundRect">
            <a:avLst>
              <a:gd name="adj" fmla="val 25000"/>
            </a:avLst>
          </a:prstGeom>
          <a:solidFill>
            <a:srgbClr val="DBEAFE"/>
          </a:solidFill>
          <a:ln w="12700">
            <a:solidFill>
              <a:srgbClr val="DBEAFE"/>
            </a:solidFill>
            <a:prstDash val="solid"/>
          </a:ln>
        </p:spPr>
      </p:sp>
      <p:sp>
        <p:nvSpPr>
          <p:cNvPr id="25" name="Text 23"/>
          <p:cNvSpPr txBox="1"/>
          <p:nvPr/>
        </p:nvSpPr>
        <p:spPr>
          <a:xfrm>
            <a:off x="8324088"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2563EB"/>
                </a:solidFill>
                <a:latin typeface="Calibri" pitchFamily="34" charset="0"/>
                <a:ea typeface="Calibri" pitchFamily="34" charset="-122"/>
                <a:cs typeface="Calibri" pitchFamily="34" charset="-120"/>
              </a:rPr>
              <a:t>ACHIEVED</a:t>
            </a:r>
            <a:endParaRPr lang="en-US" sz="1000" dirty="0"/>
          </a:p>
        </p:txBody>
      </p:sp>
      <p:sp>
        <p:nvSpPr>
          <p:cNvPr id="26" name="Text 24"/>
          <p:cNvSpPr txBox="1"/>
          <p:nvPr/>
        </p:nvSpPr>
        <p:spPr>
          <a:xfrm>
            <a:off x="8324088" y="2761488"/>
            <a:ext cx="3087624" cy="640080"/>
          </a:xfrm>
          <a:prstGeom prst="rect">
            <a:avLst/>
          </a:prstGeom>
          <a:noFill/>
          <a:ln/>
        </p:spPr>
        <p:txBody>
          <a:bodyPr wrap="square" lIns="0" tIns="0" rIns="0" bIns="0" rtlCol="0" anchor="ctr"/>
          <a:lstStyle/>
          <a:p>
            <a:pPr indent="0" marL="0">
              <a:buNone/>
            </a:pPr>
            <a:r>
              <a:rPr lang="en-US" sz="4000" b="1" dirty="0">
                <a:solidFill>
                  <a:srgbClr val="111827"/>
                </a:solidFill>
                <a:latin typeface="Calibri" pitchFamily="34" charset="0"/>
                <a:ea typeface="Calibri" pitchFamily="34" charset="-122"/>
                <a:cs typeface="Calibri" pitchFamily="34" charset="-120"/>
              </a:rPr>
              <a:t>74.9%</a:t>
            </a:r>
            <a:endParaRPr lang="en-US" sz="4000" dirty="0"/>
          </a:p>
        </p:txBody>
      </p:sp>
      <p:sp>
        <p:nvSpPr>
          <p:cNvPr id="27" name="Text 25"/>
          <p:cNvSpPr txBox="1"/>
          <p:nvPr/>
        </p:nvSpPr>
        <p:spPr>
          <a:xfrm>
            <a:off x="8324088"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Jul–Sep · goal ≥ 74%</a:t>
            </a:r>
            <a:endParaRPr lang="en-US" sz="1100" dirty="0"/>
          </a:p>
        </p:txBody>
      </p:sp>
      <p:sp>
        <p:nvSpPr>
          <p:cNvPr id="28" name="Text 26"/>
          <p:cNvSpPr txBox="1"/>
          <p:nvPr/>
        </p:nvSpPr>
        <p:spPr>
          <a:xfrm>
            <a:off x="8324088"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At goal (75.7% excl. Moncton). Toyota footage fix and decking lift it further.</a:t>
            </a:r>
            <a:endParaRPr lang="en-US" sz="1200" dirty="0"/>
          </a:p>
        </p:txBody>
      </p:sp>
      <p:sp>
        <p:nvSpPr>
          <p:cNvPr id="29" name="Shape 27"/>
          <p:cNvSpPr/>
          <p:nvPr/>
        </p:nvSpPr>
        <p:spPr>
          <a:xfrm>
            <a:off x="548640" y="4937760"/>
            <a:ext cx="11091672" cy="1051560"/>
          </a:xfrm>
          <a:prstGeom prst="roundRect">
            <a:avLst>
              <a:gd name="adj" fmla="val 6957"/>
            </a:avLst>
          </a:prstGeom>
          <a:solidFill>
            <a:srgbClr val="FFFFFF"/>
          </a:solidFill>
          <a:ln w="12700">
            <a:solidFill>
              <a:srgbClr val="FFFFFF"/>
            </a:solidFill>
            <a:prstDash val="solid"/>
          </a:ln>
        </p:spPr>
      </p:sp>
      <p:sp>
        <p:nvSpPr>
          <p:cNvPr id="30" name="Text 28"/>
          <p:cNvSpPr txBox="1"/>
          <p:nvPr/>
        </p:nvSpPr>
        <p:spPr>
          <a:xfrm>
            <a:off x="731520" y="4983480"/>
            <a:ext cx="10698480" cy="96012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Also on the F27 plan — measure to confirm: </a:t>
            </a:r>
            <a:pPr indent="0" marL="0">
              <a:buNone/>
            </a:pPr>
            <a:r>
              <a:rPr lang="en-US" sz="1200" dirty="0">
                <a:solidFill>
                  <a:srgbClr val="1F2937"/>
                </a:solidFill>
                <a:latin typeface="Calibri" pitchFamily="34" charset="0"/>
                <a:ea typeface="Calibri" pitchFamily="34" charset="-122"/>
                <a:cs typeface="Calibri" pitchFamily="34" charset="-120"/>
              </a:rPr>
              <a:t>Damages (claims per 1,000 FBs; goal 3.5) · Reweighs (national goal 4,760–5,236; terminal at 131.8% of its target in Sep) · Cubing (goal 0.45–0.5%).</a:t>
            </a:r>
            <a:endParaRPr lang="en-US" sz="1200" dirty="0"/>
          </a:p>
        </p:txBody>
      </p:sp>
      <p:sp>
        <p:nvSpPr>
          <p:cNvPr id="31"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2"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 / 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2026-09-29T17:32:36Z</dcterms:created>
  <dcterms:modified xsi:type="dcterms:W3CDTF">2026-09-29T17:32:36Z</dcterms:modified>
</cp:coreProperties>
</file>