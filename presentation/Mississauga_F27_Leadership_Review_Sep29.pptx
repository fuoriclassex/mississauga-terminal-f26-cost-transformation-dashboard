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FDBA7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27–39)</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3.75</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11827"/>
                </a:solidFill>
                <a:latin typeface="Calibri"/>
              </a:defRPr>
            </a:pPr>
            <a:r>
              <a:rPr sz="1100" b="0" i="0" u="none" strike="noStrike">
                <a:solidFill>
                  <a:srgbClr val="111827"/>
                </a:solidFill>
                <a:latin typeface="Calibri"/>
              </a:rPr>
              <a:t>Accessorial revenue by month ($K)</a:t>
            </a:r>
          </a:p>
        </c:rich>
      </c:tx>
      <c:layout/>
      <c:overlay val="0"/>
    </c:title>
    <c:autoTitleDeleted val="0"/>
    <c:plotArea>
      <c:layout/>
      <c:barChart>
        <c:barDir val="col"/>
        <c:grouping val="clustered"/>
        <c:varyColors val="0"/>
        <c:ser>
          <c:idx val="0"/>
          <c:order val="0"/>
          <c:tx>
            <c:strRef>
              <c:f>Sheet1!$B$1</c:f>
              <c:strCache>
                <c:ptCount val="1"/>
                <c:pt idx="0">
                  <c:v>$K</c:v>
                </c:pt>
              </c:strCache>
            </c:strRef>
          </c:tx>
          <c:spPr>
            <a:solidFill>
              <a:srgbClr val="EA580C"/>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Apr</c:v>
                  </c:pt>
                  <c:pt idx="1">
                    <c:v>May</c:v>
                  </c:pt>
                  <c:pt idx="2">
                    <c:v>Jun</c:v>
                  </c:pt>
                  <c:pt idx="3">
                    <c:v>Jul</c:v>
                  </c:pt>
                  <c:pt idx="4">
                    <c:v>Aug</c:v>
                  </c:pt>
                  <c:pt idx="5">
                    <c:v>Sep*</c:v>
                  </c:pt>
                </c:lvl>
              </c:multiLvlStrCache>
            </c:multiLvlStrRef>
          </c:cat>
          <c:val>
            <c:numRef>
              <c:f>Sheet1!$B$2:$B$7</c:f>
              <c:numCache>
                <c:formatCode>General</c:formatCode>
                <c:ptCount val="6"/>
                <c:pt idx="0">
                  <c:v>329</c:v>
                </c:pt>
                <c:pt idx="1">
                  <c:v>283</c:v>
                </c:pt>
                <c:pt idx="2">
                  <c:v>255</c:v>
                </c:pt>
                <c:pt idx="3">
                  <c:v>267</c:v>
                </c:pt>
                <c:pt idx="4">
                  <c:v>253</c:v>
                </c:pt>
                <c:pt idx="5">
                  <c:v>238</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D&amp;R</c:v>
                </c:pt>
              </c:strCache>
            </c:strRef>
          </c:tx>
          <c:spPr>
            <a:solidFill>
              <a:srgbClr val="EA580C"/>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EA580C"/>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FDBA74"/>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EA580C"/>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units per hour are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then a recap: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people-led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percent or more new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near-miss reporting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percent or more new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company F27 KPI goals and where Mississauga stands. On-time service is 93.7 percent in September, in the Exceeded band, and has improved every month since July. Missed pickups are the gap at 5.23 percent against a 1 percent goal, but about 45 percent of those are OPS false positives, so the close-out fix and daily pickup review close most of it. Headhaul load factor is at goal at 74.9 percent for F27 so far, 75.7 percent excluding Moncton. Damages, reweighs and cubing are on the plan and we are confirming the matching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451 thousand dollars for the year — roughly 38 thousand dollars a month against the same months of F26. It is built on our two contract labour buckets: Admin contract labour is down about 25 percent, worth about 298 thousand a year, and Dock contract labour is down about 6 percent, worth about 92 thousand, plus the confirmed 61 thousand dollar dispatcher saving. Every extra 1 percent off contract labour is worth about 28 thousand a year. These are estimates if the current rate holds, not booked savings; load securement, handling equipment, accessorials and Toyota footage capture come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 capture protects revenue. F27 to date we have billed about 759 thousand dollars in accessorials, and about 238 thousand in September to the 29th. Against the report target per unit, 7 of 13 codes are at or above target in September and 6 are below, about 9 thousand dollars under target. Tailgate and residential delivery are three quarters of accessorial dollars and both are slightly under target, so the focus is making sure every one is rated before invoicing, getting detention billed, and reviewing after-hours deliveries.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Because the goal is weight-based, lighter freight holds PPH down even as units per hour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load-planning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handling equipment we plan to use. ANCRA knock-down pallet decks add a second deck level for palletized freight, so we use the top half of the trailer without stacking freight on freight. ANCRA divider deck-board kits lock loads in place so nothing shifts or falls when the doors open. The yellow panel cart carries MAAX glass shower doors and bases, 75-inch TVs and panels upright and secured, and rolls in and out by hand. The grey cage or bin cart holds glass, TVs and small loose freight and moves by forklift in one lift instead of many hand-carries. Panel trucks and reconfigurable racks handle windows, doors, panels and car parts — we are looking at SawTrax, Rack and Shelf, Grainger and Uline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image" Target="../media/image-18-5.jp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image" Target="../media/image-19-4.jp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mississauga-terminal-f26-cost-transformation-dashboard/6b011158-ae27-5f52-8fca-d7600eb7a2cd/scratchpad/deck/dr_titl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EA580C"/>
          </a:solidFill>
          <a:ln w="12700">
            <a:solidFill>
              <a:srgbClr val="EA580C"/>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FFEDD5"/>
          </a:solidFill>
          <a:ln w="12700">
            <a:solidFill>
              <a:srgbClr val="FFEDD5"/>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EA580C"/>
          </a:solidFill>
          <a:ln w="12700">
            <a:solidFill>
              <a:srgbClr val="EA580C"/>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service failures, missed pickups</a:t>
            </a:r>
            <a:endParaRPr lang="en-US" sz="1300" dirty="0"/>
          </a:p>
        </p:txBody>
      </p:sp>
      <p:sp>
        <p:nvSpPr>
          <p:cNvPr id="16" name="Shape 12"/>
          <p:cNvSpPr/>
          <p:nvPr/>
        </p:nvSpPr>
        <p:spPr>
          <a:xfrm>
            <a:off x="548640" y="2816352"/>
            <a:ext cx="566928" cy="566928"/>
          </a:xfrm>
          <a:prstGeom prst="ellipse">
            <a:avLst/>
          </a:prstGeom>
          <a:solidFill>
            <a:srgbClr val="EA580C"/>
          </a:solidFill>
          <a:ln w="12700">
            <a:solidFill>
              <a:srgbClr val="EA580C"/>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FFEDD5"/>
          </a:solidFill>
          <a:ln w="12700">
            <a:solidFill>
              <a:srgbClr val="FFEDD5"/>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accessorials, cost per PRO, hours, shifts</a:t>
            </a:r>
            <a:endParaRPr lang="en-US" sz="1300" dirty="0"/>
          </a:p>
        </p:txBody>
      </p:sp>
      <p:sp>
        <p:nvSpPr>
          <p:cNvPr id="22" name="Shape 17"/>
          <p:cNvSpPr/>
          <p:nvPr/>
        </p:nvSpPr>
        <p:spPr>
          <a:xfrm>
            <a:off x="548640" y="3493008"/>
            <a:ext cx="566928" cy="566928"/>
          </a:xfrm>
          <a:prstGeom prst="ellipse">
            <a:avLst/>
          </a:prstGeom>
          <a:solidFill>
            <a:srgbClr val="EA580C"/>
          </a:solidFill>
          <a:ln w="12700">
            <a:solidFill>
              <a:srgbClr val="EA580C"/>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FFEDD5"/>
          </a:solidFill>
          <a:ln w="12700">
            <a:solidFill>
              <a:srgbClr val="FFEDD5"/>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a:t>
            </a:r>
            <a:endParaRPr lang="en-US" sz="1300" dirty="0"/>
          </a:p>
        </p:txBody>
      </p:sp>
      <p:sp>
        <p:nvSpPr>
          <p:cNvPr id="28" name="Shape 22"/>
          <p:cNvSpPr/>
          <p:nvPr/>
        </p:nvSpPr>
        <p:spPr>
          <a:xfrm>
            <a:off x="548640" y="4169664"/>
            <a:ext cx="566928" cy="566928"/>
          </a:xfrm>
          <a:prstGeom prst="ellipse">
            <a:avLst/>
          </a:prstGeom>
          <a:solidFill>
            <a:srgbClr val="EA580C"/>
          </a:solidFill>
          <a:ln w="12700">
            <a:solidFill>
              <a:srgbClr val="EA580C"/>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FFEDD5"/>
          </a:solidFill>
          <a:ln w="12700">
            <a:solidFill>
              <a:srgbClr val="FFEDD5"/>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EA580C"/>
          </a:solidFill>
          <a:ln w="12700">
            <a:solidFill>
              <a:srgbClr val="EA580C"/>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FFEDD5"/>
          </a:solidFill>
          <a:ln w="12700">
            <a:solidFill>
              <a:srgbClr val="FFEDD5"/>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EA580C"/>
          </a:solidFill>
          <a:ln w="12700">
            <a:solidFill>
              <a:srgbClr val="EA580C"/>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FFEDD5"/>
          </a:solidFill>
          <a:ln w="12700">
            <a:solidFill>
              <a:srgbClr val="FFEDD5"/>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Recap &amp; questions</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F27 so far — full detail is on the website</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FFEDD5"/>
          </a:solidFill>
          <a:ln w="12700">
            <a:solidFill>
              <a:srgbClr val="FFEDD5"/>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day</a:t>
            </a:r>
            <a:endParaRPr lang="en-US" sz="1800" dirty="0"/>
          </a:p>
        </p:txBody>
      </p:sp>
      <p:sp>
        <p:nvSpPr>
          <p:cNvPr id="27" name="Shape 25"/>
          <p:cNvSpPr/>
          <p:nvPr/>
        </p:nvSpPr>
        <p:spPr>
          <a:xfrm>
            <a:off x="548640" y="3575304"/>
            <a:ext cx="384048" cy="384048"/>
          </a:xfrm>
          <a:prstGeom prst="ellipse">
            <a:avLst/>
          </a:prstGeom>
          <a:solidFill>
            <a:srgbClr val="FFEDD5"/>
          </a:solidFill>
          <a:ln w="12700">
            <a:solidFill>
              <a:srgbClr val="FFEDD5"/>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FFEDD5"/>
          </a:solidFill>
          <a:ln w="12700">
            <a:solidFill>
              <a:srgbClr val="FFEDD5"/>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FFEDD5"/>
          </a:solidFill>
          <a:ln w="12700">
            <a:solidFill>
              <a:srgbClr val="FFEDD5"/>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FFEDD5"/>
          </a:solidFill>
          <a:ln w="12700">
            <a:solidFill>
              <a:srgbClr val="FFEDD5"/>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FFEDD5"/>
          </a:solidFill>
          <a:ln w="12700">
            <a:solidFill>
              <a:srgbClr val="FFEDD5"/>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supported by Safety — safe work practices, lifting, forklift &amp; seat belt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FF7ED"/>
          </a:solidFill>
          <a:ln w="12700">
            <a:solidFill>
              <a:srgbClr val="FFF7ED"/>
            </a:solidFill>
            <a:prstDash val="solid"/>
          </a:ln>
        </p:spPr>
      </p:sp>
      <p:sp>
        <p:nvSpPr>
          <p:cNvPr id="20" name="Shape 18"/>
          <p:cNvSpPr/>
          <p:nvPr/>
        </p:nvSpPr>
        <p:spPr>
          <a:xfrm>
            <a:off x="6391656" y="3913632"/>
            <a:ext cx="1920240" cy="329184"/>
          </a:xfrm>
          <a:prstGeom prst="roundRect">
            <a:avLst>
              <a:gd name="adj" fmla="val 22222"/>
            </a:avLst>
          </a:prstGeom>
          <a:solidFill>
            <a:srgbClr val="FFEDD5"/>
          </a:solidFill>
          <a:ln w="12700">
            <a:solidFill>
              <a:srgbClr val="FFEDD5"/>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EA580C"/>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EA580C"/>
          </a:solidFill>
          <a:ln w="12700">
            <a:solidFill>
              <a:srgbClr val="EA580C"/>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Ride-alongs per quarter ramp up: 8 → 11 → 13 (of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ride with every driver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EA580C"/>
          </a:solidFill>
          <a:ln w="12700">
            <a:solidFill>
              <a:srgbClr val="EA580C"/>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 new temp (agency)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safe work practices,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Short check-ins: seat belt on the forklift; what to do if there is a spill</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FF7ED"/>
          </a:solidFill>
          <a:ln w="12700">
            <a:solidFill>
              <a:srgbClr val="FFF7ED"/>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 39 adj 94.8% · week 40 (Sun–Mon) 96.6%</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FF7ED"/>
          </a:solidFill>
          <a:ln w="12700">
            <a:solidFill>
              <a:srgbClr val="FFF7ED"/>
            </a:solidFill>
            <a:prstDash val="solid"/>
          </a:ln>
        </p:spPr>
      </p:sp>
      <p:sp>
        <p:nvSpPr>
          <p:cNvPr id="23" name="Shape 20"/>
          <p:cNvSpPr/>
          <p:nvPr/>
        </p:nvSpPr>
        <p:spPr>
          <a:xfrm>
            <a:off x="731520" y="5404104"/>
            <a:ext cx="475488" cy="475488"/>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Terminal and P&amp;D teams working together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failures (AS code excluded — not a service failure): week 39 = 66 (top: TF 22); week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FF7ED"/>
          </a:solidFill>
          <a:ln w="12700">
            <a:solidFill>
              <a:srgbClr val="FFF7ED"/>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KPI goals — where we are</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Company F27 goal plan · Mississauga latest</a:t>
            </a:r>
            <a:endParaRPr lang="en-US" sz="1300" dirty="0"/>
          </a:p>
        </p:txBody>
      </p:sp>
      <p:sp>
        <p:nvSpPr>
          <p:cNvPr id="5" name="Shape 3"/>
          <p:cNvSpPr/>
          <p:nvPr/>
        </p:nvSpPr>
        <p:spPr>
          <a:xfrm>
            <a:off x="548640" y="1645920"/>
            <a:ext cx="3544824" cy="3108960"/>
          </a:xfrm>
          <a:prstGeom prst="roundRect">
            <a:avLst>
              <a:gd name="adj" fmla="val 2353"/>
            </a:avLst>
          </a:prstGeom>
          <a:solidFill>
            <a:srgbClr val="F3F4F6"/>
          </a:solidFill>
          <a:ln w="12700">
            <a:solidFill>
              <a:srgbClr val="F3F4F6"/>
            </a:solidFill>
            <a:prstDash val="solid"/>
          </a:ln>
        </p:spPr>
      </p:sp>
      <p:sp>
        <p:nvSpPr>
          <p:cNvPr id="6" name="Text 4"/>
          <p:cNvSpPr txBox="1"/>
          <p:nvPr/>
        </p:nvSpPr>
        <p:spPr>
          <a:xfrm>
            <a:off x="777240"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On-time service</a:t>
            </a:r>
            <a:endParaRPr lang="en-US" sz="1600" dirty="0"/>
          </a:p>
        </p:txBody>
      </p:sp>
      <p:sp>
        <p:nvSpPr>
          <p:cNvPr id="7" name="Text 5"/>
          <p:cNvSpPr txBox="1"/>
          <p:nvPr/>
        </p:nvSpPr>
        <p:spPr>
          <a:xfrm>
            <a:off x="777240"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incl. interliners</a:t>
            </a:r>
            <a:endParaRPr lang="en-US" sz="1050" dirty="0"/>
          </a:p>
        </p:txBody>
      </p:sp>
      <p:sp>
        <p:nvSpPr>
          <p:cNvPr id="8" name="Shape 6"/>
          <p:cNvSpPr/>
          <p:nvPr/>
        </p:nvSpPr>
        <p:spPr>
          <a:xfrm>
            <a:off x="777240" y="2395728"/>
            <a:ext cx="2011680" cy="292608"/>
          </a:xfrm>
          <a:prstGeom prst="roundRect">
            <a:avLst>
              <a:gd name="adj" fmla="val 25000"/>
            </a:avLst>
          </a:prstGeom>
          <a:solidFill>
            <a:srgbClr val="D1FAE5"/>
          </a:solidFill>
          <a:ln w="12700">
            <a:solidFill>
              <a:srgbClr val="D1FAE5"/>
            </a:solidFill>
            <a:prstDash val="solid"/>
          </a:ln>
        </p:spPr>
      </p:sp>
      <p:sp>
        <p:nvSpPr>
          <p:cNvPr id="9" name="Text 7"/>
          <p:cNvSpPr txBox="1"/>
          <p:nvPr/>
        </p:nvSpPr>
        <p:spPr>
          <a:xfrm>
            <a:off x="777240"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EXCEEDED</a:t>
            </a:r>
            <a:endParaRPr lang="en-US" sz="1000" dirty="0"/>
          </a:p>
        </p:txBody>
      </p:sp>
      <p:sp>
        <p:nvSpPr>
          <p:cNvPr id="10" name="Text 8"/>
          <p:cNvSpPr txBox="1"/>
          <p:nvPr/>
        </p:nvSpPr>
        <p:spPr>
          <a:xfrm>
            <a:off x="777240" y="2761488"/>
            <a:ext cx="3087624" cy="64008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 93.7%</a:t>
            </a:r>
            <a:endParaRPr lang="en-US" sz="4000" dirty="0"/>
          </a:p>
        </p:txBody>
      </p:sp>
      <p:sp>
        <p:nvSpPr>
          <p:cNvPr id="11" name="Text 9"/>
          <p:cNvSpPr txBox="1"/>
          <p:nvPr/>
        </p:nvSpPr>
        <p:spPr>
          <a:xfrm>
            <a:off x="777240"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Sep · goal ≥ 91%</a:t>
            </a:r>
            <a:endParaRPr lang="en-US" sz="1100" dirty="0"/>
          </a:p>
        </p:txBody>
      </p:sp>
      <p:sp>
        <p:nvSpPr>
          <p:cNvPr id="12" name="Text 10"/>
          <p:cNvSpPr txBox="1"/>
          <p:nvPr/>
        </p:nvSpPr>
        <p:spPr>
          <a:xfrm>
            <a:off x="777240"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Up every month since July (89.3 → 91.7 → 93.7). Hold 92%+ through peak.</a:t>
            </a:r>
            <a:endParaRPr lang="en-US" sz="1200" dirty="0"/>
          </a:p>
        </p:txBody>
      </p:sp>
      <p:sp>
        <p:nvSpPr>
          <p:cNvPr id="13" name="Shape 11"/>
          <p:cNvSpPr/>
          <p:nvPr/>
        </p:nvSpPr>
        <p:spPr>
          <a:xfrm>
            <a:off x="4322064" y="1645920"/>
            <a:ext cx="3544824" cy="3108960"/>
          </a:xfrm>
          <a:prstGeom prst="roundRect">
            <a:avLst>
              <a:gd name="adj" fmla="val 2353"/>
            </a:avLst>
          </a:prstGeom>
          <a:solidFill>
            <a:srgbClr val="F3F4F6"/>
          </a:solidFill>
          <a:ln w="12700">
            <a:solidFill>
              <a:srgbClr val="F3F4F6"/>
            </a:solidFill>
            <a:prstDash val="solid"/>
          </a:ln>
        </p:spPr>
      </p:sp>
      <p:sp>
        <p:nvSpPr>
          <p:cNvPr id="14" name="Text 12"/>
          <p:cNvSpPr txBox="1"/>
          <p:nvPr/>
        </p:nvSpPr>
        <p:spPr>
          <a:xfrm>
            <a:off x="4550664"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Missed pickups</a:t>
            </a:r>
            <a:endParaRPr lang="en-US" sz="1600" dirty="0"/>
          </a:p>
        </p:txBody>
      </p:sp>
      <p:sp>
        <p:nvSpPr>
          <p:cNvPr id="15" name="Text 13"/>
          <p:cNvSpPr txBox="1"/>
          <p:nvPr/>
        </p:nvSpPr>
        <p:spPr>
          <a:xfrm>
            <a:off x="4550664"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 of pickups</a:t>
            </a:r>
            <a:endParaRPr lang="en-US" sz="1050" dirty="0"/>
          </a:p>
        </p:txBody>
      </p:sp>
      <p:sp>
        <p:nvSpPr>
          <p:cNvPr id="16" name="Shape 14"/>
          <p:cNvSpPr/>
          <p:nvPr/>
        </p:nvSpPr>
        <p:spPr>
          <a:xfrm>
            <a:off x="4550664" y="2395728"/>
            <a:ext cx="2011680" cy="292608"/>
          </a:xfrm>
          <a:prstGeom prst="roundRect">
            <a:avLst>
              <a:gd name="adj" fmla="val 25000"/>
            </a:avLst>
          </a:prstGeom>
          <a:solidFill>
            <a:srgbClr val="FEE2E2"/>
          </a:solidFill>
          <a:ln w="12700">
            <a:solidFill>
              <a:srgbClr val="FEE2E2"/>
            </a:solidFill>
            <a:prstDash val="solid"/>
          </a:ln>
        </p:spPr>
      </p:sp>
      <p:sp>
        <p:nvSpPr>
          <p:cNvPr id="17" name="Text 15"/>
          <p:cNvSpPr txBox="1"/>
          <p:nvPr/>
        </p:nvSpPr>
        <p:spPr>
          <a:xfrm>
            <a:off x="4550664"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NEEDS IMPROVEMENT</a:t>
            </a:r>
            <a:endParaRPr lang="en-US" sz="1000" dirty="0"/>
          </a:p>
        </p:txBody>
      </p:sp>
      <p:sp>
        <p:nvSpPr>
          <p:cNvPr id="18" name="Text 16"/>
          <p:cNvSpPr txBox="1"/>
          <p:nvPr/>
        </p:nvSpPr>
        <p:spPr>
          <a:xfrm>
            <a:off x="4550664" y="2761488"/>
            <a:ext cx="3087624" cy="640080"/>
          </a:xfrm>
          <a:prstGeom prst="rect">
            <a:avLst/>
          </a:prstGeom>
          <a:noFill/>
          <a:ln/>
        </p:spPr>
        <p:txBody>
          <a:bodyPr wrap="square" lIns="0" tIns="0" rIns="0" bIns="0" rtlCol="0" anchor="ctr"/>
          <a:lstStyle/>
          <a:p>
            <a:pPr indent="0" marL="0">
              <a:buNone/>
            </a:pPr>
            <a:r>
              <a:rPr lang="en-US" sz="4000" b="1" dirty="0">
                <a:solidFill>
                  <a:srgbClr val="DC2626"/>
                </a:solidFill>
                <a:latin typeface="Calibri" pitchFamily="34" charset="0"/>
                <a:ea typeface="Calibri" pitchFamily="34" charset="-122"/>
                <a:cs typeface="Calibri" pitchFamily="34" charset="-120"/>
              </a:rPr>
              <a:t>▲ 5.23%</a:t>
            </a:r>
            <a:endParaRPr lang="en-US" sz="4000" dirty="0"/>
          </a:p>
        </p:txBody>
      </p:sp>
      <p:sp>
        <p:nvSpPr>
          <p:cNvPr id="19" name="Text 17"/>
          <p:cNvSpPr txBox="1"/>
          <p:nvPr/>
        </p:nvSpPr>
        <p:spPr>
          <a:xfrm>
            <a:off x="4550664"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Sep MTD · goal ≤ 1%</a:t>
            </a:r>
            <a:endParaRPr lang="en-US" sz="1100" dirty="0"/>
          </a:p>
        </p:txBody>
      </p:sp>
      <p:sp>
        <p:nvSpPr>
          <p:cNvPr id="20" name="Text 18"/>
          <p:cNvSpPr txBox="1"/>
          <p:nvPr/>
        </p:nvSpPr>
        <p:spPr>
          <a:xfrm>
            <a:off x="4550664"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≈45% are OPS false positives — close-out fix and daily PU review close most of the gap.</a:t>
            </a:r>
            <a:endParaRPr lang="en-US" sz="1200" dirty="0"/>
          </a:p>
        </p:txBody>
      </p:sp>
      <p:sp>
        <p:nvSpPr>
          <p:cNvPr id="21" name="Shape 19"/>
          <p:cNvSpPr/>
          <p:nvPr/>
        </p:nvSpPr>
        <p:spPr>
          <a:xfrm>
            <a:off x="8095488" y="1645920"/>
            <a:ext cx="3544824" cy="3108960"/>
          </a:xfrm>
          <a:prstGeom prst="roundRect">
            <a:avLst>
              <a:gd name="adj" fmla="val 2353"/>
            </a:avLst>
          </a:prstGeom>
          <a:solidFill>
            <a:srgbClr val="F3F4F6"/>
          </a:solidFill>
          <a:ln w="12700">
            <a:solidFill>
              <a:srgbClr val="F3F4F6"/>
            </a:solidFill>
            <a:prstDash val="solid"/>
          </a:ln>
        </p:spPr>
      </p:sp>
      <p:sp>
        <p:nvSpPr>
          <p:cNvPr id="22" name="Text 20"/>
          <p:cNvSpPr txBox="1"/>
          <p:nvPr/>
        </p:nvSpPr>
        <p:spPr>
          <a:xfrm>
            <a:off x="8324088"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Load factor — headhaul</a:t>
            </a:r>
            <a:endParaRPr lang="en-US" sz="1600" dirty="0"/>
          </a:p>
        </p:txBody>
      </p:sp>
      <p:sp>
        <p:nvSpPr>
          <p:cNvPr id="23" name="Text 21"/>
          <p:cNvSpPr txBox="1"/>
          <p:nvPr/>
        </p:nvSpPr>
        <p:spPr>
          <a:xfrm>
            <a:off x="8324088"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average load %</a:t>
            </a:r>
            <a:endParaRPr lang="en-US" sz="1050" dirty="0"/>
          </a:p>
        </p:txBody>
      </p:sp>
      <p:sp>
        <p:nvSpPr>
          <p:cNvPr id="24" name="Shape 22"/>
          <p:cNvSpPr/>
          <p:nvPr/>
        </p:nvSpPr>
        <p:spPr>
          <a:xfrm>
            <a:off x="8324088" y="2395728"/>
            <a:ext cx="2011680" cy="292608"/>
          </a:xfrm>
          <a:prstGeom prst="roundRect">
            <a:avLst>
              <a:gd name="adj" fmla="val 25000"/>
            </a:avLst>
          </a:prstGeom>
          <a:solidFill>
            <a:srgbClr val="DBEAFE"/>
          </a:solidFill>
          <a:ln w="12700">
            <a:solidFill>
              <a:srgbClr val="DBEAFE"/>
            </a:solidFill>
            <a:prstDash val="solid"/>
          </a:ln>
        </p:spPr>
      </p:sp>
      <p:sp>
        <p:nvSpPr>
          <p:cNvPr id="25" name="Text 23"/>
          <p:cNvSpPr txBox="1"/>
          <p:nvPr/>
        </p:nvSpPr>
        <p:spPr>
          <a:xfrm>
            <a:off x="8324088"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2563EB"/>
                </a:solidFill>
                <a:latin typeface="Calibri" pitchFamily="34" charset="0"/>
                <a:ea typeface="Calibri" pitchFamily="34" charset="-122"/>
                <a:cs typeface="Calibri" pitchFamily="34" charset="-120"/>
              </a:rPr>
              <a:t>ACHIEVED</a:t>
            </a:r>
            <a:endParaRPr lang="en-US" sz="1000" dirty="0"/>
          </a:p>
        </p:txBody>
      </p:sp>
      <p:sp>
        <p:nvSpPr>
          <p:cNvPr id="26" name="Text 24"/>
          <p:cNvSpPr txBox="1"/>
          <p:nvPr/>
        </p:nvSpPr>
        <p:spPr>
          <a:xfrm>
            <a:off x="8324088" y="2761488"/>
            <a:ext cx="3087624" cy="64008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 74.9%</a:t>
            </a:r>
            <a:endParaRPr lang="en-US" sz="4000" dirty="0"/>
          </a:p>
        </p:txBody>
      </p:sp>
      <p:sp>
        <p:nvSpPr>
          <p:cNvPr id="27" name="Text 25"/>
          <p:cNvSpPr txBox="1"/>
          <p:nvPr/>
        </p:nvSpPr>
        <p:spPr>
          <a:xfrm>
            <a:off x="8324088"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Jul–Sep · goal ≥ 74%</a:t>
            </a:r>
            <a:endParaRPr lang="en-US" sz="1100" dirty="0"/>
          </a:p>
        </p:txBody>
      </p:sp>
      <p:sp>
        <p:nvSpPr>
          <p:cNvPr id="28" name="Text 26"/>
          <p:cNvSpPr txBox="1"/>
          <p:nvPr/>
        </p:nvSpPr>
        <p:spPr>
          <a:xfrm>
            <a:off x="8324088"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At goal (75.7% excl. Moncton). Toyota footage fix and decking lift it further.</a:t>
            </a:r>
            <a:endParaRPr lang="en-US" sz="1200" dirty="0"/>
          </a:p>
        </p:txBody>
      </p:sp>
      <p:sp>
        <p:nvSpPr>
          <p:cNvPr id="29" name="Shape 27"/>
          <p:cNvSpPr/>
          <p:nvPr/>
        </p:nvSpPr>
        <p:spPr>
          <a:xfrm>
            <a:off x="548640" y="4937760"/>
            <a:ext cx="11091672" cy="1051560"/>
          </a:xfrm>
          <a:prstGeom prst="roundRect">
            <a:avLst>
              <a:gd name="adj" fmla="val 6957"/>
            </a:avLst>
          </a:prstGeom>
          <a:solidFill>
            <a:srgbClr val="FFFFFF"/>
          </a:solidFill>
          <a:ln w="12700">
            <a:solidFill>
              <a:srgbClr val="FFFFFF"/>
            </a:solidFill>
            <a:prstDash val="solid"/>
          </a:ln>
        </p:spPr>
      </p:sp>
      <p:sp>
        <p:nvSpPr>
          <p:cNvPr id="30" name="Text 28"/>
          <p:cNvSpPr txBox="1"/>
          <p:nvPr/>
        </p:nvSpPr>
        <p:spPr>
          <a:xfrm>
            <a:off x="731520" y="4983480"/>
            <a:ext cx="10698480" cy="96012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Also on the F27 plan — measure to confirm: </a:t>
            </a:r>
            <a:pPr indent="0" marL="0">
              <a:buNone/>
            </a:pPr>
            <a:r>
              <a:rPr lang="en-US" sz="1200" dirty="0">
                <a:solidFill>
                  <a:srgbClr val="1F2937"/>
                </a:solidFill>
                <a:latin typeface="Calibri" pitchFamily="34" charset="0"/>
                <a:ea typeface="Calibri" pitchFamily="34" charset="-122"/>
                <a:cs typeface="Calibri" pitchFamily="34" charset="-120"/>
              </a:rPr>
              <a:t>Damages (claims per 1,000 FBs; goal 3.5) · Reweighs (national goal 4,760–5,236; terminal at 131.8% of its target in Sep) · Cubing (goal 0.45–0.5%).</a:t>
            </a:r>
            <a:endParaRPr lang="en-US" sz="1200" dirty="0"/>
          </a:p>
        </p:txBody>
      </p:sp>
      <p:sp>
        <p:nvSpPr>
          <p:cNvPr id="31"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2"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contract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$298.1K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≈$24.8K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contract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$92.2K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≈$7.7K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Dispatcher role (confirmed)</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$61.0K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≈$5.1K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$451.2K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≈$37.6K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Admin (agency)</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Dock (agency temps)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Contract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$32.5K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$390.2K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 annual value)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$451.2K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FF7ED"/>
          </a:solidFill>
          <a:ln w="12700">
            <a:solidFill>
              <a:srgbClr val="FFF7ED"/>
            </a:solidFill>
            <a:prstDash val="solid"/>
          </a:ln>
        </p:spPr>
      </p:sp>
      <p:sp>
        <p:nvSpPr>
          <p:cNvPr id="23" name="Shape 20"/>
          <p:cNvSpPr/>
          <p:nvPr/>
        </p:nvSpPr>
        <p:spPr>
          <a:xfrm>
            <a:off x="8046720" y="2971800"/>
            <a:ext cx="502920" cy="502920"/>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hold and grow the outlook</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the Jul–Aug rates: Admin contract labour −25%, Dock contract labour −6%.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off contract labour ≈ $28.2K/yr (Admin $11.8K, Dock $16.4K).</a:t>
            </a:r>
            <a:endParaRPr lang="en-US" sz="1250" dirty="0"/>
          </a:p>
          <a:p>
            <a:pPr indent="0" marL="0">
              <a:buNone/>
            </a:pPr>
            <a:r>
              <a:rPr lang="en-US" sz="1250" b="1" dirty="0">
                <a:solidFill>
                  <a:srgbClr val="EA580C"/>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the two contract labour buckets (Admin, Dock): each bucket's Jul–Aug % change vs the same months of F26, applied to the remaining F26 months if the rate holds, plus the confirmed dispatcher saving. Estimates, not booked savings. D&amp;R employee wages &amp; benefits (dock and admin) tracked separately. Source: net-amount P&amp;L pivot.</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FF7ED"/>
          </a:solidFill>
          <a:ln w="12700">
            <a:solidFill>
              <a:srgbClr val="FFF7ED"/>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 ($758.7K revenue F27 to date)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Only the dispatcher saving is confirmed; other values TBC.</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accessorial capture</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report · Mississauga · Apr – Sep 2026 · Sep to the 29th</a:t>
            </a:r>
            <a:endParaRPr lang="en-US" sz="1300" dirty="0"/>
          </a:p>
        </p:txBody>
      </p:sp>
      <p:sp>
        <p:nvSpPr>
          <p:cNvPr id="5" name="Shape 3"/>
          <p:cNvSpPr/>
          <p:nvPr/>
        </p:nvSpPr>
        <p:spPr>
          <a:xfrm>
            <a:off x="548640" y="1627632"/>
            <a:ext cx="3575304"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3209544"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to date (Jul 1 – Sep 29)</a:t>
            </a:r>
            <a:endParaRPr lang="en-US" sz="1100" dirty="0"/>
          </a:p>
        </p:txBody>
      </p:sp>
      <p:sp>
        <p:nvSpPr>
          <p:cNvPr id="7" name="Text 5"/>
          <p:cNvSpPr txBox="1"/>
          <p:nvPr/>
        </p:nvSpPr>
        <p:spPr>
          <a:xfrm>
            <a:off x="731520" y="1956816"/>
            <a:ext cx="3209544" cy="384048"/>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$758.7K</a:t>
            </a:r>
            <a:endParaRPr lang="en-US" sz="2400" dirty="0"/>
          </a:p>
        </p:txBody>
      </p:sp>
      <p:sp>
        <p:nvSpPr>
          <p:cNvPr id="8" name="Text 6"/>
          <p:cNvSpPr txBox="1"/>
          <p:nvPr/>
        </p:nvSpPr>
        <p:spPr>
          <a:xfrm>
            <a:off x="731520" y="2340864"/>
            <a:ext cx="3209544"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118,419 accessorial units</a:t>
            </a:r>
            <a:endParaRPr lang="en-US" sz="1050" dirty="0"/>
          </a:p>
        </p:txBody>
      </p:sp>
      <p:sp>
        <p:nvSpPr>
          <p:cNvPr id="9" name="Shape 7"/>
          <p:cNvSpPr/>
          <p:nvPr/>
        </p:nvSpPr>
        <p:spPr>
          <a:xfrm>
            <a:off x="4306824" y="1627632"/>
            <a:ext cx="3575304"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4489704" y="1719072"/>
            <a:ext cx="3209544"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(to the 29th)</a:t>
            </a:r>
            <a:endParaRPr lang="en-US" sz="1100" dirty="0"/>
          </a:p>
        </p:txBody>
      </p:sp>
      <p:sp>
        <p:nvSpPr>
          <p:cNvPr id="11" name="Text 9"/>
          <p:cNvSpPr txBox="1"/>
          <p:nvPr/>
        </p:nvSpPr>
        <p:spPr>
          <a:xfrm>
            <a:off x="4489704" y="1956816"/>
            <a:ext cx="3209544" cy="384048"/>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$238.3K</a:t>
            </a:r>
            <a:endParaRPr lang="en-US" sz="2400" dirty="0"/>
          </a:p>
        </p:txBody>
      </p:sp>
      <p:sp>
        <p:nvSpPr>
          <p:cNvPr id="12" name="Text 10"/>
          <p:cNvSpPr txBox="1"/>
          <p:nvPr/>
        </p:nvSpPr>
        <p:spPr>
          <a:xfrm>
            <a:off x="4489704" y="2340864"/>
            <a:ext cx="3209544"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35,052 units</a:t>
            </a:r>
            <a:endParaRPr lang="en-US" sz="1050" dirty="0"/>
          </a:p>
        </p:txBody>
      </p:sp>
      <p:sp>
        <p:nvSpPr>
          <p:cNvPr id="13" name="Shape 11"/>
          <p:cNvSpPr/>
          <p:nvPr/>
        </p:nvSpPr>
        <p:spPr>
          <a:xfrm>
            <a:off x="8065008" y="1627632"/>
            <a:ext cx="3575304"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8247888" y="1719072"/>
            <a:ext cx="3209544"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vs $/unit target</a:t>
            </a:r>
            <a:endParaRPr lang="en-US" sz="1100" dirty="0"/>
          </a:p>
        </p:txBody>
      </p:sp>
      <p:sp>
        <p:nvSpPr>
          <p:cNvPr id="15" name="Text 13"/>
          <p:cNvSpPr txBox="1"/>
          <p:nvPr/>
        </p:nvSpPr>
        <p:spPr>
          <a:xfrm>
            <a:off x="8247888" y="1956816"/>
            <a:ext cx="3209544"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 7</a:t>
            </a:r>
            <a:pPr indent="0" marL="0">
              <a:buNone/>
            </a:pPr>
            <a:r>
              <a:rPr lang="en-US" sz="2400" b="1"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DC2626"/>
                </a:solidFill>
                <a:latin typeface="Calibri" pitchFamily="34" charset="0"/>
                <a:ea typeface="Calibri" pitchFamily="34" charset="-122"/>
                <a:cs typeface="Calibri" pitchFamily="34" charset="-120"/>
              </a:rPr>
              <a:t>▼ 6</a:t>
            </a:r>
            <a:endParaRPr lang="en-US" sz="2400" dirty="0"/>
          </a:p>
        </p:txBody>
      </p:sp>
      <p:sp>
        <p:nvSpPr>
          <p:cNvPr id="16" name="Text 14"/>
          <p:cNvSpPr txBox="1"/>
          <p:nvPr/>
        </p:nvSpPr>
        <p:spPr>
          <a:xfrm>
            <a:off x="8247888" y="2340864"/>
            <a:ext cx="3209544"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codes at/above · below — ≈$9.2K under target</a:t>
            </a:r>
            <a:endParaRPr lang="en-US" sz="1050" dirty="0"/>
          </a:p>
        </p:txBody>
      </p:sp>
      <p:graphicFrame>
        <p:nvGraphicFramePr>
          <p:cNvPr id="17" name="Chart 0" descr=""/>
          <p:cNvGraphicFramePr/>
          <p:nvPr/>
        </p:nvGraphicFramePr>
        <p:xfrm>
          <a:off x="548640" y="2761488"/>
          <a:ext cx="4480560" cy="20116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48640" y="4846320"/>
            <a:ext cx="4480560" cy="1188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Tailgate + residential delivery = 74% of accessorial $ — both slightly under target in Sep. Rate every one before invoicing.</a:t>
            </a:r>
            <a:endParaRPr lang="en-US" sz="1100" dirty="0"/>
          </a:p>
          <a:p>
            <a:pPr marL="152400" indent="-1524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Detention: 14 units billed $0 in Sep — record driver times so it bills.</a:t>
            </a:r>
            <a:endParaRPr lang="en-US" sz="1100" dirty="0"/>
          </a:p>
          <a:p>
            <a:pPr marL="152400" indent="-152400">
              <a:buSzPct val="100000"/>
              <a:buChar char="•"/>
            </a:pPr>
            <a:r>
              <a:rPr lang="en-US" sz="1100" dirty="0">
                <a:solidFill>
                  <a:srgbClr val="1F2937"/>
                </a:solidFill>
                <a:latin typeface="Calibri" pitchFamily="34" charset="0"/>
                <a:ea typeface="Calibri" pitchFamily="34" charset="-122"/>
                <a:cs typeface="Calibri" pitchFamily="34" charset="-120"/>
              </a:rPr>
              <a:t>After-hours: 3,130 units at $0.72 each — review which should bill.</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257800" y="2761488"/>
          <a:ext cx="6382512" cy="914400"/>
        </p:xfrm>
        <a:graphic>
          <a:graphicData uri="http://schemas.openxmlformats.org/drawingml/2006/table">
            <a:tbl>
              <a:tblPr/>
              <a:tblGrid>
                <a:gridCol w="2148840"/>
                <a:gridCol w="685800"/>
                <a:gridCol w="914400"/>
                <a:gridCol w="868680"/>
                <a:gridCol w="731520"/>
                <a:gridCol w="1033272"/>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Sep by accessorial</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Units</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Billed</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Avg $/unit</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Target</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vs target</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Tailgate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5,775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$89,072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$15.42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$16.15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Private residence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17,659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$81,174</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$4.60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$4.76</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Appointment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5,245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$22,204</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$4.23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$3.97</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7%</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Appointment pick-up</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762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$11,935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$15.66</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$14.51</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Tailgate pick-up</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628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$8,911</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$14.19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Storage</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269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$7,648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$28.43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$31.65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10%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Private residence pick-up</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560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$4,263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$7.61</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$7.23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Tradeshow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77</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$5,748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$74.65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$87.79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15%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Inside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292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$1,873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$6.42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$5.82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10%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bl>
          </a:graphicData>
        </a:graphic>
      </p:graphicFrame>
      <p:sp>
        <p:nvSpPr>
          <p:cNvPr id="20" name="Text 16"/>
          <p:cNvSpPr txBox="1"/>
          <p:nvPr/>
        </p:nvSpPr>
        <p:spPr>
          <a:xfrm>
            <a:off x="5257800" y="5669280"/>
            <a:ext cx="638251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Top 9 codes with a target, by F27-to-date revenue. Target = report's monthly dollar target per unit. Full list on the website.</a:t>
            </a:r>
            <a:endParaRPr lang="en-US" sz="950" dirty="0"/>
          </a:p>
        </p:txBody>
      </p:sp>
      <p:sp>
        <p:nvSpPr>
          <p:cNvPr id="21"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95–100% OF TARGET</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Dock salaries &amp; benefits (month)</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FF7ED"/>
          </a:solidFill>
          <a:ln w="12700">
            <a:solidFill>
              <a:srgbClr val="FFF7ED"/>
            </a:solidFill>
            <a:prstDash val="solid"/>
          </a:ln>
        </p:spPr>
      </p:sp>
      <p:sp>
        <p:nvSpPr>
          <p:cNvPr id="30" name="Shape 28"/>
          <p:cNvSpPr/>
          <p:nvPr/>
        </p:nvSpPr>
        <p:spPr>
          <a:xfrm>
            <a:off x="6217920" y="4965192"/>
            <a:ext cx="566928" cy="566928"/>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FFEDD5"/>
          </a:solidFill>
          <a:ln w="12700">
            <a:solidFill>
              <a:srgbClr val="FFEDD5"/>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FFEDD5"/>
          </a:solidFill>
          <a:ln w="12700">
            <a:solidFill>
              <a:srgbClr val="FFEDD5"/>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FFEDD5"/>
          </a:solidFill>
          <a:ln w="12700">
            <a:solidFill>
              <a:srgbClr val="FFEDD5"/>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Accessorials checked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FFEDD5"/>
          </a:solidFill>
          <a:ln w="12700">
            <a:solidFill>
              <a:srgbClr val="FFEDD5"/>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tracked every shift.</a:t>
            </a:r>
            <a:endParaRPr lang="en-US" sz="1400" dirty="0"/>
          </a:p>
        </p:txBody>
      </p:sp>
      <p:sp>
        <p:nvSpPr>
          <p:cNvPr id="16" name="Shape 10"/>
          <p:cNvSpPr/>
          <p:nvPr/>
        </p:nvSpPr>
        <p:spPr>
          <a:xfrm>
            <a:off x="7772400" y="1417320"/>
            <a:ext cx="3867912" cy="4526280"/>
          </a:xfrm>
          <a:prstGeom prst="roundRect">
            <a:avLst>
              <a:gd name="adj" fmla="val 1891"/>
            </a:avLst>
          </a:prstGeom>
          <a:solidFill>
            <a:srgbClr val="FFF7ED"/>
          </a:solidFill>
          <a:ln w="12700">
            <a:solidFill>
              <a:srgbClr val="FFF7ED"/>
            </a:solidFill>
            <a:prstDash val="solid"/>
          </a:ln>
        </p:spPr>
      </p:sp>
      <p:sp>
        <p:nvSpPr>
          <p:cNvPr id="17" name="Shape 11"/>
          <p:cNvSpPr/>
          <p:nvPr/>
        </p:nvSpPr>
        <p:spPr>
          <a:xfrm>
            <a:off x="8001000" y="1645920"/>
            <a:ext cx="502920" cy="502920"/>
          </a:xfrm>
          <a:prstGeom prst="ellipse">
            <a:avLst/>
          </a:prstGeom>
          <a:solidFill>
            <a:srgbClr val="EA580C"/>
          </a:solidFill>
          <a:ln w="12700">
            <a:solidFill>
              <a:srgbClr val="EA580C"/>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example (Wed Sep 9) in the table below.</a:t>
            </a:r>
            <a:endParaRPr lang="en-US" sz="11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FF7ED"/>
          </a:solidFill>
          <a:ln w="12700">
            <a:solidFill>
              <a:srgbClr val="FFF7ED"/>
            </a:solidFill>
            <a:prstDash val="solid"/>
          </a:ln>
        </p:spPr>
      </p:sp>
      <p:sp>
        <p:nvSpPr>
          <p:cNvPr id="22" name="Shape 19"/>
          <p:cNvSpPr/>
          <p:nvPr/>
        </p:nvSpPr>
        <p:spPr>
          <a:xfrm>
            <a:off x="6217920" y="3584448"/>
            <a:ext cx="457200" cy="457200"/>
          </a:xfrm>
          <a:prstGeom prst="ellipse">
            <a:avLst/>
          </a:prstGeom>
          <a:solidFill>
            <a:srgbClr val="EA580C"/>
          </a:solidFill>
          <a:ln w="12700">
            <a:solidFill>
              <a:srgbClr val="EA580C"/>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The goal is weight-based, so lighter freight holds PPH down even as units per hour rise.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outbound loads more than 80% full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 band</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500–1,000: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trailer floor footage loaded at Bowmanville not captured correctly — fix under way; 20.5% of Moncton bills have no cube recorded vs 3.0% on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FF7ED"/>
          </a:solidFill>
          <a:ln w="12700">
            <a:solidFill>
              <a:srgbClr val="FFF7ED"/>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FFEDD5"/>
          </a:solidFill>
          <a:ln w="12700">
            <a:solidFill>
              <a:srgbClr val="FFEDD5"/>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FFEDD5"/>
          </a:solidFill>
          <a:ln w="12700">
            <a:solidFill>
              <a:srgbClr val="FFEDD5"/>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today and the plan</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Glass doors on makeshift 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Glass doors on makeshift 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FF7ED"/>
          </a:solidFill>
          <a:ln w="12700">
            <a:solidFill>
              <a:srgbClr val="FFF7ED"/>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EA580C"/>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EA580C"/>
          </a:solidFill>
          <a:ln w="12700">
            <a:solidFill>
              <a:srgbClr val="EA580C"/>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(dry van,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carts &amp; reconfigurable racks for windows, doors, panels, car parts</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Handling equipment — what we plan to use</a:t>
            </a:r>
            <a:endParaRPr lang="en-US" sz="3000" dirty="0"/>
          </a:p>
        </p:txBody>
      </p:sp>
      <p:sp>
        <p:nvSpPr>
          <p:cNvPr id="4" name="Shape 2"/>
          <p:cNvSpPr/>
          <p:nvPr/>
        </p:nvSpPr>
        <p:spPr>
          <a:xfrm>
            <a:off x="548640" y="1371600"/>
            <a:ext cx="2072030" cy="4709160"/>
          </a:xfrm>
          <a:prstGeom prst="roundRect">
            <a:avLst>
              <a:gd name="adj" fmla="val 3530"/>
            </a:avLst>
          </a:prstGeom>
          <a:solidFill>
            <a:srgbClr val="F3F4F6"/>
          </a:solidFill>
          <a:ln w="12700">
            <a:solidFill>
              <a:srgbClr val="F3F4F6"/>
            </a:solidFill>
            <a:prstDash val="solid"/>
          </a:ln>
        </p:spPr>
      </p:sp>
      <p:sp>
        <p:nvSpPr>
          <p:cNvPr id="5" name="Shape 3"/>
          <p:cNvSpPr/>
          <p:nvPr/>
        </p:nvSpPr>
        <p:spPr>
          <a:xfrm>
            <a:off x="640080" y="1463040"/>
            <a:ext cx="1889150" cy="2057400"/>
          </a:xfrm>
          <a:prstGeom prst="roundRect">
            <a:avLst>
              <a:gd name="adj" fmla="val 3872"/>
            </a:avLst>
          </a:prstGeom>
          <a:solidFill>
            <a:srgbClr val="FFFFFF"/>
          </a:solidFill>
          <a:ln w="12700">
            <a:solidFill>
              <a:srgbClr val="FFFFFF"/>
            </a:solidFill>
            <a:prstDash val="solid"/>
          </a:ln>
        </p:spPr>
      </p:sp>
      <p:pic>
        <p:nvPicPr>
          <p:cNvPr id="6" name="Image 0" descr="ANCRA knock-down pallet decks">    </p:cNvPr>
          <p:cNvPicPr>
            <a:picLocks noChangeAspect="1"/>
          </p:cNvPicPr>
          <p:nvPr/>
        </p:nvPicPr>
        <p:blipFill>
          <a:blip r:embed="rId1"/>
          <a:stretch>
            <a:fillRect/>
          </a:stretch>
        </p:blipFill>
        <p:spPr>
          <a:xfrm>
            <a:off x="685800" y="1519825"/>
            <a:ext cx="1797710" cy="1943830"/>
          </a:xfrm>
          <a:prstGeom prst="rect">
            <a:avLst/>
          </a:prstGeom>
        </p:spPr>
      </p:pic>
      <p:sp>
        <p:nvSpPr>
          <p:cNvPr id="7" name="Text 4"/>
          <p:cNvSpPr txBox="1"/>
          <p:nvPr/>
        </p:nvSpPr>
        <p:spPr>
          <a:xfrm>
            <a:off x="685800" y="3611880"/>
            <a:ext cx="1797710" cy="457200"/>
          </a:xfrm>
          <a:prstGeom prst="rect">
            <a:avLst/>
          </a:prstGeom>
          <a:noFill/>
          <a:ln/>
        </p:spPr>
        <p:txBody>
          <a:bodyPr wrap="square" lIns="0" tIns="0" rIns="0" bIns="0" rtlCol="0" anchor="t"/>
          <a:lstStyle/>
          <a:p>
            <a:pPr indent="0" marL="0">
              <a:buNone/>
            </a:pPr>
            <a:r>
              <a:rPr lang="en-US" sz="1300" b="1" dirty="0">
                <a:solidFill>
                  <a:srgbClr val="111827"/>
                </a:solidFill>
                <a:latin typeface="Calibri" pitchFamily="34" charset="0"/>
                <a:ea typeface="Calibri" pitchFamily="34" charset="-122"/>
                <a:cs typeface="Calibri" pitchFamily="34" charset="-120"/>
              </a:rPr>
              <a:t>ANCRA knock-down pallet decks</a:t>
            </a:r>
            <a:endParaRPr lang="en-US" sz="1300" dirty="0"/>
          </a:p>
        </p:txBody>
      </p:sp>
      <p:sp>
        <p:nvSpPr>
          <p:cNvPr id="8" name="Text 5"/>
          <p:cNvSpPr txBox="1"/>
          <p:nvPr/>
        </p:nvSpPr>
        <p:spPr>
          <a:xfrm>
            <a:off x="685800" y="4069080"/>
            <a:ext cx="1797710" cy="777240"/>
          </a:xfrm>
          <a:prstGeom prst="rect">
            <a:avLst/>
          </a:prstGeom>
          <a:noFill/>
          <a:ln/>
        </p:spPr>
        <p:txBody>
          <a:bodyPr wrap="square" lIns="0" tIns="0" rIns="0" bIns="0" rtlCol="0" anchor="t"/>
          <a:lstStyle/>
          <a:p>
            <a:pPr indent="0" marL="0">
              <a:buNone/>
            </a:pPr>
            <a:r>
              <a:rPr lang="en-US" sz="1050" b="1" dirty="0">
                <a:solidFill>
                  <a:srgbClr val="EA580C"/>
                </a:solidFill>
                <a:latin typeface="Calibri" pitchFamily="34" charset="0"/>
                <a:ea typeface="Calibri" pitchFamily="34" charset="-122"/>
                <a:cs typeface="Calibri" pitchFamily="34" charset="-120"/>
              </a:rPr>
              <a:t>For: </a:t>
            </a:r>
            <a:pPr indent="0" marL="0">
              <a:buNone/>
            </a:pPr>
            <a:r>
              <a:rPr lang="en-US" sz="1050" dirty="0">
                <a:solidFill>
                  <a:srgbClr val="1F2937"/>
                </a:solidFill>
                <a:latin typeface="Calibri" pitchFamily="34" charset="0"/>
                <a:ea typeface="Calibri" pitchFamily="34" charset="-122"/>
                <a:cs typeface="Calibri" pitchFamily="34" charset="-120"/>
              </a:rPr>
              <a:t>A second deck level for palletized freight (E-track).</a:t>
            </a:r>
            <a:endParaRPr lang="en-US" sz="1050" dirty="0"/>
          </a:p>
        </p:txBody>
      </p:sp>
      <p:sp>
        <p:nvSpPr>
          <p:cNvPr id="9" name="Text 6"/>
          <p:cNvSpPr txBox="1"/>
          <p:nvPr/>
        </p:nvSpPr>
        <p:spPr>
          <a:xfrm>
            <a:off x="685800" y="4846320"/>
            <a:ext cx="1797710" cy="960120"/>
          </a:xfrm>
          <a:prstGeom prst="rect">
            <a:avLst/>
          </a:prstGeom>
          <a:noFill/>
          <a:ln/>
        </p:spPr>
        <p:txBody>
          <a:bodyPr wrap="square" lIns="0" tIns="0" rIns="0" bIns="0" rtlCol="0" anchor="t"/>
          <a:lstStyle/>
          <a:p>
            <a:pPr indent="0" marL="0">
              <a:buNone/>
            </a:pPr>
            <a:r>
              <a:rPr lang="en-US" sz="1050" b="1" dirty="0">
                <a:solidFill>
                  <a:srgbClr val="111827"/>
                </a:solidFill>
                <a:latin typeface="Calibri" pitchFamily="34" charset="0"/>
                <a:ea typeface="Calibri" pitchFamily="34" charset="-122"/>
                <a:cs typeface="Calibri" pitchFamily="34" charset="-120"/>
              </a:rPr>
              <a:t>How it helps: </a:t>
            </a:r>
            <a:pPr indent="0" marL="0">
              <a:buNone/>
            </a:pPr>
            <a:r>
              <a:rPr lang="en-US" sz="1050" dirty="0">
                <a:solidFill>
                  <a:srgbClr val="1F2937"/>
                </a:solidFill>
                <a:latin typeface="Calibri" pitchFamily="34" charset="0"/>
                <a:ea typeface="Calibri" pitchFamily="34" charset="-122"/>
                <a:cs typeface="Calibri" pitchFamily="34" charset="-120"/>
              </a:rPr>
              <a:t>Uses the top half of the trailer; freight is not stacked on freight, so less crushing.</a:t>
            </a:r>
            <a:endParaRPr lang="en-US" sz="1050" dirty="0"/>
          </a:p>
        </p:txBody>
      </p:sp>
      <p:sp>
        <p:nvSpPr>
          <p:cNvPr id="10" name="Text 7"/>
          <p:cNvSpPr txBox="1"/>
          <p:nvPr/>
        </p:nvSpPr>
        <p:spPr>
          <a:xfrm>
            <a:off x="685800" y="5815584"/>
            <a:ext cx="179771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Photo: ANCRA</a:t>
            </a:r>
            <a:endParaRPr lang="en-US" sz="800" dirty="0"/>
          </a:p>
        </p:txBody>
      </p:sp>
      <p:sp>
        <p:nvSpPr>
          <p:cNvPr id="11" name="Shape 8"/>
          <p:cNvSpPr/>
          <p:nvPr/>
        </p:nvSpPr>
        <p:spPr>
          <a:xfrm>
            <a:off x="2803550" y="1371600"/>
            <a:ext cx="2072030" cy="4709160"/>
          </a:xfrm>
          <a:prstGeom prst="roundRect">
            <a:avLst>
              <a:gd name="adj" fmla="val 3530"/>
            </a:avLst>
          </a:prstGeom>
          <a:solidFill>
            <a:srgbClr val="F3F4F6"/>
          </a:solidFill>
          <a:ln w="12700">
            <a:solidFill>
              <a:srgbClr val="F3F4F6"/>
            </a:solidFill>
            <a:prstDash val="solid"/>
          </a:ln>
        </p:spPr>
      </p:sp>
      <p:sp>
        <p:nvSpPr>
          <p:cNvPr id="12" name="Shape 9"/>
          <p:cNvSpPr/>
          <p:nvPr/>
        </p:nvSpPr>
        <p:spPr>
          <a:xfrm>
            <a:off x="2894990" y="1463040"/>
            <a:ext cx="1889150" cy="2057400"/>
          </a:xfrm>
          <a:prstGeom prst="roundRect">
            <a:avLst>
              <a:gd name="adj" fmla="val 3872"/>
            </a:avLst>
          </a:prstGeom>
          <a:solidFill>
            <a:srgbClr val="FFFFFF"/>
          </a:solidFill>
          <a:ln w="12700">
            <a:solidFill>
              <a:srgbClr val="FFFFFF"/>
            </a:solidFill>
            <a:prstDash val="solid"/>
          </a:ln>
        </p:spPr>
      </p:sp>
      <p:pic>
        <p:nvPicPr>
          <p:cNvPr id="13" name="Image 1" descr="ANCRA divider deck-board kits">    </p:cNvPr>
          <p:cNvPicPr>
            <a:picLocks noChangeAspect="1"/>
          </p:cNvPicPr>
          <p:nvPr/>
        </p:nvPicPr>
        <p:blipFill>
          <a:blip r:embed="rId2"/>
          <a:stretch>
            <a:fillRect/>
          </a:stretch>
        </p:blipFill>
        <p:spPr>
          <a:xfrm>
            <a:off x="2940710" y="1618110"/>
            <a:ext cx="1797710" cy="1747260"/>
          </a:xfrm>
          <a:prstGeom prst="rect">
            <a:avLst/>
          </a:prstGeom>
        </p:spPr>
      </p:pic>
      <p:sp>
        <p:nvSpPr>
          <p:cNvPr id="14" name="Text 10"/>
          <p:cNvSpPr txBox="1"/>
          <p:nvPr/>
        </p:nvSpPr>
        <p:spPr>
          <a:xfrm>
            <a:off x="2940710" y="3611880"/>
            <a:ext cx="1797710" cy="457200"/>
          </a:xfrm>
          <a:prstGeom prst="rect">
            <a:avLst/>
          </a:prstGeom>
          <a:noFill/>
          <a:ln/>
        </p:spPr>
        <p:txBody>
          <a:bodyPr wrap="square" lIns="0" tIns="0" rIns="0" bIns="0" rtlCol="0" anchor="t"/>
          <a:lstStyle/>
          <a:p>
            <a:pPr indent="0" marL="0">
              <a:buNone/>
            </a:pPr>
            <a:r>
              <a:rPr lang="en-US" sz="1300" b="1" dirty="0">
                <a:solidFill>
                  <a:srgbClr val="111827"/>
                </a:solidFill>
                <a:latin typeface="Calibri" pitchFamily="34" charset="0"/>
                <a:ea typeface="Calibri" pitchFamily="34" charset="-122"/>
                <a:cs typeface="Calibri" pitchFamily="34" charset="-120"/>
              </a:rPr>
              <a:t>ANCRA divider deck-board kits</a:t>
            </a:r>
            <a:endParaRPr lang="en-US" sz="1300" dirty="0"/>
          </a:p>
        </p:txBody>
      </p:sp>
      <p:sp>
        <p:nvSpPr>
          <p:cNvPr id="15" name="Text 11"/>
          <p:cNvSpPr txBox="1"/>
          <p:nvPr/>
        </p:nvSpPr>
        <p:spPr>
          <a:xfrm>
            <a:off x="2940710" y="4069080"/>
            <a:ext cx="1797710" cy="777240"/>
          </a:xfrm>
          <a:prstGeom prst="rect">
            <a:avLst/>
          </a:prstGeom>
          <a:noFill/>
          <a:ln/>
        </p:spPr>
        <p:txBody>
          <a:bodyPr wrap="square" lIns="0" tIns="0" rIns="0" bIns="0" rtlCol="0" anchor="t"/>
          <a:lstStyle/>
          <a:p>
            <a:pPr indent="0" marL="0">
              <a:buNone/>
            </a:pPr>
            <a:r>
              <a:rPr lang="en-US" sz="1050" b="1" dirty="0">
                <a:solidFill>
                  <a:srgbClr val="EA580C"/>
                </a:solidFill>
                <a:latin typeface="Calibri" pitchFamily="34" charset="0"/>
                <a:ea typeface="Calibri" pitchFamily="34" charset="-122"/>
                <a:cs typeface="Calibri" pitchFamily="34" charset="-120"/>
              </a:rPr>
              <a:t>For: </a:t>
            </a:r>
            <a:pPr indent="0" marL="0">
              <a:buNone/>
            </a:pPr>
            <a:r>
              <a:rPr lang="en-US" sz="1050" dirty="0">
                <a:solidFill>
                  <a:srgbClr val="1F2937"/>
                </a:solidFill>
                <a:latin typeface="Calibri" pitchFamily="34" charset="0"/>
                <a:ea typeface="Calibri" pitchFamily="34" charset="-122"/>
                <a:cs typeface="Calibri" pitchFamily="34" charset="-120"/>
              </a:rPr>
              <a:t>Deck boards across the trailer to lock loads in place.</a:t>
            </a:r>
            <a:endParaRPr lang="en-US" sz="1050" dirty="0"/>
          </a:p>
        </p:txBody>
      </p:sp>
      <p:sp>
        <p:nvSpPr>
          <p:cNvPr id="16" name="Text 12"/>
          <p:cNvSpPr txBox="1"/>
          <p:nvPr/>
        </p:nvSpPr>
        <p:spPr>
          <a:xfrm>
            <a:off x="2940710" y="4846320"/>
            <a:ext cx="1797710" cy="960120"/>
          </a:xfrm>
          <a:prstGeom prst="rect">
            <a:avLst/>
          </a:prstGeom>
          <a:noFill/>
          <a:ln/>
        </p:spPr>
        <p:txBody>
          <a:bodyPr wrap="square" lIns="0" tIns="0" rIns="0" bIns="0" rtlCol="0" anchor="t"/>
          <a:lstStyle/>
          <a:p>
            <a:pPr indent="0" marL="0">
              <a:buNone/>
            </a:pPr>
            <a:r>
              <a:rPr lang="en-US" sz="1050" b="1" dirty="0">
                <a:solidFill>
                  <a:srgbClr val="111827"/>
                </a:solidFill>
                <a:latin typeface="Calibri" pitchFamily="34" charset="0"/>
                <a:ea typeface="Calibri" pitchFamily="34" charset="-122"/>
                <a:cs typeface="Calibri" pitchFamily="34" charset="-120"/>
              </a:rPr>
              <a:t>How it helps: </a:t>
            </a:r>
            <a:pPr indent="0" marL="0">
              <a:buNone/>
            </a:pPr>
            <a:r>
              <a:rPr lang="en-US" sz="1050" dirty="0">
                <a:solidFill>
                  <a:srgbClr val="1F2937"/>
                </a:solidFill>
                <a:latin typeface="Calibri" pitchFamily="34" charset="0"/>
                <a:ea typeface="Calibri" pitchFamily="34" charset="-122"/>
                <a:cs typeface="Calibri" pitchFamily="34" charset="-120"/>
              </a:rPr>
              <a:t>Stops shifting in transit; nothing falls when the doors open.</a:t>
            </a:r>
            <a:endParaRPr lang="en-US" sz="1050" dirty="0"/>
          </a:p>
        </p:txBody>
      </p:sp>
      <p:sp>
        <p:nvSpPr>
          <p:cNvPr id="17" name="Text 13"/>
          <p:cNvSpPr txBox="1"/>
          <p:nvPr/>
        </p:nvSpPr>
        <p:spPr>
          <a:xfrm>
            <a:off x="2940710" y="5815584"/>
            <a:ext cx="179771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Photo: ANCRA</a:t>
            </a:r>
            <a:endParaRPr lang="en-US" sz="800" dirty="0"/>
          </a:p>
        </p:txBody>
      </p:sp>
      <p:sp>
        <p:nvSpPr>
          <p:cNvPr id="18" name="Shape 14"/>
          <p:cNvSpPr/>
          <p:nvPr/>
        </p:nvSpPr>
        <p:spPr>
          <a:xfrm>
            <a:off x="5058461" y="1371600"/>
            <a:ext cx="2072030" cy="4709160"/>
          </a:xfrm>
          <a:prstGeom prst="roundRect">
            <a:avLst>
              <a:gd name="adj" fmla="val 3530"/>
            </a:avLst>
          </a:prstGeom>
          <a:solidFill>
            <a:srgbClr val="F3F4F6"/>
          </a:solidFill>
          <a:ln w="12700">
            <a:solidFill>
              <a:srgbClr val="F3F4F6"/>
            </a:solidFill>
            <a:prstDash val="solid"/>
          </a:ln>
        </p:spPr>
      </p:sp>
      <p:sp>
        <p:nvSpPr>
          <p:cNvPr id="19" name="Shape 15"/>
          <p:cNvSpPr/>
          <p:nvPr/>
        </p:nvSpPr>
        <p:spPr>
          <a:xfrm>
            <a:off x="5149901" y="1463040"/>
            <a:ext cx="1889150" cy="2057400"/>
          </a:xfrm>
          <a:prstGeom prst="roundRect">
            <a:avLst>
              <a:gd name="adj" fmla="val 3872"/>
            </a:avLst>
          </a:prstGeom>
          <a:solidFill>
            <a:srgbClr val="FFFFFF"/>
          </a:solidFill>
          <a:ln w="12700">
            <a:solidFill>
              <a:srgbClr val="FFFFFF"/>
            </a:solidFill>
            <a:prstDash val="solid"/>
          </a:ln>
        </p:spPr>
      </p:sp>
      <p:pic>
        <p:nvPicPr>
          <p:cNvPr id="20" name="Image 2" descr="Yellow panel cart">    </p:cNvPr>
          <p:cNvPicPr>
            <a:picLocks noChangeAspect="1"/>
          </p:cNvPicPr>
          <p:nvPr/>
        </p:nvPicPr>
        <p:blipFill>
          <a:blip r:embed="rId3"/>
          <a:stretch>
            <a:fillRect/>
          </a:stretch>
        </p:blipFill>
        <p:spPr>
          <a:xfrm>
            <a:off x="5483390" y="1508760"/>
            <a:ext cx="1222172" cy="1965960"/>
          </a:xfrm>
          <a:prstGeom prst="rect">
            <a:avLst/>
          </a:prstGeom>
        </p:spPr>
      </p:pic>
      <p:sp>
        <p:nvSpPr>
          <p:cNvPr id="21" name="Text 16"/>
          <p:cNvSpPr txBox="1"/>
          <p:nvPr/>
        </p:nvSpPr>
        <p:spPr>
          <a:xfrm>
            <a:off x="5195621" y="3611880"/>
            <a:ext cx="1797710" cy="457200"/>
          </a:xfrm>
          <a:prstGeom prst="rect">
            <a:avLst/>
          </a:prstGeom>
          <a:noFill/>
          <a:ln/>
        </p:spPr>
        <p:txBody>
          <a:bodyPr wrap="square" lIns="0" tIns="0" rIns="0" bIns="0" rtlCol="0" anchor="t"/>
          <a:lstStyle/>
          <a:p>
            <a:pPr indent="0" marL="0">
              <a:buNone/>
            </a:pPr>
            <a:r>
              <a:rPr lang="en-US" sz="1300" b="1" dirty="0">
                <a:solidFill>
                  <a:srgbClr val="111827"/>
                </a:solidFill>
                <a:latin typeface="Calibri" pitchFamily="34" charset="0"/>
                <a:ea typeface="Calibri" pitchFamily="34" charset="-122"/>
                <a:cs typeface="Calibri" pitchFamily="34" charset="-120"/>
              </a:rPr>
              <a:t>Yellow panel cart</a:t>
            </a:r>
            <a:endParaRPr lang="en-US" sz="1300" dirty="0"/>
          </a:p>
        </p:txBody>
      </p:sp>
      <p:sp>
        <p:nvSpPr>
          <p:cNvPr id="22" name="Text 17"/>
          <p:cNvSpPr txBox="1"/>
          <p:nvPr/>
        </p:nvSpPr>
        <p:spPr>
          <a:xfrm>
            <a:off x="5195621" y="4069080"/>
            <a:ext cx="1797710" cy="777240"/>
          </a:xfrm>
          <a:prstGeom prst="rect">
            <a:avLst/>
          </a:prstGeom>
          <a:noFill/>
          <a:ln/>
        </p:spPr>
        <p:txBody>
          <a:bodyPr wrap="square" lIns="0" tIns="0" rIns="0" bIns="0" rtlCol="0" anchor="t"/>
          <a:lstStyle/>
          <a:p>
            <a:pPr indent="0" marL="0">
              <a:buNone/>
            </a:pPr>
            <a:r>
              <a:rPr lang="en-US" sz="1050" b="1" dirty="0">
                <a:solidFill>
                  <a:srgbClr val="EA580C"/>
                </a:solidFill>
                <a:latin typeface="Calibri" pitchFamily="34" charset="0"/>
                <a:ea typeface="Calibri" pitchFamily="34" charset="-122"/>
                <a:cs typeface="Calibri" pitchFamily="34" charset="-120"/>
              </a:rPr>
              <a:t>For: </a:t>
            </a:r>
            <a:pPr indent="0" marL="0">
              <a:buNone/>
            </a:pPr>
            <a:r>
              <a:rPr lang="en-US" sz="1050" dirty="0">
                <a:solidFill>
                  <a:srgbClr val="1F2937"/>
                </a:solidFill>
                <a:latin typeface="Calibri" pitchFamily="34" charset="0"/>
                <a:ea typeface="Calibri" pitchFamily="34" charset="-122"/>
                <a:cs typeface="Calibri" pitchFamily="34" charset="-120"/>
              </a:rPr>
              <a:t>MAAX glass shower doors and bases, 75-inch TVs, panels.</a:t>
            </a:r>
            <a:endParaRPr lang="en-US" sz="1050" dirty="0"/>
          </a:p>
        </p:txBody>
      </p:sp>
      <p:sp>
        <p:nvSpPr>
          <p:cNvPr id="23" name="Text 18"/>
          <p:cNvSpPr txBox="1"/>
          <p:nvPr/>
        </p:nvSpPr>
        <p:spPr>
          <a:xfrm>
            <a:off x="5195621" y="4846320"/>
            <a:ext cx="1797710" cy="960120"/>
          </a:xfrm>
          <a:prstGeom prst="rect">
            <a:avLst/>
          </a:prstGeom>
          <a:noFill/>
          <a:ln/>
        </p:spPr>
        <p:txBody>
          <a:bodyPr wrap="square" lIns="0" tIns="0" rIns="0" bIns="0" rtlCol="0" anchor="t"/>
          <a:lstStyle/>
          <a:p>
            <a:pPr indent="0" marL="0">
              <a:buNone/>
            </a:pPr>
            <a:r>
              <a:rPr lang="en-US" sz="1050" b="1" dirty="0">
                <a:solidFill>
                  <a:srgbClr val="111827"/>
                </a:solidFill>
                <a:latin typeface="Calibri" pitchFamily="34" charset="0"/>
                <a:ea typeface="Calibri" pitchFamily="34" charset="-122"/>
                <a:cs typeface="Calibri" pitchFamily="34" charset="-120"/>
              </a:rPr>
              <a:t>How it helps: </a:t>
            </a:r>
            <a:pPr indent="0" marL="0">
              <a:buNone/>
            </a:pPr>
            <a:r>
              <a:rPr lang="en-US" sz="1050" dirty="0">
                <a:solidFill>
                  <a:srgbClr val="1F2937"/>
                </a:solidFill>
                <a:latin typeface="Calibri" pitchFamily="34" charset="0"/>
                <a:ea typeface="Calibri" pitchFamily="34" charset="-122"/>
                <a:cs typeface="Calibri" pitchFamily="34" charset="-120"/>
              </a:rPr>
              <a:t>Rides upright and secured; rolls in and out of the trailer by hand.</a:t>
            </a:r>
            <a:endParaRPr lang="en-US" sz="1050" dirty="0"/>
          </a:p>
        </p:txBody>
      </p:sp>
      <p:sp>
        <p:nvSpPr>
          <p:cNvPr id="24" name="Text 19"/>
          <p:cNvSpPr txBox="1"/>
          <p:nvPr/>
        </p:nvSpPr>
        <p:spPr>
          <a:xfrm>
            <a:off x="5195621" y="5815584"/>
            <a:ext cx="179771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Photo: SawTrax</a:t>
            </a:r>
            <a:endParaRPr lang="en-US" sz="800" dirty="0"/>
          </a:p>
        </p:txBody>
      </p:sp>
      <p:sp>
        <p:nvSpPr>
          <p:cNvPr id="25" name="Shape 20"/>
          <p:cNvSpPr/>
          <p:nvPr/>
        </p:nvSpPr>
        <p:spPr>
          <a:xfrm>
            <a:off x="7313371" y="1371600"/>
            <a:ext cx="2072030" cy="4709160"/>
          </a:xfrm>
          <a:prstGeom prst="roundRect">
            <a:avLst>
              <a:gd name="adj" fmla="val 3530"/>
            </a:avLst>
          </a:prstGeom>
          <a:solidFill>
            <a:srgbClr val="F3F4F6"/>
          </a:solidFill>
          <a:ln w="12700">
            <a:solidFill>
              <a:srgbClr val="F3F4F6"/>
            </a:solidFill>
            <a:prstDash val="solid"/>
          </a:ln>
        </p:spPr>
      </p:sp>
      <p:sp>
        <p:nvSpPr>
          <p:cNvPr id="26" name="Shape 21"/>
          <p:cNvSpPr/>
          <p:nvPr/>
        </p:nvSpPr>
        <p:spPr>
          <a:xfrm>
            <a:off x="7404811" y="1463040"/>
            <a:ext cx="1889150" cy="2057400"/>
          </a:xfrm>
          <a:prstGeom prst="roundRect">
            <a:avLst>
              <a:gd name="adj" fmla="val 3872"/>
            </a:avLst>
          </a:prstGeom>
          <a:solidFill>
            <a:srgbClr val="FFFFFF"/>
          </a:solidFill>
          <a:ln w="12700">
            <a:solidFill>
              <a:srgbClr val="FFFFFF"/>
            </a:solidFill>
            <a:prstDash val="solid"/>
          </a:ln>
        </p:spPr>
      </p:sp>
      <p:pic>
        <p:nvPicPr>
          <p:cNvPr id="27" name="Image 3" descr="Grey cage / bin cart">    </p:cNvPr>
          <p:cNvPicPr>
            <a:picLocks noChangeAspect="1"/>
          </p:cNvPicPr>
          <p:nvPr/>
        </p:nvPicPr>
        <p:blipFill>
          <a:blip r:embed="rId4"/>
          <a:stretch>
            <a:fillRect/>
          </a:stretch>
        </p:blipFill>
        <p:spPr>
          <a:xfrm>
            <a:off x="7646556" y="1508760"/>
            <a:ext cx="1405661" cy="1965960"/>
          </a:xfrm>
          <a:prstGeom prst="rect">
            <a:avLst/>
          </a:prstGeom>
        </p:spPr>
      </p:pic>
      <p:sp>
        <p:nvSpPr>
          <p:cNvPr id="28" name="Text 22"/>
          <p:cNvSpPr txBox="1"/>
          <p:nvPr/>
        </p:nvSpPr>
        <p:spPr>
          <a:xfrm>
            <a:off x="7450531" y="3611880"/>
            <a:ext cx="1797710" cy="457200"/>
          </a:xfrm>
          <a:prstGeom prst="rect">
            <a:avLst/>
          </a:prstGeom>
          <a:noFill/>
          <a:ln/>
        </p:spPr>
        <p:txBody>
          <a:bodyPr wrap="square" lIns="0" tIns="0" rIns="0" bIns="0" rtlCol="0" anchor="t"/>
          <a:lstStyle/>
          <a:p>
            <a:pPr indent="0" marL="0">
              <a:buNone/>
            </a:pPr>
            <a:r>
              <a:rPr lang="en-US" sz="1300" b="1" dirty="0">
                <a:solidFill>
                  <a:srgbClr val="111827"/>
                </a:solidFill>
                <a:latin typeface="Calibri" pitchFamily="34" charset="0"/>
                <a:ea typeface="Calibri" pitchFamily="34" charset="-122"/>
                <a:cs typeface="Calibri" pitchFamily="34" charset="-120"/>
              </a:rPr>
              <a:t>Grey cage / bin cart</a:t>
            </a:r>
            <a:endParaRPr lang="en-US" sz="1300" dirty="0"/>
          </a:p>
        </p:txBody>
      </p:sp>
      <p:sp>
        <p:nvSpPr>
          <p:cNvPr id="29" name="Text 23"/>
          <p:cNvSpPr txBox="1"/>
          <p:nvPr/>
        </p:nvSpPr>
        <p:spPr>
          <a:xfrm>
            <a:off x="7450531" y="4069080"/>
            <a:ext cx="1797710" cy="777240"/>
          </a:xfrm>
          <a:prstGeom prst="rect">
            <a:avLst/>
          </a:prstGeom>
          <a:noFill/>
          <a:ln/>
        </p:spPr>
        <p:txBody>
          <a:bodyPr wrap="square" lIns="0" tIns="0" rIns="0" bIns="0" rtlCol="0" anchor="t"/>
          <a:lstStyle/>
          <a:p>
            <a:pPr indent="0" marL="0">
              <a:buNone/>
            </a:pPr>
            <a:r>
              <a:rPr lang="en-US" sz="1050" b="1" dirty="0">
                <a:solidFill>
                  <a:srgbClr val="EA580C"/>
                </a:solidFill>
                <a:latin typeface="Calibri" pitchFamily="34" charset="0"/>
                <a:ea typeface="Calibri" pitchFamily="34" charset="-122"/>
                <a:cs typeface="Calibri" pitchFamily="34" charset="-120"/>
              </a:rPr>
              <a:t>For: </a:t>
            </a:r>
            <a:pPr indent="0" marL="0">
              <a:buNone/>
            </a:pPr>
            <a:r>
              <a:rPr lang="en-US" sz="1050" dirty="0">
                <a:solidFill>
                  <a:srgbClr val="1F2937"/>
                </a:solidFill>
                <a:latin typeface="Calibri" pitchFamily="34" charset="0"/>
                <a:ea typeface="Calibri" pitchFamily="34" charset="-122"/>
                <a:cs typeface="Calibri" pitchFamily="34" charset="-120"/>
              </a:rPr>
              <a:t>Glass, TVs and small loose freight; staging for final mile or transfer.</a:t>
            </a:r>
            <a:endParaRPr lang="en-US" sz="1050" dirty="0"/>
          </a:p>
        </p:txBody>
      </p:sp>
      <p:sp>
        <p:nvSpPr>
          <p:cNvPr id="30" name="Text 24"/>
          <p:cNvSpPr txBox="1"/>
          <p:nvPr/>
        </p:nvSpPr>
        <p:spPr>
          <a:xfrm>
            <a:off x="7450531" y="4846320"/>
            <a:ext cx="1797710" cy="960120"/>
          </a:xfrm>
          <a:prstGeom prst="rect">
            <a:avLst/>
          </a:prstGeom>
          <a:noFill/>
          <a:ln/>
        </p:spPr>
        <p:txBody>
          <a:bodyPr wrap="square" lIns="0" tIns="0" rIns="0" bIns="0" rtlCol="0" anchor="t"/>
          <a:lstStyle/>
          <a:p>
            <a:pPr indent="0" marL="0">
              <a:buNone/>
            </a:pPr>
            <a:r>
              <a:rPr lang="en-US" sz="1050" b="1" dirty="0">
                <a:solidFill>
                  <a:srgbClr val="111827"/>
                </a:solidFill>
                <a:latin typeface="Calibri" pitchFamily="34" charset="0"/>
                <a:ea typeface="Calibri" pitchFamily="34" charset="-122"/>
                <a:cs typeface="Calibri" pitchFamily="34" charset="-120"/>
              </a:rPr>
              <a:t>How it helps: </a:t>
            </a:r>
            <a:pPr indent="0" marL="0">
              <a:buNone/>
            </a:pPr>
            <a:r>
              <a:rPr lang="en-US" sz="1050" dirty="0">
                <a:solidFill>
                  <a:srgbClr val="1F2937"/>
                </a:solidFill>
                <a:latin typeface="Calibri" pitchFamily="34" charset="0"/>
                <a:ea typeface="Calibri" pitchFamily="34" charset="-122"/>
                <a:cs typeface="Calibri" pitchFamily="34" charset="-120"/>
              </a:rPr>
              <a:t>Lifted in and out by forklift: one move instead of many hand-carries.</a:t>
            </a:r>
            <a:endParaRPr lang="en-US" sz="1050" dirty="0"/>
          </a:p>
        </p:txBody>
      </p:sp>
      <p:sp>
        <p:nvSpPr>
          <p:cNvPr id="31" name="Text 25"/>
          <p:cNvSpPr txBox="1"/>
          <p:nvPr/>
        </p:nvSpPr>
        <p:spPr>
          <a:xfrm>
            <a:off x="7450531" y="5815584"/>
            <a:ext cx="179771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Photo: Warehouse Rack &amp; Shelf</a:t>
            </a:r>
            <a:endParaRPr lang="en-US" sz="800" dirty="0"/>
          </a:p>
        </p:txBody>
      </p:sp>
      <p:sp>
        <p:nvSpPr>
          <p:cNvPr id="32" name="Shape 26"/>
          <p:cNvSpPr/>
          <p:nvPr/>
        </p:nvSpPr>
        <p:spPr>
          <a:xfrm>
            <a:off x="9568282" y="1371600"/>
            <a:ext cx="2072030" cy="4709160"/>
          </a:xfrm>
          <a:prstGeom prst="roundRect">
            <a:avLst>
              <a:gd name="adj" fmla="val 3530"/>
            </a:avLst>
          </a:prstGeom>
          <a:solidFill>
            <a:srgbClr val="F3F4F6"/>
          </a:solidFill>
          <a:ln w="12700">
            <a:solidFill>
              <a:srgbClr val="F3F4F6"/>
            </a:solidFill>
            <a:prstDash val="solid"/>
          </a:ln>
        </p:spPr>
      </p:sp>
      <p:sp>
        <p:nvSpPr>
          <p:cNvPr id="33" name="Shape 27"/>
          <p:cNvSpPr/>
          <p:nvPr/>
        </p:nvSpPr>
        <p:spPr>
          <a:xfrm>
            <a:off x="9659722" y="1463040"/>
            <a:ext cx="1889150" cy="2057400"/>
          </a:xfrm>
          <a:prstGeom prst="roundRect">
            <a:avLst>
              <a:gd name="adj" fmla="val 3872"/>
            </a:avLst>
          </a:prstGeom>
          <a:solidFill>
            <a:srgbClr val="FFFFFF"/>
          </a:solidFill>
          <a:ln w="12700">
            <a:solidFill>
              <a:srgbClr val="FFFFFF"/>
            </a:solidFill>
            <a:prstDash val="solid"/>
          </a:ln>
        </p:spPr>
      </p:sp>
      <p:pic>
        <p:nvPicPr>
          <p:cNvPr id="34" name="Image 4" descr="Panel trucks &amp; racks">    </p:cNvPr>
          <p:cNvPicPr>
            <a:picLocks noChangeAspect="1"/>
          </p:cNvPicPr>
          <p:nvPr/>
        </p:nvPicPr>
        <p:blipFill>
          <a:blip r:embed="rId5"/>
          <a:stretch>
            <a:fillRect/>
          </a:stretch>
        </p:blipFill>
        <p:spPr>
          <a:xfrm>
            <a:off x="9705442" y="1586548"/>
            <a:ext cx="1797710" cy="1810383"/>
          </a:xfrm>
          <a:prstGeom prst="rect">
            <a:avLst/>
          </a:prstGeom>
        </p:spPr>
      </p:pic>
      <p:sp>
        <p:nvSpPr>
          <p:cNvPr id="35" name="Text 28"/>
          <p:cNvSpPr txBox="1"/>
          <p:nvPr/>
        </p:nvSpPr>
        <p:spPr>
          <a:xfrm>
            <a:off x="9705442" y="3611880"/>
            <a:ext cx="1797710" cy="457200"/>
          </a:xfrm>
          <a:prstGeom prst="rect">
            <a:avLst/>
          </a:prstGeom>
          <a:noFill/>
          <a:ln/>
        </p:spPr>
        <p:txBody>
          <a:bodyPr wrap="square" lIns="0" tIns="0" rIns="0" bIns="0" rtlCol="0" anchor="t"/>
          <a:lstStyle/>
          <a:p>
            <a:pPr indent="0" marL="0">
              <a:buNone/>
            </a:pPr>
            <a:r>
              <a:rPr lang="en-US" sz="1300" b="1" dirty="0">
                <a:solidFill>
                  <a:srgbClr val="111827"/>
                </a:solidFill>
                <a:latin typeface="Calibri" pitchFamily="34" charset="0"/>
                <a:ea typeface="Calibri" pitchFamily="34" charset="-122"/>
                <a:cs typeface="Calibri" pitchFamily="34" charset="-120"/>
              </a:rPr>
              <a:t>Panel trucks &amp; racks</a:t>
            </a:r>
            <a:endParaRPr lang="en-US" sz="1300" dirty="0"/>
          </a:p>
        </p:txBody>
      </p:sp>
      <p:sp>
        <p:nvSpPr>
          <p:cNvPr id="36" name="Text 29"/>
          <p:cNvSpPr txBox="1"/>
          <p:nvPr/>
        </p:nvSpPr>
        <p:spPr>
          <a:xfrm>
            <a:off x="9705442" y="4069080"/>
            <a:ext cx="1797710" cy="777240"/>
          </a:xfrm>
          <a:prstGeom prst="rect">
            <a:avLst/>
          </a:prstGeom>
          <a:noFill/>
          <a:ln/>
        </p:spPr>
        <p:txBody>
          <a:bodyPr wrap="square" lIns="0" tIns="0" rIns="0" bIns="0" rtlCol="0" anchor="t"/>
          <a:lstStyle/>
          <a:p>
            <a:pPr indent="0" marL="0">
              <a:buNone/>
            </a:pPr>
            <a:r>
              <a:rPr lang="en-US" sz="1050" b="1" dirty="0">
                <a:solidFill>
                  <a:srgbClr val="EA580C"/>
                </a:solidFill>
                <a:latin typeface="Calibri" pitchFamily="34" charset="0"/>
                <a:ea typeface="Calibri" pitchFamily="34" charset="-122"/>
                <a:cs typeface="Calibri" pitchFamily="34" charset="-120"/>
              </a:rPr>
              <a:t>For: </a:t>
            </a:r>
            <a:pPr indent="0" marL="0">
              <a:buNone/>
            </a:pPr>
            <a:r>
              <a:rPr lang="en-US" sz="1050" dirty="0">
                <a:solidFill>
                  <a:srgbClr val="1F2937"/>
                </a:solidFill>
                <a:latin typeface="Calibri" pitchFamily="34" charset="0"/>
                <a:ea typeface="Calibri" pitchFamily="34" charset="-122"/>
                <a:cs typeface="Calibri" pitchFamily="34" charset="-120"/>
              </a:rPr>
              <a:t>Windows, doors, panels, car parts — long, flat, awkward freight.</a:t>
            </a:r>
            <a:endParaRPr lang="en-US" sz="1050" dirty="0"/>
          </a:p>
        </p:txBody>
      </p:sp>
      <p:sp>
        <p:nvSpPr>
          <p:cNvPr id="37" name="Text 30"/>
          <p:cNvSpPr txBox="1"/>
          <p:nvPr/>
        </p:nvSpPr>
        <p:spPr>
          <a:xfrm>
            <a:off x="9705442" y="4846320"/>
            <a:ext cx="1797710" cy="960120"/>
          </a:xfrm>
          <a:prstGeom prst="rect">
            <a:avLst/>
          </a:prstGeom>
          <a:noFill/>
          <a:ln/>
        </p:spPr>
        <p:txBody>
          <a:bodyPr wrap="square" lIns="0" tIns="0" rIns="0" bIns="0" rtlCol="0" anchor="t"/>
          <a:lstStyle/>
          <a:p>
            <a:pPr indent="0" marL="0">
              <a:buNone/>
            </a:pPr>
            <a:r>
              <a:rPr lang="en-US" sz="1050" b="1" dirty="0">
                <a:solidFill>
                  <a:srgbClr val="111827"/>
                </a:solidFill>
                <a:latin typeface="Calibri" pitchFamily="34" charset="0"/>
                <a:ea typeface="Calibri" pitchFamily="34" charset="-122"/>
                <a:cs typeface="Calibri" pitchFamily="34" charset="-120"/>
              </a:rPr>
              <a:t>How it helps: </a:t>
            </a:r>
            <a:pPr indent="0" marL="0">
              <a:buNone/>
            </a:pPr>
            <a:r>
              <a:rPr lang="en-US" sz="1050" dirty="0">
                <a:solidFill>
                  <a:srgbClr val="1F2937"/>
                </a:solidFill>
                <a:latin typeface="Calibri" pitchFamily="34" charset="0"/>
                <a:ea typeface="Calibri" pitchFamily="34" charset="-122"/>
                <a:cs typeface="Calibri" pitchFamily="34" charset="-120"/>
              </a:rPr>
              <a:t>Options: SawTrax, Rack &amp; Shelf, Grainger panel truck (1,800 lb), Uline panel truck (30×60).</a:t>
            </a:r>
            <a:endParaRPr lang="en-US" sz="1050" dirty="0"/>
          </a:p>
        </p:txBody>
      </p:sp>
      <p:sp>
        <p:nvSpPr>
          <p:cNvPr id="38" name="Text 31"/>
          <p:cNvSpPr txBox="1"/>
          <p:nvPr/>
        </p:nvSpPr>
        <p:spPr>
          <a:xfrm>
            <a:off x="9705442" y="5815584"/>
            <a:ext cx="179771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Photo: Grainger</a:t>
            </a:r>
            <a:endParaRPr lang="en-US" sz="800" dirty="0"/>
          </a:p>
        </p:txBody>
      </p:sp>
      <p:sp>
        <p:nvSpPr>
          <p:cNvPr id="39" name="Text 3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22</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FFEDD5"/>
          </a:solidFill>
          <a:ln w="12700">
            <a:solidFill>
              <a:srgbClr val="FFEDD5"/>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FFEDD5"/>
          </a:solidFill>
          <a:ln w="12700">
            <a:solidFill>
              <a:srgbClr val="FFEDD5"/>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FFEDD5"/>
          </a:solidFill>
          <a:ln w="12700">
            <a:solidFill>
              <a:srgbClr val="FFEDD5"/>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STACKABLE</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and smaller terminals have no room to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EA580C"/>
          </a:solidFill>
          <a:ln w="12700">
            <a:solidFill>
              <a:srgbClr val="EA580C"/>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FF7ED"/>
          </a:solidFill>
          <a:ln w="12700">
            <a:solidFill>
              <a:srgbClr val="FFF7ED"/>
            </a:solidFill>
            <a:prstDash val="solid"/>
          </a:ln>
        </p:spPr>
      </p:sp>
      <p:sp>
        <p:nvSpPr>
          <p:cNvPr id="5" name="Shape 3"/>
          <p:cNvSpPr/>
          <p:nvPr/>
        </p:nvSpPr>
        <p:spPr>
          <a:xfrm>
            <a:off x="868680" y="2011680"/>
            <a:ext cx="1005840" cy="100584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EA580C"/>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FFEDD5"/>
          </a:solidFill>
          <a:ln w="12700">
            <a:solidFill>
              <a:srgbClr val="FFEDD5"/>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FFEDD5"/>
          </a:solidFill>
          <a:ln w="12700">
            <a:solidFill>
              <a:srgbClr val="FFEDD5"/>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FB923C"/>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Contract labour outlook ≈$390.2K vs F26 if current rates hold (≈$32.5K/mo; estimate, not booked).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Sept MTD: 91.1% of SCA hour allowance — 391 hrs under.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Accessorial revenue $758.7K F27 to date (Jul 1 – Sep 29).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more being sized.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 / 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2026-09-29T18:11:40Z</dcterms:created>
  <dcterms:modified xsi:type="dcterms:W3CDTF">2026-09-29T18:11:40Z</dcterms:modified>
</cp:coreProperties>
</file>