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confirmed F27 saving so far is 61,000 dollars a year from eliminating the dispatcher role and centralizing dispatch. Additional initiatives are in development and will be added as they are confirmed; the F27 take-out target is being confirmed with Finance. Cargo claims on the claims report for our terminal, T-0502, total 13,432.53 dollars for August 2026, as September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325880"/>
                <a:gridCol w="1325880"/>
                <a:gridCol w="15544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($/yr)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Dispatcher role eliminated — dispatch centralized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059669"/>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i="1" dirty="0">
                          <a:solidFill>
                            <a:srgbClr val="6B7280"/>
                          </a:solidFill>
                          <a:latin typeface="Calibri" pitchFamily="34" charset="0"/>
                          <a:ea typeface="Calibri" pitchFamily="34" charset="-122"/>
                          <a:cs typeface="Calibri" pitchFamily="34" charset="-120"/>
                        </a:rPr>
                        <a:t>Additional initiatives 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6B7280"/>
                          </a:solidFill>
                          <a:latin typeface="Calibri" pitchFamily="34" charset="0"/>
                          <a:ea typeface="Calibri" pitchFamily="34" charset="-122"/>
                          <a:cs typeface="Calibri" pitchFamily="34" charset="-120"/>
                        </a:rPr>
                        <a:t>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Identified so far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Shape 2"/>
          <p:cNvSpPr/>
          <p:nvPr/>
        </p:nvSpPr>
        <p:spPr>
          <a:xfrm>
            <a:off x="548640" y="3657600"/>
            <a:ext cx="8229600" cy="1874520"/>
          </a:xfrm>
          <a:prstGeom prst="roundRect">
            <a:avLst>
              <a:gd name="adj" fmla="val 3902"/>
            </a:avLst>
          </a:prstGeom>
          <a:solidFill>
            <a:srgbClr val="ECFDF5"/>
          </a:solidFill>
          <a:ln w="12700">
            <a:solidFill>
              <a:srgbClr val="ECFDF5"/>
            </a:solidFill>
            <a:prstDash val="solid"/>
          </a:ln>
        </p:spPr>
      </p:sp>
      <p:sp>
        <p:nvSpPr>
          <p:cNvPr id="6" name="Shape 3"/>
          <p:cNvSpPr/>
          <p:nvPr/>
        </p:nvSpPr>
        <p:spPr>
          <a:xfrm>
            <a:off x="822960" y="3977640"/>
            <a:ext cx="685800" cy="68580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994410" y="4149090"/>
            <a:ext cx="342900" cy="342900"/>
          </a:xfrm>
          <a:prstGeom prst="rect">
            <a:avLst/>
          </a:prstGeom>
        </p:spPr>
      </p:pic>
      <p:sp>
        <p:nvSpPr>
          <p:cNvPr id="8" name="Text 4"/>
          <p:cNvSpPr txBox="1"/>
          <p:nvPr/>
        </p:nvSpPr>
        <p:spPr>
          <a:xfrm>
            <a:off x="1737360" y="3840480"/>
            <a:ext cx="6766560" cy="27432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Confirmed saving</a:t>
            </a:r>
            <a:endParaRPr lang="en-US" sz="1300" dirty="0"/>
          </a:p>
        </p:txBody>
      </p:sp>
      <p:sp>
        <p:nvSpPr>
          <p:cNvPr id="9" name="Text 5"/>
          <p:cNvSpPr txBox="1"/>
          <p:nvPr/>
        </p:nvSpPr>
        <p:spPr>
          <a:xfrm>
            <a:off x="1737360" y="4114800"/>
            <a:ext cx="6766560" cy="73152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$61,000</a:t>
            </a:r>
            <a:pPr indent="0" marL="0">
              <a:buNone/>
            </a:pPr>
            <a:r>
              <a:rPr lang="en-US" sz="1600" dirty="0">
                <a:solidFill>
                  <a:srgbClr val="1F2937"/>
                </a:solidFill>
                <a:latin typeface="Calibri" pitchFamily="34" charset="0"/>
                <a:ea typeface="Calibri" pitchFamily="34" charset="-122"/>
                <a:cs typeface="Calibri" pitchFamily="34" charset="-120"/>
              </a:rPr>
              <a:t>  per year</a:t>
            </a:r>
            <a:endParaRPr lang="en-US" sz="4000" dirty="0"/>
          </a:p>
        </p:txBody>
      </p:sp>
      <p:sp>
        <p:nvSpPr>
          <p:cNvPr id="10" name="Text 6"/>
          <p:cNvSpPr txBox="1"/>
          <p:nvPr/>
        </p:nvSpPr>
        <p:spPr>
          <a:xfrm>
            <a:off x="1737360" y="4892040"/>
            <a:ext cx="67665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Dispatcher role eliminated — dispatch centralized.</a:t>
            </a:r>
            <a:endParaRPr lang="en-US" sz="1500" dirty="0"/>
          </a:p>
        </p:txBody>
      </p:sp>
      <p:sp>
        <p:nvSpPr>
          <p:cNvPr id="11" name="Text 7"/>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12" name="Shape 8"/>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13" name="Text 9"/>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14" name="Text 10"/>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5" name="Text 11"/>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6" name="Shape 12"/>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7" name="Text 13"/>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so far</a:t>
            </a:r>
            <a:endParaRPr lang="en-US" sz="1100" dirty="0"/>
          </a:p>
        </p:txBody>
      </p:sp>
      <p:sp>
        <p:nvSpPr>
          <p:cNvPr id="18" name="Text 14"/>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059669"/>
                </a:solidFill>
                <a:latin typeface="Calibri" pitchFamily="34" charset="0"/>
                <a:ea typeface="Calibri" pitchFamily="34" charset="-122"/>
                <a:cs typeface="Calibri" pitchFamily="34" charset="-120"/>
              </a:rPr>
              <a:t>$61,000</a:t>
            </a:r>
            <a:endParaRPr lang="en-US" sz="2000" dirty="0"/>
          </a:p>
        </p:txBody>
      </p:sp>
      <p:sp>
        <p:nvSpPr>
          <p:cNvPr id="19" name="Text 15"/>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0" name="Shape 16"/>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21" name="Text 17"/>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22" name="Text 18"/>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23" name="Text 19"/>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24" name="Shape 20"/>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25" name="Text 21"/>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6" name="Text 22"/>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7" name="Text 23"/>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$61,000/yr confirmed (dispatcher role eliminated — dispatch centralized); more in development.</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2026-09-29T14:47:07Z</dcterms:created>
  <dcterms:modified xsi:type="dcterms:W3CDTF">2026-09-29T14:47:07Z</dcterms:modified>
</cp:coreProperties>
</file>