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 100 percent improvement,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trending down from 3.34 percent on September 22 to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laid out like the F26 page.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relocating to a new building by year end, most likely before 2027.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image" Target="../media/image-20-5.jp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tracker</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Relocation to a new building by year end</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Zero recordable incidents in F27 to date (Jul–Aug) — 100% improvement vs F26 TRIR of 1.21.</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2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indent="0" marL="0">
              <a:buNone/>
            </a:pPr>
            <a:r>
              <a:rPr lang="en-US" sz="1100" b="1" dirty="0">
                <a:solidFill>
                  <a:srgbClr val="111827"/>
                </a:solidFill>
                <a:latin typeface="Calibri" pitchFamily="34" charset="0"/>
                <a:ea typeface="Calibri" pitchFamily="34" charset="-122"/>
                <a:cs typeface="Calibri" pitchFamily="34" charset="-120"/>
              </a:rPr>
              <a:t>Load securement &amp; decking </a:t>
            </a:r>
            <a:pPr indent="0" marL="0">
              <a:buNone/>
            </a:pPr>
            <a:r>
              <a:rPr lang="en-US" sz="1100" dirty="0">
                <a:solidFill>
                  <a:srgbClr val="1F2937"/>
                </a:solidFill>
                <a:latin typeface="Calibri" pitchFamily="34" charset="0"/>
                <a:ea typeface="Calibri" pitchFamily="34" charset="-122"/>
                <a:cs typeface="Calibri" pitchFamily="34" charset="-120"/>
              </a:rPr>
              <a:t>(ANCRA decks, divider deck-board kits).</a:t>
            </a:r>
            <a:endParaRPr lang="en-US" sz="1100" dirty="0"/>
          </a:p>
          <a:p>
            <a:pPr indent="0" marL="0">
              <a:buNone/>
            </a:pPr>
            <a:r>
              <a:rPr lang="en-US" sz="1100" b="1" dirty="0">
                <a:solidFill>
                  <a:srgbClr val="111827"/>
                </a:solidFill>
                <a:latin typeface="Calibri" pitchFamily="34" charset="0"/>
                <a:ea typeface="Calibri" pitchFamily="34" charset="-122"/>
                <a:cs typeface="Calibri" pitchFamily="34" charset="-120"/>
              </a:rPr>
              <a:t>Freight-handling equipment: </a:t>
            </a:r>
            <a:pPr indent="0" marL="0">
              <a:buNone/>
            </a:pPr>
            <a:r>
              <a:rPr lang="en-US" sz="1100" dirty="0">
                <a:solidFill>
                  <a:srgbClr val="1F2937"/>
                </a:solidFill>
                <a:latin typeface="Calibri" pitchFamily="34" charset="0"/>
                <a:ea typeface="Calibri" pitchFamily="34" charset="-122"/>
                <a:cs typeface="Calibri" pitchFamily="34" charset="-120"/>
              </a:rPr>
              <a:t>panel trucks &amp; reconfigurable racks for windows, panels and car parts (Sawtrax, Rack and Shelf, Grainger vertical panel truck 1,800 lb, Uline carpeted panel truck).</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 Safer handling, better load quality, fewer damages (damaged FB 1.61%, 7-day avg).</a:t>
            </a:r>
            <a:endParaRPr lang="en-US" sz="110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Trending down: 3.34% (Sep 22) →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6" name="Text 17"/>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9" name="Text 19"/>
          <p:cNvSpPr txBox="1"/>
          <p:nvPr/>
        </p:nvSpPr>
        <p:spPr>
          <a:xfrm>
            <a:off x="8001000" y="4800600"/>
            <a:ext cx="3429000" cy="9144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headcount (days / afternoons / midnights, dock + admin, agency vs D&amp;R): </a:t>
            </a:r>
            <a:pP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p>
        </p:txBody>
      </p:sp>
      <p:sp>
        <p:nvSpPr>
          <p:cNvPr id="30"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1"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 of dock hours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 ≈ $13.1K)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Cargo claims (Claims report, T-0502): $13,432.53 for August 2026 — see also damaged FB on slide 6.</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24</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 by year end</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Most likely before 2027</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 / 24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2 planned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 / 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2026-09-29T15:10:29Z</dcterms:created>
  <dcterms:modified xsi:type="dcterms:W3CDTF">2026-09-29T15:10:29Z</dcterms:modified>
</cp:coreProperties>
</file>