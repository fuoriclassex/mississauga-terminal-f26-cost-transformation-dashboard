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11827"/>
                </a:solidFill>
                <a:latin typeface="Calibri"/>
              </a:defRPr>
            </a:pPr>
            <a:r>
              <a:rPr sz="1100" b="0" i="0" u="none" strike="noStrike">
                <a:solidFill>
                  <a:srgbClr val="111827"/>
                </a:solidFill>
                <a:latin typeface="Calibri"/>
              </a:rPr>
              <a:t>Monthly LF score &amp; load %</a:t>
            </a:r>
          </a:p>
        </c:rich>
      </c:tx>
      <c:layout/>
      <c:overlay val="0"/>
    </c:title>
    <c:autoTitleDeleted val="0"/>
    <c:plotArea>
      <c:layout/>
      <c:barChart>
        <c:barDir val="col"/>
        <c:grouping val="clustered"/>
        <c:varyColors val="0"/>
        <c:ser>
          <c:idx val="0"/>
          <c:order val="0"/>
          <c:tx>
            <c:strRef>
              <c:f>Sheet1!$B$1</c:f>
              <c:strCache>
                <c:ptCount val="1"/>
                <c:pt idx="0">
                  <c:v>LF score</c:v>
                </c:pt>
              </c:strCache>
            </c:strRef>
          </c:tx>
          <c:spPr>
            <a:solidFill>
              <a:srgbClr val="7C3AED"/>
            </a:solidFill>
            <a:effectLst/>
          </c:spPr>
          <c:invertIfNegative val="0"/>
          <c:dLbls>
            <c:numFmt formatCode="0.0&quot;%&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 (316 loads)</c:v>
                  </c:pt>
                  <c:pt idx="1">
                    <c:v>Aug (293)</c:v>
                  </c:pt>
                  <c:pt idx="2">
                    <c:v>Sep (245)</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Load %</c:v>
                </c:pt>
              </c:strCache>
            </c:strRef>
          </c:tx>
          <c:spPr>
            <a:solidFill>
              <a:srgbClr val="C4B5FD"/>
            </a:solidFill>
            <a:effectLst/>
          </c:spPr>
          <c:invertIfNegative val="0"/>
          <c:dLbls>
            <c:numFmt formatCode="0.0&quot;%&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 (316 loads)</c:v>
                  </c:pt>
                  <c:pt idx="1">
                    <c:v>Aug (293)</c:v>
                  </c:pt>
                  <c:pt idx="2">
                    <c:v>Sep (245)</c:v>
                  </c:pt>
                </c:lvl>
              </c:multiLvlStrCache>
            </c:multiLvlStrRef>
          </c:cat>
          <c:val>
            <c:numRef>
              <c:f>Sheet1!$C$2:$C$4</c:f>
              <c:numCache>
                <c:formatCode>General</c:formatCode>
                <c:ptCount val="3"/>
                <c:pt idx="0">
                  <c:v>79.6</c:v>
                </c:pt>
                <c:pt idx="1">
                  <c:v>71.5</c:v>
                </c:pt>
                <c:pt idx="2">
                  <c:v>72.8</c:v>
                </c:pt>
              </c:numCache>
            </c:numRef>
          </c:val>
        </c:ser>
        <c:dLbls>
          <c:numFmt formatCode="0.0&quot;%&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 100 percent improvement.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incident is reported promptly and investigated with OHS for root cause, with corrective actions followed up so controls prevent a repeat; forklift and TDG training is completed before it expires. Specific to our site, roofing work over the dock is barricaded so no one works under overhead activity, and N95 masks are available on the dock for airborne debris. After every incident we hold a safety moment so the whole team learns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at 91.4 against 91.6 percent of freight bills scanned,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with a target band of dock hours for each shift. The bands are being finalized and will be filled in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initiatives in the F27 savings plan, carrying forward three that were sustained from F26 and adding accessorial recovery and load factor consolidation. Cargo claims on the claims report for our terminal, T-0502, total 13,432.53 dollars; the period for that figure is being confirmed. Dollar amounts and the F27 take-out target are being confirmed with Finance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Only 36.4 percent of outbound loads so far in F27 are above 80 percent full, with an average load of 74.9 percent. Western lanes like Burnaby, Winnipeg and Calgary load well, while Windsor, Quebec City and Dartmouth run consistently light and need a consolidation and frequency review. Moncton also has most of our bills with no cube, 1,771 of 3,166, so fixing cube capture there will raise that lane's measured load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covers the state of the building: how many dock doors we have, how many are out of service, and the repairs we need, by priority. The list and cost estimates are being finalized with facilities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incident reporting, site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Dock doors and urgent repairs</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D97706"/>
                </a:solidFill>
                <a:latin typeface="Calibri" pitchFamily="34" charset="0"/>
                <a:ea typeface="Calibri" pitchFamily="34" charset="-122"/>
                <a:cs typeface="Calibri" pitchFamily="34" charset="-120"/>
              </a:rPr>
              <a:t>TBC</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As of Sep 29, 2026</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Zero recordable incidents in F27 to date (Jul–Aug) — 100% improvement vs F26 TRIR of 1.21.</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TBC.</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Incident reporting &amp; site-specific initiatives</a:t>
            </a:r>
            <a:endParaRPr lang="en-US" sz="3000" dirty="0"/>
          </a:p>
        </p:txBody>
      </p:sp>
      <p:sp>
        <p:nvSpPr>
          <p:cNvPr id="4" name="Shape 2"/>
          <p:cNvSpPr/>
          <p:nvPr/>
        </p:nvSpPr>
        <p:spPr>
          <a:xfrm>
            <a:off x="548640" y="1371600"/>
            <a:ext cx="5486400" cy="4846320"/>
          </a:xfrm>
          <a:prstGeom prst="roundRect">
            <a:avLst>
              <a:gd name="adj" fmla="val 1509"/>
            </a:avLst>
          </a:prstGeom>
          <a:solidFill>
            <a:srgbClr val="F3F4F6"/>
          </a:solidFill>
          <a:ln w="12700">
            <a:solidFill>
              <a:srgbClr val="F3F4F6"/>
            </a:solidFill>
            <a:prstDash val="solid"/>
          </a:ln>
        </p:spPr>
      </p:sp>
      <p:sp>
        <p:nvSpPr>
          <p:cNvPr id="5" name="Shape 3"/>
          <p:cNvSpPr/>
          <p:nvPr/>
        </p:nvSpPr>
        <p:spPr>
          <a:xfrm>
            <a:off x="822960" y="1645920"/>
            <a:ext cx="548640" cy="548640"/>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7" name="Text 4"/>
          <p:cNvSpPr txBox="1"/>
          <p:nvPr/>
        </p:nvSpPr>
        <p:spPr>
          <a:xfrm>
            <a:off x="1554480" y="1719072"/>
            <a:ext cx="429768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Incident reporting &amp; training</a:t>
            </a:r>
            <a:endParaRPr lang="en-US" sz="2000" dirty="0"/>
          </a:p>
        </p:txBody>
      </p:sp>
      <p:sp>
        <p:nvSpPr>
          <p:cNvPr id="8" name="Text 5"/>
          <p:cNvSpPr txBox="1"/>
          <p:nvPr/>
        </p:nvSpPr>
        <p:spPr>
          <a:xfrm>
            <a:off x="868680" y="2423160"/>
            <a:ext cx="4892040" cy="361188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Incidents reported promptly — supervisors and managers work directly with OHS on WSIB forms and a safe return to work.</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Detailed incident descriptions; root cause identified with OHS; corrective action plans implemented and follow-up prioritized so controls prevent recurrence.</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Monthly safety e-learning for managers and supervisors on topics tied to our operation.</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Forklift and TDG training completed before expiry.</a:t>
            </a:r>
            <a:endParaRPr lang="en-US" sz="1400" dirty="0"/>
          </a:p>
        </p:txBody>
      </p:sp>
      <p:sp>
        <p:nvSpPr>
          <p:cNvPr id="9" name="Shape 6"/>
          <p:cNvSpPr/>
          <p:nvPr/>
        </p:nvSpPr>
        <p:spPr>
          <a:xfrm>
            <a:off x="6336792" y="1371600"/>
            <a:ext cx="5303520" cy="4846320"/>
          </a:xfrm>
          <a:prstGeom prst="roundRect">
            <a:avLst>
              <a:gd name="adj" fmla="val 1509"/>
            </a:avLst>
          </a:prstGeom>
          <a:solidFill>
            <a:srgbClr val="F5F3FF"/>
          </a:solidFill>
          <a:ln w="12700">
            <a:solidFill>
              <a:srgbClr val="F5F3FF"/>
            </a:solidFill>
            <a:prstDash val="solid"/>
          </a:ln>
        </p:spPr>
      </p:sp>
      <p:sp>
        <p:nvSpPr>
          <p:cNvPr id="10" name="Shape 7"/>
          <p:cNvSpPr/>
          <p:nvPr/>
        </p:nvSpPr>
        <p:spPr>
          <a:xfrm>
            <a:off x="6611112" y="1645920"/>
            <a:ext cx="548640" cy="548640"/>
          </a:xfrm>
          <a:prstGeom prst="ellipse">
            <a:avLst/>
          </a:prstGeom>
          <a:solidFill>
            <a:srgbClr val="7C3AED"/>
          </a:solidFill>
          <a:ln w="12700">
            <a:solidFill>
              <a:srgbClr val="7C3AED"/>
            </a:solidFill>
            <a:prstDash val="solid"/>
          </a:ln>
        </p:spPr>
      </p:sp>
      <p:pic>
        <p:nvPicPr>
          <p:cNvPr id="11" name="Image 1" descr="preencoded.png">    </p:cNvPr>
          <p:cNvPicPr>
            <a:picLocks noChangeAspect="1"/>
          </p:cNvPicPr>
          <p:nvPr/>
        </p:nvPicPr>
        <p:blipFill>
          <a:blip r:embed="rId2"/>
          <a:stretch>
            <a:fillRect/>
          </a:stretch>
        </p:blipFill>
        <p:spPr>
          <a:xfrm>
            <a:off x="6748272" y="1783080"/>
            <a:ext cx="274320" cy="274320"/>
          </a:xfrm>
          <a:prstGeom prst="rect">
            <a:avLst/>
          </a:prstGeom>
        </p:spPr>
      </p:pic>
      <p:sp>
        <p:nvSpPr>
          <p:cNvPr id="12" name="Text 8"/>
          <p:cNvSpPr txBox="1"/>
          <p:nvPr/>
        </p:nvSpPr>
        <p:spPr>
          <a:xfrm>
            <a:off x="7342632" y="1719072"/>
            <a:ext cx="402336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Site-specific initiatives</a:t>
            </a:r>
            <a:endParaRPr lang="en-US" sz="2000" dirty="0"/>
          </a:p>
        </p:txBody>
      </p:sp>
      <p:sp>
        <p:nvSpPr>
          <p:cNvPr id="13" name="Shape 9"/>
          <p:cNvSpPr/>
          <p:nvPr/>
        </p:nvSpPr>
        <p:spPr>
          <a:xfrm>
            <a:off x="6611112" y="2450592"/>
            <a:ext cx="384048" cy="384048"/>
          </a:xfrm>
          <a:prstGeom prst="ellipse">
            <a:avLst/>
          </a:prstGeom>
          <a:solidFill>
            <a:srgbClr val="7C3AED"/>
          </a:solidFill>
          <a:ln w="12700">
            <a:solidFill>
              <a:srgbClr val="7C3AED"/>
            </a:solidFill>
            <a:prstDash val="solid"/>
          </a:ln>
        </p:spPr>
      </p:sp>
      <p:sp>
        <p:nvSpPr>
          <p:cNvPr id="14" name="Text 10"/>
          <p:cNvSpPr txBox="1"/>
          <p:nvPr/>
        </p:nvSpPr>
        <p:spPr>
          <a:xfrm>
            <a:off x="6611112" y="2450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1"/>
          <p:cNvSpPr txBox="1"/>
          <p:nvPr/>
        </p:nvSpPr>
        <p:spPr>
          <a:xfrm>
            <a:off x="7178040" y="2423160"/>
            <a:ext cx="4206240" cy="16916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Roofing work over the dock: work areas identified and barricaded so no one enters zones under overhead work (falling-debris risk); N95 masks readily available on the dock to minimize airborne debris exposure.</a:t>
            </a:r>
            <a:endParaRPr lang="en-US" sz="1400" dirty="0"/>
          </a:p>
        </p:txBody>
      </p:sp>
      <p:sp>
        <p:nvSpPr>
          <p:cNvPr id="16" name="Shape 12"/>
          <p:cNvSpPr/>
          <p:nvPr/>
        </p:nvSpPr>
        <p:spPr>
          <a:xfrm>
            <a:off x="6611112" y="4233672"/>
            <a:ext cx="384048" cy="384048"/>
          </a:xfrm>
          <a:prstGeom prst="ellipse">
            <a:avLst/>
          </a:prstGeom>
          <a:solidFill>
            <a:srgbClr val="7C3AED"/>
          </a:solidFill>
          <a:ln w="12700">
            <a:solidFill>
              <a:srgbClr val="7C3AED"/>
            </a:solidFill>
            <a:prstDash val="solid"/>
          </a:ln>
        </p:spPr>
      </p:sp>
      <p:sp>
        <p:nvSpPr>
          <p:cNvPr id="17" name="Text 13"/>
          <p:cNvSpPr txBox="1"/>
          <p:nvPr/>
        </p:nvSpPr>
        <p:spPr>
          <a:xfrm>
            <a:off x="6611112" y="42336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4"/>
          <p:cNvSpPr txBox="1"/>
          <p:nvPr/>
        </p:nvSpPr>
        <p:spPr>
          <a:xfrm>
            <a:off x="7178040" y="4206240"/>
            <a:ext cx="4206240" cy="7772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Safety moments after every incident to share the specific learning with the whole team.</a:t>
            </a:r>
            <a:endParaRPr lang="en-US" sz="1400" dirty="0"/>
          </a:p>
        </p:txBody>
      </p:sp>
      <p:sp>
        <p:nvSpPr>
          <p:cNvPr id="19" name="Shape 15"/>
          <p:cNvSpPr/>
          <p:nvPr/>
        </p:nvSpPr>
        <p:spPr>
          <a:xfrm>
            <a:off x="6611112" y="5120640"/>
            <a:ext cx="4754880" cy="868680"/>
          </a:xfrm>
          <a:prstGeom prst="roundRect">
            <a:avLst>
              <a:gd name="adj" fmla="val 8421"/>
            </a:avLst>
          </a:prstGeom>
          <a:solidFill>
            <a:srgbClr val="FFFFFF"/>
          </a:solidFill>
          <a:ln w="12700">
            <a:solidFill>
              <a:srgbClr val="FFFFFF"/>
            </a:solidFill>
            <a:prstDash val="solid"/>
          </a:ln>
        </p:spPr>
      </p:sp>
      <p:sp>
        <p:nvSpPr>
          <p:cNvPr id="20" name="Text 16"/>
          <p:cNvSpPr txBox="1"/>
          <p:nvPr/>
        </p:nvSpPr>
        <p:spPr>
          <a:xfrm>
            <a:off x="6812280" y="5120640"/>
            <a:ext cx="2926080" cy="86868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STEP observations · MTD</a:t>
            </a:r>
            <a:endParaRPr lang="en-US" sz="1300" dirty="0"/>
          </a:p>
        </p:txBody>
      </p:sp>
      <p:sp>
        <p:nvSpPr>
          <p:cNvPr id="21" name="Text 17"/>
          <p:cNvSpPr txBox="1"/>
          <p:nvPr/>
        </p:nvSpPr>
        <p:spPr>
          <a:xfrm>
            <a:off x="9555480" y="5120640"/>
            <a:ext cx="1645920" cy="868680"/>
          </a:xfrm>
          <a:prstGeom prst="rect">
            <a:avLst/>
          </a:prstGeom>
          <a:noFill/>
          <a:ln/>
        </p:spPr>
        <p:txBody>
          <a:bodyPr wrap="square" lIns="0" tIns="0" rIns="0" bIns="0" rtlCol="0" anchor="ctr"/>
          <a:lstStyle/>
          <a:p>
            <a:pPr algn="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22" name="Text 18"/>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19"/>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2103120"/>
          </a:xfrm>
          <a:prstGeom prst="roundRect">
            <a:avLst>
              <a:gd name="adj" fmla="val 347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48256"/>
            <a:ext cx="3310128" cy="1627632"/>
          </a:xfrm>
          <a:prstGeom prst="rect">
            <a:avLst/>
          </a:prstGeom>
          <a:noFill/>
          <a:ln/>
        </p:spPr>
        <p:txBody>
          <a:bodyPr wrap="square" lIns="0" tIns="0" rIns="0" bIns="0" rtlCol="0" anchor="t"/>
          <a:lstStyle/>
          <a:p>
            <a:pPr indent="0" marL="0">
              <a:spcAft>
                <a:spcPts val="600"/>
              </a:spcAft>
              <a:buNone/>
            </a:pPr>
            <a:r>
              <a:rPr lang="en-US" sz="11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100" dirty="0"/>
          </a:p>
          <a:p>
            <a:pPr indent="0" marL="0">
              <a:buNone/>
            </a:pPr>
            <a:r>
              <a:rPr lang="en-US" sz="1100" b="1" dirty="0">
                <a:solidFill>
                  <a:srgbClr val="059669"/>
                </a:solidFill>
                <a:latin typeface="Calibri" pitchFamily="34" charset="0"/>
                <a:ea typeface="Calibri" pitchFamily="34" charset="-122"/>
                <a:cs typeface="Calibri" pitchFamily="34" charset="-120"/>
              </a:rPr>
              <a:t>Excluding false positives, missed PU % would be ≈2.6%.</a:t>
            </a:r>
            <a:endParaRPr lang="en-US" sz="11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3886200"/>
          <a:ext cx="3685032" cy="914400"/>
        </p:xfrm>
        <a:graphic>
          <a:graphicData uri="http://schemas.openxmlformats.org/drawingml/2006/table">
            <a:tbl>
              <a:tblPr/>
              <a:tblGrid>
                <a:gridCol w="2130552"/>
                <a:gridCol w="731520"/>
                <a:gridCol w="822960"/>
              </a:tblGrid>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Text 18"/>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 Mississauga, all dates through Sep 26, 2026. Sep 7 spike (85.7%) = Labour Day, low volume. *wk 39 partial.</a:t>
            </a:r>
            <a:endParaRPr lang="en-US" sz="950" dirty="0"/>
          </a:p>
        </p:txBody>
      </p:sp>
      <p:sp>
        <p:nvSpPr>
          <p:cNvPr id="24"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5"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(91.4% vs 91.6% of freight bills scanned).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Target dock hours per shift</a:t>
            </a:r>
            <a:endParaRPr lang="en-US" sz="1600" dirty="0"/>
          </a:p>
        </p:txBody>
      </p:sp>
      <p:sp>
        <p:nvSpPr>
          <p:cNvPr id="26" name="Text 17"/>
          <p:cNvSpPr txBox="1"/>
          <p:nvPr/>
        </p:nvSpPr>
        <p:spPr>
          <a:xfrm>
            <a:off x="8001000" y="2286000"/>
            <a:ext cx="347472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Per day · aligned to P&amp;D activity</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743200"/>
          <a:ext cx="3429000" cy="914400"/>
        </p:xfrm>
        <a:graphic>
          <a:graphicData uri="http://schemas.openxmlformats.org/drawingml/2006/table">
            <a:tbl>
              <a:tblPr/>
              <a:tblGrid>
                <a:gridCol w="1417320"/>
                <a:gridCol w="1005840"/>
                <a:gridCol w="100584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Shift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Days</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Afternoon</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Midnight</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937760"/>
            <a:ext cx="3429000" cy="731520"/>
          </a:xfrm>
          <a:prstGeom prst="rect">
            <a:avLst/>
          </a:prstGeom>
          <a:noFill/>
          <a:ln/>
        </p:spPr>
        <p:txBody>
          <a:bodyPr wrap="square" lIns="0" tIns="0" rIns="0" bIns="0" rtlCol="0" anchor="t"/>
          <a:lstStyle/>
          <a:p>
            <a:pPr indent="0" marL="0">
              <a:buNone/>
            </a:pPr>
            <a:r>
              <a:rPr lang="en-US" sz="1200" i="1" dirty="0">
                <a:solidFill>
                  <a:srgbClr val="6B7280"/>
                </a:solidFill>
                <a:latin typeface="Calibri" pitchFamily="34" charset="0"/>
                <a:ea typeface="Calibri" pitchFamily="34" charset="-122"/>
                <a:cs typeface="Calibri" pitchFamily="34" charset="-120"/>
              </a:rPr>
              <a:t>Dock hours reviewed against these bands in the weekly SCA meeting.</a:t>
            </a:r>
            <a:endParaRPr lang="en-US" sz="1200" dirty="0"/>
          </a:p>
        </p:txBody>
      </p:sp>
      <p:sp>
        <p:nvSpPr>
          <p:cNvPr id="29"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234440"/>
                <a:gridCol w="1325880"/>
                <a:gridCol w="1645920"/>
              </a:tblGrid>
              <a:tr h="41148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Dock labour — shift hours aligned to P&amp;D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Agency / contract labour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CICO hours saved (late / lunch / early-off)</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Accessorial billing recovery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Load factor &amp; trailer consolidation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Shunting optimization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Forklift rentals returned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Cargo claims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5806440"/>
            <a:ext cx="11091672" cy="27432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F27 plan = full-year $; realized = Jul 1, 2026 to date. Cargo claims: Claims report — terminal T-0502 (Mississauga).</a:t>
            </a:r>
            <a:endParaRPr lang="en-US" sz="1000" dirty="0"/>
          </a:p>
        </p:txBody>
      </p:sp>
      <p:sp>
        <p:nvSpPr>
          <p:cNvPr id="6" name="Shape 3"/>
          <p:cNvSpPr/>
          <p:nvPr/>
        </p:nvSpPr>
        <p:spPr>
          <a:xfrm>
            <a:off x="9052560" y="1371600"/>
            <a:ext cx="2587752" cy="1005840"/>
          </a:xfrm>
          <a:prstGeom prst="roundRect">
            <a:avLst>
              <a:gd name="adj" fmla="val 7273"/>
            </a:avLst>
          </a:prstGeom>
          <a:solidFill>
            <a:srgbClr val="F5F3FF"/>
          </a:solidFill>
          <a:ln w="12700">
            <a:solidFill>
              <a:srgbClr val="F5F3FF"/>
            </a:solidFill>
            <a:prstDash val="solid"/>
          </a:ln>
        </p:spPr>
      </p:sp>
      <p:sp>
        <p:nvSpPr>
          <p:cNvPr id="7" name="Text 4"/>
          <p:cNvSpPr txBox="1"/>
          <p:nvPr/>
        </p:nvSpPr>
        <p:spPr>
          <a:xfrm>
            <a:off x="9217152" y="1463040"/>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8" name="Text 5"/>
          <p:cNvSpPr txBox="1"/>
          <p:nvPr/>
        </p:nvSpPr>
        <p:spPr>
          <a:xfrm>
            <a:off x="9217152" y="1700784"/>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9" name="Text 6"/>
          <p:cNvSpPr txBox="1"/>
          <p:nvPr/>
        </p:nvSpPr>
        <p:spPr>
          <a:xfrm>
            <a:off x="9217152" y="2103120"/>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10" name="Shape 7"/>
          <p:cNvSpPr/>
          <p:nvPr/>
        </p:nvSpPr>
        <p:spPr>
          <a:xfrm>
            <a:off x="9052560" y="2487168"/>
            <a:ext cx="2587752" cy="1005840"/>
          </a:xfrm>
          <a:prstGeom prst="roundRect">
            <a:avLst>
              <a:gd name="adj" fmla="val 7273"/>
            </a:avLst>
          </a:prstGeom>
          <a:solidFill>
            <a:srgbClr val="F3F4F6"/>
          </a:solidFill>
          <a:ln w="12700">
            <a:solidFill>
              <a:srgbClr val="F3F4F6"/>
            </a:solidFill>
            <a:prstDash val="solid"/>
          </a:ln>
        </p:spPr>
      </p:sp>
      <p:sp>
        <p:nvSpPr>
          <p:cNvPr id="11" name="Text 8"/>
          <p:cNvSpPr txBox="1"/>
          <p:nvPr/>
        </p:nvSpPr>
        <p:spPr>
          <a:xfrm>
            <a:off x="9217152" y="2578608"/>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(plan total)</a:t>
            </a:r>
            <a:endParaRPr lang="en-US" sz="1100" dirty="0"/>
          </a:p>
        </p:txBody>
      </p:sp>
      <p:sp>
        <p:nvSpPr>
          <p:cNvPr id="12" name="Text 9"/>
          <p:cNvSpPr txBox="1"/>
          <p:nvPr/>
        </p:nvSpPr>
        <p:spPr>
          <a:xfrm>
            <a:off x="9217152" y="2816352"/>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3" name="Text 10"/>
          <p:cNvSpPr txBox="1"/>
          <p:nvPr/>
        </p:nvSpPr>
        <p:spPr>
          <a:xfrm>
            <a:off x="9217152" y="3218688"/>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 of target: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14" name="Shape 11"/>
          <p:cNvSpPr/>
          <p:nvPr/>
        </p:nvSpPr>
        <p:spPr>
          <a:xfrm>
            <a:off x="9052560" y="3602736"/>
            <a:ext cx="2587752" cy="1005840"/>
          </a:xfrm>
          <a:prstGeom prst="roundRect">
            <a:avLst>
              <a:gd name="adj" fmla="val 7273"/>
            </a:avLst>
          </a:prstGeom>
          <a:solidFill>
            <a:srgbClr val="F3F4F6"/>
          </a:solidFill>
          <a:ln w="12700">
            <a:solidFill>
              <a:srgbClr val="F3F4F6"/>
            </a:solidFill>
            <a:prstDash val="solid"/>
          </a:ln>
        </p:spPr>
      </p:sp>
      <p:sp>
        <p:nvSpPr>
          <p:cNvPr id="15" name="Text 12"/>
          <p:cNvSpPr txBox="1"/>
          <p:nvPr/>
        </p:nvSpPr>
        <p:spPr>
          <a:xfrm>
            <a:off x="9217152" y="3694176"/>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6" name="Text 13"/>
          <p:cNvSpPr txBox="1"/>
          <p:nvPr/>
        </p:nvSpPr>
        <p:spPr>
          <a:xfrm>
            <a:off x="9217152" y="3931920"/>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7" name="Text 14"/>
          <p:cNvSpPr txBox="1"/>
          <p:nvPr/>
        </p:nvSpPr>
        <p:spPr>
          <a:xfrm>
            <a:off x="9217152" y="4334256"/>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sp>
        <p:nvSpPr>
          <p:cNvPr id="18" name="Shape 15"/>
          <p:cNvSpPr/>
          <p:nvPr/>
        </p:nvSpPr>
        <p:spPr>
          <a:xfrm>
            <a:off x="9052560" y="4718304"/>
            <a:ext cx="2587752" cy="1005840"/>
          </a:xfrm>
          <a:prstGeom prst="roundRect">
            <a:avLst>
              <a:gd name="adj" fmla="val 7273"/>
            </a:avLst>
          </a:prstGeom>
          <a:solidFill>
            <a:srgbClr val="F3F4F6"/>
          </a:solidFill>
          <a:ln w="12700">
            <a:solidFill>
              <a:srgbClr val="F3F4F6"/>
            </a:solidFill>
            <a:prstDash val="solid"/>
          </a:ln>
        </p:spPr>
      </p:sp>
      <p:sp>
        <p:nvSpPr>
          <p:cNvPr id="19" name="Text 16"/>
          <p:cNvSpPr txBox="1"/>
          <p:nvPr/>
        </p:nvSpPr>
        <p:spPr>
          <a:xfrm>
            <a:off x="9217152" y="4809744"/>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Cargo claims · T-0502</a:t>
            </a:r>
            <a:endParaRPr lang="en-US" sz="1100" dirty="0"/>
          </a:p>
        </p:txBody>
      </p:sp>
      <p:sp>
        <p:nvSpPr>
          <p:cNvPr id="20" name="Text 17"/>
          <p:cNvSpPr txBox="1"/>
          <p:nvPr/>
        </p:nvSpPr>
        <p:spPr>
          <a:xfrm>
            <a:off x="9217152" y="5047488"/>
            <a:ext cx="2286000" cy="384048"/>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$13,432.53</a:t>
            </a:r>
            <a:endParaRPr lang="en-US" sz="2000" dirty="0"/>
          </a:p>
        </p:txBody>
      </p:sp>
      <p:sp>
        <p:nvSpPr>
          <p:cNvPr id="21" name="Text 18"/>
          <p:cNvSpPr txBox="1"/>
          <p:nvPr/>
        </p:nvSpPr>
        <p:spPr>
          <a:xfrm>
            <a:off x="9217152" y="5449824"/>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Period: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22</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Shape 33"/>
          <p:cNvSpPr/>
          <p:nvPr/>
        </p:nvSpPr>
        <p:spPr>
          <a:xfrm>
            <a:off x="8034528" y="2560320"/>
            <a:ext cx="1734312" cy="804672"/>
          </a:xfrm>
          <a:prstGeom prst="roundRect">
            <a:avLst>
              <a:gd name="adj" fmla="val 9091"/>
            </a:avLst>
          </a:prstGeom>
          <a:solidFill>
            <a:srgbClr val="F3F4F6"/>
          </a:solidFill>
          <a:ln w="12700">
            <a:solidFill>
              <a:srgbClr val="F3F4F6"/>
            </a:solidFill>
            <a:prstDash val="solid"/>
          </a:ln>
        </p:spPr>
      </p:sp>
      <p:sp>
        <p:nvSpPr>
          <p:cNvPr id="36" name="Text 34"/>
          <p:cNvSpPr txBox="1"/>
          <p:nvPr/>
        </p:nvSpPr>
        <p:spPr>
          <a:xfrm>
            <a:off x="8171688"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Units</a:t>
            </a:r>
            <a:endParaRPr lang="en-US" sz="1050" dirty="0"/>
          </a:p>
        </p:txBody>
      </p:sp>
      <p:sp>
        <p:nvSpPr>
          <p:cNvPr id="37" name="Text 35"/>
          <p:cNvSpPr txBox="1"/>
          <p:nvPr/>
        </p:nvSpPr>
        <p:spPr>
          <a:xfrm>
            <a:off x="8171688"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53</a:t>
            </a:r>
            <a:endParaRPr lang="en-US" sz="1800" dirty="0"/>
          </a:p>
        </p:txBody>
      </p:sp>
      <p:sp>
        <p:nvSpPr>
          <p:cNvPr id="38" name="Text 36"/>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9" name="Shape 37"/>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40" name="Text 38"/>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41" name="Text 39"/>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2" name="Shape 40"/>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3" name="Text 41"/>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4" name="Text 42"/>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5" name="Shape 43"/>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6" name="Text 44"/>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trip</a:t>
            </a:r>
            <a:endParaRPr lang="en-US" sz="1050" dirty="0"/>
          </a:p>
        </p:txBody>
      </p:sp>
      <p:sp>
        <p:nvSpPr>
          <p:cNvPr id="47" name="Text 45"/>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109.1</a:t>
            </a:r>
            <a:endParaRPr lang="en-US" sz="1800" dirty="0"/>
          </a:p>
        </p:txBody>
      </p:sp>
      <p:sp>
        <p:nvSpPr>
          <p:cNvPr id="48" name="Shape 46"/>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9" name="Text 47"/>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50" name="Text 48"/>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51" name="Shape 49"/>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2" name="Text 50"/>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 / trip</a:t>
            </a:r>
            <a:endParaRPr lang="en-US" sz="1050" dirty="0"/>
          </a:p>
        </p:txBody>
      </p:sp>
      <p:sp>
        <p:nvSpPr>
          <p:cNvPr id="53" name="Text 51"/>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9.19</a:t>
            </a:r>
            <a:endParaRPr lang="en-US" sz="1800" dirty="0"/>
          </a:p>
        </p:txBody>
      </p:sp>
      <p:sp>
        <p:nvSpPr>
          <p:cNvPr id="54" name="Shape 52"/>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5" name="Text 53"/>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 / trip</a:t>
            </a:r>
            <a:endParaRPr lang="en-US" sz="1050" dirty="0"/>
          </a:p>
        </p:txBody>
      </p:sp>
      <p:sp>
        <p:nvSpPr>
          <p:cNvPr id="56" name="Text 54"/>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5.70</a:t>
            </a:r>
            <a:endParaRPr lang="en-US" sz="1800" dirty="0"/>
          </a:p>
        </p:txBody>
      </p:sp>
      <p:sp>
        <p:nvSpPr>
          <p:cNvPr id="57" name="Shape 55"/>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8" name="Text 56"/>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59" name="Text 57"/>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60" name="Shape 58"/>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61" name="Text 59"/>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62" name="Text 60"/>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63" name="Shape 61"/>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4" name="Text 62"/>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65" name="Text 63"/>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66" name="Shape 64"/>
          <p:cNvSpPr/>
          <p:nvPr/>
        </p:nvSpPr>
        <p:spPr>
          <a:xfrm>
            <a:off x="6163056" y="4782312"/>
            <a:ext cx="1734312" cy="804672"/>
          </a:xfrm>
          <a:prstGeom prst="roundRect">
            <a:avLst>
              <a:gd name="adj" fmla="val 9091"/>
            </a:avLst>
          </a:prstGeom>
          <a:solidFill>
            <a:srgbClr val="F5F3FF"/>
          </a:solidFill>
          <a:ln w="12700">
            <a:solidFill>
              <a:srgbClr val="F5F3FF"/>
            </a:solidFill>
            <a:prstDash val="solid"/>
          </a:ln>
        </p:spPr>
      </p:sp>
      <p:sp>
        <p:nvSpPr>
          <p:cNvPr id="67" name="Text 65"/>
          <p:cNvSpPr txBox="1"/>
          <p:nvPr/>
        </p:nvSpPr>
        <p:spPr>
          <a:xfrm>
            <a:off x="6300216"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68" name="Text 66"/>
          <p:cNvSpPr txBox="1"/>
          <p:nvPr/>
        </p:nvSpPr>
        <p:spPr>
          <a:xfrm>
            <a:off x="6300216"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69" name="Shape 67"/>
          <p:cNvSpPr/>
          <p:nvPr/>
        </p:nvSpPr>
        <p:spPr>
          <a:xfrm>
            <a:off x="8034528" y="4782312"/>
            <a:ext cx="1734312" cy="804672"/>
          </a:xfrm>
          <a:prstGeom prst="roundRect">
            <a:avLst>
              <a:gd name="adj" fmla="val 9091"/>
            </a:avLst>
          </a:prstGeom>
          <a:solidFill>
            <a:srgbClr val="F5F3FF"/>
          </a:solidFill>
          <a:ln w="12700">
            <a:solidFill>
              <a:srgbClr val="F5F3FF"/>
            </a:solidFill>
            <a:prstDash val="solid"/>
          </a:ln>
        </p:spPr>
      </p:sp>
      <p:sp>
        <p:nvSpPr>
          <p:cNvPr id="70" name="Text 68"/>
          <p:cNvSpPr txBox="1"/>
          <p:nvPr/>
        </p:nvSpPr>
        <p:spPr>
          <a:xfrm>
            <a:off x="8171688"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71" name="Text 69"/>
          <p:cNvSpPr txBox="1"/>
          <p:nvPr/>
        </p:nvSpPr>
        <p:spPr>
          <a:xfrm>
            <a:off x="8171688"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72" name="Shape 70"/>
          <p:cNvSpPr/>
          <p:nvPr/>
        </p:nvSpPr>
        <p:spPr>
          <a:xfrm>
            <a:off x="9906000" y="4782312"/>
            <a:ext cx="1734312" cy="804672"/>
          </a:xfrm>
          <a:prstGeom prst="roundRect">
            <a:avLst>
              <a:gd name="adj" fmla="val 9091"/>
            </a:avLst>
          </a:prstGeom>
          <a:solidFill>
            <a:srgbClr val="F5F3FF"/>
          </a:solidFill>
          <a:ln w="12700">
            <a:solidFill>
              <a:srgbClr val="F5F3FF"/>
            </a:solidFill>
            <a:prstDash val="solid"/>
          </a:ln>
        </p:spPr>
      </p:sp>
      <p:sp>
        <p:nvSpPr>
          <p:cNvPr id="73" name="Text 71"/>
          <p:cNvSpPr txBox="1"/>
          <p:nvPr/>
        </p:nvSpPr>
        <p:spPr>
          <a:xfrm>
            <a:off x="1004316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74" name="Text 72"/>
          <p:cNvSpPr txBox="1"/>
          <p:nvPr/>
        </p:nvSpPr>
        <p:spPr>
          <a:xfrm>
            <a:off x="1004316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75" name="Text 7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76" name="Text 7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77" name="Text 7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LF score = % of loads with load factor &gt;80% · Load % = average load percentage</a:t>
            </a:r>
            <a:endParaRPr lang="en-US" sz="1250" dirty="0"/>
          </a:p>
        </p:txBody>
      </p:sp>
      <p:sp>
        <p:nvSpPr>
          <p:cNvPr id="5" name="Shape 3"/>
          <p:cNvSpPr/>
          <p:nvPr/>
        </p:nvSpPr>
        <p:spPr>
          <a:xfrm>
            <a:off x="548640" y="1572768"/>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664208"/>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 F27 to date</a:t>
            </a:r>
            <a:endParaRPr lang="en-US" sz="1100" dirty="0"/>
          </a:p>
        </p:txBody>
      </p:sp>
      <p:sp>
        <p:nvSpPr>
          <p:cNvPr id="7" name="Text 5"/>
          <p:cNvSpPr txBox="1"/>
          <p:nvPr/>
        </p:nvSpPr>
        <p:spPr>
          <a:xfrm>
            <a:off x="731520" y="1901952"/>
            <a:ext cx="2269998" cy="402336"/>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36.4%</a:t>
            </a:r>
            <a:endParaRPr lang="en-US" sz="2400" dirty="0"/>
          </a:p>
        </p:txBody>
      </p:sp>
      <p:sp>
        <p:nvSpPr>
          <p:cNvPr id="8" name="Text 6"/>
          <p:cNvSpPr txBox="1"/>
          <p:nvPr/>
        </p:nvSpPr>
        <p:spPr>
          <a:xfrm>
            <a:off x="731520" y="2304288"/>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of 854 loads &gt;80%</a:t>
            </a:r>
            <a:endParaRPr lang="en-US" sz="1000" dirty="0"/>
          </a:p>
        </p:txBody>
      </p:sp>
      <p:sp>
        <p:nvSpPr>
          <p:cNvPr id="9" name="Shape 7"/>
          <p:cNvSpPr/>
          <p:nvPr/>
        </p:nvSpPr>
        <p:spPr>
          <a:xfrm>
            <a:off x="3367278" y="1572768"/>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664208"/>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01952"/>
            <a:ext cx="2269998" cy="402336"/>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74.9%</a:t>
            </a:r>
            <a:endParaRPr lang="en-US" sz="2400" dirty="0"/>
          </a:p>
        </p:txBody>
      </p:sp>
      <p:sp>
        <p:nvSpPr>
          <p:cNvPr id="12" name="Text 10"/>
          <p:cNvSpPr txBox="1"/>
          <p:nvPr/>
        </p:nvSpPr>
        <p:spPr>
          <a:xfrm>
            <a:off x="3550158" y="2304288"/>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F27 Jul–Sep</a:t>
            </a:r>
            <a:endParaRPr lang="en-US" sz="1000" dirty="0"/>
          </a:p>
        </p:txBody>
      </p:sp>
      <p:sp>
        <p:nvSpPr>
          <p:cNvPr id="13" name="Shape 11"/>
          <p:cNvSpPr/>
          <p:nvPr/>
        </p:nvSpPr>
        <p:spPr>
          <a:xfrm>
            <a:off x="6185916" y="1572768"/>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664208"/>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5" name="Text 13"/>
          <p:cNvSpPr txBox="1"/>
          <p:nvPr/>
        </p:nvSpPr>
        <p:spPr>
          <a:xfrm>
            <a:off x="6368796" y="1901952"/>
            <a:ext cx="2269998" cy="402336"/>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16" name="Text 14"/>
          <p:cNvSpPr txBox="1"/>
          <p:nvPr/>
        </p:nvSpPr>
        <p:spPr>
          <a:xfrm>
            <a:off x="6368796" y="2304288"/>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100 loads &gt;100%</a:t>
            </a:r>
            <a:endParaRPr lang="en-US" sz="1000" dirty="0"/>
          </a:p>
        </p:txBody>
      </p:sp>
      <p:sp>
        <p:nvSpPr>
          <p:cNvPr id="17" name="Shape 15"/>
          <p:cNvSpPr/>
          <p:nvPr/>
        </p:nvSpPr>
        <p:spPr>
          <a:xfrm>
            <a:off x="9004554" y="1572768"/>
            <a:ext cx="2635758" cy="987552"/>
          </a:xfrm>
          <a:prstGeom prst="roundRect">
            <a:avLst>
              <a:gd name="adj" fmla="val 7407"/>
            </a:avLst>
          </a:prstGeom>
          <a:solidFill>
            <a:srgbClr val="F3F4F6"/>
          </a:solidFill>
          <a:ln w="12700">
            <a:solidFill>
              <a:srgbClr val="F3F4F6"/>
            </a:solidFill>
            <a:prstDash val="solid"/>
          </a:ln>
        </p:spPr>
      </p:sp>
      <p:sp>
        <p:nvSpPr>
          <p:cNvPr id="18" name="Text 16"/>
          <p:cNvSpPr txBox="1"/>
          <p:nvPr/>
        </p:nvSpPr>
        <p:spPr>
          <a:xfrm>
            <a:off x="9187434" y="1664208"/>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Bills with no cube</a:t>
            </a:r>
            <a:endParaRPr lang="en-US" sz="1100" dirty="0"/>
          </a:p>
        </p:txBody>
      </p:sp>
      <p:sp>
        <p:nvSpPr>
          <p:cNvPr id="19" name="Text 17"/>
          <p:cNvSpPr txBox="1"/>
          <p:nvPr/>
        </p:nvSpPr>
        <p:spPr>
          <a:xfrm>
            <a:off x="9187434" y="1901952"/>
            <a:ext cx="2269998" cy="402336"/>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3,166</a:t>
            </a:r>
            <a:endParaRPr lang="en-US" sz="2400" dirty="0"/>
          </a:p>
        </p:txBody>
      </p:sp>
      <p:sp>
        <p:nvSpPr>
          <p:cNvPr id="20" name="Text 18"/>
          <p:cNvSpPr txBox="1"/>
          <p:nvPr/>
        </p:nvSpPr>
        <p:spPr>
          <a:xfrm>
            <a:off x="9187434" y="2304288"/>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5.7% of 55,862 bills</a:t>
            </a:r>
            <a:endParaRPr lang="en-US" sz="1000" dirty="0"/>
          </a:p>
        </p:txBody>
      </p:sp>
      <p:graphicFrame>
        <p:nvGraphicFramePr>
          <p:cNvPr id="21" name="Chart 0" descr=""/>
          <p:cNvGraphicFramePr/>
          <p:nvPr/>
        </p:nvGraphicFramePr>
        <p:xfrm>
          <a:off x="548640" y="2697480"/>
          <a:ext cx="4297680" cy="224028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548640" y="4956048"/>
            <a:ext cx="4297680" cy="237744"/>
          </a:xfrm>
          <a:prstGeom prst="rect">
            <a:avLst/>
          </a:prstGeom>
          <a:noFill/>
          <a:ln/>
        </p:spPr>
        <p:txBody>
          <a:bodyPr wrap="square" lIns="0" tIns="0" rIns="0" bIns="0" rtlCol="0" anchor="ctr"/>
          <a:lstStyle/>
          <a:p>
            <a:pPr algn="ctr" indent="0" marL="0">
              <a:buNone/>
            </a:pPr>
            <a:r>
              <a:rPr lang="en-US" sz="950" dirty="0">
                <a:solidFill>
                  <a:srgbClr val="6B7280"/>
                </a:solidFill>
                <a:latin typeface="Calibri" pitchFamily="34" charset="0"/>
                <a:ea typeface="Calibri" pitchFamily="34" charset="-122"/>
                <a:cs typeface="Calibri" pitchFamily="34" charset="-120"/>
              </a:rPr>
              <a:t>LF buckets (loads): ≤60% 237 · 61–79% 306 · 80–90% 150 · ≥91% 161</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74920" y="2697480"/>
          <a:ext cx="6565392" cy="914400"/>
        </p:xfrm>
        <a:graphic>
          <a:graphicData uri="http://schemas.openxmlformats.org/drawingml/2006/table">
            <a:tbl>
              <a:tblPr/>
              <a:tblGrid>
                <a:gridCol w="2176272"/>
                <a:gridCol w="1463040"/>
                <a:gridCol w="1463040"/>
                <a:gridCol w="146304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Lane · LF score / load %</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Jul</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Aug</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Sep</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74320">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Burnaby</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69.6 / 91.4</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81.8 / 93.8</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b="1" dirty="0">
                          <a:solidFill>
                            <a:srgbClr val="111827"/>
                          </a:solidFill>
                          <a:latin typeface="Calibri" pitchFamily="34" charset="0"/>
                          <a:ea typeface="Calibri" pitchFamily="34" charset="-122"/>
                          <a:cs typeface="Calibri" pitchFamily="34" charset="-120"/>
                        </a:rPr>
                        <a:t>89.5 / 95.6</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r>
              <a:tr h="274320">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Winnipeg</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61.3 / 94.7</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57.7 / 103.0</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b="1" dirty="0">
                          <a:solidFill>
                            <a:srgbClr val="111827"/>
                          </a:solidFill>
                          <a:latin typeface="Calibri" pitchFamily="34" charset="0"/>
                          <a:ea typeface="Calibri" pitchFamily="34" charset="-122"/>
                          <a:cs typeface="Calibri" pitchFamily="34" charset="-120"/>
                        </a:rPr>
                        <a:t>76.5 / 86.6</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r>
              <a:tr h="274320">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Calgary</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59.1 / 83.4</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57.9 / 94.9</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b="1" dirty="0">
                          <a:solidFill>
                            <a:srgbClr val="111827"/>
                          </a:solidFill>
                          <a:latin typeface="Calibri" pitchFamily="34" charset="0"/>
                          <a:ea typeface="Calibri" pitchFamily="34" charset="-122"/>
                          <a:cs typeface="Calibri" pitchFamily="34" charset="-120"/>
                        </a:rPr>
                        <a:t>54.5 / 82.1</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r>
              <a:tr h="274320">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Moncton</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26.2 / 81.3</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13.6 / 54.7</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11827"/>
                          </a:solidFill>
                          <a:latin typeface="Calibri" pitchFamily="34" charset="0"/>
                          <a:ea typeface="Calibri" pitchFamily="34" charset="-122"/>
                          <a:cs typeface="Calibri" pitchFamily="34" charset="-120"/>
                        </a:rPr>
                        <a:t>33.3 / 79.2</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Dartmouth</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7.1 / 67.3</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14.3 / 69.1</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b="1" dirty="0">
                          <a:solidFill>
                            <a:srgbClr val="111827"/>
                          </a:solidFill>
                          <a:latin typeface="Calibri" pitchFamily="34" charset="0"/>
                          <a:ea typeface="Calibri" pitchFamily="34" charset="-122"/>
                          <a:cs typeface="Calibri" pitchFamily="34" charset="-120"/>
                        </a:rPr>
                        <a:t>8.3 / 63.5</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r>
              <a:tr h="274320">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Quebec City</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12.5 / 60.6</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0.0 / 45.1</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b="1" dirty="0">
                          <a:solidFill>
                            <a:srgbClr val="111827"/>
                          </a:solidFill>
                          <a:latin typeface="Calibri" pitchFamily="34" charset="0"/>
                          <a:ea typeface="Calibri" pitchFamily="34" charset="-122"/>
                          <a:cs typeface="Calibri" pitchFamily="34" charset="-120"/>
                        </a:rPr>
                        <a:t>0.0 / 42.4</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r>
              <a:tr h="274320">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Windsor</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6.7 / 38.5</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0.0 / 36.6</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b="1" dirty="0">
                          <a:solidFill>
                            <a:srgbClr val="111827"/>
                          </a:solidFill>
                          <a:latin typeface="Calibri" pitchFamily="34" charset="0"/>
                          <a:ea typeface="Calibri" pitchFamily="34" charset="-122"/>
                          <a:cs typeface="Calibri" pitchFamily="34" charset="-120"/>
                        </a:rPr>
                        <a:t>0.0 / 33.5</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r>
            </a:tbl>
          </a:graphicData>
        </a:graphic>
      </p:graphicFrame>
      <p:sp>
        <p:nvSpPr>
          <p:cNvPr id="24" name="Text 20"/>
          <p:cNvSpPr txBox="1"/>
          <p:nvPr/>
        </p:nvSpPr>
        <p:spPr>
          <a:xfrm>
            <a:off x="5074920" y="4956048"/>
            <a:ext cx="6565392" cy="23774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Green = strongest · red = lightest · Edmonton, Montreal, Woodstock, Ottawa in full report</a:t>
            </a:r>
            <a:endParaRPr lang="en-US" sz="950" dirty="0"/>
          </a:p>
        </p:txBody>
      </p:sp>
      <p:sp>
        <p:nvSpPr>
          <p:cNvPr id="25" name="Shape 21"/>
          <p:cNvSpPr/>
          <p:nvPr/>
        </p:nvSpPr>
        <p:spPr>
          <a:xfrm>
            <a:off x="548640" y="5285232"/>
            <a:ext cx="11091672" cy="804672"/>
          </a:xfrm>
          <a:prstGeom prst="roundRect">
            <a:avLst>
              <a:gd name="adj" fmla="val 9091"/>
            </a:avLst>
          </a:prstGeom>
          <a:solidFill>
            <a:srgbClr val="F5F3FF"/>
          </a:solidFill>
          <a:ln w="12700">
            <a:solidFill>
              <a:srgbClr val="F5F3FF"/>
            </a:solidFill>
            <a:prstDash val="solid"/>
          </a:ln>
        </p:spPr>
      </p:sp>
      <p:sp>
        <p:nvSpPr>
          <p:cNvPr id="26" name="Text 22"/>
          <p:cNvSpPr txBox="1"/>
          <p:nvPr/>
        </p:nvSpPr>
        <p:spPr>
          <a:xfrm>
            <a:off x="731520" y="5303520"/>
            <a:ext cx="10744200" cy="768096"/>
          </a:xfrm>
          <a:prstGeom prst="rect">
            <a:avLst/>
          </a:prstGeom>
          <a:noFill/>
          <a:ln/>
        </p:spPr>
        <p:txBody>
          <a:bodyPr wrap="square" lIns="0" tIns="0" rIns="0" bIns="0" rtlCol="0" anchor="ctr"/>
          <a:lstStyle/>
          <a:p>
            <a:pPr indent="0" marL="0">
              <a:buNone/>
            </a:pPr>
            <a:r>
              <a:rPr lang="en-US" sz="1100" b="1" dirty="0">
                <a:solidFill>
                  <a:srgbClr val="111827"/>
                </a:solidFill>
                <a:latin typeface="Calibri" pitchFamily="34" charset="0"/>
                <a:ea typeface="Calibri" pitchFamily="34" charset="-122"/>
                <a:cs typeface="Calibri" pitchFamily="34" charset="-120"/>
              </a:rPr>
              <a:t>Load factor is the biggest open opportunity: LF score 36.4% F27 to date. Western lanes are strong (Burnaby 89.5% in Sept); Windsor, Quebec City and Dartmouth run consistently light — consolidation / frequency review. Moncton accounts for 1,771 of 3,166 bills with no cube (56%, calculated) — fixing cube capture will lift that lane's measured LF.</a:t>
            </a:r>
            <a:endParaRPr lang="en-US" sz="1100" dirty="0"/>
          </a:p>
        </p:txBody>
      </p:sp>
      <p:sp>
        <p:nvSpPr>
          <p:cNvPr id="27" name="Text 23"/>
          <p:cNvSpPr txBox="1"/>
          <p:nvPr/>
        </p:nvSpPr>
        <p:spPr>
          <a:xfrm>
            <a:off x="548640" y="6163056"/>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a:t>
            </a:r>
            <a:endParaRPr lang="en-US" sz="90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22</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Status of the physical terminal</a:t>
            </a:r>
            <a:endParaRPr lang="en-US" sz="3000" dirty="0"/>
          </a:p>
        </p:txBody>
      </p:sp>
      <p:sp>
        <p:nvSpPr>
          <p:cNvPr id="4" name="Shape 2"/>
          <p:cNvSpPr/>
          <p:nvPr/>
        </p:nvSpPr>
        <p:spPr>
          <a:xfrm>
            <a:off x="548640" y="1371600"/>
            <a:ext cx="3514344" cy="1234440"/>
          </a:xfrm>
          <a:prstGeom prst="roundRect">
            <a:avLst>
              <a:gd name="adj" fmla="val 5926"/>
            </a:avLst>
          </a:prstGeom>
          <a:solidFill>
            <a:srgbClr val="F3F4F6"/>
          </a:solidFill>
          <a:ln w="12700">
            <a:solidFill>
              <a:srgbClr val="F3F4F6"/>
            </a:solidFill>
            <a:prstDash val="solid"/>
          </a:ln>
        </p:spPr>
      </p:sp>
      <p:sp>
        <p:nvSpPr>
          <p:cNvPr id="5" name="Shape 3"/>
          <p:cNvSpPr/>
          <p:nvPr/>
        </p:nvSpPr>
        <p:spPr>
          <a:xfrm>
            <a:off x="777240" y="1709928"/>
            <a:ext cx="566928" cy="566928"/>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18972" y="1851660"/>
            <a:ext cx="283464" cy="283464"/>
          </a:xfrm>
          <a:prstGeom prst="rect">
            <a:avLst/>
          </a:prstGeom>
        </p:spPr>
      </p:pic>
      <p:sp>
        <p:nvSpPr>
          <p:cNvPr id="7" name="Text 4"/>
          <p:cNvSpPr txBox="1"/>
          <p:nvPr/>
        </p:nvSpPr>
        <p:spPr>
          <a:xfrm>
            <a:off x="1554480"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Total dock doors</a:t>
            </a:r>
            <a:endParaRPr lang="en-US" sz="1200" dirty="0"/>
          </a:p>
        </p:txBody>
      </p:sp>
      <p:sp>
        <p:nvSpPr>
          <p:cNvPr id="8" name="Text 5"/>
          <p:cNvSpPr txBox="1"/>
          <p:nvPr/>
        </p:nvSpPr>
        <p:spPr>
          <a:xfrm>
            <a:off x="1554480"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9" name="Shape 6"/>
          <p:cNvSpPr/>
          <p:nvPr/>
        </p:nvSpPr>
        <p:spPr>
          <a:xfrm>
            <a:off x="4337304" y="1371600"/>
            <a:ext cx="3514344" cy="1234440"/>
          </a:xfrm>
          <a:prstGeom prst="roundRect">
            <a:avLst>
              <a:gd name="adj" fmla="val 5926"/>
            </a:avLst>
          </a:prstGeom>
          <a:solidFill>
            <a:srgbClr val="F3F4F6"/>
          </a:solidFill>
          <a:ln w="12700">
            <a:solidFill>
              <a:srgbClr val="F3F4F6"/>
            </a:solidFill>
            <a:prstDash val="solid"/>
          </a:ln>
        </p:spPr>
      </p:sp>
      <p:sp>
        <p:nvSpPr>
          <p:cNvPr id="10" name="Shape 7"/>
          <p:cNvSpPr/>
          <p:nvPr/>
        </p:nvSpPr>
        <p:spPr>
          <a:xfrm>
            <a:off x="4565904" y="1709928"/>
            <a:ext cx="566928" cy="566928"/>
          </a:xfrm>
          <a:prstGeom prst="ellipse">
            <a:avLst/>
          </a:prstGeom>
          <a:solidFill>
            <a:srgbClr val="EDE9FE"/>
          </a:solidFill>
          <a:ln w="12700">
            <a:solidFill>
              <a:srgbClr val="EDE9FE"/>
            </a:solidFill>
            <a:prstDash val="solid"/>
          </a:ln>
        </p:spPr>
      </p:sp>
      <p:pic>
        <p:nvPicPr>
          <p:cNvPr id="11" name="Image 1" descr="preencoded.png">    </p:cNvPr>
          <p:cNvPicPr>
            <a:picLocks noChangeAspect="1"/>
          </p:cNvPicPr>
          <p:nvPr/>
        </p:nvPicPr>
        <p:blipFill>
          <a:blip r:embed="rId2"/>
          <a:stretch>
            <a:fillRect/>
          </a:stretch>
        </p:blipFill>
        <p:spPr>
          <a:xfrm>
            <a:off x="4707636" y="1851660"/>
            <a:ext cx="283464" cy="283464"/>
          </a:xfrm>
          <a:prstGeom prst="rect">
            <a:avLst/>
          </a:prstGeom>
        </p:spPr>
      </p:pic>
      <p:sp>
        <p:nvSpPr>
          <p:cNvPr id="12" name="Text 8"/>
          <p:cNvSpPr txBox="1"/>
          <p:nvPr/>
        </p:nvSpPr>
        <p:spPr>
          <a:xfrm>
            <a:off x="5343144"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out of service</a:t>
            </a:r>
            <a:endParaRPr lang="en-US" sz="1200" dirty="0"/>
          </a:p>
        </p:txBody>
      </p:sp>
      <p:sp>
        <p:nvSpPr>
          <p:cNvPr id="13" name="Text 9"/>
          <p:cNvSpPr txBox="1"/>
          <p:nvPr/>
        </p:nvSpPr>
        <p:spPr>
          <a:xfrm>
            <a:off x="5343144"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Shape 10"/>
          <p:cNvSpPr/>
          <p:nvPr/>
        </p:nvSpPr>
        <p:spPr>
          <a:xfrm>
            <a:off x="8125968" y="1371600"/>
            <a:ext cx="3514344" cy="1234440"/>
          </a:xfrm>
          <a:prstGeom prst="roundRect">
            <a:avLst>
              <a:gd name="adj" fmla="val 5926"/>
            </a:avLst>
          </a:prstGeom>
          <a:solidFill>
            <a:srgbClr val="F3F4F6"/>
          </a:solidFill>
          <a:ln w="12700">
            <a:solidFill>
              <a:srgbClr val="F3F4F6"/>
            </a:solidFill>
            <a:prstDash val="solid"/>
          </a:ln>
        </p:spPr>
      </p:sp>
      <p:sp>
        <p:nvSpPr>
          <p:cNvPr id="15" name="Shape 11"/>
          <p:cNvSpPr/>
          <p:nvPr/>
        </p:nvSpPr>
        <p:spPr>
          <a:xfrm>
            <a:off x="8354568" y="1709928"/>
            <a:ext cx="566928" cy="566928"/>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8496300" y="1851660"/>
            <a:ext cx="283464" cy="283464"/>
          </a:xfrm>
          <a:prstGeom prst="rect">
            <a:avLst/>
          </a:prstGeom>
        </p:spPr>
      </p:pic>
      <p:sp>
        <p:nvSpPr>
          <p:cNvPr id="17" name="Text 12"/>
          <p:cNvSpPr txBox="1"/>
          <p:nvPr/>
        </p:nvSpPr>
        <p:spPr>
          <a:xfrm>
            <a:off x="9131808"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in service</a:t>
            </a:r>
            <a:endParaRPr lang="en-US" sz="1200" dirty="0"/>
          </a:p>
        </p:txBody>
      </p:sp>
      <p:sp>
        <p:nvSpPr>
          <p:cNvPr id="18" name="Text 13"/>
          <p:cNvSpPr txBox="1"/>
          <p:nvPr/>
        </p:nvSpPr>
        <p:spPr>
          <a:xfrm>
            <a:off x="9131808"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9" name="Text 14"/>
          <p:cNvSpPr txBox="1"/>
          <p:nvPr/>
        </p:nvSpPr>
        <p:spPr>
          <a:xfrm>
            <a:off x="548640" y="2880360"/>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Urgent repairs &amp; needs</a:t>
            </a:r>
            <a:endParaRPr lang="en-US" sz="1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1672" cy="914400"/>
        </p:xfrm>
        <a:graphic>
          <a:graphicData uri="http://schemas.openxmlformats.org/drawingml/2006/table">
            <a:tbl>
              <a:tblPr/>
              <a:tblGrid>
                <a:gridCol w="1463040"/>
                <a:gridCol w="5120640"/>
                <a:gridCol w="1737360"/>
                <a:gridCol w="2770632"/>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Est. cost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300" b="1" dirty="0">
                          <a:solidFill>
                            <a:srgbClr val="DC2626"/>
                          </a:solidFill>
                          <a:latin typeface="Calibri" pitchFamily="34" charset="0"/>
                          <a:ea typeface="Calibri" pitchFamily="34" charset="-122"/>
                          <a:cs typeface="Calibri" pitchFamily="34" charset="-120"/>
                        </a:rPr>
                        <a:t>Urgent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Planned</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Total estimated cost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423160"/>
            <a:ext cx="3291840" cy="347472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91.1% of SCA hour allowance — 391 hrs under (≈$13.1K).</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PRO $6.60 vs $6.85 target (96.3%, watch).</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unit −16.7%; units/hr +26.7%; OT 9 hrs.</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Focus: PPH 3,327 vs 4,258 goal (−21.9%).</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F27 take-out target: </a:t>
            </a:r>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 / 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2026-09-29T13:59:52Z</dcterms:created>
  <dcterms:modified xsi:type="dcterms:W3CDTF">2026-09-29T13:59:52Z</dcterms:modified>
</cp:coreProperties>
</file>