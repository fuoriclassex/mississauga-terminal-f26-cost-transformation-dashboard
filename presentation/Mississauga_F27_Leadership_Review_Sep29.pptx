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6.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7.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Adjusted on-time % by month · 2026</a:t>
            </a:r>
          </a:p>
        </c:rich>
      </c:tx>
      <c:layout/>
      <c:overlay val="0"/>
    </c:title>
    <c:autoTitleDeleted val="0"/>
    <c:plotArea>
      <c:layout/>
      <c:barChart>
        <c:barDir val="col"/>
        <c:grouping val="clustered"/>
        <c:varyColors val="0"/>
        <c:ser>
          <c:idx val="0"/>
          <c:order val="0"/>
          <c:tx>
            <c:strRef>
              <c:f>Sheet1!$B$1</c:f>
              <c:strCache>
                <c:ptCount val="1"/>
                <c:pt idx="0">
                  <c:v>Incl. partner carriers</c:v>
                </c:pt>
              </c:strCache>
            </c:strRef>
          </c:tx>
          <c:spPr>
            <a:solidFill>
              <a:srgbClr val="EA580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87.5</c:v>
                </c:pt>
                <c:pt idx="1">
                  <c:v>87.8</c:v>
                </c:pt>
                <c:pt idx="2">
                  <c:v>84.9</c:v>
                </c:pt>
                <c:pt idx="3">
                  <c:v>81.5</c:v>
                </c:pt>
                <c:pt idx="4">
                  <c:v>83.6</c:v>
                </c:pt>
                <c:pt idx="5">
                  <c:v>85.5</c:v>
                </c:pt>
                <c:pt idx="6">
                  <c:v>89.3</c:v>
                </c:pt>
                <c:pt idx="7">
                  <c:v>91.7</c:v>
                </c:pt>
                <c:pt idx="8">
                  <c:v>93.7</c:v>
                </c:pt>
              </c:numCache>
            </c:numRef>
          </c:val>
        </c:ser>
        <c:ser>
          <c:idx val="1"/>
          <c:order val="1"/>
          <c:tx>
            <c:strRef>
              <c:f>Sheet1!$C$1</c:f>
              <c:strCache>
                <c:ptCount val="1"/>
                <c:pt idx="0">
                  <c:v>Excl. partner carriers</c:v>
                </c:pt>
              </c:strCache>
            </c:strRef>
          </c:tx>
          <c:spPr>
            <a:solidFill>
              <a:srgbClr val="FDBA7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87.5</c:v>
                </c:pt>
                <c:pt idx="1">
                  <c:v>87.9</c:v>
                </c:pt>
                <c:pt idx="2">
                  <c:v>88.4</c:v>
                </c:pt>
                <c:pt idx="3">
                  <c:v>88.8</c:v>
                </c:pt>
                <c:pt idx="4">
                  <c:v>92.1</c:v>
                </c:pt>
                <c:pt idx="5">
                  <c:v>91.8</c:v>
                </c:pt>
                <c:pt idx="6">
                  <c:v>94.4</c:v>
                </c:pt>
                <c:pt idx="7">
                  <c:v>94.7</c:v>
                </c:pt>
                <c:pt idx="8">
                  <c:v>96.7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lineChart>
        <c:varyColors val="0"/>
        <c:ser>
          <c:idx val="2"/>
          <c:order val="2"/>
          <c:tx>
            <c:strRef>
              <c:f>Sheet1!$D$1</c:f>
              <c:strCache>
                <c:ptCount val="1"/>
                <c:pt idx="0">
                  <c:v>Target 90%</c:v>
                </c:pt>
              </c:strCache>
            </c:strRef>
          </c:tx>
          <c:spPr>
            <a:solidFill>
              <a:srgbClr val="DC2626"/>
            </a:solidFill>
            <a:ln w="19050" cap="flat">
              <a:solidFill>
                <a:srgbClr val="DC26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C2626"/>
              </a:solidFill>
              <a:ln w="9525" cap="flat">
                <a:solidFill>
                  <a:srgbClr val="DC2626"/>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90</c:v>
                </c:pt>
                <c:pt idx="1">
                  <c:v>90</c:v>
                </c:pt>
                <c:pt idx="2">
                  <c:v>90</c:v>
                </c:pt>
                <c:pt idx="3">
                  <c:v>90</c:v>
                </c:pt>
                <c:pt idx="4">
                  <c:v>90</c:v>
                </c:pt>
                <c:pt idx="5">
                  <c:v>90</c:v>
                </c:pt>
                <c:pt idx="6">
                  <c:v>90</c:v>
                </c:pt>
                <c:pt idx="7">
                  <c:v>90</c:v>
                </c:pt>
                <c:pt idx="8">
                  <c:v>90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0"/>
          <c:min val="75"/>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majorUnit val="5"/>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Missed PU % by month</a:t>
            </a:r>
          </a:p>
        </c:rich>
      </c:tx>
      <c:layout/>
      <c:overlay val="0"/>
    </c:title>
    <c:autoTitleDeleted val="0"/>
    <c:plotArea>
      <c:layout/>
      <c:barChart>
        <c:barDir val="col"/>
        <c:grouping val="clustered"/>
        <c:varyColors val="0"/>
        <c:ser>
          <c:idx val="0"/>
          <c:order val="0"/>
          <c:tx>
            <c:strRef>
              <c:f>Sheet1!$B$1</c:f>
              <c:strCache>
                <c:ptCount val="1"/>
                <c:pt idx="0">
                  <c:v>Missed PU %</c:v>
                </c:pt>
              </c:strCache>
            </c:strRef>
          </c:tx>
          <c:spPr>
            <a:solidFill>
              <a:srgbClr val="EA580C"/>
            </a:solidFill>
            <a:effectLst/>
          </c:spPr>
          <c:invertIfNegative val="0"/>
          <c:dLbls>
            <c:numFmt formatCode="0.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Sheet1!$A$2:$A$5</c:f>
              <c:multiLvlStrCache>
                <c:ptCount val="4"/>
                <c:lvl>
                  <c:pt idx="0">
                    <c:v>Jun 2026</c:v>
                  </c:pt>
                  <c:pt idx="1">
                    <c:v>Jul</c:v>
                  </c:pt>
                  <c:pt idx="2">
                    <c:v>Aug</c:v>
                  </c:pt>
                  <c:pt idx="3">
                    <c:v>Sep MTD</c:v>
                  </c:pt>
                </c:lvl>
              </c:multiLvlStrCache>
            </c:multiLvlStrRef>
          </c:cat>
          <c:val>
            <c:numRef>
              <c:f>Sheet1!$B$2:$B$5</c:f>
              <c:numCache>
                <c:formatCode>General</c:formatCode>
                <c:ptCount val="4"/>
                <c:pt idx="0">
                  <c:v>7.77</c:v>
                </c:pt>
                <c:pt idx="1">
                  <c:v>4.88</c:v>
                </c:pt>
                <c:pt idx="2">
                  <c:v>3.66</c:v>
                </c:pt>
                <c:pt idx="3">
                  <c:v>5.23</c:v>
                </c:pt>
              </c:numCache>
            </c:numRef>
          </c:val>
        </c:ser>
        <c:dLbls>
          <c:numFmt formatCode="0.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Missed PU % by week (wk 39 partial)</a:t>
            </a:r>
          </a:p>
        </c:rich>
      </c:tx>
      <c:layout/>
      <c:overlay val="0"/>
    </c:title>
    <c:autoTitleDeleted val="0"/>
    <c:plotArea>
      <c:layout/>
      <c:barChart>
        <c:barDir val="col"/>
        <c:grouping val="clustered"/>
        <c:varyColors val="0"/>
        <c:ser>
          <c:idx val="0"/>
          <c:order val="0"/>
          <c:tx>
            <c:strRef>
              <c:f>Sheet1!$B$1</c:f>
              <c:strCache>
                <c:ptCount val="1"/>
                <c:pt idx="0">
                  <c:v>Missed PU %</c:v>
                </c:pt>
              </c:strCache>
            </c:strRef>
          </c:tx>
          <c:spPr>
            <a:solidFill>
              <a:srgbClr val="EA580C"/>
            </a:solidFill>
            <a:effectLst/>
          </c:spPr>
          <c:invertIfNegative val="0"/>
          <c:dLbls>
            <c:numFmt formatCode="0.0"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cat>
            <c:multiLvlStrRef>
              <c:f>Sheet1!$A$2:$A$14</c:f>
              <c:multiLvlStrCache>
                <c:ptCount val="13"/>
                <c:lvl>
                  <c:pt idx="0">
                    <c:v>27</c:v>
                  </c:pt>
                  <c:pt idx="1">
                    <c:v>28</c:v>
                  </c:pt>
                  <c:pt idx="2">
                    <c:v>29</c:v>
                  </c:pt>
                  <c:pt idx="3">
                    <c:v>30</c:v>
                  </c:pt>
                  <c:pt idx="4">
                    <c:v>31</c:v>
                  </c:pt>
                  <c:pt idx="5">
                    <c:v>32</c:v>
                  </c:pt>
                  <c:pt idx="6">
                    <c:v>33</c:v>
                  </c:pt>
                  <c:pt idx="7">
                    <c:v>34</c:v>
                  </c:pt>
                  <c:pt idx="8">
                    <c:v>35</c:v>
                  </c:pt>
                  <c:pt idx="9">
                    <c:v>36</c:v>
                  </c:pt>
                  <c:pt idx="10">
                    <c:v>37</c:v>
                  </c:pt>
                  <c:pt idx="11">
                    <c:v>38</c:v>
                  </c:pt>
                  <c:pt idx="12">
                    <c:v>39*</c:v>
                  </c:pt>
                </c:lvl>
              </c:multiLvlStrCache>
            </c:multiLvlStrRef>
          </c:cat>
          <c:val>
            <c:numRef>
              <c:f>Sheet1!$B$2:$B$14</c:f>
              <c:numCache>
                <c:formatCode>General</c:formatCode>
                <c:ptCount val="13"/>
                <c:pt idx="0">
                  <c:v>7.11</c:v>
                </c:pt>
                <c:pt idx="1">
                  <c:v>2.75</c:v>
                </c:pt>
                <c:pt idx="2">
                  <c:v>6.66</c:v>
                </c:pt>
                <c:pt idx="3">
                  <c:v>4.84</c:v>
                </c:pt>
                <c:pt idx="4">
                  <c:v>4.4</c:v>
                </c:pt>
                <c:pt idx="5">
                  <c:v>2.81</c:v>
                </c:pt>
                <c:pt idx="6">
                  <c:v>3.48</c:v>
                </c:pt>
                <c:pt idx="7">
                  <c:v>3.52</c:v>
                </c:pt>
                <c:pt idx="8">
                  <c:v>5.04</c:v>
                </c:pt>
                <c:pt idx="9">
                  <c:v>4.43</c:v>
                </c:pt>
                <c:pt idx="10">
                  <c:v>5.95</c:v>
                </c:pt>
                <c:pt idx="11">
                  <c:v>6.47</c:v>
                </c:pt>
                <c:pt idx="12">
                  <c:v>3.86</c:v>
                </c:pt>
              </c:numCache>
            </c:numRef>
          </c:val>
        </c:ser>
        <c:dLbls>
          <c:numFmt formatCode="0.0"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11827"/>
                </a:solidFill>
                <a:latin typeface="Calibri"/>
              </a:defRPr>
            </a:pPr>
            <a:r>
              <a:rPr sz="1100" b="0" i="0" u="none" strike="noStrike">
                <a:solidFill>
                  <a:srgbClr val="111827"/>
                </a:solidFill>
                <a:latin typeface="Calibri"/>
              </a:rPr>
              <a:t>Accessorial revenue by month ($K)</a:t>
            </a:r>
          </a:p>
        </c:rich>
      </c:tx>
      <c:layout/>
      <c:overlay val="0"/>
    </c:title>
    <c:autoTitleDeleted val="0"/>
    <c:plotArea>
      <c:layout/>
      <c:barChart>
        <c:barDir val="col"/>
        <c:grouping val="clustered"/>
        <c:varyColors val="0"/>
        <c:ser>
          <c:idx val="0"/>
          <c:order val="0"/>
          <c:tx>
            <c:strRef>
              <c:f>Sheet1!$B$1</c:f>
              <c:strCache>
                <c:ptCount val="1"/>
                <c:pt idx="0">
                  <c:v>$K</c:v>
                </c:pt>
              </c:strCache>
            </c:strRef>
          </c:tx>
          <c:spPr>
            <a:solidFill>
              <a:srgbClr val="EA580C"/>
            </a:solidFill>
            <a:effectLst/>
          </c:spPr>
          <c:invertIfNegative val="0"/>
          <c:dLbls>
            <c:numFmt formatCode="#,##0"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cat>
            <c:multiLvlStrRef>
              <c:f>Sheet1!$A$2:$A$7</c:f>
              <c:multiLvlStrCache>
                <c:ptCount val="6"/>
                <c:lvl>
                  <c:pt idx="0">
                    <c:v>Apr</c:v>
                  </c:pt>
                  <c:pt idx="1">
                    <c:v>May</c:v>
                  </c:pt>
                  <c:pt idx="2">
                    <c:v>Jun</c:v>
                  </c:pt>
                  <c:pt idx="3">
                    <c:v>Jul</c:v>
                  </c:pt>
                  <c:pt idx="4">
                    <c:v>Aug</c:v>
                  </c:pt>
                  <c:pt idx="5">
                    <c:v>Sep*</c:v>
                  </c:pt>
                </c:lvl>
              </c:multiLvlStrCache>
            </c:multiLvlStrRef>
          </c:cat>
          <c:val>
            <c:numRef>
              <c:f>Sheet1!$B$2:$B$7</c:f>
              <c:numCache>
                <c:formatCode>General</c:formatCode>
                <c:ptCount val="6"/>
                <c:pt idx="0">
                  <c:v>329</c:v>
                </c:pt>
                <c:pt idx="1">
                  <c:v>283</c:v>
                </c:pt>
                <c:pt idx="2">
                  <c:v>255</c:v>
                </c:pt>
                <c:pt idx="3">
                  <c:v>267</c:v>
                </c:pt>
                <c:pt idx="4">
                  <c:v>253</c:v>
                </c:pt>
                <c:pt idx="5">
                  <c:v>238</c:v>
                </c:pt>
              </c:numCache>
            </c:numRef>
          </c:val>
        </c:ser>
        <c:dLbls>
          <c:numFmt formatCode="#,##0"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11827"/>
                </a:solidFill>
                <a:latin typeface="Calibri"/>
              </a:defRPr>
            </a:pPr>
            <a:r>
              <a:rPr sz="1300" b="0" i="0" u="none" strike="noStrike">
                <a:solidFill>
                  <a:srgbClr val="111827"/>
                </a:solidFill>
                <a:latin typeface="Calibri"/>
              </a:rPr>
              <a:t>Dock hours · company vs agency</a:t>
            </a:r>
          </a:p>
        </c:rich>
      </c:tx>
      <c:layout/>
      <c:overlay val="0"/>
    </c:title>
    <c:autoTitleDeleted val="0"/>
    <c:plotArea>
      <c:layout/>
      <c:barChart>
        <c:barDir val="bar"/>
        <c:grouping val="stacked"/>
        <c:varyColors val="0"/>
        <c:ser>
          <c:idx val="0"/>
          <c:order val="0"/>
          <c:tx>
            <c:strRef>
              <c:f>Sheet1!$B$1</c:f>
              <c:strCache>
                <c:ptCount val="1"/>
                <c:pt idx="0">
                  <c:v>D&amp;R</c:v>
                </c:pt>
              </c:strCache>
            </c:strRef>
          </c:tx>
          <c:spPr>
            <a:solidFill>
              <a:srgbClr val="EA580C"/>
            </a:solidFill>
            <a:effectLst/>
          </c:spPr>
          <c:invertIfNegative val="0"/>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6,303 hrs</c:v>
                  </c:pt>
                  <c:pt idx="1">
                    <c:v>F27 Sept MTD · 3,999 hrs</c:v>
                  </c:pt>
                </c:lvl>
              </c:multiLvlStrCache>
            </c:multiLvlStrRef>
          </c:cat>
          <c:val>
            <c:numRef>
              <c:f>Sheet1!$B$2:$B$3</c:f>
              <c:numCache>
                <c:formatCode>General</c:formatCode>
                <c:ptCount val="2"/>
                <c:pt idx="0">
                  <c:v>1860</c:v>
                </c:pt>
                <c:pt idx="1">
                  <c:v>1542</c:v>
                </c:pt>
              </c:numCache>
            </c:numRef>
          </c:val>
        </c:ser>
        <c:ser>
          <c:idx val="1"/>
          <c:order val="1"/>
          <c:tx>
            <c:strRef>
              <c:f>Sheet1!$C$1</c:f>
              <c:strCache>
                <c:ptCount val="1"/>
                <c:pt idx="0">
                  <c:v>Agency</c:v>
                </c:pt>
              </c:strCache>
            </c:strRef>
          </c:tx>
          <c:spPr>
            <a:solidFill>
              <a:srgbClr val="374151"/>
            </a:solidFill>
            <a:effectLst/>
          </c:spPr>
          <c:invertIfNegative val="0"/>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6,303 hrs</c:v>
                  </c:pt>
                  <c:pt idx="1">
                    <c:v>F27 Sept MTD · 3,999 hrs</c:v>
                  </c:pt>
                </c:lvl>
              </c:multiLvlStrCache>
            </c:multiLvlStrRef>
          </c:cat>
          <c:val>
            <c:numRef>
              <c:f>Sheet1!$C$2:$C$3</c:f>
              <c:numCache>
                <c:formatCode>General</c:formatCode>
                <c:ptCount val="2"/>
                <c:pt idx="0">
                  <c:v>4443</c:v>
                </c:pt>
                <c:pt idx="1">
                  <c:v>2457</c:v>
                </c:pt>
              </c:numCache>
            </c:numRef>
          </c:val>
        </c:ser>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PPH · F26 vs F27 vs goal</a:t>
            </a:r>
          </a:p>
        </c:rich>
      </c:tx>
      <c:layout/>
      <c:overlay val="0"/>
    </c:title>
    <c:autoTitleDeleted val="0"/>
    <c:plotArea>
      <c:layout/>
      <c:barChart>
        <c:barDir val="col"/>
        <c:grouping val="clustered"/>
        <c:varyColors val="0"/>
        <c:ser>
          <c:idx val="0"/>
          <c:order val="0"/>
          <c:tx>
            <c:strRef>
              <c:f>Sheet1!$B$1</c:f>
              <c:strCache>
                <c:ptCount val="1"/>
                <c:pt idx="0">
                  <c:v>F26 Sept</c:v>
                </c:pt>
              </c:strCache>
            </c:strRef>
          </c:tx>
          <c:spPr>
            <a:solidFill>
              <a:srgbClr val="9CA3AF"/>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Sheet1!$B$2:$B$2</c:f>
              <c:numCache>
                <c:formatCode>General</c:formatCode>
                <c:ptCount val="1"/>
                <c:pt idx="0">
                  <c:v>3313</c:v>
                </c:pt>
              </c:numCache>
            </c:numRef>
          </c:val>
        </c:ser>
        <c:ser>
          <c:idx val="1"/>
          <c:order val="1"/>
          <c:tx>
            <c:strRef>
              <c:f>Sheet1!$C$1</c:f>
              <c:strCache>
                <c:ptCount val="1"/>
                <c:pt idx="0">
                  <c:v>F27 Sept MTD</c:v>
                </c:pt>
              </c:strCache>
            </c:strRef>
          </c:tx>
          <c:spPr>
            <a:solidFill>
              <a:srgbClr val="EA580C"/>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Sheet1!$C$2:$C$2</c:f>
              <c:numCache>
                <c:formatCode>General</c:formatCode>
                <c:ptCount val="1"/>
                <c:pt idx="0">
                  <c:v>3327</c:v>
                </c:pt>
              </c:numCache>
            </c:numRef>
          </c:val>
        </c:ser>
        <c:ser>
          <c:idx val="2"/>
          <c:order val="2"/>
          <c:tx>
            <c:strRef>
              <c:f>Sheet1!$D$1</c:f>
              <c:strCache>
                <c:ptCount val="1"/>
                <c:pt idx="0">
                  <c:v>F27 goal</c:v>
                </c:pt>
              </c:strCache>
            </c:strRef>
          </c:tx>
          <c:spPr>
            <a:solidFill>
              <a:srgbClr val="1F2937"/>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Sheet1!$D$2:$D$2</c:f>
              <c:numCache>
                <c:formatCode>General</c:formatCode>
                <c:ptCount val="1"/>
                <c:pt idx="0">
                  <c:v>4258</c:v>
                </c:pt>
              </c:numCache>
            </c:numRef>
          </c:val>
        </c:ser>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000"/>
          <c:min val="0"/>
        </c:scaling>
        <c:delete val="0"/>
        <c:axPos val="l"/>
        <c:majorGridlines>
          <c:spPr>
            <a:ln w="9525" cap="flat">
              <a:solidFill>
                <a:srgbClr val="E5E7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Monthly LF score · all lanes vs ex-Moncton</a:t>
            </a:r>
          </a:p>
        </c:rich>
      </c:tx>
      <c:layout/>
      <c:overlay val="0"/>
    </c:title>
    <c:autoTitleDeleted val="0"/>
    <c:plotArea>
      <c:layout/>
      <c:barChart>
        <c:barDir val="col"/>
        <c:grouping val="clustered"/>
        <c:varyColors val="0"/>
        <c:ser>
          <c:idx val="0"/>
          <c:order val="0"/>
          <c:tx>
            <c:strRef>
              <c:f>Sheet1!$B$1</c:f>
              <c:strCache>
                <c:ptCount val="1"/>
                <c:pt idx="0">
                  <c:v>All lanes</c:v>
                </c:pt>
              </c:strCache>
            </c:strRef>
          </c:tx>
          <c:spPr>
            <a:solidFill>
              <a:srgbClr val="FDBA74"/>
            </a:solidFill>
            <a:effectLst/>
          </c:spPr>
          <c:invertIfNegative val="0"/>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Sheet1!$A$2:$A$4</c:f>
              <c:multiLvlStrCache>
                <c:ptCount val="3"/>
                <c:lvl>
                  <c:pt idx="0">
                    <c:v>Jul</c:v>
                  </c:pt>
                  <c:pt idx="1">
                    <c:v>Aug</c:v>
                  </c:pt>
                  <c:pt idx="2">
                    <c:v>Sep</c:v>
                  </c:pt>
                </c:lvl>
              </c:multiLvlStrCache>
            </c:multiLvlStrRef>
          </c:cat>
          <c:val>
            <c:numRef>
              <c:f>Sheet1!$B$2:$B$4</c:f>
              <c:numCache>
                <c:formatCode>General</c:formatCode>
                <c:ptCount val="3"/>
                <c:pt idx="0">
                  <c:v>38.9</c:v>
                </c:pt>
                <c:pt idx="1">
                  <c:v>33.4</c:v>
                </c:pt>
                <c:pt idx="2">
                  <c:v>36.7</c:v>
                </c:pt>
              </c:numCache>
            </c:numRef>
          </c:val>
        </c:ser>
        <c:ser>
          <c:idx val="1"/>
          <c:order val="1"/>
          <c:tx>
            <c:strRef>
              <c:f>Sheet1!$C$1</c:f>
              <c:strCache>
                <c:ptCount val="1"/>
                <c:pt idx="0">
                  <c:v>Ex-Moncton</c:v>
                </c:pt>
              </c:strCache>
            </c:strRef>
          </c:tx>
          <c:spPr>
            <a:solidFill>
              <a:srgbClr val="EA580C"/>
            </a:solidFill>
            <a:effectLst/>
          </c:spPr>
          <c:invertIfNegative val="0"/>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Sheet1!$A$2:$A$4</c:f>
              <c:multiLvlStrCache>
                <c:ptCount val="3"/>
                <c:lvl>
                  <c:pt idx="0">
                    <c:v>Jul</c:v>
                  </c:pt>
                  <c:pt idx="1">
                    <c:v>Aug</c:v>
                  </c:pt>
                  <c:pt idx="2">
                    <c:v>Sep</c:v>
                  </c:pt>
                </c:lvl>
              </c:multiLvlStrCache>
            </c:multiLvlStrRef>
          </c:cat>
          <c:val>
            <c:numRef>
              <c:f>Sheet1!$C$2:$C$4</c:f>
              <c:numCache>
                <c:formatCode>General</c:formatCode>
                <c:ptCount val="3"/>
                <c:pt idx="0">
                  <c:v>42</c:v>
                </c:pt>
                <c:pt idx="1">
                  <c:v>38.5</c:v>
                </c:pt>
                <c:pt idx="2">
                  <c:v>37.6</c:v>
                </c:pt>
              </c:numCache>
            </c:numRef>
          </c:val>
        </c:ser>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5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This is the Mississauga Terminal F27 review: safety, service, SCA, productivity, and the status of the building. Our September month-to-date headlines: adjusted on-time service is 93.7 percent, we are at 91.1 percent of our SCA hour allowance, units per hour are up 26.7 percent on last year, with only 9 overtime hours. Our focus is the gap to the PPH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topics today, then a recap: safety, service, the F27 savings outlook and SCA, productivity, load quality and equipment, and the physical terminal. All SCA and productivity figures are Mississauga only, updated to Saturday, September 26; anything marked TBC is still being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had zero recordable incidents in F27 to date, July and August, so our F27 TRIR is 0.00 against 1.21 for F26 and a 12-month average of 1.21, and it has been 384 days since our last recordable on September 10, 2025. Every shift starts with a tailgate and forklift inspections, and after any incident we run a specific safety moment. Supervisors and managers correct non-compliance on the spot and record it in their STEP observations, and dock conditions are documented and reviewed at JHSC.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where our safety work stands. Completed: the roofing work zones are barricaded with N95 masks available, and the new shunt pre-trip checklist is used every shift. Our ongoing practices include incident reporting: incidents are reported promptly and supervisors work directly with OHS on WSIB forms and a safe return to work; we document detailed descriptions, identify root cause with OHS, and follow up corrective actions so controls prevent recurrence; and forklift and TDG training is completed before expiry. Planned are load securement and decking with ANCRA decks and divider deck-board kits, and freight-handling equipment such as panel trucks and racks for windows, panels and car parts to improve handling and cut damages, and two people-led initiatives we will take to Safety: driver safety reps — our top safety-score drivers join the monthly safety meeting and speak for drivers, because drivers follow respected peers, people protect standards they help set, and drivers raise concerns with a peer they would not raise with a manager — and manager and supervisor route ride-alongs with a quarterly quota that ramps up to every driver once a year, so leaders see road challenges first-hand. For the November and spring/summer e-commerce peaks we add 10 percent or more new temp staff on every shift, and the Safety team has agreed to be part of phasing them in: safe work practices, lifting technique, truck and trailer pull safety, forklift safety and seat belts, and the right to refuse unsafe work, with short check-ins such as whether they wear the seat belt getting on and off the forklift and what to do if there is a spill. People who feel cared for, care. If we prioritize safety, then service, productivity and cost all fall into place. The ideas list is where we go next, including near-miss reporting and a safety plan for the new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people-led safety initiatives for F27. First, driver safety reps: our top safety-score drivers join the monthly safety meeting and speak for drivers — peers carry more weight than policy and drivers raise concerns with a peer they would not raise with a manager. Second, manager and supervisor route ride-alongs with a quarterly quota that ramps from 8 to 11 to 13, so leaders see road challenges first-hand. Third, peak onboarding with the Safety team, which Safety supports: for the November and spring/summer e-commerce peaks we add 10 percent or more new temp staff on every shift, and Safety will help phase them in — safe work practices, lifting technique, truck and trailer pull safety, forklift safety and the seat belt, and the right to refuse unsafe work — with short check-ins. People who feel cared for, care. If we prioritize safety, then service, productivity and cost all fall into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Adjusted on-time service for September is 93.7 percent including partner-carrier freight and 96.7 percent excluding it, both above our 90 percent target, and the last seven days averaged 94.35 percent. We show both views because partner carriers, the beyond-interliner freight, are about 13 percent of our volume but roughly 45 percent of our late freight bills, and only about 56 percent of that freight is on time. Every F27 month has been at or above 89 percent and we have been above target since August, up from 81.5 percent in April.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Missed pickups are at 4.70 percent across the report period through September 26. Only about 15 percent are true operations issues; about 45 percent are false positives, most coded already serviced, which is a close-out and scanning discipline fix. Excluding those, the rate would be roughly 2.6 percent; the September 7 spike was Labour Day on low volume. Damaged freight bills averaged 1.61 percent over the last seven days; the latest day was 0.31 percent on September 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company F27 KPI goals and where Mississauga stands. On-time service is 93.7 percent in September, in the Exceeded band, and has improved every month since July. Missed pickups are the gap at 5.23 percent against a 1 percent goal, but about 45 percent of those are OPS false positives, so the close-out fix and daily pickup review close most of it. Headhaul load factor is at goal at 74.9 percent for F27 so far, 75.7 percent excluding Moncton. Damages, reweighs and cubing are on the plan and we are confirming the matching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today's rates hold, our F27 savings outlook is about 451 thousand dollars for the year — roughly 38 thousand dollars a month against the same months of F26. It is built on our two contract labour buckets: Admin contract labour is down about 25 percent, worth about 298 thousand a year, and Dock contract labour is down about 6 percent, worth about 92 thousand, plus the confirmed 61 thousand dollar dispatcher saving. Every extra 1 percent off contract labour is worth about 28 thousand a year. These are estimates if the current rate holds, not booked savings; load securement, handling equipment, accessorials and Toyota footage capture come on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F27 initiative tracker. One initiative is confirmed: eliminating the dispatcher role and centralizing dispatch saves 61,000 dollars a year. Six more are in progress or planned — agency labour mix, running under the SCA hour allowance, load securement and decking, freight-handling equipment, accessorial capture and Toyota footage capture — and their dollar values and the F27 take-out target are being confirmed with Finance. Cargo claims for August 2026 were 13,432.53 dollars.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Accessorial capture protects revenue. F27 to date we have billed about 759 thousand dollars in accessorials, and about 238 thousand in September to the 29th. Against the report target per unit, 7 of 13 codes are at or above target in September and 6 are below, about 9 thousand dollars under target. Tailgate and residential delivery are three quarters of accessorial dollars and both are slightly under target, so the focus is making sure every one is rated before invoicing, getting detention billed, and reviewing after-hours deliveries.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national SCA report updated September 26, Mississauga is at 6.60 SCA dock cost per PRO against a 6.85 target: 96.3 percent of target, 25 cents under per PRO. That puts us in the amber watch band, which starts above 95 percent. Across 26,053 freight bills month to date, that is roughly 6.5 thousand dollars below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the working-day allowance, we have used 91.1 percent of our SCA hours month to date: 3,999 hours against 4,390 allowable, about 391 hours or 13.1 thousand dollars under. The monthly target of 5,122 hours already has the 1,181-hour reduction built in, and at the current pace we would come in roughly 1,637 hours below last September, about 139 percent of that reduction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per PRO is reviewed every week against target, and shift start and end times are being aligned to P&amp;D activity. Our workforce mix is shifting toward D&amp;R employees: agency is 61.4 percent of dock hours this September against 70.5 percent last September, or 1.59 agency hours per D&amp;R hour against 2.39. On our example day, Wednesday September 9, dock headcount was 22 agency to 11 D&amp;R, a 2 to 1 ratio — 3 to 1 on AM, 1.4 to 1 on days, 2.3 to 1 on PM — and dock hours were 207.33 against a 208-hour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PPH is 3,327 for September month to date, essentially flat against F26, but 21.9 percent below the F27 goal of 4,258. The freight is lighter per unit, so the better signal is units per hour, which is up 26.7 percent on last year. Because the goal is weight-based, lighter freight holds PPH down even as units per hour 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Load factor is our biggest open opportunity: 36.4 percent of outbound loads so far in F27 are above 80 percent full, rising to 39.5 percent if we exclude Moncton. Moncton is understated because Toyota loads our trailer at Bowmanville and that footage is not being captured correctly; 20.5 percent of Moncton bills have no cube against 3 percent elsewhere, and the fix is under way. Our long western lanes load well, while Windsor, Quebec City and Dartmouth run light and need a consolidation and frequency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CICO, the SCA team has reviewed us and CICO is currently OK for our freight-bill volume, building size and operation. I completed the form for all admin roles and their duties. It is still under review, and any changes will come out of that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good and bad loads look like on our dock. The target loads use a deck beam or deck board to build a second tier and are strapped; the fix examples are loose freight on a diagonal and MAAX glass shower doors on improvised wooden A-frames or leaning in transit. We plan to add ANCRA knock-down pallet decks and divider deck-board kits, panel trucks and racks for windows, doors, panels and car parts, and load bars and straps on every mixed load, to lift load factor, reduce damages and claims, and make unloading safer. For example, MAAX shower doors and bases and 75-inch TVs currently ride standing loose, as on ; slotting them into panel carts, the yellow cart by hand or the grey cage by forklift, secures them in transit, speeds loading and unloading, and cuts breakage.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collapsible load tables. Extended, they build a second tier in the trailer; folded, a forklift lifts them; when empty they stack in a small footprint. Today our load tables are big fixed metal tables that take up dock space, and most terminals are much smaller than ours and could not store them. The benefit goes beyond Mississauga: we send outbound trailers to terminals across the country, and well-loaded trailers with collapsible tables and bin carts are faster and safer for them to unload and stage for final mile or transfer, and the same applies to inbound trailers to us. Less handling, fewer damages and claims, and safer unloading.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Mississauga is moving to a new building, expected before the end of calendar 2026. Because of that, we are not planning any major repair spend at the current site; our focus is a clean transition for the team and our customers.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in F26 we set out to take 386,589 dollars out against the F25 baseline and identified 427,001 dollars of savings, 110 percent of the requirement; the F26 actuals will be added once the year is closed. In F27 September we are under our SCA hour allowance and cost per unit is down on last year, and our focus is closing the gap to the PPH goal.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slideLayout" Target="../slideLayouts/slideLayout1.xml"/><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6-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image" Target="../media/image-15-1.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jpg"/><Relationship Id="rId3" Type="http://schemas.openxmlformats.org/officeDocument/2006/relationships/image" Target="../media/image-18-3.jpg"/><Relationship Id="rId4" Type="http://schemas.openxmlformats.org/officeDocument/2006/relationships/image" Target="../media/image-18-4.jpg"/><Relationship Id="rId5" Type="http://schemas.openxmlformats.org/officeDocument/2006/relationships/image" Target="../media/image-18-5.jp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jpg"/><Relationship Id="rId3" Type="http://schemas.openxmlformats.org/officeDocument/2006/relationships/image" Target="../media/image-19-3.jp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claude-0/-home-user-mississauga-terminal-f26-cost-transformation-dashboard/6b011158-ae27-5f52-8fca-d7600eb7a2cd/scratchpad/deck/dr_title.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AGENDA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What we will cover today</a:t>
            </a:r>
            <a:endParaRPr lang="en-US" sz="3000" dirty="0"/>
          </a:p>
        </p:txBody>
      </p:sp>
      <p:sp>
        <p:nvSpPr>
          <p:cNvPr id="4" name="Shape 2"/>
          <p:cNvSpPr/>
          <p:nvPr/>
        </p:nvSpPr>
        <p:spPr>
          <a:xfrm>
            <a:off x="548640" y="1463040"/>
            <a:ext cx="566928" cy="566928"/>
          </a:xfrm>
          <a:prstGeom prst="ellipse">
            <a:avLst/>
          </a:prstGeom>
          <a:solidFill>
            <a:srgbClr val="EA580C"/>
          </a:solidFill>
          <a:ln w="12700">
            <a:solidFill>
              <a:srgbClr val="EA580C"/>
            </a:solidFill>
            <a:prstDash val="solid"/>
          </a:ln>
        </p:spPr>
      </p:sp>
      <p:sp>
        <p:nvSpPr>
          <p:cNvPr id="5" name="Text 3"/>
          <p:cNvSpPr txBox="1"/>
          <p:nvPr/>
        </p:nvSpPr>
        <p:spPr>
          <a:xfrm>
            <a:off x="548640" y="146304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6" name="Shape 4"/>
          <p:cNvSpPr/>
          <p:nvPr/>
        </p:nvSpPr>
        <p:spPr>
          <a:xfrm>
            <a:off x="1280160" y="1463040"/>
            <a:ext cx="566928" cy="566928"/>
          </a:xfrm>
          <a:prstGeom prst="ellipse">
            <a:avLst/>
          </a:prstGeom>
          <a:solidFill>
            <a:srgbClr val="FFEDD5"/>
          </a:solidFill>
          <a:ln w="12700">
            <a:solidFill>
              <a:srgbClr val="FFEDD5"/>
            </a:solidFill>
            <a:prstDash val="solid"/>
          </a:ln>
        </p:spPr>
      </p:sp>
      <p:pic>
        <p:nvPicPr>
          <p:cNvPr id="7" name="Image 0" descr="preencoded.png">    </p:cNvPr>
          <p:cNvPicPr>
            <a:picLocks noChangeAspect="1"/>
          </p:cNvPicPr>
          <p:nvPr/>
        </p:nvPicPr>
        <p:blipFill>
          <a:blip r:embed="rId1"/>
          <a:stretch>
            <a:fillRect/>
          </a:stretch>
        </p:blipFill>
        <p:spPr>
          <a:xfrm>
            <a:off x="1421892" y="1604772"/>
            <a:ext cx="283464" cy="283464"/>
          </a:xfrm>
          <a:prstGeom prst="rect">
            <a:avLst/>
          </a:prstGeom>
        </p:spPr>
      </p:pic>
      <p:sp>
        <p:nvSpPr>
          <p:cNvPr id="8" name="Text 5"/>
          <p:cNvSpPr txBox="1"/>
          <p:nvPr/>
        </p:nvSpPr>
        <p:spPr>
          <a:xfrm>
            <a:off x="2103120" y="142646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Safety</a:t>
            </a:r>
            <a:endParaRPr lang="en-US" sz="1900" dirty="0"/>
          </a:p>
        </p:txBody>
      </p:sp>
      <p:sp>
        <p:nvSpPr>
          <p:cNvPr id="9" name="Text 6"/>
          <p:cNvSpPr txBox="1"/>
          <p:nvPr/>
        </p:nvSpPr>
        <p:spPr>
          <a:xfrm>
            <a:off x="2103120" y="1773936"/>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TRIR, shift practices, safety initiatives</a:t>
            </a:r>
            <a:endParaRPr lang="en-US" sz="1300" dirty="0"/>
          </a:p>
        </p:txBody>
      </p:sp>
      <p:sp>
        <p:nvSpPr>
          <p:cNvPr id="10" name="Shape 7"/>
          <p:cNvSpPr/>
          <p:nvPr/>
        </p:nvSpPr>
        <p:spPr>
          <a:xfrm>
            <a:off x="548640" y="2139696"/>
            <a:ext cx="566928" cy="566928"/>
          </a:xfrm>
          <a:prstGeom prst="ellipse">
            <a:avLst/>
          </a:prstGeom>
          <a:solidFill>
            <a:srgbClr val="EA580C"/>
          </a:solidFill>
          <a:ln w="12700">
            <a:solidFill>
              <a:srgbClr val="EA580C"/>
            </a:solidFill>
            <a:prstDash val="solid"/>
          </a:ln>
        </p:spPr>
      </p:sp>
      <p:sp>
        <p:nvSpPr>
          <p:cNvPr id="11" name="Text 8"/>
          <p:cNvSpPr txBox="1"/>
          <p:nvPr/>
        </p:nvSpPr>
        <p:spPr>
          <a:xfrm>
            <a:off x="548640" y="2139696"/>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Shape 9"/>
          <p:cNvSpPr/>
          <p:nvPr/>
        </p:nvSpPr>
        <p:spPr>
          <a:xfrm>
            <a:off x="1280160" y="2139696"/>
            <a:ext cx="566928" cy="566928"/>
          </a:xfrm>
          <a:prstGeom prst="ellipse">
            <a:avLst/>
          </a:prstGeom>
          <a:solidFill>
            <a:srgbClr val="FFEDD5"/>
          </a:solidFill>
          <a:ln w="12700">
            <a:solidFill>
              <a:srgbClr val="FFEDD5"/>
            </a:solidFill>
            <a:prstDash val="solid"/>
          </a:ln>
        </p:spPr>
      </p:sp>
      <p:pic>
        <p:nvPicPr>
          <p:cNvPr id="13" name="Image 1" descr="preencoded.png">    </p:cNvPr>
          <p:cNvPicPr>
            <a:picLocks noChangeAspect="1"/>
          </p:cNvPicPr>
          <p:nvPr/>
        </p:nvPicPr>
        <p:blipFill>
          <a:blip r:embed="rId2"/>
          <a:stretch>
            <a:fillRect/>
          </a:stretch>
        </p:blipFill>
        <p:spPr>
          <a:xfrm>
            <a:off x="1421892" y="2281428"/>
            <a:ext cx="283464" cy="283464"/>
          </a:xfrm>
          <a:prstGeom prst="rect">
            <a:avLst/>
          </a:prstGeom>
        </p:spPr>
      </p:pic>
      <p:sp>
        <p:nvSpPr>
          <p:cNvPr id="14" name="Text 10"/>
          <p:cNvSpPr txBox="1"/>
          <p:nvPr/>
        </p:nvSpPr>
        <p:spPr>
          <a:xfrm>
            <a:off x="2103120" y="2103120"/>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Service</a:t>
            </a:r>
            <a:endParaRPr lang="en-US" sz="1900" dirty="0"/>
          </a:p>
        </p:txBody>
      </p:sp>
      <p:sp>
        <p:nvSpPr>
          <p:cNvPr id="15" name="Text 11"/>
          <p:cNvSpPr txBox="1"/>
          <p:nvPr/>
        </p:nvSpPr>
        <p:spPr>
          <a:xfrm>
            <a:off x="2103120" y="2450592"/>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On-time service (OTS), service failures, missed pickups</a:t>
            </a:r>
            <a:endParaRPr lang="en-US" sz="1300" dirty="0"/>
          </a:p>
        </p:txBody>
      </p:sp>
      <p:sp>
        <p:nvSpPr>
          <p:cNvPr id="16" name="Shape 12"/>
          <p:cNvSpPr/>
          <p:nvPr/>
        </p:nvSpPr>
        <p:spPr>
          <a:xfrm>
            <a:off x="548640" y="2816352"/>
            <a:ext cx="566928" cy="566928"/>
          </a:xfrm>
          <a:prstGeom prst="ellipse">
            <a:avLst/>
          </a:prstGeom>
          <a:solidFill>
            <a:srgbClr val="EA580C"/>
          </a:solidFill>
          <a:ln w="12700">
            <a:solidFill>
              <a:srgbClr val="EA580C"/>
            </a:solidFill>
            <a:prstDash val="solid"/>
          </a:ln>
        </p:spPr>
      </p:sp>
      <p:sp>
        <p:nvSpPr>
          <p:cNvPr id="17" name="Text 13"/>
          <p:cNvSpPr txBox="1"/>
          <p:nvPr/>
        </p:nvSpPr>
        <p:spPr>
          <a:xfrm>
            <a:off x="548640" y="2816352"/>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8" name="Shape 14"/>
          <p:cNvSpPr/>
          <p:nvPr/>
        </p:nvSpPr>
        <p:spPr>
          <a:xfrm>
            <a:off x="1280160" y="2816352"/>
            <a:ext cx="566928" cy="566928"/>
          </a:xfrm>
          <a:prstGeom prst="ellipse">
            <a:avLst/>
          </a:prstGeom>
          <a:solidFill>
            <a:srgbClr val="FFEDD5"/>
          </a:solidFill>
          <a:ln w="12700">
            <a:solidFill>
              <a:srgbClr val="FFEDD5"/>
            </a:solidFill>
            <a:prstDash val="solid"/>
          </a:ln>
        </p:spPr>
      </p:sp>
      <p:pic>
        <p:nvPicPr>
          <p:cNvPr id="19" name="Image 2" descr="preencoded.png">    </p:cNvPr>
          <p:cNvPicPr>
            <a:picLocks noChangeAspect="1"/>
          </p:cNvPicPr>
          <p:nvPr/>
        </p:nvPicPr>
        <p:blipFill>
          <a:blip r:embed="rId3"/>
          <a:stretch>
            <a:fillRect/>
          </a:stretch>
        </p:blipFill>
        <p:spPr>
          <a:xfrm>
            <a:off x="1421892" y="2958084"/>
            <a:ext cx="283464" cy="283464"/>
          </a:xfrm>
          <a:prstGeom prst="rect">
            <a:avLst/>
          </a:prstGeom>
        </p:spPr>
      </p:pic>
      <p:sp>
        <p:nvSpPr>
          <p:cNvPr id="20" name="Text 15"/>
          <p:cNvSpPr txBox="1"/>
          <p:nvPr/>
        </p:nvSpPr>
        <p:spPr>
          <a:xfrm>
            <a:off x="2103120" y="2779776"/>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F27 savings outlook &amp; SCA</a:t>
            </a:r>
            <a:endParaRPr lang="en-US" sz="1900" dirty="0"/>
          </a:p>
        </p:txBody>
      </p:sp>
      <p:sp>
        <p:nvSpPr>
          <p:cNvPr id="21" name="Text 16"/>
          <p:cNvSpPr txBox="1"/>
          <p:nvPr/>
        </p:nvSpPr>
        <p:spPr>
          <a:xfrm>
            <a:off x="2103120" y="3127248"/>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Savings outlook &amp; tracker, accessorials, cost per PRO, hours, shifts</a:t>
            </a:r>
            <a:endParaRPr lang="en-US" sz="1300" dirty="0"/>
          </a:p>
        </p:txBody>
      </p:sp>
      <p:sp>
        <p:nvSpPr>
          <p:cNvPr id="22" name="Shape 17"/>
          <p:cNvSpPr/>
          <p:nvPr/>
        </p:nvSpPr>
        <p:spPr>
          <a:xfrm>
            <a:off x="548640" y="3493008"/>
            <a:ext cx="566928" cy="566928"/>
          </a:xfrm>
          <a:prstGeom prst="ellipse">
            <a:avLst/>
          </a:prstGeom>
          <a:solidFill>
            <a:srgbClr val="EA580C"/>
          </a:solidFill>
          <a:ln w="12700">
            <a:solidFill>
              <a:srgbClr val="EA580C"/>
            </a:solidFill>
            <a:prstDash val="solid"/>
          </a:ln>
        </p:spPr>
      </p:sp>
      <p:sp>
        <p:nvSpPr>
          <p:cNvPr id="23" name="Text 18"/>
          <p:cNvSpPr txBox="1"/>
          <p:nvPr/>
        </p:nvSpPr>
        <p:spPr>
          <a:xfrm>
            <a:off x="548640" y="3493008"/>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hape 19"/>
          <p:cNvSpPr/>
          <p:nvPr/>
        </p:nvSpPr>
        <p:spPr>
          <a:xfrm>
            <a:off x="1280160" y="3493008"/>
            <a:ext cx="566928" cy="566928"/>
          </a:xfrm>
          <a:prstGeom prst="ellipse">
            <a:avLst/>
          </a:prstGeom>
          <a:solidFill>
            <a:srgbClr val="FFEDD5"/>
          </a:solidFill>
          <a:ln w="12700">
            <a:solidFill>
              <a:srgbClr val="FFEDD5"/>
            </a:solidFill>
            <a:prstDash val="solid"/>
          </a:ln>
        </p:spPr>
      </p:sp>
      <p:pic>
        <p:nvPicPr>
          <p:cNvPr id="25" name="Image 3" descr="preencoded.png">    </p:cNvPr>
          <p:cNvPicPr>
            <a:picLocks noChangeAspect="1"/>
          </p:cNvPicPr>
          <p:nvPr/>
        </p:nvPicPr>
        <p:blipFill>
          <a:blip r:embed="rId4"/>
          <a:stretch>
            <a:fillRect/>
          </a:stretch>
        </p:blipFill>
        <p:spPr>
          <a:xfrm>
            <a:off x="1421892" y="3634740"/>
            <a:ext cx="283464" cy="283464"/>
          </a:xfrm>
          <a:prstGeom prst="rect">
            <a:avLst/>
          </a:prstGeom>
        </p:spPr>
      </p:pic>
      <p:sp>
        <p:nvSpPr>
          <p:cNvPr id="26" name="Text 20"/>
          <p:cNvSpPr txBox="1"/>
          <p:nvPr/>
        </p:nvSpPr>
        <p:spPr>
          <a:xfrm>
            <a:off x="2103120" y="3456432"/>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Productivity (PPH, load factor, CICO)</a:t>
            </a:r>
            <a:endParaRPr lang="en-US" sz="1900" dirty="0"/>
          </a:p>
        </p:txBody>
      </p:sp>
      <p:sp>
        <p:nvSpPr>
          <p:cNvPr id="27" name="Text 21"/>
          <p:cNvSpPr txBox="1"/>
          <p:nvPr/>
        </p:nvSpPr>
        <p:spPr>
          <a:xfrm>
            <a:off x="2103120" y="3803904"/>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PPH &amp; units/hr, load factor, CICO</a:t>
            </a:r>
            <a:endParaRPr lang="en-US" sz="1300" dirty="0"/>
          </a:p>
        </p:txBody>
      </p:sp>
      <p:sp>
        <p:nvSpPr>
          <p:cNvPr id="28" name="Shape 22"/>
          <p:cNvSpPr/>
          <p:nvPr/>
        </p:nvSpPr>
        <p:spPr>
          <a:xfrm>
            <a:off x="548640" y="4169664"/>
            <a:ext cx="566928" cy="566928"/>
          </a:xfrm>
          <a:prstGeom prst="ellipse">
            <a:avLst/>
          </a:prstGeom>
          <a:solidFill>
            <a:srgbClr val="EA580C"/>
          </a:solidFill>
          <a:ln w="12700">
            <a:solidFill>
              <a:srgbClr val="EA580C"/>
            </a:solidFill>
            <a:prstDash val="solid"/>
          </a:ln>
        </p:spPr>
      </p:sp>
      <p:sp>
        <p:nvSpPr>
          <p:cNvPr id="29" name="Text 23"/>
          <p:cNvSpPr txBox="1"/>
          <p:nvPr/>
        </p:nvSpPr>
        <p:spPr>
          <a:xfrm>
            <a:off x="548640" y="4169664"/>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30" name="Shape 24"/>
          <p:cNvSpPr/>
          <p:nvPr/>
        </p:nvSpPr>
        <p:spPr>
          <a:xfrm>
            <a:off x="1280160" y="4169664"/>
            <a:ext cx="566928" cy="566928"/>
          </a:xfrm>
          <a:prstGeom prst="ellipse">
            <a:avLst/>
          </a:prstGeom>
          <a:solidFill>
            <a:srgbClr val="FFEDD5"/>
          </a:solidFill>
          <a:ln w="12700">
            <a:solidFill>
              <a:srgbClr val="FFEDD5"/>
            </a:solidFill>
            <a:prstDash val="solid"/>
          </a:ln>
        </p:spPr>
      </p:sp>
      <p:pic>
        <p:nvPicPr>
          <p:cNvPr id="31" name="Image 4" descr="preencoded.png">    </p:cNvPr>
          <p:cNvPicPr>
            <a:picLocks noChangeAspect="1"/>
          </p:cNvPicPr>
          <p:nvPr/>
        </p:nvPicPr>
        <p:blipFill>
          <a:blip r:embed="rId5"/>
          <a:stretch>
            <a:fillRect/>
          </a:stretch>
        </p:blipFill>
        <p:spPr>
          <a:xfrm>
            <a:off x="1421892" y="4311396"/>
            <a:ext cx="283464" cy="283464"/>
          </a:xfrm>
          <a:prstGeom prst="rect">
            <a:avLst/>
          </a:prstGeom>
        </p:spPr>
      </p:pic>
      <p:sp>
        <p:nvSpPr>
          <p:cNvPr id="32" name="Text 25"/>
          <p:cNvSpPr txBox="1"/>
          <p:nvPr/>
        </p:nvSpPr>
        <p:spPr>
          <a:xfrm>
            <a:off x="2103120" y="4133088"/>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Load quality &amp; equipment</a:t>
            </a:r>
            <a:endParaRPr lang="en-US" sz="1900" dirty="0"/>
          </a:p>
        </p:txBody>
      </p:sp>
      <p:sp>
        <p:nvSpPr>
          <p:cNvPr id="33" name="Text 26"/>
          <p:cNvSpPr txBox="1"/>
          <p:nvPr/>
        </p:nvSpPr>
        <p:spPr>
          <a:xfrm>
            <a:off x="2103120" y="4480560"/>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Load securement &amp; decking, collapsible load tables</a:t>
            </a:r>
            <a:endParaRPr lang="en-US" sz="1300" dirty="0"/>
          </a:p>
        </p:txBody>
      </p:sp>
      <p:sp>
        <p:nvSpPr>
          <p:cNvPr id="34" name="Shape 27"/>
          <p:cNvSpPr/>
          <p:nvPr/>
        </p:nvSpPr>
        <p:spPr>
          <a:xfrm>
            <a:off x="548640" y="4846320"/>
            <a:ext cx="566928" cy="566928"/>
          </a:xfrm>
          <a:prstGeom prst="ellipse">
            <a:avLst/>
          </a:prstGeom>
          <a:solidFill>
            <a:srgbClr val="EA580C"/>
          </a:solidFill>
          <a:ln w="12700">
            <a:solidFill>
              <a:srgbClr val="EA580C"/>
            </a:solidFill>
            <a:prstDash val="solid"/>
          </a:ln>
        </p:spPr>
      </p:sp>
      <p:sp>
        <p:nvSpPr>
          <p:cNvPr id="35" name="Text 28"/>
          <p:cNvSpPr txBox="1"/>
          <p:nvPr/>
        </p:nvSpPr>
        <p:spPr>
          <a:xfrm>
            <a:off x="548640" y="484632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36" name="Shape 29"/>
          <p:cNvSpPr/>
          <p:nvPr/>
        </p:nvSpPr>
        <p:spPr>
          <a:xfrm>
            <a:off x="1280160" y="4846320"/>
            <a:ext cx="566928" cy="566928"/>
          </a:xfrm>
          <a:prstGeom prst="ellipse">
            <a:avLst/>
          </a:prstGeom>
          <a:solidFill>
            <a:srgbClr val="FFEDD5"/>
          </a:solidFill>
          <a:ln w="12700">
            <a:solidFill>
              <a:srgbClr val="FFEDD5"/>
            </a:solidFill>
            <a:prstDash val="solid"/>
          </a:ln>
        </p:spPr>
      </p:sp>
      <p:pic>
        <p:nvPicPr>
          <p:cNvPr id="37" name="Image 5" descr="preencoded.png">    </p:cNvPr>
          <p:cNvPicPr>
            <a:picLocks noChangeAspect="1"/>
          </p:cNvPicPr>
          <p:nvPr/>
        </p:nvPicPr>
        <p:blipFill>
          <a:blip r:embed="rId6"/>
          <a:stretch>
            <a:fillRect/>
          </a:stretch>
        </p:blipFill>
        <p:spPr>
          <a:xfrm>
            <a:off x="1421892" y="4988052"/>
            <a:ext cx="283464" cy="283464"/>
          </a:xfrm>
          <a:prstGeom prst="rect">
            <a:avLst/>
          </a:prstGeom>
        </p:spPr>
      </p:pic>
      <p:sp>
        <p:nvSpPr>
          <p:cNvPr id="38" name="Text 30"/>
          <p:cNvSpPr txBox="1"/>
          <p:nvPr/>
        </p:nvSpPr>
        <p:spPr>
          <a:xfrm>
            <a:off x="2103120" y="480974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Physical terminal</a:t>
            </a:r>
            <a:endParaRPr lang="en-US" sz="1900" dirty="0"/>
          </a:p>
        </p:txBody>
      </p:sp>
      <p:sp>
        <p:nvSpPr>
          <p:cNvPr id="39" name="Text 31"/>
          <p:cNvSpPr txBox="1"/>
          <p:nvPr/>
        </p:nvSpPr>
        <p:spPr>
          <a:xfrm>
            <a:off x="2103120" y="5157216"/>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New building — expected before end of calendar 2026</a:t>
            </a:r>
            <a:endParaRPr lang="en-US" sz="1300" dirty="0"/>
          </a:p>
        </p:txBody>
      </p:sp>
      <p:sp>
        <p:nvSpPr>
          <p:cNvPr id="40" name="Shape 32"/>
          <p:cNvSpPr/>
          <p:nvPr/>
        </p:nvSpPr>
        <p:spPr>
          <a:xfrm>
            <a:off x="548640" y="5522976"/>
            <a:ext cx="566928" cy="566928"/>
          </a:xfrm>
          <a:prstGeom prst="ellipse">
            <a:avLst/>
          </a:prstGeom>
          <a:solidFill>
            <a:srgbClr val="EA580C"/>
          </a:solidFill>
          <a:ln w="12700">
            <a:solidFill>
              <a:srgbClr val="EA580C"/>
            </a:solidFill>
            <a:prstDash val="solid"/>
          </a:ln>
        </p:spPr>
      </p:sp>
      <p:sp>
        <p:nvSpPr>
          <p:cNvPr id="41" name="Text 33"/>
          <p:cNvSpPr txBox="1"/>
          <p:nvPr/>
        </p:nvSpPr>
        <p:spPr>
          <a:xfrm>
            <a:off x="548640" y="5522976"/>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7</a:t>
            </a:r>
            <a:endParaRPr lang="en-US" sz="1800" dirty="0"/>
          </a:p>
        </p:txBody>
      </p:sp>
      <p:sp>
        <p:nvSpPr>
          <p:cNvPr id="42" name="Shape 34"/>
          <p:cNvSpPr/>
          <p:nvPr/>
        </p:nvSpPr>
        <p:spPr>
          <a:xfrm>
            <a:off x="1280160" y="5522976"/>
            <a:ext cx="566928" cy="566928"/>
          </a:xfrm>
          <a:prstGeom prst="ellipse">
            <a:avLst/>
          </a:prstGeom>
          <a:solidFill>
            <a:srgbClr val="FFEDD5"/>
          </a:solidFill>
          <a:ln w="12700">
            <a:solidFill>
              <a:srgbClr val="FFEDD5"/>
            </a:solidFill>
            <a:prstDash val="solid"/>
          </a:ln>
        </p:spPr>
      </p:sp>
      <p:pic>
        <p:nvPicPr>
          <p:cNvPr id="43" name="Image 6" descr="preencoded.png">    </p:cNvPr>
          <p:cNvPicPr>
            <a:picLocks noChangeAspect="1"/>
          </p:cNvPicPr>
          <p:nvPr/>
        </p:nvPicPr>
        <p:blipFill>
          <a:blip r:embed="rId7"/>
          <a:stretch>
            <a:fillRect/>
          </a:stretch>
        </p:blipFill>
        <p:spPr>
          <a:xfrm>
            <a:off x="1421892" y="5664708"/>
            <a:ext cx="283464" cy="283464"/>
          </a:xfrm>
          <a:prstGeom prst="rect">
            <a:avLst/>
          </a:prstGeom>
        </p:spPr>
      </p:pic>
      <p:sp>
        <p:nvSpPr>
          <p:cNvPr id="44" name="Text 35"/>
          <p:cNvSpPr txBox="1"/>
          <p:nvPr/>
        </p:nvSpPr>
        <p:spPr>
          <a:xfrm>
            <a:off x="2103120" y="5486400"/>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Recap &amp; questions</a:t>
            </a:r>
            <a:endParaRPr lang="en-US" sz="1900" dirty="0"/>
          </a:p>
        </p:txBody>
      </p:sp>
      <p:sp>
        <p:nvSpPr>
          <p:cNvPr id="45" name="Text 36"/>
          <p:cNvSpPr txBox="1"/>
          <p:nvPr/>
        </p:nvSpPr>
        <p:spPr>
          <a:xfrm>
            <a:off x="2103120" y="5833872"/>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F27 so far — full detail is on the website</a:t>
            </a:r>
            <a:endParaRPr lang="en-US" sz="1300" dirty="0"/>
          </a:p>
        </p:txBody>
      </p:sp>
      <p:sp>
        <p:nvSpPr>
          <p:cNvPr id="46" name="Shape 37"/>
          <p:cNvSpPr/>
          <p:nvPr/>
        </p:nvSpPr>
        <p:spPr>
          <a:xfrm>
            <a:off x="8001000" y="1508760"/>
            <a:ext cx="3639312" cy="4206240"/>
          </a:xfrm>
          <a:prstGeom prst="roundRect">
            <a:avLst>
              <a:gd name="adj" fmla="val 2010"/>
            </a:avLst>
          </a:prstGeom>
          <a:solidFill>
            <a:srgbClr val="F3F4F6"/>
          </a:solidFill>
          <a:ln w="12700">
            <a:solidFill>
              <a:srgbClr val="F3F4F6"/>
            </a:solidFill>
            <a:prstDash val="solid"/>
          </a:ln>
        </p:spPr>
      </p:sp>
      <p:sp>
        <p:nvSpPr>
          <p:cNvPr id="47" name="Shape 38"/>
          <p:cNvSpPr/>
          <p:nvPr/>
        </p:nvSpPr>
        <p:spPr>
          <a:xfrm>
            <a:off x="8275320" y="1783080"/>
            <a:ext cx="502920" cy="502920"/>
          </a:xfrm>
          <a:prstGeom prst="ellipse">
            <a:avLst/>
          </a:prstGeom>
          <a:solidFill>
            <a:srgbClr val="FFEDD5"/>
          </a:solidFill>
          <a:ln w="12700">
            <a:solidFill>
              <a:srgbClr val="FFEDD5"/>
            </a:solidFill>
            <a:prstDash val="solid"/>
          </a:ln>
        </p:spPr>
      </p:sp>
      <p:pic>
        <p:nvPicPr>
          <p:cNvPr id="48" name="Image 7" descr="preencoded.png">    </p:cNvPr>
          <p:cNvPicPr>
            <a:picLocks noChangeAspect="1"/>
          </p:cNvPicPr>
          <p:nvPr/>
        </p:nvPicPr>
        <p:blipFill>
          <a:blip r:embed="rId8"/>
          <a:stretch>
            <a:fillRect/>
          </a:stretch>
        </p:blipFill>
        <p:spPr>
          <a:xfrm>
            <a:off x="8401050" y="1908810"/>
            <a:ext cx="251460" cy="251460"/>
          </a:xfrm>
          <a:prstGeom prst="rect">
            <a:avLst/>
          </a:prstGeom>
        </p:spPr>
      </p:pic>
      <p:sp>
        <p:nvSpPr>
          <p:cNvPr id="49" name="Text 39"/>
          <p:cNvSpPr txBox="1"/>
          <p:nvPr/>
        </p:nvSpPr>
        <p:spPr>
          <a:xfrm>
            <a:off x="8915400" y="1847088"/>
            <a:ext cx="2560320"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Sources &amp; conventions</a:t>
            </a:r>
            <a:endParaRPr lang="en-US" sz="1600" dirty="0"/>
          </a:p>
        </p:txBody>
      </p:sp>
      <p:sp>
        <p:nvSpPr>
          <p:cNvPr id="50" name="Text 40"/>
          <p:cNvSpPr txBox="1"/>
          <p:nvPr/>
        </p:nvSpPr>
        <p:spPr>
          <a:xfrm>
            <a:off x="8275320" y="2514600"/>
            <a:ext cx="3154680" cy="301752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SCA: national Cost-per-PRO report and SCA hours report — Mississauga, updated Sep 26, 2026.</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Productivity: terminal productivity dashboard, updated for Sat, Sep 26, 2026.</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F26 recap: plan set July 2025.</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Fiscal F27 = Jul 1, 2026 – Jun 30, 2027.</a:t>
            </a:r>
            <a:endParaRPr lang="en-US" sz="1250" dirty="0"/>
          </a:p>
          <a:p>
            <a:pPr marL="177800" indent="-177800">
              <a:buSzPct val="100000"/>
              <a:buChar char="•"/>
            </a:pPr>
            <a:r>
              <a:rPr lang="en-US" sz="1250" b="1" dirty="0">
                <a:solidFill>
                  <a:srgbClr val="D97706"/>
                </a:solidFill>
                <a:latin typeface="Calibri" pitchFamily="34" charset="0"/>
                <a:ea typeface="Calibri" pitchFamily="34" charset="-122"/>
                <a:cs typeface="Calibri" pitchFamily="34" charset="-120"/>
              </a:rPr>
              <a:t>TBC</a:t>
            </a:r>
            <a:pPr indent="0" marL="0">
              <a:buNone/>
            </a:pPr>
            <a:r>
              <a:rPr lang="en-US" sz="1250" dirty="0">
                <a:solidFill>
                  <a:srgbClr val="1F2937"/>
                </a:solidFill>
                <a:latin typeface="Calibri" pitchFamily="34" charset="0"/>
                <a:ea typeface="Calibri" pitchFamily="34" charset="-122"/>
                <a:cs typeface="Calibri" pitchFamily="34" charset="-120"/>
              </a:rPr>
              <a:t> = figure being confirmed.</a:t>
            </a:r>
            <a:endParaRPr lang="en-US" sz="1250" dirty="0"/>
          </a:p>
        </p:txBody>
      </p:sp>
      <p:sp>
        <p:nvSpPr>
          <p:cNvPr id="51" name="Text 4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52" name="Text 4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 / 21</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Safety — TRIR</a:t>
            </a:r>
            <a:endParaRPr lang="en-US" sz="3000" dirty="0"/>
          </a:p>
        </p:txBody>
      </p:sp>
      <p:sp>
        <p:nvSpPr>
          <p:cNvPr id="4" name="Shape 2"/>
          <p:cNvSpPr/>
          <p:nvPr/>
        </p:nvSpPr>
        <p:spPr>
          <a:xfrm>
            <a:off x="548640" y="1325880"/>
            <a:ext cx="2072030" cy="1188720"/>
          </a:xfrm>
          <a:prstGeom prst="roundRect">
            <a:avLst>
              <a:gd name="adj" fmla="val 6154"/>
            </a:avLst>
          </a:prstGeom>
          <a:solidFill>
            <a:srgbClr val="F3F4F6"/>
          </a:solidFill>
          <a:ln w="12700">
            <a:solidFill>
              <a:srgbClr val="F3F4F6"/>
            </a:solidFill>
            <a:prstDash val="solid"/>
          </a:ln>
        </p:spPr>
      </p:sp>
      <p:sp>
        <p:nvSpPr>
          <p:cNvPr id="5" name="Text 3"/>
          <p:cNvSpPr txBox="1"/>
          <p:nvPr/>
        </p:nvSpPr>
        <p:spPr>
          <a:xfrm>
            <a:off x="731520"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F27 YTD</a:t>
            </a:r>
            <a:endParaRPr lang="en-US" sz="950" dirty="0"/>
          </a:p>
        </p:txBody>
      </p:sp>
      <p:sp>
        <p:nvSpPr>
          <p:cNvPr id="6" name="Text 4"/>
          <p:cNvSpPr txBox="1"/>
          <p:nvPr/>
        </p:nvSpPr>
        <p:spPr>
          <a:xfrm>
            <a:off x="731520"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0.00</a:t>
            </a:r>
            <a:endParaRPr lang="en-US" sz="2800" dirty="0"/>
          </a:p>
        </p:txBody>
      </p:sp>
      <p:sp>
        <p:nvSpPr>
          <p:cNvPr id="7" name="Text 5"/>
          <p:cNvSpPr txBox="1"/>
          <p:nvPr/>
        </p:nvSpPr>
        <p:spPr>
          <a:xfrm>
            <a:off x="731520"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Jul–Aug 2026</a:t>
            </a:r>
            <a:endParaRPr lang="en-US" sz="1050" dirty="0"/>
          </a:p>
        </p:txBody>
      </p:sp>
      <p:sp>
        <p:nvSpPr>
          <p:cNvPr id="8" name="Shape 6"/>
          <p:cNvSpPr/>
          <p:nvPr/>
        </p:nvSpPr>
        <p:spPr>
          <a:xfrm>
            <a:off x="2803550" y="1325880"/>
            <a:ext cx="2072030" cy="1188720"/>
          </a:xfrm>
          <a:prstGeom prst="roundRect">
            <a:avLst>
              <a:gd name="adj" fmla="val 6154"/>
            </a:avLst>
          </a:prstGeom>
          <a:solidFill>
            <a:srgbClr val="F3F4F6"/>
          </a:solidFill>
          <a:ln w="12700">
            <a:solidFill>
              <a:srgbClr val="F3F4F6"/>
            </a:solidFill>
            <a:prstDash val="solid"/>
          </a:ln>
        </p:spPr>
      </p:sp>
      <p:sp>
        <p:nvSpPr>
          <p:cNvPr id="9" name="Text 7"/>
          <p:cNvSpPr txBox="1"/>
          <p:nvPr/>
        </p:nvSpPr>
        <p:spPr>
          <a:xfrm>
            <a:off x="2986430"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F26</a:t>
            </a:r>
            <a:endParaRPr lang="en-US" sz="950" dirty="0"/>
          </a:p>
        </p:txBody>
      </p:sp>
      <p:sp>
        <p:nvSpPr>
          <p:cNvPr id="10" name="Text 8"/>
          <p:cNvSpPr txBox="1"/>
          <p:nvPr/>
        </p:nvSpPr>
        <p:spPr>
          <a:xfrm>
            <a:off x="2986430" y="1737360"/>
            <a:ext cx="1706270" cy="3200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1.21</a:t>
            </a:r>
            <a:endParaRPr lang="en-US" sz="2800" dirty="0"/>
          </a:p>
        </p:txBody>
      </p:sp>
      <p:sp>
        <p:nvSpPr>
          <p:cNvPr id="11" name="Text 9"/>
          <p:cNvSpPr txBox="1"/>
          <p:nvPr/>
        </p:nvSpPr>
        <p:spPr>
          <a:xfrm>
            <a:off x="2986430"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Full year</a:t>
            </a:r>
            <a:endParaRPr lang="en-US" sz="1050" dirty="0"/>
          </a:p>
        </p:txBody>
      </p:sp>
      <p:sp>
        <p:nvSpPr>
          <p:cNvPr id="12" name="Shape 10"/>
          <p:cNvSpPr/>
          <p:nvPr/>
        </p:nvSpPr>
        <p:spPr>
          <a:xfrm>
            <a:off x="5058461" y="1325880"/>
            <a:ext cx="2072030" cy="1188720"/>
          </a:xfrm>
          <a:prstGeom prst="roundRect">
            <a:avLst>
              <a:gd name="adj" fmla="val 6154"/>
            </a:avLst>
          </a:prstGeom>
          <a:solidFill>
            <a:srgbClr val="F3F4F6"/>
          </a:solidFill>
          <a:ln w="12700">
            <a:solidFill>
              <a:srgbClr val="F3F4F6"/>
            </a:solidFill>
            <a:prstDash val="solid"/>
          </a:ln>
        </p:spPr>
      </p:sp>
      <p:sp>
        <p:nvSpPr>
          <p:cNvPr id="13" name="Text 11"/>
          <p:cNvSpPr txBox="1"/>
          <p:nvPr/>
        </p:nvSpPr>
        <p:spPr>
          <a:xfrm>
            <a:off x="5241341"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12-month avg</a:t>
            </a:r>
            <a:endParaRPr lang="en-US" sz="950" dirty="0"/>
          </a:p>
        </p:txBody>
      </p:sp>
      <p:sp>
        <p:nvSpPr>
          <p:cNvPr id="14" name="Text 12"/>
          <p:cNvSpPr txBox="1"/>
          <p:nvPr/>
        </p:nvSpPr>
        <p:spPr>
          <a:xfrm>
            <a:off x="5241341" y="1737360"/>
            <a:ext cx="1706270" cy="3200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1.21</a:t>
            </a:r>
            <a:endParaRPr lang="en-US" sz="2800" dirty="0"/>
          </a:p>
        </p:txBody>
      </p:sp>
      <p:sp>
        <p:nvSpPr>
          <p:cNvPr id="15" name="Text 13"/>
          <p:cNvSpPr txBox="1"/>
          <p:nvPr/>
        </p:nvSpPr>
        <p:spPr>
          <a:xfrm>
            <a:off x="5241341"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Rolling 12 months</a:t>
            </a:r>
            <a:endParaRPr lang="en-US" sz="1050" dirty="0"/>
          </a:p>
        </p:txBody>
      </p:sp>
      <p:sp>
        <p:nvSpPr>
          <p:cNvPr id="16" name="Shape 14"/>
          <p:cNvSpPr/>
          <p:nvPr/>
        </p:nvSpPr>
        <p:spPr>
          <a:xfrm>
            <a:off x="7313371" y="1325880"/>
            <a:ext cx="2072030" cy="1188720"/>
          </a:xfrm>
          <a:prstGeom prst="roundRect">
            <a:avLst>
              <a:gd name="adj" fmla="val 6154"/>
            </a:avLst>
          </a:prstGeom>
          <a:solidFill>
            <a:srgbClr val="F3F4F6"/>
          </a:solidFill>
          <a:ln w="12700">
            <a:solidFill>
              <a:srgbClr val="F3F4F6"/>
            </a:solidFill>
            <a:prstDash val="solid"/>
          </a:ln>
        </p:spPr>
      </p:sp>
      <p:sp>
        <p:nvSpPr>
          <p:cNvPr id="17" name="Text 15"/>
          <p:cNvSpPr txBox="1"/>
          <p:nvPr/>
        </p:nvSpPr>
        <p:spPr>
          <a:xfrm>
            <a:off x="7496251"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Recordables · F27 YTD</a:t>
            </a:r>
            <a:endParaRPr lang="en-US" sz="950" dirty="0"/>
          </a:p>
        </p:txBody>
      </p:sp>
      <p:sp>
        <p:nvSpPr>
          <p:cNvPr id="18" name="Text 16"/>
          <p:cNvSpPr txBox="1"/>
          <p:nvPr/>
        </p:nvSpPr>
        <p:spPr>
          <a:xfrm>
            <a:off x="7496251"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0</a:t>
            </a:r>
            <a:endParaRPr lang="en-US" sz="2800" dirty="0"/>
          </a:p>
        </p:txBody>
      </p:sp>
      <p:sp>
        <p:nvSpPr>
          <p:cNvPr id="19" name="Text 17"/>
          <p:cNvSpPr txBox="1"/>
          <p:nvPr/>
        </p:nvSpPr>
        <p:spPr>
          <a:xfrm>
            <a:off x="7496251"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Employee + contractor</a:t>
            </a:r>
            <a:endParaRPr lang="en-US" sz="1050" dirty="0"/>
          </a:p>
        </p:txBody>
      </p:sp>
      <p:sp>
        <p:nvSpPr>
          <p:cNvPr id="20" name="Shape 18"/>
          <p:cNvSpPr/>
          <p:nvPr/>
        </p:nvSpPr>
        <p:spPr>
          <a:xfrm>
            <a:off x="9568282" y="1325880"/>
            <a:ext cx="2072030" cy="1188720"/>
          </a:xfrm>
          <a:prstGeom prst="roundRect">
            <a:avLst>
              <a:gd name="adj" fmla="val 6154"/>
            </a:avLst>
          </a:prstGeom>
          <a:solidFill>
            <a:srgbClr val="F3F4F6"/>
          </a:solidFill>
          <a:ln w="12700">
            <a:solidFill>
              <a:srgbClr val="F3F4F6"/>
            </a:solidFill>
            <a:prstDash val="solid"/>
          </a:ln>
        </p:spPr>
      </p:sp>
      <p:sp>
        <p:nvSpPr>
          <p:cNvPr id="21" name="Text 19"/>
          <p:cNvSpPr txBox="1"/>
          <p:nvPr/>
        </p:nvSpPr>
        <p:spPr>
          <a:xfrm>
            <a:off x="9751162"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Days since last recordable</a:t>
            </a:r>
            <a:endParaRPr lang="en-US" sz="950" dirty="0"/>
          </a:p>
        </p:txBody>
      </p:sp>
      <p:sp>
        <p:nvSpPr>
          <p:cNvPr id="22" name="Text 20"/>
          <p:cNvSpPr txBox="1"/>
          <p:nvPr/>
        </p:nvSpPr>
        <p:spPr>
          <a:xfrm>
            <a:off x="9751162"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384</a:t>
            </a:r>
            <a:endParaRPr lang="en-US" sz="2800" dirty="0"/>
          </a:p>
        </p:txBody>
      </p:sp>
      <p:sp>
        <p:nvSpPr>
          <p:cNvPr id="23" name="Text 21"/>
          <p:cNvSpPr txBox="1"/>
          <p:nvPr/>
        </p:nvSpPr>
        <p:spPr>
          <a:xfrm>
            <a:off x="9751162"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Last: Sep 10, 2025</a:t>
            </a:r>
            <a:endParaRPr lang="en-US" sz="1050" dirty="0"/>
          </a:p>
        </p:txBody>
      </p:sp>
      <p:sp>
        <p:nvSpPr>
          <p:cNvPr id="24" name="Shape 22"/>
          <p:cNvSpPr/>
          <p:nvPr/>
        </p:nvSpPr>
        <p:spPr>
          <a:xfrm>
            <a:off x="548640" y="2651760"/>
            <a:ext cx="11091672" cy="384048"/>
          </a:xfrm>
          <a:prstGeom prst="roundRect">
            <a:avLst>
              <a:gd name="adj" fmla="val 19048"/>
            </a:avLst>
          </a:prstGeom>
          <a:solidFill>
            <a:srgbClr val="D1FAE5"/>
          </a:solidFill>
          <a:ln w="12700">
            <a:solidFill>
              <a:srgbClr val="D1FAE5"/>
            </a:solidFill>
            <a:prstDash val="solid"/>
          </a:ln>
        </p:spPr>
      </p:sp>
      <p:sp>
        <p:nvSpPr>
          <p:cNvPr id="25" name="Text 23"/>
          <p:cNvSpPr txBox="1"/>
          <p:nvPr/>
        </p:nvSpPr>
        <p:spPr>
          <a:xfrm>
            <a:off x="731520" y="2651760"/>
            <a:ext cx="10789920" cy="384048"/>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0 recordables Jul–Aug; TRIR 0.00 vs 1.21 F26.   </a:t>
            </a:r>
            <a:pPr indent="0" marL="0">
              <a:buNone/>
            </a:pPr>
            <a:r>
              <a:rPr lang="en-US" sz="1300" i="1" dirty="0">
                <a:solidFill>
                  <a:srgbClr val="065F46"/>
                </a:solidFill>
                <a:latin typeface="Calibri" pitchFamily="34" charset="0"/>
                <a:ea typeface="Calibri" pitchFamily="34" charset="-122"/>
                <a:cs typeface="Calibri" pitchFamily="34" charset="-120"/>
              </a:rPr>
              <a:t>“If we prioritize safety, then service, productivity and cost all fall into place.”</a:t>
            </a:r>
            <a:endParaRPr lang="en-US" sz="1300" dirty="0"/>
          </a:p>
        </p:txBody>
      </p:sp>
      <p:sp>
        <p:nvSpPr>
          <p:cNvPr id="26" name="Text 24"/>
          <p:cNvSpPr txBox="1"/>
          <p:nvPr/>
        </p:nvSpPr>
        <p:spPr>
          <a:xfrm>
            <a:off x="548640" y="3127248"/>
            <a:ext cx="7315200" cy="3657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What we do every day</a:t>
            </a:r>
            <a:endParaRPr lang="en-US" sz="1800" dirty="0"/>
          </a:p>
        </p:txBody>
      </p:sp>
      <p:sp>
        <p:nvSpPr>
          <p:cNvPr id="27" name="Shape 25"/>
          <p:cNvSpPr/>
          <p:nvPr/>
        </p:nvSpPr>
        <p:spPr>
          <a:xfrm>
            <a:off x="548640" y="3575304"/>
            <a:ext cx="384048" cy="384048"/>
          </a:xfrm>
          <a:prstGeom prst="ellipse">
            <a:avLst/>
          </a:prstGeom>
          <a:solidFill>
            <a:srgbClr val="FFEDD5"/>
          </a:solidFill>
          <a:ln w="12700">
            <a:solidFill>
              <a:srgbClr val="FFEDD5"/>
            </a:solidFill>
            <a:prstDash val="solid"/>
          </a:ln>
        </p:spPr>
      </p:sp>
      <p:pic>
        <p:nvPicPr>
          <p:cNvPr id="28" name="Image 0" descr="preencoded.png">    </p:cNvPr>
          <p:cNvPicPr>
            <a:picLocks noChangeAspect="1"/>
          </p:cNvPicPr>
          <p:nvPr/>
        </p:nvPicPr>
        <p:blipFill>
          <a:blip r:embed="rId1"/>
          <a:stretch>
            <a:fillRect/>
          </a:stretch>
        </p:blipFill>
        <p:spPr>
          <a:xfrm>
            <a:off x="644652" y="3671316"/>
            <a:ext cx="192024" cy="192024"/>
          </a:xfrm>
          <a:prstGeom prst="rect">
            <a:avLst/>
          </a:prstGeom>
        </p:spPr>
      </p:pic>
      <p:sp>
        <p:nvSpPr>
          <p:cNvPr id="29" name="Text 26"/>
          <p:cNvSpPr txBox="1"/>
          <p:nvPr/>
        </p:nvSpPr>
        <p:spPr>
          <a:xfrm>
            <a:off x="1097280" y="3520440"/>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Tailgates with the team on safety topics and safe work practices, plus specific safety moments after incidents (e.g. avoiding pinch points).</a:t>
            </a:r>
            <a:endParaRPr lang="en-US" sz="1300" dirty="0"/>
          </a:p>
        </p:txBody>
      </p:sp>
      <p:sp>
        <p:nvSpPr>
          <p:cNvPr id="30" name="Shape 27"/>
          <p:cNvSpPr/>
          <p:nvPr/>
        </p:nvSpPr>
        <p:spPr>
          <a:xfrm>
            <a:off x="548640" y="4096512"/>
            <a:ext cx="384048" cy="384048"/>
          </a:xfrm>
          <a:prstGeom prst="ellipse">
            <a:avLst/>
          </a:prstGeom>
          <a:solidFill>
            <a:srgbClr val="FFEDD5"/>
          </a:solidFill>
          <a:ln w="12700">
            <a:solidFill>
              <a:srgbClr val="FFEDD5"/>
            </a:solidFill>
            <a:prstDash val="solid"/>
          </a:ln>
        </p:spPr>
      </p:sp>
      <p:pic>
        <p:nvPicPr>
          <p:cNvPr id="31" name="Image 1" descr="preencoded.png">    </p:cNvPr>
          <p:cNvPicPr>
            <a:picLocks noChangeAspect="1"/>
          </p:cNvPicPr>
          <p:nvPr/>
        </p:nvPicPr>
        <p:blipFill>
          <a:blip r:embed="rId2"/>
          <a:stretch>
            <a:fillRect/>
          </a:stretch>
        </p:blipFill>
        <p:spPr>
          <a:xfrm>
            <a:off x="644652" y="4192524"/>
            <a:ext cx="192024" cy="192024"/>
          </a:xfrm>
          <a:prstGeom prst="rect">
            <a:avLst/>
          </a:prstGeom>
        </p:spPr>
      </p:pic>
      <p:sp>
        <p:nvSpPr>
          <p:cNvPr id="32" name="Text 28"/>
          <p:cNvSpPr txBox="1"/>
          <p:nvPr/>
        </p:nvSpPr>
        <p:spPr>
          <a:xfrm>
            <a:off x="1097280" y="4041648"/>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Pre- and post-shift forklift inspections by every operator — deficiencies corrected immediately; shunt pre-trip meeting every shift using the new checklist.</a:t>
            </a:r>
            <a:endParaRPr lang="en-US" sz="1300" dirty="0"/>
          </a:p>
        </p:txBody>
      </p:sp>
      <p:sp>
        <p:nvSpPr>
          <p:cNvPr id="33" name="Shape 29"/>
          <p:cNvSpPr/>
          <p:nvPr/>
        </p:nvSpPr>
        <p:spPr>
          <a:xfrm>
            <a:off x="548640" y="4617720"/>
            <a:ext cx="384048" cy="384048"/>
          </a:xfrm>
          <a:prstGeom prst="ellipse">
            <a:avLst/>
          </a:prstGeom>
          <a:solidFill>
            <a:srgbClr val="FFEDD5"/>
          </a:solidFill>
          <a:ln w="12700">
            <a:solidFill>
              <a:srgbClr val="FFEDD5"/>
            </a:solidFill>
            <a:prstDash val="solid"/>
          </a:ln>
        </p:spPr>
      </p:sp>
      <p:pic>
        <p:nvPicPr>
          <p:cNvPr id="34" name="Image 2" descr="preencoded.png">    </p:cNvPr>
          <p:cNvPicPr>
            <a:picLocks noChangeAspect="1"/>
          </p:cNvPicPr>
          <p:nvPr/>
        </p:nvPicPr>
        <p:blipFill>
          <a:blip r:embed="rId3"/>
          <a:stretch>
            <a:fillRect/>
          </a:stretch>
        </p:blipFill>
        <p:spPr>
          <a:xfrm>
            <a:off x="644652" y="4713732"/>
            <a:ext cx="192024" cy="192024"/>
          </a:xfrm>
          <a:prstGeom prst="rect">
            <a:avLst/>
          </a:prstGeom>
        </p:spPr>
      </p:pic>
      <p:sp>
        <p:nvSpPr>
          <p:cNvPr id="35" name="Text 30"/>
          <p:cNvSpPr txBox="1"/>
          <p:nvPr/>
        </p:nvSpPr>
        <p:spPr>
          <a:xfrm>
            <a:off x="1097280" y="4562856"/>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No loading forklifts on straight trucks — prevents serious injuries and forklift damage.</a:t>
            </a:r>
            <a:endParaRPr lang="en-US" sz="1300" dirty="0"/>
          </a:p>
        </p:txBody>
      </p:sp>
      <p:sp>
        <p:nvSpPr>
          <p:cNvPr id="36" name="Shape 31"/>
          <p:cNvSpPr/>
          <p:nvPr/>
        </p:nvSpPr>
        <p:spPr>
          <a:xfrm>
            <a:off x="548640" y="5138928"/>
            <a:ext cx="384048" cy="384048"/>
          </a:xfrm>
          <a:prstGeom prst="ellipse">
            <a:avLst/>
          </a:prstGeom>
          <a:solidFill>
            <a:srgbClr val="FFEDD5"/>
          </a:solidFill>
          <a:ln w="12700">
            <a:solidFill>
              <a:srgbClr val="FFEDD5"/>
            </a:solidFill>
            <a:prstDash val="solid"/>
          </a:ln>
        </p:spPr>
      </p:sp>
      <p:pic>
        <p:nvPicPr>
          <p:cNvPr id="37" name="Image 3" descr="preencoded.png">    </p:cNvPr>
          <p:cNvPicPr>
            <a:picLocks noChangeAspect="1"/>
          </p:cNvPicPr>
          <p:nvPr/>
        </p:nvPicPr>
        <p:blipFill>
          <a:blip r:embed="rId4"/>
          <a:stretch>
            <a:fillRect/>
          </a:stretch>
        </p:blipFill>
        <p:spPr>
          <a:xfrm>
            <a:off x="644652" y="5234940"/>
            <a:ext cx="192024" cy="192024"/>
          </a:xfrm>
          <a:prstGeom prst="rect">
            <a:avLst/>
          </a:prstGeom>
        </p:spPr>
      </p:pic>
      <p:sp>
        <p:nvSpPr>
          <p:cNvPr id="38" name="Text 32"/>
          <p:cNvSpPr txBox="1"/>
          <p:nvPr/>
        </p:nvSpPr>
        <p:spPr>
          <a:xfrm>
            <a:off x="1097280" y="5084064"/>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Safety equipment and dock conditions inspected and documented on H&amp;S inspection sheets, collected monthly by OHS and fully reviewed at JHSC.</a:t>
            </a:r>
            <a:endParaRPr lang="en-US" sz="1300" dirty="0"/>
          </a:p>
        </p:txBody>
      </p:sp>
      <p:sp>
        <p:nvSpPr>
          <p:cNvPr id="39" name="Shape 33"/>
          <p:cNvSpPr/>
          <p:nvPr/>
        </p:nvSpPr>
        <p:spPr>
          <a:xfrm>
            <a:off x="548640" y="5660136"/>
            <a:ext cx="384048" cy="384048"/>
          </a:xfrm>
          <a:prstGeom prst="ellipse">
            <a:avLst/>
          </a:prstGeom>
          <a:solidFill>
            <a:srgbClr val="FFEDD5"/>
          </a:solidFill>
          <a:ln w="12700">
            <a:solidFill>
              <a:srgbClr val="FFEDD5"/>
            </a:solidFill>
            <a:prstDash val="solid"/>
          </a:ln>
        </p:spPr>
      </p:sp>
      <p:pic>
        <p:nvPicPr>
          <p:cNvPr id="40" name="Image 4" descr="preencoded.png">    </p:cNvPr>
          <p:cNvPicPr>
            <a:picLocks noChangeAspect="1"/>
          </p:cNvPicPr>
          <p:nvPr/>
        </p:nvPicPr>
        <p:blipFill>
          <a:blip r:embed="rId5"/>
          <a:stretch>
            <a:fillRect/>
          </a:stretch>
        </p:blipFill>
        <p:spPr>
          <a:xfrm>
            <a:off x="644652" y="5756148"/>
            <a:ext cx="192024" cy="192024"/>
          </a:xfrm>
          <a:prstGeom prst="rect">
            <a:avLst/>
          </a:prstGeom>
        </p:spPr>
      </p:pic>
      <p:sp>
        <p:nvSpPr>
          <p:cNvPr id="41" name="Text 34"/>
          <p:cNvSpPr txBox="1"/>
          <p:nvPr/>
        </p:nvSpPr>
        <p:spPr>
          <a:xfrm>
            <a:off x="1097280" y="5605272"/>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Supervisors and managers address any non-compliance on the spot and report it in their STEP observations.</a:t>
            </a:r>
            <a:endParaRPr lang="en-US" sz="1300" dirty="0"/>
          </a:p>
        </p:txBody>
      </p:sp>
      <p:sp>
        <p:nvSpPr>
          <p:cNvPr id="42" name="Text 35"/>
          <p:cNvSpPr txBox="1"/>
          <p:nvPr/>
        </p:nvSpPr>
        <p:spPr>
          <a:xfrm>
            <a:off x="548640" y="6172200"/>
            <a:ext cx="11091672"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Source: Management Control Report — F27 TRIR, Aug-26 (Mississauga). Days since last recordable as of Sep 29, 2026 (last recordable Sep 10, 2025).</a:t>
            </a:r>
            <a:endParaRPr lang="en-US" sz="900" dirty="0"/>
          </a:p>
        </p:txBody>
      </p:sp>
      <p:sp>
        <p:nvSpPr>
          <p:cNvPr id="43" name="Text 3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4" name="Text 3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3 / 21</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2500" b="1" dirty="0">
                <a:solidFill>
                  <a:srgbClr val="111827"/>
                </a:solidFill>
                <a:latin typeface="Calibri" pitchFamily="34" charset="0"/>
                <a:ea typeface="Calibri" pitchFamily="34" charset="-122"/>
                <a:cs typeface="Calibri" pitchFamily="34" charset="-120"/>
              </a:rPr>
              <a:t>Safety initiatives — completed · active · planned · ideas</a:t>
            </a:r>
            <a:endParaRPr lang="en-US" sz="2500" dirty="0"/>
          </a:p>
        </p:txBody>
      </p:sp>
      <p:sp>
        <p:nvSpPr>
          <p:cNvPr id="4" name="Shape 2"/>
          <p:cNvSpPr/>
          <p:nvPr/>
        </p:nvSpPr>
        <p:spPr>
          <a:xfrm>
            <a:off x="548640" y="1371600"/>
            <a:ext cx="5431536" cy="2240280"/>
          </a:xfrm>
          <a:prstGeom prst="roundRect">
            <a:avLst>
              <a:gd name="adj" fmla="val 3265"/>
            </a:avLst>
          </a:prstGeom>
          <a:solidFill>
            <a:srgbClr val="F3F4F6"/>
          </a:solidFill>
          <a:ln w="12700">
            <a:solidFill>
              <a:srgbClr val="F3F4F6"/>
            </a:solidFill>
            <a:prstDash val="solid"/>
          </a:ln>
        </p:spPr>
      </p:sp>
      <p:sp>
        <p:nvSpPr>
          <p:cNvPr id="5" name="Shape 3"/>
          <p:cNvSpPr/>
          <p:nvPr/>
        </p:nvSpPr>
        <p:spPr>
          <a:xfrm>
            <a:off x="731520" y="1536192"/>
            <a:ext cx="1920240" cy="329184"/>
          </a:xfrm>
          <a:prstGeom prst="roundRect">
            <a:avLst>
              <a:gd name="adj" fmla="val 22222"/>
            </a:avLst>
          </a:prstGeom>
          <a:solidFill>
            <a:srgbClr val="D1FAE5"/>
          </a:solidFill>
          <a:ln w="12700">
            <a:solidFill>
              <a:srgbClr val="D1FAE5"/>
            </a:solidFill>
            <a:prstDash val="solid"/>
          </a:ln>
        </p:spPr>
      </p:sp>
      <p:sp>
        <p:nvSpPr>
          <p:cNvPr id="6" name="Text 4"/>
          <p:cNvSpPr txBox="1"/>
          <p:nvPr/>
        </p:nvSpPr>
        <p:spPr>
          <a:xfrm>
            <a:off x="731520" y="1536192"/>
            <a:ext cx="1920240" cy="329184"/>
          </a:xfrm>
          <a:prstGeom prst="rect">
            <a:avLst/>
          </a:prstGeom>
          <a:noFill/>
          <a:ln/>
        </p:spPr>
        <p:txBody>
          <a:bodyPr wrap="square" lIns="0" tIns="0" rIns="0" bIns="0" rtlCol="0" anchor="ctr"/>
          <a:lstStyle/>
          <a:p>
            <a:pPr algn="ctr" indent="0" marL="0">
              <a:buNone/>
            </a:pPr>
            <a:r>
              <a:rPr lang="en-US" sz="1150" b="1" spc="100" kern="0" dirty="0">
                <a:solidFill>
                  <a:srgbClr val="059669"/>
                </a:solidFill>
                <a:latin typeface="Calibri" pitchFamily="34" charset="0"/>
                <a:ea typeface="Calibri" pitchFamily="34" charset="-122"/>
                <a:cs typeface="Calibri" pitchFamily="34" charset="-120"/>
              </a:rPr>
              <a:t>COMPLETED</a:t>
            </a:r>
            <a:endParaRPr lang="en-US" sz="1150" dirty="0"/>
          </a:p>
        </p:txBody>
      </p:sp>
      <p:sp>
        <p:nvSpPr>
          <p:cNvPr id="7" name="Text 5"/>
          <p:cNvSpPr txBox="1"/>
          <p:nvPr/>
        </p:nvSpPr>
        <p:spPr>
          <a:xfrm>
            <a:off x="2788920" y="1536192"/>
            <a:ext cx="3008376" cy="329184"/>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3 done</a:t>
            </a:r>
            <a:endParaRPr lang="en-US" sz="1050" dirty="0"/>
          </a:p>
        </p:txBody>
      </p:sp>
      <p:sp>
        <p:nvSpPr>
          <p:cNvPr id="8" name="Text 6"/>
          <p:cNvSpPr txBox="1"/>
          <p:nvPr/>
        </p:nvSpPr>
        <p:spPr>
          <a:xfrm>
            <a:off x="777240" y="196596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Roofing work zones barricaded — no access under overhead work.</a:t>
            </a:r>
            <a:endParaRPr lang="en-US" sz="1250" dirty="0"/>
          </a:p>
          <a:p>
            <a:pPr marL="203200" indent="-203200">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N95 masks available on the dock during roofing work.</a:t>
            </a:r>
            <a:endParaRPr lang="en-US" sz="1250" dirty="0"/>
          </a:p>
          <a:p>
            <a:pPr marL="203200" indent="-203200">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New shunt pre-trip checklist rolled out — used every shift.</a:t>
            </a:r>
            <a:endParaRPr lang="en-US" sz="1250" dirty="0"/>
          </a:p>
        </p:txBody>
      </p:sp>
      <p:sp>
        <p:nvSpPr>
          <p:cNvPr id="9" name="Shape 7"/>
          <p:cNvSpPr/>
          <p:nvPr/>
        </p:nvSpPr>
        <p:spPr>
          <a:xfrm>
            <a:off x="6208776" y="1371600"/>
            <a:ext cx="5431536" cy="2240280"/>
          </a:xfrm>
          <a:prstGeom prst="roundRect">
            <a:avLst>
              <a:gd name="adj" fmla="val 3265"/>
            </a:avLst>
          </a:prstGeom>
          <a:solidFill>
            <a:srgbClr val="F3F4F6"/>
          </a:solidFill>
          <a:ln w="12700">
            <a:solidFill>
              <a:srgbClr val="F3F4F6"/>
            </a:solidFill>
            <a:prstDash val="solid"/>
          </a:ln>
        </p:spPr>
      </p:sp>
      <p:sp>
        <p:nvSpPr>
          <p:cNvPr id="10" name="Shape 8"/>
          <p:cNvSpPr/>
          <p:nvPr/>
        </p:nvSpPr>
        <p:spPr>
          <a:xfrm>
            <a:off x="6391656" y="1536192"/>
            <a:ext cx="1920240" cy="329184"/>
          </a:xfrm>
          <a:prstGeom prst="roundRect">
            <a:avLst>
              <a:gd name="adj" fmla="val 22222"/>
            </a:avLst>
          </a:prstGeom>
          <a:solidFill>
            <a:srgbClr val="DBEAFE"/>
          </a:solidFill>
          <a:ln w="12700">
            <a:solidFill>
              <a:srgbClr val="DBEAFE"/>
            </a:solidFill>
            <a:prstDash val="solid"/>
          </a:ln>
        </p:spPr>
      </p:sp>
      <p:sp>
        <p:nvSpPr>
          <p:cNvPr id="11" name="Text 9"/>
          <p:cNvSpPr txBox="1"/>
          <p:nvPr/>
        </p:nvSpPr>
        <p:spPr>
          <a:xfrm>
            <a:off x="6391656" y="1536192"/>
            <a:ext cx="1920240" cy="329184"/>
          </a:xfrm>
          <a:prstGeom prst="rect">
            <a:avLst/>
          </a:prstGeom>
          <a:noFill/>
          <a:ln/>
        </p:spPr>
        <p:txBody>
          <a:bodyPr wrap="square" lIns="0" tIns="0" rIns="0" bIns="0" rtlCol="0" anchor="ctr"/>
          <a:lstStyle/>
          <a:p>
            <a:pPr algn="ctr" indent="0" marL="0">
              <a:buNone/>
            </a:pPr>
            <a:r>
              <a:rPr lang="en-US" sz="1150" b="1" spc="100" kern="0" dirty="0">
                <a:solidFill>
                  <a:srgbClr val="2563EB"/>
                </a:solidFill>
                <a:latin typeface="Calibri" pitchFamily="34" charset="0"/>
                <a:ea typeface="Calibri" pitchFamily="34" charset="-122"/>
                <a:cs typeface="Calibri" pitchFamily="34" charset="-120"/>
              </a:rPr>
              <a:t>ACTIVE</a:t>
            </a:r>
            <a:endParaRPr lang="en-US" sz="1150" dirty="0"/>
          </a:p>
        </p:txBody>
      </p:sp>
      <p:sp>
        <p:nvSpPr>
          <p:cNvPr id="12" name="Text 10"/>
          <p:cNvSpPr txBox="1"/>
          <p:nvPr/>
        </p:nvSpPr>
        <p:spPr>
          <a:xfrm>
            <a:off x="8449056" y="1536192"/>
            <a:ext cx="3008376" cy="329184"/>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7 ongoing</a:t>
            </a:r>
            <a:endParaRPr lang="en-US" sz="1050" dirty="0"/>
          </a:p>
        </p:txBody>
      </p:sp>
      <p:sp>
        <p:nvSpPr>
          <p:cNvPr id="13" name="Text 11"/>
          <p:cNvSpPr txBox="1"/>
          <p:nvPr/>
        </p:nvSpPr>
        <p:spPr>
          <a:xfrm>
            <a:off x="6437376" y="196596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Tailgates + safety moments after incidents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Forklift pre/post inspections — every operator</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No forklifts loaded on straight trucks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Monthly H&amp;S inspections → OHS / JHSC review</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STEP observations — non-compliance addressed on the spot</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Incident root cause + corrective-action follow-up with OHS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Monthly e-learning; forklift / TDG renewed before expiry</a:t>
            </a:r>
            <a:endParaRPr lang="en-US" sz="1050" dirty="0"/>
          </a:p>
        </p:txBody>
      </p:sp>
      <p:sp>
        <p:nvSpPr>
          <p:cNvPr id="14" name="Shape 12"/>
          <p:cNvSpPr/>
          <p:nvPr/>
        </p:nvSpPr>
        <p:spPr>
          <a:xfrm>
            <a:off x="548640" y="3749040"/>
            <a:ext cx="5431536" cy="2240280"/>
          </a:xfrm>
          <a:prstGeom prst="roundRect">
            <a:avLst>
              <a:gd name="adj" fmla="val 3265"/>
            </a:avLst>
          </a:prstGeom>
          <a:solidFill>
            <a:srgbClr val="F3F4F6"/>
          </a:solidFill>
          <a:ln w="12700">
            <a:solidFill>
              <a:srgbClr val="F3F4F6"/>
            </a:solidFill>
            <a:prstDash val="solid"/>
          </a:ln>
        </p:spPr>
      </p:sp>
      <p:sp>
        <p:nvSpPr>
          <p:cNvPr id="15" name="Shape 13"/>
          <p:cNvSpPr/>
          <p:nvPr/>
        </p:nvSpPr>
        <p:spPr>
          <a:xfrm>
            <a:off x="731520" y="3913632"/>
            <a:ext cx="1920240" cy="329184"/>
          </a:xfrm>
          <a:prstGeom prst="roundRect">
            <a:avLst>
              <a:gd name="adj" fmla="val 22222"/>
            </a:avLst>
          </a:prstGeom>
          <a:solidFill>
            <a:srgbClr val="FEF3C7"/>
          </a:solidFill>
          <a:ln w="12700">
            <a:solidFill>
              <a:srgbClr val="FEF3C7"/>
            </a:solidFill>
            <a:prstDash val="solid"/>
          </a:ln>
        </p:spPr>
      </p:sp>
      <p:sp>
        <p:nvSpPr>
          <p:cNvPr id="16" name="Text 14"/>
          <p:cNvSpPr txBox="1"/>
          <p:nvPr/>
        </p:nvSpPr>
        <p:spPr>
          <a:xfrm>
            <a:off x="731520" y="3913632"/>
            <a:ext cx="1920240" cy="329184"/>
          </a:xfrm>
          <a:prstGeom prst="rect">
            <a:avLst/>
          </a:prstGeom>
          <a:noFill/>
          <a:ln/>
        </p:spPr>
        <p:txBody>
          <a:bodyPr wrap="square" lIns="0" tIns="0" rIns="0" bIns="0" rtlCol="0" anchor="ctr"/>
          <a:lstStyle/>
          <a:p>
            <a:pPr algn="ctr" indent="0" marL="0">
              <a:buNone/>
            </a:pPr>
            <a:r>
              <a:rPr lang="en-US" sz="1150" b="1" spc="100" kern="0" dirty="0">
                <a:solidFill>
                  <a:srgbClr val="B45309"/>
                </a:solidFill>
                <a:latin typeface="Calibri" pitchFamily="34" charset="0"/>
                <a:ea typeface="Calibri" pitchFamily="34" charset="-122"/>
                <a:cs typeface="Calibri" pitchFamily="34" charset="-120"/>
              </a:rPr>
              <a:t>PLANNED</a:t>
            </a:r>
            <a:endParaRPr lang="en-US" sz="1150" dirty="0"/>
          </a:p>
        </p:txBody>
      </p:sp>
      <p:sp>
        <p:nvSpPr>
          <p:cNvPr id="17" name="Text 15"/>
          <p:cNvSpPr txBox="1"/>
          <p:nvPr/>
        </p:nvSpPr>
        <p:spPr>
          <a:xfrm>
            <a:off x="2788920" y="3913632"/>
            <a:ext cx="3008376" cy="329184"/>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5 planned</a:t>
            </a:r>
            <a:endParaRPr lang="en-US" sz="1050" dirty="0"/>
          </a:p>
        </p:txBody>
      </p:sp>
      <p:sp>
        <p:nvSpPr>
          <p:cNvPr id="18" name="Text 16"/>
          <p:cNvSpPr txBox="1"/>
          <p:nvPr/>
        </p:nvSpPr>
        <p:spPr>
          <a:xfrm>
            <a:off x="777240" y="434340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Driver safety reps — top safety-score drivers at the monthly safety meeting</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Manager &amp; supervisor route ride-alongs — quarterly quota</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Peak onboarding supported by Safety — safe work practices, lifting, forklift &amp; seat belt</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Load securement &amp; decking (ANCRA, collapsible tables)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Freight-handling equipment — panel trucks &amp; racks</a:t>
            </a:r>
            <a:endParaRPr lang="en-US" sz="1050" dirty="0"/>
          </a:p>
        </p:txBody>
      </p:sp>
      <p:sp>
        <p:nvSpPr>
          <p:cNvPr id="19" name="Shape 17"/>
          <p:cNvSpPr/>
          <p:nvPr/>
        </p:nvSpPr>
        <p:spPr>
          <a:xfrm>
            <a:off x="6208776" y="3749040"/>
            <a:ext cx="5431536" cy="2240280"/>
          </a:xfrm>
          <a:prstGeom prst="roundRect">
            <a:avLst>
              <a:gd name="adj" fmla="val 3265"/>
            </a:avLst>
          </a:prstGeom>
          <a:solidFill>
            <a:srgbClr val="FFF7ED"/>
          </a:solidFill>
          <a:ln w="12700">
            <a:solidFill>
              <a:srgbClr val="FFF7ED"/>
            </a:solidFill>
            <a:prstDash val="solid"/>
          </a:ln>
        </p:spPr>
      </p:sp>
      <p:sp>
        <p:nvSpPr>
          <p:cNvPr id="20" name="Shape 18"/>
          <p:cNvSpPr/>
          <p:nvPr/>
        </p:nvSpPr>
        <p:spPr>
          <a:xfrm>
            <a:off x="6391656" y="3913632"/>
            <a:ext cx="1920240" cy="329184"/>
          </a:xfrm>
          <a:prstGeom prst="roundRect">
            <a:avLst>
              <a:gd name="adj" fmla="val 22222"/>
            </a:avLst>
          </a:prstGeom>
          <a:solidFill>
            <a:srgbClr val="FFEDD5"/>
          </a:solidFill>
          <a:ln w="12700">
            <a:solidFill>
              <a:srgbClr val="FFEDD5"/>
            </a:solidFill>
            <a:prstDash val="solid"/>
          </a:ln>
        </p:spPr>
      </p:sp>
      <p:sp>
        <p:nvSpPr>
          <p:cNvPr id="21" name="Text 19"/>
          <p:cNvSpPr txBox="1"/>
          <p:nvPr/>
        </p:nvSpPr>
        <p:spPr>
          <a:xfrm>
            <a:off x="6391656" y="3913632"/>
            <a:ext cx="1920240" cy="329184"/>
          </a:xfrm>
          <a:prstGeom prst="rect">
            <a:avLst/>
          </a:prstGeom>
          <a:noFill/>
          <a:ln/>
        </p:spPr>
        <p:txBody>
          <a:bodyPr wrap="square" lIns="0" tIns="0" rIns="0" bIns="0" rtlCol="0" anchor="ctr"/>
          <a:lstStyle/>
          <a:p>
            <a:pPr algn="ctr" indent="0" marL="0">
              <a:buNone/>
            </a:pPr>
            <a:r>
              <a:rPr lang="en-US" sz="1150" b="1" spc="100" kern="0" dirty="0">
                <a:solidFill>
                  <a:srgbClr val="EA580C"/>
                </a:solidFill>
                <a:latin typeface="Calibri" pitchFamily="34" charset="0"/>
                <a:ea typeface="Calibri" pitchFamily="34" charset="-122"/>
                <a:cs typeface="Calibri" pitchFamily="34" charset="-120"/>
              </a:rPr>
              <a:t>IDEAS TO ACTION</a:t>
            </a:r>
            <a:endParaRPr lang="en-US" sz="1150" dirty="0"/>
          </a:p>
        </p:txBody>
      </p:sp>
      <p:sp>
        <p:nvSpPr>
          <p:cNvPr id="22" name="Text 20"/>
          <p:cNvSpPr txBox="1"/>
          <p:nvPr/>
        </p:nvSpPr>
        <p:spPr>
          <a:xfrm>
            <a:off x="6437376" y="434340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New-building safety plan before the move</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Near-miss reporting</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Pedestrian–forklift separation</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Trailer securement audit each shift</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Winter yard readiness</a:t>
            </a:r>
            <a:endParaRPr lang="en-US" sz="1100" dirty="0"/>
          </a:p>
        </p:txBody>
      </p:sp>
      <p:sp>
        <p:nvSpPr>
          <p:cNvPr id="23" name="Text 2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4" name="Text 2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4 / 21</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People-led safety — F27 proposals with Safety</a:t>
            </a:r>
            <a:endParaRPr lang="en-US" sz="3000" dirty="0"/>
          </a:p>
        </p:txBody>
      </p:sp>
      <p:sp>
        <p:nvSpPr>
          <p:cNvPr id="4" name="Shape 2"/>
          <p:cNvSpPr/>
          <p:nvPr/>
        </p:nvSpPr>
        <p:spPr>
          <a:xfrm>
            <a:off x="548640" y="1325880"/>
            <a:ext cx="3544824" cy="3977640"/>
          </a:xfrm>
          <a:prstGeom prst="roundRect">
            <a:avLst>
              <a:gd name="adj" fmla="val 2064"/>
            </a:avLst>
          </a:prstGeom>
          <a:solidFill>
            <a:srgbClr val="F3F4F6"/>
          </a:solidFill>
          <a:ln w="12700">
            <a:solidFill>
              <a:srgbClr val="F3F4F6"/>
            </a:solidFill>
            <a:prstDash val="solid"/>
          </a:ln>
        </p:spPr>
      </p:sp>
      <p:sp>
        <p:nvSpPr>
          <p:cNvPr id="5" name="Shape 3"/>
          <p:cNvSpPr/>
          <p:nvPr/>
        </p:nvSpPr>
        <p:spPr>
          <a:xfrm>
            <a:off x="777240" y="1508760"/>
            <a:ext cx="502920" cy="502920"/>
          </a:xfrm>
          <a:prstGeom prst="ellipse">
            <a:avLst/>
          </a:prstGeom>
          <a:solidFill>
            <a:srgbClr val="EA580C"/>
          </a:solidFill>
          <a:ln w="12700">
            <a:solidFill>
              <a:srgbClr val="EA580C"/>
            </a:solidFill>
            <a:prstDash val="solid"/>
          </a:ln>
        </p:spPr>
      </p:sp>
      <p:pic>
        <p:nvPicPr>
          <p:cNvPr id="6" name="Image 0" descr="preencoded.png">    </p:cNvPr>
          <p:cNvPicPr>
            <a:picLocks noChangeAspect="1"/>
          </p:cNvPicPr>
          <p:nvPr/>
        </p:nvPicPr>
        <p:blipFill>
          <a:blip r:embed="rId1"/>
          <a:stretch>
            <a:fillRect/>
          </a:stretch>
        </p:blipFill>
        <p:spPr>
          <a:xfrm>
            <a:off x="902970" y="1634490"/>
            <a:ext cx="251460" cy="251460"/>
          </a:xfrm>
          <a:prstGeom prst="rect">
            <a:avLst/>
          </a:prstGeom>
        </p:spPr>
      </p:pic>
      <p:sp>
        <p:nvSpPr>
          <p:cNvPr id="7" name="Text 4"/>
          <p:cNvSpPr txBox="1"/>
          <p:nvPr/>
        </p:nvSpPr>
        <p:spPr>
          <a:xfrm>
            <a:off x="1417320" y="1508760"/>
            <a:ext cx="25389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Driver safety reps</a:t>
            </a:r>
            <a:endParaRPr lang="en-US" sz="1500" dirty="0"/>
          </a:p>
        </p:txBody>
      </p:sp>
      <p:sp>
        <p:nvSpPr>
          <p:cNvPr id="8" name="Shape 5"/>
          <p:cNvSpPr/>
          <p:nvPr/>
        </p:nvSpPr>
        <p:spPr>
          <a:xfrm>
            <a:off x="777240" y="2148840"/>
            <a:ext cx="3087624" cy="292608"/>
          </a:xfrm>
          <a:prstGeom prst="roundRect">
            <a:avLst>
              <a:gd name="adj" fmla="val 25000"/>
            </a:avLst>
          </a:prstGeom>
          <a:solidFill>
            <a:srgbClr val="FEF3C7"/>
          </a:solidFill>
          <a:ln w="12700">
            <a:solidFill>
              <a:srgbClr val="FEF3C7"/>
            </a:solidFill>
            <a:prstDash val="solid"/>
          </a:ln>
        </p:spPr>
      </p:sp>
      <p:sp>
        <p:nvSpPr>
          <p:cNvPr id="9" name="Text 6"/>
          <p:cNvSpPr txBox="1"/>
          <p:nvPr/>
        </p:nvSpPr>
        <p:spPr>
          <a:xfrm>
            <a:off x="777240" y="2148840"/>
            <a:ext cx="3087624" cy="292608"/>
          </a:xfrm>
          <a:prstGeom prst="rect">
            <a:avLst/>
          </a:prstGeom>
          <a:noFill/>
          <a:ln/>
        </p:spPr>
        <p:txBody>
          <a:bodyPr wrap="square" lIns="0" tIns="0" rIns="0" bIns="0" rtlCol="0" anchor="ctr"/>
          <a:lstStyle/>
          <a:p>
            <a:pPr algn="ctr" indent="0" marL="0">
              <a:buNone/>
            </a:pPr>
            <a:r>
              <a:rPr lang="en-US" sz="1000" b="1" spc="100" kern="0" dirty="0">
                <a:solidFill>
                  <a:srgbClr val="B45309"/>
                </a:solidFill>
                <a:latin typeface="Calibri" pitchFamily="34" charset="0"/>
                <a:ea typeface="Calibri" pitchFamily="34" charset="-122"/>
                <a:cs typeface="Calibri" pitchFamily="34" charset="-120"/>
              </a:rPr>
              <a:t>PLANNED</a:t>
            </a:r>
            <a:endParaRPr lang="en-US" sz="1000" dirty="0"/>
          </a:p>
        </p:txBody>
      </p:sp>
      <p:sp>
        <p:nvSpPr>
          <p:cNvPr id="10" name="Text 7"/>
          <p:cNvSpPr txBox="1"/>
          <p:nvPr/>
        </p:nvSpPr>
        <p:spPr>
          <a:xfrm>
            <a:off x="777240" y="2560320"/>
            <a:ext cx="3087624" cy="2651760"/>
          </a:xfrm>
          <a:prstGeom prst="rect">
            <a:avLst/>
          </a:prstGeom>
          <a:noFill/>
          <a:ln/>
        </p:spPr>
        <p:txBody>
          <a:bodyPr wrap="square" lIns="0" tIns="0" rIns="0" bIns="0" rtlCol="0" anchor="t"/>
          <a:lstStyle/>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Top safety-score drivers join the monthly safety meeting</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Speak for drivers on road and yard concerns</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Bring ideas that help leadership fix issues sooner</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Peers carry more weight than policy; being chosen creates ownership</a:t>
            </a:r>
            <a:endParaRPr lang="en-US" sz="1200" dirty="0"/>
          </a:p>
        </p:txBody>
      </p:sp>
      <p:sp>
        <p:nvSpPr>
          <p:cNvPr id="11" name="Shape 8"/>
          <p:cNvSpPr/>
          <p:nvPr/>
        </p:nvSpPr>
        <p:spPr>
          <a:xfrm>
            <a:off x="4322064" y="1325880"/>
            <a:ext cx="3544824" cy="3977640"/>
          </a:xfrm>
          <a:prstGeom prst="roundRect">
            <a:avLst>
              <a:gd name="adj" fmla="val 2064"/>
            </a:avLst>
          </a:prstGeom>
          <a:solidFill>
            <a:srgbClr val="F3F4F6"/>
          </a:solidFill>
          <a:ln w="12700">
            <a:solidFill>
              <a:srgbClr val="F3F4F6"/>
            </a:solidFill>
            <a:prstDash val="solid"/>
          </a:ln>
        </p:spPr>
      </p:sp>
      <p:sp>
        <p:nvSpPr>
          <p:cNvPr id="12" name="Shape 9"/>
          <p:cNvSpPr/>
          <p:nvPr/>
        </p:nvSpPr>
        <p:spPr>
          <a:xfrm>
            <a:off x="4550664" y="1508760"/>
            <a:ext cx="502920" cy="502920"/>
          </a:xfrm>
          <a:prstGeom prst="ellipse">
            <a:avLst/>
          </a:prstGeom>
          <a:solidFill>
            <a:srgbClr val="EA580C"/>
          </a:solidFill>
          <a:ln w="12700">
            <a:solidFill>
              <a:srgbClr val="EA580C"/>
            </a:solidFill>
            <a:prstDash val="solid"/>
          </a:ln>
        </p:spPr>
      </p:sp>
      <p:pic>
        <p:nvPicPr>
          <p:cNvPr id="13" name="Image 1" descr="preencoded.png">    </p:cNvPr>
          <p:cNvPicPr>
            <a:picLocks noChangeAspect="1"/>
          </p:cNvPicPr>
          <p:nvPr/>
        </p:nvPicPr>
        <p:blipFill>
          <a:blip r:embed="rId2"/>
          <a:stretch>
            <a:fillRect/>
          </a:stretch>
        </p:blipFill>
        <p:spPr>
          <a:xfrm>
            <a:off x="4676394" y="1634490"/>
            <a:ext cx="251460" cy="251460"/>
          </a:xfrm>
          <a:prstGeom prst="rect">
            <a:avLst/>
          </a:prstGeom>
        </p:spPr>
      </p:pic>
      <p:sp>
        <p:nvSpPr>
          <p:cNvPr id="14" name="Text 10"/>
          <p:cNvSpPr txBox="1"/>
          <p:nvPr/>
        </p:nvSpPr>
        <p:spPr>
          <a:xfrm>
            <a:off x="5190744" y="1508760"/>
            <a:ext cx="25389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Manager &amp; supervisor ride-alongs</a:t>
            </a:r>
            <a:endParaRPr lang="en-US" sz="1500" dirty="0"/>
          </a:p>
        </p:txBody>
      </p:sp>
      <p:sp>
        <p:nvSpPr>
          <p:cNvPr id="15" name="Shape 11"/>
          <p:cNvSpPr/>
          <p:nvPr/>
        </p:nvSpPr>
        <p:spPr>
          <a:xfrm>
            <a:off x="4550664" y="2148840"/>
            <a:ext cx="3087624" cy="292608"/>
          </a:xfrm>
          <a:prstGeom prst="roundRect">
            <a:avLst>
              <a:gd name="adj" fmla="val 25000"/>
            </a:avLst>
          </a:prstGeom>
          <a:solidFill>
            <a:srgbClr val="FEF3C7"/>
          </a:solidFill>
          <a:ln w="12700">
            <a:solidFill>
              <a:srgbClr val="FEF3C7"/>
            </a:solidFill>
            <a:prstDash val="solid"/>
          </a:ln>
        </p:spPr>
      </p:sp>
      <p:sp>
        <p:nvSpPr>
          <p:cNvPr id="16" name="Text 12"/>
          <p:cNvSpPr txBox="1"/>
          <p:nvPr/>
        </p:nvSpPr>
        <p:spPr>
          <a:xfrm>
            <a:off x="4550664" y="2148840"/>
            <a:ext cx="3087624" cy="292608"/>
          </a:xfrm>
          <a:prstGeom prst="rect">
            <a:avLst/>
          </a:prstGeom>
          <a:noFill/>
          <a:ln/>
        </p:spPr>
        <p:txBody>
          <a:bodyPr wrap="square" lIns="0" tIns="0" rIns="0" bIns="0" rtlCol="0" anchor="ctr"/>
          <a:lstStyle/>
          <a:p>
            <a:pPr algn="ctr" indent="0" marL="0">
              <a:buNone/>
            </a:pPr>
            <a:r>
              <a:rPr lang="en-US" sz="1000" b="1" spc="100" kern="0" dirty="0">
                <a:solidFill>
                  <a:srgbClr val="B45309"/>
                </a:solidFill>
                <a:latin typeface="Calibri" pitchFamily="34" charset="0"/>
                <a:ea typeface="Calibri" pitchFamily="34" charset="-122"/>
                <a:cs typeface="Calibri" pitchFamily="34" charset="-120"/>
              </a:rPr>
              <a:t>PLANNED</a:t>
            </a:r>
            <a:endParaRPr lang="en-US" sz="1000" dirty="0"/>
          </a:p>
        </p:txBody>
      </p:sp>
      <p:sp>
        <p:nvSpPr>
          <p:cNvPr id="17" name="Text 13"/>
          <p:cNvSpPr txBox="1"/>
          <p:nvPr/>
        </p:nvSpPr>
        <p:spPr>
          <a:xfrm>
            <a:off x="4550664" y="2560320"/>
            <a:ext cx="3087624" cy="2651760"/>
          </a:xfrm>
          <a:prstGeom prst="rect">
            <a:avLst/>
          </a:prstGeom>
          <a:noFill/>
          <a:ln/>
        </p:spPr>
        <p:txBody>
          <a:bodyPr wrap="square" lIns="0" tIns="0" rIns="0" bIns="0" rtlCol="0" anchor="t"/>
          <a:lstStyle/>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See driver challenges on the road first-hand</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Ride-alongs per quarter ramp up: 8 → 11 → 13 (of 50 drivers)</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F28: ride with every driver once a year</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Start with new drivers and lower safety scores</a:t>
            </a:r>
            <a:endParaRPr lang="en-US" sz="1200" dirty="0"/>
          </a:p>
        </p:txBody>
      </p:sp>
      <p:sp>
        <p:nvSpPr>
          <p:cNvPr id="18" name="Shape 14"/>
          <p:cNvSpPr/>
          <p:nvPr/>
        </p:nvSpPr>
        <p:spPr>
          <a:xfrm>
            <a:off x="8095488" y="1325880"/>
            <a:ext cx="3544824" cy="3977640"/>
          </a:xfrm>
          <a:prstGeom prst="roundRect">
            <a:avLst>
              <a:gd name="adj" fmla="val 2064"/>
            </a:avLst>
          </a:prstGeom>
          <a:solidFill>
            <a:srgbClr val="F3F4F6"/>
          </a:solidFill>
          <a:ln w="12700">
            <a:solidFill>
              <a:srgbClr val="F3F4F6"/>
            </a:solidFill>
            <a:prstDash val="solid"/>
          </a:ln>
        </p:spPr>
      </p:sp>
      <p:sp>
        <p:nvSpPr>
          <p:cNvPr id="19" name="Shape 15"/>
          <p:cNvSpPr/>
          <p:nvPr/>
        </p:nvSpPr>
        <p:spPr>
          <a:xfrm>
            <a:off x="8324088" y="1508760"/>
            <a:ext cx="502920" cy="502920"/>
          </a:xfrm>
          <a:prstGeom prst="ellipse">
            <a:avLst/>
          </a:prstGeom>
          <a:solidFill>
            <a:srgbClr val="EA580C"/>
          </a:solidFill>
          <a:ln w="12700">
            <a:solidFill>
              <a:srgbClr val="EA580C"/>
            </a:solidFill>
            <a:prstDash val="solid"/>
          </a:ln>
        </p:spPr>
      </p:sp>
      <p:pic>
        <p:nvPicPr>
          <p:cNvPr id="20" name="Image 2" descr="preencoded.png">    </p:cNvPr>
          <p:cNvPicPr>
            <a:picLocks noChangeAspect="1"/>
          </p:cNvPicPr>
          <p:nvPr/>
        </p:nvPicPr>
        <p:blipFill>
          <a:blip r:embed="rId3"/>
          <a:stretch>
            <a:fillRect/>
          </a:stretch>
        </p:blipFill>
        <p:spPr>
          <a:xfrm>
            <a:off x="8449818" y="1634490"/>
            <a:ext cx="251460" cy="251460"/>
          </a:xfrm>
          <a:prstGeom prst="rect">
            <a:avLst/>
          </a:prstGeom>
        </p:spPr>
      </p:pic>
      <p:sp>
        <p:nvSpPr>
          <p:cNvPr id="21" name="Text 16"/>
          <p:cNvSpPr txBox="1"/>
          <p:nvPr/>
        </p:nvSpPr>
        <p:spPr>
          <a:xfrm>
            <a:off x="8964168" y="1508760"/>
            <a:ext cx="25389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Peak onboarding with Safety</a:t>
            </a:r>
            <a:endParaRPr lang="en-US" sz="1500" dirty="0"/>
          </a:p>
        </p:txBody>
      </p:sp>
      <p:sp>
        <p:nvSpPr>
          <p:cNvPr id="22" name="Shape 17"/>
          <p:cNvSpPr/>
          <p:nvPr/>
        </p:nvSpPr>
        <p:spPr>
          <a:xfrm>
            <a:off x="8324088" y="2148840"/>
            <a:ext cx="3087624" cy="292608"/>
          </a:xfrm>
          <a:prstGeom prst="roundRect">
            <a:avLst>
              <a:gd name="adj" fmla="val 25000"/>
            </a:avLst>
          </a:prstGeom>
          <a:solidFill>
            <a:srgbClr val="D1FAE5"/>
          </a:solidFill>
          <a:ln w="12700">
            <a:solidFill>
              <a:srgbClr val="D1FAE5"/>
            </a:solidFill>
            <a:prstDash val="solid"/>
          </a:ln>
        </p:spPr>
      </p:sp>
      <p:sp>
        <p:nvSpPr>
          <p:cNvPr id="23" name="Text 18"/>
          <p:cNvSpPr txBox="1"/>
          <p:nvPr/>
        </p:nvSpPr>
        <p:spPr>
          <a:xfrm>
            <a:off x="8324088" y="2148840"/>
            <a:ext cx="3087624" cy="292608"/>
          </a:xfrm>
          <a:prstGeom prst="rect">
            <a:avLst/>
          </a:prstGeom>
          <a:noFill/>
          <a:ln/>
        </p:spPr>
        <p:txBody>
          <a:bodyPr wrap="square" lIns="0" tIns="0" rIns="0" bIns="0" rtlCol="0" anchor="ctr"/>
          <a:lstStyle/>
          <a:p>
            <a:pPr algn="ctr" indent="0" marL="0">
              <a:buNone/>
            </a:pPr>
            <a:r>
              <a:rPr lang="en-US" sz="1000" b="1" spc="100" kern="0" dirty="0">
                <a:solidFill>
                  <a:srgbClr val="059669"/>
                </a:solidFill>
                <a:latin typeface="Calibri" pitchFamily="34" charset="0"/>
                <a:ea typeface="Calibri" pitchFamily="34" charset="-122"/>
                <a:cs typeface="Calibri" pitchFamily="34" charset="-120"/>
              </a:rPr>
              <a:t>SUPPORTED BY SAFETY</a:t>
            </a:r>
            <a:endParaRPr lang="en-US" sz="1000" dirty="0"/>
          </a:p>
        </p:txBody>
      </p:sp>
      <p:sp>
        <p:nvSpPr>
          <p:cNvPr id="24" name="Text 19"/>
          <p:cNvSpPr txBox="1"/>
          <p:nvPr/>
        </p:nvSpPr>
        <p:spPr>
          <a:xfrm>
            <a:off x="8324088" y="2560320"/>
            <a:ext cx="3087624" cy="2651760"/>
          </a:xfrm>
          <a:prstGeom prst="rect">
            <a:avLst/>
          </a:prstGeom>
          <a:noFill/>
          <a:ln/>
        </p:spPr>
        <p:txBody>
          <a:bodyPr wrap="square" lIns="0" tIns="0" rIns="0" bIns="0" rtlCol="0" anchor="t"/>
          <a:lstStyle/>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Nov and spring/summer e-commerce peaks: 10%+ new temp (agency) staff, all shifts</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Safety covers safe work practices, lifting technique, truck &amp; trailer pull, forklift safety &amp; seat belt, right to refuse</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Short check-ins: seat belt on the forklift; what to do if there is a spill</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Added layer on top of operations checks</a:t>
            </a:r>
            <a:endParaRPr lang="en-US" sz="1200" dirty="0"/>
          </a:p>
        </p:txBody>
      </p:sp>
      <p:sp>
        <p:nvSpPr>
          <p:cNvPr id="25" name="Shape 20"/>
          <p:cNvSpPr/>
          <p:nvPr/>
        </p:nvSpPr>
        <p:spPr>
          <a:xfrm>
            <a:off x="548640" y="5440680"/>
            <a:ext cx="11091672" cy="685800"/>
          </a:xfrm>
          <a:prstGeom prst="roundRect">
            <a:avLst>
              <a:gd name="adj" fmla="val 10667"/>
            </a:avLst>
          </a:prstGeom>
          <a:solidFill>
            <a:srgbClr val="FFF7ED"/>
          </a:solidFill>
          <a:ln w="12700">
            <a:solidFill>
              <a:srgbClr val="FFF7ED"/>
            </a:solidFill>
            <a:prstDash val="solid"/>
          </a:ln>
        </p:spPr>
      </p:sp>
      <p:sp>
        <p:nvSpPr>
          <p:cNvPr id="26" name="Text 21"/>
          <p:cNvSpPr txBox="1"/>
          <p:nvPr/>
        </p:nvSpPr>
        <p:spPr>
          <a:xfrm>
            <a:off x="777240" y="5440680"/>
            <a:ext cx="10698480" cy="685800"/>
          </a:xfrm>
          <a:prstGeom prst="rect">
            <a:avLst/>
          </a:prstGeom>
          <a:noFill/>
          <a:ln/>
        </p:spPr>
        <p:txBody>
          <a:bodyPr wrap="square" lIns="0" tIns="0" rIns="0" bIns="0" rtlCol="0" anchor="ctr"/>
          <a:lstStyle/>
          <a:p>
            <a:pPr indent="0" marL="0">
              <a:buNone/>
            </a:pPr>
            <a:r>
              <a:rPr lang="en-US" sz="1300" b="1" dirty="0">
                <a:solidFill>
                  <a:srgbClr val="EA580C"/>
                </a:solidFill>
                <a:latin typeface="Calibri" pitchFamily="34" charset="0"/>
                <a:ea typeface="Calibri" pitchFamily="34" charset="-122"/>
                <a:cs typeface="Calibri" pitchFamily="34" charset="-120"/>
              </a:rPr>
              <a:t>Why it works: </a:t>
            </a:r>
            <a:pPr indent="0" marL="0">
              <a:buNone/>
            </a:pPr>
            <a:r>
              <a:rPr lang="en-US" sz="1300" dirty="0">
                <a:solidFill>
                  <a:srgbClr val="1F2937"/>
                </a:solidFill>
                <a:latin typeface="Calibri" pitchFamily="34" charset="0"/>
                <a:ea typeface="Calibri" pitchFamily="34" charset="-122"/>
                <a:cs typeface="Calibri" pitchFamily="34" charset="-120"/>
              </a:rPr>
              <a:t>people who feel cared for, care. When the workplace is safe and people feel heard and respected, service, productivity and cost follow.</a:t>
            </a:r>
            <a:endParaRPr lang="en-US" sz="1300" dirty="0"/>
          </a:p>
        </p:txBody>
      </p:sp>
      <p:sp>
        <p:nvSpPr>
          <p:cNvPr id="27" name="Text 22"/>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3"/>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5 / 21</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On-time service (adjusted)</a:t>
            </a:r>
            <a:endParaRPr lang="en-US" sz="3000" dirty="0"/>
          </a:p>
        </p:txBody>
      </p:sp>
      <p:sp>
        <p:nvSpPr>
          <p:cNvPr id="4" name="Shape 2"/>
          <p:cNvSpPr/>
          <p:nvPr/>
        </p:nvSpPr>
        <p:spPr>
          <a:xfrm>
            <a:off x="548640" y="1325880"/>
            <a:ext cx="2635758" cy="1188720"/>
          </a:xfrm>
          <a:prstGeom prst="roundRect">
            <a:avLst>
              <a:gd name="adj" fmla="val 6154"/>
            </a:avLst>
          </a:prstGeom>
          <a:solidFill>
            <a:srgbClr val="F3F4F6"/>
          </a:solidFill>
          <a:ln w="12700">
            <a:solidFill>
              <a:srgbClr val="F3F4F6"/>
            </a:solidFill>
            <a:prstDash val="solid"/>
          </a:ln>
        </p:spPr>
      </p:sp>
      <p:sp>
        <p:nvSpPr>
          <p:cNvPr id="5" name="Text 3"/>
          <p:cNvSpPr txBox="1"/>
          <p:nvPr/>
        </p:nvSpPr>
        <p:spPr>
          <a:xfrm>
            <a:off x="731520"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 · incl. partner carriers</a:t>
            </a:r>
            <a:endParaRPr lang="en-US" sz="1100" dirty="0"/>
          </a:p>
        </p:txBody>
      </p:sp>
      <p:sp>
        <p:nvSpPr>
          <p:cNvPr id="6" name="Text 4"/>
          <p:cNvSpPr txBox="1"/>
          <p:nvPr/>
        </p:nvSpPr>
        <p:spPr>
          <a:xfrm>
            <a:off x="731520"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93.7%</a:t>
            </a:r>
            <a:endParaRPr lang="en-US" sz="2600" dirty="0"/>
          </a:p>
        </p:txBody>
      </p:sp>
      <p:sp>
        <p:nvSpPr>
          <p:cNvPr id="7" name="Text 5"/>
          <p:cNvSpPr txBox="1"/>
          <p:nvPr/>
        </p:nvSpPr>
        <p:spPr>
          <a:xfrm>
            <a:off x="731520"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 1–28 · F27</a:t>
            </a:r>
            <a:endParaRPr lang="en-US" sz="1050" dirty="0"/>
          </a:p>
        </p:txBody>
      </p:sp>
      <p:sp>
        <p:nvSpPr>
          <p:cNvPr id="8" name="Shape 6"/>
          <p:cNvSpPr/>
          <p:nvPr/>
        </p:nvSpPr>
        <p:spPr>
          <a:xfrm>
            <a:off x="3367278" y="1325880"/>
            <a:ext cx="2635758" cy="1188720"/>
          </a:xfrm>
          <a:prstGeom prst="roundRect">
            <a:avLst>
              <a:gd name="adj" fmla="val 6154"/>
            </a:avLst>
          </a:prstGeom>
          <a:solidFill>
            <a:srgbClr val="F3F4F6"/>
          </a:solidFill>
          <a:ln w="12700">
            <a:solidFill>
              <a:srgbClr val="F3F4F6"/>
            </a:solidFill>
            <a:prstDash val="solid"/>
          </a:ln>
        </p:spPr>
      </p:sp>
      <p:sp>
        <p:nvSpPr>
          <p:cNvPr id="9" name="Text 7"/>
          <p:cNvSpPr txBox="1"/>
          <p:nvPr/>
        </p:nvSpPr>
        <p:spPr>
          <a:xfrm>
            <a:off x="3550158"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 · excl. partner carriers</a:t>
            </a:r>
            <a:endParaRPr lang="en-US" sz="1100" dirty="0"/>
          </a:p>
        </p:txBody>
      </p:sp>
      <p:sp>
        <p:nvSpPr>
          <p:cNvPr id="10" name="Text 8"/>
          <p:cNvSpPr txBox="1"/>
          <p:nvPr/>
        </p:nvSpPr>
        <p:spPr>
          <a:xfrm>
            <a:off x="3550158"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96.7%</a:t>
            </a:r>
            <a:endParaRPr lang="en-US" sz="2600" dirty="0"/>
          </a:p>
        </p:txBody>
      </p:sp>
      <p:sp>
        <p:nvSpPr>
          <p:cNvPr id="11" name="Text 9"/>
          <p:cNvSpPr txBox="1"/>
          <p:nvPr/>
        </p:nvSpPr>
        <p:spPr>
          <a:xfrm>
            <a:off x="3550158"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Partner freight excluded</a:t>
            </a:r>
            <a:endParaRPr lang="en-US" sz="1050" dirty="0"/>
          </a:p>
        </p:txBody>
      </p:sp>
      <p:sp>
        <p:nvSpPr>
          <p:cNvPr id="12" name="Shape 10"/>
          <p:cNvSpPr/>
          <p:nvPr/>
        </p:nvSpPr>
        <p:spPr>
          <a:xfrm>
            <a:off x="6185916" y="1325880"/>
            <a:ext cx="2635758" cy="1188720"/>
          </a:xfrm>
          <a:prstGeom prst="roundRect">
            <a:avLst>
              <a:gd name="adj" fmla="val 6154"/>
            </a:avLst>
          </a:prstGeom>
          <a:solidFill>
            <a:srgbClr val="F3F4F6"/>
          </a:solidFill>
          <a:ln w="12700">
            <a:solidFill>
              <a:srgbClr val="F3F4F6"/>
            </a:solidFill>
            <a:prstDash val="solid"/>
          </a:ln>
        </p:spPr>
      </p:sp>
      <p:sp>
        <p:nvSpPr>
          <p:cNvPr id="13" name="Text 11"/>
          <p:cNvSpPr txBox="1"/>
          <p:nvPr/>
        </p:nvSpPr>
        <p:spPr>
          <a:xfrm>
            <a:off x="6368796"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Last 7 days · Sep 22–28</a:t>
            </a:r>
            <a:endParaRPr lang="en-US" sz="1100" dirty="0"/>
          </a:p>
        </p:txBody>
      </p:sp>
      <p:sp>
        <p:nvSpPr>
          <p:cNvPr id="14" name="Text 12"/>
          <p:cNvSpPr txBox="1"/>
          <p:nvPr/>
        </p:nvSpPr>
        <p:spPr>
          <a:xfrm>
            <a:off x="6368796"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94.35%</a:t>
            </a:r>
            <a:endParaRPr lang="en-US" sz="2600" dirty="0"/>
          </a:p>
        </p:txBody>
      </p:sp>
      <p:sp>
        <p:nvSpPr>
          <p:cNvPr id="15" name="Text 13"/>
          <p:cNvSpPr txBox="1"/>
          <p:nvPr/>
        </p:nvSpPr>
        <p:spPr>
          <a:xfrm>
            <a:off x="6368796"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Week 39 adj 94.8% · week 40 (Sun–Mon) 96.6%</a:t>
            </a:r>
            <a:endParaRPr lang="en-US" sz="1050" dirty="0"/>
          </a:p>
        </p:txBody>
      </p:sp>
      <p:sp>
        <p:nvSpPr>
          <p:cNvPr id="16" name="Shape 14"/>
          <p:cNvSpPr/>
          <p:nvPr/>
        </p:nvSpPr>
        <p:spPr>
          <a:xfrm>
            <a:off x="9004554" y="1325880"/>
            <a:ext cx="2635758" cy="1188720"/>
          </a:xfrm>
          <a:prstGeom prst="roundRect">
            <a:avLst>
              <a:gd name="adj" fmla="val 6154"/>
            </a:avLst>
          </a:prstGeom>
          <a:solidFill>
            <a:srgbClr val="F3F4F6"/>
          </a:solidFill>
          <a:ln w="12700">
            <a:solidFill>
              <a:srgbClr val="F3F4F6"/>
            </a:solidFill>
            <a:prstDash val="solid"/>
          </a:ln>
        </p:spPr>
      </p:sp>
      <p:sp>
        <p:nvSpPr>
          <p:cNvPr id="17" name="Text 15"/>
          <p:cNvSpPr txBox="1"/>
          <p:nvPr/>
        </p:nvSpPr>
        <p:spPr>
          <a:xfrm>
            <a:off x="9187434"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Target</a:t>
            </a:r>
            <a:endParaRPr lang="en-US" sz="1100" dirty="0"/>
          </a:p>
        </p:txBody>
      </p:sp>
      <p:sp>
        <p:nvSpPr>
          <p:cNvPr id="18" name="Text 16"/>
          <p:cNvSpPr txBox="1"/>
          <p:nvPr/>
        </p:nvSpPr>
        <p:spPr>
          <a:xfrm>
            <a:off x="9187434" y="1737360"/>
            <a:ext cx="2269998" cy="320040"/>
          </a:xfrm>
          <a:prstGeom prst="rect">
            <a:avLst/>
          </a:prstGeom>
          <a:noFill/>
          <a:ln/>
        </p:spPr>
        <p:txBody>
          <a:bodyPr wrap="square" lIns="0" tIns="0" rIns="0" bIns="0" rtlCol="0" anchor="ctr"/>
          <a:lstStyle/>
          <a:p>
            <a:pPr indent="0" marL="0">
              <a:buNone/>
            </a:pPr>
            <a:r>
              <a:rPr lang="en-US" sz="2600" b="1" dirty="0">
                <a:solidFill>
                  <a:srgbClr val="111827"/>
                </a:solidFill>
                <a:latin typeface="Calibri" pitchFamily="34" charset="0"/>
                <a:ea typeface="Calibri" pitchFamily="34" charset="-122"/>
                <a:cs typeface="Calibri" pitchFamily="34" charset="-120"/>
              </a:rPr>
              <a:t>90%</a:t>
            </a:r>
            <a:endParaRPr lang="en-US" sz="2600" dirty="0"/>
          </a:p>
        </p:txBody>
      </p:sp>
      <p:sp>
        <p:nvSpPr>
          <p:cNvPr id="19" name="Text 17"/>
          <p:cNvSpPr txBox="1"/>
          <p:nvPr/>
        </p:nvSpPr>
        <p:spPr>
          <a:xfrm>
            <a:off x="9187434"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80–90% amber · &lt;80% red</a:t>
            </a:r>
            <a:endParaRPr lang="en-US" sz="1050" dirty="0"/>
          </a:p>
        </p:txBody>
      </p:sp>
      <p:graphicFrame>
        <p:nvGraphicFramePr>
          <p:cNvPr id="20" name="Chart 0" descr=""/>
          <p:cNvGraphicFramePr/>
          <p:nvPr/>
        </p:nvGraphicFramePr>
        <p:xfrm>
          <a:off x="548640" y="2651760"/>
          <a:ext cx="5943600" cy="2331720"/>
        </p:xfrm>
        <a:graphic xmlns:a="http://schemas.openxmlformats.org/drawingml/2006/main">
          <a:graphicData uri="http://schemas.openxmlformats.org/drawingml/2006/chart">
            <c:chart xmlns:c="http://schemas.openxmlformats.org/drawingml/2006/chart" r:id="rId1"/>
          </a:graphicData>
        </a:graphic>
      </p:graphicFrame>
      <p:sp>
        <p:nvSpPr>
          <p:cNvPr id="21" name="Text 18"/>
          <p:cNvSpPr txBox="1"/>
          <p:nvPr/>
        </p:nvSpPr>
        <p:spPr>
          <a:xfrm>
            <a:off x="548640" y="4983480"/>
            <a:ext cx="5943600" cy="219456"/>
          </a:xfrm>
          <a:prstGeom prst="rect">
            <a:avLst/>
          </a:prstGeom>
          <a:noFill/>
          <a:ln/>
        </p:spPr>
        <p:txBody>
          <a:bodyPr wrap="square" lIns="0" tIns="0" rIns="0" bIns="0" rtlCol="0" anchor="ctr"/>
          <a:lstStyle/>
          <a:p>
            <a:pPr algn="ctr" indent="0" marL="0">
              <a:buNone/>
            </a:pPr>
            <a:r>
              <a:rPr lang="en-US" sz="950" i="1" dirty="0">
                <a:solidFill>
                  <a:srgbClr val="6B7280"/>
                </a:solidFill>
                <a:latin typeface="Calibri" pitchFamily="34" charset="0"/>
                <a:ea typeface="Calibri" pitchFamily="34" charset="-122"/>
                <a:cs typeface="Calibri" pitchFamily="34" charset="-120"/>
              </a:rPr>
              <a:t>Jan–Jun = F26 · Jul–Sep = F27 (fiscal year starts Jul 1)</a:t>
            </a:r>
            <a:endParaRPr lang="en-US" sz="950" dirty="0"/>
          </a:p>
        </p:txBody>
      </p:sp>
      <p:sp>
        <p:nvSpPr>
          <p:cNvPr id="22" name="Shape 19"/>
          <p:cNvSpPr/>
          <p:nvPr/>
        </p:nvSpPr>
        <p:spPr>
          <a:xfrm>
            <a:off x="548640" y="5276088"/>
            <a:ext cx="5943600" cy="731520"/>
          </a:xfrm>
          <a:prstGeom prst="roundRect">
            <a:avLst>
              <a:gd name="adj" fmla="val 10000"/>
            </a:avLst>
          </a:prstGeom>
          <a:solidFill>
            <a:srgbClr val="FFF7ED"/>
          </a:solidFill>
          <a:ln w="12700">
            <a:solidFill>
              <a:srgbClr val="FFF7ED"/>
            </a:solidFill>
            <a:prstDash val="solid"/>
          </a:ln>
        </p:spPr>
      </p:sp>
      <p:sp>
        <p:nvSpPr>
          <p:cNvPr id="23" name="Shape 20"/>
          <p:cNvSpPr/>
          <p:nvPr/>
        </p:nvSpPr>
        <p:spPr>
          <a:xfrm>
            <a:off x="731520" y="5404104"/>
            <a:ext cx="475488" cy="475488"/>
          </a:xfrm>
          <a:prstGeom prst="ellipse">
            <a:avLst/>
          </a:prstGeom>
          <a:solidFill>
            <a:srgbClr val="EA580C"/>
          </a:solidFill>
          <a:ln w="12700">
            <a:solidFill>
              <a:srgbClr val="EA580C"/>
            </a:solidFill>
            <a:prstDash val="solid"/>
          </a:ln>
        </p:spPr>
      </p:sp>
      <p:pic>
        <p:nvPicPr>
          <p:cNvPr id="24" name="Image 0" descr="preencoded.png">    </p:cNvPr>
          <p:cNvPicPr>
            <a:picLocks noChangeAspect="1"/>
          </p:cNvPicPr>
          <p:nvPr/>
        </p:nvPicPr>
        <p:blipFill>
          <a:blip r:embed="rId2"/>
          <a:stretch>
            <a:fillRect/>
          </a:stretch>
        </p:blipFill>
        <p:spPr>
          <a:xfrm>
            <a:off x="850392" y="5522976"/>
            <a:ext cx="237744" cy="237744"/>
          </a:xfrm>
          <a:prstGeom prst="rect">
            <a:avLst/>
          </a:prstGeom>
        </p:spPr>
      </p:pic>
      <p:sp>
        <p:nvSpPr>
          <p:cNvPr id="25" name="Text 21"/>
          <p:cNvSpPr txBox="1"/>
          <p:nvPr/>
        </p:nvSpPr>
        <p:spPr>
          <a:xfrm>
            <a:off x="1371600" y="5276088"/>
            <a:ext cx="4983480" cy="7315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F27: every month ≥89%, above target since August; up from 81.5% in April.</a:t>
            </a:r>
            <a:endParaRPr lang="en-US" sz="1300" dirty="0"/>
          </a:p>
        </p:txBody>
      </p:sp>
      <p:sp>
        <p:nvSpPr>
          <p:cNvPr id="26" name="Shape 22"/>
          <p:cNvSpPr/>
          <p:nvPr/>
        </p:nvSpPr>
        <p:spPr>
          <a:xfrm>
            <a:off x="6720840" y="2651760"/>
            <a:ext cx="4919472" cy="1371600"/>
          </a:xfrm>
          <a:prstGeom prst="roundRect">
            <a:avLst>
              <a:gd name="adj" fmla="val 5333"/>
            </a:avLst>
          </a:prstGeom>
          <a:solidFill>
            <a:srgbClr val="F3F4F6"/>
          </a:solidFill>
          <a:ln w="12700">
            <a:solidFill>
              <a:srgbClr val="F3F4F6"/>
            </a:solidFill>
            <a:prstDash val="solid"/>
          </a:ln>
        </p:spPr>
      </p:sp>
      <p:sp>
        <p:nvSpPr>
          <p:cNvPr id="27" name="Text 23"/>
          <p:cNvSpPr txBox="1"/>
          <p:nvPr/>
        </p:nvSpPr>
        <p:spPr>
          <a:xfrm>
            <a:off x="6903720" y="2734056"/>
            <a:ext cx="45720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Partner-carrier impact</a:t>
            </a:r>
            <a:pPr indent="0" marL="0">
              <a:buNone/>
            </a:pPr>
            <a:r>
              <a:rPr lang="en-US" sz="1050" dirty="0">
                <a:solidFill>
                  <a:srgbClr val="6B7280"/>
                </a:solidFill>
                <a:latin typeface="Calibri" pitchFamily="34" charset="0"/>
                <a:ea typeface="Calibri" pitchFamily="34" charset="-122"/>
                <a:cs typeface="Calibri" pitchFamily="34" charset="-120"/>
              </a:rPr>
              <a:t>  · calculated, Jan–Sep 2026</a:t>
            </a:r>
            <a:endParaRPr lang="en-US" sz="1300" dirty="0"/>
          </a:p>
        </p:txBody>
      </p:sp>
      <p:sp>
        <p:nvSpPr>
          <p:cNvPr id="28" name="Text 24"/>
          <p:cNvSpPr txBox="1"/>
          <p:nvPr/>
        </p:nvSpPr>
        <p:spPr>
          <a:xfrm>
            <a:off x="6903720" y="3008376"/>
            <a:ext cx="4572000" cy="347472"/>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≈13% of volume</a:t>
            </a:r>
            <a:pPr indent="0" marL="0">
              <a:buNone/>
            </a:pPr>
            <a:r>
              <a:rPr lang="en-US" sz="1300" b="1" dirty="0">
                <a:solidFill>
                  <a:srgbClr val="6B7280"/>
                </a:solidFill>
                <a:latin typeface="Calibri" pitchFamily="34" charset="0"/>
                <a:ea typeface="Calibri" pitchFamily="34" charset="-122"/>
                <a:cs typeface="Calibri" pitchFamily="34" charset="-120"/>
              </a:rPr>
              <a:t>  but  </a:t>
            </a:r>
            <a:pPr indent="0" marL="0">
              <a:buNone/>
            </a:pPr>
            <a:r>
              <a:rPr lang="en-US" sz="1500" b="1" dirty="0">
                <a:solidFill>
                  <a:srgbClr val="DC2626"/>
                </a:solidFill>
                <a:latin typeface="Calibri" pitchFamily="34" charset="0"/>
                <a:ea typeface="Calibri" pitchFamily="34" charset="-122"/>
                <a:cs typeface="Calibri" pitchFamily="34" charset="-120"/>
              </a:rPr>
              <a:t>≈45% of late FBs</a:t>
            </a:r>
            <a:endParaRPr lang="en-US" sz="1500" dirty="0"/>
          </a:p>
        </p:txBody>
      </p:sp>
      <p:sp>
        <p:nvSpPr>
          <p:cNvPr id="29" name="Text 25"/>
          <p:cNvSpPr txBox="1"/>
          <p:nvPr/>
        </p:nvSpPr>
        <p:spPr>
          <a:xfrm>
            <a:off x="6903720" y="3364992"/>
            <a:ext cx="4572000" cy="365760"/>
          </a:xfrm>
          <a:prstGeom prst="rect">
            <a:avLst/>
          </a:prstGeom>
          <a:noFill/>
          <a:ln/>
        </p:spPr>
        <p:txBody>
          <a:bodyPr wrap="square" lIns="0" tIns="0" rIns="0" bIns="0" rtlCol="0" anchor="t"/>
          <a:lstStyle/>
          <a:p>
            <a:pPr indent="0" marL="0">
              <a:buNone/>
            </a:pPr>
            <a:r>
              <a:rPr lang="en-US" sz="1050" dirty="0">
                <a:solidFill>
                  <a:srgbClr val="1F2937"/>
                </a:solidFill>
                <a:latin typeface="Calibri" pitchFamily="34" charset="0"/>
                <a:ea typeface="Calibri" pitchFamily="34" charset="-122"/>
                <a:cs typeface="Calibri" pitchFamily="34" charset="-120"/>
              </a:rPr>
              <a:t>≈13.0K partner FBs (101.99K − 88.98K); ≈5.74K late (12.65K − 6.91K) → ≈56% on time.</a:t>
            </a:r>
            <a:endParaRPr lang="en-US" sz="1050" dirty="0"/>
          </a:p>
        </p:txBody>
      </p:sp>
      <p:sp>
        <p:nvSpPr>
          <p:cNvPr id="30" name="Text 26"/>
          <p:cNvSpPr txBox="1"/>
          <p:nvPr/>
        </p:nvSpPr>
        <p:spPr>
          <a:xfrm>
            <a:off x="6903720" y="3730752"/>
            <a:ext cx="457200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YTD adj. on time: 87.60% incl. vs 92.24% excl. partner carriers.</a:t>
            </a:r>
            <a:endParaRPr lang="en-US" sz="1050" dirty="0"/>
          </a:p>
        </p:txBody>
      </p:sp>
      <p:sp>
        <p:nvSpPr>
          <p:cNvPr id="31" name="Shape 27"/>
          <p:cNvSpPr/>
          <p:nvPr/>
        </p:nvSpPr>
        <p:spPr>
          <a:xfrm>
            <a:off x="6720840" y="4133088"/>
            <a:ext cx="4919472" cy="1874520"/>
          </a:xfrm>
          <a:prstGeom prst="roundRect">
            <a:avLst>
              <a:gd name="adj" fmla="val 3902"/>
            </a:avLst>
          </a:prstGeom>
          <a:solidFill>
            <a:srgbClr val="F3F4F6"/>
          </a:solidFill>
          <a:ln w="12700">
            <a:solidFill>
              <a:srgbClr val="F3F4F6"/>
            </a:solidFill>
            <a:prstDash val="solid"/>
          </a:ln>
        </p:spPr>
      </p:sp>
      <p:sp>
        <p:nvSpPr>
          <p:cNvPr id="32" name="Text 28"/>
          <p:cNvSpPr txBox="1"/>
          <p:nvPr/>
        </p:nvSpPr>
        <p:spPr>
          <a:xfrm>
            <a:off x="6903720" y="4215384"/>
            <a:ext cx="45720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What we are doing</a:t>
            </a:r>
            <a:endParaRPr lang="en-US" sz="1300" dirty="0"/>
          </a:p>
        </p:txBody>
      </p:sp>
      <p:sp>
        <p:nvSpPr>
          <p:cNvPr id="33" name="Text 29"/>
          <p:cNvSpPr txBox="1"/>
          <p:nvPr/>
        </p:nvSpPr>
        <p:spPr>
          <a:xfrm>
            <a:off x="6903720" y="4498848"/>
            <a:ext cx="4572000" cy="146304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Drivers own the freight bill — ownership of the FB from inbound to delivery.</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Scanning compliance checked every shift.</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Terminal and P&amp;D teams working together on hand-offs.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End-of-shift reporting on afternoons — every late coded before shift end.</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Partner-carrier (beyond interliner) lates reviewed weekly with the interline team.</a:t>
            </a:r>
            <a:endParaRPr lang="en-US" sz="1050" dirty="0"/>
          </a:p>
        </p:txBody>
      </p:sp>
      <p:sp>
        <p:nvSpPr>
          <p:cNvPr id="34" name="Text 30"/>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b="1" i="1" dirty="0">
                <a:solidFill>
                  <a:srgbClr val="1F2937"/>
                </a:solidFill>
                <a:latin typeface="Calibri" pitchFamily="34" charset="0"/>
                <a:ea typeface="Calibri" pitchFamily="34" charset="-122"/>
                <a:cs typeface="Calibri" pitchFamily="34" charset="-120"/>
              </a:rPr>
              <a:t>Service failures (AS code excluded — not a service failure): week 39 = 66 (top: TF 22); week 40 (Sun–Mon) = 8. </a:t>
            </a:r>
            <a:pPr indent="0" marL="0">
              <a:buNone/>
            </a:pPr>
            <a:r>
              <a:rPr lang="en-US" sz="950" i="1" dirty="0">
                <a:solidFill>
                  <a:srgbClr val="6B7280"/>
                </a:solidFill>
                <a:latin typeface="Calibri" pitchFamily="34" charset="0"/>
                <a:ea typeface="Calibri" pitchFamily="34" charset="-122"/>
                <a:cs typeface="Calibri" pitchFamily="34" charset="-120"/>
              </a:rPr>
              <a:t>Source: Adj On Time dashboard and Terminal OTS report — Mississauga, through Sep 28. Partner carriers = "beyond interliner" freight.</a:t>
            </a:r>
            <a:endParaRPr lang="en-US" sz="950" dirty="0"/>
          </a:p>
        </p:txBody>
      </p:sp>
      <p:sp>
        <p:nvSpPr>
          <p:cNvPr id="35"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6"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6 / 21</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Missed pickups</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Missed PU dashboard · Mississauga · all dates in report through Sep 26, 2026</a:t>
            </a:r>
            <a:endParaRPr lang="en-US" sz="1300" dirty="0"/>
          </a:p>
        </p:txBody>
      </p:sp>
      <p:sp>
        <p:nvSpPr>
          <p:cNvPr id="5" name="Shape 3"/>
          <p:cNvSpPr/>
          <p:nvPr/>
        </p:nvSpPr>
        <p:spPr>
          <a:xfrm>
            <a:off x="548640" y="1645920"/>
            <a:ext cx="1645920" cy="960120"/>
          </a:xfrm>
          <a:prstGeom prst="roundRect">
            <a:avLst>
              <a:gd name="adj" fmla="val 7619"/>
            </a:avLst>
          </a:prstGeom>
          <a:solidFill>
            <a:srgbClr val="F3F4F6"/>
          </a:solidFill>
          <a:ln w="12700">
            <a:solidFill>
              <a:srgbClr val="F3F4F6"/>
            </a:solidFill>
            <a:prstDash val="solid"/>
          </a:ln>
        </p:spPr>
      </p:sp>
      <p:sp>
        <p:nvSpPr>
          <p:cNvPr id="6" name="Text 4"/>
          <p:cNvSpPr txBox="1"/>
          <p:nvPr/>
        </p:nvSpPr>
        <p:spPr>
          <a:xfrm>
            <a:off x="7040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Missed PU %</a:t>
            </a:r>
            <a:endParaRPr lang="en-US" sz="1100" dirty="0"/>
          </a:p>
        </p:txBody>
      </p:sp>
      <p:sp>
        <p:nvSpPr>
          <p:cNvPr id="7" name="Text 5"/>
          <p:cNvSpPr txBox="1"/>
          <p:nvPr/>
        </p:nvSpPr>
        <p:spPr>
          <a:xfrm>
            <a:off x="7040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4.70%</a:t>
            </a:r>
            <a:endParaRPr lang="en-US" sz="2400" dirty="0"/>
          </a:p>
        </p:txBody>
      </p:sp>
      <p:sp>
        <p:nvSpPr>
          <p:cNvPr id="8" name="Shape 6"/>
          <p:cNvSpPr/>
          <p:nvPr/>
        </p:nvSpPr>
        <p:spPr>
          <a:xfrm>
            <a:off x="2377440" y="1645920"/>
            <a:ext cx="1645920" cy="960120"/>
          </a:xfrm>
          <a:prstGeom prst="roundRect">
            <a:avLst>
              <a:gd name="adj" fmla="val 7619"/>
            </a:avLst>
          </a:prstGeom>
          <a:solidFill>
            <a:srgbClr val="F3F4F6"/>
          </a:solidFill>
          <a:ln w="12700">
            <a:solidFill>
              <a:srgbClr val="F3F4F6"/>
            </a:solidFill>
            <a:prstDash val="solid"/>
          </a:ln>
        </p:spPr>
      </p:sp>
      <p:sp>
        <p:nvSpPr>
          <p:cNvPr id="9" name="Text 7"/>
          <p:cNvSpPr txBox="1"/>
          <p:nvPr/>
        </p:nvSpPr>
        <p:spPr>
          <a:xfrm>
            <a:off x="25328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Missed PUs</a:t>
            </a:r>
            <a:endParaRPr lang="en-US" sz="1100" dirty="0"/>
          </a:p>
        </p:txBody>
      </p:sp>
      <p:sp>
        <p:nvSpPr>
          <p:cNvPr id="10" name="Text 8"/>
          <p:cNvSpPr txBox="1"/>
          <p:nvPr/>
        </p:nvSpPr>
        <p:spPr>
          <a:xfrm>
            <a:off x="25328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3,415</a:t>
            </a:r>
            <a:endParaRPr lang="en-US" sz="2400" dirty="0"/>
          </a:p>
        </p:txBody>
      </p:sp>
      <p:sp>
        <p:nvSpPr>
          <p:cNvPr id="11" name="Shape 9"/>
          <p:cNvSpPr/>
          <p:nvPr/>
        </p:nvSpPr>
        <p:spPr>
          <a:xfrm>
            <a:off x="4206240" y="1645920"/>
            <a:ext cx="1645920" cy="960120"/>
          </a:xfrm>
          <a:prstGeom prst="roundRect">
            <a:avLst>
              <a:gd name="adj" fmla="val 7619"/>
            </a:avLst>
          </a:prstGeom>
          <a:solidFill>
            <a:srgbClr val="F3F4F6"/>
          </a:solidFill>
          <a:ln w="12700">
            <a:solidFill>
              <a:srgbClr val="F3F4F6"/>
            </a:solidFill>
            <a:prstDash val="solid"/>
          </a:ln>
        </p:spPr>
      </p:sp>
      <p:sp>
        <p:nvSpPr>
          <p:cNvPr id="12" name="Text 10"/>
          <p:cNvSpPr txBox="1"/>
          <p:nvPr/>
        </p:nvSpPr>
        <p:spPr>
          <a:xfrm>
            <a:off x="43616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Successful PUs</a:t>
            </a:r>
            <a:endParaRPr lang="en-US" sz="1100" dirty="0"/>
          </a:p>
        </p:txBody>
      </p:sp>
      <p:sp>
        <p:nvSpPr>
          <p:cNvPr id="13" name="Text 11"/>
          <p:cNvSpPr txBox="1"/>
          <p:nvPr/>
        </p:nvSpPr>
        <p:spPr>
          <a:xfrm>
            <a:off x="43616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69K</a:t>
            </a:r>
            <a:endParaRPr lang="en-US" sz="2400" dirty="0"/>
          </a:p>
        </p:txBody>
      </p:sp>
      <p:sp>
        <p:nvSpPr>
          <p:cNvPr id="14" name="Shape 12"/>
          <p:cNvSpPr/>
          <p:nvPr/>
        </p:nvSpPr>
        <p:spPr>
          <a:xfrm>
            <a:off x="6035040" y="1645920"/>
            <a:ext cx="1645920" cy="960120"/>
          </a:xfrm>
          <a:prstGeom prst="roundRect">
            <a:avLst>
              <a:gd name="adj" fmla="val 7619"/>
            </a:avLst>
          </a:prstGeom>
          <a:solidFill>
            <a:srgbClr val="F3F4F6"/>
          </a:solidFill>
          <a:ln w="12700">
            <a:solidFill>
              <a:srgbClr val="F3F4F6"/>
            </a:solidFill>
            <a:prstDash val="solid"/>
          </a:ln>
        </p:spPr>
      </p:sp>
      <p:sp>
        <p:nvSpPr>
          <p:cNvPr id="15" name="Text 13"/>
          <p:cNvSpPr txBox="1"/>
          <p:nvPr/>
        </p:nvSpPr>
        <p:spPr>
          <a:xfrm>
            <a:off x="61904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Total measured</a:t>
            </a:r>
            <a:endParaRPr lang="en-US" sz="1100" dirty="0"/>
          </a:p>
        </p:txBody>
      </p:sp>
      <p:sp>
        <p:nvSpPr>
          <p:cNvPr id="16" name="Text 14"/>
          <p:cNvSpPr txBox="1"/>
          <p:nvPr/>
        </p:nvSpPr>
        <p:spPr>
          <a:xfrm>
            <a:off x="61904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73K</a:t>
            </a:r>
            <a:endParaRPr lang="en-US" sz="2400" dirty="0"/>
          </a:p>
        </p:txBody>
      </p:sp>
      <p:graphicFrame>
        <p:nvGraphicFramePr>
          <p:cNvPr id="17" name="Chart 0" descr=""/>
          <p:cNvGraphicFramePr/>
          <p:nvPr/>
        </p:nvGraphicFramePr>
        <p:xfrm>
          <a:off x="548640" y="2788920"/>
          <a:ext cx="3017520" cy="3200400"/>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3703320" y="2788920"/>
          <a:ext cx="3977640" cy="3200400"/>
        </p:xfrm>
        <a:graphic xmlns:a="http://schemas.openxmlformats.org/drawingml/2006/main">
          <a:graphicData uri="http://schemas.openxmlformats.org/drawingml/2006/chart">
            <c:chart xmlns:c="http://schemas.openxmlformats.org/drawingml/2006/chart" r:id="rId2"/>
          </a:graphicData>
        </a:graphic>
      </p:graphicFrame>
      <p:sp>
        <p:nvSpPr>
          <p:cNvPr id="19" name="Shape 15"/>
          <p:cNvSpPr/>
          <p:nvPr/>
        </p:nvSpPr>
        <p:spPr>
          <a:xfrm>
            <a:off x="7955280" y="1645920"/>
            <a:ext cx="3685032" cy="1481328"/>
          </a:xfrm>
          <a:prstGeom prst="roundRect">
            <a:avLst>
              <a:gd name="adj" fmla="val 4938"/>
            </a:avLst>
          </a:prstGeom>
          <a:solidFill>
            <a:srgbClr val="FFF7ED"/>
          </a:solidFill>
          <a:ln w="12700">
            <a:solidFill>
              <a:srgbClr val="FFF7ED"/>
            </a:solidFill>
            <a:prstDash val="solid"/>
          </a:ln>
        </p:spPr>
      </p:sp>
      <p:sp>
        <p:nvSpPr>
          <p:cNvPr id="20" name="Text 16"/>
          <p:cNvSpPr txBox="1"/>
          <p:nvPr/>
        </p:nvSpPr>
        <p:spPr>
          <a:xfrm>
            <a:off x="8156448" y="1755648"/>
            <a:ext cx="3291840" cy="274320"/>
          </a:xfrm>
          <a:prstGeom prst="rect">
            <a:avLst/>
          </a:prstGeom>
          <a:noFill/>
          <a:ln/>
        </p:spPr>
        <p:txBody>
          <a:bodyPr wrap="square" lIns="0" tIns="0" rIns="0" bIns="0" rtlCol="0" anchor="ctr"/>
          <a:lstStyle/>
          <a:p>
            <a:pPr indent="0" marL="0">
              <a:buNone/>
            </a:pPr>
            <a:r>
              <a:rPr lang="en-US" sz="1300" b="1" dirty="0">
                <a:solidFill>
                  <a:srgbClr val="EA580C"/>
                </a:solidFill>
                <a:latin typeface="Calibri" pitchFamily="34" charset="0"/>
                <a:ea typeface="Calibri" pitchFamily="34" charset="-122"/>
                <a:cs typeface="Calibri" pitchFamily="34" charset="-120"/>
              </a:rPr>
              <a:t>Key message</a:t>
            </a:r>
            <a:endParaRPr lang="en-US" sz="1300" dirty="0"/>
          </a:p>
        </p:txBody>
      </p:sp>
      <p:sp>
        <p:nvSpPr>
          <p:cNvPr id="21" name="Text 17"/>
          <p:cNvSpPr txBox="1"/>
          <p:nvPr/>
        </p:nvSpPr>
        <p:spPr>
          <a:xfrm>
            <a:off x="8156448" y="2011680"/>
            <a:ext cx="3337560" cy="1078992"/>
          </a:xfrm>
          <a:prstGeom prst="rect">
            <a:avLst/>
          </a:prstGeom>
          <a:noFill/>
          <a:ln/>
        </p:spPr>
        <p:txBody>
          <a:bodyPr wrap="square" lIns="0" tIns="0" rIns="0" bIns="0" rtlCol="0" anchor="t"/>
          <a:lstStyle/>
          <a:p>
            <a:pPr indent="0" marL="0">
              <a:spcAft>
                <a:spcPts val="600"/>
              </a:spcAft>
              <a:buNone/>
            </a:pPr>
            <a:r>
              <a:rPr lang="en-US" sz="1000" dirty="0">
                <a:solidFill>
                  <a:srgbClr val="1F2937"/>
                </a:solidFill>
                <a:latin typeface="Calibri" pitchFamily="34" charset="0"/>
                <a:ea typeface="Calibri" pitchFamily="34" charset="-122"/>
                <a:cs typeface="Calibri" pitchFamily="34" charset="-120"/>
              </a:rPr>
              <a:t>Only ~15% of missed PUs are true OPS issues; 45% are OPS false positives (40.7% coded 'already serviced') → close-out/scan discipline fix.</a:t>
            </a:r>
            <a:endParaRPr lang="en-US" sz="1000" dirty="0"/>
          </a:p>
          <a:p>
            <a:pPr indent="0" marL="0">
              <a:buNone/>
            </a:pPr>
            <a:r>
              <a:rPr lang="en-US" sz="1000" b="1" dirty="0">
                <a:solidFill>
                  <a:srgbClr val="059669"/>
                </a:solidFill>
                <a:latin typeface="Calibri" pitchFamily="34" charset="0"/>
                <a:ea typeface="Calibri" pitchFamily="34" charset="-122"/>
                <a:cs typeface="Calibri" pitchFamily="34" charset="-120"/>
              </a:rPr>
              <a:t>Excluding false positives, missed PU % would be ≈2.6%.</a:t>
            </a:r>
            <a:endParaRPr lang="en-US" sz="1000" dirty="0"/>
          </a:p>
          <a:p>
            <a:pPr indent="0" marL="0">
              <a:buNone/>
            </a:pPr>
            <a:r>
              <a:rPr lang="en-US" sz="900" i="1" dirty="0">
                <a:solidFill>
                  <a:srgbClr val="6B7280"/>
                </a:solidFill>
                <a:latin typeface="Calibri" pitchFamily="34" charset="0"/>
                <a:ea typeface="Calibri" pitchFamily="34" charset="-122"/>
                <a:cs typeface="Calibri" pitchFamily="34" charset="-120"/>
              </a:rPr>
              <a:t>Calculated: (3,415 − 1,530) ÷ 73K</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955280" y="4160520"/>
          <a:ext cx="3685032" cy="914400"/>
        </p:xfrm>
        <a:graphic>
          <a:graphicData uri="http://schemas.openxmlformats.org/drawingml/2006/table">
            <a:tbl>
              <a:tblPr/>
              <a:tblGrid>
                <a:gridCol w="2130552"/>
                <a:gridCol w="731520"/>
                <a:gridCol w="822960"/>
              </a:tblGrid>
              <a:tr h="18288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By category</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OPS – false positive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1.53K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44.7%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Customer issue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1.19K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34.7%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OPS issue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0.51K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Cancelled / other</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Top reasons</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Already serviced</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1.39K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40.7%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Not ready</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0.62K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18.2%</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Customer issue – other</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0.29K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Appointment</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0.17K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bl>
          </a:graphicData>
        </a:graphic>
      </p:graphicFrame>
      <p:sp>
        <p:nvSpPr>
          <p:cNvPr id="23" name="Shape 18"/>
          <p:cNvSpPr/>
          <p:nvPr/>
        </p:nvSpPr>
        <p:spPr>
          <a:xfrm>
            <a:off x="7955280" y="3218688"/>
            <a:ext cx="3685032" cy="841248"/>
          </a:xfrm>
          <a:prstGeom prst="roundRect">
            <a:avLst>
              <a:gd name="adj" fmla="val 8696"/>
            </a:avLst>
          </a:prstGeom>
          <a:solidFill>
            <a:srgbClr val="FEF2F2"/>
          </a:solidFill>
          <a:ln w="12700">
            <a:solidFill>
              <a:srgbClr val="FEF2F2"/>
            </a:solidFill>
            <a:prstDash val="solid"/>
          </a:ln>
        </p:spPr>
      </p:sp>
      <p:sp>
        <p:nvSpPr>
          <p:cNvPr id="24" name="Text 19"/>
          <p:cNvSpPr txBox="1"/>
          <p:nvPr/>
        </p:nvSpPr>
        <p:spPr>
          <a:xfrm>
            <a:off x="8119872" y="3255264"/>
            <a:ext cx="3383280" cy="219456"/>
          </a:xfrm>
          <a:prstGeom prst="rect">
            <a:avLst/>
          </a:prstGeom>
          <a:noFill/>
          <a:ln/>
        </p:spPr>
        <p:txBody>
          <a:bodyPr wrap="square" lIns="0" tIns="0" rIns="0" bIns="0" rtlCol="0" anchor="ctr"/>
          <a:lstStyle/>
          <a:p>
            <a:pPr indent="0" marL="0">
              <a:buNone/>
            </a:pPr>
            <a:r>
              <a:rPr lang="en-US" sz="1050" b="1" dirty="0">
                <a:solidFill>
                  <a:srgbClr val="1F2937"/>
                </a:solidFill>
                <a:latin typeface="Calibri" pitchFamily="34" charset="0"/>
                <a:ea typeface="Calibri" pitchFamily="34" charset="-122"/>
                <a:cs typeface="Calibri" pitchFamily="34" charset="-120"/>
              </a:rPr>
              <a:t>Damaged FB % · 7-day avg to Sep 28</a:t>
            </a:r>
            <a:endParaRPr lang="en-US" sz="1050" dirty="0"/>
          </a:p>
        </p:txBody>
      </p:sp>
      <p:sp>
        <p:nvSpPr>
          <p:cNvPr id="25" name="Text 20"/>
          <p:cNvSpPr txBox="1"/>
          <p:nvPr/>
        </p:nvSpPr>
        <p:spPr>
          <a:xfrm>
            <a:off x="8119872" y="3474720"/>
            <a:ext cx="3383280" cy="310896"/>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1.61%</a:t>
            </a:r>
            <a:pPr indent="0" marL="0">
              <a:buNone/>
            </a:pPr>
            <a:r>
              <a:rPr lang="en-US" sz="1050" dirty="0">
                <a:solidFill>
                  <a:srgbClr val="6B7280"/>
                </a:solidFill>
                <a:latin typeface="Calibri" pitchFamily="34" charset="0"/>
                <a:ea typeface="Calibri" pitchFamily="34" charset="-122"/>
                <a:cs typeface="Calibri" pitchFamily="34" charset="-120"/>
              </a:rPr>
              <a:t>   week 39: 2.10%</a:t>
            </a:r>
            <a:endParaRPr lang="en-US" sz="1800" dirty="0"/>
          </a:p>
        </p:txBody>
      </p:sp>
      <p:sp>
        <p:nvSpPr>
          <p:cNvPr id="26" name="Text 21"/>
          <p:cNvSpPr txBox="1"/>
          <p:nvPr/>
        </p:nvSpPr>
        <p:spPr>
          <a:xfrm>
            <a:off x="8119872" y="3785616"/>
            <a:ext cx="3383280" cy="219456"/>
          </a:xfrm>
          <a:prstGeom prst="rect">
            <a:avLst/>
          </a:prstGeom>
          <a:noFill/>
          <a:ln/>
        </p:spPr>
        <p:txBody>
          <a:bodyPr wrap="square" lIns="0" tIns="0" rIns="0" bIns="0" rtlCol="0" anchor="ctr"/>
          <a:lstStyle/>
          <a:p>
            <a:pPr indent="0" marL="0">
              <a:buNone/>
            </a:pPr>
            <a:r>
              <a:rPr lang="en-US" sz="950" b="1" dirty="0">
                <a:solidFill>
                  <a:srgbClr val="059669"/>
                </a:solidFill>
                <a:latin typeface="Calibri" pitchFamily="34" charset="0"/>
                <a:ea typeface="Calibri" pitchFamily="34" charset="-122"/>
                <a:cs typeface="Calibri" pitchFamily="34" charset="-120"/>
              </a:rPr>
              <a:t>7-day avg 1.61%; latest day 0.31% (Sep 28)</a:t>
            </a:r>
            <a:endParaRPr lang="en-US" sz="950" dirty="0"/>
          </a:p>
        </p:txBody>
      </p:sp>
      <p:sp>
        <p:nvSpPr>
          <p:cNvPr id="27" name="Text 22"/>
          <p:cNvSpPr txBox="1"/>
          <p:nvPr/>
        </p:nvSpPr>
        <p:spPr>
          <a:xfrm>
            <a:off x="548640" y="6126480"/>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Missed PU dashboard (through Sep 26) &amp; % Damaged FB dashboard (to Sep 28) — Mississauga. *Week 39 partial.</a:t>
            </a:r>
            <a:endParaRPr lang="en-US" sz="950" dirty="0"/>
          </a:p>
        </p:txBody>
      </p:sp>
      <p:sp>
        <p:nvSpPr>
          <p:cNvPr id="28" name="Text 2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9" name="Text 2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7 / 21</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F27 KPI goals — where we are</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Company F27 goal plan · Mississauga latest</a:t>
            </a:r>
            <a:endParaRPr lang="en-US" sz="1300" dirty="0"/>
          </a:p>
        </p:txBody>
      </p:sp>
      <p:sp>
        <p:nvSpPr>
          <p:cNvPr id="5" name="Shape 3"/>
          <p:cNvSpPr/>
          <p:nvPr/>
        </p:nvSpPr>
        <p:spPr>
          <a:xfrm>
            <a:off x="548640" y="1645920"/>
            <a:ext cx="3544824" cy="3108960"/>
          </a:xfrm>
          <a:prstGeom prst="roundRect">
            <a:avLst>
              <a:gd name="adj" fmla="val 2353"/>
            </a:avLst>
          </a:prstGeom>
          <a:solidFill>
            <a:srgbClr val="F3F4F6"/>
          </a:solidFill>
          <a:ln w="12700">
            <a:solidFill>
              <a:srgbClr val="F3F4F6"/>
            </a:solidFill>
            <a:prstDash val="solid"/>
          </a:ln>
        </p:spPr>
      </p:sp>
      <p:sp>
        <p:nvSpPr>
          <p:cNvPr id="6" name="Text 4"/>
          <p:cNvSpPr txBox="1"/>
          <p:nvPr/>
        </p:nvSpPr>
        <p:spPr>
          <a:xfrm>
            <a:off x="777240" y="1783080"/>
            <a:ext cx="3087624" cy="32004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On-time service</a:t>
            </a:r>
            <a:endParaRPr lang="en-US" sz="1600" dirty="0"/>
          </a:p>
        </p:txBody>
      </p:sp>
      <p:sp>
        <p:nvSpPr>
          <p:cNvPr id="7" name="Text 5"/>
          <p:cNvSpPr txBox="1"/>
          <p:nvPr/>
        </p:nvSpPr>
        <p:spPr>
          <a:xfrm>
            <a:off x="777240" y="2084832"/>
            <a:ext cx="3087624"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incl. interliners</a:t>
            </a:r>
            <a:endParaRPr lang="en-US" sz="1050" dirty="0"/>
          </a:p>
        </p:txBody>
      </p:sp>
      <p:sp>
        <p:nvSpPr>
          <p:cNvPr id="8" name="Shape 6"/>
          <p:cNvSpPr/>
          <p:nvPr/>
        </p:nvSpPr>
        <p:spPr>
          <a:xfrm>
            <a:off x="777240" y="2395728"/>
            <a:ext cx="2011680" cy="292608"/>
          </a:xfrm>
          <a:prstGeom prst="roundRect">
            <a:avLst>
              <a:gd name="adj" fmla="val 25000"/>
            </a:avLst>
          </a:prstGeom>
          <a:solidFill>
            <a:srgbClr val="D1FAE5"/>
          </a:solidFill>
          <a:ln w="12700">
            <a:solidFill>
              <a:srgbClr val="D1FAE5"/>
            </a:solidFill>
            <a:prstDash val="solid"/>
          </a:ln>
        </p:spPr>
      </p:sp>
      <p:sp>
        <p:nvSpPr>
          <p:cNvPr id="9" name="Text 7"/>
          <p:cNvSpPr txBox="1"/>
          <p:nvPr/>
        </p:nvSpPr>
        <p:spPr>
          <a:xfrm>
            <a:off x="777240" y="2395728"/>
            <a:ext cx="2011680" cy="292608"/>
          </a:xfrm>
          <a:prstGeom prst="rect">
            <a:avLst/>
          </a:prstGeom>
          <a:noFill/>
          <a:ln/>
        </p:spPr>
        <p:txBody>
          <a:bodyPr wrap="square" lIns="0" tIns="0" rIns="0" bIns="0" rtlCol="0" anchor="ctr"/>
          <a:lstStyle/>
          <a:p>
            <a:pPr algn="ctr" indent="0" marL="0">
              <a:buNone/>
            </a:pPr>
            <a:r>
              <a:rPr lang="en-US" sz="1000" b="1" spc="100" kern="0" dirty="0">
                <a:solidFill>
                  <a:srgbClr val="059669"/>
                </a:solidFill>
                <a:latin typeface="Calibri" pitchFamily="34" charset="0"/>
                <a:ea typeface="Calibri" pitchFamily="34" charset="-122"/>
                <a:cs typeface="Calibri" pitchFamily="34" charset="-120"/>
              </a:rPr>
              <a:t>EXCEEDED</a:t>
            </a:r>
            <a:endParaRPr lang="en-US" sz="1000" dirty="0"/>
          </a:p>
        </p:txBody>
      </p:sp>
      <p:sp>
        <p:nvSpPr>
          <p:cNvPr id="10" name="Text 8"/>
          <p:cNvSpPr txBox="1"/>
          <p:nvPr/>
        </p:nvSpPr>
        <p:spPr>
          <a:xfrm>
            <a:off x="777240" y="2761488"/>
            <a:ext cx="3087624" cy="640080"/>
          </a:xfrm>
          <a:prstGeom prst="rect">
            <a:avLst/>
          </a:prstGeom>
          <a:noFill/>
          <a:ln/>
        </p:spPr>
        <p:txBody>
          <a:bodyPr wrap="square" lIns="0" tIns="0" rIns="0" bIns="0" rtlCol="0" anchor="ctr"/>
          <a:lstStyle/>
          <a:p>
            <a:pPr indent="0" marL="0">
              <a:buNone/>
            </a:pPr>
            <a:r>
              <a:rPr lang="en-US" sz="4000" b="1" dirty="0">
                <a:solidFill>
                  <a:srgbClr val="059669"/>
                </a:solidFill>
                <a:latin typeface="Calibri" pitchFamily="34" charset="0"/>
                <a:ea typeface="Calibri" pitchFamily="34" charset="-122"/>
                <a:cs typeface="Calibri" pitchFamily="34" charset="-120"/>
              </a:rPr>
              <a:t>▲ 93.7%</a:t>
            </a:r>
            <a:endParaRPr lang="en-US" sz="4000" dirty="0"/>
          </a:p>
        </p:txBody>
      </p:sp>
      <p:sp>
        <p:nvSpPr>
          <p:cNvPr id="11" name="Text 9"/>
          <p:cNvSpPr txBox="1"/>
          <p:nvPr/>
        </p:nvSpPr>
        <p:spPr>
          <a:xfrm>
            <a:off x="777240" y="3401568"/>
            <a:ext cx="3087624" cy="256032"/>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Sep · goal ≥ 91%</a:t>
            </a:r>
            <a:endParaRPr lang="en-US" sz="1100" dirty="0"/>
          </a:p>
        </p:txBody>
      </p:sp>
      <p:sp>
        <p:nvSpPr>
          <p:cNvPr id="12" name="Text 10"/>
          <p:cNvSpPr txBox="1"/>
          <p:nvPr/>
        </p:nvSpPr>
        <p:spPr>
          <a:xfrm>
            <a:off x="777240" y="3703320"/>
            <a:ext cx="3087624" cy="960120"/>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Up every month since July (89.3 → 91.7 → 93.7). Hold 92%+ through peak.</a:t>
            </a:r>
            <a:endParaRPr lang="en-US" sz="1200" dirty="0"/>
          </a:p>
        </p:txBody>
      </p:sp>
      <p:sp>
        <p:nvSpPr>
          <p:cNvPr id="13" name="Shape 11"/>
          <p:cNvSpPr/>
          <p:nvPr/>
        </p:nvSpPr>
        <p:spPr>
          <a:xfrm>
            <a:off x="4322064" y="1645920"/>
            <a:ext cx="3544824" cy="3108960"/>
          </a:xfrm>
          <a:prstGeom prst="roundRect">
            <a:avLst>
              <a:gd name="adj" fmla="val 2353"/>
            </a:avLst>
          </a:prstGeom>
          <a:solidFill>
            <a:srgbClr val="F3F4F6"/>
          </a:solidFill>
          <a:ln w="12700">
            <a:solidFill>
              <a:srgbClr val="F3F4F6"/>
            </a:solidFill>
            <a:prstDash val="solid"/>
          </a:ln>
        </p:spPr>
      </p:sp>
      <p:sp>
        <p:nvSpPr>
          <p:cNvPr id="14" name="Text 12"/>
          <p:cNvSpPr txBox="1"/>
          <p:nvPr/>
        </p:nvSpPr>
        <p:spPr>
          <a:xfrm>
            <a:off x="4550664" y="1783080"/>
            <a:ext cx="3087624" cy="32004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Missed pickups</a:t>
            </a:r>
            <a:endParaRPr lang="en-US" sz="1600" dirty="0"/>
          </a:p>
        </p:txBody>
      </p:sp>
      <p:sp>
        <p:nvSpPr>
          <p:cNvPr id="15" name="Text 13"/>
          <p:cNvSpPr txBox="1"/>
          <p:nvPr/>
        </p:nvSpPr>
        <p:spPr>
          <a:xfrm>
            <a:off x="4550664" y="2084832"/>
            <a:ext cx="3087624"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 of pickups</a:t>
            </a:r>
            <a:endParaRPr lang="en-US" sz="1050" dirty="0"/>
          </a:p>
        </p:txBody>
      </p:sp>
      <p:sp>
        <p:nvSpPr>
          <p:cNvPr id="16" name="Shape 14"/>
          <p:cNvSpPr/>
          <p:nvPr/>
        </p:nvSpPr>
        <p:spPr>
          <a:xfrm>
            <a:off x="4550664" y="2395728"/>
            <a:ext cx="2011680" cy="292608"/>
          </a:xfrm>
          <a:prstGeom prst="roundRect">
            <a:avLst>
              <a:gd name="adj" fmla="val 25000"/>
            </a:avLst>
          </a:prstGeom>
          <a:solidFill>
            <a:srgbClr val="FEE2E2"/>
          </a:solidFill>
          <a:ln w="12700">
            <a:solidFill>
              <a:srgbClr val="FEE2E2"/>
            </a:solidFill>
            <a:prstDash val="solid"/>
          </a:ln>
        </p:spPr>
      </p:sp>
      <p:sp>
        <p:nvSpPr>
          <p:cNvPr id="17" name="Text 15"/>
          <p:cNvSpPr txBox="1"/>
          <p:nvPr/>
        </p:nvSpPr>
        <p:spPr>
          <a:xfrm>
            <a:off x="4550664" y="2395728"/>
            <a:ext cx="2011680" cy="292608"/>
          </a:xfrm>
          <a:prstGeom prst="rect">
            <a:avLst/>
          </a:prstGeom>
          <a:noFill/>
          <a:ln/>
        </p:spPr>
        <p:txBody>
          <a:bodyPr wrap="square" lIns="0" tIns="0" rIns="0" bIns="0" rtlCol="0" anchor="ctr"/>
          <a:lstStyle/>
          <a:p>
            <a:pPr algn="ctr" indent="0" marL="0">
              <a:buNone/>
            </a:pPr>
            <a:r>
              <a:rPr lang="en-US" sz="1000" b="1" spc="100" kern="0" dirty="0">
                <a:solidFill>
                  <a:srgbClr val="DC2626"/>
                </a:solidFill>
                <a:latin typeface="Calibri" pitchFamily="34" charset="0"/>
                <a:ea typeface="Calibri" pitchFamily="34" charset="-122"/>
                <a:cs typeface="Calibri" pitchFamily="34" charset="-120"/>
              </a:rPr>
              <a:t>NEEDS IMPROVEMENT</a:t>
            </a:r>
            <a:endParaRPr lang="en-US" sz="1000" dirty="0"/>
          </a:p>
        </p:txBody>
      </p:sp>
      <p:sp>
        <p:nvSpPr>
          <p:cNvPr id="18" name="Text 16"/>
          <p:cNvSpPr txBox="1"/>
          <p:nvPr/>
        </p:nvSpPr>
        <p:spPr>
          <a:xfrm>
            <a:off x="4550664" y="2761488"/>
            <a:ext cx="3087624" cy="640080"/>
          </a:xfrm>
          <a:prstGeom prst="rect">
            <a:avLst/>
          </a:prstGeom>
          <a:noFill/>
          <a:ln/>
        </p:spPr>
        <p:txBody>
          <a:bodyPr wrap="square" lIns="0" tIns="0" rIns="0" bIns="0" rtlCol="0" anchor="ctr"/>
          <a:lstStyle/>
          <a:p>
            <a:pPr indent="0" marL="0">
              <a:buNone/>
            </a:pPr>
            <a:r>
              <a:rPr lang="en-US" sz="4000" b="1" dirty="0">
                <a:solidFill>
                  <a:srgbClr val="DC2626"/>
                </a:solidFill>
                <a:latin typeface="Calibri" pitchFamily="34" charset="0"/>
                <a:ea typeface="Calibri" pitchFamily="34" charset="-122"/>
                <a:cs typeface="Calibri" pitchFamily="34" charset="-120"/>
              </a:rPr>
              <a:t>▲ 5.23%</a:t>
            </a:r>
            <a:endParaRPr lang="en-US" sz="4000" dirty="0"/>
          </a:p>
        </p:txBody>
      </p:sp>
      <p:sp>
        <p:nvSpPr>
          <p:cNvPr id="19" name="Text 17"/>
          <p:cNvSpPr txBox="1"/>
          <p:nvPr/>
        </p:nvSpPr>
        <p:spPr>
          <a:xfrm>
            <a:off x="4550664" y="3401568"/>
            <a:ext cx="3087624" cy="256032"/>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Sep MTD · goal ≤ 1%</a:t>
            </a:r>
            <a:endParaRPr lang="en-US" sz="1100" dirty="0"/>
          </a:p>
        </p:txBody>
      </p:sp>
      <p:sp>
        <p:nvSpPr>
          <p:cNvPr id="20" name="Text 18"/>
          <p:cNvSpPr txBox="1"/>
          <p:nvPr/>
        </p:nvSpPr>
        <p:spPr>
          <a:xfrm>
            <a:off x="4550664" y="3703320"/>
            <a:ext cx="3087624" cy="960120"/>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≈45% are OPS false positives — close-out fix and daily PU review close most of the gap.</a:t>
            </a:r>
            <a:endParaRPr lang="en-US" sz="1200" dirty="0"/>
          </a:p>
        </p:txBody>
      </p:sp>
      <p:sp>
        <p:nvSpPr>
          <p:cNvPr id="21" name="Shape 19"/>
          <p:cNvSpPr/>
          <p:nvPr/>
        </p:nvSpPr>
        <p:spPr>
          <a:xfrm>
            <a:off x="8095488" y="1645920"/>
            <a:ext cx="3544824" cy="3108960"/>
          </a:xfrm>
          <a:prstGeom prst="roundRect">
            <a:avLst>
              <a:gd name="adj" fmla="val 2353"/>
            </a:avLst>
          </a:prstGeom>
          <a:solidFill>
            <a:srgbClr val="F3F4F6"/>
          </a:solidFill>
          <a:ln w="12700">
            <a:solidFill>
              <a:srgbClr val="F3F4F6"/>
            </a:solidFill>
            <a:prstDash val="solid"/>
          </a:ln>
        </p:spPr>
      </p:sp>
      <p:sp>
        <p:nvSpPr>
          <p:cNvPr id="22" name="Text 20"/>
          <p:cNvSpPr txBox="1"/>
          <p:nvPr/>
        </p:nvSpPr>
        <p:spPr>
          <a:xfrm>
            <a:off x="8324088" y="1783080"/>
            <a:ext cx="3087624" cy="32004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Load factor — headhaul</a:t>
            </a:r>
            <a:endParaRPr lang="en-US" sz="1600" dirty="0"/>
          </a:p>
        </p:txBody>
      </p:sp>
      <p:sp>
        <p:nvSpPr>
          <p:cNvPr id="23" name="Text 21"/>
          <p:cNvSpPr txBox="1"/>
          <p:nvPr/>
        </p:nvSpPr>
        <p:spPr>
          <a:xfrm>
            <a:off x="8324088" y="2084832"/>
            <a:ext cx="3087624"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average load %</a:t>
            </a:r>
            <a:endParaRPr lang="en-US" sz="1050" dirty="0"/>
          </a:p>
        </p:txBody>
      </p:sp>
      <p:sp>
        <p:nvSpPr>
          <p:cNvPr id="24" name="Shape 22"/>
          <p:cNvSpPr/>
          <p:nvPr/>
        </p:nvSpPr>
        <p:spPr>
          <a:xfrm>
            <a:off x="8324088" y="2395728"/>
            <a:ext cx="2011680" cy="292608"/>
          </a:xfrm>
          <a:prstGeom prst="roundRect">
            <a:avLst>
              <a:gd name="adj" fmla="val 25000"/>
            </a:avLst>
          </a:prstGeom>
          <a:solidFill>
            <a:srgbClr val="DBEAFE"/>
          </a:solidFill>
          <a:ln w="12700">
            <a:solidFill>
              <a:srgbClr val="DBEAFE"/>
            </a:solidFill>
            <a:prstDash val="solid"/>
          </a:ln>
        </p:spPr>
      </p:sp>
      <p:sp>
        <p:nvSpPr>
          <p:cNvPr id="25" name="Text 23"/>
          <p:cNvSpPr txBox="1"/>
          <p:nvPr/>
        </p:nvSpPr>
        <p:spPr>
          <a:xfrm>
            <a:off x="8324088" y="2395728"/>
            <a:ext cx="2011680" cy="292608"/>
          </a:xfrm>
          <a:prstGeom prst="rect">
            <a:avLst/>
          </a:prstGeom>
          <a:noFill/>
          <a:ln/>
        </p:spPr>
        <p:txBody>
          <a:bodyPr wrap="square" lIns="0" tIns="0" rIns="0" bIns="0" rtlCol="0" anchor="ctr"/>
          <a:lstStyle/>
          <a:p>
            <a:pPr algn="ctr" indent="0" marL="0">
              <a:buNone/>
            </a:pPr>
            <a:r>
              <a:rPr lang="en-US" sz="1000" b="1" spc="100" kern="0" dirty="0">
                <a:solidFill>
                  <a:srgbClr val="2563EB"/>
                </a:solidFill>
                <a:latin typeface="Calibri" pitchFamily="34" charset="0"/>
                <a:ea typeface="Calibri" pitchFamily="34" charset="-122"/>
                <a:cs typeface="Calibri" pitchFamily="34" charset="-120"/>
              </a:rPr>
              <a:t>ACHIEVED</a:t>
            </a:r>
            <a:endParaRPr lang="en-US" sz="1000" dirty="0"/>
          </a:p>
        </p:txBody>
      </p:sp>
      <p:sp>
        <p:nvSpPr>
          <p:cNvPr id="26" name="Text 24"/>
          <p:cNvSpPr txBox="1"/>
          <p:nvPr/>
        </p:nvSpPr>
        <p:spPr>
          <a:xfrm>
            <a:off x="8324088" y="2761488"/>
            <a:ext cx="3087624" cy="640080"/>
          </a:xfrm>
          <a:prstGeom prst="rect">
            <a:avLst/>
          </a:prstGeom>
          <a:noFill/>
          <a:ln/>
        </p:spPr>
        <p:txBody>
          <a:bodyPr wrap="square" lIns="0" tIns="0" rIns="0" bIns="0" rtlCol="0" anchor="ctr"/>
          <a:lstStyle/>
          <a:p>
            <a:pPr indent="0" marL="0">
              <a:buNone/>
            </a:pPr>
            <a:r>
              <a:rPr lang="en-US" sz="4000" b="1" dirty="0">
                <a:solidFill>
                  <a:srgbClr val="059669"/>
                </a:solidFill>
                <a:latin typeface="Calibri" pitchFamily="34" charset="0"/>
                <a:ea typeface="Calibri" pitchFamily="34" charset="-122"/>
                <a:cs typeface="Calibri" pitchFamily="34" charset="-120"/>
              </a:rPr>
              <a:t>▲ 74.9%</a:t>
            </a:r>
            <a:endParaRPr lang="en-US" sz="4000" dirty="0"/>
          </a:p>
        </p:txBody>
      </p:sp>
      <p:sp>
        <p:nvSpPr>
          <p:cNvPr id="27" name="Text 25"/>
          <p:cNvSpPr txBox="1"/>
          <p:nvPr/>
        </p:nvSpPr>
        <p:spPr>
          <a:xfrm>
            <a:off x="8324088" y="3401568"/>
            <a:ext cx="3087624" cy="256032"/>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Jul–Sep · goal ≥ 74%</a:t>
            </a:r>
            <a:endParaRPr lang="en-US" sz="1100" dirty="0"/>
          </a:p>
        </p:txBody>
      </p:sp>
      <p:sp>
        <p:nvSpPr>
          <p:cNvPr id="28" name="Text 26"/>
          <p:cNvSpPr txBox="1"/>
          <p:nvPr/>
        </p:nvSpPr>
        <p:spPr>
          <a:xfrm>
            <a:off x="8324088" y="3703320"/>
            <a:ext cx="3087624" cy="960120"/>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At goal (75.7% excl. Moncton). Toyota footage fix and decking lift it further.</a:t>
            </a:r>
            <a:endParaRPr lang="en-US" sz="1200" dirty="0"/>
          </a:p>
        </p:txBody>
      </p:sp>
      <p:sp>
        <p:nvSpPr>
          <p:cNvPr id="29" name="Shape 27"/>
          <p:cNvSpPr/>
          <p:nvPr/>
        </p:nvSpPr>
        <p:spPr>
          <a:xfrm>
            <a:off x="548640" y="4937760"/>
            <a:ext cx="11091672" cy="1051560"/>
          </a:xfrm>
          <a:prstGeom prst="roundRect">
            <a:avLst>
              <a:gd name="adj" fmla="val 6957"/>
            </a:avLst>
          </a:prstGeom>
          <a:solidFill>
            <a:srgbClr val="FFFFFF"/>
          </a:solidFill>
          <a:ln w="12700">
            <a:solidFill>
              <a:srgbClr val="FFFFFF"/>
            </a:solidFill>
            <a:prstDash val="solid"/>
          </a:ln>
        </p:spPr>
      </p:sp>
      <p:sp>
        <p:nvSpPr>
          <p:cNvPr id="30" name="Text 28"/>
          <p:cNvSpPr txBox="1"/>
          <p:nvPr/>
        </p:nvSpPr>
        <p:spPr>
          <a:xfrm>
            <a:off x="731520" y="4983480"/>
            <a:ext cx="10698480" cy="960120"/>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Also on the F27 plan — measure to confirm: </a:t>
            </a:r>
            <a:pPr indent="0" marL="0">
              <a:buNone/>
            </a:pPr>
            <a:r>
              <a:rPr lang="en-US" sz="1200" dirty="0">
                <a:solidFill>
                  <a:srgbClr val="1F2937"/>
                </a:solidFill>
                <a:latin typeface="Calibri" pitchFamily="34" charset="0"/>
                <a:ea typeface="Calibri" pitchFamily="34" charset="-122"/>
                <a:cs typeface="Calibri" pitchFamily="34" charset="-120"/>
              </a:rPr>
              <a:t>Damages (claims per 1,000 FBs; goal 3.5) · Reweighs (national goal 4,760–5,236; terminal at 131.8% of its target in Sep) · Cubing (goal 0.45–0.5%).</a:t>
            </a:r>
            <a:endParaRPr lang="en-US" sz="1200" dirty="0"/>
          </a:p>
        </p:txBody>
      </p:sp>
      <p:sp>
        <p:nvSpPr>
          <p:cNvPr id="31" name="Text 2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2" name="Text 3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8 / 21</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SCA &amp; SAVINGS</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F27 savings outlook — monthly and yearly roll-up</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Jul–Aug actual · Sep–Jun outlook at the current rate · savings vs the same month in F26</a:t>
            </a:r>
            <a:endParaRPr lang="en-US" sz="1300" dirty="0"/>
          </a:p>
        </p:txBody>
      </p:sp>
      <p:sp>
        <p:nvSpPr>
          <p:cNvPr id="5" name="Shape 3"/>
          <p:cNvSpPr/>
          <p:nvPr/>
        </p:nvSpPr>
        <p:spPr>
          <a:xfrm>
            <a:off x="548640" y="1627632"/>
            <a:ext cx="2635758" cy="987552"/>
          </a:xfrm>
          <a:prstGeom prst="roundRect">
            <a:avLst>
              <a:gd name="adj" fmla="val 7407"/>
            </a:avLst>
          </a:prstGeom>
          <a:solidFill>
            <a:srgbClr val="F3F4F6"/>
          </a:solidFill>
          <a:ln w="12700">
            <a:solidFill>
              <a:srgbClr val="F3F4F6"/>
            </a:solidFill>
            <a:prstDash val="solid"/>
          </a:ln>
        </p:spPr>
      </p:sp>
      <p:sp>
        <p:nvSpPr>
          <p:cNvPr id="6" name="Text 4"/>
          <p:cNvSpPr txBox="1"/>
          <p:nvPr/>
        </p:nvSpPr>
        <p:spPr>
          <a:xfrm>
            <a:off x="731520" y="1719072"/>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Admin contract labour</a:t>
            </a:r>
            <a:endParaRPr lang="en-US" sz="1100" dirty="0"/>
          </a:p>
        </p:txBody>
      </p:sp>
      <p:sp>
        <p:nvSpPr>
          <p:cNvPr id="7" name="Text 5"/>
          <p:cNvSpPr txBox="1"/>
          <p:nvPr/>
        </p:nvSpPr>
        <p:spPr>
          <a:xfrm>
            <a:off x="731520" y="1956816"/>
            <a:ext cx="2269998" cy="384048"/>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$298.1K</a:t>
            </a:r>
            <a:endParaRPr lang="en-US" sz="2400" dirty="0"/>
          </a:p>
        </p:txBody>
      </p:sp>
      <p:sp>
        <p:nvSpPr>
          <p:cNvPr id="8" name="Text 6"/>
          <p:cNvSpPr txBox="1"/>
          <p:nvPr/>
        </p:nvSpPr>
        <p:spPr>
          <a:xfrm>
            <a:off x="731520" y="2340864"/>
            <a:ext cx="2269998" cy="21945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≈$24.8K per month</a:t>
            </a:r>
            <a:endParaRPr lang="en-US" sz="1050" dirty="0"/>
          </a:p>
        </p:txBody>
      </p:sp>
      <p:sp>
        <p:nvSpPr>
          <p:cNvPr id="9" name="Shape 7"/>
          <p:cNvSpPr/>
          <p:nvPr/>
        </p:nvSpPr>
        <p:spPr>
          <a:xfrm>
            <a:off x="3367278" y="1627632"/>
            <a:ext cx="2635758" cy="987552"/>
          </a:xfrm>
          <a:prstGeom prst="roundRect">
            <a:avLst>
              <a:gd name="adj" fmla="val 7407"/>
            </a:avLst>
          </a:prstGeom>
          <a:solidFill>
            <a:srgbClr val="F3F4F6"/>
          </a:solidFill>
          <a:ln w="12700">
            <a:solidFill>
              <a:srgbClr val="F3F4F6"/>
            </a:solidFill>
            <a:prstDash val="solid"/>
          </a:ln>
        </p:spPr>
      </p:sp>
      <p:sp>
        <p:nvSpPr>
          <p:cNvPr id="10" name="Text 8"/>
          <p:cNvSpPr txBox="1"/>
          <p:nvPr/>
        </p:nvSpPr>
        <p:spPr>
          <a:xfrm>
            <a:off x="3550158" y="1719072"/>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Dock contract labour</a:t>
            </a:r>
            <a:endParaRPr lang="en-US" sz="1100" dirty="0"/>
          </a:p>
        </p:txBody>
      </p:sp>
      <p:sp>
        <p:nvSpPr>
          <p:cNvPr id="11" name="Text 9"/>
          <p:cNvSpPr txBox="1"/>
          <p:nvPr/>
        </p:nvSpPr>
        <p:spPr>
          <a:xfrm>
            <a:off x="3550158" y="1956816"/>
            <a:ext cx="2269998" cy="384048"/>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$92.2K</a:t>
            </a:r>
            <a:endParaRPr lang="en-US" sz="2400" dirty="0"/>
          </a:p>
        </p:txBody>
      </p:sp>
      <p:sp>
        <p:nvSpPr>
          <p:cNvPr id="12" name="Text 10"/>
          <p:cNvSpPr txBox="1"/>
          <p:nvPr/>
        </p:nvSpPr>
        <p:spPr>
          <a:xfrm>
            <a:off x="3550158" y="2340864"/>
            <a:ext cx="2269998" cy="21945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≈$7.7K per month</a:t>
            </a:r>
            <a:endParaRPr lang="en-US" sz="1050" dirty="0"/>
          </a:p>
        </p:txBody>
      </p:sp>
      <p:sp>
        <p:nvSpPr>
          <p:cNvPr id="13" name="Shape 11"/>
          <p:cNvSpPr/>
          <p:nvPr/>
        </p:nvSpPr>
        <p:spPr>
          <a:xfrm>
            <a:off x="6185916" y="1627632"/>
            <a:ext cx="2635758" cy="987552"/>
          </a:xfrm>
          <a:prstGeom prst="roundRect">
            <a:avLst>
              <a:gd name="adj" fmla="val 7407"/>
            </a:avLst>
          </a:prstGeom>
          <a:solidFill>
            <a:srgbClr val="F3F4F6"/>
          </a:solidFill>
          <a:ln w="12700">
            <a:solidFill>
              <a:srgbClr val="F3F4F6"/>
            </a:solidFill>
            <a:prstDash val="solid"/>
          </a:ln>
        </p:spPr>
      </p:sp>
      <p:sp>
        <p:nvSpPr>
          <p:cNvPr id="14" name="Text 12"/>
          <p:cNvSpPr txBox="1"/>
          <p:nvPr/>
        </p:nvSpPr>
        <p:spPr>
          <a:xfrm>
            <a:off x="6368796" y="1719072"/>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Dispatcher role (confirmed)</a:t>
            </a:r>
            <a:endParaRPr lang="en-US" sz="1100" dirty="0"/>
          </a:p>
        </p:txBody>
      </p:sp>
      <p:sp>
        <p:nvSpPr>
          <p:cNvPr id="15" name="Text 13"/>
          <p:cNvSpPr txBox="1"/>
          <p:nvPr/>
        </p:nvSpPr>
        <p:spPr>
          <a:xfrm>
            <a:off x="6368796" y="1956816"/>
            <a:ext cx="2269998" cy="384048"/>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$61.0K</a:t>
            </a:r>
            <a:endParaRPr lang="en-US" sz="2400" dirty="0"/>
          </a:p>
        </p:txBody>
      </p:sp>
      <p:sp>
        <p:nvSpPr>
          <p:cNvPr id="16" name="Text 14"/>
          <p:cNvSpPr txBox="1"/>
          <p:nvPr/>
        </p:nvSpPr>
        <p:spPr>
          <a:xfrm>
            <a:off x="6368796" y="2340864"/>
            <a:ext cx="2269998" cy="21945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≈$5.1K per month</a:t>
            </a:r>
            <a:endParaRPr lang="en-US" sz="1050" dirty="0"/>
          </a:p>
        </p:txBody>
      </p:sp>
      <p:sp>
        <p:nvSpPr>
          <p:cNvPr id="17" name="Shape 15"/>
          <p:cNvSpPr/>
          <p:nvPr/>
        </p:nvSpPr>
        <p:spPr>
          <a:xfrm>
            <a:off x="9004554" y="1627632"/>
            <a:ext cx="2635758" cy="987552"/>
          </a:xfrm>
          <a:prstGeom prst="roundRect">
            <a:avLst>
              <a:gd name="adj" fmla="val 7407"/>
            </a:avLst>
          </a:prstGeom>
          <a:solidFill>
            <a:srgbClr val="111827"/>
          </a:solidFill>
          <a:ln w="12700">
            <a:solidFill>
              <a:srgbClr val="111827"/>
            </a:solidFill>
            <a:prstDash val="solid"/>
          </a:ln>
        </p:spPr>
      </p:sp>
      <p:sp>
        <p:nvSpPr>
          <p:cNvPr id="18" name="Text 16"/>
          <p:cNvSpPr txBox="1"/>
          <p:nvPr/>
        </p:nvSpPr>
        <p:spPr>
          <a:xfrm>
            <a:off x="9187434" y="1719072"/>
            <a:ext cx="2269998" cy="237744"/>
          </a:xfrm>
          <a:prstGeom prst="rect">
            <a:avLst/>
          </a:prstGeom>
          <a:noFill/>
          <a:ln/>
        </p:spPr>
        <p:txBody>
          <a:bodyPr wrap="square" lIns="0" tIns="0" rIns="0" bIns="0" rtlCol="0" anchor="ctr"/>
          <a:lstStyle/>
          <a:p>
            <a:pPr indent="0" marL="0">
              <a:buNone/>
            </a:pPr>
            <a:r>
              <a:rPr lang="en-US" sz="1000" b="1" dirty="0">
                <a:solidFill>
                  <a:srgbClr val="9CA3AF"/>
                </a:solidFill>
                <a:latin typeface="Calibri" pitchFamily="34" charset="0"/>
                <a:ea typeface="Calibri" pitchFamily="34" charset="-122"/>
                <a:cs typeface="Calibri" pitchFamily="34" charset="-120"/>
              </a:rPr>
              <a:t>F27 total outlook</a:t>
            </a:r>
            <a:endParaRPr lang="en-US" sz="1000" dirty="0"/>
          </a:p>
        </p:txBody>
      </p:sp>
      <p:sp>
        <p:nvSpPr>
          <p:cNvPr id="19" name="Text 17"/>
          <p:cNvSpPr txBox="1"/>
          <p:nvPr/>
        </p:nvSpPr>
        <p:spPr>
          <a:xfrm>
            <a:off x="9187434" y="1956816"/>
            <a:ext cx="2269998" cy="384048"/>
          </a:xfrm>
          <a:prstGeom prst="rect">
            <a:avLst/>
          </a:prstGeom>
          <a:noFill/>
          <a:ln/>
        </p:spPr>
        <p:txBody>
          <a:bodyPr wrap="square" lIns="0" tIns="0" rIns="0" bIns="0" rtlCol="0" anchor="ctr"/>
          <a:lstStyle/>
          <a:p>
            <a:pPr indent="0" marL="0">
              <a:buNone/>
            </a:pPr>
            <a:r>
              <a:rPr lang="en-US" sz="2400" b="1" dirty="0">
                <a:solidFill>
                  <a:srgbClr val="FACC15"/>
                </a:solidFill>
                <a:latin typeface="Calibri" pitchFamily="34" charset="0"/>
                <a:ea typeface="Calibri" pitchFamily="34" charset="-122"/>
                <a:cs typeface="Calibri" pitchFamily="34" charset="-120"/>
              </a:rPr>
              <a:t>$451.2K</a:t>
            </a:r>
            <a:endParaRPr lang="en-US" sz="2400" dirty="0"/>
          </a:p>
        </p:txBody>
      </p:sp>
      <p:sp>
        <p:nvSpPr>
          <p:cNvPr id="20" name="Text 18"/>
          <p:cNvSpPr txBox="1"/>
          <p:nvPr/>
        </p:nvSpPr>
        <p:spPr>
          <a:xfrm>
            <a:off x="9187434" y="2340864"/>
            <a:ext cx="2269998" cy="219456"/>
          </a:xfrm>
          <a:prstGeom prst="rect">
            <a:avLst/>
          </a:prstGeom>
          <a:noFill/>
          <a:ln/>
        </p:spPr>
        <p:txBody>
          <a:bodyPr wrap="square" lIns="0" tIns="0" rIns="0" bIns="0" rtlCol="0" anchor="ctr"/>
          <a:lstStyle/>
          <a:p>
            <a:pPr indent="0" marL="0">
              <a:buNone/>
            </a:pPr>
            <a:r>
              <a:rPr lang="en-US" sz="1050" dirty="0">
                <a:solidFill>
                  <a:srgbClr val="D1D5DB"/>
                </a:solidFill>
                <a:latin typeface="Calibri" pitchFamily="34" charset="0"/>
                <a:ea typeface="Calibri" pitchFamily="34" charset="-122"/>
                <a:cs typeface="Calibri" pitchFamily="34" charset="-120"/>
              </a:rPr>
              <a:t>≈$37.6K per month · target </a:t>
            </a:r>
            <a:pPr indent="0" marL="0">
              <a:buNone/>
            </a:pPr>
            <a:r>
              <a:rPr lang="en-US" sz="1050" b="1" dirty="0">
                <a:solidFill>
                  <a:srgbClr val="FBBF24"/>
                </a:solidFill>
                <a:latin typeface="Calibri" pitchFamily="34" charset="0"/>
                <a:ea typeface="Calibri" pitchFamily="34" charset="-122"/>
                <a:cs typeface="Calibri" pitchFamily="34" charset="-120"/>
              </a:rPr>
              <a:t>TBC</a:t>
            </a:r>
            <a:endParaRPr lang="en-US" sz="10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2761488"/>
          <a:ext cx="7040880" cy="914400"/>
        </p:xfrm>
        <a:graphic>
          <a:graphicData uri="http://schemas.openxmlformats.org/drawingml/2006/table">
            <a:tbl>
              <a:tblPr/>
              <a:tblGrid>
                <a:gridCol w="3520440"/>
                <a:gridCol w="1188720"/>
                <a:gridCol w="1097280"/>
                <a:gridCol w="1234440"/>
              </a:tblGrid>
              <a:tr h="237744">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Line</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Jul–Aug rate</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 month</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F27 year</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Contract labour — Admin (agency)</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−25.3%</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$24.8K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$298.1K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Contract labour — Dock (agency temps)</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−5.6%</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$7.7K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$92.2K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Contract labour subtotal</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$32.5K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$390.2K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Dispatcher role (confirmed, annual value)</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$5.1K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$61.0K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F27 total</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EDD5"/>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EDD5"/>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$37.6K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EDD5"/>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$451.2K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EDD5"/>
                    </a:solidFill>
                  </a:tcPr>
                </a:tc>
              </a:tr>
            </a:tbl>
          </a:graphicData>
        </a:graphic>
      </p:graphicFrame>
      <p:sp>
        <p:nvSpPr>
          <p:cNvPr id="22" name="Shape 19"/>
          <p:cNvSpPr/>
          <p:nvPr/>
        </p:nvSpPr>
        <p:spPr>
          <a:xfrm>
            <a:off x="7818120" y="2761488"/>
            <a:ext cx="3822192" cy="3145536"/>
          </a:xfrm>
          <a:prstGeom prst="roundRect">
            <a:avLst>
              <a:gd name="adj" fmla="val 2326"/>
            </a:avLst>
          </a:prstGeom>
          <a:solidFill>
            <a:srgbClr val="FFF7ED"/>
          </a:solidFill>
          <a:ln w="12700">
            <a:solidFill>
              <a:srgbClr val="FFF7ED"/>
            </a:solidFill>
            <a:prstDash val="solid"/>
          </a:ln>
        </p:spPr>
      </p:sp>
      <p:sp>
        <p:nvSpPr>
          <p:cNvPr id="23" name="Shape 20"/>
          <p:cNvSpPr/>
          <p:nvPr/>
        </p:nvSpPr>
        <p:spPr>
          <a:xfrm>
            <a:off x="8046720" y="2971800"/>
            <a:ext cx="502920" cy="502920"/>
          </a:xfrm>
          <a:prstGeom prst="ellipse">
            <a:avLst/>
          </a:prstGeom>
          <a:solidFill>
            <a:srgbClr val="EA580C"/>
          </a:solidFill>
          <a:ln w="12700">
            <a:solidFill>
              <a:srgbClr val="EA580C"/>
            </a:solidFill>
            <a:prstDash val="solid"/>
          </a:ln>
        </p:spPr>
      </p:sp>
      <p:pic>
        <p:nvPicPr>
          <p:cNvPr id="24" name="Image 0" descr="preencoded.png">    </p:cNvPr>
          <p:cNvPicPr>
            <a:picLocks noChangeAspect="1"/>
          </p:cNvPicPr>
          <p:nvPr/>
        </p:nvPicPr>
        <p:blipFill>
          <a:blip r:embed="rId1"/>
          <a:stretch>
            <a:fillRect/>
          </a:stretch>
        </p:blipFill>
        <p:spPr>
          <a:xfrm>
            <a:off x="8172450" y="3097530"/>
            <a:ext cx="251460" cy="251460"/>
          </a:xfrm>
          <a:prstGeom prst="rect">
            <a:avLst/>
          </a:prstGeom>
        </p:spPr>
      </p:pic>
      <p:sp>
        <p:nvSpPr>
          <p:cNvPr id="25" name="Text 21"/>
          <p:cNvSpPr txBox="1"/>
          <p:nvPr/>
        </p:nvSpPr>
        <p:spPr>
          <a:xfrm>
            <a:off x="8686800" y="3017520"/>
            <a:ext cx="2834640" cy="41148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How we hold and grow the outlook</a:t>
            </a:r>
            <a:endParaRPr lang="en-US" sz="1600" dirty="0"/>
          </a:p>
        </p:txBody>
      </p:sp>
      <p:sp>
        <p:nvSpPr>
          <p:cNvPr id="26" name="Text 22"/>
          <p:cNvSpPr txBox="1"/>
          <p:nvPr/>
        </p:nvSpPr>
        <p:spPr>
          <a:xfrm>
            <a:off x="8046720" y="3611880"/>
            <a:ext cx="3383280" cy="2148840"/>
          </a:xfrm>
          <a:prstGeom prst="rect">
            <a:avLst/>
          </a:prstGeom>
          <a:noFill/>
          <a:ln/>
        </p:spPr>
        <p:txBody>
          <a:bodyPr wrap="square" lIns="0" tIns="0" rIns="0" bIns="0" rtlCol="0" anchor="t"/>
          <a:lstStyle/>
          <a:p>
            <a:pPr indent="0" marL="0">
              <a:spcAft>
                <a:spcPts val="800"/>
              </a:spcAft>
              <a:buNone/>
            </a:pPr>
            <a:r>
              <a:rPr lang="en-US" sz="1250" b="1" dirty="0">
                <a:solidFill>
                  <a:srgbClr val="111827"/>
                </a:solidFill>
                <a:latin typeface="Calibri" pitchFamily="34" charset="0"/>
                <a:ea typeface="Calibri" pitchFamily="34" charset="-122"/>
                <a:cs typeface="Calibri" pitchFamily="34" charset="-120"/>
              </a:rPr>
              <a:t>Hold the Jul–Aug rates: Admin contract labour −25%, Dock contract labour −6%.</a:t>
            </a:r>
            <a:endParaRPr lang="en-US" sz="1250" dirty="0"/>
          </a:p>
          <a:p>
            <a:pPr indent="0" marL="0">
              <a:spcAft>
                <a:spcPts val="800"/>
              </a:spcAft>
              <a:buNone/>
            </a:pPr>
            <a:r>
              <a:rPr lang="en-US" sz="1250" dirty="0">
                <a:solidFill>
                  <a:srgbClr val="1F2937"/>
                </a:solidFill>
                <a:latin typeface="Calibri" pitchFamily="34" charset="0"/>
                <a:ea typeface="Calibri" pitchFamily="34" charset="-122"/>
                <a:cs typeface="Calibri" pitchFamily="34" charset="-120"/>
              </a:rPr>
              <a:t>Every extra 1% off contract labour ≈ $28.2K/yr (Admin $11.8K, Dock $16.4K).</a:t>
            </a:r>
            <a:endParaRPr lang="en-US" sz="1250" dirty="0"/>
          </a:p>
          <a:p>
            <a:pPr indent="0" marL="0">
              <a:buNone/>
            </a:pPr>
            <a:r>
              <a:rPr lang="en-US" sz="1250" b="1" dirty="0">
                <a:solidFill>
                  <a:srgbClr val="EA580C"/>
                </a:solidFill>
                <a:latin typeface="Calibri" pitchFamily="34" charset="0"/>
                <a:ea typeface="Calibri" pitchFamily="34" charset="-122"/>
                <a:cs typeface="Calibri" pitchFamily="34" charset="-120"/>
              </a:rPr>
              <a:t>Next levers on top: </a:t>
            </a:r>
            <a:pPr indent="0" marL="0">
              <a:buNone/>
            </a:pPr>
            <a:r>
              <a:rPr lang="en-US" sz="1250" dirty="0">
                <a:solidFill>
                  <a:srgbClr val="1F2937"/>
                </a:solidFill>
                <a:latin typeface="Calibri" pitchFamily="34" charset="0"/>
                <a:ea typeface="Calibri" pitchFamily="34" charset="-122"/>
                <a:cs typeface="Calibri" pitchFamily="34" charset="-120"/>
              </a:rPr>
              <a:t>load securement &amp; decking, freight-handling equipment, accessorial capture, Toyota footage capture.</a:t>
            </a:r>
            <a:endParaRPr lang="en-US" sz="1250" dirty="0"/>
          </a:p>
        </p:txBody>
      </p:sp>
      <p:sp>
        <p:nvSpPr>
          <p:cNvPr id="27" name="Text 23"/>
          <p:cNvSpPr txBox="1"/>
          <p:nvPr/>
        </p:nvSpPr>
        <p:spPr>
          <a:xfrm>
            <a:off x="548640" y="6016752"/>
            <a:ext cx="11091672" cy="384048"/>
          </a:xfrm>
          <a:prstGeom prst="rect">
            <a:avLst/>
          </a:prstGeom>
          <a:noFill/>
          <a:ln/>
        </p:spPr>
        <p:txBody>
          <a:bodyPr wrap="square" lIns="0" tIns="0" rIns="0" bIns="0" rtlCol="0" anchor="t"/>
          <a:lstStyle/>
          <a:p>
            <a:pPr indent="0" marL="0">
              <a:buNone/>
            </a:pPr>
            <a:r>
              <a:rPr lang="en-US" sz="950" i="1" dirty="0">
                <a:solidFill>
                  <a:srgbClr val="6B7280"/>
                </a:solidFill>
                <a:latin typeface="Calibri" pitchFamily="34" charset="0"/>
                <a:ea typeface="Calibri" pitchFamily="34" charset="-122"/>
                <a:cs typeface="Calibri" pitchFamily="34" charset="-120"/>
              </a:rPr>
              <a:t>Outlook = the two contract labour buckets (Admin, Dock): each bucket's Jul–Aug % change vs the same months of F26, applied to the remaining F26 months if the rate holds, plus the confirmed dispatcher saving. Estimates, not booked savings. D&amp;R employee wages &amp; benefits (dock and admin) tracked separately. Source: net-amount P&amp;L pivot.</a:t>
            </a:r>
            <a:endParaRPr lang="en-US" sz="950" dirty="0"/>
          </a:p>
        </p:txBody>
      </p:sp>
      <p:sp>
        <p:nvSpPr>
          <p:cNvPr id="28" name="Text 2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9" name="Text 2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9 / 21</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SCA &amp; SAVINGS</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F27 savings — initiative tracker</a:t>
            </a:r>
            <a:endParaRPr lang="en-US" sz="3000" dirty="0"/>
          </a:p>
        </p:txBody>
      </p:sp>
      <p:sp>
        <p:nvSpPr>
          <p:cNvPr id="4" name="Shape 2"/>
          <p:cNvSpPr/>
          <p:nvPr/>
        </p:nvSpPr>
        <p:spPr>
          <a:xfrm>
            <a:off x="548640" y="1371600"/>
            <a:ext cx="2635758" cy="1005840"/>
          </a:xfrm>
          <a:prstGeom prst="roundRect">
            <a:avLst>
              <a:gd name="adj" fmla="val 7273"/>
            </a:avLst>
          </a:prstGeom>
          <a:solidFill>
            <a:srgbClr val="FFF7ED"/>
          </a:solidFill>
          <a:ln w="12700">
            <a:solidFill>
              <a:srgbClr val="FFF7ED"/>
            </a:solidFill>
            <a:prstDash val="solid"/>
          </a:ln>
        </p:spPr>
      </p:sp>
      <p:sp>
        <p:nvSpPr>
          <p:cNvPr id="5" name="Text 3"/>
          <p:cNvSpPr txBox="1"/>
          <p:nvPr/>
        </p:nvSpPr>
        <p:spPr>
          <a:xfrm>
            <a:off x="731520"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F27 take-out target</a:t>
            </a:r>
            <a:endParaRPr lang="en-US" sz="1100" dirty="0"/>
          </a:p>
        </p:txBody>
      </p:sp>
      <p:sp>
        <p:nvSpPr>
          <p:cNvPr id="6" name="Text 4"/>
          <p:cNvSpPr txBox="1"/>
          <p:nvPr/>
        </p:nvSpPr>
        <p:spPr>
          <a:xfrm>
            <a:off x="731520" y="1700784"/>
            <a:ext cx="2269998" cy="384048"/>
          </a:xfrm>
          <a:prstGeom prst="rect">
            <a:avLst/>
          </a:prstGeom>
          <a:noFill/>
          <a:ln/>
        </p:spPr>
        <p:txBody>
          <a:bodyPr wrap="square" lIns="0" tIns="0" rIns="0" bIns="0" rtlCol="0" anchor="ctr"/>
          <a:lstStyle/>
          <a:p>
            <a:pPr indent="0" marL="0">
              <a:buNone/>
            </a:pPr>
            <a:r>
              <a:rPr lang="en-US" sz="2200" b="1" dirty="0">
                <a:solidFill>
                  <a:srgbClr val="D97706"/>
                </a:solidFill>
                <a:latin typeface="Calibri" pitchFamily="34" charset="0"/>
                <a:ea typeface="Calibri" pitchFamily="34" charset="-122"/>
                <a:cs typeface="Calibri" pitchFamily="34" charset="-120"/>
              </a:rPr>
              <a:t>TBC</a:t>
            </a:r>
            <a:endParaRPr lang="en-US" sz="2200" dirty="0"/>
          </a:p>
        </p:txBody>
      </p:sp>
      <p:sp>
        <p:nvSpPr>
          <p:cNvPr id="7" name="Text 5"/>
          <p:cNvSpPr txBox="1"/>
          <p:nvPr/>
        </p:nvSpPr>
        <p:spPr>
          <a:xfrm>
            <a:off x="731520"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Full year</a:t>
            </a:r>
            <a:endParaRPr lang="en-US" sz="1000" dirty="0"/>
          </a:p>
        </p:txBody>
      </p:sp>
      <p:sp>
        <p:nvSpPr>
          <p:cNvPr id="8" name="Shape 6"/>
          <p:cNvSpPr/>
          <p:nvPr/>
        </p:nvSpPr>
        <p:spPr>
          <a:xfrm>
            <a:off x="3367278" y="1371600"/>
            <a:ext cx="2635758" cy="1005840"/>
          </a:xfrm>
          <a:prstGeom prst="roundRect">
            <a:avLst>
              <a:gd name="adj" fmla="val 7273"/>
            </a:avLst>
          </a:prstGeom>
          <a:solidFill>
            <a:srgbClr val="F3F4F6"/>
          </a:solidFill>
          <a:ln w="12700">
            <a:solidFill>
              <a:srgbClr val="F3F4F6"/>
            </a:solidFill>
            <a:prstDash val="solid"/>
          </a:ln>
        </p:spPr>
      </p:sp>
      <p:sp>
        <p:nvSpPr>
          <p:cNvPr id="9" name="Text 7"/>
          <p:cNvSpPr txBox="1"/>
          <p:nvPr/>
        </p:nvSpPr>
        <p:spPr>
          <a:xfrm>
            <a:off x="3550158"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Identified</a:t>
            </a:r>
            <a:endParaRPr lang="en-US" sz="1100" dirty="0"/>
          </a:p>
        </p:txBody>
      </p:sp>
      <p:sp>
        <p:nvSpPr>
          <p:cNvPr id="10" name="Text 8"/>
          <p:cNvSpPr txBox="1"/>
          <p:nvPr/>
        </p:nvSpPr>
        <p:spPr>
          <a:xfrm>
            <a:off x="3550158" y="1700784"/>
            <a:ext cx="2269998" cy="384048"/>
          </a:xfrm>
          <a:prstGeom prst="rect">
            <a:avLst/>
          </a:prstGeom>
          <a:noFill/>
          <a:ln/>
        </p:spPr>
        <p:txBody>
          <a:bodyPr wrap="square" lIns="0" tIns="0" rIns="0" bIns="0" rtlCol="0" anchor="ctr"/>
          <a:lstStyle/>
          <a:p>
            <a:pPr indent="0" marL="0">
              <a:buNone/>
            </a:pPr>
            <a:r>
              <a:rPr lang="en-US" sz="2200" b="1" dirty="0">
                <a:solidFill>
                  <a:srgbClr val="059669"/>
                </a:solidFill>
                <a:latin typeface="Calibri" pitchFamily="34" charset="0"/>
                <a:ea typeface="Calibri" pitchFamily="34" charset="-122"/>
                <a:cs typeface="Calibri" pitchFamily="34" charset="-120"/>
              </a:rPr>
              <a:t>$61,000/yr</a:t>
            </a:r>
            <a:endParaRPr lang="en-US" sz="2200" dirty="0"/>
          </a:p>
        </p:txBody>
      </p:sp>
      <p:sp>
        <p:nvSpPr>
          <p:cNvPr id="11" name="Text 9"/>
          <p:cNvSpPr txBox="1"/>
          <p:nvPr/>
        </p:nvSpPr>
        <p:spPr>
          <a:xfrm>
            <a:off x="3550158"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1 confirmed initiative</a:t>
            </a:r>
            <a:endParaRPr lang="en-US" sz="1000" dirty="0"/>
          </a:p>
        </p:txBody>
      </p:sp>
      <p:sp>
        <p:nvSpPr>
          <p:cNvPr id="12" name="Shape 10"/>
          <p:cNvSpPr/>
          <p:nvPr/>
        </p:nvSpPr>
        <p:spPr>
          <a:xfrm>
            <a:off x="6185916" y="1371600"/>
            <a:ext cx="2635758" cy="1005840"/>
          </a:xfrm>
          <a:prstGeom prst="roundRect">
            <a:avLst>
              <a:gd name="adj" fmla="val 7273"/>
            </a:avLst>
          </a:prstGeom>
          <a:solidFill>
            <a:srgbClr val="F3F4F6"/>
          </a:solidFill>
          <a:ln w="12700">
            <a:solidFill>
              <a:srgbClr val="F3F4F6"/>
            </a:solidFill>
            <a:prstDash val="solid"/>
          </a:ln>
        </p:spPr>
      </p:sp>
      <p:sp>
        <p:nvSpPr>
          <p:cNvPr id="13" name="Text 11"/>
          <p:cNvSpPr txBox="1"/>
          <p:nvPr/>
        </p:nvSpPr>
        <p:spPr>
          <a:xfrm>
            <a:off x="6368796"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Still to identify</a:t>
            </a:r>
            <a:endParaRPr lang="en-US" sz="1100" dirty="0"/>
          </a:p>
        </p:txBody>
      </p:sp>
      <p:sp>
        <p:nvSpPr>
          <p:cNvPr id="14" name="Text 12"/>
          <p:cNvSpPr txBox="1"/>
          <p:nvPr/>
        </p:nvSpPr>
        <p:spPr>
          <a:xfrm>
            <a:off x="6368796" y="1700784"/>
            <a:ext cx="2269998" cy="384048"/>
          </a:xfrm>
          <a:prstGeom prst="rect">
            <a:avLst/>
          </a:prstGeom>
          <a:noFill/>
          <a:ln/>
        </p:spPr>
        <p:txBody>
          <a:bodyPr wrap="square" lIns="0" tIns="0" rIns="0" bIns="0" rtlCol="0" anchor="ctr"/>
          <a:lstStyle/>
          <a:p>
            <a:pPr indent="0" marL="0">
              <a:buNone/>
            </a:pPr>
            <a:r>
              <a:rPr lang="en-US" sz="2200" b="1" dirty="0">
                <a:solidFill>
                  <a:srgbClr val="D97706"/>
                </a:solidFill>
                <a:latin typeface="Calibri" pitchFamily="34" charset="0"/>
                <a:ea typeface="Calibri" pitchFamily="34" charset="-122"/>
                <a:cs typeface="Calibri" pitchFamily="34" charset="-120"/>
              </a:rPr>
              <a:t>TBC</a:t>
            </a:r>
            <a:endParaRPr lang="en-US" sz="2200" dirty="0"/>
          </a:p>
        </p:txBody>
      </p:sp>
      <p:sp>
        <p:nvSpPr>
          <p:cNvPr id="15" name="Text 13"/>
          <p:cNvSpPr txBox="1"/>
          <p:nvPr/>
        </p:nvSpPr>
        <p:spPr>
          <a:xfrm>
            <a:off x="6368796"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Target − identified</a:t>
            </a:r>
            <a:endParaRPr lang="en-US" sz="1000" dirty="0"/>
          </a:p>
        </p:txBody>
      </p:sp>
      <p:sp>
        <p:nvSpPr>
          <p:cNvPr id="16" name="Shape 14"/>
          <p:cNvSpPr/>
          <p:nvPr/>
        </p:nvSpPr>
        <p:spPr>
          <a:xfrm>
            <a:off x="9004554" y="1371600"/>
            <a:ext cx="2635758" cy="1005840"/>
          </a:xfrm>
          <a:prstGeom prst="roundRect">
            <a:avLst>
              <a:gd name="adj" fmla="val 7273"/>
            </a:avLst>
          </a:prstGeom>
          <a:solidFill>
            <a:srgbClr val="F3F4F6"/>
          </a:solidFill>
          <a:ln w="12700">
            <a:solidFill>
              <a:srgbClr val="F3F4F6"/>
            </a:solidFill>
            <a:prstDash val="solid"/>
          </a:ln>
        </p:spPr>
      </p:sp>
      <p:sp>
        <p:nvSpPr>
          <p:cNvPr id="17" name="Text 15"/>
          <p:cNvSpPr txBox="1"/>
          <p:nvPr/>
        </p:nvSpPr>
        <p:spPr>
          <a:xfrm>
            <a:off x="9187434"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Realized YTD</a:t>
            </a:r>
            <a:endParaRPr lang="en-US" sz="1100" dirty="0"/>
          </a:p>
        </p:txBody>
      </p:sp>
      <p:sp>
        <p:nvSpPr>
          <p:cNvPr id="18" name="Text 16"/>
          <p:cNvSpPr txBox="1"/>
          <p:nvPr/>
        </p:nvSpPr>
        <p:spPr>
          <a:xfrm>
            <a:off x="9187434" y="1700784"/>
            <a:ext cx="2269998" cy="384048"/>
          </a:xfrm>
          <a:prstGeom prst="rect">
            <a:avLst/>
          </a:prstGeom>
          <a:noFill/>
          <a:ln/>
        </p:spPr>
        <p:txBody>
          <a:bodyPr wrap="square" lIns="0" tIns="0" rIns="0" bIns="0" rtlCol="0" anchor="ctr"/>
          <a:lstStyle/>
          <a:p>
            <a:pPr indent="0" marL="0">
              <a:buNone/>
            </a:pPr>
            <a:r>
              <a:rPr lang="en-US" sz="2200" b="1" dirty="0">
                <a:solidFill>
                  <a:srgbClr val="D97706"/>
                </a:solidFill>
                <a:latin typeface="Calibri" pitchFamily="34" charset="0"/>
                <a:ea typeface="Calibri" pitchFamily="34" charset="-122"/>
                <a:cs typeface="Calibri" pitchFamily="34" charset="-120"/>
              </a:rPr>
              <a:t>TBC</a:t>
            </a:r>
            <a:endParaRPr lang="en-US" sz="2200" dirty="0"/>
          </a:p>
        </p:txBody>
      </p:sp>
      <p:sp>
        <p:nvSpPr>
          <p:cNvPr id="19" name="Text 17"/>
          <p:cNvSpPr txBox="1"/>
          <p:nvPr/>
        </p:nvSpPr>
        <p:spPr>
          <a:xfrm>
            <a:off x="9187434"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Jul 1 to date</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2560320"/>
          <a:ext cx="11091672" cy="914400"/>
        </p:xfrm>
        <a:graphic>
          <a:graphicData uri="http://schemas.openxmlformats.org/drawingml/2006/table">
            <a:tbl>
              <a:tblPr/>
              <a:tblGrid>
                <a:gridCol w="411480"/>
                <a:gridCol w="5120640"/>
                <a:gridCol w="2148840"/>
                <a:gridCol w="1463040"/>
                <a:gridCol w="1947672"/>
              </a:tblGrid>
              <a:tr h="365760">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Initiative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Category</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Status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 / yr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b="1" dirty="0">
                          <a:solidFill>
                            <a:srgbClr val="111827"/>
                          </a:solidFill>
                          <a:latin typeface="Calibri" pitchFamily="34" charset="0"/>
                          <a:ea typeface="Calibri" pitchFamily="34" charset="-122"/>
                          <a:cs typeface="Calibri" pitchFamily="34" charset="-120"/>
                        </a:rPr>
                        <a:t>Dispatcher role eliminated (dispatch centralized)</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Admin labour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59669"/>
                          </a:solidFill>
                          <a:latin typeface="Calibri" pitchFamily="34" charset="0"/>
                          <a:ea typeface="Calibri" pitchFamily="34" charset="-122"/>
                          <a:cs typeface="Calibri" pitchFamily="34" charset="-120"/>
                        </a:rPr>
                        <a:t>Confirmed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1FAE5"/>
                    </a:solidFill>
                  </a:tcPr>
                </a:tc>
                <a:tc>
                  <a:txBody>
                    <a:bodyPr/>
                    <a:lstStyle/>
                    <a:p>
                      <a:pPr algn="r" indent="0" marL="0">
                        <a:buNone/>
                      </a:pPr>
                      <a:r>
                        <a:rPr lang="en-US" sz="1150" b="1" dirty="0">
                          <a:solidFill>
                            <a:srgbClr val="059669"/>
                          </a:solidFill>
                          <a:latin typeface="Calibri" pitchFamily="34" charset="0"/>
                          <a:ea typeface="Calibri" pitchFamily="34" charset="-122"/>
                          <a:cs typeface="Calibri" pitchFamily="34" charset="-120"/>
                        </a:rPr>
                        <a:t>$61,000</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Agency labour mix (61.4% of dock hours Sept vs 70.5% F26)</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Dock labour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Hours under SCA allowance (391 hrs Sept MTD)</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Dock labour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Load securement &amp; decking (ANCRA)</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Linehaul / load factor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100" b="1" dirty="0">
                          <a:solidFill>
                            <a:srgbClr val="B45309"/>
                          </a:solidFill>
                          <a:latin typeface="Calibri" pitchFamily="34" charset="0"/>
                          <a:ea typeface="Calibri" pitchFamily="34" charset="-122"/>
                          <a:cs typeface="Calibri" pitchFamily="34" charset="-120"/>
                        </a:rPr>
                        <a:t>Planned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F3C7"/>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Freight-handling equipment (panel carts)</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Claims &amp; damage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B45309"/>
                          </a:solidFill>
                          <a:latin typeface="Calibri" pitchFamily="34" charset="0"/>
                          <a:ea typeface="Calibri" pitchFamily="34" charset="-122"/>
                          <a:cs typeface="Calibri" pitchFamily="34" charset="-120"/>
                        </a:rPr>
                        <a:t>Planned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F3C7"/>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Accessorial capture ($758.7K revenue F27 to date)</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Revenue protection</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7</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Toyota baseload footage capture</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Revenue / load factor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EDD5"/>
                    </a:solidFill>
                  </a:tcPr>
                </a:tc>
                <a:tc gridSpan="3">
                  <a:txBody>
                    <a:bodyPr/>
                    <a:lstStyle/>
                    <a:p>
                      <a:pPr indent="0" marL="0">
                        <a:buNone/>
                      </a:pPr>
                      <a:r>
                        <a:rPr lang="en-US" sz="1150" b="1" dirty="0">
                          <a:solidFill>
                            <a:srgbClr val="111827"/>
                          </a:solidFill>
                          <a:latin typeface="Calibri" pitchFamily="34" charset="0"/>
                          <a:ea typeface="Calibri" pitchFamily="34" charset="-122"/>
                          <a:cs typeface="Calibri" pitchFamily="34" charset="-120"/>
                        </a:rPr>
                        <a:t>Total identified $61,000/yr · Target </a:t>
                      </a:r>
                      <a:pP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EDD5"/>
                    </a:solidFill>
                  </a:tcPr>
                </a:tc>
                <a:tc hMerge="1">
                  <a:tcPr/>
                </a:tc>
                <a:tc hMerge="1">
                  <a:tcPr/>
                </a:tc>
                <a:tc>
                  <a:txBody>
                    <a:bodyPr/>
                    <a:lstStyle/>
                    <a:p>
                      <a:pPr algn="r" indent="0" marL="0">
                        <a:buNone/>
                      </a:pPr>
                      <a:r>
                        <a:rPr lang="en-US" sz="1150" b="1" dirty="0">
                          <a:solidFill>
                            <a:srgbClr val="059669"/>
                          </a:solidFill>
                          <a:latin typeface="Calibri" pitchFamily="34" charset="0"/>
                          <a:ea typeface="Calibri" pitchFamily="34" charset="-122"/>
                          <a:cs typeface="Calibri" pitchFamily="34" charset="-120"/>
                        </a:rPr>
                        <a:t>$61,000</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EDD5"/>
                    </a:solidFill>
                  </a:tcPr>
                </a:tc>
              </a:tr>
            </a:tbl>
          </a:graphicData>
        </a:graphic>
      </p:graphicFrame>
      <p:sp>
        <p:nvSpPr>
          <p:cNvPr id="21" name="Text 18"/>
          <p:cNvSpPr txBox="1"/>
          <p:nvPr/>
        </p:nvSpPr>
        <p:spPr>
          <a:xfrm>
            <a:off x="548640" y="5943600"/>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$/yr = full-year F27 run-rate. Only the dispatcher saving is confirmed; other values TBC.</a:t>
            </a:r>
            <a:endParaRPr lang="en-US" sz="950" dirty="0"/>
          </a:p>
        </p:txBody>
      </p:sp>
      <p:sp>
        <p:nvSpPr>
          <p:cNvPr id="22" name="Text 1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3" name="Text 2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10 / 21</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SCA &amp; SAVINGS</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Revenue protection — accessorial capture</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Accessorial report · Mississauga · Apr – Sep 2026 · Sep to the 29th</a:t>
            </a:r>
            <a:endParaRPr lang="en-US" sz="1300" dirty="0"/>
          </a:p>
        </p:txBody>
      </p:sp>
      <p:sp>
        <p:nvSpPr>
          <p:cNvPr id="5" name="Shape 3"/>
          <p:cNvSpPr/>
          <p:nvPr/>
        </p:nvSpPr>
        <p:spPr>
          <a:xfrm>
            <a:off x="548640" y="1627632"/>
            <a:ext cx="3575304" cy="987552"/>
          </a:xfrm>
          <a:prstGeom prst="roundRect">
            <a:avLst>
              <a:gd name="adj" fmla="val 7407"/>
            </a:avLst>
          </a:prstGeom>
          <a:solidFill>
            <a:srgbClr val="F3F4F6"/>
          </a:solidFill>
          <a:ln w="12700">
            <a:solidFill>
              <a:srgbClr val="F3F4F6"/>
            </a:solidFill>
            <a:prstDash val="solid"/>
          </a:ln>
        </p:spPr>
      </p:sp>
      <p:sp>
        <p:nvSpPr>
          <p:cNvPr id="6" name="Text 4"/>
          <p:cNvSpPr txBox="1"/>
          <p:nvPr/>
        </p:nvSpPr>
        <p:spPr>
          <a:xfrm>
            <a:off x="731520" y="1719072"/>
            <a:ext cx="3209544"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F27 to date (Jul 1 – Sep 29)</a:t>
            </a:r>
            <a:endParaRPr lang="en-US" sz="1100" dirty="0"/>
          </a:p>
        </p:txBody>
      </p:sp>
      <p:sp>
        <p:nvSpPr>
          <p:cNvPr id="7" name="Text 5"/>
          <p:cNvSpPr txBox="1"/>
          <p:nvPr/>
        </p:nvSpPr>
        <p:spPr>
          <a:xfrm>
            <a:off x="731520" y="1956816"/>
            <a:ext cx="3209544" cy="384048"/>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$758.7K</a:t>
            </a:r>
            <a:endParaRPr lang="en-US" sz="2400" dirty="0"/>
          </a:p>
        </p:txBody>
      </p:sp>
      <p:sp>
        <p:nvSpPr>
          <p:cNvPr id="8" name="Text 6"/>
          <p:cNvSpPr txBox="1"/>
          <p:nvPr/>
        </p:nvSpPr>
        <p:spPr>
          <a:xfrm>
            <a:off x="731520" y="2340864"/>
            <a:ext cx="3209544" cy="21945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118,419 accessorial units</a:t>
            </a:r>
            <a:endParaRPr lang="en-US" sz="1050" dirty="0"/>
          </a:p>
        </p:txBody>
      </p:sp>
      <p:sp>
        <p:nvSpPr>
          <p:cNvPr id="9" name="Shape 7"/>
          <p:cNvSpPr/>
          <p:nvPr/>
        </p:nvSpPr>
        <p:spPr>
          <a:xfrm>
            <a:off x="4306824" y="1627632"/>
            <a:ext cx="3575304" cy="987552"/>
          </a:xfrm>
          <a:prstGeom prst="roundRect">
            <a:avLst>
              <a:gd name="adj" fmla="val 7407"/>
            </a:avLst>
          </a:prstGeom>
          <a:solidFill>
            <a:srgbClr val="F3F4F6"/>
          </a:solidFill>
          <a:ln w="12700">
            <a:solidFill>
              <a:srgbClr val="F3F4F6"/>
            </a:solidFill>
            <a:prstDash val="solid"/>
          </a:ln>
        </p:spPr>
      </p:sp>
      <p:sp>
        <p:nvSpPr>
          <p:cNvPr id="10" name="Text 8"/>
          <p:cNvSpPr txBox="1"/>
          <p:nvPr/>
        </p:nvSpPr>
        <p:spPr>
          <a:xfrm>
            <a:off x="4489704" y="1719072"/>
            <a:ext cx="3209544"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September (to the 29th)</a:t>
            </a:r>
            <a:endParaRPr lang="en-US" sz="1100" dirty="0"/>
          </a:p>
        </p:txBody>
      </p:sp>
      <p:sp>
        <p:nvSpPr>
          <p:cNvPr id="11" name="Text 9"/>
          <p:cNvSpPr txBox="1"/>
          <p:nvPr/>
        </p:nvSpPr>
        <p:spPr>
          <a:xfrm>
            <a:off x="4489704" y="1956816"/>
            <a:ext cx="3209544" cy="384048"/>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$238.3K</a:t>
            </a:r>
            <a:endParaRPr lang="en-US" sz="2400" dirty="0"/>
          </a:p>
        </p:txBody>
      </p:sp>
      <p:sp>
        <p:nvSpPr>
          <p:cNvPr id="12" name="Text 10"/>
          <p:cNvSpPr txBox="1"/>
          <p:nvPr/>
        </p:nvSpPr>
        <p:spPr>
          <a:xfrm>
            <a:off x="4489704" y="2340864"/>
            <a:ext cx="3209544" cy="21945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35,052 units</a:t>
            </a:r>
            <a:endParaRPr lang="en-US" sz="1050" dirty="0"/>
          </a:p>
        </p:txBody>
      </p:sp>
      <p:sp>
        <p:nvSpPr>
          <p:cNvPr id="13" name="Shape 11"/>
          <p:cNvSpPr/>
          <p:nvPr/>
        </p:nvSpPr>
        <p:spPr>
          <a:xfrm>
            <a:off x="8065008" y="1627632"/>
            <a:ext cx="3575304" cy="987552"/>
          </a:xfrm>
          <a:prstGeom prst="roundRect">
            <a:avLst>
              <a:gd name="adj" fmla="val 7407"/>
            </a:avLst>
          </a:prstGeom>
          <a:solidFill>
            <a:srgbClr val="F3F4F6"/>
          </a:solidFill>
          <a:ln w="12700">
            <a:solidFill>
              <a:srgbClr val="F3F4F6"/>
            </a:solidFill>
            <a:prstDash val="solid"/>
          </a:ln>
        </p:spPr>
      </p:sp>
      <p:sp>
        <p:nvSpPr>
          <p:cNvPr id="14" name="Text 12"/>
          <p:cNvSpPr txBox="1"/>
          <p:nvPr/>
        </p:nvSpPr>
        <p:spPr>
          <a:xfrm>
            <a:off x="8247888" y="1719072"/>
            <a:ext cx="3209544"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September vs $/unit target</a:t>
            </a:r>
            <a:endParaRPr lang="en-US" sz="1100" dirty="0"/>
          </a:p>
        </p:txBody>
      </p:sp>
      <p:sp>
        <p:nvSpPr>
          <p:cNvPr id="15" name="Text 13"/>
          <p:cNvSpPr txBox="1"/>
          <p:nvPr/>
        </p:nvSpPr>
        <p:spPr>
          <a:xfrm>
            <a:off x="8247888" y="1956816"/>
            <a:ext cx="3209544" cy="384048"/>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 7</a:t>
            </a:r>
            <a:pPr indent="0" marL="0">
              <a:buNone/>
            </a:pPr>
            <a:r>
              <a:rPr lang="en-US" sz="2400" b="1"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DC2626"/>
                </a:solidFill>
                <a:latin typeface="Calibri" pitchFamily="34" charset="0"/>
                <a:ea typeface="Calibri" pitchFamily="34" charset="-122"/>
                <a:cs typeface="Calibri" pitchFamily="34" charset="-120"/>
              </a:rPr>
              <a:t>▼ 6</a:t>
            </a:r>
            <a:endParaRPr lang="en-US" sz="2400" dirty="0"/>
          </a:p>
        </p:txBody>
      </p:sp>
      <p:sp>
        <p:nvSpPr>
          <p:cNvPr id="16" name="Text 14"/>
          <p:cNvSpPr txBox="1"/>
          <p:nvPr/>
        </p:nvSpPr>
        <p:spPr>
          <a:xfrm>
            <a:off x="8247888" y="2340864"/>
            <a:ext cx="3209544" cy="21945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codes at/above · below — ≈$9.2K under target</a:t>
            </a:r>
            <a:endParaRPr lang="en-US" sz="1050" dirty="0"/>
          </a:p>
        </p:txBody>
      </p:sp>
      <p:graphicFrame>
        <p:nvGraphicFramePr>
          <p:cNvPr id="17" name="Chart 0" descr=""/>
          <p:cNvGraphicFramePr/>
          <p:nvPr/>
        </p:nvGraphicFramePr>
        <p:xfrm>
          <a:off x="548640" y="2761488"/>
          <a:ext cx="4480560" cy="201168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548640" y="4846320"/>
            <a:ext cx="4480560" cy="1188720"/>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rgbClr val="1F2937"/>
                </a:solidFill>
                <a:latin typeface="Calibri" pitchFamily="34" charset="0"/>
                <a:ea typeface="Calibri" pitchFamily="34" charset="-122"/>
                <a:cs typeface="Calibri" pitchFamily="34" charset="-120"/>
              </a:rPr>
              <a:t>Tailgate + residential delivery = 74% of accessorial $ — both slightly under target in Sep. Rate every one before invoicing.</a:t>
            </a:r>
            <a:endParaRPr lang="en-US" sz="1100" dirty="0"/>
          </a:p>
          <a:p>
            <a:pPr marL="152400" indent="-152400">
              <a:spcAft>
                <a:spcPts val="500"/>
              </a:spcAft>
              <a:buSzPct val="100000"/>
              <a:buChar char="•"/>
            </a:pPr>
            <a:r>
              <a:rPr lang="en-US" sz="1100" dirty="0">
                <a:solidFill>
                  <a:srgbClr val="1F2937"/>
                </a:solidFill>
                <a:latin typeface="Calibri" pitchFamily="34" charset="0"/>
                <a:ea typeface="Calibri" pitchFamily="34" charset="-122"/>
                <a:cs typeface="Calibri" pitchFamily="34" charset="-120"/>
              </a:rPr>
              <a:t>Detention: 14 units billed $0 in Sep — record driver times so it bills.</a:t>
            </a:r>
            <a:endParaRPr lang="en-US" sz="1100" dirty="0"/>
          </a:p>
          <a:p>
            <a:pPr marL="152400" indent="-152400">
              <a:buSzPct val="100000"/>
              <a:buChar char="•"/>
            </a:pPr>
            <a:r>
              <a:rPr lang="en-US" sz="1100" dirty="0">
                <a:solidFill>
                  <a:srgbClr val="1F2937"/>
                </a:solidFill>
                <a:latin typeface="Calibri" pitchFamily="34" charset="0"/>
                <a:ea typeface="Calibri" pitchFamily="34" charset="-122"/>
                <a:cs typeface="Calibri" pitchFamily="34" charset="-120"/>
              </a:rPr>
              <a:t>After-hours: 3,130 units at $0.72 each — review which should bill.</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257800" y="2761488"/>
          <a:ext cx="6382512" cy="914400"/>
        </p:xfrm>
        <a:graphic>
          <a:graphicData uri="http://schemas.openxmlformats.org/drawingml/2006/table">
            <a:tbl>
              <a:tblPr/>
              <a:tblGrid>
                <a:gridCol w="2148840"/>
                <a:gridCol w="685800"/>
                <a:gridCol w="914400"/>
                <a:gridCol w="868680"/>
                <a:gridCol w="731520"/>
                <a:gridCol w="1033272"/>
              </a:tblGrid>
              <a:tr h="27432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Sep by accessorial</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Units</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Billed</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Avg $/unit</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Target</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vs target</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274320">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Tailgate delivery</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5,775</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$89,072</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DC2626"/>
                          </a:solidFill>
                          <a:latin typeface="Calibri" pitchFamily="34" charset="0"/>
                          <a:ea typeface="Calibri" pitchFamily="34" charset="-122"/>
                          <a:cs typeface="Calibri" pitchFamily="34" charset="-120"/>
                        </a:rPr>
                        <a:t>$15.42</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$16.15</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DC2626"/>
                          </a:solidFill>
                          <a:latin typeface="Calibri" pitchFamily="34" charset="0"/>
                          <a:ea typeface="Calibri" pitchFamily="34" charset="-122"/>
                          <a:cs typeface="Calibri" pitchFamily="34" charset="-120"/>
                        </a:rPr>
                        <a:t>▼ 5%</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E2E2"/>
                    </a:solidFill>
                  </a:tcPr>
                </a:tc>
              </a:tr>
              <a:tr h="274320">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Private residence delivery</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17,659</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$81,174</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050" b="1" dirty="0">
                          <a:solidFill>
                            <a:srgbClr val="DC2626"/>
                          </a:solidFill>
                          <a:latin typeface="Calibri" pitchFamily="34" charset="0"/>
                          <a:ea typeface="Calibri" pitchFamily="34" charset="-122"/>
                          <a:cs typeface="Calibri" pitchFamily="34" charset="-120"/>
                        </a:rPr>
                        <a:t>$4.60</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$4.76</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050" b="1" dirty="0">
                          <a:solidFill>
                            <a:srgbClr val="DC2626"/>
                          </a:solidFill>
                          <a:latin typeface="Calibri" pitchFamily="34" charset="0"/>
                          <a:ea typeface="Calibri" pitchFamily="34" charset="-122"/>
                          <a:cs typeface="Calibri" pitchFamily="34" charset="-120"/>
                        </a:rPr>
                        <a:t>▼ 3%</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E2E2"/>
                    </a:solidFill>
                  </a:tcPr>
                </a:tc>
              </a:tr>
              <a:tr h="274320">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Appointment delivery</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5,245</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$22,204</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$4.23</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$3.97</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59669"/>
                          </a:solidFill>
                          <a:latin typeface="Calibri" pitchFamily="34" charset="0"/>
                          <a:ea typeface="Calibri" pitchFamily="34" charset="-122"/>
                          <a:cs typeface="Calibri" pitchFamily="34" charset="-120"/>
                        </a:rPr>
                        <a:t>▲ 7%</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1FAE5"/>
                    </a:solidFill>
                  </a:tcPr>
                </a:tc>
              </a:tr>
              <a:tr h="274320">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Appointment pick-up</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762</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$11,935</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$15.66</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$14.51</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050" b="1" dirty="0">
                          <a:solidFill>
                            <a:srgbClr val="059669"/>
                          </a:solidFill>
                          <a:latin typeface="Calibri" pitchFamily="34" charset="0"/>
                          <a:ea typeface="Calibri" pitchFamily="34" charset="-122"/>
                          <a:cs typeface="Calibri" pitchFamily="34" charset="-120"/>
                        </a:rPr>
                        <a:t>▲ 8%</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1FAE5"/>
                    </a:solidFill>
                  </a:tcPr>
                </a:tc>
              </a:tr>
              <a:tr h="274320">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Tailgate pick-up</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628</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$8,911</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$14.19</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$13.98</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59669"/>
                          </a:solidFill>
                          <a:latin typeface="Calibri" pitchFamily="34" charset="0"/>
                          <a:ea typeface="Calibri" pitchFamily="34" charset="-122"/>
                          <a:cs typeface="Calibri" pitchFamily="34" charset="-120"/>
                        </a:rPr>
                        <a:t>▲ 2%</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1FAE5"/>
                    </a:solidFill>
                  </a:tcPr>
                </a:tc>
              </a:tr>
              <a:tr h="274320">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Storage</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269</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$7,648</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050" b="1" dirty="0">
                          <a:solidFill>
                            <a:srgbClr val="DC2626"/>
                          </a:solidFill>
                          <a:latin typeface="Calibri" pitchFamily="34" charset="0"/>
                          <a:ea typeface="Calibri" pitchFamily="34" charset="-122"/>
                          <a:cs typeface="Calibri" pitchFamily="34" charset="-120"/>
                        </a:rPr>
                        <a:t>$28.43</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$31.65</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050" b="1" dirty="0">
                          <a:solidFill>
                            <a:srgbClr val="DC2626"/>
                          </a:solidFill>
                          <a:latin typeface="Calibri" pitchFamily="34" charset="0"/>
                          <a:ea typeface="Calibri" pitchFamily="34" charset="-122"/>
                          <a:cs typeface="Calibri" pitchFamily="34" charset="-120"/>
                        </a:rPr>
                        <a:t>▼ 10%</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E2E2"/>
                    </a:solidFill>
                  </a:tcPr>
                </a:tc>
              </a:tr>
              <a:tr h="274320">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Private residence pick-up</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560</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$4,263</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$7.61</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$7.23</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59669"/>
                          </a:solidFill>
                          <a:latin typeface="Calibri" pitchFamily="34" charset="0"/>
                          <a:ea typeface="Calibri" pitchFamily="34" charset="-122"/>
                          <a:cs typeface="Calibri" pitchFamily="34" charset="-120"/>
                        </a:rPr>
                        <a:t>▲ 5%</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1FAE5"/>
                    </a:solidFill>
                  </a:tcPr>
                </a:tc>
              </a:tr>
              <a:tr h="274320">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Tradeshow delivery</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77</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$5,748</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050" b="1" dirty="0">
                          <a:solidFill>
                            <a:srgbClr val="DC2626"/>
                          </a:solidFill>
                          <a:latin typeface="Calibri" pitchFamily="34" charset="0"/>
                          <a:ea typeface="Calibri" pitchFamily="34" charset="-122"/>
                          <a:cs typeface="Calibri" pitchFamily="34" charset="-120"/>
                        </a:rPr>
                        <a:t>$74.65</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$87.79</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050" b="1" dirty="0">
                          <a:solidFill>
                            <a:srgbClr val="DC2626"/>
                          </a:solidFill>
                          <a:latin typeface="Calibri" pitchFamily="34" charset="0"/>
                          <a:ea typeface="Calibri" pitchFamily="34" charset="-122"/>
                          <a:cs typeface="Calibri" pitchFamily="34" charset="-120"/>
                        </a:rPr>
                        <a:t>▼ 15%</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E2E2"/>
                    </a:solidFill>
                  </a:tcPr>
                </a:tc>
              </a:tr>
              <a:tr h="274320">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Inside delivery</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292</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$1,873</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$6.42</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$5.82</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59669"/>
                          </a:solidFill>
                          <a:latin typeface="Calibri" pitchFamily="34" charset="0"/>
                          <a:ea typeface="Calibri" pitchFamily="34" charset="-122"/>
                          <a:cs typeface="Calibri" pitchFamily="34" charset="-120"/>
                        </a:rPr>
                        <a:t>▲ 10%</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1FAE5"/>
                    </a:solidFill>
                  </a:tcPr>
                </a:tc>
              </a:tr>
            </a:tbl>
          </a:graphicData>
        </a:graphic>
      </p:graphicFrame>
      <p:sp>
        <p:nvSpPr>
          <p:cNvPr id="20" name="Text 16"/>
          <p:cNvSpPr txBox="1"/>
          <p:nvPr/>
        </p:nvSpPr>
        <p:spPr>
          <a:xfrm>
            <a:off x="5257800" y="5669280"/>
            <a:ext cx="6382512" cy="274320"/>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Top 9 codes with a target, by F27-to-date revenue. Target = report's monthly dollar target per unit. Full list on the website.</a:t>
            </a:r>
            <a:endParaRPr lang="en-US" sz="950" dirty="0"/>
          </a:p>
        </p:txBody>
      </p:sp>
      <p:sp>
        <p:nvSpPr>
          <p:cNvPr id="21" name="Text 17"/>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2" name="Text 18"/>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11 / 21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dock cost per PRO (Sept MTD)</a:t>
            </a:r>
            <a:endParaRPr lang="en-US" sz="3000" dirty="0"/>
          </a:p>
        </p:txBody>
      </p:sp>
      <p:sp>
        <p:nvSpPr>
          <p:cNvPr id="4" name="Shape 2"/>
          <p:cNvSpPr/>
          <p:nvPr/>
        </p:nvSpPr>
        <p:spPr>
          <a:xfrm>
            <a:off x="548640" y="1371600"/>
            <a:ext cx="5120640" cy="4572000"/>
          </a:xfrm>
          <a:prstGeom prst="roundRect">
            <a:avLst>
              <a:gd name="adj" fmla="val 1600"/>
            </a:avLst>
          </a:prstGeom>
          <a:solidFill>
            <a:srgbClr val="F3F4F6"/>
          </a:solidFill>
          <a:ln w="12700">
            <a:solidFill>
              <a:srgbClr val="F3F4F6"/>
            </a:solidFill>
            <a:prstDash val="solid"/>
          </a:ln>
        </p:spPr>
      </p:sp>
      <p:sp>
        <p:nvSpPr>
          <p:cNvPr id="5" name="Text 3"/>
          <p:cNvSpPr txBox="1"/>
          <p:nvPr/>
        </p:nvSpPr>
        <p:spPr>
          <a:xfrm>
            <a:off x="822960" y="1600200"/>
            <a:ext cx="4572000" cy="320040"/>
          </a:xfrm>
          <a:prstGeom prst="rect">
            <a:avLst/>
          </a:prstGeom>
          <a:noFill/>
          <a:ln/>
        </p:spPr>
        <p:txBody>
          <a:bodyPr wrap="square" lIns="0" tIns="0" rIns="0" bIns="0" rtlCol="0" anchor="ctr"/>
          <a:lstStyle/>
          <a:p>
            <a:pPr indent="0" marL="0">
              <a:buNone/>
            </a:pPr>
            <a:r>
              <a:rPr lang="en-US" sz="1500" b="1" dirty="0">
                <a:solidFill>
                  <a:srgbClr val="6B7280"/>
                </a:solidFill>
                <a:latin typeface="Calibri" pitchFamily="34" charset="0"/>
                <a:ea typeface="Calibri" pitchFamily="34" charset="-122"/>
                <a:cs typeface="Calibri" pitchFamily="34" charset="-120"/>
              </a:rPr>
              <a:t>SCA dock cost per PRO · MTD</a:t>
            </a:r>
            <a:endParaRPr lang="en-US" sz="1500" dirty="0"/>
          </a:p>
        </p:txBody>
      </p:sp>
      <p:sp>
        <p:nvSpPr>
          <p:cNvPr id="6" name="Text 4"/>
          <p:cNvSpPr txBox="1"/>
          <p:nvPr/>
        </p:nvSpPr>
        <p:spPr>
          <a:xfrm>
            <a:off x="822960" y="1920240"/>
            <a:ext cx="4572000" cy="1097280"/>
          </a:xfrm>
          <a:prstGeom prst="rect">
            <a:avLst/>
          </a:prstGeom>
          <a:noFill/>
          <a:ln/>
        </p:spPr>
        <p:txBody>
          <a:bodyPr wrap="square" lIns="0" tIns="0" rIns="0" bIns="0" rtlCol="0" anchor="ctr"/>
          <a:lstStyle/>
          <a:p>
            <a:pPr indent="0" marL="0">
              <a:buNone/>
            </a:pPr>
            <a:r>
              <a:rPr lang="en-US" sz="7200" b="1" dirty="0">
                <a:solidFill>
                  <a:srgbClr val="111827"/>
                </a:solidFill>
                <a:latin typeface="Calibri" pitchFamily="34" charset="0"/>
                <a:ea typeface="Calibri" pitchFamily="34" charset="-122"/>
                <a:cs typeface="Calibri" pitchFamily="34" charset="-120"/>
              </a:rPr>
              <a:t>$6.60</a:t>
            </a:r>
            <a:endParaRPr lang="en-US" sz="7200" dirty="0"/>
          </a:p>
        </p:txBody>
      </p:sp>
      <p:sp>
        <p:nvSpPr>
          <p:cNvPr id="7" name="Text 5"/>
          <p:cNvSpPr txBox="1"/>
          <p:nvPr/>
        </p:nvSpPr>
        <p:spPr>
          <a:xfrm>
            <a:off x="822960" y="3063240"/>
            <a:ext cx="4572000" cy="365760"/>
          </a:xfrm>
          <a:prstGeom prst="rect">
            <a:avLst/>
          </a:prstGeom>
          <a:noFill/>
          <a:ln/>
        </p:spPr>
        <p:txBody>
          <a:bodyPr wrap="square" lIns="0" tIns="0" rIns="0" bIns="0" rtlCol="0" anchor="ctr"/>
          <a:lstStyle/>
          <a:p>
            <a:pPr indent="0" marL="0">
              <a:buNone/>
            </a:pPr>
            <a:r>
              <a:rPr lang="en-US" sz="1800" dirty="0">
                <a:solidFill>
                  <a:srgbClr val="6B7280"/>
                </a:solidFill>
                <a:latin typeface="Calibri" pitchFamily="34" charset="0"/>
                <a:ea typeface="Calibri" pitchFamily="34" charset="-122"/>
                <a:cs typeface="Calibri" pitchFamily="34" charset="-120"/>
              </a:rPr>
              <a:t>vs </a:t>
            </a:r>
            <a:pPr indent="0" marL="0">
              <a:buNone/>
            </a:pPr>
            <a:r>
              <a:rPr lang="en-US" sz="1800" b="1" dirty="0">
                <a:solidFill>
                  <a:srgbClr val="1F2937"/>
                </a:solidFill>
                <a:latin typeface="Calibri" pitchFamily="34" charset="0"/>
                <a:ea typeface="Calibri" pitchFamily="34" charset="-122"/>
                <a:cs typeface="Calibri" pitchFamily="34" charset="-120"/>
              </a:rPr>
              <a:t>$6.85</a:t>
            </a:r>
            <a:pPr indent="0" marL="0">
              <a:buNone/>
            </a:pPr>
            <a:r>
              <a:rPr lang="en-US" sz="1800" dirty="0">
                <a:solidFill>
                  <a:srgbClr val="6B7280"/>
                </a:solidFill>
                <a:latin typeface="Calibri" pitchFamily="34" charset="0"/>
                <a:ea typeface="Calibri" pitchFamily="34" charset="-122"/>
                <a:cs typeface="Calibri" pitchFamily="34" charset="-120"/>
              </a:rPr>
              <a:t> target</a:t>
            </a:r>
            <a:endParaRPr lang="en-US" sz="1800" dirty="0"/>
          </a:p>
        </p:txBody>
      </p:sp>
      <p:sp>
        <p:nvSpPr>
          <p:cNvPr id="8" name="Text 6"/>
          <p:cNvSpPr txBox="1"/>
          <p:nvPr/>
        </p:nvSpPr>
        <p:spPr>
          <a:xfrm>
            <a:off x="822960" y="3566160"/>
            <a:ext cx="4572000" cy="41148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96.3% of target — $0.25 under</a:t>
            </a:r>
            <a:endParaRPr lang="en-US" sz="2000" dirty="0"/>
          </a:p>
        </p:txBody>
      </p:sp>
      <p:sp>
        <p:nvSpPr>
          <p:cNvPr id="9" name="Shape 7"/>
          <p:cNvSpPr/>
          <p:nvPr/>
        </p:nvSpPr>
        <p:spPr>
          <a:xfrm>
            <a:off x="822960" y="4206240"/>
            <a:ext cx="2103120" cy="457200"/>
          </a:xfrm>
          <a:prstGeom prst="roundRect">
            <a:avLst>
              <a:gd name="adj" fmla="val 16000"/>
            </a:avLst>
          </a:prstGeom>
          <a:solidFill>
            <a:srgbClr val="FEF3C7"/>
          </a:solidFill>
          <a:ln w="12700">
            <a:solidFill>
              <a:srgbClr val="FEF3C7"/>
            </a:solidFill>
            <a:prstDash val="solid"/>
          </a:ln>
        </p:spPr>
      </p:sp>
      <p:sp>
        <p:nvSpPr>
          <p:cNvPr id="10" name="Text 8"/>
          <p:cNvSpPr txBox="1"/>
          <p:nvPr/>
        </p:nvSpPr>
        <p:spPr>
          <a:xfrm>
            <a:off x="822960" y="4206240"/>
            <a:ext cx="2103120" cy="457200"/>
          </a:xfrm>
          <a:prstGeom prst="rect">
            <a:avLst/>
          </a:prstGeom>
          <a:noFill/>
          <a:ln/>
        </p:spPr>
        <p:txBody>
          <a:bodyPr wrap="square" lIns="0" tIns="0" rIns="0" bIns="0" rtlCol="0" anchor="ctr"/>
          <a:lstStyle/>
          <a:p>
            <a:pPr algn="ctr" indent="0" marL="0">
              <a:buNone/>
            </a:pPr>
            <a:r>
              <a:rPr lang="en-US" sz="1300" b="1" spc="100" kern="0" dirty="0">
                <a:solidFill>
                  <a:srgbClr val="B45309"/>
                </a:solidFill>
                <a:latin typeface="Calibri" pitchFamily="34" charset="0"/>
                <a:ea typeface="Calibri" pitchFamily="34" charset="-122"/>
                <a:cs typeface="Calibri" pitchFamily="34" charset="-120"/>
              </a:rPr>
              <a:t>AMBER · 95–100% OF TARGET</a:t>
            </a:r>
            <a:endParaRPr lang="en-US" sz="1300" dirty="0"/>
          </a:p>
        </p:txBody>
      </p:sp>
      <p:sp>
        <p:nvSpPr>
          <p:cNvPr id="11" name="Text 9"/>
          <p:cNvSpPr txBox="1"/>
          <p:nvPr/>
        </p:nvSpPr>
        <p:spPr>
          <a:xfrm>
            <a:off x="3108960" y="4206240"/>
            <a:ext cx="2286000" cy="45720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Report status</a:t>
            </a:r>
            <a:endParaRPr lang="en-US" sz="1200" dirty="0"/>
          </a:p>
        </p:txBody>
      </p:sp>
      <p:sp>
        <p:nvSpPr>
          <p:cNvPr id="12" name="Text 10"/>
          <p:cNvSpPr txBox="1"/>
          <p:nvPr/>
        </p:nvSpPr>
        <p:spPr>
          <a:xfrm>
            <a:off x="822960" y="4937760"/>
            <a:ext cx="4572000" cy="731520"/>
          </a:xfrm>
          <a:prstGeom prst="rect">
            <a:avLst/>
          </a:prstGeom>
          <a:noFill/>
          <a:ln/>
        </p:spPr>
        <p:txBody>
          <a:bodyPr wrap="square" lIns="0" tIns="0" rIns="0" bIns="0" rtlCol="0" anchor="t"/>
          <a:lstStyle/>
          <a:p>
            <a:pPr indent="0" marL="0">
              <a:buNone/>
            </a:pPr>
            <a:r>
              <a:rPr lang="en-US" sz="1150" dirty="0">
                <a:solidFill>
                  <a:srgbClr val="6B7280"/>
                </a:solidFill>
                <a:latin typeface="Calibri" pitchFamily="34" charset="0"/>
                <a:ea typeface="Calibri" pitchFamily="34" charset="-122"/>
                <a:cs typeface="Calibri" pitchFamily="34" charset="-120"/>
              </a:rPr>
              <a:t>Status bands (% of target):  </a:t>
            </a:r>
            <a:pPr indent="0" marL="0">
              <a:buNone/>
            </a:pPr>
            <a:r>
              <a:rPr lang="en-US" sz="1150" b="1" dirty="0">
                <a:solidFill>
                  <a:srgbClr val="059669"/>
                </a:solidFill>
                <a:latin typeface="Calibri" pitchFamily="34" charset="0"/>
                <a:ea typeface="Calibri" pitchFamily="34" charset="-122"/>
                <a:cs typeface="Calibri" pitchFamily="34" charset="-120"/>
              </a:rPr>
              <a:t>≤95% green</a:t>
            </a:r>
            <a:pPr indent="0" marL="0">
              <a:buNone/>
            </a:pPr>
            <a:r>
              <a:rPr lang="en-US" sz="1150" dirty="0">
                <a:solidFill>
                  <a:srgbClr val="6B7280"/>
                </a:solidFill>
                <a:latin typeface="Calibri" pitchFamily="34" charset="0"/>
                <a:ea typeface="Calibri" pitchFamily="34" charset="-122"/>
                <a:cs typeface="Calibri" pitchFamily="34" charset="-120"/>
              </a:rPr>
              <a:t>  ·  </a:t>
            </a:r>
            <a:pPr indent="0" marL="0">
              <a:buNone/>
            </a:pPr>
            <a:r>
              <a:rPr lang="en-US" sz="1150" b="1" dirty="0">
                <a:solidFill>
                  <a:srgbClr val="B45309"/>
                </a:solidFill>
                <a:latin typeface="Calibri" pitchFamily="34" charset="0"/>
                <a:ea typeface="Calibri" pitchFamily="34" charset="-122"/>
                <a:cs typeface="Calibri" pitchFamily="34" charset="-120"/>
              </a:rPr>
              <a:t>95–100% amber</a:t>
            </a:r>
            <a:pPr indent="0" marL="0">
              <a:buNone/>
            </a:pPr>
            <a:r>
              <a:rPr lang="en-US" sz="1150" dirty="0">
                <a:solidFill>
                  <a:srgbClr val="6B7280"/>
                </a:solidFill>
                <a:latin typeface="Calibri" pitchFamily="34" charset="0"/>
                <a:ea typeface="Calibri" pitchFamily="34" charset="-122"/>
                <a:cs typeface="Calibri" pitchFamily="34" charset="-120"/>
              </a:rPr>
              <a:t>  ·  </a:t>
            </a:r>
            <a:pPr indent="0" marL="0">
              <a:buNone/>
            </a:pPr>
            <a:r>
              <a:rPr lang="en-US" sz="1150" b="1" dirty="0">
                <a:solidFill>
                  <a:srgbClr val="DC2626"/>
                </a:solidFill>
                <a:latin typeface="Calibri" pitchFamily="34" charset="0"/>
                <a:ea typeface="Calibri" pitchFamily="34" charset="-122"/>
                <a:cs typeface="Calibri" pitchFamily="34" charset="-120"/>
              </a:rPr>
              <a:t>&gt;100% red</a:t>
            </a:r>
            <a:endParaRPr lang="en-US" sz="1150" dirty="0"/>
          </a:p>
        </p:txBody>
      </p:sp>
      <p:sp>
        <p:nvSpPr>
          <p:cNvPr id="13" name="Shape 11"/>
          <p:cNvSpPr/>
          <p:nvPr/>
        </p:nvSpPr>
        <p:spPr>
          <a:xfrm>
            <a:off x="5989320" y="1371600"/>
            <a:ext cx="2711196" cy="1417320"/>
          </a:xfrm>
          <a:prstGeom prst="roundRect">
            <a:avLst>
              <a:gd name="adj" fmla="val 5161"/>
            </a:avLst>
          </a:prstGeom>
          <a:solidFill>
            <a:srgbClr val="F3F4F6"/>
          </a:solidFill>
          <a:ln w="12700">
            <a:solidFill>
              <a:srgbClr val="F3F4F6"/>
            </a:solidFill>
            <a:prstDash val="solid"/>
          </a:ln>
        </p:spPr>
      </p:sp>
      <p:sp>
        <p:nvSpPr>
          <p:cNvPr id="14" name="Text 12"/>
          <p:cNvSpPr txBox="1"/>
          <p:nvPr/>
        </p:nvSpPr>
        <p:spPr>
          <a:xfrm>
            <a:off x="6172200" y="150876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FB count MTD (IN + OUT)</a:t>
            </a:r>
            <a:endParaRPr lang="en-US" sz="1100" dirty="0"/>
          </a:p>
        </p:txBody>
      </p:sp>
      <p:sp>
        <p:nvSpPr>
          <p:cNvPr id="15" name="Text 13"/>
          <p:cNvSpPr txBox="1"/>
          <p:nvPr/>
        </p:nvSpPr>
        <p:spPr>
          <a:xfrm>
            <a:off x="6172200" y="178308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26,053</a:t>
            </a:r>
            <a:endParaRPr lang="en-US" sz="2800" dirty="0"/>
          </a:p>
        </p:txBody>
      </p:sp>
      <p:sp>
        <p:nvSpPr>
          <p:cNvPr id="16" name="Text 14"/>
          <p:cNvSpPr txBox="1"/>
          <p:nvPr/>
        </p:nvSpPr>
        <p:spPr>
          <a:xfrm>
            <a:off x="6172200" y="235915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September MTD</a:t>
            </a:r>
            <a:endParaRPr lang="en-US" sz="1050" dirty="0"/>
          </a:p>
        </p:txBody>
      </p:sp>
      <p:sp>
        <p:nvSpPr>
          <p:cNvPr id="17" name="Shape 15"/>
          <p:cNvSpPr/>
          <p:nvPr/>
        </p:nvSpPr>
        <p:spPr>
          <a:xfrm>
            <a:off x="8929116" y="1371600"/>
            <a:ext cx="2711196" cy="1417320"/>
          </a:xfrm>
          <a:prstGeom prst="roundRect">
            <a:avLst>
              <a:gd name="adj" fmla="val 5161"/>
            </a:avLst>
          </a:prstGeom>
          <a:solidFill>
            <a:srgbClr val="F3F4F6"/>
          </a:solidFill>
          <a:ln w="12700">
            <a:solidFill>
              <a:srgbClr val="F3F4F6"/>
            </a:solidFill>
            <a:prstDash val="solid"/>
          </a:ln>
        </p:spPr>
      </p:sp>
      <p:sp>
        <p:nvSpPr>
          <p:cNvPr id="18" name="Text 16"/>
          <p:cNvSpPr txBox="1"/>
          <p:nvPr/>
        </p:nvSpPr>
        <p:spPr>
          <a:xfrm>
            <a:off x="9111996" y="150876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Below target MTD</a:t>
            </a:r>
            <a:endParaRPr lang="en-US" sz="1100" dirty="0"/>
          </a:p>
        </p:txBody>
      </p:sp>
      <p:sp>
        <p:nvSpPr>
          <p:cNvPr id="19" name="Text 17"/>
          <p:cNvSpPr txBox="1"/>
          <p:nvPr/>
        </p:nvSpPr>
        <p:spPr>
          <a:xfrm>
            <a:off x="9111996" y="1783080"/>
            <a:ext cx="2345436" cy="5486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 $6.5K</a:t>
            </a:r>
            <a:endParaRPr lang="en-US" sz="2800" dirty="0"/>
          </a:p>
        </p:txBody>
      </p:sp>
      <p:sp>
        <p:nvSpPr>
          <p:cNvPr id="20" name="Text 18"/>
          <p:cNvSpPr txBox="1"/>
          <p:nvPr/>
        </p:nvSpPr>
        <p:spPr>
          <a:xfrm>
            <a:off x="9111996" y="235915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Calculated: $0.25 × 26,053 FBs</a:t>
            </a:r>
            <a:endParaRPr lang="en-US" sz="1050" dirty="0"/>
          </a:p>
        </p:txBody>
      </p:sp>
      <p:sp>
        <p:nvSpPr>
          <p:cNvPr id="21" name="Shape 19"/>
          <p:cNvSpPr/>
          <p:nvPr/>
        </p:nvSpPr>
        <p:spPr>
          <a:xfrm>
            <a:off x="5989320" y="3017520"/>
            <a:ext cx="2711196" cy="1417320"/>
          </a:xfrm>
          <a:prstGeom prst="roundRect">
            <a:avLst>
              <a:gd name="adj" fmla="val 5161"/>
            </a:avLst>
          </a:prstGeom>
          <a:solidFill>
            <a:srgbClr val="F3F4F6"/>
          </a:solidFill>
          <a:ln w="12700">
            <a:solidFill>
              <a:srgbClr val="F3F4F6"/>
            </a:solidFill>
            <a:prstDash val="solid"/>
          </a:ln>
        </p:spPr>
      </p:sp>
      <p:sp>
        <p:nvSpPr>
          <p:cNvPr id="22" name="Text 20"/>
          <p:cNvSpPr txBox="1"/>
          <p:nvPr/>
        </p:nvSpPr>
        <p:spPr>
          <a:xfrm>
            <a:off x="6172200" y="315468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Monthly dock S&amp;B</a:t>
            </a:r>
            <a:endParaRPr lang="en-US" sz="1100" dirty="0"/>
          </a:p>
        </p:txBody>
      </p:sp>
      <p:sp>
        <p:nvSpPr>
          <p:cNvPr id="23" name="Text 21"/>
          <p:cNvSpPr txBox="1"/>
          <p:nvPr/>
        </p:nvSpPr>
        <p:spPr>
          <a:xfrm>
            <a:off x="6172200" y="342900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$44,053</a:t>
            </a:r>
            <a:endParaRPr lang="en-US" sz="2800" dirty="0"/>
          </a:p>
        </p:txBody>
      </p:sp>
      <p:sp>
        <p:nvSpPr>
          <p:cNvPr id="24" name="Text 22"/>
          <p:cNvSpPr txBox="1"/>
          <p:nvPr/>
        </p:nvSpPr>
        <p:spPr>
          <a:xfrm>
            <a:off x="6172200" y="400507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Dock salaries &amp; benefits (month)</a:t>
            </a:r>
            <a:endParaRPr lang="en-US" sz="1050" dirty="0"/>
          </a:p>
        </p:txBody>
      </p:sp>
      <p:sp>
        <p:nvSpPr>
          <p:cNvPr id="25" name="Shape 23"/>
          <p:cNvSpPr/>
          <p:nvPr/>
        </p:nvSpPr>
        <p:spPr>
          <a:xfrm>
            <a:off x="8929116" y="3017520"/>
            <a:ext cx="2711196" cy="1417320"/>
          </a:xfrm>
          <a:prstGeom prst="roundRect">
            <a:avLst>
              <a:gd name="adj" fmla="val 5161"/>
            </a:avLst>
          </a:prstGeom>
          <a:solidFill>
            <a:srgbClr val="F3F4F6"/>
          </a:solidFill>
          <a:ln w="12700">
            <a:solidFill>
              <a:srgbClr val="F3F4F6"/>
            </a:solidFill>
            <a:prstDash val="solid"/>
          </a:ln>
        </p:spPr>
      </p:sp>
      <p:sp>
        <p:nvSpPr>
          <p:cNvPr id="26" name="Text 24"/>
          <p:cNvSpPr txBox="1"/>
          <p:nvPr/>
        </p:nvSpPr>
        <p:spPr>
          <a:xfrm>
            <a:off x="9111996" y="315468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Prorated S&amp;B MTD</a:t>
            </a:r>
            <a:endParaRPr lang="en-US" sz="1100" dirty="0"/>
          </a:p>
        </p:txBody>
      </p:sp>
      <p:sp>
        <p:nvSpPr>
          <p:cNvPr id="27" name="Text 25"/>
          <p:cNvSpPr txBox="1"/>
          <p:nvPr/>
        </p:nvSpPr>
        <p:spPr>
          <a:xfrm>
            <a:off x="9111996" y="342900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$38,179</a:t>
            </a:r>
            <a:endParaRPr lang="en-US" sz="2800" dirty="0"/>
          </a:p>
        </p:txBody>
      </p:sp>
      <p:sp>
        <p:nvSpPr>
          <p:cNvPr id="28" name="Text 26"/>
          <p:cNvSpPr txBox="1"/>
          <p:nvPr/>
        </p:nvSpPr>
        <p:spPr>
          <a:xfrm>
            <a:off x="9111996" y="400507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26 of 30 calendar days (86.7%)</a:t>
            </a:r>
            <a:endParaRPr lang="en-US" sz="1050" dirty="0"/>
          </a:p>
        </p:txBody>
      </p:sp>
      <p:sp>
        <p:nvSpPr>
          <p:cNvPr id="29" name="Shape 27"/>
          <p:cNvSpPr/>
          <p:nvPr/>
        </p:nvSpPr>
        <p:spPr>
          <a:xfrm>
            <a:off x="5989320" y="4663440"/>
            <a:ext cx="5650992" cy="1280160"/>
          </a:xfrm>
          <a:prstGeom prst="roundRect">
            <a:avLst>
              <a:gd name="adj" fmla="val 5714"/>
            </a:avLst>
          </a:prstGeom>
          <a:solidFill>
            <a:srgbClr val="FFF7ED"/>
          </a:solidFill>
          <a:ln w="12700">
            <a:solidFill>
              <a:srgbClr val="FFF7ED"/>
            </a:solidFill>
            <a:prstDash val="solid"/>
          </a:ln>
        </p:spPr>
      </p:sp>
      <p:sp>
        <p:nvSpPr>
          <p:cNvPr id="30" name="Shape 28"/>
          <p:cNvSpPr/>
          <p:nvPr/>
        </p:nvSpPr>
        <p:spPr>
          <a:xfrm>
            <a:off x="6217920" y="4965192"/>
            <a:ext cx="566928" cy="566928"/>
          </a:xfrm>
          <a:prstGeom prst="ellipse">
            <a:avLst/>
          </a:prstGeom>
          <a:solidFill>
            <a:srgbClr val="EA580C"/>
          </a:solidFill>
          <a:ln w="12700">
            <a:solidFill>
              <a:srgbClr val="EA580C"/>
            </a:solidFill>
            <a:prstDash val="solid"/>
          </a:ln>
        </p:spPr>
      </p:sp>
      <p:pic>
        <p:nvPicPr>
          <p:cNvPr id="31" name="Image 0" descr="preencoded.png">    </p:cNvPr>
          <p:cNvPicPr>
            <a:picLocks noChangeAspect="1"/>
          </p:cNvPicPr>
          <p:nvPr/>
        </p:nvPicPr>
        <p:blipFill>
          <a:blip r:embed="rId1"/>
          <a:stretch>
            <a:fillRect/>
          </a:stretch>
        </p:blipFill>
        <p:spPr>
          <a:xfrm>
            <a:off x="6359652" y="5106924"/>
            <a:ext cx="283464" cy="283464"/>
          </a:xfrm>
          <a:prstGeom prst="rect">
            <a:avLst/>
          </a:prstGeom>
        </p:spPr>
      </p:pic>
      <p:sp>
        <p:nvSpPr>
          <p:cNvPr id="32" name="Text 29"/>
          <p:cNvSpPr txBox="1"/>
          <p:nvPr/>
        </p:nvSpPr>
        <p:spPr>
          <a:xfrm>
            <a:off x="6995160" y="4663440"/>
            <a:ext cx="4434840" cy="128016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Weekly SCA review meetings — hours vs allowance and cost per PRO tracked every week.</a:t>
            </a:r>
            <a:endParaRPr lang="en-US" sz="1500" dirty="0"/>
          </a:p>
        </p:txBody>
      </p:sp>
      <p:sp>
        <p:nvSpPr>
          <p:cNvPr id="33" name="Text 30"/>
          <p:cNvSpPr txBox="1"/>
          <p:nvPr/>
        </p:nvSpPr>
        <p:spPr>
          <a:xfrm>
            <a:off x="548640" y="608076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National SCA Cost-per-PRO report — Mississauga, updated Sep 26, 2026</a:t>
            </a:r>
            <a:endParaRPr lang="en-US" sz="1000" dirty="0"/>
          </a:p>
        </p:txBody>
      </p:sp>
      <p:sp>
        <p:nvSpPr>
          <p:cNvPr id="34"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12 / 21</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Hours vs allowance (Sept MTD)</a:t>
            </a:r>
            <a:endParaRPr lang="en-US" sz="3000" dirty="0"/>
          </a:p>
        </p:txBody>
      </p:sp>
      <p:sp>
        <p:nvSpPr>
          <p:cNvPr id="4" name="Text 2"/>
          <p:cNvSpPr txBox="1"/>
          <p:nvPr/>
        </p:nvSpPr>
        <p:spPr>
          <a:xfrm>
            <a:off x="548640" y="1371600"/>
            <a:ext cx="4846320"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SCA hour allowance used · working-day view</a:t>
            </a:r>
            <a:endParaRPr lang="en-US" sz="1400" dirty="0"/>
          </a:p>
        </p:txBody>
      </p:sp>
      <p:sp>
        <p:nvSpPr>
          <p:cNvPr id="5" name="Text 3"/>
          <p:cNvSpPr txBox="1"/>
          <p:nvPr/>
        </p:nvSpPr>
        <p:spPr>
          <a:xfrm>
            <a:off x="548640" y="1691640"/>
            <a:ext cx="4846320" cy="1005840"/>
          </a:xfrm>
          <a:prstGeom prst="rect">
            <a:avLst/>
          </a:prstGeom>
          <a:noFill/>
          <a:ln/>
        </p:spPr>
        <p:txBody>
          <a:bodyPr wrap="square" lIns="0" tIns="0" rIns="0" bIns="0" rtlCol="0" anchor="ctr"/>
          <a:lstStyle/>
          <a:p>
            <a:pPr indent="0" marL="0">
              <a:buNone/>
            </a:pPr>
            <a:r>
              <a:rPr lang="en-US" sz="7200" b="1" dirty="0">
                <a:solidFill>
                  <a:srgbClr val="059669"/>
                </a:solidFill>
                <a:latin typeface="Calibri" pitchFamily="34" charset="0"/>
                <a:ea typeface="Calibri" pitchFamily="34" charset="-122"/>
                <a:cs typeface="Calibri" pitchFamily="34" charset="-120"/>
              </a:rPr>
              <a:t>91.1%</a:t>
            </a:r>
            <a:endParaRPr lang="en-US" sz="7200" dirty="0"/>
          </a:p>
        </p:txBody>
      </p:sp>
      <p:sp>
        <p:nvSpPr>
          <p:cNvPr id="6" name="Text 4"/>
          <p:cNvSpPr txBox="1"/>
          <p:nvPr/>
        </p:nvSpPr>
        <p:spPr>
          <a:xfrm>
            <a:off x="548640" y="2697480"/>
            <a:ext cx="4846320"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3,999</a:t>
            </a:r>
            <a:pPr indent="0" marL="0">
              <a:buNone/>
            </a:pPr>
            <a:r>
              <a:rPr lang="en-US" sz="1600" dirty="0">
                <a:solidFill>
                  <a:srgbClr val="6B7280"/>
                </a:solidFill>
                <a:latin typeface="Calibri" pitchFamily="34" charset="0"/>
                <a:ea typeface="Calibri" pitchFamily="34" charset="-122"/>
                <a:cs typeface="Calibri" pitchFamily="34" charset="-120"/>
              </a:rPr>
              <a:t> hrs used vs </a:t>
            </a:r>
            <a:pPr indent="0" marL="0">
              <a:buNone/>
            </a:pPr>
            <a:r>
              <a:rPr lang="en-US" sz="1600" b="1" dirty="0">
                <a:solidFill>
                  <a:srgbClr val="111827"/>
                </a:solidFill>
                <a:latin typeface="Calibri" pitchFamily="34" charset="0"/>
                <a:ea typeface="Calibri" pitchFamily="34" charset="-122"/>
                <a:cs typeface="Calibri" pitchFamily="34" charset="-120"/>
              </a:rPr>
              <a:t>4,390</a:t>
            </a:r>
            <a:pPr indent="0" marL="0">
              <a:buNone/>
            </a:pPr>
            <a:r>
              <a:rPr lang="en-US" sz="1600" dirty="0">
                <a:solidFill>
                  <a:srgbClr val="6B7280"/>
                </a:solidFill>
                <a:latin typeface="Calibri" pitchFamily="34" charset="0"/>
                <a:ea typeface="Calibri" pitchFamily="34" charset="-122"/>
                <a:cs typeface="Calibri" pitchFamily="34" charset="-120"/>
              </a:rPr>
              <a:t> allowable MTD</a:t>
            </a:r>
            <a:endParaRPr lang="en-US" sz="1600" dirty="0"/>
          </a:p>
        </p:txBody>
      </p:sp>
      <p:sp>
        <p:nvSpPr>
          <p:cNvPr id="7" name="Shape 5"/>
          <p:cNvSpPr/>
          <p:nvPr/>
        </p:nvSpPr>
        <p:spPr>
          <a:xfrm>
            <a:off x="548640" y="3154680"/>
            <a:ext cx="4846320" cy="457200"/>
          </a:xfrm>
          <a:prstGeom prst="roundRect">
            <a:avLst>
              <a:gd name="adj" fmla="val 16000"/>
            </a:avLst>
          </a:prstGeom>
          <a:solidFill>
            <a:srgbClr val="D1FAE5"/>
          </a:solidFill>
          <a:ln w="12700">
            <a:solidFill>
              <a:srgbClr val="D1FAE5"/>
            </a:solidFill>
            <a:prstDash val="solid"/>
          </a:ln>
        </p:spPr>
      </p:sp>
      <p:sp>
        <p:nvSpPr>
          <p:cNvPr id="8" name="Text 6"/>
          <p:cNvSpPr txBox="1"/>
          <p:nvPr/>
        </p:nvSpPr>
        <p:spPr>
          <a:xfrm>
            <a:off x="548640" y="3154680"/>
            <a:ext cx="4846320" cy="457200"/>
          </a:xfrm>
          <a:prstGeom prst="rect">
            <a:avLst/>
          </a:prstGeom>
          <a:noFill/>
          <a:ln/>
        </p:spPr>
        <p:txBody>
          <a:bodyPr wrap="square" lIns="0" tIns="0" rIns="0" bIns="0" rtlCol="0" anchor="ctr"/>
          <a:lstStyle/>
          <a:p>
            <a:pPr algn="ctr" indent="0" marL="0">
              <a:buNone/>
            </a:pPr>
            <a:r>
              <a:rPr lang="en-US" sz="1350" b="1" dirty="0">
                <a:solidFill>
                  <a:srgbClr val="059669"/>
                </a:solidFill>
                <a:latin typeface="Calibri" pitchFamily="34" charset="0"/>
                <a:ea typeface="Calibri" pitchFamily="34" charset="-122"/>
                <a:cs typeface="Calibri" pitchFamily="34" charset="-120"/>
              </a:rPr>
              <a:t>391 hrs under allowance ≈ $13.1K at $33.43/hr</a:t>
            </a:r>
            <a:endParaRPr lang="en-US" sz="1350" dirty="0"/>
          </a:p>
        </p:txBody>
      </p:sp>
      <p:sp>
        <p:nvSpPr>
          <p:cNvPr id="9" name="Shape 7"/>
          <p:cNvSpPr/>
          <p:nvPr/>
        </p:nvSpPr>
        <p:spPr>
          <a:xfrm>
            <a:off x="548640" y="3794760"/>
            <a:ext cx="4846320" cy="475488"/>
          </a:xfrm>
          <a:prstGeom prst="roundRect">
            <a:avLst>
              <a:gd name="adj" fmla="val 15385"/>
            </a:avLst>
          </a:prstGeom>
          <a:solidFill>
            <a:srgbClr val="F3F4F6"/>
          </a:solidFill>
          <a:ln w="12700">
            <a:solidFill>
              <a:srgbClr val="F3F4F6"/>
            </a:solidFill>
            <a:prstDash val="solid"/>
          </a:ln>
        </p:spPr>
      </p:sp>
      <p:sp>
        <p:nvSpPr>
          <p:cNvPr id="10" name="Text 8"/>
          <p:cNvSpPr txBox="1"/>
          <p:nvPr/>
        </p:nvSpPr>
        <p:spPr>
          <a:xfrm>
            <a:off x="731520" y="379476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Monthly SCA target</a:t>
            </a:r>
            <a:pPr indent="0" marL="0">
              <a:buNone/>
            </a:pPr>
            <a:r>
              <a:rPr lang="en-US" sz="1200" dirty="0">
                <a:solidFill>
                  <a:srgbClr val="6B7280"/>
                </a:solidFill>
                <a:latin typeface="Calibri" pitchFamily="34" charset="0"/>
                <a:ea typeface="Calibri" pitchFamily="34" charset="-122"/>
                <a:cs typeface="Calibri" pitchFamily="34" charset="-120"/>
              </a:rPr>
              <a:t> · 6,303 F26 − 1,181</a:t>
            </a:r>
            <a:endParaRPr lang="en-US" sz="1200" dirty="0"/>
          </a:p>
        </p:txBody>
      </p:sp>
      <p:sp>
        <p:nvSpPr>
          <p:cNvPr id="11" name="Text 9"/>
          <p:cNvSpPr txBox="1"/>
          <p:nvPr/>
        </p:nvSpPr>
        <p:spPr>
          <a:xfrm>
            <a:off x="3931920" y="379476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5,122 hrs</a:t>
            </a:r>
            <a:endParaRPr lang="en-US" sz="1500" dirty="0"/>
          </a:p>
        </p:txBody>
      </p:sp>
      <p:sp>
        <p:nvSpPr>
          <p:cNvPr id="12" name="Shape 10"/>
          <p:cNvSpPr/>
          <p:nvPr/>
        </p:nvSpPr>
        <p:spPr>
          <a:xfrm>
            <a:off x="548640" y="4343400"/>
            <a:ext cx="4846320" cy="475488"/>
          </a:xfrm>
          <a:prstGeom prst="roundRect">
            <a:avLst>
              <a:gd name="adj" fmla="val 15385"/>
            </a:avLst>
          </a:prstGeom>
          <a:solidFill>
            <a:srgbClr val="F3F4F6"/>
          </a:solidFill>
          <a:ln w="12700">
            <a:solidFill>
              <a:srgbClr val="F3F4F6"/>
            </a:solidFill>
            <a:prstDash val="solid"/>
          </a:ln>
        </p:spPr>
      </p:sp>
      <p:sp>
        <p:nvSpPr>
          <p:cNvPr id="13" name="Text 11"/>
          <p:cNvSpPr txBox="1"/>
          <p:nvPr/>
        </p:nvSpPr>
        <p:spPr>
          <a:xfrm>
            <a:off x="731520" y="434340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Target per working day</a:t>
            </a:r>
            <a:pPr indent="0" marL="0">
              <a:buNone/>
            </a:pPr>
            <a:r>
              <a:rPr lang="en-US" sz="1200" dirty="0">
                <a:solidFill>
                  <a:srgbClr val="6B7280"/>
                </a:solidFill>
                <a:latin typeface="Calibri" pitchFamily="34" charset="0"/>
                <a:ea typeface="Calibri" pitchFamily="34" charset="-122"/>
                <a:cs typeface="Calibri" pitchFamily="34" charset="-120"/>
              </a:rPr>
              <a:t> · 18 of 21 days</a:t>
            </a:r>
            <a:endParaRPr lang="en-US" sz="1200" dirty="0"/>
          </a:p>
        </p:txBody>
      </p:sp>
      <p:sp>
        <p:nvSpPr>
          <p:cNvPr id="14" name="Text 12"/>
          <p:cNvSpPr txBox="1"/>
          <p:nvPr/>
        </p:nvSpPr>
        <p:spPr>
          <a:xfrm>
            <a:off x="3931920" y="434340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244 hrs</a:t>
            </a:r>
            <a:endParaRPr lang="en-US" sz="1500" dirty="0"/>
          </a:p>
        </p:txBody>
      </p:sp>
      <p:sp>
        <p:nvSpPr>
          <p:cNvPr id="15" name="Shape 13"/>
          <p:cNvSpPr/>
          <p:nvPr/>
        </p:nvSpPr>
        <p:spPr>
          <a:xfrm>
            <a:off x="548640" y="4892040"/>
            <a:ext cx="4846320" cy="475488"/>
          </a:xfrm>
          <a:prstGeom prst="roundRect">
            <a:avLst>
              <a:gd name="adj" fmla="val 15385"/>
            </a:avLst>
          </a:prstGeom>
          <a:solidFill>
            <a:srgbClr val="F3F4F6"/>
          </a:solidFill>
          <a:ln w="12700">
            <a:solidFill>
              <a:srgbClr val="F3F4F6"/>
            </a:solidFill>
            <a:prstDash val="solid"/>
          </a:ln>
        </p:spPr>
      </p:sp>
      <p:sp>
        <p:nvSpPr>
          <p:cNvPr id="16" name="Text 14"/>
          <p:cNvSpPr txBox="1"/>
          <p:nvPr/>
        </p:nvSpPr>
        <p:spPr>
          <a:xfrm>
            <a:off x="731520" y="489204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Calendar-day view</a:t>
            </a:r>
            <a:pPr indent="0" marL="0">
              <a:buNone/>
            </a:pPr>
            <a:r>
              <a:rPr lang="en-US" sz="1200" dirty="0">
                <a:solidFill>
                  <a:srgbClr val="6B7280"/>
                </a:solidFill>
                <a:latin typeface="Calibri" pitchFamily="34" charset="0"/>
                <a:ea typeface="Calibri" pitchFamily="34" charset="-122"/>
                <a:cs typeface="Calibri" pitchFamily="34" charset="-120"/>
              </a:rPr>
              <a:t> · 4,439 allowable</a:t>
            </a:r>
            <a:endParaRPr lang="en-US" sz="1200" dirty="0"/>
          </a:p>
        </p:txBody>
      </p:sp>
      <p:sp>
        <p:nvSpPr>
          <p:cNvPr id="17" name="Text 15"/>
          <p:cNvSpPr txBox="1"/>
          <p:nvPr/>
        </p:nvSpPr>
        <p:spPr>
          <a:xfrm>
            <a:off x="3931920" y="489204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90.1%</a:t>
            </a:r>
            <a:endParaRPr lang="en-US" sz="1500" dirty="0"/>
          </a:p>
        </p:txBody>
      </p:sp>
      <p:sp>
        <p:nvSpPr>
          <p:cNvPr id="18" name="Shape 16"/>
          <p:cNvSpPr/>
          <p:nvPr/>
        </p:nvSpPr>
        <p:spPr>
          <a:xfrm>
            <a:off x="548640" y="5440680"/>
            <a:ext cx="4846320" cy="475488"/>
          </a:xfrm>
          <a:prstGeom prst="roundRect">
            <a:avLst>
              <a:gd name="adj" fmla="val 15385"/>
            </a:avLst>
          </a:prstGeom>
          <a:solidFill>
            <a:srgbClr val="F3F4F6"/>
          </a:solidFill>
          <a:ln w="12700">
            <a:solidFill>
              <a:srgbClr val="F3F4F6"/>
            </a:solidFill>
            <a:prstDash val="solid"/>
          </a:ln>
        </p:spPr>
      </p:sp>
      <p:sp>
        <p:nvSpPr>
          <p:cNvPr id="19" name="Text 17"/>
          <p:cNvSpPr txBox="1"/>
          <p:nvPr/>
        </p:nvSpPr>
        <p:spPr>
          <a:xfrm>
            <a:off x="731520" y="544068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Month target used</a:t>
            </a:r>
            <a:pPr indent="0" marL="0">
              <a:buNone/>
            </a:pPr>
            <a:r>
              <a:rPr lang="en-US" sz="1200" dirty="0">
                <a:solidFill>
                  <a:srgbClr val="6B7280"/>
                </a:solidFill>
                <a:latin typeface="Calibri" pitchFamily="34" charset="0"/>
                <a:ea typeface="Calibri" pitchFamily="34" charset="-122"/>
                <a:cs typeface="Calibri" pitchFamily="34" charset="-120"/>
              </a:rPr>
              <a:t> · 3,999 / 5,122</a:t>
            </a:r>
            <a:endParaRPr lang="en-US" sz="1200" dirty="0"/>
          </a:p>
        </p:txBody>
      </p:sp>
      <p:sp>
        <p:nvSpPr>
          <p:cNvPr id="20" name="Text 18"/>
          <p:cNvSpPr txBox="1"/>
          <p:nvPr/>
        </p:nvSpPr>
        <p:spPr>
          <a:xfrm>
            <a:off x="3931920" y="544068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78.1%</a:t>
            </a:r>
            <a:endParaRPr lang="en-US" sz="1500" dirty="0"/>
          </a:p>
        </p:txBody>
      </p:sp>
      <p:graphicFrame>
        <p:nvGraphicFramePr>
          <p:cNvPr id="21" name="Chart 0" descr=""/>
          <p:cNvGraphicFramePr/>
          <p:nvPr/>
        </p:nvGraphicFramePr>
        <p:xfrm>
          <a:off x="5760720" y="1325880"/>
          <a:ext cx="5879592" cy="3108960"/>
        </p:xfrm>
        <a:graphic xmlns:a="http://schemas.openxmlformats.org/drawingml/2006/main">
          <a:graphicData uri="http://schemas.openxmlformats.org/drawingml/2006/chart">
            <c:chart xmlns:c="http://schemas.openxmlformats.org/drawingml/2006/chart" r:id="rId1"/>
          </a:graphicData>
        </a:graphic>
      </p:graphicFrame>
      <p:sp>
        <p:nvSpPr>
          <p:cNvPr id="22" name="Shape 19"/>
          <p:cNvSpPr/>
          <p:nvPr/>
        </p:nvSpPr>
        <p:spPr>
          <a:xfrm>
            <a:off x="5760720" y="4617720"/>
            <a:ext cx="5879592" cy="1371600"/>
          </a:xfrm>
          <a:prstGeom prst="roundRect">
            <a:avLst>
              <a:gd name="adj" fmla="val 5333"/>
            </a:avLst>
          </a:prstGeom>
          <a:solidFill>
            <a:srgbClr val="ECFDF5"/>
          </a:solidFill>
          <a:ln w="12700">
            <a:solidFill>
              <a:srgbClr val="ECFDF5"/>
            </a:solidFill>
            <a:prstDash val="solid"/>
          </a:ln>
        </p:spPr>
      </p:sp>
      <p:sp>
        <p:nvSpPr>
          <p:cNvPr id="23" name="Text 20"/>
          <p:cNvSpPr txBox="1"/>
          <p:nvPr/>
        </p:nvSpPr>
        <p:spPr>
          <a:xfrm>
            <a:off x="5897880" y="4617720"/>
            <a:ext cx="1645920" cy="1005840"/>
          </a:xfrm>
          <a:prstGeom prst="rect">
            <a:avLst/>
          </a:prstGeom>
          <a:noFill/>
          <a:ln/>
        </p:spPr>
        <p:txBody>
          <a:bodyPr wrap="square" lIns="0" tIns="0" rIns="0" bIns="0" rtlCol="0" anchor="ctr"/>
          <a:lstStyle/>
          <a:p>
            <a:pPr indent="0" marL="0">
              <a:buNone/>
            </a:pPr>
            <a:r>
              <a:rPr lang="en-US" sz="3400" b="1" dirty="0">
                <a:solidFill>
                  <a:srgbClr val="059669"/>
                </a:solidFill>
                <a:latin typeface="Calibri" pitchFamily="34" charset="0"/>
                <a:ea typeface="Calibri" pitchFamily="34" charset="-122"/>
                <a:cs typeface="Calibri" pitchFamily="34" charset="-120"/>
              </a:rPr>
              <a:t>139%</a:t>
            </a:r>
            <a:endParaRPr lang="en-US" sz="3400" dirty="0"/>
          </a:p>
        </p:txBody>
      </p:sp>
      <p:sp>
        <p:nvSpPr>
          <p:cNvPr id="24" name="Text 21"/>
          <p:cNvSpPr txBox="1"/>
          <p:nvPr/>
        </p:nvSpPr>
        <p:spPr>
          <a:xfrm>
            <a:off x="7543800" y="4709160"/>
            <a:ext cx="3931920" cy="914400"/>
          </a:xfrm>
          <a:prstGeom prst="rect">
            <a:avLst/>
          </a:prstGeom>
          <a:noFill/>
          <a:ln/>
        </p:spPr>
        <p:txBody>
          <a:bodyPr wrap="square" lIns="0" tIns="0" rIns="0" bIns="0" rtlCol="0" anchor="ctr"/>
          <a:lstStyle/>
          <a:p>
            <a:pPr indent="0" marL="0">
              <a:buNone/>
            </a:pPr>
            <a:r>
              <a:rPr lang="en-US" sz="1150" b="1" dirty="0">
                <a:solidFill>
                  <a:srgbClr val="111827"/>
                </a:solidFill>
                <a:latin typeface="Calibri" pitchFamily="34" charset="0"/>
                <a:ea typeface="Calibri" pitchFamily="34" charset="-122"/>
                <a:cs typeface="Calibri" pitchFamily="34" charset="-120"/>
              </a:rPr>
              <a:t>of the 1,181-hr reduction target — at current pace</a:t>
            </a:r>
            <a:endParaRPr lang="en-US" sz="1150" dirty="0"/>
          </a:p>
          <a:p>
            <a:pPr indent="0" marL="0">
              <a:buNone/>
            </a:pPr>
            <a:r>
              <a:rPr lang="en-US" sz="1150" dirty="0">
                <a:solidFill>
                  <a:srgbClr val="1F2937"/>
                </a:solidFill>
                <a:latin typeface="Calibri" pitchFamily="34" charset="0"/>
                <a:ea typeface="Calibri" pitchFamily="34" charset="-122"/>
                <a:cs typeface="Calibri" pitchFamily="34" charset="-120"/>
              </a:rPr>
              <a:t>Sept pace ≈4,666 hrs (3,999 ÷ 18/21 working days) vs 5,122 target → ≈1,637 hrs below F26's 6,303.</a:t>
            </a:r>
            <a:endParaRPr lang="en-US" sz="1150" dirty="0"/>
          </a:p>
        </p:txBody>
      </p:sp>
      <p:sp>
        <p:nvSpPr>
          <p:cNvPr id="25" name="Text 22"/>
          <p:cNvSpPr txBox="1"/>
          <p:nvPr/>
        </p:nvSpPr>
        <p:spPr>
          <a:xfrm>
            <a:off x="5943600" y="5669280"/>
            <a:ext cx="5486400"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SCA hours report figures</a:t>
            </a:r>
            <a:endParaRPr lang="en-US" sz="900" dirty="0"/>
          </a:p>
        </p:txBody>
      </p:sp>
      <p:sp>
        <p:nvSpPr>
          <p:cNvPr id="26" name="Text 23"/>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SCA hours report — Mississauga, updated Sat, Sep 26, 2026. F26 = full September; F27 = MTD (18 of 21 working days).</a:t>
            </a:r>
            <a:endParaRPr lang="en-US" sz="1000" dirty="0"/>
          </a:p>
        </p:txBody>
      </p:sp>
      <p:sp>
        <p:nvSpPr>
          <p:cNvPr id="27" name="Text 2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13 / 21</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What we are doing</a:t>
            </a:r>
            <a:endParaRPr lang="en-US" sz="3000" dirty="0"/>
          </a:p>
        </p:txBody>
      </p:sp>
      <p:sp>
        <p:nvSpPr>
          <p:cNvPr id="4" name="Shape 2"/>
          <p:cNvSpPr/>
          <p:nvPr/>
        </p:nvSpPr>
        <p:spPr>
          <a:xfrm>
            <a:off x="548640" y="1508760"/>
            <a:ext cx="475488" cy="475488"/>
          </a:xfrm>
          <a:prstGeom prst="ellipse">
            <a:avLst/>
          </a:prstGeom>
          <a:solidFill>
            <a:srgbClr val="FFEDD5"/>
          </a:solidFill>
          <a:ln w="12700">
            <a:solidFill>
              <a:srgbClr val="FFEDD5"/>
            </a:solidFill>
            <a:prstDash val="solid"/>
          </a:ln>
        </p:spPr>
      </p:sp>
      <p:pic>
        <p:nvPicPr>
          <p:cNvPr id="5" name="Image 0" descr="preencoded.png">    </p:cNvPr>
          <p:cNvPicPr>
            <a:picLocks noChangeAspect="1"/>
          </p:cNvPicPr>
          <p:nvPr/>
        </p:nvPicPr>
        <p:blipFill>
          <a:blip r:embed="rId1"/>
          <a:stretch>
            <a:fillRect/>
          </a:stretch>
        </p:blipFill>
        <p:spPr>
          <a:xfrm>
            <a:off x="667512" y="1627632"/>
            <a:ext cx="237744" cy="237744"/>
          </a:xfrm>
          <a:prstGeom prst="rect">
            <a:avLst/>
          </a:prstGeom>
        </p:spPr>
      </p:pic>
      <p:sp>
        <p:nvSpPr>
          <p:cNvPr id="6" name="Text 3"/>
          <p:cNvSpPr txBox="1"/>
          <p:nvPr/>
        </p:nvSpPr>
        <p:spPr>
          <a:xfrm>
            <a:off x="1234440" y="1417320"/>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Weekly SCA review meetings — hours vs allowance and cost per PRO tracked every week.</a:t>
            </a:r>
            <a:endParaRPr lang="en-US" sz="1400" dirty="0"/>
          </a:p>
        </p:txBody>
      </p:sp>
      <p:sp>
        <p:nvSpPr>
          <p:cNvPr id="7" name="Shape 4"/>
          <p:cNvSpPr/>
          <p:nvPr/>
        </p:nvSpPr>
        <p:spPr>
          <a:xfrm>
            <a:off x="548640" y="2276856"/>
            <a:ext cx="475488" cy="475488"/>
          </a:xfrm>
          <a:prstGeom prst="ellipse">
            <a:avLst/>
          </a:prstGeom>
          <a:solidFill>
            <a:srgbClr val="FFEDD5"/>
          </a:solidFill>
          <a:ln w="12700">
            <a:solidFill>
              <a:srgbClr val="FFEDD5"/>
            </a:solidFill>
            <a:prstDash val="solid"/>
          </a:ln>
        </p:spPr>
      </p:sp>
      <p:pic>
        <p:nvPicPr>
          <p:cNvPr id="8" name="Image 1" descr="preencoded.png">    </p:cNvPr>
          <p:cNvPicPr>
            <a:picLocks noChangeAspect="1"/>
          </p:cNvPicPr>
          <p:nvPr/>
        </p:nvPicPr>
        <p:blipFill>
          <a:blip r:embed="rId2"/>
          <a:stretch>
            <a:fillRect/>
          </a:stretch>
        </p:blipFill>
        <p:spPr>
          <a:xfrm>
            <a:off x="667512" y="2395728"/>
            <a:ext cx="237744" cy="237744"/>
          </a:xfrm>
          <a:prstGeom prst="rect">
            <a:avLst/>
          </a:prstGeom>
        </p:spPr>
      </p:pic>
      <p:sp>
        <p:nvSpPr>
          <p:cNvPr id="9" name="Text 5"/>
          <p:cNvSpPr txBox="1"/>
          <p:nvPr/>
        </p:nvSpPr>
        <p:spPr>
          <a:xfrm>
            <a:off x="1234440" y="2185416"/>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Shift start/end times aligned to P&amp;D activity; agency vs D&amp;R mix managed per shift.</a:t>
            </a:r>
            <a:endParaRPr lang="en-US" sz="1400" dirty="0"/>
          </a:p>
        </p:txBody>
      </p:sp>
      <p:sp>
        <p:nvSpPr>
          <p:cNvPr id="10" name="Shape 6"/>
          <p:cNvSpPr/>
          <p:nvPr/>
        </p:nvSpPr>
        <p:spPr>
          <a:xfrm>
            <a:off x="548640" y="3044952"/>
            <a:ext cx="475488" cy="475488"/>
          </a:xfrm>
          <a:prstGeom prst="ellipse">
            <a:avLst/>
          </a:prstGeom>
          <a:solidFill>
            <a:srgbClr val="FFEDD5"/>
          </a:solidFill>
          <a:ln w="12700">
            <a:solidFill>
              <a:srgbClr val="FFEDD5"/>
            </a:solidFill>
            <a:prstDash val="solid"/>
          </a:ln>
        </p:spPr>
      </p:sp>
      <p:pic>
        <p:nvPicPr>
          <p:cNvPr id="11" name="Image 2" descr="preencoded.png">    </p:cNvPr>
          <p:cNvPicPr>
            <a:picLocks noChangeAspect="1"/>
          </p:cNvPicPr>
          <p:nvPr/>
        </p:nvPicPr>
        <p:blipFill>
          <a:blip r:embed="rId3"/>
          <a:stretch>
            <a:fillRect/>
          </a:stretch>
        </p:blipFill>
        <p:spPr>
          <a:xfrm>
            <a:off x="667512" y="3163824"/>
            <a:ext cx="237744" cy="237744"/>
          </a:xfrm>
          <a:prstGeom prst="rect">
            <a:avLst/>
          </a:prstGeom>
        </p:spPr>
      </p:pic>
      <p:sp>
        <p:nvSpPr>
          <p:cNvPr id="12" name="Text 7"/>
          <p:cNvSpPr txBox="1"/>
          <p:nvPr/>
        </p:nvSpPr>
        <p:spPr>
          <a:xfrm>
            <a:off x="1234440" y="2953512"/>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Accessorials checked on freight bills (appointment, tailgate, storage, inside delivery) before invoicing.</a:t>
            </a:r>
            <a:endParaRPr lang="en-US" sz="1400" dirty="0"/>
          </a:p>
        </p:txBody>
      </p:sp>
      <p:sp>
        <p:nvSpPr>
          <p:cNvPr id="13" name="Shape 8"/>
          <p:cNvSpPr/>
          <p:nvPr/>
        </p:nvSpPr>
        <p:spPr>
          <a:xfrm>
            <a:off x="548640" y="3813048"/>
            <a:ext cx="475488" cy="475488"/>
          </a:xfrm>
          <a:prstGeom prst="ellipse">
            <a:avLst/>
          </a:prstGeom>
          <a:solidFill>
            <a:srgbClr val="FFEDD5"/>
          </a:solidFill>
          <a:ln w="12700">
            <a:solidFill>
              <a:srgbClr val="FFEDD5"/>
            </a:solidFill>
            <a:prstDash val="solid"/>
          </a:ln>
        </p:spPr>
      </p:sp>
      <p:pic>
        <p:nvPicPr>
          <p:cNvPr id="14" name="Image 3" descr="preencoded.png">    </p:cNvPr>
          <p:cNvPicPr>
            <a:picLocks noChangeAspect="1"/>
          </p:cNvPicPr>
          <p:nvPr/>
        </p:nvPicPr>
        <p:blipFill>
          <a:blip r:embed="rId4"/>
          <a:stretch>
            <a:fillRect/>
          </a:stretch>
        </p:blipFill>
        <p:spPr>
          <a:xfrm>
            <a:off x="667512" y="3931920"/>
            <a:ext cx="237744" cy="237744"/>
          </a:xfrm>
          <a:prstGeom prst="rect">
            <a:avLst/>
          </a:prstGeom>
        </p:spPr>
      </p:pic>
      <p:sp>
        <p:nvSpPr>
          <p:cNvPr id="15" name="Text 9"/>
          <p:cNvSpPr txBox="1"/>
          <p:nvPr/>
        </p:nvSpPr>
        <p:spPr>
          <a:xfrm>
            <a:off x="1234440" y="3721608"/>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Clock-in / clock-out (CICO) discipline — late starts, missed lunches and early-offs tracked every shift.</a:t>
            </a:r>
            <a:endParaRPr lang="en-US" sz="1400" dirty="0"/>
          </a:p>
        </p:txBody>
      </p:sp>
      <p:sp>
        <p:nvSpPr>
          <p:cNvPr id="16" name="Shape 10"/>
          <p:cNvSpPr/>
          <p:nvPr/>
        </p:nvSpPr>
        <p:spPr>
          <a:xfrm>
            <a:off x="7772400" y="1417320"/>
            <a:ext cx="3867912" cy="4526280"/>
          </a:xfrm>
          <a:prstGeom prst="roundRect">
            <a:avLst>
              <a:gd name="adj" fmla="val 1891"/>
            </a:avLst>
          </a:prstGeom>
          <a:solidFill>
            <a:srgbClr val="FFF7ED"/>
          </a:solidFill>
          <a:ln w="12700">
            <a:solidFill>
              <a:srgbClr val="FFF7ED"/>
            </a:solidFill>
            <a:prstDash val="solid"/>
          </a:ln>
        </p:spPr>
      </p:sp>
      <p:sp>
        <p:nvSpPr>
          <p:cNvPr id="17" name="Shape 11"/>
          <p:cNvSpPr/>
          <p:nvPr/>
        </p:nvSpPr>
        <p:spPr>
          <a:xfrm>
            <a:off x="8001000" y="1645920"/>
            <a:ext cx="502920" cy="502920"/>
          </a:xfrm>
          <a:prstGeom prst="ellipse">
            <a:avLst/>
          </a:prstGeom>
          <a:solidFill>
            <a:srgbClr val="EA580C"/>
          </a:solidFill>
          <a:ln w="12700">
            <a:solidFill>
              <a:srgbClr val="EA580C"/>
            </a:solidFill>
            <a:prstDash val="solid"/>
          </a:ln>
        </p:spPr>
      </p:sp>
      <p:pic>
        <p:nvPicPr>
          <p:cNvPr id="18" name="Image 4" descr="preencoded.png">    </p:cNvPr>
          <p:cNvPicPr>
            <a:picLocks noChangeAspect="1"/>
          </p:cNvPicPr>
          <p:nvPr/>
        </p:nvPicPr>
        <p:blipFill>
          <a:blip r:embed="rId5"/>
          <a:stretch>
            <a:fillRect/>
          </a:stretch>
        </p:blipFill>
        <p:spPr>
          <a:xfrm>
            <a:off x="8126730" y="1771650"/>
            <a:ext cx="251460" cy="251460"/>
          </a:xfrm>
          <a:prstGeom prst="rect">
            <a:avLst/>
          </a:prstGeom>
        </p:spPr>
      </p:pic>
      <p:sp>
        <p:nvSpPr>
          <p:cNvPr id="19" name="Text 12"/>
          <p:cNvSpPr txBox="1"/>
          <p:nvPr/>
        </p:nvSpPr>
        <p:spPr>
          <a:xfrm>
            <a:off x="8641080" y="1645920"/>
            <a:ext cx="2834640"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Workforce mix — agency vs D&amp;R</a:t>
            </a:r>
            <a:endParaRPr lang="en-US" sz="1500" dirty="0"/>
          </a:p>
        </p:txBody>
      </p:sp>
      <p:sp>
        <p:nvSpPr>
          <p:cNvPr id="20" name="Text 13"/>
          <p:cNvSpPr txBox="1"/>
          <p:nvPr/>
        </p:nvSpPr>
        <p:spPr>
          <a:xfrm>
            <a:off x="8001000" y="2240280"/>
            <a:ext cx="3474720" cy="256032"/>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Dock hours · SCA hours report, Mississauga</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8001000" y="2606040"/>
          <a:ext cx="3429000" cy="914400"/>
        </p:xfrm>
        <a:graphic>
          <a:graphicData uri="http://schemas.openxmlformats.org/drawingml/2006/table">
            <a:tbl>
              <a:tblPr/>
              <a:tblGrid>
                <a:gridCol w="1600200"/>
                <a:gridCol w="914400"/>
                <a:gridCol w="914400"/>
              </a:tblGrid>
              <a:tr h="365760">
                <a:tc>
                  <a:txBody>
                    <a:bodyPr/>
                    <a:lstStyle/>
                    <a:p>
                      <a:pPr indent="0" marL="0">
                        <a:buNone/>
                      </a:pP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Sept MTD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F26 Sept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hrs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2,457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4,443</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D&amp;R hrs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1,542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1,860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share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059669"/>
                          </a:solidFill>
                          <a:latin typeface="Calibri" pitchFamily="34" charset="0"/>
                          <a:ea typeface="Calibri" pitchFamily="34" charset="-122"/>
                          <a:cs typeface="Calibri" pitchFamily="34" charset="-120"/>
                        </a:rPr>
                        <a:t>61.4%</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70.5%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hrs per D&amp;R hr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059669"/>
                          </a:solidFill>
                          <a:latin typeface="Calibri" pitchFamily="34" charset="0"/>
                          <a:ea typeface="Calibri" pitchFamily="34" charset="-122"/>
                          <a:cs typeface="Calibri" pitchFamily="34" charset="-120"/>
                        </a:rPr>
                        <a:t>1.59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2.39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bl>
          </a:graphicData>
        </a:graphic>
      </p:graphicFrame>
      <p:sp>
        <p:nvSpPr>
          <p:cNvPr id="22" name="Text 14"/>
          <p:cNvSpPr txBox="1"/>
          <p:nvPr/>
        </p:nvSpPr>
        <p:spPr>
          <a:xfrm>
            <a:off x="8001000" y="4480560"/>
            <a:ext cx="3429000" cy="219456"/>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Share and ratio calculated from report hours.</a:t>
            </a:r>
            <a:endParaRPr lang="en-US" sz="900" dirty="0"/>
          </a:p>
        </p:txBody>
      </p:sp>
      <p:sp>
        <p:nvSpPr>
          <p:cNvPr id="23" name="Text 15"/>
          <p:cNvSpPr txBox="1"/>
          <p:nvPr/>
        </p:nvSpPr>
        <p:spPr>
          <a:xfrm>
            <a:off x="8001000" y="4800600"/>
            <a:ext cx="3429000" cy="45720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Per-shift example (Wed Sep 9) in the table below.</a:t>
            </a:r>
            <a:endParaRPr lang="en-US" sz="1100" dirty="0"/>
          </a:p>
        </p:txBody>
      </p:sp>
      <p:graphicFrame>
        <p:nvGraphicFramePr>
          <p:cNvPr id="29" name="Table 1"/>
          <p:cNvGraphicFramePr>
            <a:graphicFrameLocks noGrp="1"/>
          </p:cNvGraphicFramePr>
          <p:nvPr>
            <p:extLst>
              <p:ext uri="{D42A27DB-BD31-4B8C-83A1-F6EECF244321}">
                <p14:modId xmlns:p14="http://schemas.microsoft.com/office/powerpoint/2010/main" val="1579011935"/>
              </p:ext>
            </p:extLst>
          </p:nvPr>
        </p:nvGraphicFramePr>
        <p:xfrm>
          <a:off x="548640" y="4553712"/>
          <a:ext cx="6903720" cy="914400"/>
        </p:xfrm>
        <a:graphic>
          <a:graphicData uri="http://schemas.openxmlformats.org/drawingml/2006/table">
            <a:tbl>
              <a:tblPr/>
              <a:tblGrid>
                <a:gridCol w="1508760"/>
                <a:gridCol w="914400"/>
                <a:gridCol w="914400"/>
                <a:gridCol w="1325880"/>
                <a:gridCol w="914400"/>
                <a:gridCol w="1325880"/>
              </a:tblGrid>
              <a:tr h="246888">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Shift · Wed Sep 9</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Budget hrs</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Actual hrs</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Dock agency / D&amp;R</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Dock ratio</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Admin agency / D&amp;R</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AM (Inbound)</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40.0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DC2626"/>
                          </a:solidFill>
                          <a:latin typeface="Calibri" pitchFamily="34" charset="0"/>
                          <a:ea typeface="Calibri" pitchFamily="34" charset="-122"/>
                          <a:cs typeface="Calibri" pitchFamily="34" charset="-120"/>
                        </a:rPr>
                        <a:t>42.63</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6 / 2</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3.0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2 / 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Day</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64.0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059669"/>
                          </a:solidFill>
                          <a:latin typeface="Calibri" pitchFamily="34" charset="0"/>
                          <a:ea typeface="Calibri" pitchFamily="34" charset="-122"/>
                          <a:cs typeface="Calibri" pitchFamily="34" charset="-120"/>
                        </a:rPr>
                        <a:t>62.67</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7 / 5</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1.4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13 / 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PM (Outbound)</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96.0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059669"/>
                          </a:solidFill>
                          <a:latin typeface="Calibri" pitchFamily="34" charset="0"/>
                          <a:ea typeface="Calibri" pitchFamily="34" charset="-122"/>
                          <a:cs typeface="Calibri" pitchFamily="34" charset="-120"/>
                        </a:rPr>
                        <a:t>95.03</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9 / 4</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2.3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7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Driver loaders</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059669"/>
                          </a:solidFill>
                          <a:latin typeface="Calibri" pitchFamily="34" charset="0"/>
                          <a:ea typeface="Calibri" pitchFamily="34" charset="-122"/>
                          <a:cs typeface="Calibri" pitchFamily="34" charset="-120"/>
                        </a:rPr>
                        <a:t>7.00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Total</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208.0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059669"/>
                          </a:solidFill>
                          <a:latin typeface="Calibri" pitchFamily="34" charset="0"/>
                          <a:ea typeface="Calibri" pitchFamily="34" charset="-122"/>
                          <a:cs typeface="Calibri" pitchFamily="34" charset="-120"/>
                        </a:rPr>
                        <a:t>207.33</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22 / 11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2.0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22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r>
            </a:tbl>
          </a:graphicData>
        </a:graphic>
      </p:graphicFrame>
      <p:sp>
        <p:nvSpPr>
          <p:cNvPr id="25" name="Text 1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6" name="Text 1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14 / 21</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Productivity — PPH &amp; units/hr (Sept MTD)</a:t>
            </a:r>
            <a:endParaRPr lang="en-US" sz="3000" dirty="0"/>
          </a:p>
        </p:txBody>
      </p:sp>
      <p:sp>
        <p:nvSpPr>
          <p:cNvPr id="4" name="Shape 2"/>
          <p:cNvSpPr/>
          <p:nvPr/>
        </p:nvSpPr>
        <p:spPr>
          <a:xfrm>
            <a:off x="548640" y="1371600"/>
            <a:ext cx="2601468" cy="1783080"/>
          </a:xfrm>
          <a:prstGeom prst="roundRect">
            <a:avLst>
              <a:gd name="adj" fmla="val 4103"/>
            </a:avLst>
          </a:prstGeom>
          <a:solidFill>
            <a:srgbClr val="F3F4F6"/>
          </a:solidFill>
          <a:ln w="12700">
            <a:solidFill>
              <a:srgbClr val="F3F4F6"/>
            </a:solidFill>
            <a:prstDash val="solid"/>
          </a:ln>
        </p:spPr>
      </p:sp>
      <p:sp>
        <p:nvSpPr>
          <p:cNvPr id="5" name="Text 3"/>
          <p:cNvSpPr txBox="1"/>
          <p:nvPr/>
        </p:nvSpPr>
        <p:spPr>
          <a:xfrm>
            <a:off x="731520"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PPH (lbs per dock hour)</a:t>
            </a:r>
            <a:endParaRPr lang="en-US" sz="1100" dirty="0"/>
          </a:p>
        </p:txBody>
      </p:sp>
      <p:sp>
        <p:nvSpPr>
          <p:cNvPr id="6" name="Text 4"/>
          <p:cNvSpPr txBox="1"/>
          <p:nvPr/>
        </p:nvSpPr>
        <p:spPr>
          <a:xfrm>
            <a:off x="731520" y="1783080"/>
            <a:ext cx="2235708" cy="685800"/>
          </a:xfrm>
          <a:prstGeom prst="rect">
            <a:avLst/>
          </a:prstGeom>
          <a:noFill/>
          <a:ln/>
        </p:spPr>
        <p:txBody>
          <a:bodyPr wrap="square" lIns="0" tIns="0" rIns="0" bIns="0" rtlCol="0" anchor="ctr"/>
          <a:lstStyle/>
          <a:p>
            <a:pPr indent="0" marL="0">
              <a:buNone/>
            </a:pPr>
            <a:r>
              <a:rPr lang="en-US" sz="3600" b="1" dirty="0">
                <a:solidFill>
                  <a:srgbClr val="111827"/>
                </a:solidFill>
                <a:latin typeface="Calibri" pitchFamily="34" charset="0"/>
                <a:ea typeface="Calibri" pitchFamily="34" charset="-122"/>
                <a:cs typeface="Calibri" pitchFamily="34" charset="-120"/>
              </a:rPr>
              <a:t>3,327</a:t>
            </a:r>
            <a:endParaRPr lang="en-US" sz="3600" dirty="0"/>
          </a:p>
        </p:txBody>
      </p:sp>
      <p:sp>
        <p:nvSpPr>
          <p:cNvPr id="7" name="Text 5"/>
          <p:cNvSpPr txBox="1"/>
          <p:nvPr/>
        </p:nvSpPr>
        <p:spPr>
          <a:xfrm>
            <a:off x="731520"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3,313 · </a:t>
            </a:r>
            <a:pPr indent="0" marL="0">
              <a:buNone/>
            </a:pPr>
            <a:r>
              <a:rPr lang="en-US" sz="1100" b="1" dirty="0">
                <a:solidFill>
                  <a:srgbClr val="059669"/>
                </a:solidFill>
                <a:latin typeface="Calibri" pitchFamily="34" charset="0"/>
                <a:ea typeface="Calibri" pitchFamily="34" charset="-122"/>
                <a:cs typeface="Calibri" pitchFamily="34" charset="-120"/>
              </a:rPr>
              <a:t>+14 (+0.4% YoY)</a:t>
            </a: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Goal 4,258 · </a:t>
            </a:r>
            <a:pPr indent="0" marL="0">
              <a:buNone/>
            </a:pPr>
            <a:r>
              <a:rPr lang="en-US" sz="1100" b="1" dirty="0">
                <a:solidFill>
                  <a:srgbClr val="DC2626"/>
                </a:solidFill>
                <a:latin typeface="Calibri" pitchFamily="34" charset="0"/>
                <a:ea typeface="Calibri" pitchFamily="34" charset="-122"/>
                <a:cs typeface="Calibri" pitchFamily="34" charset="-120"/>
              </a:rPr>
              <a:t>−931 (−21.9%)</a:t>
            </a:r>
            <a:endParaRPr lang="en-US" sz="1100" dirty="0"/>
          </a:p>
        </p:txBody>
      </p:sp>
      <p:sp>
        <p:nvSpPr>
          <p:cNvPr id="8" name="Shape 6"/>
          <p:cNvSpPr/>
          <p:nvPr/>
        </p:nvSpPr>
        <p:spPr>
          <a:xfrm>
            <a:off x="3378708" y="1371600"/>
            <a:ext cx="2601468" cy="1783080"/>
          </a:xfrm>
          <a:prstGeom prst="roundRect">
            <a:avLst>
              <a:gd name="adj" fmla="val 4103"/>
            </a:avLst>
          </a:prstGeom>
          <a:solidFill>
            <a:srgbClr val="F3F4F6"/>
          </a:solidFill>
          <a:ln w="12700">
            <a:solidFill>
              <a:srgbClr val="F3F4F6"/>
            </a:solidFill>
            <a:prstDash val="solid"/>
          </a:ln>
        </p:spPr>
      </p:sp>
      <p:sp>
        <p:nvSpPr>
          <p:cNvPr id="9" name="Text 7"/>
          <p:cNvSpPr txBox="1"/>
          <p:nvPr/>
        </p:nvSpPr>
        <p:spPr>
          <a:xfrm>
            <a:off x="3561588"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Units per hour</a:t>
            </a:r>
            <a:endParaRPr lang="en-US" sz="1100" dirty="0"/>
          </a:p>
        </p:txBody>
      </p:sp>
      <p:sp>
        <p:nvSpPr>
          <p:cNvPr id="10" name="Text 8"/>
          <p:cNvSpPr txBox="1"/>
          <p:nvPr/>
        </p:nvSpPr>
        <p:spPr>
          <a:xfrm>
            <a:off x="3561588" y="1783080"/>
            <a:ext cx="2235708" cy="685800"/>
          </a:xfrm>
          <a:prstGeom prst="rect">
            <a:avLst/>
          </a:prstGeom>
          <a:noFill/>
          <a:ln/>
        </p:spPr>
        <p:txBody>
          <a:bodyPr wrap="square" lIns="0" tIns="0" rIns="0" bIns="0" rtlCol="0" anchor="ctr"/>
          <a:lstStyle/>
          <a:p>
            <a:pPr indent="0" marL="0">
              <a:buNone/>
            </a:pPr>
            <a:r>
              <a:rPr lang="en-US" sz="3600" b="1" dirty="0">
                <a:solidFill>
                  <a:srgbClr val="059669"/>
                </a:solidFill>
                <a:latin typeface="Calibri" pitchFamily="34" charset="0"/>
                <a:ea typeface="Calibri" pitchFamily="34" charset="-122"/>
                <a:cs typeface="Calibri" pitchFamily="34" charset="-120"/>
              </a:rPr>
              <a:t>15.2</a:t>
            </a:r>
            <a:endParaRPr lang="en-US" sz="3600" dirty="0"/>
          </a:p>
        </p:txBody>
      </p:sp>
      <p:sp>
        <p:nvSpPr>
          <p:cNvPr id="11" name="Text 9"/>
          <p:cNvSpPr txBox="1"/>
          <p:nvPr/>
        </p:nvSpPr>
        <p:spPr>
          <a:xfrm>
            <a:off x="3561588"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12.03 · </a:t>
            </a:r>
            <a:pPr indent="0" marL="0">
              <a:buNone/>
            </a:pPr>
            <a:r>
              <a:rPr lang="en-US" sz="1100" b="1" dirty="0">
                <a:solidFill>
                  <a:srgbClr val="059669"/>
                </a:solidFill>
                <a:latin typeface="Calibri" pitchFamily="34" charset="0"/>
                <a:ea typeface="Calibri" pitchFamily="34" charset="-122"/>
                <a:cs typeface="Calibri" pitchFamily="34" charset="-120"/>
              </a:rPr>
              <a:t>+3.2 (+26.7%)</a:t>
            </a:r>
            <a:endParaRPr lang="en-US" sz="1100" dirty="0"/>
          </a:p>
        </p:txBody>
      </p:sp>
      <p:sp>
        <p:nvSpPr>
          <p:cNvPr id="12" name="Shape 10"/>
          <p:cNvSpPr/>
          <p:nvPr/>
        </p:nvSpPr>
        <p:spPr>
          <a:xfrm>
            <a:off x="6208776" y="1371600"/>
            <a:ext cx="2601468" cy="1783080"/>
          </a:xfrm>
          <a:prstGeom prst="roundRect">
            <a:avLst>
              <a:gd name="adj" fmla="val 4103"/>
            </a:avLst>
          </a:prstGeom>
          <a:solidFill>
            <a:srgbClr val="F3F4F6"/>
          </a:solidFill>
          <a:ln w="12700">
            <a:solidFill>
              <a:srgbClr val="F3F4F6"/>
            </a:solidFill>
            <a:prstDash val="solid"/>
          </a:ln>
        </p:spPr>
      </p:sp>
      <p:sp>
        <p:nvSpPr>
          <p:cNvPr id="13" name="Text 11"/>
          <p:cNvSpPr txBox="1"/>
          <p:nvPr/>
        </p:nvSpPr>
        <p:spPr>
          <a:xfrm>
            <a:off x="6391656"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Lbs per unit</a:t>
            </a:r>
            <a:endParaRPr lang="en-US" sz="1100" dirty="0"/>
          </a:p>
        </p:txBody>
      </p:sp>
      <p:sp>
        <p:nvSpPr>
          <p:cNvPr id="14" name="Text 12"/>
          <p:cNvSpPr txBox="1"/>
          <p:nvPr/>
        </p:nvSpPr>
        <p:spPr>
          <a:xfrm>
            <a:off x="6391656" y="1783080"/>
            <a:ext cx="2235708" cy="685800"/>
          </a:xfrm>
          <a:prstGeom prst="rect">
            <a:avLst/>
          </a:prstGeom>
          <a:noFill/>
          <a:ln/>
        </p:spPr>
        <p:txBody>
          <a:bodyPr wrap="square" lIns="0" tIns="0" rIns="0" bIns="0" rtlCol="0" anchor="ctr"/>
          <a:lstStyle/>
          <a:p>
            <a:pPr indent="0" marL="0">
              <a:buNone/>
            </a:pPr>
            <a:r>
              <a:rPr lang="en-US" sz="3600" b="1" dirty="0">
                <a:solidFill>
                  <a:srgbClr val="111827"/>
                </a:solidFill>
                <a:latin typeface="Calibri" pitchFamily="34" charset="0"/>
                <a:ea typeface="Calibri" pitchFamily="34" charset="-122"/>
                <a:cs typeface="Calibri" pitchFamily="34" charset="-120"/>
              </a:rPr>
              <a:t>218</a:t>
            </a:r>
            <a:endParaRPr lang="en-US" sz="3600" dirty="0"/>
          </a:p>
        </p:txBody>
      </p:sp>
      <p:sp>
        <p:nvSpPr>
          <p:cNvPr id="15" name="Text 13"/>
          <p:cNvSpPr txBox="1"/>
          <p:nvPr/>
        </p:nvSpPr>
        <p:spPr>
          <a:xfrm>
            <a:off x="6391656"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 275 (3,313 ÷ 12.03) · </a:t>
            </a:r>
            <a:pPr indent="0" marL="0">
              <a:buNone/>
            </a:pPr>
            <a:r>
              <a:rPr lang="en-US" sz="1100" b="1" dirty="0">
                <a:solidFill>
                  <a:srgbClr val="1F2937"/>
                </a:solidFill>
                <a:latin typeface="Calibri" pitchFamily="34" charset="0"/>
                <a:ea typeface="Calibri" pitchFamily="34" charset="-122"/>
                <a:cs typeface="Calibri" pitchFamily="34" charset="-120"/>
              </a:rPr>
              <a:t>−21%</a:t>
            </a: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Lighter freight mix</a:t>
            </a:r>
            <a:endParaRPr lang="en-US" sz="1100" dirty="0"/>
          </a:p>
        </p:txBody>
      </p:sp>
      <p:sp>
        <p:nvSpPr>
          <p:cNvPr id="16" name="Shape 14"/>
          <p:cNvSpPr/>
          <p:nvPr/>
        </p:nvSpPr>
        <p:spPr>
          <a:xfrm>
            <a:off x="9038844" y="1371600"/>
            <a:ext cx="2601468" cy="1783080"/>
          </a:xfrm>
          <a:prstGeom prst="roundRect">
            <a:avLst>
              <a:gd name="adj" fmla="val 4103"/>
            </a:avLst>
          </a:prstGeom>
          <a:solidFill>
            <a:srgbClr val="F3F4F6"/>
          </a:solidFill>
          <a:ln w="12700">
            <a:solidFill>
              <a:srgbClr val="F3F4F6"/>
            </a:solidFill>
            <a:prstDash val="solid"/>
          </a:ln>
        </p:spPr>
      </p:sp>
      <p:sp>
        <p:nvSpPr>
          <p:cNvPr id="17" name="Text 15"/>
          <p:cNvSpPr txBox="1"/>
          <p:nvPr/>
        </p:nvSpPr>
        <p:spPr>
          <a:xfrm>
            <a:off x="9221724"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OT hours</a:t>
            </a:r>
            <a:endParaRPr lang="en-US" sz="1100" dirty="0"/>
          </a:p>
        </p:txBody>
      </p:sp>
      <p:sp>
        <p:nvSpPr>
          <p:cNvPr id="18" name="Text 16"/>
          <p:cNvSpPr txBox="1"/>
          <p:nvPr/>
        </p:nvSpPr>
        <p:spPr>
          <a:xfrm>
            <a:off x="9221724" y="1783080"/>
            <a:ext cx="2235708" cy="685800"/>
          </a:xfrm>
          <a:prstGeom prst="rect">
            <a:avLst/>
          </a:prstGeom>
          <a:noFill/>
          <a:ln/>
        </p:spPr>
        <p:txBody>
          <a:bodyPr wrap="square" lIns="0" tIns="0" rIns="0" bIns="0" rtlCol="0" anchor="ctr"/>
          <a:lstStyle/>
          <a:p>
            <a:pPr indent="0" marL="0">
              <a:buNone/>
            </a:pPr>
            <a:r>
              <a:rPr lang="en-US" sz="3600" b="1" dirty="0">
                <a:solidFill>
                  <a:srgbClr val="059669"/>
                </a:solidFill>
                <a:latin typeface="Calibri" pitchFamily="34" charset="0"/>
                <a:ea typeface="Calibri" pitchFamily="34" charset="-122"/>
                <a:cs typeface="Calibri" pitchFamily="34" charset="-120"/>
              </a:rPr>
              <a:t>9</a:t>
            </a:r>
            <a:endParaRPr lang="en-US" sz="3600" dirty="0"/>
          </a:p>
        </p:txBody>
      </p:sp>
      <p:sp>
        <p:nvSpPr>
          <p:cNvPr id="19" name="Text 17"/>
          <p:cNvSpPr txBox="1"/>
          <p:nvPr/>
        </p:nvSpPr>
        <p:spPr>
          <a:xfrm>
            <a:off x="9221724" y="2514600"/>
            <a:ext cx="2235708" cy="548640"/>
          </a:xfrm>
          <a:prstGeom prst="rect">
            <a:avLst/>
          </a:prstGeom>
          <a:noFill/>
          <a:ln/>
        </p:spPr>
        <p:txBody>
          <a:bodyPr wrap="square" lIns="0" tIns="0" rIns="0" bIns="0" rtlCol="0" anchor="t"/>
          <a:lstStyle/>
          <a:p>
            <a:pPr indent="0" marL="0">
              <a:buNone/>
            </a:pPr>
            <a:r>
              <a:rPr lang="en-US" sz="1100" b="1" dirty="0">
                <a:solidFill>
                  <a:srgbClr val="059669"/>
                </a:solidFill>
                <a:latin typeface="Calibri" pitchFamily="34" charset="0"/>
                <a:ea typeface="Calibri" pitchFamily="34" charset="-122"/>
                <a:cs typeface="Calibri" pitchFamily="34" charset="-120"/>
              </a:rPr>
              <a:t>0.2% of hours</a:t>
            </a:r>
            <a:endParaRPr lang="en-US" sz="1100" dirty="0"/>
          </a:p>
        </p:txBody>
      </p:sp>
      <p:graphicFrame>
        <p:nvGraphicFramePr>
          <p:cNvPr id="20" name="Chart 0" descr=""/>
          <p:cNvGraphicFramePr/>
          <p:nvPr/>
        </p:nvGraphicFramePr>
        <p:xfrm>
          <a:off x="548640" y="3383280"/>
          <a:ext cx="5120640" cy="2697480"/>
        </p:xfrm>
        <a:graphic xmlns:a="http://schemas.openxmlformats.org/drawingml/2006/main">
          <a:graphicData uri="http://schemas.openxmlformats.org/drawingml/2006/chart">
            <c:chart xmlns:c="http://schemas.openxmlformats.org/drawingml/2006/chart" r:id="rId1"/>
          </a:graphicData>
        </a:graphic>
      </p:graphicFrame>
      <p:sp>
        <p:nvSpPr>
          <p:cNvPr id="21" name="Shape 18"/>
          <p:cNvSpPr/>
          <p:nvPr/>
        </p:nvSpPr>
        <p:spPr>
          <a:xfrm>
            <a:off x="5989320" y="3383280"/>
            <a:ext cx="5650992" cy="2697480"/>
          </a:xfrm>
          <a:prstGeom prst="roundRect">
            <a:avLst>
              <a:gd name="adj" fmla="val 2712"/>
            </a:avLst>
          </a:prstGeom>
          <a:solidFill>
            <a:srgbClr val="FFF7ED"/>
          </a:solidFill>
          <a:ln w="12700">
            <a:solidFill>
              <a:srgbClr val="FFF7ED"/>
            </a:solidFill>
            <a:prstDash val="solid"/>
          </a:ln>
        </p:spPr>
      </p:sp>
      <p:sp>
        <p:nvSpPr>
          <p:cNvPr id="22" name="Shape 19"/>
          <p:cNvSpPr/>
          <p:nvPr/>
        </p:nvSpPr>
        <p:spPr>
          <a:xfrm>
            <a:off x="6217920" y="3584448"/>
            <a:ext cx="457200" cy="457200"/>
          </a:xfrm>
          <a:prstGeom prst="ellipse">
            <a:avLst/>
          </a:prstGeom>
          <a:solidFill>
            <a:srgbClr val="EA580C"/>
          </a:solidFill>
          <a:ln w="12700">
            <a:solidFill>
              <a:srgbClr val="EA580C"/>
            </a:solidFill>
            <a:prstDash val="solid"/>
          </a:ln>
        </p:spPr>
      </p:sp>
      <p:pic>
        <p:nvPicPr>
          <p:cNvPr id="23" name="Image 0" descr="preencoded.png">    </p:cNvPr>
          <p:cNvPicPr>
            <a:picLocks noChangeAspect="1"/>
          </p:cNvPicPr>
          <p:nvPr/>
        </p:nvPicPr>
        <p:blipFill>
          <a:blip r:embed="rId2"/>
          <a:stretch>
            <a:fillRect/>
          </a:stretch>
        </p:blipFill>
        <p:spPr>
          <a:xfrm>
            <a:off x="6332220" y="3698748"/>
            <a:ext cx="228600" cy="228600"/>
          </a:xfrm>
          <a:prstGeom prst="rect">
            <a:avLst/>
          </a:prstGeom>
        </p:spPr>
      </p:pic>
      <p:sp>
        <p:nvSpPr>
          <p:cNvPr id="24" name="Text 20"/>
          <p:cNvSpPr txBox="1"/>
          <p:nvPr/>
        </p:nvSpPr>
        <p:spPr>
          <a:xfrm>
            <a:off x="6812280" y="3611880"/>
            <a:ext cx="4572000" cy="41148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What the numbers say</a:t>
            </a:r>
            <a:endParaRPr lang="en-US" sz="1700" dirty="0"/>
          </a:p>
        </p:txBody>
      </p:sp>
      <p:sp>
        <p:nvSpPr>
          <p:cNvPr id="25" name="Text 21"/>
          <p:cNvSpPr txBox="1"/>
          <p:nvPr/>
        </p:nvSpPr>
        <p:spPr>
          <a:xfrm>
            <a:off x="6263640" y="4206240"/>
            <a:ext cx="5166360" cy="1737360"/>
          </a:xfrm>
          <a:prstGeom prst="rect">
            <a:avLst/>
          </a:prstGeom>
          <a:noFill/>
          <a:ln/>
        </p:spPr>
        <p:txBody>
          <a:bodyPr wrap="square" lIns="0" tIns="0" rIns="0" bIns="0" rtlCol="0" anchor="t"/>
          <a:lstStyle/>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Freight mix got lighter (≈275 → 218 lbs/unit), yet PPH held flat YoY because the team is moving 26.7% more units per hour.</a:t>
            </a:r>
            <a:endParaRPr lang="en-US" sz="1400" dirty="0"/>
          </a:p>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Gap to PPH goal: −21.9%. The goal is weight-based, so lighter freight holds PPH down even as units per hour rise.</a:t>
            </a:r>
            <a:endParaRPr lang="en-US" sz="1400" dirty="0"/>
          </a:p>
        </p:txBody>
      </p:sp>
      <p:sp>
        <p:nvSpPr>
          <p:cNvPr id="26" name="Text 22"/>
          <p:cNvSpPr txBox="1"/>
          <p:nvPr/>
        </p:nvSpPr>
        <p:spPr>
          <a:xfrm>
            <a:off x="548640" y="617220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Mississauga terminal productivity dashboard, updated for Sat, Sep 26, 2026 · September MTD</a:t>
            </a:r>
            <a:endParaRPr lang="en-US" sz="1000" dirty="0"/>
          </a:p>
        </p:txBody>
      </p:sp>
      <p:sp>
        <p:nvSpPr>
          <p:cNvPr id="27" name="Text 2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15 / 21</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Load factor — outbound, F27 Jul–Sep</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LF score = % of outbound loads more than 80% full · ex-Moncton and band figures calculated from the report</a:t>
            </a:r>
            <a:endParaRPr lang="en-US" sz="1200" dirty="0"/>
          </a:p>
        </p:txBody>
      </p:sp>
      <p:sp>
        <p:nvSpPr>
          <p:cNvPr id="5" name="Shape 3"/>
          <p:cNvSpPr/>
          <p:nvPr/>
        </p:nvSpPr>
        <p:spPr>
          <a:xfrm>
            <a:off x="548640" y="1600200"/>
            <a:ext cx="2635758" cy="1097280"/>
          </a:xfrm>
          <a:prstGeom prst="roundRect">
            <a:avLst>
              <a:gd name="adj" fmla="val 6667"/>
            </a:avLst>
          </a:prstGeom>
          <a:solidFill>
            <a:srgbClr val="F3F4F6"/>
          </a:solidFill>
          <a:ln w="12700">
            <a:solidFill>
              <a:srgbClr val="F3F4F6"/>
            </a:solidFill>
            <a:prstDash val="solid"/>
          </a:ln>
        </p:spPr>
      </p:sp>
      <p:sp>
        <p:nvSpPr>
          <p:cNvPr id="6" name="Text 4"/>
          <p:cNvSpPr txBox="1"/>
          <p:nvPr/>
        </p:nvSpPr>
        <p:spPr>
          <a:xfrm>
            <a:off x="731520"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LF score</a:t>
            </a:r>
            <a:endParaRPr lang="en-US" sz="1100" dirty="0"/>
          </a:p>
        </p:txBody>
      </p:sp>
      <p:sp>
        <p:nvSpPr>
          <p:cNvPr id="7" name="Text 5"/>
          <p:cNvSpPr txBox="1"/>
          <p:nvPr/>
        </p:nvSpPr>
        <p:spPr>
          <a:xfrm>
            <a:off x="731520" y="1947672"/>
            <a:ext cx="2269998" cy="438912"/>
          </a:xfrm>
          <a:prstGeom prst="rect">
            <a:avLst/>
          </a:prstGeom>
          <a:noFill/>
          <a:ln/>
        </p:spPr>
        <p:txBody>
          <a:bodyPr wrap="square" lIns="0" tIns="0" rIns="0" bIns="0" rtlCol="0" anchor="ctr"/>
          <a:lstStyle/>
          <a:p>
            <a:pPr indent="0" marL="0">
              <a:buNone/>
            </a:pPr>
            <a:r>
              <a:rPr lang="en-US" sz="1600" dirty="0">
                <a:solidFill>
                  <a:srgbClr val="6B7280"/>
                </a:solidFill>
                <a:latin typeface="Calibri" pitchFamily="34" charset="0"/>
                <a:ea typeface="Calibri" pitchFamily="34" charset="-122"/>
                <a:cs typeface="Calibri" pitchFamily="34" charset="-120"/>
              </a:rPr>
              <a:t>36.4%</a:t>
            </a:r>
            <a:pPr indent="0" marL="0">
              <a:buNone/>
            </a:pPr>
            <a:r>
              <a:rPr lang="en-US" sz="1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39.5%</a:t>
            </a:r>
            <a:endParaRPr lang="en-US" sz="1600" dirty="0"/>
          </a:p>
        </p:txBody>
      </p:sp>
      <p:sp>
        <p:nvSpPr>
          <p:cNvPr id="8" name="Text 6"/>
          <p:cNvSpPr txBox="1"/>
          <p:nvPr/>
        </p:nvSpPr>
        <p:spPr>
          <a:xfrm>
            <a:off x="731520"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All lanes | ex-Moncton</a:t>
            </a:r>
            <a:endParaRPr lang="en-US" sz="1000" dirty="0"/>
          </a:p>
        </p:txBody>
      </p:sp>
      <p:sp>
        <p:nvSpPr>
          <p:cNvPr id="9" name="Shape 7"/>
          <p:cNvSpPr/>
          <p:nvPr/>
        </p:nvSpPr>
        <p:spPr>
          <a:xfrm>
            <a:off x="3367278" y="1600200"/>
            <a:ext cx="2635758" cy="1097280"/>
          </a:xfrm>
          <a:prstGeom prst="roundRect">
            <a:avLst>
              <a:gd name="adj" fmla="val 6667"/>
            </a:avLst>
          </a:prstGeom>
          <a:solidFill>
            <a:srgbClr val="F3F4F6"/>
          </a:solidFill>
          <a:ln w="12700">
            <a:solidFill>
              <a:srgbClr val="F3F4F6"/>
            </a:solidFill>
            <a:prstDash val="solid"/>
          </a:ln>
        </p:spPr>
      </p:sp>
      <p:sp>
        <p:nvSpPr>
          <p:cNvPr id="10" name="Text 8"/>
          <p:cNvSpPr txBox="1"/>
          <p:nvPr/>
        </p:nvSpPr>
        <p:spPr>
          <a:xfrm>
            <a:off x="3550158"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Average load %</a:t>
            </a:r>
            <a:endParaRPr lang="en-US" sz="1100" dirty="0"/>
          </a:p>
        </p:txBody>
      </p:sp>
      <p:sp>
        <p:nvSpPr>
          <p:cNvPr id="11" name="Text 9"/>
          <p:cNvSpPr txBox="1"/>
          <p:nvPr/>
        </p:nvSpPr>
        <p:spPr>
          <a:xfrm>
            <a:off x="3550158" y="1947672"/>
            <a:ext cx="2269998" cy="438912"/>
          </a:xfrm>
          <a:prstGeom prst="rect">
            <a:avLst/>
          </a:prstGeom>
          <a:noFill/>
          <a:ln/>
        </p:spPr>
        <p:txBody>
          <a:bodyPr wrap="square" lIns="0" tIns="0" rIns="0" bIns="0" rtlCol="0" anchor="ctr"/>
          <a:lstStyle/>
          <a:p>
            <a:pPr indent="0" marL="0">
              <a:buNone/>
            </a:pPr>
            <a:r>
              <a:rPr lang="en-US" sz="1600" dirty="0">
                <a:solidFill>
                  <a:srgbClr val="6B7280"/>
                </a:solidFill>
                <a:latin typeface="Calibri" pitchFamily="34" charset="0"/>
                <a:ea typeface="Calibri" pitchFamily="34" charset="-122"/>
                <a:cs typeface="Calibri" pitchFamily="34" charset="-120"/>
              </a:rPr>
              <a:t>74.9%</a:t>
            </a:r>
            <a:pPr indent="0" marL="0">
              <a:buNone/>
            </a:pPr>
            <a:r>
              <a:rPr lang="en-US" sz="1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75.7%</a:t>
            </a:r>
            <a:endParaRPr lang="en-US" sz="1600" dirty="0"/>
          </a:p>
        </p:txBody>
      </p:sp>
      <p:sp>
        <p:nvSpPr>
          <p:cNvPr id="12" name="Text 10"/>
          <p:cNvSpPr txBox="1"/>
          <p:nvPr/>
        </p:nvSpPr>
        <p:spPr>
          <a:xfrm>
            <a:off x="3550158"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All lanes | ex-Moncton</a:t>
            </a:r>
            <a:endParaRPr lang="en-US" sz="1000" dirty="0"/>
          </a:p>
        </p:txBody>
      </p:sp>
      <p:sp>
        <p:nvSpPr>
          <p:cNvPr id="13" name="Shape 11"/>
          <p:cNvSpPr/>
          <p:nvPr/>
        </p:nvSpPr>
        <p:spPr>
          <a:xfrm>
            <a:off x="6185916" y="1600200"/>
            <a:ext cx="2635758" cy="1097280"/>
          </a:xfrm>
          <a:prstGeom prst="roundRect">
            <a:avLst>
              <a:gd name="adj" fmla="val 6667"/>
            </a:avLst>
          </a:prstGeom>
          <a:solidFill>
            <a:srgbClr val="F3F4F6"/>
          </a:solidFill>
          <a:ln w="12700">
            <a:solidFill>
              <a:srgbClr val="F3F4F6"/>
            </a:solidFill>
            <a:prstDash val="solid"/>
          </a:ln>
        </p:spPr>
      </p:sp>
      <p:sp>
        <p:nvSpPr>
          <p:cNvPr id="14" name="Text 12"/>
          <p:cNvSpPr txBox="1"/>
          <p:nvPr/>
        </p:nvSpPr>
        <p:spPr>
          <a:xfrm>
            <a:off x="6368796"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LF score by distance band</a:t>
            </a:r>
            <a:endParaRPr lang="en-US" sz="1100" dirty="0"/>
          </a:p>
        </p:txBody>
      </p:sp>
      <p:sp>
        <p:nvSpPr>
          <p:cNvPr id="15" name="Text 13"/>
          <p:cNvSpPr txBox="1"/>
          <p:nvPr/>
        </p:nvSpPr>
        <p:spPr>
          <a:xfrm>
            <a:off x="6368796" y="1947672"/>
            <a:ext cx="2269998" cy="438912"/>
          </a:xfrm>
          <a:prstGeom prst="rect">
            <a:avLst/>
          </a:prstGeom>
          <a:noFill/>
          <a:ln/>
        </p:spPr>
        <p:txBody>
          <a:bodyPr wrap="square" lIns="0" tIns="0" rIns="0" bIns="0" rtlCol="0" anchor="ctr"/>
          <a:lstStyle/>
          <a:p>
            <a:pPr indent="0" marL="0">
              <a:buNone/>
            </a:pPr>
            <a:r>
              <a:rPr lang="en-US" sz="2200" b="1" dirty="0">
                <a:solidFill>
                  <a:srgbClr val="111827"/>
                </a:solidFill>
                <a:latin typeface="Calibri" pitchFamily="34" charset="0"/>
                <a:ea typeface="Calibri" pitchFamily="34" charset="-122"/>
                <a:cs typeface="Calibri" pitchFamily="34" charset="-120"/>
              </a:rPr>
              <a:t>53.8%</a:t>
            </a:r>
            <a:pPr indent="0" marL="0">
              <a:buNone/>
            </a:pPr>
            <a:r>
              <a:rPr lang="en-US" sz="1100" dirty="0">
                <a:solidFill>
                  <a:srgbClr val="6B7280"/>
                </a:solidFill>
                <a:latin typeface="Calibri" pitchFamily="34" charset="0"/>
                <a:ea typeface="Calibri" pitchFamily="34" charset="-122"/>
                <a:cs typeface="Calibri" pitchFamily="34" charset="-120"/>
              </a:rPr>
              <a:t>  &gt;1,000 band</a:t>
            </a:r>
            <a:endParaRPr lang="en-US" sz="2200" dirty="0"/>
          </a:p>
        </p:txBody>
      </p:sp>
      <p:sp>
        <p:nvSpPr>
          <p:cNvPr id="16" name="Text 14"/>
          <p:cNvSpPr txBox="1"/>
          <p:nvPr/>
        </p:nvSpPr>
        <p:spPr>
          <a:xfrm>
            <a:off x="6368796"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&lt;500: 32.1% · 500–1,000: 18.9%</a:t>
            </a:r>
            <a:endParaRPr lang="en-US" sz="1000" dirty="0"/>
          </a:p>
        </p:txBody>
      </p:sp>
      <p:sp>
        <p:nvSpPr>
          <p:cNvPr id="17" name="Shape 15"/>
          <p:cNvSpPr/>
          <p:nvPr/>
        </p:nvSpPr>
        <p:spPr>
          <a:xfrm>
            <a:off x="9004554" y="1600200"/>
            <a:ext cx="2635758" cy="1097280"/>
          </a:xfrm>
          <a:prstGeom prst="roundRect">
            <a:avLst>
              <a:gd name="adj" fmla="val 6667"/>
            </a:avLst>
          </a:prstGeom>
          <a:solidFill>
            <a:srgbClr val="F3F4F6"/>
          </a:solidFill>
          <a:ln w="12700">
            <a:solidFill>
              <a:srgbClr val="F3F4F6"/>
            </a:solidFill>
            <a:prstDash val="solid"/>
          </a:ln>
        </p:spPr>
      </p:sp>
      <p:sp>
        <p:nvSpPr>
          <p:cNvPr id="18" name="Text 16"/>
          <p:cNvSpPr txBox="1"/>
          <p:nvPr/>
        </p:nvSpPr>
        <p:spPr>
          <a:xfrm>
            <a:off x="9187434"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Outbound loads</a:t>
            </a:r>
            <a:endParaRPr lang="en-US" sz="1100" dirty="0"/>
          </a:p>
        </p:txBody>
      </p:sp>
      <p:sp>
        <p:nvSpPr>
          <p:cNvPr id="19" name="Text 17"/>
          <p:cNvSpPr txBox="1"/>
          <p:nvPr/>
        </p:nvSpPr>
        <p:spPr>
          <a:xfrm>
            <a:off x="9187434" y="1947672"/>
            <a:ext cx="2269998" cy="438912"/>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854</a:t>
            </a:r>
            <a:endParaRPr lang="en-US" sz="2400" dirty="0"/>
          </a:p>
        </p:txBody>
      </p:sp>
      <p:sp>
        <p:nvSpPr>
          <p:cNvPr id="20" name="Text 18"/>
          <p:cNvSpPr txBox="1"/>
          <p:nvPr/>
        </p:nvSpPr>
        <p:spPr>
          <a:xfrm>
            <a:off x="9187434"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311 &gt;80% · ex-Moncton 271 of 686</a:t>
            </a:r>
            <a:endParaRPr lang="en-US" sz="1000" dirty="0"/>
          </a:p>
        </p:txBody>
      </p:sp>
      <p:graphicFrame>
        <p:nvGraphicFramePr>
          <p:cNvPr id="21" name="Chart 0" descr=""/>
          <p:cNvGraphicFramePr/>
          <p:nvPr/>
        </p:nvGraphicFramePr>
        <p:xfrm>
          <a:off x="548640" y="2880360"/>
          <a:ext cx="5852160" cy="3063240"/>
        </p:xfrm>
        <a:graphic xmlns:a="http://schemas.openxmlformats.org/drawingml/2006/main">
          <a:graphicData uri="http://schemas.openxmlformats.org/drawingml/2006/chart">
            <c:chart xmlns:c="http://schemas.openxmlformats.org/drawingml/2006/chart" r:id="rId1"/>
          </a:graphicData>
        </a:graphic>
      </p:graphicFrame>
      <p:sp>
        <p:nvSpPr>
          <p:cNvPr id="22" name="Shape 19"/>
          <p:cNvSpPr/>
          <p:nvPr/>
        </p:nvSpPr>
        <p:spPr>
          <a:xfrm>
            <a:off x="6675120" y="2880360"/>
            <a:ext cx="4965192" cy="914400"/>
          </a:xfrm>
          <a:prstGeom prst="roundRect">
            <a:avLst>
              <a:gd name="adj" fmla="val 8000"/>
            </a:avLst>
          </a:prstGeom>
          <a:solidFill>
            <a:srgbClr val="F3F4F6"/>
          </a:solidFill>
          <a:ln w="12700">
            <a:solidFill>
              <a:srgbClr val="F3F4F6"/>
            </a:solidFill>
            <a:prstDash val="solid"/>
          </a:ln>
        </p:spPr>
      </p:sp>
      <p:sp>
        <p:nvSpPr>
          <p:cNvPr id="23" name="Text 20"/>
          <p:cNvSpPr txBox="1"/>
          <p:nvPr/>
        </p:nvSpPr>
        <p:spPr>
          <a:xfrm>
            <a:off x="6858000" y="2880360"/>
            <a:ext cx="4663440" cy="914400"/>
          </a:xfrm>
          <a:prstGeom prst="rect">
            <a:avLst/>
          </a:prstGeom>
          <a:noFill/>
          <a:ln/>
        </p:spPr>
        <p:txBody>
          <a:bodyPr wrap="square" lIns="0" tIns="0" rIns="0" bIns="0" rtlCol="0" anchor="ctr"/>
          <a:lstStyle/>
          <a:p>
            <a:pPr indent="0" marL="0">
              <a:spcAft>
                <a:spcPts val="400"/>
              </a:spcAft>
              <a:buNone/>
            </a:pPr>
            <a:r>
              <a:rPr lang="en-US" sz="1300" b="1" dirty="0">
                <a:solidFill>
                  <a:srgbClr val="059669"/>
                </a:solidFill>
                <a:latin typeface="Calibri" pitchFamily="34" charset="0"/>
                <a:ea typeface="Calibri" pitchFamily="34" charset="-122"/>
                <a:cs typeface="Calibri" pitchFamily="34" charset="-120"/>
              </a:rPr>
              <a:t>Strong: </a:t>
            </a:r>
            <a:pPr indent="0" marL="0">
              <a:spcAft>
                <a:spcPts val="400"/>
              </a:spcAft>
              <a:buNone/>
            </a:pPr>
            <a:r>
              <a:rPr lang="en-US" sz="1300" dirty="0">
                <a:solidFill>
                  <a:srgbClr val="1F2937"/>
                </a:solidFill>
                <a:latin typeface="Calibri" pitchFamily="34" charset="0"/>
                <a:ea typeface="Calibri" pitchFamily="34" charset="-122"/>
                <a:cs typeface="Calibri" pitchFamily="34" charset="-120"/>
              </a:rPr>
              <a:t>Burnaby · Winnipeg · Calgary</a:t>
            </a:r>
            <a:endParaRPr lang="en-US" sz="1300" dirty="0"/>
          </a:p>
          <a:p>
            <a:pPr indent="0" marL="0">
              <a:spcAft>
                <a:spcPts val="400"/>
              </a:spcAft>
              <a:buNone/>
            </a:pPr>
            <a:r>
              <a:rPr lang="en-US" sz="1300" b="1" dirty="0">
                <a:solidFill>
                  <a:srgbClr val="DC2626"/>
                </a:solidFill>
                <a:latin typeface="Calibri" pitchFamily="34" charset="0"/>
                <a:ea typeface="Calibri" pitchFamily="34" charset="-122"/>
                <a:cs typeface="Calibri" pitchFamily="34" charset="-120"/>
              </a:rPr>
              <a:t>Light: </a:t>
            </a:r>
            <a:pPr indent="0" marL="0">
              <a:spcAft>
                <a:spcPts val="400"/>
              </a:spcAft>
              <a:buNone/>
            </a:pPr>
            <a:r>
              <a:rPr lang="en-US" sz="1300" dirty="0">
                <a:solidFill>
                  <a:srgbClr val="1F2937"/>
                </a:solidFill>
                <a:latin typeface="Calibri" pitchFamily="34" charset="0"/>
                <a:ea typeface="Calibri" pitchFamily="34" charset="-122"/>
                <a:cs typeface="Calibri" pitchFamily="34" charset="-120"/>
              </a:rPr>
              <a:t>Windsor · Quebec City · Dartmouth</a:t>
            </a:r>
            <a:endParaRPr lang="en-US" sz="1300" dirty="0"/>
          </a:p>
        </p:txBody>
      </p:sp>
      <p:sp>
        <p:nvSpPr>
          <p:cNvPr id="24" name="Shape 21"/>
          <p:cNvSpPr/>
          <p:nvPr/>
        </p:nvSpPr>
        <p:spPr>
          <a:xfrm>
            <a:off x="6675120" y="3931920"/>
            <a:ext cx="4965192" cy="960120"/>
          </a:xfrm>
          <a:prstGeom prst="roundRect">
            <a:avLst>
              <a:gd name="adj" fmla="val 7619"/>
            </a:avLst>
          </a:prstGeom>
          <a:solidFill>
            <a:srgbClr val="FFFBEB"/>
          </a:solidFill>
          <a:ln w="12700">
            <a:solidFill>
              <a:srgbClr val="FFFBEB"/>
            </a:solidFill>
            <a:prstDash val="solid"/>
          </a:ln>
        </p:spPr>
      </p:sp>
      <p:sp>
        <p:nvSpPr>
          <p:cNvPr id="25" name="Text 22"/>
          <p:cNvSpPr txBox="1"/>
          <p:nvPr/>
        </p:nvSpPr>
        <p:spPr>
          <a:xfrm>
            <a:off x="6858000" y="3931920"/>
            <a:ext cx="4663440" cy="960120"/>
          </a:xfrm>
          <a:prstGeom prst="rect">
            <a:avLst/>
          </a:prstGeom>
          <a:noFill/>
          <a:ln/>
        </p:spPr>
        <p:txBody>
          <a:bodyPr wrap="square" lIns="0" tIns="0" rIns="0" bIns="0" rtlCol="0" anchor="ctr"/>
          <a:lstStyle/>
          <a:p>
            <a:pPr indent="0" marL="0">
              <a:buNone/>
            </a:pPr>
            <a:r>
              <a:rPr lang="en-US" sz="1200" b="1" dirty="0">
                <a:solidFill>
                  <a:srgbClr val="B45309"/>
                </a:solidFill>
                <a:latin typeface="Calibri" pitchFamily="34" charset="0"/>
                <a:ea typeface="Calibri" pitchFamily="34" charset="-122"/>
                <a:cs typeface="Calibri" pitchFamily="34" charset="-120"/>
              </a:rPr>
              <a:t>Toyota baseload: </a:t>
            </a:r>
            <a:pPr indent="0" marL="0">
              <a:buNone/>
            </a:pPr>
            <a:r>
              <a:rPr lang="en-US" sz="1200" dirty="0">
                <a:solidFill>
                  <a:srgbClr val="1F2937"/>
                </a:solidFill>
                <a:latin typeface="Calibri" pitchFamily="34" charset="0"/>
                <a:ea typeface="Calibri" pitchFamily="34" charset="-122"/>
                <a:cs typeface="Calibri" pitchFamily="34" charset="-120"/>
              </a:rPr>
              <a:t>trailer floor footage loaded at Bowmanville not captured correctly — fix under way; 20.5% of Moncton bills have no cube recorded vs 3.0% on other lanes.</a:t>
            </a:r>
            <a:endParaRPr lang="en-US" sz="1200" dirty="0"/>
          </a:p>
        </p:txBody>
      </p:sp>
      <p:sp>
        <p:nvSpPr>
          <p:cNvPr id="26" name="Shape 23"/>
          <p:cNvSpPr/>
          <p:nvPr/>
        </p:nvSpPr>
        <p:spPr>
          <a:xfrm>
            <a:off x="6675120" y="5029200"/>
            <a:ext cx="4965192" cy="914400"/>
          </a:xfrm>
          <a:prstGeom prst="roundRect">
            <a:avLst>
              <a:gd name="adj" fmla="val 8000"/>
            </a:avLst>
          </a:prstGeom>
          <a:solidFill>
            <a:srgbClr val="FFF7ED"/>
          </a:solidFill>
          <a:ln w="12700">
            <a:solidFill>
              <a:srgbClr val="FFF7ED"/>
            </a:solidFill>
            <a:prstDash val="solid"/>
          </a:ln>
        </p:spPr>
      </p:sp>
      <p:sp>
        <p:nvSpPr>
          <p:cNvPr id="27" name="Text 24"/>
          <p:cNvSpPr txBox="1"/>
          <p:nvPr/>
        </p:nvSpPr>
        <p:spPr>
          <a:xfrm>
            <a:off x="6858000" y="5029200"/>
            <a:ext cx="4663440" cy="914400"/>
          </a:xfrm>
          <a:prstGeom prst="rect">
            <a:avLst/>
          </a:prstGeom>
          <a:noFill/>
          <a:ln/>
        </p:spPr>
        <p:txBody>
          <a:bodyPr wrap="square" lIns="0" tIns="0" rIns="0" bIns="0" rtlCol="0" anchor="ctr"/>
          <a:lstStyle/>
          <a:p>
            <a:pPr indent="0" marL="0">
              <a:buNone/>
            </a:pPr>
            <a:r>
              <a:rPr lang="en-US" sz="1250" b="1" dirty="0">
                <a:solidFill>
                  <a:srgbClr val="111827"/>
                </a:solidFill>
                <a:latin typeface="Calibri" pitchFamily="34" charset="0"/>
                <a:ea typeface="Calibri" pitchFamily="34" charset="-122"/>
                <a:cs typeface="Calibri" pitchFamily="34" charset="-120"/>
              </a:rPr>
              <a:t>Biggest open opportunity: frequency review on the light lanes, plus cube capture on Moncton.</a:t>
            </a:r>
            <a:endParaRPr lang="en-US" sz="1250" dirty="0"/>
          </a:p>
        </p:txBody>
      </p:sp>
      <p:sp>
        <p:nvSpPr>
          <p:cNvPr id="28" name="Text 25"/>
          <p:cNvSpPr txBox="1"/>
          <p:nvPr/>
        </p:nvSpPr>
        <p:spPr>
          <a:xfrm>
            <a:off x="548640" y="6144768"/>
            <a:ext cx="11091672"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Source: Load factor report — Mississauga outbound, F27 Jul–Sep (ready date: all). Distance bands as defined in the report.</a:t>
            </a:r>
            <a:endParaRPr lang="en-US" sz="900" dirty="0"/>
          </a:p>
        </p:txBody>
      </p:sp>
      <p:sp>
        <p:nvSpPr>
          <p:cNvPr id="29" name="Text 2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0" name="Text 2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16 / 21</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CICO — clock-in / clock-out</a:t>
            </a:r>
            <a:endParaRPr lang="en-US" sz="3000" dirty="0"/>
          </a:p>
        </p:txBody>
      </p:sp>
      <p:sp>
        <p:nvSpPr>
          <p:cNvPr id="4" name="Shape 2"/>
          <p:cNvSpPr/>
          <p:nvPr/>
        </p:nvSpPr>
        <p:spPr>
          <a:xfrm>
            <a:off x="548640" y="1371600"/>
            <a:ext cx="4572000" cy="4663440"/>
          </a:xfrm>
          <a:prstGeom prst="roundRect">
            <a:avLst>
              <a:gd name="adj" fmla="val 1600"/>
            </a:avLst>
          </a:prstGeom>
          <a:solidFill>
            <a:srgbClr val="D1FAE5"/>
          </a:solidFill>
          <a:ln w="12700">
            <a:solidFill>
              <a:srgbClr val="D1FAE5"/>
            </a:solidFill>
            <a:prstDash val="solid"/>
          </a:ln>
        </p:spPr>
      </p:sp>
      <p:sp>
        <p:nvSpPr>
          <p:cNvPr id="5" name="Shape 3"/>
          <p:cNvSpPr/>
          <p:nvPr/>
        </p:nvSpPr>
        <p:spPr>
          <a:xfrm>
            <a:off x="822960" y="1645920"/>
            <a:ext cx="640080" cy="640080"/>
          </a:xfrm>
          <a:prstGeom prst="ellipse">
            <a:avLst/>
          </a:prstGeom>
          <a:solidFill>
            <a:srgbClr val="059669"/>
          </a:solidFill>
          <a:ln w="12700">
            <a:solidFill>
              <a:srgbClr val="059669"/>
            </a:solidFill>
            <a:prstDash val="solid"/>
          </a:ln>
        </p:spPr>
      </p:sp>
      <p:pic>
        <p:nvPicPr>
          <p:cNvPr id="6" name="Image 0" descr="preencoded.png">    </p:cNvPr>
          <p:cNvPicPr>
            <a:picLocks noChangeAspect="1"/>
          </p:cNvPicPr>
          <p:nvPr/>
        </p:nvPicPr>
        <p:blipFill>
          <a:blip r:embed="rId1"/>
          <a:stretch>
            <a:fillRect/>
          </a:stretch>
        </p:blipFill>
        <p:spPr>
          <a:xfrm>
            <a:off x="982980" y="1805940"/>
            <a:ext cx="320040" cy="320040"/>
          </a:xfrm>
          <a:prstGeom prst="rect">
            <a:avLst/>
          </a:prstGeom>
        </p:spPr>
      </p:pic>
      <p:sp>
        <p:nvSpPr>
          <p:cNvPr id="7" name="Text 4"/>
          <p:cNvSpPr txBox="1"/>
          <p:nvPr/>
        </p:nvSpPr>
        <p:spPr>
          <a:xfrm>
            <a:off x="1645920" y="1645920"/>
            <a:ext cx="3200400"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Status</a:t>
            </a:r>
            <a:endParaRPr lang="en-US" sz="1400" dirty="0"/>
          </a:p>
        </p:txBody>
      </p:sp>
      <p:sp>
        <p:nvSpPr>
          <p:cNvPr id="8" name="Text 5"/>
          <p:cNvSpPr txBox="1"/>
          <p:nvPr/>
        </p:nvSpPr>
        <p:spPr>
          <a:xfrm>
            <a:off x="1645920" y="1938528"/>
            <a:ext cx="3383280" cy="457200"/>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OK — under review</a:t>
            </a:r>
            <a:endParaRPr lang="en-US" sz="2400" dirty="0"/>
          </a:p>
        </p:txBody>
      </p:sp>
      <p:sp>
        <p:nvSpPr>
          <p:cNvPr id="9" name="Text 6"/>
          <p:cNvSpPr txBox="1"/>
          <p:nvPr/>
        </p:nvSpPr>
        <p:spPr>
          <a:xfrm>
            <a:off x="822960" y="2651760"/>
            <a:ext cx="4114800" cy="73152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SCA team review of clock-in / clock-out for Mississauga.</a:t>
            </a:r>
            <a:endParaRPr lang="en-US" sz="1400" dirty="0"/>
          </a:p>
        </p:txBody>
      </p:sp>
      <p:sp>
        <p:nvSpPr>
          <p:cNvPr id="10" name="Shape 7"/>
          <p:cNvSpPr/>
          <p:nvPr/>
        </p:nvSpPr>
        <p:spPr>
          <a:xfrm>
            <a:off x="5394960" y="1371600"/>
            <a:ext cx="6245352" cy="4663440"/>
          </a:xfrm>
          <a:prstGeom prst="roundRect">
            <a:avLst>
              <a:gd name="adj" fmla="val 1569"/>
            </a:avLst>
          </a:prstGeom>
          <a:solidFill>
            <a:srgbClr val="F3F4F6"/>
          </a:solidFill>
          <a:ln w="12700">
            <a:solidFill>
              <a:srgbClr val="F3F4F6"/>
            </a:solidFill>
            <a:prstDash val="solid"/>
          </a:ln>
        </p:spPr>
      </p:sp>
      <p:sp>
        <p:nvSpPr>
          <p:cNvPr id="11" name="Text 8"/>
          <p:cNvSpPr txBox="1"/>
          <p:nvPr/>
        </p:nvSpPr>
        <p:spPr>
          <a:xfrm>
            <a:off x="5669280" y="1600200"/>
            <a:ext cx="5669280" cy="41148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Where it stands</a:t>
            </a:r>
            <a:endParaRPr lang="en-US" sz="1800" dirty="0"/>
          </a:p>
        </p:txBody>
      </p:sp>
      <p:sp>
        <p:nvSpPr>
          <p:cNvPr id="12" name="Shape 9"/>
          <p:cNvSpPr/>
          <p:nvPr/>
        </p:nvSpPr>
        <p:spPr>
          <a:xfrm>
            <a:off x="5669280" y="2286000"/>
            <a:ext cx="548640" cy="548640"/>
          </a:xfrm>
          <a:prstGeom prst="ellipse">
            <a:avLst/>
          </a:prstGeom>
          <a:solidFill>
            <a:srgbClr val="FFEDD5"/>
          </a:solidFill>
          <a:ln w="12700">
            <a:solidFill>
              <a:srgbClr val="FFEDD5"/>
            </a:solidFill>
            <a:prstDash val="solid"/>
          </a:ln>
        </p:spPr>
      </p:sp>
      <p:pic>
        <p:nvPicPr>
          <p:cNvPr id="13" name="Image 1" descr="preencoded.png">    </p:cNvPr>
          <p:cNvPicPr>
            <a:picLocks noChangeAspect="1"/>
          </p:cNvPicPr>
          <p:nvPr/>
        </p:nvPicPr>
        <p:blipFill>
          <a:blip r:embed="rId2"/>
          <a:stretch>
            <a:fillRect/>
          </a:stretch>
        </p:blipFill>
        <p:spPr>
          <a:xfrm>
            <a:off x="5806440" y="2423160"/>
            <a:ext cx="274320" cy="274320"/>
          </a:xfrm>
          <a:prstGeom prst="rect">
            <a:avLst/>
          </a:prstGeom>
        </p:spPr>
      </p:pic>
      <p:sp>
        <p:nvSpPr>
          <p:cNvPr id="14" name="Text 10"/>
          <p:cNvSpPr txBox="1"/>
          <p:nvPr/>
        </p:nvSpPr>
        <p:spPr>
          <a:xfrm>
            <a:off x="6400800" y="2194560"/>
            <a:ext cx="502920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SCA team: CICO is currently OK for our freight-bill volume, building size and operation.</a:t>
            </a:r>
            <a:endParaRPr lang="en-US" sz="1500" dirty="0"/>
          </a:p>
        </p:txBody>
      </p:sp>
      <p:sp>
        <p:nvSpPr>
          <p:cNvPr id="15" name="Shape 11"/>
          <p:cNvSpPr/>
          <p:nvPr/>
        </p:nvSpPr>
        <p:spPr>
          <a:xfrm>
            <a:off x="5669280" y="3429000"/>
            <a:ext cx="548640" cy="548640"/>
          </a:xfrm>
          <a:prstGeom prst="ellipse">
            <a:avLst/>
          </a:prstGeom>
          <a:solidFill>
            <a:srgbClr val="FFEDD5"/>
          </a:solidFill>
          <a:ln w="12700">
            <a:solidFill>
              <a:srgbClr val="FFEDD5"/>
            </a:solidFill>
            <a:prstDash val="solid"/>
          </a:ln>
        </p:spPr>
      </p:sp>
      <p:pic>
        <p:nvPicPr>
          <p:cNvPr id="16" name="Image 2" descr="preencoded.png">    </p:cNvPr>
          <p:cNvPicPr>
            <a:picLocks noChangeAspect="1"/>
          </p:cNvPicPr>
          <p:nvPr/>
        </p:nvPicPr>
        <p:blipFill>
          <a:blip r:embed="rId3"/>
          <a:stretch>
            <a:fillRect/>
          </a:stretch>
        </p:blipFill>
        <p:spPr>
          <a:xfrm>
            <a:off x="5806440" y="3566160"/>
            <a:ext cx="274320" cy="274320"/>
          </a:xfrm>
          <a:prstGeom prst="rect">
            <a:avLst/>
          </a:prstGeom>
        </p:spPr>
      </p:pic>
      <p:sp>
        <p:nvSpPr>
          <p:cNvPr id="17" name="Text 12"/>
          <p:cNvSpPr txBox="1"/>
          <p:nvPr/>
        </p:nvSpPr>
        <p:spPr>
          <a:xfrm>
            <a:off x="6400800" y="3337560"/>
            <a:ext cx="502920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Admin roles form completed for the SCA team — every admin role and its duties documented.</a:t>
            </a:r>
            <a:endParaRPr lang="en-US" sz="1500" dirty="0"/>
          </a:p>
        </p:txBody>
      </p:sp>
      <p:sp>
        <p:nvSpPr>
          <p:cNvPr id="18" name="Shape 13"/>
          <p:cNvSpPr/>
          <p:nvPr/>
        </p:nvSpPr>
        <p:spPr>
          <a:xfrm>
            <a:off x="5669280" y="4572000"/>
            <a:ext cx="548640" cy="548640"/>
          </a:xfrm>
          <a:prstGeom prst="ellipse">
            <a:avLst/>
          </a:prstGeom>
          <a:solidFill>
            <a:srgbClr val="FFEDD5"/>
          </a:solidFill>
          <a:ln w="12700">
            <a:solidFill>
              <a:srgbClr val="FFEDD5"/>
            </a:solidFill>
            <a:prstDash val="solid"/>
          </a:ln>
        </p:spPr>
      </p:sp>
      <p:pic>
        <p:nvPicPr>
          <p:cNvPr id="19" name="Image 3" descr="preencoded.png">    </p:cNvPr>
          <p:cNvPicPr>
            <a:picLocks noChangeAspect="1"/>
          </p:cNvPicPr>
          <p:nvPr/>
        </p:nvPicPr>
        <p:blipFill>
          <a:blip r:embed="rId4"/>
          <a:stretch>
            <a:fillRect/>
          </a:stretch>
        </p:blipFill>
        <p:spPr>
          <a:xfrm>
            <a:off x="5806440" y="4709160"/>
            <a:ext cx="274320" cy="274320"/>
          </a:xfrm>
          <a:prstGeom prst="rect">
            <a:avLst/>
          </a:prstGeom>
        </p:spPr>
      </p:pic>
      <p:sp>
        <p:nvSpPr>
          <p:cNvPr id="20" name="Text 14"/>
          <p:cNvSpPr txBox="1"/>
          <p:nvPr/>
        </p:nvSpPr>
        <p:spPr>
          <a:xfrm>
            <a:off x="6400800" y="4480560"/>
            <a:ext cx="502920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Still under review — any changes will come out of that review.</a:t>
            </a:r>
            <a:endParaRPr lang="en-US" sz="1500" dirty="0"/>
          </a:p>
        </p:txBody>
      </p:sp>
      <p:sp>
        <p:nvSpPr>
          <p:cNvPr id="21" name="Text 1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2" name="Text 1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17 / 21</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LOAD QUALITY &amp; EQUIPMENT</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Load quality &amp; securement — today and the plan</a:t>
            </a:r>
            <a:endParaRPr lang="en-US" sz="3000" dirty="0"/>
          </a:p>
        </p:txBody>
      </p:sp>
      <p:sp>
        <p:nvSpPr>
          <p:cNvPr id="4" name="Shape 2"/>
          <p:cNvSpPr/>
          <p:nvPr/>
        </p:nvSpPr>
        <p:spPr>
          <a:xfrm>
            <a:off x="548640" y="1371600"/>
            <a:ext cx="1347826" cy="274320"/>
          </a:xfrm>
          <a:prstGeom prst="roundRect">
            <a:avLst>
              <a:gd name="adj" fmla="val 26667"/>
            </a:avLst>
          </a:prstGeom>
          <a:solidFill>
            <a:srgbClr val="D1FAE5"/>
          </a:solidFill>
          <a:ln w="12700">
            <a:solidFill>
              <a:srgbClr val="D1FAE5"/>
            </a:solidFill>
            <a:prstDash val="solid"/>
          </a:ln>
        </p:spPr>
      </p:sp>
      <p:sp>
        <p:nvSpPr>
          <p:cNvPr id="5" name="Text 3"/>
          <p:cNvSpPr txBox="1"/>
          <p:nvPr/>
        </p:nvSpPr>
        <p:spPr>
          <a:xfrm>
            <a:off x="548640"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059669"/>
                </a:solidFill>
                <a:latin typeface="Calibri" pitchFamily="34" charset="0"/>
                <a:ea typeface="Calibri" pitchFamily="34" charset="-122"/>
                <a:cs typeface="Calibri" pitchFamily="34" charset="-120"/>
              </a:rPr>
              <a:t>TARGET</a:t>
            </a:r>
            <a:endParaRPr lang="en-US" sz="1000" dirty="0"/>
          </a:p>
        </p:txBody>
      </p:sp>
      <p:pic>
        <p:nvPicPr>
          <p:cNvPr id="6" name="Image 0" descr="Deck beam, 2nd tier">    </p:cNvPr>
          <p:cNvPicPr>
            <a:picLocks noChangeAspect="1"/>
          </p:cNvPicPr>
          <p:nvPr/>
        </p:nvPicPr>
        <p:blipFill>
          <a:blip r:embed="rId1"/>
          <a:srcRect l="0" r="0" t="0" b="0"/>
          <a:stretch/>
        </p:blipFill>
        <p:spPr>
          <a:xfrm>
            <a:off x="548640" y="1719072"/>
            <a:ext cx="1347826" cy="1797101"/>
          </a:xfrm>
          <a:prstGeom prst="rect">
            <a:avLst/>
          </a:prstGeom>
        </p:spPr>
      </p:pic>
      <p:sp>
        <p:nvSpPr>
          <p:cNvPr id="7" name="Text 4"/>
          <p:cNvSpPr txBox="1"/>
          <p:nvPr/>
        </p:nvSpPr>
        <p:spPr>
          <a:xfrm>
            <a:off x="548640"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Deck beam, 2nd tier</a:t>
            </a:r>
            <a:endParaRPr lang="en-US" sz="900" dirty="0"/>
          </a:p>
        </p:txBody>
      </p:sp>
      <p:sp>
        <p:nvSpPr>
          <p:cNvPr id="8" name="Shape 5"/>
          <p:cNvSpPr/>
          <p:nvPr/>
        </p:nvSpPr>
        <p:spPr>
          <a:xfrm>
            <a:off x="2006194" y="1371600"/>
            <a:ext cx="1347826" cy="274320"/>
          </a:xfrm>
          <a:prstGeom prst="roundRect">
            <a:avLst>
              <a:gd name="adj" fmla="val 26667"/>
            </a:avLst>
          </a:prstGeom>
          <a:solidFill>
            <a:srgbClr val="D1FAE5"/>
          </a:solidFill>
          <a:ln w="12700">
            <a:solidFill>
              <a:srgbClr val="D1FAE5"/>
            </a:solidFill>
            <a:prstDash val="solid"/>
          </a:ln>
        </p:spPr>
      </p:sp>
      <p:sp>
        <p:nvSpPr>
          <p:cNvPr id="9" name="Text 6"/>
          <p:cNvSpPr txBox="1"/>
          <p:nvPr/>
        </p:nvSpPr>
        <p:spPr>
          <a:xfrm>
            <a:off x="2006194"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059669"/>
                </a:solidFill>
                <a:latin typeface="Calibri" pitchFamily="34" charset="0"/>
                <a:ea typeface="Calibri" pitchFamily="34" charset="-122"/>
                <a:cs typeface="Calibri" pitchFamily="34" charset="-120"/>
              </a:rPr>
              <a:t>TARGET</a:t>
            </a:r>
            <a:endParaRPr lang="en-US" sz="1000" dirty="0"/>
          </a:p>
        </p:txBody>
      </p:sp>
      <p:pic>
        <p:nvPicPr>
          <p:cNvPr id="10" name="Image 1" descr="Deck board + strap">    </p:cNvPr>
          <p:cNvPicPr>
            <a:picLocks noChangeAspect="1"/>
          </p:cNvPicPr>
          <p:nvPr/>
        </p:nvPicPr>
        <p:blipFill>
          <a:blip r:embed="rId2"/>
          <a:srcRect l="0" r="0" t="0" b="0"/>
          <a:stretch/>
        </p:blipFill>
        <p:spPr>
          <a:xfrm>
            <a:off x="2006194" y="1719072"/>
            <a:ext cx="1347826" cy="1797101"/>
          </a:xfrm>
          <a:prstGeom prst="rect">
            <a:avLst/>
          </a:prstGeom>
        </p:spPr>
      </p:pic>
      <p:sp>
        <p:nvSpPr>
          <p:cNvPr id="11" name="Text 7"/>
          <p:cNvSpPr txBox="1"/>
          <p:nvPr/>
        </p:nvSpPr>
        <p:spPr>
          <a:xfrm>
            <a:off x="2006194"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Deck board + strap</a:t>
            </a:r>
            <a:endParaRPr lang="en-US" sz="900" dirty="0"/>
          </a:p>
        </p:txBody>
      </p:sp>
      <p:sp>
        <p:nvSpPr>
          <p:cNvPr id="12" name="Shape 8"/>
          <p:cNvSpPr/>
          <p:nvPr/>
        </p:nvSpPr>
        <p:spPr>
          <a:xfrm>
            <a:off x="3463747" y="1371600"/>
            <a:ext cx="1347826" cy="274320"/>
          </a:xfrm>
          <a:prstGeom prst="roundRect">
            <a:avLst>
              <a:gd name="adj" fmla="val 26667"/>
            </a:avLst>
          </a:prstGeom>
          <a:solidFill>
            <a:srgbClr val="FEE2E2"/>
          </a:solidFill>
          <a:ln w="12700">
            <a:solidFill>
              <a:srgbClr val="FEE2E2"/>
            </a:solidFill>
            <a:prstDash val="solid"/>
          </a:ln>
        </p:spPr>
      </p:sp>
      <p:sp>
        <p:nvSpPr>
          <p:cNvPr id="13" name="Text 9"/>
          <p:cNvSpPr txBox="1"/>
          <p:nvPr/>
        </p:nvSpPr>
        <p:spPr>
          <a:xfrm>
            <a:off x="3463747"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DC2626"/>
                </a:solidFill>
                <a:latin typeface="Calibri" pitchFamily="34" charset="0"/>
                <a:ea typeface="Calibri" pitchFamily="34" charset="-122"/>
                <a:cs typeface="Calibri" pitchFamily="34" charset="-120"/>
              </a:rPr>
              <a:t>FIX</a:t>
            </a:r>
            <a:endParaRPr lang="en-US" sz="1000" dirty="0"/>
          </a:p>
        </p:txBody>
      </p:sp>
      <p:pic>
        <p:nvPicPr>
          <p:cNvPr id="14" name="Image 2" descr="Loose on a diagonal">    </p:cNvPr>
          <p:cNvPicPr>
            <a:picLocks noChangeAspect="1"/>
          </p:cNvPicPr>
          <p:nvPr/>
        </p:nvPicPr>
        <p:blipFill>
          <a:blip r:embed="rId3"/>
          <a:srcRect l="0" r="0" t="0" b="0"/>
          <a:stretch/>
        </p:blipFill>
        <p:spPr>
          <a:xfrm>
            <a:off x="3463747" y="1719072"/>
            <a:ext cx="1347826" cy="1797101"/>
          </a:xfrm>
          <a:prstGeom prst="rect">
            <a:avLst/>
          </a:prstGeom>
        </p:spPr>
      </p:pic>
      <p:sp>
        <p:nvSpPr>
          <p:cNvPr id="15" name="Text 10"/>
          <p:cNvSpPr txBox="1"/>
          <p:nvPr/>
        </p:nvSpPr>
        <p:spPr>
          <a:xfrm>
            <a:off x="3463747"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Loose on a diagonal</a:t>
            </a:r>
            <a:endParaRPr lang="en-US" sz="900" dirty="0"/>
          </a:p>
        </p:txBody>
      </p:sp>
      <p:sp>
        <p:nvSpPr>
          <p:cNvPr id="16" name="Shape 11"/>
          <p:cNvSpPr/>
          <p:nvPr/>
        </p:nvSpPr>
        <p:spPr>
          <a:xfrm>
            <a:off x="4921301" y="1371600"/>
            <a:ext cx="1347826" cy="274320"/>
          </a:xfrm>
          <a:prstGeom prst="roundRect">
            <a:avLst>
              <a:gd name="adj" fmla="val 26667"/>
            </a:avLst>
          </a:prstGeom>
          <a:solidFill>
            <a:srgbClr val="FEE2E2"/>
          </a:solidFill>
          <a:ln w="12700">
            <a:solidFill>
              <a:srgbClr val="FEE2E2"/>
            </a:solidFill>
            <a:prstDash val="solid"/>
          </a:ln>
        </p:spPr>
      </p:sp>
      <p:sp>
        <p:nvSpPr>
          <p:cNvPr id="17" name="Text 12"/>
          <p:cNvSpPr txBox="1"/>
          <p:nvPr/>
        </p:nvSpPr>
        <p:spPr>
          <a:xfrm>
            <a:off x="4921301"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DC2626"/>
                </a:solidFill>
                <a:latin typeface="Calibri" pitchFamily="34" charset="0"/>
                <a:ea typeface="Calibri" pitchFamily="34" charset="-122"/>
                <a:cs typeface="Calibri" pitchFamily="34" charset="-120"/>
              </a:rPr>
              <a:t>FIX · MAAX</a:t>
            </a:r>
            <a:endParaRPr lang="en-US" sz="1000" dirty="0"/>
          </a:p>
        </p:txBody>
      </p:sp>
      <p:pic>
        <p:nvPicPr>
          <p:cNvPr id="18" name="Image 3" descr="Glass doors on makeshift frames">    </p:cNvPr>
          <p:cNvPicPr>
            <a:picLocks noChangeAspect="1"/>
          </p:cNvPicPr>
          <p:nvPr/>
        </p:nvPicPr>
        <p:blipFill>
          <a:blip r:embed="rId4"/>
          <a:srcRect l="0" r="0" t="0" b="0"/>
          <a:stretch/>
        </p:blipFill>
        <p:spPr>
          <a:xfrm>
            <a:off x="4921301" y="1719072"/>
            <a:ext cx="1347826" cy="1797101"/>
          </a:xfrm>
          <a:prstGeom prst="rect">
            <a:avLst/>
          </a:prstGeom>
        </p:spPr>
      </p:pic>
      <p:sp>
        <p:nvSpPr>
          <p:cNvPr id="19" name="Text 13"/>
          <p:cNvSpPr txBox="1"/>
          <p:nvPr/>
        </p:nvSpPr>
        <p:spPr>
          <a:xfrm>
            <a:off x="4921301"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Glass doors on makeshift frames</a:t>
            </a:r>
            <a:endParaRPr lang="en-US" sz="900" dirty="0"/>
          </a:p>
        </p:txBody>
      </p:sp>
      <p:sp>
        <p:nvSpPr>
          <p:cNvPr id="20" name="Shape 14"/>
          <p:cNvSpPr/>
          <p:nvPr/>
        </p:nvSpPr>
        <p:spPr>
          <a:xfrm>
            <a:off x="6378854" y="1371600"/>
            <a:ext cx="1347826" cy="274320"/>
          </a:xfrm>
          <a:prstGeom prst="roundRect">
            <a:avLst>
              <a:gd name="adj" fmla="val 26667"/>
            </a:avLst>
          </a:prstGeom>
          <a:solidFill>
            <a:srgbClr val="FEE2E2"/>
          </a:solidFill>
          <a:ln w="12700">
            <a:solidFill>
              <a:srgbClr val="FEE2E2"/>
            </a:solidFill>
            <a:prstDash val="solid"/>
          </a:ln>
        </p:spPr>
      </p:sp>
      <p:sp>
        <p:nvSpPr>
          <p:cNvPr id="21" name="Text 15"/>
          <p:cNvSpPr txBox="1"/>
          <p:nvPr/>
        </p:nvSpPr>
        <p:spPr>
          <a:xfrm>
            <a:off x="6378854"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DC2626"/>
                </a:solidFill>
                <a:latin typeface="Calibri" pitchFamily="34" charset="0"/>
                <a:ea typeface="Calibri" pitchFamily="34" charset="-122"/>
                <a:cs typeface="Calibri" pitchFamily="34" charset="-120"/>
              </a:rPr>
              <a:t>FIX · MAAX</a:t>
            </a:r>
            <a:endParaRPr lang="en-US" sz="1000" dirty="0"/>
          </a:p>
        </p:txBody>
      </p:sp>
      <p:pic>
        <p:nvPicPr>
          <p:cNvPr id="22" name="Image 4" descr="Door boxes leaning / toppling">    </p:cNvPr>
          <p:cNvPicPr>
            <a:picLocks noChangeAspect="1"/>
          </p:cNvPicPr>
          <p:nvPr/>
        </p:nvPicPr>
        <p:blipFill>
          <a:blip r:embed="rId5"/>
          <a:srcRect l="0" r="0" t="0" b="0"/>
          <a:stretch/>
        </p:blipFill>
        <p:spPr>
          <a:xfrm>
            <a:off x="6378854" y="1719072"/>
            <a:ext cx="1347826" cy="1797101"/>
          </a:xfrm>
          <a:prstGeom prst="rect">
            <a:avLst/>
          </a:prstGeom>
        </p:spPr>
      </p:pic>
      <p:sp>
        <p:nvSpPr>
          <p:cNvPr id="23" name="Text 16"/>
          <p:cNvSpPr txBox="1"/>
          <p:nvPr/>
        </p:nvSpPr>
        <p:spPr>
          <a:xfrm>
            <a:off x="6378854"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Door boxes leaning / toppling</a:t>
            </a:r>
            <a:endParaRPr lang="en-US" sz="900" dirty="0"/>
          </a:p>
        </p:txBody>
      </p:sp>
      <p:sp>
        <p:nvSpPr>
          <p:cNvPr id="24" name="Shape 17"/>
          <p:cNvSpPr/>
          <p:nvPr/>
        </p:nvSpPr>
        <p:spPr>
          <a:xfrm>
            <a:off x="548640" y="4069080"/>
            <a:ext cx="4189781" cy="1965960"/>
          </a:xfrm>
          <a:prstGeom prst="roundRect">
            <a:avLst>
              <a:gd name="adj" fmla="val 3721"/>
            </a:avLst>
          </a:prstGeom>
          <a:solidFill>
            <a:srgbClr val="FFF7ED"/>
          </a:solidFill>
          <a:ln w="12700">
            <a:solidFill>
              <a:srgbClr val="FFF7ED"/>
            </a:solidFill>
            <a:prstDash val="solid"/>
          </a:ln>
        </p:spPr>
      </p:sp>
      <p:sp>
        <p:nvSpPr>
          <p:cNvPr id="25" name="Text 18"/>
          <p:cNvSpPr txBox="1"/>
          <p:nvPr/>
        </p:nvSpPr>
        <p:spPr>
          <a:xfrm>
            <a:off x="731520" y="4114800"/>
            <a:ext cx="3869741" cy="1874520"/>
          </a:xfrm>
          <a:prstGeom prst="rect">
            <a:avLst/>
          </a:prstGeom>
          <a:noFill/>
          <a:ln/>
        </p:spPr>
        <p:txBody>
          <a:bodyPr wrap="square" lIns="0" tIns="0" rIns="0" bIns="0" rtlCol="0" anchor="ctr"/>
          <a:lstStyle/>
          <a:p>
            <a:pPr indent="0" marL="0">
              <a:spcAft>
                <a:spcPts val="400"/>
              </a:spcAft>
              <a:buNone/>
            </a:pPr>
            <a:r>
              <a:rPr lang="en-US" sz="1300" b="1" dirty="0">
                <a:solidFill>
                  <a:srgbClr val="EA580C"/>
                </a:solidFill>
                <a:latin typeface="Calibri" pitchFamily="34" charset="0"/>
                <a:ea typeface="Calibri" pitchFamily="34" charset="-122"/>
                <a:cs typeface="Calibri" pitchFamily="34" charset="-120"/>
              </a:rPr>
              <a:t>Why</a:t>
            </a:r>
            <a:endParaRPr lang="en-US" sz="1200" dirty="0"/>
          </a:p>
          <a:p>
            <a:pPr marL="177800" indent="-1778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Uses the top half of the trailer — lifts LF score (36.4% F27).</a:t>
            </a:r>
            <a:endParaRPr lang="en-US" sz="1200" dirty="0"/>
          </a:p>
          <a:p>
            <a:pPr marL="177800" indent="-1778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Fewer damaged FBs (1.61% 7-day avg) and claims.</a:t>
            </a:r>
            <a:endParaRPr lang="en-US" sz="1200" dirty="0"/>
          </a:p>
          <a:p>
            <a:pPr marL="177800" indent="-1778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Safer unloading.</a:t>
            </a:r>
            <a:endParaRPr lang="en-US" sz="1200" dirty="0"/>
          </a:p>
        </p:txBody>
      </p:sp>
      <p:sp>
        <p:nvSpPr>
          <p:cNvPr id="26" name="Shape 19"/>
          <p:cNvSpPr/>
          <p:nvPr/>
        </p:nvSpPr>
        <p:spPr>
          <a:xfrm>
            <a:off x="4921301" y="4069080"/>
            <a:ext cx="2805379" cy="1965960"/>
          </a:xfrm>
          <a:prstGeom prst="roundRect">
            <a:avLst>
              <a:gd name="adj" fmla="val 3721"/>
            </a:avLst>
          </a:prstGeom>
          <a:solidFill>
            <a:srgbClr val="FFFBEB"/>
          </a:solidFill>
          <a:ln w="12700">
            <a:solidFill>
              <a:srgbClr val="FFFBEB"/>
            </a:solidFill>
            <a:prstDash val="solid"/>
          </a:ln>
        </p:spPr>
      </p:sp>
      <p:sp>
        <p:nvSpPr>
          <p:cNvPr id="27" name="Text 20"/>
          <p:cNvSpPr txBox="1"/>
          <p:nvPr/>
        </p:nvSpPr>
        <p:spPr>
          <a:xfrm>
            <a:off x="5031029" y="4114800"/>
            <a:ext cx="2585923" cy="1874520"/>
          </a:xfrm>
          <a:prstGeom prst="rect">
            <a:avLst/>
          </a:prstGeom>
          <a:noFill/>
          <a:ln/>
        </p:spPr>
        <p:txBody>
          <a:bodyPr wrap="square" lIns="0" tIns="0" rIns="0" bIns="0" rtlCol="0" anchor="ctr"/>
          <a:lstStyle/>
          <a:p>
            <a:pPr indent="0" marL="0">
              <a:buNone/>
            </a:pPr>
            <a:r>
              <a:rPr lang="en-US" sz="1050" b="1" dirty="0">
                <a:solidFill>
                  <a:srgbClr val="B45309"/>
                </a:solidFill>
                <a:latin typeface="Calibri" pitchFamily="34" charset="0"/>
                <a:ea typeface="Calibri" pitchFamily="34" charset="-122"/>
                <a:cs typeface="Calibri" pitchFamily="34" charset="-120"/>
              </a:rPr>
              <a:t>MAAX example: </a:t>
            </a:r>
            <a:pPr indent="0" marL="0">
              <a:buNone/>
            </a:pPr>
            <a:r>
              <a:rPr lang="en-US" sz="1050" dirty="0">
                <a:solidFill>
                  <a:srgbClr val="1F2937"/>
                </a:solidFill>
                <a:latin typeface="Calibri" pitchFamily="34" charset="0"/>
                <a:ea typeface="Calibri" pitchFamily="34" charset="-122"/>
                <a:cs typeface="Calibri" pitchFamily="34" charset="-120"/>
              </a:rPr>
              <a:t>shower doors and bases (thin, all glass) and 75-inch TVs ride standing loose today. </a:t>
            </a:r>
            <a:pPr indent="0" marL="0">
              <a:buNone/>
            </a:pPr>
            <a:r>
              <a:rPr lang="en-US" sz="1050" b="1" dirty="0">
                <a:solidFill>
                  <a:srgbClr val="111827"/>
                </a:solidFill>
                <a:latin typeface="Calibri" pitchFamily="34" charset="0"/>
                <a:ea typeface="Calibri" pitchFamily="34" charset="-122"/>
                <a:cs typeface="Calibri" pitchFamily="34" charset="-120"/>
              </a:rPr>
              <a:t>Slot them into panel carts — yellow cart rolls by hand, grey cage lifts by forklift</a:t>
            </a:r>
            <a:pPr indent="0" marL="0">
              <a:buNone/>
            </a:pPr>
            <a:r>
              <a:rPr lang="en-US" sz="1050" dirty="0">
                <a:solidFill>
                  <a:srgbClr val="1F2937"/>
                </a:solidFill>
                <a:latin typeface="Calibri" pitchFamily="34" charset="0"/>
                <a:ea typeface="Calibri" pitchFamily="34" charset="-122"/>
                <a:cs typeface="Calibri" pitchFamily="34" charset="-120"/>
              </a:rPr>
              <a:t>: secured in transit, faster in/out, less breakage.</a:t>
            </a:r>
            <a:endParaRPr lang="en-US" sz="1050" dirty="0"/>
          </a:p>
        </p:txBody>
      </p:sp>
      <p:sp>
        <p:nvSpPr>
          <p:cNvPr id="28" name="Shape 21"/>
          <p:cNvSpPr/>
          <p:nvPr/>
        </p:nvSpPr>
        <p:spPr>
          <a:xfrm>
            <a:off x="8001000" y="1371600"/>
            <a:ext cx="3639312" cy="4663440"/>
          </a:xfrm>
          <a:prstGeom prst="roundRect">
            <a:avLst>
              <a:gd name="adj" fmla="val 2010"/>
            </a:avLst>
          </a:prstGeom>
          <a:solidFill>
            <a:srgbClr val="F3F4F6"/>
          </a:solidFill>
          <a:ln w="12700">
            <a:solidFill>
              <a:srgbClr val="F3F4F6"/>
            </a:solidFill>
            <a:prstDash val="solid"/>
          </a:ln>
        </p:spPr>
      </p:sp>
      <p:sp>
        <p:nvSpPr>
          <p:cNvPr id="29" name="Shape 22"/>
          <p:cNvSpPr/>
          <p:nvPr/>
        </p:nvSpPr>
        <p:spPr>
          <a:xfrm>
            <a:off x="8229600" y="1572768"/>
            <a:ext cx="502920" cy="502920"/>
          </a:xfrm>
          <a:prstGeom prst="ellipse">
            <a:avLst/>
          </a:prstGeom>
          <a:solidFill>
            <a:srgbClr val="EA580C"/>
          </a:solidFill>
          <a:ln w="12700">
            <a:solidFill>
              <a:srgbClr val="EA580C"/>
            </a:solidFill>
            <a:prstDash val="solid"/>
          </a:ln>
        </p:spPr>
      </p:sp>
      <p:pic>
        <p:nvPicPr>
          <p:cNvPr id="30" name="Image 5" descr="preencoded.png">    </p:cNvPr>
          <p:cNvPicPr>
            <a:picLocks noChangeAspect="1"/>
          </p:cNvPicPr>
          <p:nvPr/>
        </p:nvPicPr>
        <p:blipFill>
          <a:blip r:embed="rId6"/>
          <a:stretch>
            <a:fillRect/>
          </a:stretch>
        </p:blipFill>
        <p:spPr>
          <a:xfrm>
            <a:off x="8355330" y="1698498"/>
            <a:ext cx="251460" cy="251460"/>
          </a:xfrm>
          <a:prstGeom prst="rect">
            <a:avLst/>
          </a:prstGeom>
        </p:spPr>
      </p:pic>
      <p:sp>
        <p:nvSpPr>
          <p:cNvPr id="31" name="Text 23"/>
          <p:cNvSpPr txBox="1"/>
          <p:nvPr/>
        </p:nvSpPr>
        <p:spPr>
          <a:xfrm>
            <a:off x="8869680" y="1572768"/>
            <a:ext cx="2560320" cy="50292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Equipment</a:t>
            </a:r>
            <a:endParaRPr lang="en-US" sz="1700" dirty="0"/>
          </a:p>
        </p:txBody>
      </p:sp>
      <p:sp>
        <p:nvSpPr>
          <p:cNvPr id="32" name="Text 24"/>
          <p:cNvSpPr txBox="1"/>
          <p:nvPr/>
        </p:nvSpPr>
        <p:spPr>
          <a:xfrm>
            <a:off x="8229600" y="2286000"/>
            <a:ext cx="3246120" cy="3566160"/>
          </a:xfrm>
          <a:prstGeom prst="rect">
            <a:avLst/>
          </a:prstGeom>
          <a:noFill/>
          <a:ln/>
        </p:spPr>
        <p:txBody>
          <a:bodyPr wrap="square" lIns="0" tIns="0" rIns="0" bIns="0" rtlCol="0" anchor="t"/>
          <a:lstStyle/>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ANCRA knock-down pallet decks (intermodal)</a:t>
            </a:r>
            <a:endParaRPr lang="en-US" sz="1300" dirty="0"/>
          </a:p>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ANCRA security divider deck-board kits (E-track)</a:t>
            </a:r>
            <a:endParaRPr lang="en-US" sz="1300" dirty="0"/>
          </a:p>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Panel carts &amp; reconfigurable racks for windows, doors, panels, car parts</a:t>
            </a:r>
            <a:endParaRPr lang="en-US" sz="1300" dirty="0"/>
          </a:p>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Load bars &amp; straps on every mixed load</a:t>
            </a:r>
            <a:endParaRPr lang="en-US" sz="1300" dirty="0"/>
          </a:p>
        </p:txBody>
      </p:sp>
      <p:sp>
        <p:nvSpPr>
          <p:cNvPr id="33" name="Text 2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4" name="Text 2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18 / 21</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LOAD QUALITY &amp; EQUIPMENT</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Collapsible load tables — network benefit</a:t>
            </a:r>
            <a:endParaRPr lang="en-US" sz="3000" dirty="0"/>
          </a:p>
        </p:txBody>
      </p:sp>
      <p:sp>
        <p:nvSpPr>
          <p:cNvPr id="4" name="Shape 2"/>
          <p:cNvSpPr/>
          <p:nvPr/>
        </p:nvSpPr>
        <p:spPr>
          <a:xfrm>
            <a:off x="548640" y="1371600"/>
            <a:ext cx="2194560" cy="292608"/>
          </a:xfrm>
          <a:prstGeom prst="roundRect">
            <a:avLst>
              <a:gd name="adj" fmla="val 25000"/>
            </a:avLst>
          </a:prstGeom>
          <a:solidFill>
            <a:srgbClr val="FFEDD5"/>
          </a:solidFill>
          <a:ln w="12700">
            <a:solidFill>
              <a:srgbClr val="FFEDD5"/>
            </a:solidFill>
            <a:prstDash val="solid"/>
          </a:ln>
        </p:spPr>
      </p:sp>
      <p:sp>
        <p:nvSpPr>
          <p:cNvPr id="5" name="Text 3"/>
          <p:cNvSpPr txBox="1"/>
          <p:nvPr/>
        </p:nvSpPr>
        <p:spPr>
          <a:xfrm>
            <a:off x="548640" y="1371600"/>
            <a:ext cx="2194560" cy="292608"/>
          </a:xfrm>
          <a:prstGeom prst="rect">
            <a:avLst/>
          </a:prstGeom>
          <a:noFill/>
          <a:ln/>
        </p:spPr>
        <p:txBody>
          <a:bodyPr wrap="square" lIns="0" tIns="0" rIns="0" bIns="0" rtlCol="0" anchor="ctr"/>
          <a:lstStyle/>
          <a:p>
            <a:pPr algn="ctr" indent="0" marL="0">
              <a:buNone/>
            </a:pPr>
            <a:r>
              <a:rPr lang="en-US" sz="1100" b="1" spc="100" kern="0" dirty="0">
                <a:solidFill>
                  <a:srgbClr val="EA580C"/>
                </a:solidFill>
                <a:latin typeface="Calibri" pitchFamily="34" charset="0"/>
                <a:ea typeface="Calibri" pitchFamily="34" charset="-122"/>
                <a:cs typeface="Calibri" pitchFamily="34" charset="-120"/>
              </a:rPr>
              <a:t>EXTENDED</a:t>
            </a:r>
            <a:endParaRPr lang="en-US" sz="1100" dirty="0"/>
          </a:p>
        </p:txBody>
      </p:sp>
      <p:pic>
        <p:nvPicPr>
          <p:cNvPr id="6" name="Image 0" descr="Second tier in the trailer">    </p:cNvPr>
          <p:cNvPicPr>
            <a:picLocks noChangeAspect="1"/>
          </p:cNvPicPr>
          <p:nvPr/>
        </p:nvPicPr>
        <p:blipFill>
          <a:blip r:embed="rId1"/>
          <a:srcRect l="0" r="0" t="0" b="0"/>
          <a:stretch/>
        </p:blipFill>
        <p:spPr>
          <a:xfrm>
            <a:off x="548640" y="1737360"/>
            <a:ext cx="2194560" cy="2392070"/>
          </a:xfrm>
          <a:prstGeom prst="rect">
            <a:avLst/>
          </a:prstGeom>
        </p:spPr>
      </p:pic>
      <p:sp>
        <p:nvSpPr>
          <p:cNvPr id="7" name="Text 4"/>
          <p:cNvSpPr txBox="1"/>
          <p:nvPr/>
        </p:nvSpPr>
        <p:spPr>
          <a:xfrm>
            <a:off x="548640" y="4175150"/>
            <a:ext cx="2194560" cy="32004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Second tier in the trailer</a:t>
            </a:r>
            <a:endParaRPr lang="en-US" sz="1100" dirty="0"/>
          </a:p>
        </p:txBody>
      </p:sp>
      <p:sp>
        <p:nvSpPr>
          <p:cNvPr id="8" name="Shape 5"/>
          <p:cNvSpPr/>
          <p:nvPr/>
        </p:nvSpPr>
        <p:spPr>
          <a:xfrm>
            <a:off x="2926080" y="1371600"/>
            <a:ext cx="2194560" cy="292608"/>
          </a:xfrm>
          <a:prstGeom prst="roundRect">
            <a:avLst>
              <a:gd name="adj" fmla="val 25000"/>
            </a:avLst>
          </a:prstGeom>
          <a:solidFill>
            <a:srgbClr val="FFEDD5"/>
          </a:solidFill>
          <a:ln w="12700">
            <a:solidFill>
              <a:srgbClr val="FFEDD5"/>
            </a:solidFill>
            <a:prstDash val="solid"/>
          </a:ln>
        </p:spPr>
      </p:sp>
      <p:sp>
        <p:nvSpPr>
          <p:cNvPr id="9" name="Text 6"/>
          <p:cNvSpPr txBox="1"/>
          <p:nvPr/>
        </p:nvSpPr>
        <p:spPr>
          <a:xfrm>
            <a:off x="2926080" y="1371600"/>
            <a:ext cx="2194560" cy="292608"/>
          </a:xfrm>
          <a:prstGeom prst="rect">
            <a:avLst/>
          </a:prstGeom>
          <a:noFill/>
          <a:ln/>
        </p:spPr>
        <p:txBody>
          <a:bodyPr wrap="square" lIns="0" tIns="0" rIns="0" bIns="0" rtlCol="0" anchor="ctr"/>
          <a:lstStyle/>
          <a:p>
            <a:pPr algn="ctr" indent="0" marL="0">
              <a:buNone/>
            </a:pPr>
            <a:r>
              <a:rPr lang="en-US" sz="1100" b="1" spc="100" kern="0" dirty="0">
                <a:solidFill>
                  <a:srgbClr val="EA580C"/>
                </a:solidFill>
                <a:latin typeface="Calibri" pitchFamily="34" charset="0"/>
                <a:ea typeface="Calibri" pitchFamily="34" charset="-122"/>
                <a:cs typeface="Calibri" pitchFamily="34" charset="-120"/>
              </a:rPr>
              <a:t>FOLDED</a:t>
            </a:r>
            <a:endParaRPr lang="en-US" sz="1100" dirty="0"/>
          </a:p>
        </p:txBody>
      </p:sp>
      <p:pic>
        <p:nvPicPr>
          <p:cNvPr id="10" name="Image 1" descr="Lifted by forklift">    </p:cNvPr>
          <p:cNvPicPr>
            <a:picLocks noChangeAspect="1"/>
          </p:cNvPicPr>
          <p:nvPr/>
        </p:nvPicPr>
        <p:blipFill>
          <a:blip r:embed="rId2"/>
          <a:srcRect l="0" r="0" t="0" b="0"/>
          <a:stretch/>
        </p:blipFill>
        <p:spPr>
          <a:xfrm>
            <a:off x="2926080" y="1737360"/>
            <a:ext cx="2194560" cy="2392070"/>
          </a:xfrm>
          <a:prstGeom prst="rect">
            <a:avLst/>
          </a:prstGeom>
        </p:spPr>
      </p:pic>
      <p:sp>
        <p:nvSpPr>
          <p:cNvPr id="11" name="Text 7"/>
          <p:cNvSpPr txBox="1"/>
          <p:nvPr/>
        </p:nvSpPr>
        <p:spPr>
          <a:xfrm>
            <a:off x="2926080" y="4175150"/>
            <a:ext cx="2194560" cy="32004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Lifted by forklift</a:t>
            </a:r>
            <a:endParaRPr lang="en-US" sz="1100" dirty="0"/>
          </a:p>
        </p:txBody>
      </p:sp>
      <p:sp>
        <p:nvSpPr>
          <p:cNvPr id="12" name="Shape 8"/>
          <p:cNvSpPr/>
          <p:nvPr/>
        </p:nvSpPr>
        <p:spPr>
          <a:xfrm>
            <a:off x="5303520" y="1371600"/>
            <a:ext cx="2194560" cy="292608"/>
          </a:xfrm>
          <a:prstGeom prst="roundRect">
            <a:avLst>
              <a:gd name="adj" fmla="val 25000"/>
            </a:avLst>
          </a:prstGeom>
          <a:solidFill>
            <a:srgbClr val="FFEDD5"/>
          </a:solidFill>
          <a:ln w="12700">
            <a:solidFill>
              <a:srgbClr val="FFEDD5"/>
            </a:solidFill>
            <a:prstDash val="solid"/>
          </a:ln>
        </p:spPr>
      </p:sp>
      <p:sp>
        <p:nvSpPr>
          <p:cNvPr id="13" name="Text 9"/>
          <p:cNvSpPr txBox="1"/>
          <p:nvPr/>
        </p:nvSpPr>
        <p:spPr>
          <a:xfrm>
            <a:off x="5303520" y="1371600"/>
            <a:ext cx="2194560" cy="292608"/>
          </a:xfrm>
          <a:prstGeom prst="rect">
            <a:avLst/>
          </a:prstGeom>
          <a:noFill/>
          <a:ln/>
        </p:spPr>
        <p:txBody>
          <a:bodyPr wrap="square" lIns="0" tIns="0" rIns="0" bIns="0" rtlCol="0" anchor="ctr"/>
          <a:lstStyle/>
          <a:p>
            <a:pPr algn="ctr" indent="0" marL="0">
              <a:buNone/>
            </a:pPr>
            <a:r>
              <a:rPr lang="en-US" sz="1100" b="1" spc="100" kern="0" dirty="0">
                <a:solidFill>
                  <a:srgbClr val="EA580C"/>
                </a:solidFill>
                <a:latin typeface="Calibri" pitchFamily="34" charset="0"/>
                <a:ea typeface="Calibri" pitchFamily="34" charset="-122"/>
                <a:cs typeface="Calibri" pitchFamily="34" charset="-120"/>
              </a:rPr>
              <a:t>STACKABLE</a:t>
            </a:r>
            <a:endParaRPr lang="en-US" sz="1100" dirty="0"/>
          </a:p>
        </p:txBody>
      </p:sp>
      <p:pic>
        <p:nvPicPr>
          <p:cNvPr id="14" name="Image 2" descr="Small footprint when not in use">    </p:cNvPr>
          <p:cNvPicPr>
            <a:picLocks noChangeAspect="1"/>
          </p:cNvPicPr>
          <p:nvPr/>
        </p:nvPicPr>
        <p:blipFill>
          <a:blip r:embed="rId3"/>
          <a:srcRect l="0" r="0" t="0" b="0"/>
          <a:stretch/>
        </p:blipFill>
        <p:spPr>
          <a:xfrm>
            <a:off x="5303520" y="1737360"/>
            <a:ext cx="2194560" cy="2392070"/>
          </a:xfrm>
          <a:prstGeom prst="rect">
            <a:avLst/>
          </a:prstGeom>
        </p:spPr>
      </p:pic>
      <p:sp>
        <p:nvSpPr>
          <p:cNvPr id="15" name="Text 10"/>
          <p:cNvSpPr txBox="1"/>
          <p:nvPr/>
        </p:nvSpPr>
        <p:spPr>
          <a:xfrm>
            <a:off x="5303520" y="4175150"/>
            <a:ext cx="2194560" cy="32004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Small footprint when not in use</a:t>
            </a:r>
            <a:endParaRPr lang="en-US" sz="1100" dirty="0"/>
          </a:p>
        </p:txBody>
      </p:sp>
      <p:sp>
        <p:nvSpPr>
          <p:cNvPr id="16" name="Shape 11"/>
          <p:cNvSpPr/>
          <p:nvPr/>
        </p:nvSpPr>
        <p:spPr>
          <a:xfrm>
            <a:off x="548640" y="4754880"/>
            <a:ext cx="6949440" cy="1280160"/>
          </a:xfrm>
          <a:prstGeom prst="roundRect">
            <a:avLst>
              <a:gd name="adj" fmla="val 5714"/>
            </a:avLst>
          </a:prstGeom>
          <a:solidFill>
            <a:srgbClr val="FFFBEB"/>
          </a:solidFill>
          <a:ln w="12700">
            <a:solidFill>
              <a:srgbClr val="FFFBEB"/>
            </a:solidFill>
            <a:prstDash val="solid"/>
          </a:ln>
        </p:spPr>
      </p:sp>
      <p:sp>
        <p:nvSpPr>
          <p:cNvPr id="17" name="Text 12"/>
          <p:cNvSpPr txBox="1"/>
          <p:nvPr/>
        </p:nvSpPr>
        <p:spPr>
          <a:xfrm>
            <a:off x="731520" y="4800600"/>
            <a:ext cx="6583680" cy="1188720"/>
          </a:xfrm>
          <a:prstGeom prst="rect">
            <a:avLst/>
          </a:prstGeom>
          <a:noFill/>
          <a:ln/>
        </p:spPr>
        <p:txBody>
          <a:bodyPr wrap="square" lIns="0" tIns="0" rIns="0" bIns="0" rtlCol="0" anchor="ctr"/>
          <a:lstStyle/>
          <a:p>
            <a:pPr indent="0" marL="0">
              <a:buNone/>
            </a:pPr>
            <a:r>
              <a:rPr lang="en-US" sz="1250" b="1" dirty="0">
                <a:solidFill>
                  <a:srgbClr val="B45309"/>
                </a:solidFill>
                <a:latin typeface="Calibri" pitchFamily="34" charset="0"/>
                <a:ea typeface="Calibri" pitchFamily="34" charset="-122"/>
                <a:cs typeface="Calibri" pitchFamily="34" charset="-120"/>
              </a:rPr>
              <a:t>Today: </a:t>
            </a:r>
            <a:pPr indent="0" marL="0">
              <a:buNone/>
            </a:pPr>
            <a:r>
              <a:rPr lang="en-US" sz="1250" dirty="0">
                <a:solidFill>
                  <a:srgbClr val="1F2937"/>
                </a:solidFill>
                <a:latin typeface="Calibri" pitchFamily="34" charset="0"/>
                <a:ea typeface="Calibri" pitchFamily="34" charset="-122"/>
                <a:cs typeface="Calibri" pitchFamily="34" charset="-120"/>
              </a:rPr>
              <a:t>large fixed metal load tables take up dock space when not in use, and smaller terminals have no room to store them.</a:t>
            </a:r>
            <a:endParaRPr lang="en-US" sz="1250" dirty="0"/>
          </a:p>
        </p:txBody>
      </p:sp>
      <p:sp>
        <p:nvSpPr>
          <p:cNvPr id="18" name="Shape 13"/>
          <p:cNvSpPr/>
          <p:nvPr/>
        </p:nvSpPr>
        <p:spPr>
          <a:xfrm>
            <a:off x="7772400" y="1371600"/>
            <a:ext cx="3867912" cy="4663440"/>
          </a:xfrm>
          <a:prstGeom prst="roundRect">
            <a:avLst>
              <a:gd name="adj" fmla="val 1891"/>
            </a:avLst>
          </a:prstGeom>
          <a:solidFill>
            <a:srgbClr val="F3F4F6"/>
          </a:solidFill>
          <a:ln w="12700">
            <a:solidFill>
              <a:srgbClr val="F3F4F6"/>
            </a:solidFill>
            <a:prstDash val="solid"/>
          </a:ln>
        </p:spPr>
      </p:sp>
      <p:sp>
        <p:nvSpPr>
          <p:cNvPr id="19" name="Shape 14"/>
          <p:cNvSpPr/>
          <p:nvPr/>
        </p:nvSpPr>
        <p:spPr>
          <a:xfrm>
            <a:off x="8001000" y="1572768"/>
            <a:ext cx="502920" cy="502920"/>
          </a:xfrm>
          <a:prstGeom prst="ellipse">
            <a:avLst/>
          </a:prstGeom>
          <a:solidFill>
            <a:srgbClr val="EA580C"/>
          </a:solidFill>
          <a:ln w="12700">
            <a:solidFill>
              <a:srgbClr val="EA580C"/>
            </a:solidFill>
            <a:prstDash val="solid"/>
          </a:ln>
        </p:spPr>
      </p:sp>
      <p:pic>
        <p:nvPicPr>
          <p:cNvPr id="20" name="Image 3" descr="preencoded.png">    </p:cNvPr>
          <p:cNvPicPr>
            <a:picLocks noChangeAspect="1"/>
          </p:cNvPicPr>
          <p:nvPr/>
        </p:nvPicPr>
        <p:blipFill>
          <a:blip r:embed="rId4"/>
          <a:stretch>
            <a:fillRect/>
          </a:stretch>
        </p:blipFill>
        <p:spPr>
          <a:xfrm>
            <a:off x="8126730" y="1698498"/>
            <a:ext cx="251460" cy="251460"/>
          </a:xfrm>
          <a:prstGeom prst="rect">
            <a:avLst/>
          </a:prstGeom>
        </p:spPr>
      </p:pic>
      <p:sp>
        <p:nvSpPr>
          <p:cNvPr id="21" name="Text 15"/>
          <p:cNvSpPr txBox="1"/>
          <p:nvPr/>
        </p:nvSpPr>
        <p:spPr>
          <a:xfrm>
            <a:off x="8641080" y="1572768"/>
            <a:ext cx="2834640" cy="50292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Why it matters</a:t>
            </a:r>
            <a:endParaRPr lang="en-US" sz="1700" dirty="0"/>
          </a:p>
        </p:txBody>
      </p:sp>
      <p:sp>
        <p:nvSpPr>
          <p:cNvPr id="22" name="Text 16"/>
          <p:cNvSpPr txBox="1"/>
          <p:nvPr/>
        </p:nvSpPr>
        <p:spPr>
          <a:xfrm>
            <a:off x="8001000" y="2240280"/>
            <a:ext cx="3474720" cy="3657600"/>
          </a:xfrm>
          <a:prstGeom prst="rect">
            <a:avLst/>
          </a:prstGeom>
          <a:noFill/>
          <a:ln/>
        </p:spPr>
        <p:txBody>
          <a:bodyPr wrap="square" lIns="0" tIns="0" rIns="0" bIns="0" rtlCol="0" anchor="t"/>
          <a:lstStyle/>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Fold flat and stack when empty — frees dock space</a:t>
            </a:r>
            <a:endParaRPr lang="en-US" sz="1250" dirty="0"/>
          </a:p>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Forklift picks them up — less manual handling, faster unload</a:t>
            </a:r>
            <a:endParaRPr lang="en-US" sz="1250" dirty="0"/>
          </a:p>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Receiving terminals across the country unload our trailers faster and cleaner — and theirs to us</a:t>
            </a:r>
            <a:endParaRPr lang="en-US" sz="1250" dirty="0"/>
          </a:p>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With yellow / grey bin carts, freight rolls out and is staged for final mile or transfer</a:t>
            </a:r>
            <a:endParaRPr lang="en-US" sz="1250" dirty="0"/>
          </a:p>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Fewer damages and claims; safer unloading</a:t>
            </a:r>
            <a:endParaRPr lang="en-US" sz="1250" dirty="0"/>
          </a:p>
        </p:txBody>
      </p:sp>
      <p:sp>
        <p:nvSpPr>
          <p:cNvPr id="23" name="Text 17"/>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4" name="Text 18"/>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19 / 21</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TERMINAL</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Physical terminal — relocation</a:t>
            </a:r>
            <a:endParaRPr lang="en-US" sz="3000" dirty="0"/>
          </a:p>
        </p:txBody>
      </p:sp>
      <p:sp>
        <p:nvSpPr>
          <p:cNvPr id="4" name="Shape 2"/>
          <p:cNvSpPr/>
          <p:nvPr/>
        </p:nvSpPr>
        <p:spPr>
          <a:xfrm>
            <a:off x="548640" y="1463040"/>
            <a:ext cx="11091672" cy="2103120"/>
          </a:xfrm>
          <a:prstGeom prst="roundRect">
            <a:avLst>
              <a:gd name="adj" fmla="val 3478"/>
            </a:avLst>
          </a:prstGeom>
          <a:solidFill>
            <a:srgbClr val="FFF7ED"/>
          </a:solidFill>
          <a:ln w="12700">
            <a:solidFill>
              <a:srgbClr val="FFF7ED"/>
            </a:solidFill>
            <a:prstDash val="solid"/>
          </a:ln>
        </p:spPr>
      </p:sp>
      <p:sp>
        <p:nvSpPr>
          <p:cNvPr id="5" name="Shape 3"/>
          <p:cNvSpPr/>
          <p:nvPr/>
        </p:nvSpPr>
        <p:spPr>
          <a:xfrm>
            <a:off x="868680" y="2011680"/>
            <a:ext cx="1005840" cy="1005840"/>
          </a:xfrm>
          <a:prstGeom prst="ellipse">
            <a:avLst/>
          </a:prstGeom>
          <a:solidFill>
            <a:srgbClr val="EA580C"/>
          </a:solidFill>
          <a:ln w="12700">
            <a:solidFill>
              <a:srgbClr val="EA580C"/>
            </a:solidFill>
            <a:prstDash val="solid"/>
          </a:ln>
        </p:spPr>
      </p:sp>
      <p:pic>
        <p:nvPicPr>
          <p:cNvPr id="6" name="Image 0" descr="preencoded.png">    </p:cNvPr>
          <p:cNvPicPr>
            <a:picLocks noChangeAspect="1"/>
          </p:cNvPicPr>
          <p:nvPr/>
        </p:nvPicPr>
        <p:blipFill>
          <a:blip r:embed="rId1"/>
          <a:stretch>
            <a:fillRect/>
          </a:stretch>
        </p:blipFill>
        <p:spPr>
          <a:xfrm>
            <a:off x="1120140" y="2263140"/>
            <a:ext cx="502920" cy="502920"/>
          </a:xfrm>
          <a:prstGeom prst="rect">
            <a:avLst/>
          </a:prstGeom>
        </p:spPr>
      </p:pic>
      <p:sp>
        <p:nvSpPr>
          <p:cNvPr id="7" name="Text 4"/>
          <p:cNvSpPr txBox="1"/>
          <p:nvPr/>
        </p:nvSpPr>
        <p:spPr>
          <a:xfrm>
            <a:off x="2148840" y="1737360"/>
            <a:ext cx="9144000" cy="320040"/>
          </a:xfrm>
          <a:prstGeom prst="rect">
            <a:avLst/>
          </a:prstGeom>
          <a:noFill/>
          <a:ln/>
        </p:spPr>
        <p:txBody>
          <a:bodyPr wrap="square" lIns="0" tIns="0" rIns="0" bIns="0" rtlCol="0" anchor="ctr"/>
          <a:lstStyle/>
          <a:p>
            <a:pPr indent="0" marL="0">
              <a:buNone/>
            </a:pPr>
            <a:r>
              <a:rPr lang="en-US" sz="1400" b="1" spc="100" kern="0" dirty="0">
                <a:solidFill>
                  <a:srgbClr val="EA580C"/>
                </a:solidFill>
                <a:latin typeface="Calibri" pitchFamily="34" charset="0"/>
                <a:ea typeface="Calibri" pitchFamily="34" charset="-122"/>
                <a:cs typeface="Calibri" pitchFamily="34" charset="-120"/>
              </a:rPr>
              <a:t>Terminal relocation</a:t>
            </a:r>
            <a:endParaRPr lang="en-US" sz="1400" dirty="0"/>
          </a:p>
        </p:txBody>
      </p:sp>
      <p:sp>
        <p:nvSpPr>
          <p:cNvPr id="8" name="Text 5"/>
          <p:cNvSpPr txBox="1"/>
          <p:nvPr/>
        </p:nvSpPr>
        <p:spPr>
          <a:xfrm>
            <a:off x="2148840" y="2103120"/>
            <a:ext cx="9235440" cy="685800"/>
          </a:xfrm>
          <a:prstGeom prst="rect">
            <a:avLst/>
          </a:prstGeom>
          <a:noFill/>
          <a:ln/>
        </p:spPr>
        <p:txBody>
          <a:bodyPr wrap="square" lIns="0" tIns="0" rIns="0" bIns="0" rtlCol="0" anchor="ctr"/>
          <a:lstStyle/>
          <a:p>
            <a:pPr indent="0" marL="0">
              <a:buNone/>
            </a:pPr>
            <a:r>
              <a:rPr lang="en-US" sz="3200" b="1" dirty="0">
                <a:solidFill>
                  <a:srgbClr val="111827"/>
                </a:solidFill>
                <a:latin typeface="Calibri" pitchFamily="34" charset="0"/>
                <a:ea typeface="Calibri" pitchFamily="34" charset="-122"/>
                <a:cs typeface="Calibri" pitchFamily="34" charset="-120"/>
              </a:rPr>
              <a:t>Moving to a new building</a:t>
            </a:r>
            <a:endParaRPr lang="en-US" sz="3200" dirty="0"/>
          </a:p>
        </p:txBody>
      </p:sp>
      <p:sp>
        <p:nvSpPr>
          <p:cNvPr id="9" name="Text 6"/>
          <p:cNvSpPr txBox="1"/>
          <p:nvPr/>
        </p:nvSpPr>
        <p:spPr>
          <a:xfrm>
            <a:off x="2148840" y="2834640"/>
            <a:ext cx="9144000" cy="365760"/>
          </a:xfrm>
          <a:prstGeom prst="rect">
            <a:avLst/>
          </a:prstGeom>
          <a:noFill/>
          <a:ln/>
        </p:spPr>
        <p:txBody>
          <a:bodyPr wrap="square" lIns="0" tIns="0" rIns="0" bIns="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Expected before end of calendar 2026.</a:t>
            </a:r>
            <a:endParaRPr lang="en-US" sz="1800" dirty="0"/>
          </a:p>
        </p:txBody>
      </p:sp>
      <p:sp>
        <p:nvSpPr>
          <p:cNvPr id="10" name="Shape 7"/>
          <p:cNvSpPr/>
          <p:nvPr/>
        </p:nvSpPr>
        <p:spPr>
          <a:xfrm>
            <a:off x="548640" y="3840480"/>
            <a:ext cx="5408676" cy="2103120"/>
          </a:xfrm>
          <a:prstGeom prst="roundRect">
            <a:avLst>
              <a:gd name="adj" fmla="val 3478"/>
            </a:avLst>
          </a:prstGeom>
          <a:solidFill>
            <a:srgbClr val="F3F4F6"/>
          </a:solidFill>
          <a:ln w="12700">
            <a:solidFill>
              <a:srgbClr val="F3F4F6"/>
            </a:solidFill>
            <a:prstDash val="solid"/>
          </a:ln>
        </p:spPr>
      </p:sp>
      <p:sp>
        <p:nvSpPr>
          <p:cNvPr id="11" name="Shape 8"/>
          <p:cNvSpPr/>
          <p:nvPr/>
        </p:nvSpPr>
        <p:spPr>
          <a:xfrm>
            <a:off x="868680" y="4160520"/>
            <a:ext cx="640080" cy="640080"/>
          </a:xfrm>
          <a:prstGeom prst="ellipse">
            <a:avLst/>
          </a:prstGeom>
          <a:solidFill>
            <a:srgbClr val="FFEDD5"/>
          </a:solidFill>
          <a:ln w="12700">
            <a:solidFill>
              <a:srgbClr val="FFEDD5"/>
            </a:solidFill>
            <a:prstDash val="solid"/>
          </a:ln>
        </p:spPr>
      </p:sp>
      <p:pic>
        <p:nvPicPr>
          <p:cNvPr id="12" name="Image 1" descr="preencoded.png">    </p:cNvPr>
          <p:cNvPicPr>
            <a:picLocks noChangeAspect="1"/>
          </p:cNvPicPr>
          <p:nvPr/>
        </p:nvPicPr>
        <p:blipFill>
          <a:blip r:embed="rId2"/>
          <a:stretch>
            <a:fillRect/>
          </a:stretch>
        </p:blipFill>
        <p:spPr>
          <a:xfrm>
            <a:off x="1028700" y="4320540"/>
            <a:ext cx="320040" cy="320040"/>
          </a:xfrm>
          <a:prstGeom prst="rect">
            <a:avLst/>
          </a:prstGeom>
        </p:spPr>
      </p:pic>
      <p:sp>
        <p:nvSpPr>
          <p:cNvPr id="13" name="Text 9"/>
          <p:cNvSpPr txBox="1"/>
          <p:nvPr/>
        </p:nvSpPr>
        <p:spPr>
          <a:xfrm>
            <a:off x="1737360" y="4160520"/>
            <a:ext cx="3945636"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Current site</a:t>
            </a:r>
            <a:endParaRPr lang="en-US" sz="1400" dirty="0"/>
          </a:p>
        </p:txBody>
      </p:sp>
      <p:sp>
        <p:nvSpPr>
          <p:cNvPr id="14" name="Text 10"/>
          <p:cNvSpPr txBox="1"/>
          <p:nvPr/>
        </p:nvSpPr>
        <p:spPr>
          <a:xfrm>
            <a:off x="1737360" y="4526280"/>
            <a:ext cx="3945636" cy="1097280"/>
          </a:xfrm>
          <a:prstGeom prst="rect">
            <a:avLst/>
          </a:prstGeom>
          <a:noFill/>
          <a:ln/>
        </p:spPr>
        <p:txBody>
          <a:bodyPr wrap="square" lIns="0" tIns="0" rIns="0" bIns="0" rtlCol="0" anchor="t"/>
          <a:lstStyle/>
          <a:p>
            <a:pPr indent="0" marL="0">
              <a:buNone/>
            </a:pPr>
            <a:r>
              <a:rPr lang="en-US" sz="2000" b="1" dirty="0">
                <a:solidFill>
                  <a:srgbClr val="111827"/>
                </a:solidFill>
                <a:latin typeface="Calibri" pitchFamily="34" charset="0"/>
                <a:ea typeface="Calibri" pitchFamily="34" charset="-122"/>
                <a:cs typeface="Calibri" pitchFamily="34" charset="-120"/>
              </a:rPr>
              <a:t>No major repair spend planned at the current site.</a:t>
            </a:r>
            <a:endParaRPr lang="en-US" sz="2000" dirty="0"/>
          </a:p>
        </p:txBody>
      </p:sp>
      <p:sp>
        <p:nvSpPr>
          <p:cNvPr id="15" name="Shape 11"/>
          <p:cNvSpPr/>
          <p:nvPr/>
        </p:nvSpPr>
        <p:spPr>
          <a:xfrm>
            <a:off x="6231636" y="3840480"/>
            <a:ext cx="5408676" cy="2103120"/>
          </a:xfrm>
          <a:prstGeom prst="roundRect">
            <a:avLst>
              <a:gd name="adj" fmla="val 3478"/>
            </a:avLst>
          </a:prstGeom>
          <a:solidFill>
            <a:srgbClr val="F3F4F6"/>
          </a:solidFill>
          <a:ln w="12700">
            <a:solidFill>
              <a:srgbClr val="F3F4F6"/>
            </a:solidFill>
            <a:prstDash val="solid"/>
          </a:ln>
        </p:spPr>
      </p:sp>
      <p:sp>
        <p:nvSpPr>
          <p:cNvPr id="16" name="Shape 12"/>
          <p:cNvSpPr/>
          <p:nvPr/>
        </p:nvSpPr>
        <p:spPr>
          <a:xfrm>
            <a:off x="6551676" y="4160520"/>
            <a:ext cx="640080" cy="640080"/>
          </a:xfrm>
          <a:prstGeom prst="ellipse">
            <a:avLst/>
          </a:prstGeom>
          <a:solidFill>
            <a:srgbClr val="FFEDD5"/>
          </a:solidFill>
          <a:ln w="12700">
            <a:solidFill>
              <a:srgbClr val="FFEDD5"/>
            </a:solidFill>
            <a:prstDash val="solid"/>
          </a:ln>
        </p:spPr>
      </p:sp>
      <p:pic>
        <p:nvPicPr>
          <p:cNvPr id="17" name="Image 2" descr="preencoded.png">    </p:cNvPr>
          <p:cNvPicPr>
            <a:picLocks noChangeAspect="1"/>
          </p:cNvPicPr>
          <p:nvPr/>
        </p:nvPicPr>
        <p:blipFill>
          <a:blip r:embed="rId3"/>
          <a:stretch>
            <a:fillRect/>
          </a:stretch>
        </p:blipFill>
        <p:spPr>
          <a:xfrm>
            <a:off x="6711696" y="4320540"/>
            <a:ext cx="320040" cy="320040"/>
          </a:xfrm>
          <a:prstGeom prst="rect">
            <a:avLst/>
          </a:prstGeom>
        </p:spPr>
      </p:pic>
      <p:sp>
        <p:nvSpPr>
          <p:cNvPr id="18" name="Text 13"/>
          <p:cNvSpPr txBox="1"/>
          <p:nvPr/>
        </p:nvSpPr>
        <p:spPr>
          <a:xfrm>
            <a:off x="7420356" y="4160520"/>
            <a:ext cx="3945636"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Focus</a:t>
            </a:r>
            <a:endParaRPr lang="en-US" sz="1400" dirty="0"/>
          </a:p>
        </p:txBody>
      </p:sp>
      <p:sp>
        <p:nvSpPr>
          <p:cNvPr id="19" name="Text 14"/>
          <p:cNvSpPr txBox="1"/>
          <p:nvPr/>
        </p:nvSpPr>
        <p:spPr>
          <a:xfrm>
            <a:off x="7420356" y="4526280"/>
            <a:ext cx="3945636" cy="1097280"/>
          </a:xfrm>
          <a:prstGeom prst="rect">
            <a:avLst/>
          </a:prstGeom>
          <a:noFill/>
          <a:ln/>
        </p:spPr>
        <p:txBody>
          <a:bodyPr wrap="square" lIns="0" tIns="0" rIns="0" bIns="0" rtlCol="0" anchor="t"/>
          <a:lstStyle/>
          <a:p>
            <a:pPr indent="0" marL="0">
              <a:buNone/>
            </a:pPr>
            <a:r>
              <a:rPr lang="en-US" sz="2000" b="1" dirty="0">
                <a:solidFill>
                  <a:srgbClr val="111827"/>
                </a:solidFill>
                <a:latin typeface="Calibri" pitchFamily="34" charset="0"/>
                <a:ea typeface="Calibri" pitchFamily="34" charset="-122"/>
                <a:cs typeface="Calibri" pitchFamily="34" charset="-120"/>
              </a:rPr>
              <a:t>A clean transition to the new building.</a:t>
            </a:r>
            <a:endParaRPr lang="en-US" sz="2000" dirty="0"/>
          </a:p>
        </p:txBody>
      </p:sp>
      <p:sp>
        <p:nvSpPr>
          <p:cNvPr id="20" name="Text 1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1" name="Text 1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20 / 21</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11827"/>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FB923C"/>
                </a:solidFill>
                <a:latin typeface="Calibri" pitchFamily="34" charset="0"/>
                <a:ea typeface="Calibri" pitchFamily="34" charset="-122"/>
                <a:cs typeface="Calibri" pitchFamily="34" charset="-120"/>
              </a:rPr>
              <a:t>RECAP &amp; OUTLOOK</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F26 recap &amp; F27 outlook</a:t>
            </a:r>
            <a:endParaRPr lang="en-US" sz="3000" dirty="0"/>
          </a:p>
        </p:txBody>
      </p:sp>
      <p:sp>
        <p:nvSpPr>
          <p:cNvPr id="4" name="Shape 2"/>
          <p:cNvSpPr/>
          <p:nvPr/>
        </p:nvSpPr>
        <p:spPr>
          <a:xfrm>
            <a:off x="548640" y="1463040"/>
            <a:ext cx="2194560" cy="1463040"/>
          </a:xfrm>
          <a:prstGeom prst="roundRect">
            <a:avLst>
              <a:gd name="adj" fmla="val 5000"/>
            </a:avLst>
          </a:prstGeom>
          <a:solidFill>
            <a:srgbClr val="1F2937"/>
          </a:solidFill>
          <a:ln w="12700">
            <a:solidFill>
              <a:srgbClr val="1F2937"/>
            </a:solidFill>
            <a:prstDash val="solid"/>
          </a:ln>
        </p:spPr>
      </p:sp>
      <p:sp>
        <p:nvSpPr>
          <p:cNvPr id="5" name="Text 3"/>
          <p:cNvSpPr txBox="1"/>
          <p:nvPr/>
        </p:nvSpPr>
        <p:spPr>
          <a:xfrm>
            <a:off x="73152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F25 actual cost</a:t>
            </a:r>
            <a:endParaRPr lang="en-US" sz="1200" dirty="0"/>
          </a:p>
        </p:txBody>
      </p:sp>
      <p:sp>
        <p:nvSpPr>
          <p:cNvPr id="6" name="Text 4"/>
          <p:cNvSpPr txBox="1"/>
          <p:nvPr/>
        </p:nvSpPr>
        <p:spPr>
          <a:xfrm>
            <a:off x="73152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$3,868,598</a:t>
            </a:r>
            <a:endParaRPr lang="en-US" sz="2100" dirty="0"/>
          </a:p>
        </p:txBody>
      </p:sp>
      <p:sp>
        <p:nvSpPr>
          <p:cNvPr id="7" name="Text 5"/>
          <p:cNvSpPr txBox="1"/>
          <p:nvPr/>
        </p:nvSpPr>
        <p:spPr>
          <a:xfrm>
            <a:off x="73152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Baseline</a:t>
            </a:r>
            <a:endParaRPr lang="en-US" sz="1050" dirty="0"/>
          </a:p>
        </p:txBody>
      </p:sp>
      <p:sp>
        <p:nvSpPr>
          <p:cNvPr id="8" name="Shape 6"/>
          <p:cNvSpPr/>
          <p:nvPr/>
        </p:nvSpPr>
        <p:spPr>
          <a:xfrm>
            <a:off x="2971800" y="1463040"/>
            <a:ext cx="2194560" cy="1463040"/>
          </a:xfrm>
          <a:prstGeom prst="roundRect">
            <a:avLst>
              <a:gd name="adj" fmla="val 5000"/>
            </a:avLst>
          </a:prstGeom>
          <a:solidFill>
            <a:srgbClr val="1F2937"/>
          </a:solidFill>
          <a:ln w="12700">
            <a:solidFill>
              <a:srgbClr val="1F2937"/>
            </a:solidFill>
            <a:prstDash val="solid"/>
          </a:ln>
        </p:spPr>
      </p:sp>
      <p:sp>
        <p:nvSpPr>
          <p:cNvPr id="9" name="Text 7"/>
          <p:cNvSpPr txBox="1"/>
          <p:nvPr/>
        </p:nvSpPr>
        <p:spPr>
          <a:xfrm>
            <a:off x="315468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target cost</a:t>
            </a:r>
            <a:endParaRPr lang="en-US" sz="1200" dirty="0"/>
          </a:p>
        </p:txBody>
      </p:sp>
      <p:sp>
        <p:nvSpPr>
          <p:cNvPr id="10" name="Text 8"/>
          <p:cNvSpPr txBox="1"/>
          <p:nvPr/>
        </p:nvSpPr>
        <p:spPr>
          <a:xfrm>
            <a:off x="315468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$3,482,009</a:t>
            </a:r>
            <a:endParaRPr lang="en-US" sz="2100" dirty="0"/>
          </a:p>
        </p:txBody>
      </p:sp>
      <p:sp>
        <p:nvSpPr>
          <p:cNvPr id="11" name="Text 9"/>
          <p:cNvSpPr txBox="1"/>
          <p:nvPr/>
        </p:nvSpPr>
        <p:spPr>
          <a:xfrm>
            <a:off x="315468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Plan set July 2025</a:t>
            </a:r>
            <a:endParaRPr lang="en-US" sz="1050" dirty="0"/>
          </a:p>
        </p:txBody>
      </p:sp>
      <p:sp>
        <p:nvSpPr>
          <p:cNvPr id="12" name="Shape 10"/>
          <p:cNvSpPr/>
          <p:nvPr/>
        </p:nvSpPr>
        <p:spPr>
          <a:xfrm>
            <a:off x="5394960" y="1463040"/>
            <a:ext cx="2194560" cy="1463040"/>
          </a:xfrm>
          <a:prstGeom prst="roundRect">
            <a:avLst>
              <a:gd name="adj" fmla="val 5000"/>
            </a:avLst>
          </a:prstGeom>
          <a:solidFill>
            <a:srgbClr val="1F2937"/>
          </a:solidFill>
          <a:ln w="12700">
            <a:solidFill>
              <a:srgbClr val="1F2937"/>
            </a:solidFill>
            <a:prstDash val="solid"/>
          </a:ln>
        </p:spPr>
      </p:sp>
      <p:sp>
        <p:nvSpPr>
          <p:cNvPr id="13" name="Text 11"/>
          <p:cNvSpPr txBox="1"/>
          <p:nvPr/>
        </p:nvSpPr>
        <p:spPr>
          <a:xfrm>
            <a:off x="557784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Required reduction</a:t>
            </a:r>
            <a:endParaRPr lang="en-US" sz="1200" dirty="0"/>
          </a:p>
        </p:txBody>
      </p:sp>
      <p:sp>
        <p:nvSpPr>
          <p:cNvPr id="14" name="Text 12"/>
          <p:cNvSpPr txBox="1"/>
          <p:nvPr/>
        </p:nvSpPr>
        <p:spPr>
          <a:xfrm>
            <a:off x="557784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$386,589</a:t>
            </a:r>
            <a:endParaRPr lang="en-US" sz="2100" dirty="0"/>
          </a:p>
        </p:txBody>
      </p:sp>
      <p:sp>
        <p:nvSpPr>
          <p:cNvPr id="15" name="Text 13"/>
          <p:cNvSpPr txBox="1"/>
          <p:nvPr/>
        </p:nvSpPr>
        <p:spPr>
          <a:xfrm>
            <a:off x="557784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F25 actual − F26 target</a:t>
            </a:r>
            <a:endParaRPr lang="en-US" sz="1050" dirty="0"/>
          </a:p>
        </p:txBody>
      </p:sp>
      <p:sp>
        <p:nvSpPr>
          <p:cNvPr id="16" name="Shape 14"/>
          <p:cNvSpPr/>
          <p:nvPr/>
        </p:nvSpPr>
        <p:spPr>
          <a:xfrm>
            <a:off x="548640" y="3154680"/>
            <a:ext cx="2194560" cy="1463040"/>
          </a:xfrm>
          <a:prstGeom prst="roundRect">
            <a:avLst>
              <a:gd name="adj" fmla="val 5000"/>
            </a:avLst>
          </a:prstGeom>
          <a:solidFill>
            <a:srgbClr val="1F2937"/>
          </a:solidFill>
          <a:ln w="12700">
            <a:solidFill>
              <a:srgbClr val="1F2937"/>
            </a:solidFill>
            <a:prstDash val="solid"/>
          </a:ln>
        </p:spPr>
      </p:sp>
      <p:sp>
        <p:nvSpPr>
          <p:cNvPr id="17" name="Text 15"/>
          <p:cNvSpPr txBox="1"/>
          <p:nvPr/>
        </p:nvSpPr>
        <p:spPr>
          <a:xfrm>
            <a:off x="73152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Identified savings</a:t>
            </a:r>
            <a:endParaRPr lang="en-US" sz="1200" dirty="0"/>
          </a:p>
        </p:txBody>
      </p:sp>
      <p:sp>
        <p:nvSpPr>
          <p:cNvPr id="18" name="Text 16"/>
          <p:cNvSpPr txBox="1"/>
          <p:nvPr/>
        </p:nvSpPr>
        <p:spPr>
          <a:xfrm>
            <a:off x="731520" y="3611880"/>
            <a:ext cx="1828800" cy="548640"/>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$427,001</a:t>
            </a:r>
            <a:endParaRPr lang="en-US" sz="2100" dirty="0"/>
          </a:p>
        </p:txBody>
      </p:sp>
      <p:sp>
        <p:nvSpPr>
          <p:cNvPr id="19" name="Text 17"/>
          <p:cNvSpPr txBox="1"/>
          <p:nvPr/>
        </p:nvSpPr>
        <p:spPr>
          <a:xfrm>
            <a:off x="73152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110% of required reduction</a:t>
            </a:r>
            <a:endParaRPr lang="en-US" sz="1050" dirty="0"/>
          </a:p>
        </p:txBody>
      </p:sp>
      <p:sp>
        <p:nvSpPr>
          <p:cNvPr id="20" name="Shape 18"/>
          <p:cNvSpPr/>
          <p:nvPr/>
        </p:nvSpPr>
        <p:spPr>
          <a:xfrm>
            <a:off x="2971800" y="3154680"/>
            <a:ext cx="2194560" cy="1463040"/>
          </a:xfrm>
          <a:prstGeom prst="roundRect">
            <a:avLst>
              <a:gd name="adj" fmla="val 5000"/>
            </a:avLst>
          </a:prstGeom>
          <a:solidFill>
            <a:srgbClr val="1F2937"/>
          </a:solidFill>
          <a:ln w="12700">
            <a:solidFill>
              <a:srgbClr val="1F2937"/>
            </a:solidFill>
            <a:prstDash val="solid"/>
          </a:ln>
        </p:spPr>
      </p:sp>
      <p:sp>
        <p:nvSpPr>
          <p:cNvPr id="21" name="Text 19"/>
          <p:cNvSpPr txBox="1"/>
          <p:nvPr/>
        </p:nvSpPr>
        <p:spPr>
          <a:xfrm>
            <a:off x="315468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actual cost</a:t>
            </a:r>
            <a:endParaRPr lang="en-US" sz="1200" dirty="0"/>
          </a:p>
        </p:txBody>
      </p:sp>
      <p:sp>
        <p:nvSpPr>
          <p:cNvPr id="22" name="Text 20"/>
          <p:cNvSpPr txBox="1"/>
          <p:nvPr/>
        </p:nvSpPr>
        <p:spPr>
          <a:xfrm>
            <a:off x="3154680" y="3611880"/>
            <a:ext cx="1828800" cy="548640"/>
          </a:xfrm>
          <a:prstGeom prst="rect">
            <a:avLst/>
          </a:prstGeom>
          <a:noFill/>
          <a:ln/>
        </p:spPr>
        <p:txBody>
          <a:bodyPr wrap="square" lIns="0" tIns="0" rIns="0" bIns="0"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TBC</a:t>
            </a:r>
            <a:endParaRPr lang="en-US" sz="2100" dirty="0"/>
          </a:p>
        </p:txBody>
      </p:sp>
      <p:sp>
        <p:nvSpPr>
          <p:cNvPr id="23" name="Text 21"/>
          <p:cNvSpPr txBox="1"/>
          <p:nvPr/>
        </p:nvSpPr>
        <p:spPr>
          <a:xfrm>
            <a:off x="315468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Full year, when closed</a:t>
            </a:r>
            <a:endParaRPr lang="en-US" sz="1050" dirty="0"/>
          </a:p>
        </p:txBody>
      </p:sp>
      <p:sp>
        <p:nvSpPr>
          <p:cNvPr id="24" name="Shape 22"/>
          <p:cNvSpPr/>
          <p:nvPr/>
        </p:nvSpPr>
        <p:spPr>
          <a:xfrm>
            <a:off x="5394960" y="3154680"/>
            <a:ext cx="2194560" cy="1463040"/>
          </a:xfrm>
          <a:prstGeom prst="roundRect">
            <a:avLst>
              <a:gd name="adj" fmla="val 5000"/>
            </a:avLst>
          </a:prstGeom>
          <a:solidFill>
            <a:srgbClr val="1F2937"/>
          </a:solidFill>
          <a:ln w="12700">
            <a:solidFill>
              <a:srgbClr val="1F2937"/>
            </a:solidFill>
            <a:prstDash val="solid"/>
          </a:ln>
        </p:spPr>
      </p:sp>
      <p:sp>
        <p:nvSpPr>
          <p:cNvPr id="25" name="Text 23"/>
          <p:cNvSpPr txBox="1"/>
          <p:nvPr/>
        </p:nvSpPr>
        <p:spPr>
          <a:xfrm>
            <a:off x="557784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actual savings</a:t>
            </a:r>
            <a:endParaRPr lang="en-US" sz="1200" dirty="0"/>
          </a:p>
        </p:txBody>
      </p:sp>
      <p:sp>
        <p:nvSpPr>
          <p:cNvPr id="26" name="Text 24"/>
          <p:cNvSpPr txBox="1"/>
          <p:nvPr/>
        </p:nvSpPr>
        <p:spPr>
          <a:xfrm>
            <a:off x="5577840" y="3611880"/>
            <a:ext cx="1828800" cy="548640"/>
          </a:xfrm>
          <a:prstGeom prst="rect">
            <a:avLst/>
          </a:prstGeom>
          <a:noFill/>
          <a:ln/>
        </p:spPr>
        <p:txBody>
          <a:bodyPr wrap="square" lIns="0" tIns="0" rIns="0" bIns="0"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TBC</a:t>
            </a:r>
            <a:endParaRPr lang="en-US" sz="2100" dirty="0"/>
          </a:p>
        </p:txBody>
      </p:sp>
      <p:sp>
        <p:nvSpPr>
          <p:cNvPr id="27" name="Text 25"/>
          <p:cNvSpPr txBox="1"/>
          <p:nvPr/>
        </p:nvSpPr>
        <p:spPr>
          <a:xfrm>
            <a:off x="557784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vs F25 actual</a:t>
            </a:r>
            <a:endParaRPr lang="en-US" sz="1050" dirty="0"/>
          </a:p>
        </p:txBody>
      </p:sp>
      <p:sp>
        <p:nvSpPr>
          <p:cNvPr id="28" name="Text 26"/>
          <p:cNvSpPr txBox="1"/>
          <p:nvPr/>
        </p:nvSpPr>
        <p:spPr>
          <a:xfrm>
            <a:off x="548640" y="5074920"/>
            <a:ext cx="7040880" cy="64008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Questions &amp; discussion</a:t>
            </a:r>
            <a:endParaRPr lang="en-US" sz="3000" dirty="0"/>
          </a:p>
        </p:txBody>
      </p:sp>
      <p:sp>
        <p:nvSpPr>
          <p:cNvPr id="29" name="Shape 27"/>
          <p:cNvSpPr/>
          <p:nvPr/>
        </p:nvSpPr>
        <p:spPr>
          <a:xfrm>
            <a:off x="7909560" y="1463040"/>
            <a:ext cx="3730752" cy="4617720"/>
          </a:xfrm>
          <a:prstGeom prst="roundRect">
            <a:avLst>
              <a:gd name="adj" fmla="val 1961"/>
            </a:avLst>
          </a:prstGeom>
          <a:solidFill>
            <a:srgbClr val="1F2937"/>
          </a:solidFill>
          <a:ln w="12700">
            <a:solidFill>
              <a:srgbClr val="1F2937"/>
            </a:solidFill>
            <a:prstDash val="solid"/>
          </a:ln>
        </p:spPr>
      </p:sp>
      <p:sp>
        <p:nvSpPr>
          <p:cNvPr id="30" name="Shape 28"/>
          <p:cNvSpPr/>
          <p:nvPr/>
        </p:nvSpPr>
        <p:spPr>
          <a:xfrm>
            <a:off x="8138160" y="1691640"/>
            <a:ext cx="502920" cy="502920"/>
          </a:xfrm>
          <a:prstGeom prst="ellipse">
            <a:avLst/>
          </a:prstGeom>
          <a:solidFill>
            <a:srgbClr val="EA580C"/>
          </a:solidFill>
          <a:ln w="12700">
            <a:solidFill>
              <a:srgbClr val="EA580C"/>
            </a:solidFill>
            <a:prstDash val="solid"/>
          </a:ln>
        </p:spPr>
      </p:sp>
      <p:pic>
        <p:nvPicPr>
          <p:cNvPr id="31" name="Image 0" descr="preencoded.png">    </p:cNvPr>
          <p:cNvPicPr>
            <a:picLocks noChangeAspect="1"/>
          </p:cNvPicPr>
          <p:nvPr/>
        </p:nvPicPr>
        <p:blipFill>
          <a:blip r:embed="rId1"/>
          <a:stretch>
            <a:fillRect/>
          </a:stretch>
        </p:blipFill>
        <p:spPr>
          <a:xfrm>
            <a:off x="8263890" y="1817370"/>
            <a:ext cx="251460" cy="251460"/>
          </a:xfrm>
          <a:prstGeom prst="rect">
            <a:avLst/>
          </a:prstGeom>
        </p:spPr>
      </p:pic>
      <p:sp>
        <p:nvSpPr>
          <p:cNvPr id="32" name="Text 29"/>
          <p:cNvSpPr txBox="1"/>
          <p:nvPr/>
        </p:nvSpPr>
        <p:spPr>
          <a:xfrm>
            <a:off x="8778240" y="1691640"/>
            <a:ext cx="2651760" cy="5029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F27 so far</a:t>
            </a:r>
            <a:endParaRPr lang="en-US" sz="1800" dirty="0"/>
          </a:p>
        </p:txBody>
      </p:sp>
      <p:sp>
        <p:nvSpPr>
          <p:cNvPr id="33" name="Text 30"/>
          <p:cNvSpPr txBox="1"/>
          <p:nvPr/>
        </p:nvSpPr>
        <p:spPr>
          <a:xfrm>
            <a:off x="8138160" y="2377440"/>
            <a:ext cx="3291840" cy="3611880"/>
          </a:xfrm>
          <a:prstGeom prst="rect">
            <a:avLst/>
          </a:prstGeom>
          <a:noFill/>
          <a:ln/>
        </p:spPr>
        <p:txBody>
          <a:bodyPr wrap="square" lIns="0" tIns="0" rIns="0" bIns="0" rtlCol="0" anchor="t"/>
          <a:lstStyle/>
          <a:p>
            <a:pPr marL="177800" indent="-177800">
              <a:spcAft>
                <a:spcPts val="900"/>
              </a:spcAft>
              <a:buSzPct val="100000"/>
              <a:buChar char="•"/>
            </a:pPr>
            <a:r>
              <a:rPr lang="en-US" sz="1200" b="1" dirty="0">
                <a:solidFill>
                  <a:srgbClr val="E5E7EB"/>
                </a:solidFill>
                <a:latin typeface="Calibri" pitchFamily="34" charset="0"/>
                <a:ea typeface="Calibri" pitchFamily="34" charset="-122"/>
                <a:cs typeface="Calibri" pitchFamily="34" charset="-120"/>
              </a:rPr>
              <a:t>Contract labour outlook ≈$390.2K vs F26 if current rates hold (≈$32.5K/mo; estimate, not booked).</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Sept MTD: 91.1% of SCA hour allowance — 391 hrs under.</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SCA dock cost per PRO $6.60 vs $6.85 target (96.3%, watch).</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Units/hr +26.7%; OT 9 hrs.</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Focus: PPH 3,327 vs 4,258 goal (−21.9%).</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Savings: 7 initiatives tracked; more being sized.</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F27 take-out target: </a:t>
            </a:r>
            <a:pP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p>
        </p:txBody>
      </p:sp>
      <p:sp>
        <p:nvSpPr>
          <p:cNvPr id="34"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21 / 21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Mississauga Terminal · F27 Senior Leadership Review</dc:title>
  <dc:subject>PptxGenJS Presentation</dc:subject>
  <dc:creator>PptxGenJS</dc:creator>
  <cp:lastModifiedBy>PptxGenJS</cp:lastModifiedBy>
  <cp:revision>1</cp:revision>
  <dcterms:created xsi:type="dcterms:W3CDTF">2026-09-29T17:51:44Z</dcterms:created>
  <dcterms:modified xsi:type="dcterms:W3CDTF">2026-09-29T17:51:44Z</dcterms:modified>
</cp:coreProperties>
</file>