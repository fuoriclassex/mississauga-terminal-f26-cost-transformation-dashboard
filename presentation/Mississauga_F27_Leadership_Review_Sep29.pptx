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91.37 percent of freight bills scanned against 91.55 percent fiscal year to date,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laid out like the F26 page.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PPH goal is weight-based; freight got lighter, 218 versus about 275 pounds per unit, while units per hour 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image" Target="../media/image-21-5.jp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tracker</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Moving to a new building — expected before end of calendar 2026.</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0 recordables Jul–Aug; TRIR 0.00 vs 1.21 F26.</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2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indent="0" marL="0">
              <a:buNone/>
            </a:pPr>
            <a:r>
              <a:rPr lang="en-US" sz="1100" b="1" dirty="0">
                <a:solidFill>
                  <a:srgbClr val="111827"/>
                </a:solidFill>
                <a:latin typeface="Calibri" pitchFamily="34" charset="0"/>
                <a:ea typeface="Calibri" pitchFamily="34" charset="-122"/>
                <a:cs typeface="Calibri" pitchFamily="34" charset="-120"/>
              </a:rPr>
              <a:t>Load securement &amp; decking </a:t>
            </a:r>
            <a:pPr indent="0" marL="0">
              <a:buNone/>
            </a:pPr>
            <a:r>
              <a:rPr lang="en-US" sz="1100" dirty="0">
                <a:solidFill>
                  <a:srgbClr val="1F2937"/>
                </a:solidFill>
                <a:latin typeface="Calibri" pitchFamily="34" charset="0"/>
                <a:ea typeface="Calibri" pitchFamily="34" charset="-122"/>
                <a:cs typeface="Calibri" pitchFamily="34" charset="-120"/>
              </a:rPr>
              <a:t>(ANCRA decks, divider deck-board kits).</a:t>
            </a:r>
            <a:endParaRPr lang="en-US" sz="1100" dirty="0"/>
          </a:p>
          <a:p>
            <a:pPr indent="0" marL="0">
              <a:buNone/>
            </a:pPr>
            <a:r>
              <a:rPr lang="en-US" sz="1100" b="1" dirty="0">
                <a:solidFill>
                  <a:srgbClr val="111827"/>
                </a:solidFill>
                <a:latin typeface="Calibri" pitchFamily="34" charset="0"/>
                <a:ea typeface="Calibri" pitchFamily="34" charset="-122"/>
                <a:cs typeface="Calibri" pitchFamily="34" charset="-120"/>
              </a:rPr>
              <a:t>Freight-handling equipment: </a:t>
            </a:r>
            <a:pPr indent="0" marL="0">
              <a:buNone/>
            </a:pPr>
            <a:r>
              <a:rPr lang="en-US" sz="1100" dirty="0">
                <a:solidFill>
                  <a:srgbClr val="1F2937"/>
                </a:solidFill>
                <a:latin typeface="Calibri" pitchFamily="34" charset="0"/>
                <a:ea typeface="Calibri" pitchFamily="34" charset="-122"/>
                <a:cs typeface="Calibri" pitchFamily="34" charset="-120"/>
              </a:rPr>
              <a:t>panel trucks &amp; reconfigurable racks for windows, panels and car parts (Sawtrax, Rack and Shelf, Grainger vertical panel truck 1,800 lb, Uline carpeted panel truck).</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 Safer handling, better load quality, fewer damages (damaged FB 1.61%, 7-day avg).</a:t>
            </a:r>
            <a:endParaRPr lang="en-US" sz="110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freight bills scanned 91.37% (FYTD 91.55%).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a:p>
            <a:pPr algn="r" indent="0" marL="0">
              <a:buNone/>
            </a:pPr>
            <a:r>
              <a:rPr lang="en-US" sz="950" b="1" dirty="0">
                <a:solidFill>
                  <a:srgbClr val="059669"/>
                </a:solidFill>
                <a:latin typeface="Calibri" pitchFamily="34" charset="0"/>
                <a:ea typeface="Calibri" pitchFamily="34" charset="-122"/>
                <a:cs typeface="Calibri" pitchFamily="34" charset="-120"/>
              </a:rPr>
              <a:t>(MTD vs full month)</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9144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headcount (days / afternoons / midnights, dock + admin, agency vs D&amp;R): </a:t>
            </a:r>
            <a:pP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p>
        </p:txBody>
      </p:sp>
      <p:sp>
        <p:nvSpPr>
          <p:cNvPr id="24"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reweighed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 of dock hours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 ≈ $13.1K)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Cargo claims (Claims report, T-0502): $13,432.53 for August 2026 — see also damaged FB on slide 6.</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reach the goal</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Admin labour 13.5% and Dock labour 4.2% below F26.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PPH goal is weight-based; freight got lighter (218 vs ≈275 lbs/unit) while units per hour rose.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Text 33"/>
          <p:cNvSpPr txBox="1"/>
          <p:nvPr/>
        </p:nvSpPr>
        <p:spPr>
          <a:xfrm>
            <a:off x="8034528" y="2560320"/>
            <a:ext cx="3605784" cy="80467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Bills 63,738 · Delivery bills 41,725 · Pickup bills 24,401 (counted separately — delivery and pickup bills do not sum to total bills).</a:t>
            </a:r>
            <a:endParaRPr lang="en-US" sz="1050" dirty="0"/>
          </a:p>
        </p:txBody>
      </p:sp>
      <p:sp>
        <p:nvSpPr>
          <p:cNvPr id="36" name="Text 34"/>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7" name="Shape 35"/>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38" name="Text 36"/>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39" name="Text 37"/>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0" name="Shape 38"/>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1" name="Text 39"/>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2" name="Text 40"/>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3" name="Shape 41"/>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4" name="Text 42"/>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45" name="Text 43"/>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46" name="Shape 44"/>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7" name="Text 45"/>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48" name="Text 46"/>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49" name="Shape 47"/>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0" name="Text 48"/>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51" name="Text 49"/>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52" name="Shape 50"/>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3" name="Text 51"/>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54" name="Text 52"/>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55" name="Shape 53"/>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6" name="Text 54"/>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57" name="Text 55"/>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58" name="Shape 56"/>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59" name="Text 57"/>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60" name="Text 58"/>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61" name="Shape 59"/>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2" name="Text 60"/>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63" name="Text 61"/>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64" name="Text 6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65" name="Text 6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66" name="Text 6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 / 25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 / 25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SCA dock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SCA dock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2 planned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 / 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2026-09-29T15:47:11Z</dcterms:created>
  <dcterms:modified xsi:type="dcterms:W3CDTF">2026-09-29T15:47:11Z</dcterms:modified>
</cp:coreProperties>
</file>